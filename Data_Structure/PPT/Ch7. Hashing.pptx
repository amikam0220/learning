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av" ContentType="audio/x-wav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39"/>
  </p:notesMasterIdLst>
  <p:sldIdLst>
    <p:sldId id="256" r:id="rId4"/>
    <p:sldId id="258" r:id="rId5"/>
    <p:sldId id="259" r:id="rId6"/>
    <p:sldId id="345" r:id="rId7"/>
    <p:sldId id="342" r:id="rId8"/>
    <p:sldId id="343" r:id="rId9"/>
    <p:sldId id="344" r:id="rId10"/>
    <p:sldId id="268" r:id="rId11"/>
    <p:sldId id="269" r:id="rId12"/>
    <p:sldId id="314" r:id="rId13"/>
    <p:sldId id="315" r:id="rId14"/>
    <p:sldId id="316" r:id="rId15"/>
    <p:sldId id="317" r:id="rId16"/>
    <p:sldId id="336" r:id="rId17"/>
    <p:sldId id="318" r:id="rId18"/>
    <p:sldId id="337" r:id="rId19"/>
    <p:sldId id="319" r:id="rId20"/>
    <p:sldId id="320" r:id="rId21"/>
    <p:sldId id="321" r:id="rId22"/>
    <p:sldId id="333" r:id="rId23"/>
    <p:sldId id="322" r:id="rId24"/>
    <p:sldId id="323" r:id="rId25"/>
    <p:sldId id="324" r:id="rId26"/>
    <p:sldId id="325" r:id="rId27"/>
    <p:sldId id="338" r:id="rId28"/>
    <p:sldId id="326" r:id="rId29"/>
    <p:sldId id="327" r:id="rId30"/>
    <p:sldId id="328" r:id="rId31"/>
    <p:sldId id="339" r:id="rId32"/>
    <p:sldId id="329" r:id="rId33"/>
    <p:sldId id="341" r:id="rId34"/>
    <p:sldId id="340" r:id="rId35"/>
    <p:sldId id="331" r:id="rId36"/>
    <p:sldId id="334" r:id="rId37"/>
    <p:sldId id="335" r:id="rId38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C00"/>
    <a:srgbClr val="0000FF"/>
    <a:srgbClr val="FF0000"/>
    <a:srgbClr val="B2B2B2"/>
    <a:srgbClr val="4D4D4D"/>
    <a:srgbClr val="FFCC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83" d="100"/>
          <a:sy n="83" d="100"/>
        </p:scale>
        <p:origin x="14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slide" Target="slides/slide1.xml"/><Relationship Id="rId39" Type="http://schemas.openxmlformats.org/officeDocument/2006/relationships/notesMaster" Target="notesMasters/notesMaster1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340" name="Rectangle 4"/>
          <p:cNvSpPr>
            <a:spLocks noRo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D16C8F2-171B-430F-93ED-022BA1C7033F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Freeform 2"/>
          <p:cNvSpPr/>
          <p:nvPr/>
        </p:nvSpPr>
        <p:spPr>
          <a:xfrm>
            <a:off x="20638" y="12700"/>
            <a:ext cx="8896350" cy="6780213"/>
          </a:xfrm>
          <a:custGeom>
            <a:avLst/>
            <a:gdLst/>
            <a:ahLst/>
            <a:cxnLst>
              <a:cxn ang="0">
                <a:pos x="2147483646" y="0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0"/>
              </a:cxn>
            </a:cxnLst>
            <a:pathLst>
              <a:path w="3985" h="3619">
                <a:moveTo>
                  <a:pt x="2822" y="0"/>
                </a:moveTo>
                <a:lnTo>
                  <a:pt x="0" y="975"/>
                </a:lnTo>
                <a:lnTo>
                  <a:pt x="2169" y="3619"/>
                </a:lnTo>
                <a:lnTo>
                  <a:pt x="3985" y="1125"/>
                </a:lnTo>
                <a:lnTo>
                  <a:pt x="2822" y="0"/>
                </a:lnTo>
                <a:close/>
              </a:path>
            </a:pathLst>
          </a:custGeom>
          <a:solidFill>
            <a:schemeClr val="accent1">
              <a:alpha val="100000"/>
            </a:scheme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grpSp>
        <p:nvGrpSpPr>
          <p:cNvPr id="2051" name="Group 8"/>
          <p:cNvGrpSpPr/>
          <p:nvPr/>
        </p:nvGrpSpPr>
        <p:grpSpPr>
          <a:xfrm>
            <a:off x="195263" y="234950"/>
            <a:ext cx="3787775" cy="1778000"/>
            <a:chOff x="123" y="148"/>
            <a:chExt cx="2386" cy="1120"/>
          </a:xfrm>
        </p:grpSpPr>
        <p:sp>
          <p:nvSpPr>
            <p:cNvPr id="2069" name="Freeform 9"/>
            <p:cNvSpPr/>
            <p:nvPr userDrawn="1"/>
          </p:nvSpPr>
          <p:spPr>
            <a:xfrm>
              <a:off x="177" y="177"/>
              <a:ext cx="2250" cy="1017"/>
            </a:xfrm>
            <a:custGeom>
              <a:avLst/>
              <a:gdLst/>
              <a:ahLst/>
              <a:cxnLst>
                <a:cxn ang="0">
                  <a:pos x="212895360" y="19069064"/>
                </a:cxn>
                <a:cxn ang="0">
                  <a:pos x="190391823" y="15356128"/>
                </a:cxn>
                <a:cxn ang="0">
                  <a:pos x="149126736" y="10146842"/>
                </a:cxn>
                <a:cxn ang="0">
                  <a:pos x="19031704" y="0"/>
                </a:cxn>
                <a:cxn ang="0">
                  <a:pos x="6138108" y="961355"/>
                </a:cxn>
                <a:cxn ang="0">
                  <a:pos x="0" y="4010436"/>
                </a:cxn>
                <a:cxn ang="0">
                  <a:pos x="7480275" y="7489392"/>
                </a:cxn>
                <a:cxn ang="0">
                  <a:pos x="152827569" y="19757234"/>
                </a:cxn>
                <a:cxn ang="0">
                  <a:pos x="184673414" y="18971656"/>
                </a:cxn>
                <a:cxn ang="0">
                  <a:pos x="210421196" y="19987745"/>
                </a:cxn>
                <a:cxn ang="0">
                  <a:pos x="212895360" y="19069064"/>
                </a:cxn>
                <a:cxn ang="0">
                  <a:pos x="212895360" y="19069064"/>
                </a:cxn>
              </a:cxnLst>
              <a:pathLst>
                <a:path w="794" h="414">
                  <a:moveTo>
                    <a:pt x="794" y="395"/>
                  </a:moveTo>
                  <a:lnTo>
                    <a:pt x="710" y="318"/>
                  </a:lnTo>
                  <a:lnTo>
                    <a:pt x="556" y="210"/>
                  </a:lnTo>
                  <a:lnTo>
                    <a:pt x="71" y="0"/>
                  </a:lnTo>
                  <a:lnTo>
                    <a:pt x="23" y="20"/>
                  </a:lnTo>
                  <a:lnTo>
                    <a:pt x="0" y="83"/>
                  </a:lnTo>
                  <a:lnTo>
                    <a:pt x="28" y="155"/>
                  </a:lnTo>
                  <a:lnTo>
                    <a:pt x="570" y="409"/>
                  </a:lnTo>
                  <a:lnTo>
                    <a:pt x="689" y="393"/>
                  </a:lnTo>
                  <a:lnTo>
                    <a:pt x="785" y="414"/>
                  </a:lnTo>
                  <a:lnTo>
                    <a:pt x="794" y="395"/>
                  </a:lnTo>
                  <a:close/>
                </a:path>
              </a:pathLst>
            </a:custGeom>
            <a:solidFill>
              <a:srgbClr val="F8F8F8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0" name="Freeform 10"/>
            <p:cNvSpPr/>
            <p:nvPr userDrawn="1"/>
          </p:nvSpPr>
          <p:spPr>
            <a:xfrm>
              <a:off x="166" y="261"/>
              <a:ext cx="2244" cy="1007"/>
            </a:xfrm>
            <a:custGeom>
              <a:avLst/>
              <a:gdLst/>
              <a:ahLst/>
              <a:cxnLst>
                <a:cxn ang="0">
                  <a:pos x="8819" y="0"/>
                </a:cxn>
                <a:cxn ang="0">
                  <a:pos x="85661" y="6016"/>
                </a:cxn>
                <a:cxn ang="0">
                  <a:pos x="91898" y="7396"/>
                </a:cxn>
                <a:cxn ang="0">
                  <a:pos x="102081" y="9180"/>
                </a:cxn>
                <a:cxn ang="0">
                  <a:pos x="100730" y="9518"/>
                </a:cxn>
                <a:cxn ang="0">
                  <a:pos x="86868" y="9122"/>
                </a:cxn>
                <a:cxn ang="0">
                  <a:pos x="73680" y="9402"/>
                </a:cxn>
                <a:cxn ang="0">
                  <a:pos x="2664" y="3464"/>
                </a:cxn>
                <a:cxn ang="0">
                  <a:pos x="0" y="1740"/>
                </a:cxn>
                <a:cxn ang="0">
                  <a:pos x="2954" y="367"/>
                </a:cxn>
                <a:cxn ang="0">
                  <a:pos x="8819" y="0"/>
                </a:cxn>
                <a:cxn ang="0">
                  <a:pos x="8819" y="0"/>
                </a:cxn>
              </a:cxnLst>
              <a:pathLst>
                <a:path w="1586" h="821">
                  <a:moveTo>
                    <a:pt x="137" y="0"/>
                  </a:moveTo>
                  <a:lnTo>
                    <a:pt x="1331" y="519"/>
                  </a:lnTo>
                  <a:lnTo>
                    <a:pt x="1428" y="638"/>
                  </a:lnTo>
                  <a:lnTo>
                    <a:pt x="1586" y="792"/>
                  </a:lnTo>
                  <a:lnTo>
                    <a:pt x="1565" y="821"/>
                  </a:lnTo>
                  <a:lnTo>
                    <a:pt x="1350" y="787"/>
                  </a:lnTo>
                  <a:lnTo>
                    <a:pt x="1145" y="811"/>
                  </a:lnTo>
                  <a:lnTo>
                    <a:pt x="42" y="298"/>
                  </a:lnTo>
                  <a:lnTo>
                    <a:pt x="0" y="150"/>
                  </a:lnTo>
                  <a:lnTo>
                    <a:pt x="46" y="32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tx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1" name="Freeform 11"/>
            <p:cNvSpPr/>
            <p:nvPr userDrawn="1"/>
          </p:nvSpPr>
          <p:spPr>
            <a:xfrm>
              <a:off x="474" y="344"/>
              <a:ext cx="1488" cy="919"/>
            </a:xfrm>
            <a:custGeom>
              <a:avLst/>
              <a:gdLst/>
              <a:ahLst/>
              <a:cxnLst>
                <a:cxn ang="0">
                  <a:pos x="0" y="3904"/>
                </a:cxn>
                <a:cxn ang="0">
                  <a:pos x="61178" y="8981"/>
                </a:cxn>
                <a:cxn ang="0">
                  <a:pos x="62316" y="6421"/>
                </a:cxn>
                <a:cxn ang="0">
                  <a:pos x="69614" y="5076"/>
                </a:cxn>
                <a:cxn ang="0">
                  <a:pos x="5175" y="0"/>
                </a:cxn>
                <a:cxn ang="0">
                  <a:pos x="0" y="1521"/>
                </a:cxn>
                <a:cxn ang="0">
                  <a:pos x="0" y="3904"/>
                </a:cxn>
                <a:cxn ang="0">
                  <a:pos x="0" y="3904"/>
                </a:cxn>
              </a:cxnLst>
              <a:pathLst>
                <a:path w="1049" h="747">
                  <a:moveTo>
                    <a:pt x="0" y="325"/>
                  </a:moveTo>
                  <a:lnTo>
                    <a:pt x="922" y="747"/>
                  </a:lnTo>
                  <a:lnTo>
                    <a:pt x="939" y="534"/>
                  </a:lnTo>
                  <a:lnTo>
                    <a:pt x="1049" y="422"/>
                  </a:lnTo>
                  <a:lnTo>
                    <a:pt x="78" y="0"/>
                  </a:lnTo>
                  <a:lnTo>
                    <a:pt x="0" y="127"/>
                  </a:lnTo>
                  <a:lnTo>
                    <a:pt x="0" y="325"/>
                  </a:lnTo>
                  <a:close/>
                </a:path>
              </a:pathLst>
            </a:custGeom>
            <a:solidFill>
              <a:schemeClr val="bg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2072" name="Group 12"/>
            <p:cNvGrpSpPr/>
            <p:nvPr userDrawn="1"/>
          </p:nvGrpSpPr>
          <p:grpSpPr>
            <a:xfrm>
              <a:off x="123" y="148"/>
              <a:ext cx="2386" cy="1081"/>
              <a:chOff x="123" y="148"/>
              <a:chExt cx="2386" cy="1081"/>
            </a:xfrm>
          </p:grpSpPr>
          <p:sp>
            <p:nvSpPr>
              <p:cNvPr id="2073" name="Freeform 13"/>
              <p:cNvSpPr/>
              <p:nvPr userDrawn="1"/>
            </p:nvSpPr>
            <p:spPr>
              <a:xfrm>
                <a:off x="2005" y="934"/>
                <a:ext cx="212" cy="214"/>
              </a:xfrm>
              <a:custGeom>
                <a:avLst/>
                <a:gdLst/>
                <a:ahLst/>
                <a:cxnLst>
                  <a:cxn ang="0">
                    <a:pos x="6975" y="0"/>
                  </a:cxn>
                  <a:cxn ang="0">
                    <a:pos x="2567" y="852"/>
                  </a:cxn>
                  <a:cxn ang="0">
                    <a:pos x="0" y="2223"/>
                  </a:cxn>
                  <a:cxn ang="0">
                    <a:pos x="5075" y="2055"/>
                  </a:cxn>
                  <a:cxn ang="0">
                    <a:pos x="6538" y="1086"/>
                  </a:cxn>
                  <a:cxn ang="0">
                    <a:pos x="9540" y="344"/>
                  </a:cxn>
                  <a:cxn ang="0">
                    <a:pos x="6975" y="0"/>
                  </a:cxn>
                  <a:cxn ang="0">
                    <a:pos x="6975" y="0"/>
                  </a:cxn>
                </a:cxnLst>
                <a:pathLst>
                  <a:path w="150" h="173">
                    <a:moveTo>
                      <a:pt x="110" y="0"/>
                    </a:moveTo>
                    <a:lnTo>
                      <a:pt x="40" y="66"/>
                    </a:lnTo>
                    <a:lnTo>
                      <a:pt x="0" y="173"/>
                    </a:lnTo>
                    <a:lnTo>
                      <a:pt x="80" y="160"/>
                    </a:lnTo>
                    <a:lnTo>
                      <a:pt x="103" y="84"/>
                    </a:lnTo>
                    <a:lnTo>
                      <a:pt x="150" y="27"/>
                    </a:lnTo>
                    <a:lnTo>
                      <a:pt x="110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74" name="Freeform 14"/>
              <p:cNvSpPr/>
              <p:nvPr userDrawn="1"/>
            </p:nvSpPr>
            <p:spPr>
              <a:xfrm>
                <a:off x="123" y="148"/>
                <a:ext cx="2386" cy="1081"/>
              </a:xfrm>
              <a:custGeom>
                <a:avLst/>
                <a:gdLst/>
                <a:ahLst/>
                <a:cxnLst>
                  <a:cxn ang="0">
                    <a:pos x="10206" y="0"/>
                  </a:cxn>
                  <a:cxn ang="0">
                    <a:pos x="4127" y="615"/>
                  </a:cxn>
                  <a:cxn ang="0">
                    <a:pos x="0" y="2457"/>
                  </a:cxn>
                  <a:cxn ang="0">
                    <a:pos x="4401" y="4237"/>
                  </a:cxn>
                  <a:cxn ang="0">
                    <a:pos x="77361" y="10235"/>
                  </a:cxn>
                  <a:cxn ang="0">
                    <a:pos x="93078" y="9862"/>
                  </a:cxn>
                  <a:cxn ang="0">
                    <a:pos x="105814" y="10391"/>
                  </a:cxn>
                  <a:cxn ang="0">
                    <a:pos x="110233" y="9551"/>
                  </a:cxn>
                  <a:cxn ang="0">
                    <a:pos x="98308" y="7837"/>
                  </a:cxn>
                  <a:cxn ang="0">
                    <a:pos x="93463" y="6052"/>
                  </a:cxn>
                  <a:cxn ang="0">
                    <a:pos x="89639" y="6223"/>
                  </a:cxn>
                  <a:cxn ang="0">
                    <a:pos x="94182" y="7837"/>
                  </a:cxn>
                  <a:cxn ang="0">
                    <a:pos x="103291" y="9558"/>
                  </a:cxn>
                  <a:cxn ang="0">
                    <a:pos x="92501" y="9293"/>
                  </a:cxn>
                  <a:cxn ang="0">
                    <a:pos x="79778" y="9601"/>
                  </a:cxn>
                  <a:cxn ang="0">
                    <a:pos x="82133" y="7669"/>
                  </a:cxn>
                  <a:cxn ang="0">
                    <a:pos x="87588" y="6353"/>
                  </a:cxn>
                  <a:cxn ang="0">
                    <a:pos x="81202" y="6517"/>
                  </a:cxn>
                  <a:cxn ang="0">
                    <a:pos x="76251" y="7775"/>
                  </a:cxn>
                  <a:cxn ang="0">
                    <a:pos x="74568" y="9343"/>
                  </a:cxn>
                  <a:cxn ang="0">
                    <a:pos x="7012" y="3659"/>
                  </a:cxn>
                  <a:cxn ang="0">
                    <a:pos x="5221" y="2535"/>
                  </a:cxn>
                  <a:cxn ang="0">
                    <a:pos x="6739" y="1128"/>
                  </a:cxn>
                  <a:cxn ang="0">
                    <a:pos x="14181" y="0"/>
                  </a:cxn>
                  <a:cxn ang="0">
                    <a:pos x="10206" y="0"/>
                  </a:cxn>
                  <a:cxn ang="0">
                    <a:pos x="10206" y="0"/>
                  </a:cxn>
                </a:cxnLst>
                <a:pathLst>
                  <a:path w="1684" h="880">
                    <a:moveTo>
                      <a:pt x="156" y="0"/>
                    </a:moveTo>
                    <a:lnTo>
                      <a:pt x="63" y="52"/>
                    </a:lnTo>
                    <a:lnTo>
                      <a:pt x="0" y="208"/>
                    </a:lnTo>
                    <a:lnTo>
                      <a:pt x="67" y="358"/>
                    </a:lnTo>
                    <a:lnTo>
                      <a:pt x="1182" y="867"/>
                    </a:lnTo>
                    <a:lnTo>
                      <a:pt x="1422" y="835"/>
                    </a:lnTo>
                    <a:lnTo>
                      <a:pt x="1616" y="880"/>
                    </a:lnTo>
                    <a:lnTo>
                      <a:pt x="1684" y="808"/>
                    </a:lnTo>
                    <a:lnTo>
                      <a:pt x="1502" y="664"/>
                    </a:lnTo>
                    <a:lnTo>
                      <a:pt x="1428" y="512"/>
                    </a:lnTo>
                    <a:lnTo>
                      <a:pt x="1369" y="527"/>
                    </a:lnTo>
                    <a:lnTo>
                      <a:pt x="1439" y="664"/>
                    </a:lnTo>
                    <a:lnTo>
                      <a:pt x="1578" y="810"/>
                    </a:lnTo>
                    <a:lnTo>
                      <a:pt x="1413" y="787"/>
                    </a:lnTo>
                    <a:lnTo>
                      <a:pt x="1219" y="814"/>
                    </a:lnTo>
                    <a:lnTo>
                      <a:pt x="1255" y="650"/>
                    </a:lnTo>
                    <a:lnTo>
                      <a:pt x="1338" y="538"/>
                    </a:lnTo>
                    <a:lnTo>
                      <a:pt x="1241" y="552"/>
                    </a:lnTo>
                    <a:lnTo>
                      <a:pt x="1165" y="658"/>
                    </a:lnTo>
                    <a:lnTo>
                      <a:pt x="1139" y="791"/>
                    </a:lnTo>
                    <a:lnTo>
                      <a:pt x="107" y="310"/>
                    </a:lnTo>
                    <a:lnTo>
                      <a:pt x="80" y="215"/>
                    </a:lnTo>
                    <a:lnTo>
                      <a:pt x="103" y="95"/>
                    </a:lnTo>
                    <a:lnTo>
                      <a:pt x="217" y="0"/>
                    </a:lnTo>
                    <a:lnTo>
                      <a:pt x="156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75" name="Freeform 15"/>
              <p:cNvSpPr/>
              <p:nvPr userDrawn="1"/>
            </p:nvSpPr>
            <p:spPr>
              <a:xfrm>
                <a:off x="324" y="158"/>
                <a:ext cx="1686" cy="614"/>
              </a:xfrm>
              <a:custGeom>
                <a:avLst/>
                <a:gdLst/>
                <a:ahLst/>
                <a:cxnLst>
                  <a:cxn ang="0">
                    <a:pos x="6551" y="0"/>
                  </a:cxn>
                  <a:cxn ang="0">
                    <a:pos x="77869" y="5761"/>
                  </a:cxn>
                  <a:cxn ang="0">
                    <a:pos x="70361" y="5878"/>
                  </a:cxn>
                  <a:cxn ang="0">
                    <a:pos x="0" y="317"/>
                  </a:cxn>
                  <a:cxn ang="0">
                    <a:pos x="6551" y="0"/>
                  </a:cxn>
                  <a:cxn ang="0">
                    <a:pos x="6551" y="0"/>
                  </a:cxn>
                </a:cxnLst>
                <a:pathLst>
                  <a:path w="1190" h="500">
                    <a:moveTo>
                      <a:pt x="100" y="0"/>
                    </a:moveTo>
                    <a:lnTo>
                      <a:pt x="1190" y="490"/>
                    </a:lnTo>
                    <a:lnTo>
                      <a:pt x="1076" y="500"/>
                    </a:lnTo>
                    <a:lnTo>
                      <a:pt x="0" y="27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76" name="Freeform 16"/>
              <p:cNvSpPr/>
              <p:nvPr userDrawn="1"/>
            </p:nvSpPr>
            <p:spPr>
              <a:xfrm>
                <a:off x="409" y="251"/>
                <a:ext cx="227" cy="410"/>
              </a:xfrm>
              <a:custGeom>
                <a:avLst/>
                <a:gdLst/>
                <a:ahLst/>
                <a:cxnLst>
                  <a:cxn ang="0">
                    <a:pos x="7731" y="0"/>
                  </a:cxn>
                  <a:cxn ang="0">
                    <a:pos x="1266" y="1204"/>
                  </a:cxn>
                  <a:cxn ang="0">
                    <a:pos x="0" y="2593"/>
                  </a:cxn>
                  <a:cxn ang="0">
                    <a:pos x="2218" y="3546"/>
                  </a:cxn>
                  <a:cxn ang="0">
                    <a:pos x="6234" y="3781"/>
                  </a:cxn>
                  <a:cxn ang="0">
                    <a:pos x="5061" y="1731"/>
                  </a:cxn>
                  <a:cxn ang="0">
                    <a:pos x="10634" y="198"/>
                  </a:cxn>
                  <a:cxn ang="0">
                    <a:pos x="7731" y="0"/>
                  </a:cxn>
                  <a:cxn ang="0">
                    <a:pos x="7731" y="0"/>
                  </a:cxn>
                </a:cxnLst>
                <a:pathLst>
                  <a:path w="160" h="335">
                    <a:moveTo>
                      <a:pt x="116" y="0"/>
                    </a:moveTo>
                    <a:lnTo>
                      <a:pt x="19" y="106"/>
                    </a:lnTo>
                    <a:lnTo>
                      <a:pt x="0" y="230"/>
                    </a:lnTo>
                    <a:lnTo>
                      <a:pt x="33" y="314"/>
                    </a:lnTo>
                    <a:lnTo>
                      <a:pt x="94" y="335"/>
                    </a:lnTo>
                    <a:lnTo>
                      <a:pt x="76" y="154"/>
                    </a:lnTo>
                    <a:lnTo>
                      <a:pt x="160" y="17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77" name="Freeform 17"/>
              <p:cNvSpPr/>
              <p:nvPr userDrawn="1"/>
            </p:nvSpPr>
            <p:spPr>
              <a:xfrm>
                <a:off x="846" y="536"/>
                <a:ext cx="691" cy="364"/>
              </a:xfrm>
              <a:custGeom>
                <a:avLst/>
                <a:gdLst/>
                <a:ahLst/>
                <a:cxnLst>
                  <a:cxn ang="0">
                    <a:pos x="909" y="411"/>
                  </a:cxn>
                  <a:cxn ang="0">
                    <a:pos x="10123" y="794"/>
                  </a:cxn>
                  <a:cxn ang="0">
                    <a:pos x="20541" y="1642"/>
                  </a:cxn>
                  <a:cxn ang="0">
                    <a:pos x="27896" y="2911"/>
                  </a:cxn>
                  <a:cxn ang="0">
                    <a:pos x="20665" y="2753"/>
                  </a:cxn>
                  <a:cxn ang="0">
                    <a:pos x="8787" y="1749"/>
                  </a:cxn>
                  <a:cxn ang="0">
                    <a:pos x="3162" y="957"/>
                  </a:cxn>
                  <a:cxn ang="0">
                    <a:pos x="6763" y="1950"/>
                  </a:cxn>
                  <a:cxn ang="0">
                    <a:pos x="17238" y="3227"/>
                  </a:cxn>
                  <a:cxn ang="0">
                    <a:pos x="29526" y="3550"/>
                  </a:cxn>
                  <a:cxn ang="0">
                    <a:pos x="30990" y="2680"/>
                  </a:cxn>
                  <a:cxn ang="0">
                    <a:pos x="24978" y="1441"/>
                  </a:cxn>
                  <a:cxn ang="0">
                    <a:pos x="10763" y="207"/>
                  </a:cxn>
                  <a:cxn ang="0">
                    <a:pos x="0" y="0"/>
                  </a:cxn>
                  <a:cxn ang="0">
                    <a:pos x="909" y="411"/>
                  </a:cxn>
                  <a:cxn ang="0">
                    <a:pos x="909" y="411"/>
                  </a:cxn>
                </a:cxnLst>
                <a:pathLst>
                  <a:path w="489" h="296">
                    <a:moveTo>
                      <a:pt x="14" y="34"/>
                    </a:moveTo>
                    <a:lnTo>
                      <a:pt x="160" y="66"/>
                    </a:lnTo>
                    <a:lnTo>
                      <a:pt x="324" y="137"/>
                    </a:lnTo>
                    <a:lnTo>
                      <a:pt x="440" y="243"/>
                    </a:lnTo>
                    <a:lnTo>
                      <a:pt x="326" y="230"/>
                    </a:lnTo>
                    <a:lnTo>
                      <a:pt x="139" y="146"/>
                    </a:lnTo>
                    <a:lnTo>
                      <a:pt x="50" y="80"/>
                    </a:lnTo>
                    <a:lnTo>
                      <a:pt x="107" y="163"/>
                    </a:lnTo>
                    <a:lnTo>
                      <a:pt x="272" y="270"/>
                    </a:lnTo>
                    <a:lnTo>
                      <a:pt x="466" y="296"/>
                    </a:lnTo>
                    <a:lnTo>
                      <a:pt x="489" y="224"/>
                    </a:lnTo>
                    <a:lnTo>
                      <a:pt x="394" y="120"/>
                    </a:lnTo>
                    <a:lnTo>
                      <a:pt x="170" y="17"/>
                    </a:lnTo>
                    <a:lnTo>
                      <a:pt x="0" y="0"/>
                    </a:ln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  <p:grpSp>
        <p:nvGrpSpPr>
          <p:cNvPr id="2052" name="Group 18"/>
          <p:cNvGrpSpPr/>
          <p:nvPr/>
        </p:nvGrpSpPr>
        <p:grpSpPr>
          <a:xfrm>
            <a:off x="7915275" y="4368800"/>
            <a:ext cx="742950" cy="1058863"/>
            <a:chOff x="4986" y="2752"/>
            <a:chExt cx="468" cy="667"/>
          </a:xfrm>
        </p:grpSpPr>
        <p:sp>
          <p:nvSpPr>
            <p:cNvPr id="2060" name="Freeform 19"/>
            <p:cNvSpPr/>
            <p:nvPr userDrawn="1"/>
          </p:nvSpPr>
          <p:spPr>
            <a:xfrm rot="7320404">
              <a:off x="4909" y="2936"/>
              <a:ext cx="629" cy="293"/>
            </a:xfrm>
            <a:custGeom>
              <a:avLst/>
              <a:gdLst/>
              <a:ahLst/>
              <a:cxnLst>
                <a:cxn ang="0">
                  <a:pos x="48" y="6"/>
                </a:cxn>
                <a:cxn ang="0">
                  <a:pos x="44" y="5"/>
                </a:cxn>
                <a:cxn ang="0">
                  <a:pos x="34" y="3"/>
                </a:cxn>
                <a:cxn ang="0">
                  <a:pos x="4" y="0"/>
                </a:cxn>
                <a:cxn ang="0">
                  <a:pos x="2" y="1"/>
                </a:cxn>
                <a:cxn ang="0">
                  <a:pos x="0" y="1"/>
                </a:cxn>
                <a:cxn ang="0">
                  <a:pos x="2" y="3"/>
                </a:cxn>
                <a:cxn ang="0">
                  <a:pos x="35" y="6"/>
                </a:cxn>
                <a:cxn ang="0">
                  <a:pos x="42" y="6"/>
                </a:cxn>
                <a:cxn ang="0">
                  <a:pos x="48" y="6"/>
                </a:cxn>
                <a:cxn ang="0">
                  <a:pos x="48" y="6"/>
                </a:cxn>
                <a:cxn ang="0">
                  <a:pos x="48" y="6"/>
                </a:cxn>
              </a:cxnLst>
              <a:pathLst>
                <a:path w="794" h="414">
                  <a:moveTo>
                    <a:pt x="794" y="395"/>
                  </a:moveTo>
                  <a:lnTo>
                    <a:pt x="710" y="318"/>
                  </a:lnTo>
                  <a:lnTo>
                    <a:pt x="556" y="210"/>
                  </a:lnTo>
                  <a:lnTo>
                    <a:pt x="71" y="0"/>
                  </a:lnTo>
                  <a:lnTo>
                    <a:pt x="23" y="20"/>
                  </a:lnTo>
                  <a:lnTo>
                    <a:pt x="0" y="83"/>
                  </a:lnTo>
                  <a:lnTo>
                    <a:pt x="28" y="155"/>
                  </a:lnTo>
                  <a:lnTo>
                    <a:pt x="570" y="409"/>
                  </a:lnTo>
                  <a:lnTo>
                    <a:pt x="689" y="393"/>
                  </a:lnTo>
                  <a:lnTo>
                    <a:pt x="785" y="414"/>
                  </a:lnTo>
                  <a:lnTo>
                    <a:pt x="794" y="395"/>
                  </a:lnTo>
                  <a:close/>
                </a:path>
              </a:pathLst>
            </a:custGeom>
            <a:solidFill>
              <a:srgbClr val="F8F8F8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1" name="Freeform 20"/>
            <p:cNvSpPr/>
            <p:nvPr userDrawn="1"/>
          </p:nvSpPr>
          <p:spPr>
            <a:xfrm rot="7320404">
              <a:off x="4893" y="2922"/>
              <a:ext cx="627" cy="29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1586" h="821">
                  <a:moveTo>
                    <a:pt x="137" y="0"/>
                  </a:moveTo>
                  <a:lnTo>
                    <a:pt x="1331" y="519"/>
                  </a:lnTo>
                  <a:lnTo>
                    <a:pt x="1428" y="638"/>
                  </a:lnTo>
                  <a:lnTo>
                    <a:pt x="1586" y="792"/>
                  </a:lnTo>
                  <a:lnTo>
                    <a:pt x="1565" y="821"/>
                  </a:lnTo>
                  <a:lnTo>
                    <a:pt x="1350" y="787"/>
                  </a:lnTo>
                  <a:lnTo>
                    <a:pt x="1145" y="811"/>
                  </a:lnTo>
                  <a:lnTo>
                    <a:pt x="42" y="298"/>
                  </a:lnTo>
                  <a:lnTo>
                    <a:pt x="0" y="150"/>
                  </a:lnTo>
                  <a:lnTo>
                    <a:pt x="46" y="32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2" name="Freeform 21"/>
            <p:cNvSpPr/>
            <p:nvPr userDrawn="1"/>
          </p:nvSpPr>
          <p:spPr>
            <a:xfrm rot="7320404">
              <a:off x="4999" y="2913"/>
              <a:ext cx="416" cy="26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1049" h="747">
                  <a:moveTo>
                    <a:pt x="0" y="325"/>
                  </a:moveTo>
                  <a:lnTo>
                    <a:pt x="922" y="747"/>
                  </a:lnTo>
                  <a:lnTo>
                    <a:pt x="939" y="534"/>
                  </a:lnTo>
                  <a:lnTo>
                    <a:pt x="1049" y="422"/>
                  </a:lnTo>
                  <a:lnTo>
                    <a:pt x="78" y="0"/>
                  </a:lnTo>
                  <a:lnTo>
                    <a:pt x="0" y="127"/>
                  </a:lnTo>
                  <a:lnTo>
                    <a:pt x="0" y="325"/>
                  </a:lnTo>
                  <a:close/>
                </a:path>
              </a:pathLst>
            </a:custGeom>
            <a:solidFill>
              <a:schemeClr val="bg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2063" name="Group 22"/>
            <p:cNvGrpSpPr/>
            <p:nvPr userDrawn="1"/>
          </p:nvGrpSpPr>
          <p:grpSpPr>
            <a:xfrm>
              <a:off x="4986" y="2752"/>
              <a:ext cx="469" cy="667"/>
              <a:chOff x="4986" y="2752"/>
              <a:chExt cx="469" cy="667"/>
            </a:xfrm>
          </p:grpSpPr>
          <p:sp>
            <p:nvSpPr>
              <p:cNvPr id="2064" name="Freeform 23"/>
              <p:cNvSpPr/>
              <p:nvPr userDrawn="1"/>
            </p:nvSpPr>
            <p:spPr>
              <a:xfrm rot="7320404">
                <a:off x="4987" y="3190"/>
                <a:ext cx="59" cy="6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150" h="173">
                    <a:moveTo>
                      <a:pt x="110" y="0"/>
                    </a:moveTo>
                    <a:lnTo>
                      <a:pt x="40" y="66"/>
                    </a:lnTo>
                    <a:lnTo>
                      <a:pt x="0" y="173"/>
                    </a:lnTo>
                    <a:lnTo>
                      <a:pt x="80" y="160"/>
                    </a:lnTo>
                    <a:lnTo>
                      <a:pt x="103" y="84"/>
                    </a:lnTo>
                    <a:lnTo>
                      <a:pt x="150" y="27"/>
                    </a:lnTo>
                    <a:lnTo>
                      <a:pt x="110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65" name="Freeform 24"/>
              <p:cNvSpPr/>
              <p:nvPr userDrawn="1"/>
            </p:nvSpPr>
            <p:spPr>
              <a:xfrm rot="7320404">
                <a:off x="4887" y="2930"/>
                <a:ext cx="667" cy="31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1684" h="880">
                    <a:moveTo>
                      <a:pt x="156" y="0"/>
                    </a:moveTo>
                    <a:lnTo>
                      <a:pt x="63" y="52"/>
                    </a:lnTo>
                    <a:lnTo>
                      <a:pt x="0" y="208"/>
                    </a:lnTo>
                    <a:lnTo>
                      <a:pt x="67" y="358"/>
                    </a:lnTo>
                    <a:lnTo>
                      <a:pt x="1182" y="867"/>
                    </a:lnTo>
                    <a:lnTo>
                      <a:pt x="1422" y="835"/>
                    </a:lnTo>
                    <a:lnTo>
                      <a:pt x="1616" y="880"/>
                    </a:lnTo>
                    <a:lnTo>
                      <a:pt x="1684" y="808"/>
                    </a:lnTo>
                    <a:lnTo>
                      <a:pt x="1502" y="664"/>
                    </a:lnTo>
                    <a:lnTo>
                      <a:pt x="1428" y="512"/>
                    </a:lnTo>
                    <a:lnTo>
                      <a:pt x="1369" y="527"/>
                    </a:lnTo>
                    <a:lnTo>
                      <a:pt x="1439" y="664"/>
                    </a:lnTo>
                    <a:lnTo>
                      <a:pt x="1578" y="810"/>
                    </a:lnTo>
                    <a:lnTo>
                      <a:pt x="1413" y="787"/>
                    </a:lnTo>
                    <a:lnTo>
                      <a:pt x="1219" y="814"/>
                    </a:lnTo>
                    <a:lnTo>
                      <a:pt x="1255" y="650"/>
                    </a:lnTo>
                    <a:lnTo>
                      <a:pt x="1338" y="538"/>
                    </a:lnTo>
                    <a:lnTo>
                      <a:pt x="1241" y="552"/>
                    </a:lnTo>
                    <a:lnTo>
                      <a:pt x="1165" y="658"/>
                    </a:lnTo>
                    <a:lnTo>
                      <a:pt x="1139" y="791"/>
                    </a:lnTo>
                    <a:lnTo>
                      <a:pt x="107" y="310"/>
                    </a:lnTo>
                    <a:lnTo>
                      <a:pt x="80" y="215"/>
                    </a:lnTo>
                    <a:lnTo>
                      <a:pt x="103" y="95"/>
                    </a:lnTo>
                    <a:lnTo>
                      <a:pt x="217" y="0"/>
                    </a:lnTo>
                    <a:lnTo>
                      <a:pt x="156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66" name="Freeform 25"/>
              <p:cNvSpPr/>
              <p:nvPr userDrawn="1"/>
            </p:nvSpPr>
            <p:spPr>
              <a:xfrm rot="7320404">
                <a:off x="5062" y="2997"/>
                <a:ext cx="472" cy="17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1190" h="500">
                    <a:moveTo>
                      <a:pt x="100" y="0"/>
                    </a:moveTo>
                    <a:lnTo>
                      <a:pt x="1190" y="490"/>
                    </a:lnTo>
                    <a:lnTo>
                      <a:pt x="1076" y="500"/>
                    </a:lnTo>
                    <a:lnTo>
                      <a:pt x="0" y="27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67" name="Freeform 26"/>
              <p:cNvSpPr/>
              <p:nvPr userDrawn="1"/>
            </p:nvSpPr>
            <p:spPr>
              <a:xfrm rot="7320404">
                <a:off x="5364" y="2872"/>
                <a:ext cx="63" cy="11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160" h="335">
                    <a:moveTo>
                      <a:pt x="116" y="0"/>
                    </a:moveTo>
                    <a:lnTo>
                      <a:pt x="19" y="106"/>
                    </a:lnTo>
                    <a:lnTo>
                      <a:pt x="0" y="230"/>
                    </a:lnTo>
                    <a:lnTo>
                      <a:pt x="33" y="314"/>
                    </a:lnTo>
                    <a:lnTo>
                      <a:pt x="94" y="335"/>
                    </a:lnTo>
                    <a:lnTo>
                      <a:pt x="76" y="154"/>
                    </a:lnTo>
                    <a:lnTo>
                      <a:pt x="160" y="17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68" name="Freeform 27"/>
              <p:cNvSpPr/>
              <p:nvPr userDrawn="1"/>
            </p:nvSpPr>
            <p:spPr>
              <a:xfrm rot="7320404">
                <a:off x="5137" y="2999"/>
                <a:ext cx="193" cy="10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489" h="296">
                    <a:moveTo>
                      <a:pt x="14" y="34"/>
                    </a:moveTo>
                    <a:lnTo>
                      <a:pt x="160" y="66"/>
                    </a:lnTo>
                    <a:lnTo>
                      <a:pt x="324" y="137"/>
                    </a:lnTo>
                    <a:lnTo>
                      <a:pt x="440" y="243"/>
                    </a:lnTo>
                    <a:lnTo>
                      <a:pt x="326" y="230"/>
                    </a:lnTo>
                    <a:lnTo>
                      <a:pt x="139" y="146"/>
                    </a:lnTo>
                    <a:lnTo>
                      <a:pt x="50" y="80"/>
                    </a:lnTo>
                    <a:lnTo>
                      <a:pt x="107" y="163"/>
                    </a:lnTo>
                    <a:lnTo>
                      <a:pt x="272" y="270"/>
                    </a:lnTo>
                    <a:lnTo>
                      <a:pt x="466" y="296"/>
                    </a:lnTo>
                    <a:lnTo>
                      <a:pt x="489" y="224"/>
                    </a:lnTo>
                    <a:lnTo>
                      <a:pt x="394" y="120"/>
                    </a:lnTo>
                    <a:lnTo>
                      <a:pt x="170" y="17"/>
                    </a:lnTo>
                    <a:lnTo>
                      <a:pt x="0" y="0"/>
                    </a:ln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  <p:sp>
        <p:nvSpPr>
          <p:cNvPr id="2053" name="Freeform 28"/>
          <p:cNvSpPr/>
          <p:nvPr/>
        </p:nvSpPr>
        <p:spPr>
          <a:xfrm>
            <a:off x="901700" y="5054600"/>
            <a:ext cx="6807200" cy="728663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4288" h="459">
                <a:moveTo>
                  <a:pt x="0" y="0"/>
                </a:moveTo>
                <a:cubicBezTo>
                  <a:pt x="136" y="43"/>
                  <a:pt x="556" y="232"/>
                  <a:pt x="816" y="256"/>
                </a:cubicBezTo>
                <a:cubicBezTo>
                  <a:pt x="1076" y="280"/>
                  <a:pt x="1387" y="124"/>
                  <a:pt x="1560" y="144"/>
                </a:cubicBezTo>
                <a:cubicBezTo>
                  <a:pt x="1733" y="164"/>
                  <a:pt x="1725" y="375"/>
                  <a:pt x="1856" y="376"/>
                </a:cubicBezTo>
                <a:cubicBezTo>
                  <a:pt x="1987" y="377"/>
                  <a:pt x="2064" y="139"/>
                  <a:pt x="2344" y="152"/>
                </a:cubicBezTo>
                <a:cubicBezTo>
                  <a:pt x="2624" y="165"/>
                  <a:pt x="3212" y="459"/>
                  <a:pt x="3536" y="456"/>
                </a:cubicBezTo>
                <a:cubicBezTo>
                  <a:pt x="3860" y="453"/>
                  <a:pt x="4165" y="188"/>
                  <a:pt x="4288" y="136"/>
                </a:cubicBezTo>
              </a:path>
            </a:pathLst>
          </a:custGeom>
          <a:noFill/>
          <a:ln w="76200" cap="flat" cmpd="sng">
            <a:solidFill>
              <a:schemeClr val="folHlink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054" name="Freeform 29"/>
          <p:cNvSpPr/>
          <p:nvPr/>
        </p:nvSpPr>
        <p:spPr>
          <a:xfrm>
            <a:off x="4076700" y="1930400"/>
            <a:ext cx="889000" cy="381000"/>
          </a:xfrm>
          <a:custGeom>
            <a:avLst/>
            <a:gdLst/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560" h="240">
                <a:moveTo>
                  <a:pt x="0" y="32"/>
                </a:moveTo>
                <a:cubicBezTo>
                  <a:pt x="102" y="89"/>
                  <a:pt x="205" y="147"/>
                  <a:pt x="280" y="144"/>
                </a:cubicBezTo>
                <a:cubicBezTo>
                  <a:pt x="355" y="141"/>
                  <a:pt x="401" y="0"/>
                  <a:pt x="448" y="16"/>
                </a:cubicBezTo>
                <a:cubicBezTo>
                  <a:pt x="495" y="32"/>
                  <a:pt x="541" y="201"/>
                  <a:pt x="560" y="240"/>
                </a:cubicBezTo>
              </a:path>
            </a:pathLst>
          </a:custGeom>
          <a:noFill/>
          <a:ln w="114300" cap="flat" cmpd="sng">
            <a:solidFill>
              <a:schemeClr val="tx2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371600" y="1511300"/>
            <a:ext cx="6400800" cy="2273300"/>
          </a:xfrm>
          <a:effectLst>
            <a:outerShdw dist="45791" dir="2021404" algn="ctr" rotWithShape="0">
              <a:schemeClr val="bg2"/>
            </a:outerShdw>
          </a:effectLst>
        </p:spPr>
        <p:txBody>
          <a:bodyPr/>
          <a:lstStyle>
            <a:lvl1pPr>
              <a:defRPr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  <p:sp>
        <p:nvSpPr>
          <p:cNvPr id="6451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549400" y="4051300"/>
            <a:ext cx="6032500" cy="1003300"/>
          </a:xfrm>
        </p:spPr>
        <p:txBody>
          <a:bodyPr/>
          <a:lstStyle>
            <a:lvl1pPr marL="0" indent="0" algn="ctr">
              <a:buFontTx/>
              <a:buNone/>
              <a:defRPr sz="2800"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/>
          </a:p>
        </p:txBody>
      </p:sp>
      <p:sp>
        <p:nvSpPr>
          <p:cNvPr id="76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7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8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1EC4895-162B-46CE-9BD0-3BC8A8974769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3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43A51D1-BDF6-49E1-88B4-443BD09E09FE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3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AA30F21-A0DB-4A3B-AA83-CADFCFE4087E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828800"/>
            <a:ext cx="3771900" cy="3657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0100" y="1828800"/>
            <a:ext cx="3771900" cy="3657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3" name="Rectangle 5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33A3824-CF97-4C09-8D32-5BE43523A591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3" name="Rectangle 5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" name="Rectangle 6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" name="Rectangle 7"/>
          <p:cNvSpPr>
            <a:spLocks noGrp="1" noChangeArrowheads="1"/>
          </p:cNvSpPr>
          <p:nvPr>
            <p:ph type="sldNum" sz="quarter" idx="1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0B54908-AC3A-4A85-8670-6AB86C4CD287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53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298E812-3155-4AB3-A3CF-2087331DEEF6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A0EF1BB-F689-451E-9B24-4F06E5757B71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3" name="Rectangle 5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D49D490-931B-4636-BF2E-527362F3F9D6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3" name="Rectangle 5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A5AE1E6-27C3-47E1-8F24-4BEF3BB0F915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Sp="0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3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57E3001-842E-4D4A-A007-583CCB9E25E5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57950" y="152400"/>
            <a:ext cx="1924050" cy="5334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152400"/>
            <a:ext cx="5619750" cy="5334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3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0D870AF-D1ED-499E-AA07-A23D70E70F19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 showMasterSp="0">
  <p:cSld name="标题，文本与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6870700" cy="16002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828800"/>
            <a:ext cx="3771900" cy="3657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0100" y="1828800"/>
            <a:ext cx="3771900" cy="3657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3" name="Rectangle 5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7441609-C32C-4BD6-9EC0-6E474CBAF9DE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Freeform 2"/>
          <p:cNvSpPr/>
          <p:nvPr/>
        </p:nvSpPr>
        <p:spPr>
          <a:xfrm>
            <a:off x="20638" y="12700"/>
            <a:ext cx="8896350" cy="6780213"/>
          </a:xfrm>
          <a:custGeom>
            <a:avLst/>
            <a:gdLst/>
            <a:ahLst/>
            <a:cxnLst>
              <a:cxn ang="0">
                <a:pos x="2147483646" y="0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0"/>
              </a:cxn>
            </a:cxnLst>
            <a:pathLst>
              <a:path w="3985" h="3619">
                <a:moveTo>
                  <a:pt x="2822" y="0"/>
                </a:moveTo>
                <a:lnTo>
                  <a:pt x="0" y="975"/>
                </a:lnTo>
                <a:lnTo>
                  <a:pt x="2169" y="3619"/>
                </a:lnTo>
                <a:lnTo>
                  <a:pt x="3985" y="1125"/>
                </a:lnTo>
                <a:lnTo>
                  <a:pt x="2822" y="0"/>
                </a:lnTo>
                <a:close/>
              </a:path>
            </a:pathLst>
          </a:custGeom>
          <a:solidFill>
            <a:schemeClr val="accent1">
              <a:alpha val="100000"/>
            </a:schemeClr>
          </a:solidFill>
          <a:ln w="9525">
            <a:noFill/>
          </a:ln>
        </p:spPr>
        <p:txBody>
          <a:bodyPr/>
          <a:p>
            <a:endParaRPr lang="zh-CN" altLang="en-US" sz="1800"/>
          </a:p>
        </p:txBody>
      </p:sp>
      <p:grpSp>
        <p:nvGrpSpPr>
          <p:cNvPr id="2051" name="Group 8"/>
          <p:cNvGrpSpPr/>
          <p:nvPr/>
        </p:nvGrpSpPr>
        <p:grpSpPr>
          <a:xfrm>
            <a:off x="195263" y="234950"/>
            <a:ext cx="3787775" cy="1778000"/>
            <a:chOff x="123" y="148"/>
            <a:chExt cx="2386" cy="1120"/>
          </a:xfrm>
        </p:grpSpPr>
        <p:sp>
          <p:nvSpPr>
            <p:cNvPr id="2069" name="Freeform 9"/>
            <p:cNvSpPr/>
            <p:nvPr userDrawn="1"/>
          </p:nvSpPr>
          <p:spPr>
            <a:xfrm>
              <a:off x="177" y="177"/>
              <a:ext cx="2250" cy="1017"/>
            </a:xfrm>
            <a:custGeom>
              <a:avLst/>
              <a:gdLst/>
              <a:ahLst/>
              <a:cxnLst>
                <a:cxn ang="0">
                  <a:pos x="212895360" y="19069064"/>
                </a:cxn>
                <a:cxn ang="0">
                  <a:pos x="190391823" y="15356128"/>
                </a:cxn>
                <a:cxn ang="0">
                  <a:pos x="149126736" y="10146842"/>
                </a:cxn>
                <a:cxn ang="0">
                  <a:pos x="19031704" y="0"/>
                </a:cxn>
                <a:cxn ang="0">
                  <a:pos x="6138108" y="961355"/>
                </a:cxn>
                <a:cxn ang="0">
                  <a:pos x="0" y="4010436"/>
                </a:cxn>
                <a:cxn ang="0">
                  <a:pos x="7480275" y="7489392"/>
                </a:cxn>
                <a:cxn ang="0">
                  <a:pos x="152827569" y="19757234"/>
                </a:cxn>
                <a:cxn ang="0">
                  <a:pos x="184673414" y="18971656"/>
                </a:cxn>
                <a:cxn ang="0">
                  <a:pos x="210421196" y="19987745"/>
                </a:cxn>
                <a:cxn ang="0">
                  <a:pos x="212895360" y="19069064"/>
                </a:cxn>
                <a:cxn ang="0">
                  <a:pos x="212895360" y="19069064"/>
                </a:cxn>
              </a:cxnLst>
              <a:pathLst>
                <a:path w="794" h="414">
                  <a:moveTo>
                    <a:pt x="794" y="395"/>
                  </a:moveTo>
                  <a:lnTo>
                    <a:pt x="710" y="318"/>
                  </a:lnTo>
                  <a:lnTo>
                    <a:pt x="556" y="210"/>
                  </a:lnTo>
                  <a:lnTo>
                    <a:pt x="71" y="0"/>
                  </a:lnTo>
                  <a:lnTo>
                    <a:pt x="23" y="20"/>
                  </a:lnTo>
                  <a:lnTo>
                    <a:pt x="0" y="83"/>
                  </a:lnTo>
                  <a:lnTo>
                    <a:pt x="28" y="155"/>
                  </a:lnTo>
                  <a:lnTo>
                    <a:pt x="570" y="409"/>
                  </a:lnTo>
                  <a:lnTo>
                    <a:pt x="689" y="393"/>
                  </a:lnTo>
                  <a:lnTo>
                    <a:pt x="785" y="414"/>
                  </a:lnTo>
                  <a:lnTo>
                    <a:pt x="794" y="395"/>
                  </a:lnTo>
                  <a:close/>
                </a:path>
              </a:pathLst>
            </a:custGeom>
            <a:solidFill>
              <a:srgbClr val="F8F8F8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 sz="1800"/>
            </a:p>
          </p:txBody>
        </p:sp>
        <p:sp>
          <p:nvSpPr>
            <p:cNvPr id="2070" name="Freeform 10"/>
            <p:cNvSpPr/>
            <p:nvPr userDrawn="1"/>
          </p:nvSpPr>
          <p:spPr>
            <a:xfrm>
              <a:off x="166" y="261"/>
              <a:ext cx="2244" cy="1007"/>
            </a:xfrm>
            <a:custGeom>
              <a:avLst/>
              <a:gdLst/>
              <a:ahLst/>
              <a:cxnLst>
                <a:cxn ang="0">
                  <a:pos x="8819" y="0"/>
                </a:cxn>
                <a:cxn ang="0">
                  <a:pos x="85661" y="6016"/>
                </a:cxn>
                <a:cxn ang="0">
                  <a:pos x="91898" y="7396"/>
                </a:cxn>
                <a:cxn ang="0">
                  <a:pos x="102081" y="9180"/>
                </a:cxn>
                <a:cxn ang="0">
                  <a:pos x="100730" y="9518"/>
                </a:cxn>
                <a:cxn ang="0">
                  <a:pos x="86868" y="9122"/>
                </a:cxn>
                <a:cxn ang="0">
                  <a:pos x="73680" y="9402"/>
                </a:cxn>
                <a:cxn ang="0">
                  <a:pos x="2664" y="3464"/>
                </a:cxn>
                <a:cxn ang="0">
                  <a:pos x="0" y="1740"/>
                </a:cxn>
                <a:cxn ang="0">
                  <a:pos x="2954" y="367"/>
                </a:cxn>
                <a:cxn ang="0">
                  <a:pos x="8819" y="0"/>
                </a:cxn>
                <a:cxn ang="0">
                  <a:pos x="8819" y="0"/>
                </a:cxn>
              </a:cxnLst>
              <a:pathLst>
                <a:path w="1586" h="821">
                  <a:moveTo>
                    <a:pt x="137" y="0"/>
                  </a:moveTo>
                  <a:lnTo>
                    <a:pt x="1331" y="519"/>
                  </a:lnTo>
                  <a:lnTo>
                    <a:pt x="1428" y="638"/>
                  </a:lnTo>
                  <a:lnTo>
                    <a:pt x="1586" y="792"/>
                  </a:lnTo>
                  <a:lnTo>
                    <a:pt x="1565" y="821"/>
                  </a:lnTo>
                  <a:lnTo>
                    <a:pt x="1350" y="787"/>
                  </a:lnTo>
                  <a:lnTo>
                    <a:pt x="1145" y="811"/>
                  </a:lnTo>
                  <a:lnTo>
                    <a:pt x="42" y="298"/>
                  </a:lnTo>
                  <a:lnTo>
                    <a:pt x="0" y="150"/>
                  </a:lnTo>
                  <a:lnTo>
                    <a:pt x="46" y="32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tx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 sz="1800"/>
            </a:p>
          </p:txBody>
        </p:sp>
        <p:sp>
          <p:nvSpPr>
            <p:cNvPr id="2071" name="Freeform 11"/>
            <p:cNvSpPr/>
            <p:nvPr userDrawn="1"/>
          </p:nvSpPr>
          <p:spPr>
            <a:xfrm>
              <a:off x="474" y="344"/>
              <a:ext cx="1488" cy="919"/>
            </a:xfrm>
            <a:custGeom>
              <a:avLst/>
              <a:gdLst/>
              <a:ahLst/>
              <a:cxnLst>
                <a:cxn ang="0">
                  <a:pos x="0" y="3904"/>
                </a:cxn>
                <a:cxn ang="0">
                  <a:pos x="61178" y="8981"/>
                </a:cxn>
                <a:cxn ang="0">
                  <a:pos x="62316" y="6421"/>
                </a:cxn>
                <a:cxn ang="0">
                  <a:pos x="69614" y="5076"/>
                </a:cxn>
                <a:cxn ang="0">
                  <a:pos x="5175" y="0"/>
                </a:cxn>
                <a:cxn ang="0">
                  <a:pos x="0" y="1521"/>
                </a:cxn>
                <a:cxn ang="0">
                  <a:pos x="0" y="3904"/>
                </a:cxn>
                <a:cxn ang="0">
                  <a:pos x="0" y="3904"/>
                </a:cxn>
              </a:cxnLst>
              <a:pathLst>
                <a:path w="1049" h="747">
                  <a:moveTo>
                    <a:pt x="0" y="325"/>
                  </a:moveTo>
                  <a:lnTo>
                    <a:pt x="922" y="747"/>
                  </a:lnTo>
                  <a:lnTo>
                    <a:pt x="939" y="534"/>
                  </a:lnTo>
                  <a:lnTo>
                    <a:pt x="1049" y="422"/>
                  </a:lnTo>
                  <a:lnTo>
                    <a:pt x="78" y="0"/>
                  </a:lnTo>
                  <a:lnTo>
                    <a:pt x="0" y="127"/>
                  </a:lnTo>
                  <a:lnTo>
                    <a:pt x="0" y="325"/>
                  </a:lnTo>
                  <a:close/>
                </a:path>
              </a:pathLst>
            </a:custGeom>
            <a:solidFill>
              <a:schemeClr val="bg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 sz="1800"/>
            </a:p>
          </p:txBody>
        </p:sp>
        <p:grpSp>
          <p:nvGrpSpPr>
            <p:cNvPr id="2072" name="Group 12"/>
            <p:cNvGrpSpPr/>
            <p:nvPr userDrawn="1"/>
          </p:nvGrpSpPr>
          <p:grpSpPr>
            <a:xfrm>
              <a:off x="123" y="148"/>
              <a:ext cx="2386" cy="1081"/>
              <a:chOff x="123" y="148"/>
              <a:chExt cx="2386" cy="1081"/>
            </a:xfrm>
          </p:grpSpPr>
          <p:sp>
            <p:nvSpPr>
              <p:cNvPr id="2073" name="Freeform 13"/>
              <p:cNvSpPr/>
              <p:nvPr userDrawn="1"/>
            </p:nvSpPr>
            <p:spPr>
              <a:xfrm>
                <a:off x="2005" y="934"/>
                <a:ext cx="212" cy="214"/>
              </a:xfrm>
              <a:custGeom>
                <a:avLst/>
                <a:gdLst/>
                <a:ahLst/>
                <a:cxnLst>
                  <a:cxn ang="0">
                    <a:pos x="6975" y="0"/>
                  </a:cxn>
                  <a:cxn ang="0">
                    <a:pos x="2567" y="852"/>
                  </a:cxn>
                  <a:cxn ang="0">
                    <a:pos x="0" y="2223"/>
                  </a:cxn>
                  <a:cxn ang="0">
                    <a:pos x="5075" y="2055"/>
                  </a:cxn>
                  <a:cxn ang="0">
                    <a:pos x="6538" y="1086"/>
                  </a:cxn>
                  <a:cxn ang="0">
                    <a:pos x="9540" y="344"/>
                  </a:cxn>
                  <a:cxn ang="0">
                    <a:pos x="6975" y="0"/>
                  </a:cxn>
                  <a:cxn ang="0">
                    <a:pos x="6975" y="0"/>
                  </a:cxn>
                </a:cxnLst>
                <a:pathLst>
                  <a:path w="150" h="173">
                    <a:moveTo>
                      <a:pt x="110" y="0"/>
                    </a:moveTo>
                    <a:lnTo>
                      <a:pt x="40" y="66"/>
                    </a:lnTo>
                    <a:lnTo>
                      <a:pt x="0" y="173"/>
                    </a:lnTo>
                    <a:lnTo>
                      <a:pt x="80" y="160"/>
                    </a:lnTo>
                    <a:lnTo>
                      <a:pt x="103" y="84"/>
                    </a:lnTo>
                    <a:lnTo>
                      <a:pt x="150" y="27"/>
                    </a:lnTo>
                    <a:lnTo>
                      <a:pt x="110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 sz="1800"/>
              </a:p>
            </p:txBody>
          </p:sp>
          <p:sp>
            <p:nvSpPr>
              <p:cNvPr id="2074" name="Freeform 14"/>
              <p:cNvSpPr/>
              <p:nvPr userDrawn="1"/>
            </p:nvSpPr>
            <p:spPr>
              <a:xfrm>
                <a:off x="123" y="148"/>
                <a:ext cx="2386" cy="1081"/>
              </a:xfrm>
              <a:custGeom>
                <a:avLst/>
                <a:gdLst/>
                <a:ahLst/>
                <a:cxnLst>
                  <a:cxn ang="0">
                    <a:pos x="10206" y="0"/>
                  </a:cxn>
                  <a:cxn ang="0">
                    <a:pos x="4127" y="615"/>
                  </a:cxn>
                  <a:cxn ang="0">
                    <a:pos x="0" y="2457"/>
                  </a:cxn>
                  <a:cxn ang="0">
                    <a:pos x="4401" y="4237"/>
                  </a:cxn>
                  <a:cxn ang="0">
                    <a:pos x="77361" y="10235"/>
                  </a:cxn>
                  <a:cxn ang="0">
                    <a:pos x="93078" y="9862"/>
                  </a:cxn>
                  <a:cxn ang="0">
                    <a:pos x="105814" y="10391"/>
                  </a:cxn>
                  <a:cxn ang="0">
                    <a:pos x="110233" y="9551"/>
                  </a:cxn>
                  <a:cxn ang="0">
                    <a:pos x="98308" y="7837"/>
                  </a:cxn>
                  <a:cxn ang="0">
                    <a:pos x="93463" y="6052"/>
                  </a:cxn>
                  <a:cxn ang="0">
                    <a:pos x="89639" y="6223"/>
                  </a:cxn>
                  <a:cxn ang="0">
                    <a:pos x="94182" y="7837"/>
                  </a:cxn>
                  <a:cxn ang="0">
                    <a:pos x="103291" y="9558"/>
                  </a:cxn>
                  <a:cxn ang="0">
                    <a:pos x="92501" y="9293"/>
                  </a:cxn>
                  <a:cxn ang="0">
                    <a:pos x="79778" y="9601"/>
                  </a:cxn>
                  <a:cxn ang="0">
                    <a:pos x="82133" y="7669"/>
                  </a:cxn>
                  <a:cxn ang="0">
                    <a:pos x="87588" y="6353"/>
                  </a:cxn>
                  <a:cxn ang="0">
                    <a:pos x="81202" y="6517"/>
                  </a:cxn>
                  <a:cxn ang="0">
                    <a:pos x="76251" y="7775"/>
                  </a:cxn>
                  <a:cxn ang="0">
                    <a:pos x="74568" y="9343"/>
                  </a:cxn>
                  <a:cxn ang="0">
                    <a:pos x="7012" y="3659"/>
                  </a:cxn>
                  <a:cxn ang="0">
                    <a:pos x="5221" y="2535"/>
                  </a:cxn>
                  <a:cxn ang="0">
                    <a:pos x="6739" y="1128"/>
                  </a:cxn>
                  <a:cxn ang="0">
                    <a:pos x="14181" y="0"/>
                  </a:cxn>
                  <a:cxn ang="0">
                    <a:pos x="10206" y="0"/>
                  </a:cxn>
                  <a:cxn ang="0">
                    <a:pos x="10206" y="0"/>
                  </a:cxn>
                </a:cxnLst>
                <a:pathLst>
                  <a:path w="1684" h="880">
                    <a:moveTo>
                      <a:pt x="156" y="0"/>
                    </a:moveTo>
                    <a:lnTo>
                      <a:pt x="63" y="52"/>
                    </a:lnTo>
                    <a:lnTo>
                      <a:pt x="0" y="208"/>
                    </a:lnTo>
                    <a:lnTo>
                      <a:pt x="67" y="358"/>
                    </a:lnTo>
                    <a:lnTo>
                      <a:pt x="1182" y="867"/>
                    </a:lnTo>
                    <a:lnTo>
                      <a:pt x="1422" y="835"/>
                    </a:lnTo>
                    <a:lnTo>
                      <a:pt x="1616" y="880"/>
                    </a:lnTo>
                    <a:lnTo>
                      <a:pt x="1684" y="808"/>
                    </a:lnTo>
                    <a:lnTo>
                      <a:pt x="1502" y="664"/>
                    </a:lnTo>
                    <a:lnTo>
                      <a:pt x="1428" y="512"/>
                    </a:lnTo>
                    <a:lnTo>
                      <a:pt x="1369" y="527"/>
                    </a:lnTo>
                    <a:lnTo>
                      <a:pt x="1439" y="664"/>
                    </a:lnTo>
                    <a:lnTo>
                      <a:pt x="1578" y="810"/>
                    </a:lnTo>
                    <a:lnTo>
                      <a:pt x="1413" y="787"/>
                    </a:lnTo>
                    <a:lnTo>
                      <a:pt x="1219" y="814"/>
                    </a:lnTo>
                    <a:lnTo>
                      <a:pt x="1255" y="650"/>
                    </a:lnTo>
                    <a:lnTo>
                      <a:pt x="1338" y="538"/>
                    </a:lnTo>
                    <a:lnTo>
                      <a:pt x="1241" y="552"/>
                    </a:lnTo>
                    <a:lnTo>
                      <a:pt x="1165" y="658"/>
                    </a:lnTo>
                    <a:lnTo>
                      <a:pt x="1139" y="791"/>
                    </a:lnTo>
                    <a:lnTo>
                      <a:pt x="107" y="310"/>
                    </a:lnTo>
                    <a:lnTo>
                      <a:pt x="80" y="215"/>
                    </a:lnTo>
                    <a:lnTo>
                      <a:pt x="103" y="95"/>
                    </a:lnTo>
                    <a:lnTo>
                      <a:pt x="217" y="0"/>
                    </a:lnTo>
                    <a:lnTo>
                      <a:pt x="156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 sz="1800"/>
              </a:p>
            </p:txBody>
          </p:sp>
          <p:sp>
            <p:nvSpPr>
              <p:cNvPr id="2075" name="Freeform 15"/>
              <p:cNvSpPr/>
              <p:nvPr userDrawn="1"/>
            </p:nvSpPr>
            <p:spPr>
              <a:xfrm>
                <a:off x="324" y="158"/>
                <a:ext cx="1686" cy="614"/>
              </a:xfrm>
              <a:custGeom>
                <a:avLst/>
                <a:gdLst/>
                <a:ahLst/>
                <a:cxnLst>
                  <a:cxn ang="0">
                    <a:pos x="6551" y="0"/>
                  </a:cxn>
                  <a:cxn ang="0">
                    <a:pos x="77869" y="5761"/>
                  </a:cxn>
                  <a:cxn ang="0">
                    <a:pos x="70361" y="5878"/>
                  </a:cxn>
                  <a:cxn ang="0">
                    <a:pos x="0" y="317"/>
                  </a:cxn>
                  <a:cxn ang="0">
                    <a:pos x="6551" y="0"/>
                  </a:cxn>
                  <a:cxn ang="0">
                    <a:pos x="6551" y="0"/>
                  </a:cxn>
                </a:cxnLst>
                <a:pathLst>
                  <a:path w="1190" h="500">
                    <a:moveTo>
                      <a:pt x="100" y="0"/>
                    </a:moveTo>
                    <a:lnTo>
                      <a:pt x="1190" y="490"/>
                    </a:lnTo>
                    <a:lnTo>
                      <a:pt x="1076" y="500"/>
                    </a:lnTo>
                    <a:lnTo>
                      <a:pt x="0" y="27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 sz="1800"/>
              </a:p>
            </p:txBody>
          </p:sp>
          <p:sp>
            <p:nvSpPr>
              <p:cNvPr id="2076" name="Freeform 16"/>
              <p:cNvSpPr/>
              <p:nvPr userDrawn="1"/>
            </p:nvSpPr>
            <p:spPr>
              <a:xfrm>
                <a:off x="409" y="251"/>
                <a:ext cx="227" cy="410"/>
              </a:xfrm>
              <a:custGeom>
                <a:avLst/>
                <a:gdLst/>
                <a:ahLst/>
                <a:cxnLst>
                  <a:cxn ang="0">
                    <a:pos x="7731" y="0"/>
                  </a:cxn>
                  <a:cxn ang="0">
                    <a:pos x="1266" y="1204"/>
                  </a:cxn>
                  <a:cxn ang="0">
                    <a:pos x="0" y="2593"/>
                  </a:cxn>
                  <a:cxn ang="0">
                    <a:pos x="2218" y="3546"/>
                  </a:cxn>
                  <a:cxn ang="0">
                    <a:pos x="6234" y="3781"/>
                  </a:cxn>
                  <a:cxn ang="0">
                    <a:pos x="5061" y="1731"/>
                  </a:cxn>
                  <a:cxn ang="0">
                    <a:pos x="10634" y="198"/>
                  </a:cxn>
                  <a:cxn ang="0">
                    <a:pos x="7731" y="0"/>
                  </a:cxn>
                  <a:cxn ang="0">
                    <a:pos x="7731" y="0"/>
                  </a:cxn>
                </a:cxnLst>
                <a:pathLst>
                  <a:path w="160" h="335">
                    <a:moveTo>
                      <a:pt x="116" y="0"/>
                    </a:moveTo>
                    <a:lnTo>
                      <a:pt x="19" y="106"/>
                    </a:lnTo>
                    <a:lnTo>
                      <a:pt x="0" y="230"/>
                    </a:lnTo>
                    <a:lnTo>
                      <a:pt x="33" y="314"/>
                    </a:lnTo>
                    <a:lnTo>
                      <a:pt x="94" y="335"/>
                    </a:lnTo>
                    <a:lnTo>
                      <a:pt x="76" y="154"/>
                    </a:lnTo>
                    <a:lnTo>
                      <a:pt x="160" y="17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 sz="1800"/>
              </a:p>
            </p:txBody>
          </p:sp>
          <p:sp>
            <p:nvSpPr>
              <p:cNvPr id="2077" name="Freeform 17"/>
              <p:cNvSpPr/>
              <p:nvPr userDrawn="1"/>
            </p:nvSpPr>
            <p:spPr>
              <a:xfrm>
                <a:off x="846" y="536"/>
                <a:ext cx="691" cy="364"/>
              </a:xfrm>
              <a:custGeom>
                <a:avLst/>
                <a:gdLst/>
                <a:ahLst/>
                <a:cxnLst>
                  <a:cxn ang="0">
                    <a:pos x="909" y="411"/>
                  </a:cxn>
                  <a:cxn ang="0">
                    <a:pos x="10123" y="794"/>
                  </a:cxn>
                  <a:cxn ang="0">
                    <a:pos x="20541" y="1642"/>
                  </a:cxn>
                  <a:cxn ang="0">
                    <a:pos x="27896" y="2911"/>
                  </a:cxn>
                  <a:cxn ang="0">
                    <a:pos x="20665" y="2753"/>
                  </a:cxn>
                  <a:cxn ang="0">
                    <a:pos x="8787" y="1749"/>
                  </a:cxn>
                  <a:cxn ang="0">
                    <a:pos x="3162" y="957"/>
                  </a:cxn>
                  <a:cxn ang="0">
                    <a:pos x="6763" y="1950"/>
                  </a:cxn>
                  <a:cxn ang="0">
                    <a:pos x="17238" y="3227"/>
                  </a:cxn>
                  <a:cxn ang="0">
                    <a:pos x="29526" y="3550"/>
                  </a:cxn>
                  <a:cxn ang="0">
                    <a:pos x="30990" y="2680"/>
                  </a:cxn>
                  <a:cxn ang="0">
                    <a:pos x="24978" y="1441"/>
                  </a:cxn>
                  <a:cxn ang="0">
                    <a:pos x="10763" y="207"/>
                  </a:cxn>
                  <a:cxn ang="0">
                    <a:pos x="0" y="0"/>
                  </a:cxn>
                  <a:cxn ang="0">
                    <a:pos x="909" y="411"/>
                  </a:cxn>
                  <a:cxn ang="0">
                    <a:pos x="909" y="411"/>
                  </a:cxn>
                </a:cxnLst>
                <a:pathLst>
                  <a:path w="489" h="296">
                    <a:moveTo>
                      <a:pt x="14" y="34"/>
                    </a:moveTo>
                    <a:lnTo>
                      <a:pt x="160" y="66"/>
                    </a:lnTo>
                    <a:lnTo>
                      <a:pt x="324" y="137"/>
                    </a:lnTo>
                    <a:lnTo>
                      <a:pt x="440" y="243"/>
                    </a:lnTo>
                    <a:lnTo>
                      <a:pt x="326" y="230"/>
                    </a:lnTo>
                    <a:lnTo>
                      <a:pt x="139" y="146"/>
                    </a:lnTo>
                    <a:lnTo>
                      <a:pt x="50" y="80"/>
                    </a:lnTo>
                    <a:lnTo>
                      <a:pt x="107" y="163"/>
                    </a:lnTo>
                    <a:lnTo>
                      <a:pt x="272" y="270"/>
                    </a:lnTo>
                    <a:lnTo>
                      <a:pt x="466" y="296"/>
                    </a:lnTo>
                    <a:lnTo>
                      <a:pt x="489" y="224"/>
                    </a:lnTo>
                    <a:lnTo>
                      <a:pt x="394" y="120"/>
                    </a:lnTo>
                    <a:lnTo>
                      <a:pt x="170" y="17"/>
                    </a:lnTo>
                    <a:lnTo>
                      <a:pt x="0" y="0"/>
                    </a:ln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 sz="1800"/>
              </a:p>
            </p:txBody>
          </p:sp>
        </p:grpSp>
      </p:grpSp>
      <p:grpSp>
        <p:nvGrpSpPr>
          <p:cNvPr id="2052" name="Group 18"/>
          <p:cNvGrpSpPr/>
          <p:nvPr/>
        </p:nvGrpSpPr>
        <p:grpSpPr>
          <a:xfrm>
            <a:off x="7915275" y="4368800"/>
            <a:ext cx="742950" cy="1058863"/>
            <a:chOff x="4986" y="2752"/>
            <a:chExt cx="468" cy="667"/>
          </a:xfrm>
        </p:grpSpPr>
        <p:sp>
          <p:nvSpPr>
            <p:cNvPr id="2060" name="Freeform 19"/>
            <p:cNvSpPr/>
            <p:nvPr userDrawn="1"/>
          </p:nvSpPr>
          <p:spPr>
            <a:xfrm rot="7320404">
              <a:off x="4909" y="2936"/>
              <a:ext cx="629" cy="293"/>
            </a:xfrm>
            <a:custGeom>
              <a:avLst/>
              <a:gdLst/>
              <a:ahLst/>
              <a:cxnLst>
                <a:cxn ang="0">
                  <a:pos x="48" y="6"/>
                </a:cxn>
                <a:cxn ang="0">
                  <a:pos x="44" y="5"/>
                </a:cxn>
                <a:cxn ang="0">
                  <a:pos x="34" y="3"/>
                </a:cxn>
                <a:cxn ang="0">
                  <a:pos x="4" y="0"/>
                </a:cxn>
                <a:cxn ang="0">
                  <a:pos x="2" y="1"/>
                </a:cxn>
                <a:cxn ang="0">
                  <a:pos x="0" y="1"/>
                </a:cxn>
                <a:cxn ang="0">
                  <a:pos x="2" y="3"/>
                </a:cxn>
                <a:cxn ang="0">
                  <a:pos x="35" y="6"/>
                </a:cxn>
                <a:cxn ang="0">
                  <a:pos x="42" y="6"/>
                </a:cxn>
                <a:cxn ang="0">
                  <a:pos x="48" y="6"/>
                </a:cxn>
                <a:cxn ang="0">
                  <a:pos x="48" y="6"/>
                </a:cxn>
                <a:cxn ang="0">
                  <a:pos x="48" y="6"/>
                </a:cxn>
              </a:cxnLst>
              <a:pathLst>
                <a:path w="794" h="414">
                  <a:moveTo>
                    <a:pt x="794" y="395"/>
                  </a:moveTo>
                  <a:lnTo>
                    <a:pt x="710" y="318"/>
                  </a:lnTo>
                  <a:lnTo>
                    <a:pt x="556" y="210"/>
                  </a:lnTo>
                  <a:lnTo>
                    <a:pt x="71" y="0"/>
                  </a:lnTo>
                  <a:lnTo>
                    <a:pt x="23" y="20"/>
                  </a:lnTo>
                  <a:lnTo>
                    <a:pt x="0" y="83"/>
                  </a:lnTo>
                  <a:lnTo>
                    <a:pt x="28" y="155"/>
                  </a:lnTo>
                  <a:lnTo>
                    <a:pt x="570" y="409"/>
                  </a:lnTo>
                  <a:lnTo>
                    <a:pt x="689" y="393"/>
                  </a:lnTo>
                  <a:lnTo>
                    <a:pt x="785" y="414"/>
                  </a:lnTo>
                  <a:lnTo>
                    <a:pt x="794" y="395"/>
                  </a:lnTo>
                  <a:close/>
                </a:path>
              </a:pathLst>
            </a:custGeom>
            <a:solidFill>
              <a:srgbClr val="F8F8F8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 sz="1800"/>
            </a:p>
          </p:txBody>
        </p:sp>
        <p:sp>
          <p:nvSpPr>
            <p:cNvPr id="2061" name="Freeform 20"/>
            <p:cNvSpPr/>
            <p:nvPr userDrawn="1"/>
          </p:nvSpPr>
          <p:spPr>
            <a:xfrm rot="7320404">
              <a:off x="4893" y="2922"/>
              <a:ext cx="627" cy="29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1586" h="821">
                  <a:moveTo>
                    <a:pt x="137" y="0"/>
                  </a:moveTo>
                  <a:lnTo>
                    <a:pt x="1331" y="519"/>
                  </a:lnTo>
                  <a:lnTo>
                    <a:pt x="1428" y="638"/>
                  </a:lnTo>
                  <a:lnTo>
                    <a:pt x="1586" y="792"/>
                  </a:lnTo>
                  <a:lnTo>
                    <a:pt x="1565" y="821"/>
                  </a:lnTo>
                  <a:lnTo>
                    <a:pt x="1350" y="787"/>
                  </a:lnTo>
                  <a:lnTo>
                    <a:pt x="1145" y="811"/>
                  </a:lnTo>
                  <a:lnTo>
                    <a:pt x="42" y="298"/>
                  </a:lnTo>
                  <a:lnTo>
                    <a:pt x="0" y="150"/>
                  </a:lnTo>
                  <a:lnTo>
                    <a:pt x="46" y="32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 sz="1800"/>
            </a:p>
          </p:txBody>
        </p:sp>
        <p:sp>
          <p:nvSpPr>
            <p:cNvPr id="2062" name="Freeform 21"/>
            <p:cNvSpPr/>
            <p:nvPr userDrawn="1"/>
          </p:nvSpPr>
          <p:spPr>
            <a:xfrm rot="7320404">
              <a:off x="4999" y="2913"/>
              <a:ext cx="416" cy="26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1049" h="747">
                  <a:moveTo>
                    <a:pt x="0" y="325"/>
                  </a:moveTo>
                  <a:lnTo>
                    <a:pt x="922" y="747"/>
                  </a:lnTo>
                  <a:lnTo>
                    <a:pt x="939" y="534"/>
                  </a:lnTo>
                  <a:lnTo>
                    <a:pt x="1049" y="422"/>
                  </a:lnTo>
                  <a:lnTo>
                    <a:pt x="78" y="0"/>
                  </a:lnTo>
                  <a:lnTo>
                    <a:pt x="0" y="127"/>
                  </a:lnTo>
                  <a:lnTo>
                    <a:pt x="0" y="325"/>
                  </a:lnTo>
                  <a:close/>
                </a:path>
              </a:pathLst>
            </a:custGeom>
            <a:solidFill>
              <a:schemeClr val="bg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 sz="1800"/>
            </a:p>
          </p:txBody>
        </p:sp>
        <p:grpSp>
          <p:nvGrpSpPr>
            <p:cNvPr id="2063" name="Group 22"/>
            <p:cNvGrpSpPr/>
            <p:nvPr userDrawn="1"/>
          </p:nvGrpSpPr>
          <p:grpSpPr>
            <a:xfrm>
              <a:off x="4986" y="2752"/>
              <a:ext cx="469" cy="667"/>
              <a:chOff x="4986" y="2752"/>
              <a:chExt cx="469" cy="667"/>
            </a:xfrm>
          </p:grpSpPr>
          <p:sp>
            <p:nvSpPr>
              <p:cNvPr id="2064" name="Freeform 23"/>
              <p:cNvSpPr/>
              <p:nvPr userDrawn="1"/>
            </p:nvSpPr>
            <p:spPr>
              <a:xfrm rot="7320404">
                <a:off x="4987" y="3190"/>
                <a:ext cx="59" cy="6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150" h="173">
                    <a:moveTo>
                      <a:pt x="110" y="0"/>
                    </a:moveTo>
                    <a:lnTo>
                      <a:pt x="40" y="66"/>
                    </a:lnTo>
                    <a:lnTo>
                      <a:pt x="0" y="173"/>
                    </a:lnTo>
                    <a:lnTo>
                      <a:pt x="80" y="160"/>
                    </a:lnTo>
                    <a:lnTo>
                      <a:pt x="103" y="84"/>
                    </a:lnTo>
                    <a:lnTo>
                      <a:pt x="150" y="27"/>
                    </a:lnTo>
                    <a:lnTo>
                      <a:pt x="110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 sz="1800"/>
              </a:p>
            </p:txBody>
          </p:sp>
          <p:sp>
            <p:nvSpPr>
              <p:cNvPr id="2065" name="Freeform 24"/>
              <p:cNvSpPr/>
              <p:nvPr userDrawn="1"/>
            </p:nvSpPr>
            <p:spPr>
              <a:xfrm rot="7320404">
                <a:off x="4887" y="2930"/>
                <a:ext cx="667" cy="31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1684" h="880">
                    <a:moveTo>
                      <a:pt x="156" y="0"/>
                    </a:moveTo>
                    <a:lnTo>
                      <a:pt x="63" y="52"/>
                    </a:lnTo>
                    <a:lnTo>
                      <a:pt x="0" y="208"/>
                    </a:lnTo>
                    <a:lnTo>
                      <a:pt x="67" y="358"/>
                    </a:lnTo>
                    <a:lnTo>
                      <a:pt x="1182" y="867"/>
                    </a:lnTo>
                    <a:lnTo>
                      <a:pt x="1422" y="835"/>
                    </a:lnTo>
                    <a:lnTo>
                      <a:pt x="1616" y="880"/>
                    </a:lnTo>
                    <a:lnTo>
                      <a:pt x="1684" y="808"/>
                    </a:lnTo>
                    <a:lnTo>
                      <a:pt x="1502" y="664"/>
                    </a:lnTo>
                    <a:lnTo>
                      <a:pt x="1428" y="512"/>
                    </a:lnTo>
                    <a:lnTo>
                      <a:pt x="1369" y="527"/>
                    </a:lnTo>
                    <a:lnTo>
                      <a:pt x="1439" y="664"/>
                    </a:lnTo>
                    <a:lnTo>
                      <a:pt x="1578" y="810"/>
                    </a:lnTo>
                    <a:lnTo>
                      <a:pt x="1413" y="787"/>
                    </a:lnTo>
                    <a:lnTo>
                      <a:pt x="1219" y="814"/>
                    </a:lnTo>
                    <a:lnTo>
                      <a:pt x="1255" y="650"/>
                    </a:lnTo>
                    <a:lnTo>
                      <a:pt x="1338" y="538"/>
                    </a:lnTo>
                    <a:lnTo>
                      <a:pt x="1241" y="552"/>
                    </a:lnTo>
                    <a:lnTo>
                      <a:pt x="1165" y="658"/>
                    </a:lnTo>
                    <a:lnTo>
                      <a:pt x="1139" y="791"/>
                    </a:lnTo>
                    <a:lnTo>
                      <a:pt x="107" y="310"/>
                    </a:lnTo>
                    <a:lnTo>
                      <a:pt x="80" y="215"/>
                    </a:lnTo>
                    <a:lnTo>
                      <a:pt x="103" y="95"/>
                    </a:lnTo>
                    <a:lnTo>
                      <a:pt x="217" y="0"/>
                    </a:lnTo>
                    <a:lnTo>
                      <a:pt x="156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 sz="1800"/>
              </a:p>
            </p:txBody>
          </p:sp>
          <p:sp>
            <p:nvSpPr>
              <p:cNvPr id="2066" name="Freeform 25"/>
              <p:cNvSpPr/>
              <p:nvPr userDrawn="1"/>
            </p:nvSpPr>
            <p:spPr>
              <a:xfrm rot="7320404">
                <a:off x="5062" y="2997"/>
                <a:ext cx="472" cy="17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1190" h="500">
                    <a:moveTo>
                      <a:pt x="100" y="0"/>
                    </a:moveTo>
                    <a:lnTo>
                      <a:pt x="1190" y="490"/>
                    </a:lnTo>
                    <a:lnTo>
                      <a:pt x="1076" y="500"/>
                    </a:lnTo>
                    <a:lnTo>
                      <a:pt x="0" y="27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 sz="1800"/>
              </a:p>
            </p:txBody>
          </p:sp>
          <p:sp>
            <p:nvSpPr>
              <p:cNvPr id="2067" name="Freeform 26"/>
              <p:cNvSpPr/>
              <p:nvPr userDrawn="1"/>
            </p:nvSpPr>
            <p:spPr>
              <a:xfrm rot="7320404">
                <a:off x="5364" y="2872"/>
                <a:ext cx="63" cy="11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160" h="335">
                    <a:moveTo>
                      <a:pt x="116" y="0"/>
                    </a:moveTo>
                    <a:lnTo>
                      <a:pt x="19" y="106"/>
                    </a:lnTo>
                    <a:lnTo>
                      <a:pt x="0" y="230"/>
                    </a:lnTo>
                    <a:lnTo>
                      <a:pt x="33" y="314"/>
                    </a:lnTo>
                    <a:lnTo>
                      <a:pt x="94" y="335"/>
                    </a:lnTo>
                    <a:lnTo>
                      <a:pt x="76" y="154"/>
                    </a:lnTo>
                    <a:lnTo>
                      <a:pt x="160" y="17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 sz="1800"/>
              </a:p>
            </p:txBody>
          </p:sp>
          <p:sp>
            <p:nvSpPr>
              <p:cNvPr id="2068" name="Freeform 27"/>
              <p:cNvSpPr/>
              <p:nvPr userDrawn="1"/>
            </p:nvSpPr>
            <p:spPr>
              <a:xfrm rot="7320404">
                <a:off x="5137" y="2999"/>
                <a:ext cx="193" cy="10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489" h="296">
                    <a:moveTo>
                      <a:pt x="14" y="34"/>
                    </a:moveTo>
                    <a:lnTo>
                      <a:pt x="160" y="66"/>
                    </a:lnTo>
                    <a:lnTo>
                      <a:pt x="324" y="137"/>
                    </a:lnTo>
                    <a:lnTo>
                      <a:pt x="440" y="243"/>
                    </a:lnTo>
                    <a:lnTo>
                      <a:pt x="326" y="230"/>
                    </a:lnTo>
                    <a:lnTo>
                      <a:pt x="139" y="146"/>
                    </a:lnTo>
                    <a:lnTo>
                      <a:pt x="50" y="80"/>
                    </a:lnTo>
                    <a:lnTo>
                      <a:pt x="107" y="163"/>
                    </a:lnTo>
                    <a:lnTo>
                      <a:pt x="272" y="270"/>
                    </a:lnTo>
                    <a:lnTo>
                      <a:pt x="466" y="296"/>
                    </a:lnTo>
                    <a:lnTo>
                      <a:pt x="489" y="224"/>
                    </a:lnTo>
                    <a:lnTo>
                      <a:pt x="394" y="120"/>
                    </a:lnTo>
                    <a:lnTo>
                      <a:pt x="170" y="17"/>
                    </a:lnTo>
                    <a:lnTo>
                      <a:pt x="0" y="0"/>
                    </a:ln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 sz="1800"/>
              </a:p>
            </p:txBody>
          </p:sp>
        </p:grpSp>
      </p:grpSp>
      <p:sp>
        <p:nvSpPr>
          <p:cNvPr id="2053" name="Freeform 28"/>
          <p:cNvSpPr/>
          <p:nvPr/>
        </p:nvSpPr>
        <p:spPr>
          <a:xfrm>
            <a:off x="901700" y="5054600"/>
            <a:ext cx="6807200" cy="728663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4288" h="459">
                <a:moveTo>
                  <a:pt x="0" y="0"/>
                </a:moveTo>
                <a:cubicBezTo>
                  <a:pt x="136" y="43"/>
                  <a:pt x="556" y="232"/>
                  <a:pt x="816" y="256"/>
                </a:cubicBezTo>
                <a:cubicBezTo>
                  <a:pt x="1076" y="280"/>
                  <a:pt x="1387" y="124"/>
                  <a:pt x="1560" y="144"/>
                </a:cubicBezTo>
                <a:cubicBezTo>
                  <a:pt x="1733" y="164"/>
                  <a:pt x="1725" y="375"/>
                  <a:pt x="1856" y="376"/>
                </a:cubicBezTo>
                <a:cubicBezTo>
                  <a:pt x="1987" y="377"/>
                  <a:pt x="2064" y="139"/>
                  <a:pt x="2344" y="152"/>
                </a:cubicBezTo>
                <a:cubicBezTo>
                  <a:pt x="2624" y="165"/>
                  <a:pt x="3212" y="459"/>
                  <a:pt x="3536" y="456"/>
                </a:cubicBezTo>
                <a:cubicBezTo>
                  <a:pt x="3860" y="453"/>
                  <a:pt x="4165" y="188"/>
                  <a:pt x="4288" y="136"/>
                </a:cubicBezTo>
              </a:path>
            </a:pathLst>
          </a:custGeom>
          <a:noFill/>
          <a:ln w="76200" cap="flat" cmpd="sng">
            <a:solidFill>
              <a:schemeClr val="folHlink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sz="1800"/>
          </a:p>
        </p:txBody>
      </p:sp>
      <p:sp>
        <p:nvSpPr>
          <p:cNvPr id="2054" name="Freeform 29"/>
          <p:cNvSpPr/>
          <p:nvPr/>
        </p:nvSpPr>
        <p:spPr>
          <a:xfrm>
            <a:off x="4076700" y="1930400"/>
            <a:ext cx="889000" cy="381000"/>
          </a:xfrm>
          <a:custGeom>
            <a:avLst/>
            <a:gdLst/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560" h="240">
                <a:moveTo>
                  <a:pt x="0" y="32"/>
                </a:moveTo>
                <a:cubicBezTo>
                  <a:pt x="102" y="89"/>
                  <a:pt x="205" y="147"/>
                  <a:pt x="280" y="144"/>
                </a:cubicBezTo>
                <a:cubicBezTo>
                  <a:pt x="355" y="141"/>
                  <a:pt x="401" y="0"/>
                  <a:pt x="448" y="16"/>
                </a:cubicBezTo>
                <a:cubicBezTo>
                  <a:pt x="495" y="32"/>
                  <a:pt x="541" y="201"/>
                  <a:pt x="560" y="240"/>
                </a:cubicBezTo>
              </a:path>
            </a:pathLst>
          </a:custGeom>
          <a:noFill/>
          <a:ln w="114300" cap="flat" cmpd="sng">
            <a:solidFill>
              <a:schemeClr val="tx2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sz="1800"/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371600" y="1511300"/>
            <a:ext cx="6400800" cy="2273300"/>
          </a:xfrm>
          <a:effectLst>
            <a:outerShdw dist="45791" dir="2021404" algn="ctr" rotWithShape="0">
              <a:schemeClr val="bg2"/>
            </a:outerShdw>
          </a:effectLst>
        </p:spPr>
        <p:txBody>
          <a:bodyPr/>
          <a:lstStyle>
            <a:lvl1pPr>
              <a:defRPr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  <p:sp>
        <p:nvSpPr>
          <p:cNvPr id="6451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549400" y="4051300"/>
            <a:ext cx="6032500" cy="1003300"/>
          </a:xfrm>
        </p:spPr>
        <p:txBody>
          <a:bodyPr/>
          <a:lstStyle>
            <a:lvl1pPr marL="0" indent="0" algn="ctr">
              <a:buFontTx/>
              <a:buNone/>
              <a:defRPr sz="2800"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/>
          </a:p>
        </p:txBody>
      </p:sp>
      <p:sp>
        <p:nvSpPr>
          <p:cNvPr id="76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7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8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1EC4895-162B-46CE-9BD0-3BC8A8974769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3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43A51D1-BDF6-49E1-88B4-443BD09E09FE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3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AA30F21-A0DB-4A3B-AA83-CADFCFE4087E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828800"/>
            <a:ext cx="3771900" cy="3657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0100" y="1828800"/>
            <a:ext cx="3771900" cy="3657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3" name="Rectangle 5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33A3824-CF97-4C09-8D32-5BE43523A591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3" name="Rectangle 5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" name="Rectangle 6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" name="Rectangle 7"/>
          <p:cNvSpPr>
            <a:spLocks noGrp="1" noChangeArrowheads="1"/>
          </p:cNvSpPr>
          <p:nvPr>
            <p:ph type="sldNum" sz="quarter" idx="1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0B54908-AC3A-4A85-8670-6AB86C4CD287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53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298E812-3155-4AB3-A3CF-2087331DEEF6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A0EF1BB-F689-451E-9B24-4F06E5757B71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3" name="Rectangle 5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D49D490-931B-4636-BF2E-527362F3F9D6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3" name="Rectangle 5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A5AE1E6-27C3-47E1-8F24-4BEF3BB0F915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Sp="0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3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57E3001-842E-4D4A-A007-583CCB9E25E5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57950" y="152400"/>
            <a:ext cx="1924050" cy="5334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152400"/>
            <a:ext cx="5619750" cy="5334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3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0D870AF-D1ED-499E-AA07-A23D70E70F19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 showMasterSp="0">
  <p:cSld name="标题，文本与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6870700" cy="16002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828800"/>
            <a:ext cx="3771900" cy="3657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0100" y="1828800"/>
            <a:ext cx="3771900" cy="3657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3" name="Rectangle 5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7441609-C32C-4BD6-9EC0-6E474CBAF9DE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Freeform 2"/>
          <p:cNvSpPr/>
          <p:nvPr/>
        </p:nvSpPr>
        <p:spPr>
          <a:xfrm rot="-3172564">
            <a:off x="7777163" y="-14287"/>
            <a:ext cx="1162050" cy="2084387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2903" h="3686">
                <a:moveTo>
                  <a:pt x="2903" y="433"/>
                </a:moveTo>
                <a:lnTo>
                  <a:pt x="2565" y="80"/>
                </a:lnTo>
                <a:lnTo>
                  <a:pt x="2241" y="0"/>
                </a:lnTo>
                <a:lnTo>
                  <a:pt x="110" y="2811"/>
                </a:lnTo>
                <a:lnTo>
                  <a:pt x="110" y="3228"/>
                </a:lnTo>
                <a:lnTo>
                  <a:pt x="0" y="3631"/>
                </a:lnTo>
                <a:lnTo>
                  <a:pt x="72" y="3686"/>
                </a:lnTo>
                <a:lnTo>
                  <a:pt x="441" y="3355"/>
                </a:lnTo>
                <a:lnTo>
                  <a:pt x="740" y="3228"/>
                </a:lnTo>
                <a:lnTo>
                  <a:pt x="2903" y="43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85800" y="152400"/>
            <a:ext cx="6870700" cy="1600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85800" y="1828800"/>
            <a:ext cx="7696200" cy="36576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3493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49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49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209FD15-7203-42AB-B6E8-71254F103DC7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2" name="Freeform 8"/>
          <p:cNvSpPr/>
          <p:nvPr/>
        </p:nvSpPr>
        <p:spPr>
          <a:xfrm rot="-3172564">
            <a:off x="7864475" y="23813"/>
            <a:ext cx="1165225" cy="2097087"/>
          </a:xfrm>
          <a:custGeom>
            <a:avLst/>
            <a:gdLst/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0"/>
              </a:cxn>
            </a:cxnLst>
            <a:pathLst>
              <a:path w="2911" h="3703">
                <a:moveTo>
                  <a:pt x="2293" y="0"/>
                </a:moveTo>
                <a:lnTo>
                  <a:pt x="130" y="2835"/>
                </a:lnTo>
                <a:lnTo>
                  <a:pt x="131" y="3201"/>
                </a:lnTo>
                <a:lnTo>
                  <a:pt x="0" y="3633"/>
                </a:lnTo>
                <a:lnTo>
                  <a:pt x="50" y="3703"/>
                </a:lnTo>
                <a:lnTo>
                  <a:pt x="422" y="3352"/>
                </a:lnTo>
                <a:lnTo>
                  <a:pt x="763" y="3220"/>
                </a:lnTo>
                <a:lnTo>
                  <a:pt x="2911" y="428"/>
                </a:lnTo>
                <a:lnTo>
                  <a:pt x="2589" y="96"/>
                </a:lnTo>
                <a:lnTo>
                  <a:pt x="2293" y="0"/>
                </a:lnTo>
                <a:close/>
              </a:path>
            </a:pathLst>
          </a:custGeom>
          <a:solidFill>
            <a:schemeClr val="folHlink">
              <a:alpha val="100000"/>
            </a:scheme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033" name="Freeform 9"/>
          <p:cNvSpPr/>
          <p:nvPr/>
        </p:nvSpPr>
        <p:spPr>
          <a:xfrm rot="-3172564">
            <a:off x="7831138" y="192088"/>
            <a:ext cx="1025525" cy="1571625"/>
          </a:xfrm>
          <a:custGeom>
            <a:avLst/>
            <a:gdLst/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0" y="2147483646"/>
              </a:cxn>
              <a:cxn ang="0">
                <a:pos x="0" y="2147483646"/>
              </a:cxn>
            </a:cxnLst>
            <a:pathLst>
              <a:path w="2561" h="2777">
                <a:moveTo>
                  <a:pt x="0" y="2485"/>
                </a:moveTo>
                <a:lnTo>
                  <a:pt x="432" y="2553"/>
                </a:lnTo>
                <a:lnTo>
                  <a:pt x="736" y="2777"/>
                </a:lnTo>
                <a:lnTo>
                  <a:pt x="2561" y="399"/>
                </a:lnTo>
                <a:lnTo>
                  <a:pt x="2118" y="82"/>
                </a:lnTo>
                <a:lnTo>
                  <a:pt x="1898" y="0"/>
                </a:lnTo>
                <a:lnTo>
                  <a:pt x="0" y="2485"/>
                </a:lnTo>
                <a:close/>
              </a:path>
            </a:pathLst>
          </a:custGeom>
          <a:solidFill>
            <a:schemeClr val="bg2">
              <a:alpha val="100000"/>
            </a:scheme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grpSp>
        <p:nvGrpSpPr>
          <p:cNvPr id="1034" name="Group 10"/>
          <p:cNvGrpSpPr/>
          <p:nvPr/>
        </p:nvGrpSpPr>
        <p:grpSpPr>
          <a:xfrm>
            <a:off x="7938" y="5540375"/>
            <a:ext cx="1784350" cy="1246188"/>
            <a:chOff x="5" y="3490"/>
            <a:chExt cx="1124" cy="785"/>
          </a:xfrm>
        </p:grpSpPr>
        <p:sp>
          <p:nvSpPr>
            <p:cNvPr id="1051" name="Freeform 11"/>
            <p:cNvSpPr/>
            <p:nvPr userDrawn="1"/>
          </p:nvSpPr>
          <p:spPr>
            <a:xfrm>
              <a:off x="24" y="3505"/>
              <a:ext cx="1089" cy="649"/>
            </a:xfrm>
            <a:custGeom>
              <a:avLst/>
              <a:gdLst/>
              <a:ahLst/>
              <a:cxnLst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</a:cxnLst>
              <a:pathLst>
                <a:path w="2177" h="1298">
                  <a:moveTo>
                    <a:pt x="1587" y="1260"/>
                  </a:moveTo>
                  <a:lnTo>
                    <a:pt x="1420" y="1106"/>
                  </a:lnTo>
                  <a:lnTo>
                    <a:pt x="1331" y="477"/>
                  </a:lnTo>
                  <a:lnTo>
                    <a:pt x="2139" y="330"/>
                  </a:lnTo>
                  <a:lnTo>
                    <a:pt x="2177" y="203"/>
                  </a:lnTo>
                  <a:lnTo>
                    <a:pt x="2099" y="100"/>
                  </a:lnTo>
                  <a:lnTo>
                    <a:pt x="1276" y="211"/>
                  </a:lnTo>
                  <a:lnTo>
                    <a:pt x="1219" y="32"/>
                  </a:lnTo>
                  <a:lnTo>
                    <a:pt x="1085" y="0"/>
                  </a:lnTo>
                  <a:lnTo>
                    <a:pt x="958" y="28"/>
                  </a:lnTo>
                  <a:lnTo>
                    <a:pt x="888" y="106"/>
                  </a:lnTo>
                  <a:lnTo>
                    <a:pt x="937" y="285"/>
                  </a:lnTo>
                  <a:lnTo>
                    <a:pt x="660" y="441"/>
                  </a:lnTo>
                  <a:lnTo>
                    <a:pt x="983" y="473"/>
                  </a:lnTo>
                  <a:lnTo>
                    <a:pt x="1112" y="889"/>
                  </a:lnTo>
                  <a:lnTo>
                    <a:pt x="141" y="469"/>
                  </a:lnTo>
                  <a:lnTo>
                    <a:pt x="46" y="509"/>
                  </a:lnTo>
                  <a:lnTo>
                    <a:pt x="0" y="636"/>
                  </a:lnTo>
                  <a:lnTo>
                    <a:pt x="55" y="779"/>
                  </a:lnTo>
                  <a:lnTo>
                    <a:pt x="1139" y="1288"/>
                  </a:lnTo>
                  <a:lnTo>
                    <a:pt x="1378" y="1256"/>
                  </a:lnTo>
                  <a:lnTo>
                    <a:pt x="1570" y="1298"/>
                  </a:lnTo>
                  <a:lnTo>
                    <a:pt x="1587" y="1260"/>
                  </a:lnTo>
                  <a:close/>
                </a:path>
              </a:pathLst>
            </a:custGeom>
            <a:solidFill>
              <a:srgbClr val="F8F8F8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2" name="Freeform 12"/>
            <p:cNvSpPr/>
            <p:nvPr userDrawn="1"/>
          </p:nvSpPr>
          <p:spPr>
            <a:xfrm>
              <a:off x="1022" y="3582"/>
              <a:ext cx="71" cy="129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</a:cxnLst>
              <a:pathLst>
                <a:path w="143" h="258">
                  <a:moveTo>
                    <a:pt x="0" y="7"/>
                  </a:moveTo>
                  <a:lnTo>
                    <a:pt x="120" y="0"/>
                  </a:lnTo>
                  <a:lnTo>
                    <a:pt x="143" y="233"/>
                  </a:lnTo>
                  <a:lnTo>
                    <a:pt x="8" y="258"/>
                  </a:lnTo>
                  <a:lnTo>
                    <a:pt x="0" y="7"/>
                  </a:lnTo>
                  <a:close/>
                </a:path>
              </a:pathLst>
            </a:custGeom>
            <a:solidFill>
              <a:schemeClr val="accent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3" name="Freeform 13"/>
            <p:cNvSpPr/>
            <p:nvPr userDrawn="1"/>
          </p:nvSpPr>
          <p:spPr>
            <a:xfrm>
              <a:off x="20" y="3774"/>
              <a:ext cx="792" cy="41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1586" h="821">
                  <a:moveTo>
                    <a:pt x="137" y="0"/>
                  </a:moveTo>
                  <a:lnTo>
                    <a:pt x="1331" y="519"/>
                  </a:lnTo>
                  <a:lnTo>
                    <a:pt x="1428" y="638"/>
                  </a:lnTo>
                  <a:lnTo>
                    <a:pt x="1586" y="792"/>
                  </a:lnTo>
                  <a:lnTo>
                    <a:pt x="1565" y="821"/>
                  </a:lnTo>
                  <a:lnTo>
                    <a:pt x="1350" y="787"/>
                  </a:lnTo>
                  <a:lnTo>
                    <a:pt x="1145" y="811"/>
                  </a:lnTo>
                  <a:lnTo>
                    <a:pt x="42" y="298"/>
                  </a:lnTo>
                  <a:lnTo>
                    <a:pt x="0" y="150"/>
                  </a:lnTo>
                  <a:lnTo>
                    <a:pt x="46" y="32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tx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4" name="Freeform 14"/>
            <p:cNvSpPr/>
            <p:nvPr userDrawn="1"/>
          </p:nvSpPr>
          <p:spPr>
            <a:xfrm>
              <a:off x="129" y="3808"/>
              <a:ext cx="525" cy="374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</a:cxnLst>
              <a:pathLst>
                <a:path w="1049" h="747">
                  <a:moveTo>
                    <a:pt x="0" y="325"/>
                  </a:moveTo>
                  <a:lnTo>
                    <a:pt x="922" y="747"/>
                  </a:lnTo>
                  <a:lnTo>
                    <a:pt x="939" y="534"/>
                  </a:lnTo>
                  <a:lnTo>
                    <a:pt x="1049" y="422"/>
                  </a:lnTo>
                  <a:lnTo>
                    <a:pt x="78" y="0"/>
                  </a:lnTo>
                  <a:lnTo>
                    <a:pt x="0" y="127"/>
                  </a:lnTo>
                  <a:lnTo>
                    <a:pt x="0" y="325"/>
                  </a:lnTo>
                  <a:close/>
                </a:path>
              </a:pathLst>
            </a:custGeom>
            <a:solidFill>
              <a:schemeClr val="bg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5" name="Freeform 15"/>
            <p:cNvSpPr/>
            <p:nvPr userDrawn="1"/>
          </p:nvSpPr>
          <p:spPr>
            <a:xfrm>
              <a:off x="485" y="3532"/>
              <a:ext cx="135" cy="121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</a:cxnLst>
              <a:pathLst>
                <a:path w="272" h="241">
                  <a:moveTo>
                    <a:pt x="0" y="28"/>
                  </a:moveTo>
                  <a:lnTo>
                    <a:pt x="160" y="0"/>
                  </a:lnTo>
                  <a:lnTo>
                    <a:pt x="251" y="36"/>
                  </a:lnTo>
                  <a:lnTo>
                    <a:pt x="272" y="139"/>
                  </a:lnTo>
                  <a:lnTo>
                    <a:pt x="164" y="146"/>
                  </a:lnTo>
                  <a:lnTo>
                    <a:pt x="32" y="241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chemeClr val="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6" name="Freeform 16"/>
            <p:cNvSpPr/>
            <p:nvPr userDrawn="1"/>
          </p:nvSpPr>
          <p:spPr>
            <a:xfrm>
              <a:off x="641" y="4163"/>
              <a:ext cx="76" cy="112"/>
            </a:xfrm>
            <a:custGeom>
              <a:avLst/>
              <a:gdLst/>
              <a:ahLst/>
              <a:cxnLst>
                <a:cxn ang="0">
                  <a:pos x="1" y="1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1" y="1"/>
                </a:cxn>
              </a:cxnLst>
              <a:pathLst>
                <a:path w="152" h="224">
                  <a:moveTo>
                    <a:pt x="152" y="4"/>
                  </a:moveTo>
                  <a:lnTo>
                    <a:pt x="152" y="224"/>
                  </a:lnTo>
                  <a:lnTo>
                    <a:pt x="0" y="8"/>
                  </a:lnTo>
                  <a:lnTo>
                    <a:pt x="72" y="0"/>
                  </a:lnTo>
                  <a:lnTo>
                    <a:pt x="152" y="4"/>
                  </a:lnTo>
                  <a:close/>
                </a:path>
              </a:pathLst>
            </a:custGeom>
            <a:solidFill>
              <a:schemeClr val="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7" name="Freeform 17"/>
            <p:cNvSpPr/>
            <p:nvPr userDrawn="1"/>
          </p:nvSpPr>
          <p:spPr>
            <a:xfrm>
              <a:off x="504" y="3607"/>
              <a:ext cx="193" cy="383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0" y="1"/>
                </a:cxn>
              </a:cxnLst>
              <a:pathLst>
                <a:path w="386" h="764">
                  <a:moveTo>
                    <a:pt x="0" y="80"/>
                  </a:moveTo>
                  <a:lnTo>
                    <a:pt x="87" y="0"/>
                  </a:lnTo>
                  <a:lnTo>
                    <a:pt x="232" y="6"/>
                  </a:lnTo>
                  <a:lnTo>
                    <a:pt x="386" y="764"/>
                  </a:lnTo>
                  <a:lnTo>
                    <a:pt x="279" y="720"/>
                  </a:lnTo>
                  <a:lnTo>
                    <a:pt x="152" y="677"/>
                  </a:lnTo>
                  <a:lnTo>
                    <a:pt x="0" y="80"/>
                  </a:lnTo>
                  <a:close/>
                </a:path>
              </a:pathLst>
            </a:custGeom>
            <a:solidFill>
              <a:schemeClr val="bg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8" name="Freeform 18"/>
            <p:cNvSpPr/>
            <p:nvPr userDrawn="1"/>
          </p:nvSpPr>
          <p:spPr>
            <a:xfrm>
              <a:off x="668" y="3590"/>
              <a:ext cx="364" cy="174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1" y="0"/>
                </a:cxn>
              </a:cxnLst>
              <a:pathLst>
                <a:path w="728" h="348">
                  <a:moveTo>
                    <a:pt x="692" y="0"/>
                  </a:moveTo>
                  <a:lnTo>
                    <a:pt x="0" y="106"/>
                  </a:lnTo>
                  <a:lnTo>
                    <a:pt x="28" y="348"/>
                  </a:lnTo>
                  <a:lnTo>
                    <a:pt x="715" y="237"/>
                  </a:lnTo>
                  <a:lnTo>
                    <a:pt x="728" y="43"/>
                  </a:lnTo>
                  <a:lnTo>
                    <a:pt x="692" y="0"/>
                  </a:lnTo>
                  <a:close/>
                </a:path>
              </a:pathLst>
            </a:custGeom>
            <a:solidFill>
              <a:schemeClr val="bg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9" name="Freeform 19"/>
            <p:cNvSpPr/>
            <p:nvPr userDrawn="1"/>
          </p:nvSpPr>
          <p:spPr>
            <a:xfrm>
              <a:off x="347" y="3693"/>
              <a:ext cx="156" cy="67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</a:cxnLst>
              <a:pathLst>
                <a:path w="312" h="135">
                  <a:moveTo>
                    <a:pt x="272" y="0"/>
                  </a:moveTo>
                  <a:lnTo>
                    <a:pt x="0" y="78"/>
                  </a:lnTo>
                  <a:lnTo>
                    <a:pt x="312" y="135"/>
                  </a:lnTo>
                  <a:lnTo>
                    <a:pt x="272" y="0"/>
                  </a:lnTo>
                  <a:close/>
                </a:path>
              </a:pathLst>
            </a:custGeom>
            <a:solidFill>
              <a:schemeClr val="accent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1060" name="Group 20"/>
            <p:cNvGrpSpPr/>
            <p:nvPr userDrawn="1"/>
          </p:nvGrpSpPr>
          <p:grpSpPr>
            <a:xfrm>
              <a:off x="5" y="3490"/>
              <a:ext cx="1124" cy="780"/>
              <a:chOff x="5" y="3490"/>
              <a:chExt cx="1124" cy="780"/>
            </a:xfrm>
          </p:grpSpPr>
          <p:grpSp>
            <p:nvGrpSpPr>
              <p:cNvPr id="1061" name="Group 21"/>
              <p:cNvGrpSpPr/>
              <p:nvPr userDrawn="1"/>
            </p:nvGrpSpPr>
            <p:grpSpPr>
              <a:xfrm>
                <a:off x="499" y="3562"/>
                <a:ext cx="548" cy="708"/>
                <a:chOff x="499" y="3562"/>
                <a:chExt cx="548" cy="708"/>
              </a:xfrm>
            </p:grpSpPr>
            <p:sp>
              <p:nvSpPr>
                <p:cNvPr id="1074" name="Freeform 22"/>
                <p:cNvSpPr/>
                <p:nvPr userDrawn="1"/>
              </p:nvSpPr>
              <p:spPr>
                <a:xfrm>
                  <a:off x="499" y="3587"/>
                  <a:ext cx="157" cy="87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313" h="175">
                      <a:moveTo>
                        <a:pt x="0" y="107"/>
                      </a:moveTo>
                      <a:lnTo>
                        <a:pt x="114" y="10"/>
                      </a:lnTo>
                      <a:lnTo>
                        <a:pt x="213" y="0"/>
                      </a:lnTo>
                      <a:lnTo>
                        <a:pt x="292" y="27"/>
                      </a:lnTo>
                      <a:lnTo>
                        <a:pt x="313" y="91"/>
                      </a:lnTo>
                      <a:lnTo>
                        <a:pt x="167" y="67"/>
                      </a:lnTo>
                      <a:lnTo>
                        <a:pt x="74" y="101"/>
                      </a:lnTo>
                      <a:lnTo>
                        <a:pt x="13" y="175"/>
                      </a:lnTo>
                      <a:lnTo>
                        <a:pt x="0" y="107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75" name="Freeform 23"/>
                <p:cNvSpPr/>
                <p:nvPr userDrawn="1"/>
              </p:nvSpPr>
              <p:spPr>
                <a:xfrm>
                  <a:off x="636" y="4137"/>
                  <a:ext cx="115" cy="133"/>
                </a:xfrm>
                <a:custGeom>
                  <a:avLst/>
                  <a:gdLst/>
                  <a:ahLst/>
                  <a:cxnLst>
                    <a:cxn ang="0">
                      <a:pos x="0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0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0" y="1"/>
                    </a:cxn>
                    <a:cxn ang="0">
                      <a:pos x="0" y="1"/>
                    </a:cxn>
                  </a:cxnLst>
                  <a:pathLst>
                    <a:path w="230" h="266">
                      <a:moveTo>
                        <a:pt x="0" y="40"/>
                      </a:moveTo>
                      <a:lnTo>
                        <a:pt x="160" y="266"/>
                      </a:lnTo>
                      <a:lnTo>
                        <a:pt x="230" y="251"/>
                      </a:lnTo>
                      <a:lnTo>
                        <a:pt x="223" y="17"/>
                      </a:lnTo>
                      <a:lnTo>
                        <a:pt x="166" y="0"/>
                      </a:lnTo>
                      <a:lnTo>
                        <a:pt x="179" y="197"/>
                      </a:lnTo>
                      <a:lnTo>
                        <a:pt x="71" y="4"/>
                      </a:lnTo>
                      <a:lnTo>
                        <a:pt x="0" y="40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76" name="Freeform 24"/>
                <p:cNvSpPr/>
                <p:nvPr userDrawn="1"/>
              </p:nvSpPr>
              <p:spPr>
                <a:xfrm>
                  <a:off x="1004" y="3562"/>
                  <a:ext cx="43" cy="117"/>
                </a:xfrm>
                <a:custGeom>
                  <a:avLst/>
                  <a:gdLst/>
                  <a:ahLst/>
                  <a:cxnLst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0" y="1"/>
                    </a:cxn>
                  </a:cxnLst>
                  <a:pathLst>
                    <a:path w="87" h="234">
                      <a:moveTo>
                        <a:pt x="0" y="19"/>
                      </a:moveTo>
                      <a:lnTo>
                        <a:pt x="36" y="93"/>
                      </a:lnTo>
                      <a:lnTo>
                        <a:pt x="44" y="154"/>
                      </a:lnTo>
                      <a:lnTo>
                        <a:pt x="27" y="234"/>
                      </a:lnTo>
                      <a:lnTo>
                        <a:pt x="80" y="220"/>
                      </a:lnTo>
                      <a:lnTo>
                        <a:pt x="87" y="116"/>
                      </a:lnTo>
                      <a:lnTo>
                        <a:pt x="46" y="0"/>
                      </a:lnTo>
                      <a:lnTo>
                        <a:pt x="0" y="19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sp>
            <p:nvSpPr>
              <p:cNvPr id="1062" name="Freeform 25"/>
              <p:cNvSpPr/>
              <p:nvPr userDrawn="1"/>
            </p:nvSpPr>
            <p:spPr>
              <a:xfrm>
                <a:off x="76" y="3732"/>
                <a:ext cx="595" cy="250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1" y="0"/>
                  </a:cxn>
                </a:cxnLst>
                <a:pathLst>
                  <a:path w="1190" h="500">
                    <a:moveTo>
                      <a:pt x="100" y="0"/>
                    </a:moveTo>
                    <a:lnTo>
                      <a:pt x="1190" y="490"/>
                    </a:lnTo>
                    <a:lnTo>
                      <a:pt x="1076" y="500"/>
                    </a:lnTo>
                    <a:lnTo>
                      <a:pt x="0" y="27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63" name="Freeform 26"/>
              <p:cNvSpPr/>
              <p:nvPr userDrawn="1"/>
            </p:nvSpPr>
            <p:spPr>
              <a:xfrm>
                <a:off x="260" y="3886"/>
                <a:ext cx="244" cy="148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0" y="1"/>
                  </a:cxn>
                </a:cxnLst>
                <a:pathLst>
                  <a:path w="489" h="296">
                    <a:moveTo>
                      <a:pt x="14" y="34"/>
                    </a:moveTo>
                    <a:lnTo>
                      <a:pt x="160" y="66"/>
                    </a:lnTo>
                    <a:lnTo>
                      <a:pt x="324" y="137"/>
                    </a:lnTo>
                    <a:lnTo>
                      <a:pt x="440" y="243"/>
                    </a:lnTo>
                    <a:lnTo>
                      <a:pt x="326" y="230"/>
                    </a:lnTo>
                    <a:lnTo>
                      <a:pt x="139" y="146"/>
                    </a:lnTo>
                    <a:lnTo>
                      <a:pt x="50" y="80"/>
                    </a:lnTo>
                    <a:lnTo>
                      <a:pt x="107" y="163"/>
                    </a:lnTo>
                    <a:lnTo>
                      <a:pt x="272" y="270"/>
                    </a:lnTo>
                    <a:lnTo>
                      <a:pt x="466" y="296"/>
                    </a:lnTo>
                    <a:lnTo>
                      <a:pt x="489" y="224"/>
                    </a:lnTo>
                    <a:lnTo>
                      <a:pt x="394" y="120"/>
                    </a:lnTo>
                    <a:lnTo>
                      <a:pt x="170" y="17"/>
                    </a:lnTo>
                    <a:lnTo>
                      <a:pt x="0" y="0"/>
                    </a:ln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64" name="Freeform 27"/>
              <p:cNvSpPr/>
              <p:nvPr userDrawn="1"/>
            </p:nvSpPr>
            <p:spPr>
              <a:xfrm>
                <a:off x="565" y="3680"/>
                <a:ext cx="107" cy="23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0" y="0"/>
                  </a:cxn>
                  <a:cxn ang="0">
                    <a:pos x="1" y="0"/>
                  </a:cxn>
                  <a:cxn ang="0">
                    <a:pos x="1" y="0"/>
                  </a:cxn>
                </a:cxnLst>
                <a:pathLst>
                  <a:path w="213" h="478">
                    <a:moveTo>
                      <a:pt x="24" y="0"/>
                    </a:moveTo>
                    <a:lnTo>
                      <a:pt x="91" y="25"/>
                    </a:lnTo>
                    <a:lnTo>
                      <a:pt x="80" y="192"/>
                    </a:lnTo>
                    <a:lnTo>
                      <a:pt x="106" y="327"/>
                    </a:lnTo>
                    <a:lnTo>
                      <a:pt x="213" y="451"/>
                    </a:lnTo>
                    <a:lnTo>
                      <a:pt x="97" y="478"/>
                    </a:lnTo>
                    <a:lnTo>
                      <a:pt x="30" y="344"/>
                    </a:lnTo>
                    <a:lnTo>
                      <a:pt x="0" y="57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grpSp>
            <p:nvGrpSpPr>
              <p:cNvPr id="1065" name="Group 28"/>
              <p:cNvGrpSpPr/>
              <p:nvPr userDrawn="1"/>
            </p:nvGrpSpPr>
            <p:grpSpPr>
              <a:xfrm>
                <a:off x="5" y="3490"/>
                <a:ext cx="1124" cy="678"/>
                <a:chOff x="5" y="3490"/>
                <a:chExt cx="1124" cy="678"/>
              </a:xfrm>
            </p:grpSpPr>
            <p:sp>
              <p:nvSpPr>
                <p:cNvPr id="1066" name="Freeform 29"/>
                <p:cNvSpPr/>
                <p:nvPr userDrawn="1"/>
              </p:nvSpPr>
              <p:spPr>
                <a:xfrm>
                  <a:off x="669" y="4048"/>
                  <a:ext cx="75" cy="87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1" y="1"/>
                    </a:cxn>
                    <a:cxn ang="0">
                      <a:pos x="0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0"/>
                    </a:cxn>
                    <a:cxn ang="0">
                      <a:pos x="1" y="0"/>
                    </a:cxn>
                  </a:cxnLst>
                  <a:pathLst>
                    <a:path w="150" h="173">
                      <a:moveTo>
                        <a:pt x="110" y="0"/>
                      </a:moveTo>
                      <a:lnTo>
                        <a:pt x="40" y="66"/>
                      </a:lnTo>
                      <a:lnTo>
                        <a:pt x="0" y="173"/>
                      </a:lnTo>
                      <a:lnTo>
                        <a:pt x="80" y="160"/>
                      </a:lnTo>
                      <a:lnTo>
                        <a:pt x="103" y="84"/>
                      </a:lnTo>
                      <a:lnTo>
                        <a:pt x="150" y="27"/>
                      </a:lnTo>
                      <a:lnTo>
                        <a:pt x="110" y="0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67" name="Freeform 30"/>
                <p:cNvSpPr/>
                <p:nvPr userDrawn="1"/>
              </p:nvSpPr>
              <p:spPr>
                <a:xfrm>
                  <a:off x="5" y="3728"/>
                  <a:ext cx="842" cy="440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1" y="1"/>
                    </a:cxn>
                    <a:cxn ang="0">
                      <a:pos x="0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</a:cxnLst>
                  <a:pathLst>
                    <a:path w="1684" h="880">
                      <a:moveTo>
                        <a:pt x="156" y="0"/>
                      </a:moveTo>
                      <a:lnTo>
                        <a:pt x="63" y="52"/>
                      </a:lnTo>
                      <a:lnTo>
                        <a:pt x="0" y="208"/>
                      </a:lnTo>
                      <a:lnTo>
                        <a:pt x="67" y="358"/>
                      </a:lnTo>
                      <a:lnTo>
                        <a:pt x="1182" y="867"/>
                      </a:lnTo>
                      <a:lnTo>
                        <a:pt x="1422" y="835"/>
                      </a:lnTo>
                      <a:lnTo>
                        <a:pt x="1616" y="880"/>
                      </a:lnTo>
                      <a:lnTo>
                        <a:pt x="1684" y="808"/>
                      </a:lnTo>
                      <a:lnTo>
                        <a:pt x="1502" y="664"/>
                      </a:lnTo>
                      <a:lnTo>
                        <a:pt x="1428" y="512"/>
                      </a:lnTo>
                      <a:lnTo>
                        <a:pt x="1369" y="527"/>
                      </a:lnTo>
                      <a:lnTo>
                        <a:pt x="1439" y="664"/>
                      </a:lnTo>
                      <a:lnTo>
                        <a:pt x="1578" y="810"/>
                      </a:lnTo>
                      <a:lnTo>
                        <a:pt x="1413" y="787"/>
                      </a:lnTo>
                      <a:lnTo>
                        <a:pt x="1219" y="814"/>
                      </a:lnTo>
                      <a:lnTo>
                        <a:pt x="1255" y="650"/>
                      </a:lnTo>
                      <a:lnTo>
                        <a:pt x="1338" y="538"/>
                      </a:lnTo>
                      <a:lnTo>
                        <a:pt x="1241" y="552"/>
                      </a:lnTo>
                      <a:lnTo>
                        <a:pt x="1165" y="658"/>
                      </a:lnTo>
                      <a:lnTo>
                        <a:pt x="1139" y="791"/>
                      </a:lnTo>
                      <a:lnTo>
                        <a:pt x="107" y="310"/>
                      </a:lnTo>
                      <a:lnTo>
                        <a:pt x="80" y="215"/>
                      </a:lnTo>
                      <a:lnTo>
                        <a:pt x="103" y="95"/>
                      </a:lnTo>
                      <a:lnTo>
                        <a:pt x="217" y="0"/>
                      </a:lnTo>
                      <a:lnTo>
                        <a:pt x="156" y="0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68" name="Freeform 31"/>
                <p:cNvSpPr/>
                <p:nvPr userDrawn="1"/>
              </p:nvSpPr>
              <p:spPr>
                <a:xfrm>
                  <a:off x="106" y="3770"/>
                  <a:ext cx="80" cy="167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0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</a:cxnLst>
                  <a:pathLst>
                    <a:path w="160" h="335">
                      <a:moveTo>
                        <a:pt x="116" y="0"/>
                      </a:moveTo>
                      <a:lnTo>
                        <a:pt x="19" y="106"/>
                      </a:lnTo>
                      <a:lnTo>
                        <a:pt x="0" y="230"/>
                      </a:lnTo>
                      <a:lnTo>
                        <a:pt x="33" y="314"/>
                      </a:lnTo>
                      <a:lnTo>
                        <a:pt x="94" y="335"/>
                      </a:lnTo>
                      <a:lnTo>
                        <a:pt x="76" y="154"/>
                      </a:lnTo>
                      <a:lnTo>
                        <a:pt x="160" y="17"/>
                      </a:lnTo>
                      <a:lnTo>
                        <a:pt x="116" y="0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69" name="Freeform 32"/>
                <p:cNvSpPr/>
                <p:nvPr userDrawn="1"/>
              </p:nvSpPr>
              <p:spPr>
                <a:xfrm>
                  <a:off x="449" y="3490"/>
                  <a:ext cx="322" cy="594"/>
                </a:xfrm>
                <a:custGeom>
                  <a:avLst/>
                  <a:gdLst/>
                  <a:ahLst/>
                  <a:cxnLst>
                    <a:cxn ang="0">
                      <a:pos x="1" y="1"/>
                    </a:cxn>
                    <a:cxn ang="0">
                      <a:pos x="0" y="1"/>
                    </a:cxn>
                    <a:cxn ang="0">
                      <a:pos x="1" y="1"/>
                    </a:cxn>
                    <a:cxn ang="0">
                      <a:pos x="1" y="0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</a:cxnLst>
                  <a:pathLst>
                    <a:path w="642" h="1188">
                      <a:moveTo>
                        <a:pt x="218" y="896"/>
                      </a:moveTo>
                      <a:lnTo>
                        <a:pt x="0" y="124"/>
                      </a:lnTo>
                      <a:lnTo>
                        <a:pt x="81" y="38"/>
                      </a:lnTo>
                      <a:lnTo>
                        <a:pt x="258" y="0"/>
                      </a:lnTo>
                      <a:lnTo>
                        <a:pt x="399" y="57"/>
                      </a:lnTo>
                      <a:lnTo>
                        <a:pt x="642" y="1188"/>
                      </a:lnTo>
                      <a:lnTo>
                        <a:pt x="555" y="1091"/>
                      </a:lnTo>
                      <a:lnTo>
                        <a:pt x="355" y="97"/>
                      </a:lnTo>
                      <a:lnTo>
                        <a:pt x="226" y="61"/>
                      </a:lnTo>
                      <a:lnTo>
                        <a:pt x="119" y="74"/>
                      </a:lnTo>
                      <a:lnTo>
                        <a:pt x="76" y="141"/>
                      </a:lnTo>
                      <a:lnTo>
                        <a:pt x="306" y="924"/>
                      </a:lnTo>
                      <a:lnTo>
                        <a:pt x="218" y="896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70" name="Freeform 33"/>
                <p:cNvSpPr/>
                <p:nvPr userDrawn="1"/>
              </p:nvSpPr>
              <p:spPr>
                <a:xfrm>
                  <a:off x="578" y="3650"/>
                  <a:ext cx="96" cy="252"/>
                </a:xfrm>
                <a:custGeom>
                  <a:avLst/>
                  <a:gdLst/>
                  <a:ahLst/>
                  <a:cxnLst>
                    <a:cxn ang="0">
                      <a:pos x="0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0"/>
                    </a:cxn>
                    <a:cxn ang="0">
                      <a:pos x="0" y="1"/>
                    </a:cxn>
                    <a:cxn ang="0">
                      <a:pos x="0" y="1"/>
                    </a:cxn>
                  </a:cxnLst>
                  <a:pathLst>
                    <a:path w="192" h="504">
                      <a:moveTo>
                        <a:pt x="0" y="27"/>
                      </a:moveTo>
                      <a:lnTo>
                        <a:pt x="76" y="194"/>
                      </a:lnTo>
                      <a:lnTo>
                        <a:pt x="113" y="318"/>
                      </a:lnTo>
                      <a:lnTo>
                        <a:pt x="116" y="504"/>
                      </a:lnTo>
                      <a:lnTo>
                        <a:pt x="192" y="504"/>
                      </a:lnTo>
                      <a:lnTo>
                        <a:pt x="187" y="360"/>
                      </a:lnTo>
                      <a:lnTo>
                        <a:pt x="162" y="208"/>
                      </a:lnTo>
                      <a:lnTo>
                        <a:pt x="99" y="59"/>
                      </a:lnTo>
                      <a:lnTo>
                        <a:pt x="63" y="0"/>
                      </a:lnTo>
                      <a:lnTo>
                        <a:pt x="0" y="27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71" name="Freeform 34"/>
                <p:cNvSpPr/>
                <p:nvPr userDrawn="1"/>
              </p:nvSpPr>
              <p:spPr>
                <a:xfrm>
                  <a:off x="328" y="3630"/>
                  <a:ext cx="195" cy="135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0"/>
                    </a:cxn>
                    <a:cxn ang="0">
                      <a:pos x="1" y="0"/>
                    </a:cxn>
                  </a:cxnLst>
                  <a:pathLst>
                    <a:path w="390" h="269">
                      <a:moveTo>
                        <a:pt x="297" y="0"/>
                      </a:moveTo>
                      <a:lnTo>
                        <a:pt x="257" y="17"/>
                      </a:lnTo>
                      <a:lnTo>
                        <a:pt x="253" y="66"/>
                      </a:lnTo>
                      <a:lnTo>
                        <a:pt x="0" y="169"/>
                      </a:lnTo>
                      <a:lnTo>
                        <a:pt x="0" y="222"/>
                      </a:lnTo>
                      <a:lnTo>
                        <a:pt x="284" y="226"/>
                      </a:lnTo>
                      <a:lnTo>
                        <a:pt x="320" y="269"/>
                      </a:lnTo>
                      <a:lnTo>
                        <a:pt x="390" y="266"/>
                      </a:lnTo>
                      <a:lnTo>
                        <a:pt x="383" y="190"/>
                      </a:lnTo>
                      <a:lnTo>
                        <a:pt x="116" y="176"/>
                      </a:lnTo>
                      <a:lnTo>
                        <a:pt x="333" y="89"/>
                      </a:lnTo>
                      <a:lnTo>
                        <a:pt x="297" y="0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72" name="Freeform 35"/>
                <p:cNvSpPr/>
                <p:nvPr userDrawn="1"/>
              </p:nvSpPr>
              <p:spPr>
                <a:xfrm>
                  <a:off x="658" y="3538"/>
                  <a:ext cx="471" cy="212"/>
                </a:xfrm>
                <a:custGeom>
                  <a:avLst/>
                  <a:gdLst/>
                  <a:ahLst/>
                  <a:cxnLst>
                    <a:cxn ang="0">
                      <a:pos x="0" y="1"/>
                    </a:cxn>
                    <a:cxn ang="0">
                      <a:pos x="1" y="0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</a:cxnLst>
                  <a:pathLst>
                    <a:path w="941" h="424">
                      <a:moveTo>
                        <a:pt x="0" y="131"/>
                      </a:moveTo>
                      <a:lnTo>
                        <a:pt x="863" y="0"/>
                      </a:lnTo>
                      <a:lnTo>
                        <a:pt x="926" y="78"/>
                      </a:lnTo>
                      <a:lnTo>
                        <a:pt x="941" y="181"/>
                      </a:lnTo>
                      <a:lnTo>
                        <a:pt x="903" y="282"/>
                      </a:lnTo>
                      <a:lnTo>
                        <a:pt x="57" y="424"/>
                      </a:lnTo>
                      <a:lnTo>
                        <a:pt x="53" y="384"/>
                      </a:lnTo>
                      <a:lnTo>
                        <a:pt x="863" y="242"/>
                      </a:lnTo>
                      <a:lnTo>
                        <a:pt x="893" y="145"/>
                      </a:lnTo>
                      <a:lnTo>
                        <a:pt x="840" y="57"/>
                      </a:lnTo>
                      <a:lnTo>
                        <a:pt x="0" y="185"/>
                      </a:lnTo>
                      <a:lnTo>
                        <a:pt x="0" y="131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73" name="Freeform 36"/>
                <p:cNvSpPr/>
                <p:nvPr userDrawn="1"/>
              </p:nvSpPr>
              <p:spPr>
                <a:xfrm>
                  <a:off x="717" y="3606"/>
                  <a:ext cx="245" cy="86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488" h="173">
                      <a:moveTo>
                        <a:pt x="0" y="126"/>
                      </a:moveTo>
                      <a:lnTo>
                        <a:pt x="66" y="173"/>
                      </a:lnTo>
                      <a:lnTo>
                        <a:pt x="222" y="166"/>
                      </a:lnTo>
                      <a:lnTo>
                        <a:pt x="418" y="116"/>
                      </a:lnTo>
                      <a:lnTo>
                        <a:pt x="488" y="42"/>
                      </a:lnTo>
                      <a:lnTo>
                        <a:pt x="443" y="2"/>
                      </a:lnTo>
                      <a:lnTo>
                        <a:pt x="253" y="0"/>
                      </a:lnTo>
                      <a:lnTo>
                        <a:pt x="110" y="12"/>
                      </a:lnTo>
                      <a:lnTo>
                        <a:pt x="15" y="76"/>
                      </a:lnTo>
                      <a:lnTo>
                        <a:pt x="112" y="95"/>
                      </a:lnTo>
                      <a:lnTo>
                        <a:pt x="275" y="53"/>
                      </a:lnTo>
                      <a:lnTo>
                        <a:pt x="416" y="53"/>
                      </a:lnTo>
                      <a:lnTo>
                        <a:pt x="268" y="110"/>
                      </a:lnTo>
                      <a:lnTo>
                        <a:pt x="142" y="126"/>
                      </a:lnTo>
                      <a:lnTo>
                        <a:pt x="0" y="126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</p:grpSp>
      </p:grpSp>
      <p:grpSp>
        <p:nvGrpSpPr>
          <p:cNvPr id="1035" name="Group 37"/>
          <p:cNvGrpSpPr/>
          <p:nvPr/>
        </p:nvGrpSpPr>
        <p:grpSpPr>
          <a:xfrm>
            <a:off x="8680450" y="2116138"/>
            <a:ext cx="385763" cy="4308475"/>
            <a:chOff x="5468" y="1333"/>
            <a:chExt cx="243" cy="2714"/>
          </a:xfrm>
        </p:grpSpPr>
        <p:sp>
          <p:nvSpPr>
            <p:cNvPr id="1049" name="Freeform 38"/>
            <p:cNvSpPr/>
            <p:nvPr userDrawn="1"/>
          </p:nvSpPr>
          <p:spPr>
            <a:xfrm flipH="1">
              <a:off x="5468" y="2620"/>
              <a:ext cx="205" cy="142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772" h="3266">
                  <a:moveTo>
                    <a:pt x="692" y="3156"/>
                  </a:moveTo>
                  <a:lnTo>
                    <a:pt x="380" y="2945"/>
                  </a:lnTo>
                  <a:lnTo>
                    <a:pt x="319" y="2783"/>
                  </a:lnTo>
                  <a:lnTo>
                    <a:pt x="371" y="2542"/>
                  </a:lnTo>
                  <a:lnTo>
                    <a:pt x="591" y="2251"/>
                  </a:lnTo>
                  <a:lnTo>
                    <a:pt x="641" y="2070"/>
                  </a:lnTo>
                  <a:lnTo>
                    <a:pt x="591" y="1948"/>
                  </a:lnTo>
                  <a:lnTo>
                    <a:pt x="401" y="1859"/>
                  </a:lnTo>
                  <a:lnTo>
                    <a:pt x="361" y="1747"/>
                  </a:lnTo>
                  <a:lnTo>
                    <a:pt x="430" y="1587"/>
                  </a:lnTo>
                  <a:lnTo>
                    <a:pt x="741" y="1156"/>
                  </a:lnTo>
                  <a:lnTo>
                    <a:pt x="772" y="945"/>
                  </a:lnTo>
                  <a:lnTo>
                    <a:pt x="692" y="713"/>
                  </a:lnTo>
                  <a:lnTo>
                    <a:pt x="430" y="603"/>
                  </a:lnTo>
                  <a:lnTo>
                    <a:pt x="200" y="422"/>
                  </a:lnTo>
                  <a:lnTo>
                    <a:pt x="0" y="0"/>
                  </a:lnTo>
                  <a:lnTo>
                    <a:pt x="29" y="382"/>
                  </a:lnTo>
                  <a:lnTo>
                    <a:pt x="179" y="612"/>
                  </a:lnTo>
                  <a:lnTo>
                    <a:pt x="380" y="753"/>
                  </a:lnTo>
                  <a:lnTo>
                    <a:pt x="601" y="833"/>
                  </a:lnTo>
                  <a:lnTo>
                    <a:pt x="612" y="1044"/>
                  </a:lnTo>
                  <a:lnTo>
                    <a:pt x="500" y="1266"/>
                  </a:lnTo>
                  <a:lnTo>
                    <a:pt x="240" y="1658"/>
                  </a:lnTo>
                  <a:lnTo>
                    <a:pt x="230" y="1909"/>
                  </a:lnTo>
                  <a:lnTo>
                    <a:pt x="471" y="2049"/>
                  </a:lnTo>
                  <a:lnTo>
                    <a:pt x="460" y="2180"/>
                  </a:lnTo>
                  <a:lnTo>
                    <a:pt x="249" y="2452"/>
                  </a:lnTo>
                  <a:lnTo>
                    <a:pt x="160" y="2713"/>
                  </a:lnTo>
                  <a:lnTo>
                    <a:pt x="240" y="2994"/>
                  </a:lnTo>
                  <a:lnTo>
                    <a:pt x="430" y="3144"/>
                  </a:lnTo>
                  <a:lnTo>
                    <a:pt x="671" y="3266"/>
                  </a:lnTo>
                  <a:lnTo>
                    <a:pt x="692" y="3156"/>
                  </a:lnTo>
                  <a:close/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0" name="Freeform 39"/>
            <p:cNvSpPr/>
            <p:nvPr userDrawn="1"/>
          </p:nvSpPr>
          <p:spPr>
            <a:xfrm flipH="1">
              <a:off x="5506" y="1333"/>
              <a:ext cx="205" cy="1633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</a:cxnLst>
              <a:pathLst>
                <a:path w="772" h="3266">
                  <a:moveTo>
                    <a:pt x="692" y="3156"/>
                  </a:moveTo>
                  <a:lnTo>
                    <a:pt x="380" y="2945"/>
                  </a:lnTo>
                  <a:lnTo>
                    <a:pt x="319" y="2783"/>
                  </a:lnTo>
                  <a:lnTo>
                    <a:pt x="371" y="2542"/>
                  </a:lnTo>
                  <a:lnTo>
                    <a:pt x="591" y="2251"/>
                  </a:lnTo>
                  <a:lnTo>
                    <a:pt x="641" y="2070"/>
                  </a:lnTo>
                  <a:lnTo>
                    <a:pt x="591" y="1948"/>
                  </a:lnTo>
                  <a:lnTo>
                    <a:pt x="401" y="1859"/>
                  </a:lnTo>
                  <a:lnTo>
                    <a:pt x="361" y="1747"/>
                  </a:lnTo>
                  <a:lnTo>
                    <a:pt x="430" y="1587"/>
                  </a:lnTo>
                  <a:lnTo>
                    <a:pt x="741" y="1156"/>
                  </a:lnTo>
                  <a:lnTo>
                    <a:pt x="772" y="945"/>
                  </a:lnTo>
                  <a:lnTo>
                    <a:pt x="692" y="713"/>
                  </a:lnTo>
                  <a:lnTo>
                    <a:pt x="430" y="603"/>
                  </a:lnTo>
                  <a:lnTo>
                    <a:pt x="200" y="422"/>
                  </a:lnTo>
                  <a:lnTo>
                    <a:pt x="0" y="0"/>
                  </a:lnTo>
                  <a:lnTo>
                    <a:pt x="29" y="382"/>
                  </a:lnTo>
                  <a:lnTo>
                    <a:pt x="179" y="612"/>
                  </a:lnTo>
                  <a:lnTo>
                    <a:pt x="380" y="753"/>
                  </a:lnTo>
                  <a:lnTo>
                    <a:pt x="601" y="833"/>
                  </a:lnTo>
                  <a:lnTo>
                    <a:pt x="612" y="1044"/>
                  </a:lnTo>
                  <a:lnTo>
                    <a:pt x="500" y="1266"/>
                  </a:lnTo>
                  <a:lnTo>
                    <a:pt x="240" y="1658"/>
                  </a:lnTo>
                  <a:lnTo>
                    <a:pt x="230" y="1909"/>
                  </a:lnTo>
                  <a:lnTo>
                    <a:pt x="471" y="2049"/>
                  </a:lnTo>
                  <a:lnTo>
                    <a:pt x="460" y="2180"/>
                  </a:lnTo>
                  <a:lnTo>
                    <a:pt x="249" y="2452"/>
                  </a:lnTo>
                  <a:lnTo>
                    <a:pt x="160" y="2713"/>
                  </a:lnTo>
                  <a:lnTo>
                    <a:pt x="240" y="2994"/>
                  </a:lnTo>
                  <a:lnTo>
                    <a:pt x="430" y="3144"/>
                  </a:lnTo>
                  <a:lnTo>
                    <a:pt x="671" y="3266"/>
                  </a:lnTo>
                  <a:lnTo>
                    <a:pt x="692" y="3156"/>
                  </a:lnTo>
                  <a:close/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1036" name="Group 40"/>
          <p:cNvGrpSpPr/>
          <p:nvPr/>
        </p:nvGrpSpPr>
        <p:grpSpPr>
          <a:xfrm>
            <a:off x="7318375" y="90488"/>
            <a:ext cx="2133600" cy="1911350"/>
            <a:chOff x="4610" y="57"/>
            <a:chExt cx="1344" cy="1204"/>
          </a:xfrm>
        </p:grpSpPr>
        <p:grpSp>
          <p:nvGrpSpPr>
            <p:cNvPr id="1037" name="Group 41"/>
            <p:cNvGrpSpPr/>
            <p:nvPr userDrawn="1"/>
          </p:nvGrpSpPr>
          <p:grpSpPr>
            <a:xfrm>
              <a:off x="4610" y="57"/>
              <a:ext cx="1344" cy="1204"/>
              <a:chOff x="4610" y="57"/>
              <a:chExt cx="1344" cy="1204"/>
            </a:xfrm>
          </p:grpSpPr>
          <p:sp>
            <p:nvSpPr>
              <p:cNvPr id="1039" name="Freeform 42"/>
              <p:cNvSpPr/>
              <p:nvPr userDrawn="1"/>
            </p:nvSpPr>
            <p:spPr>
              <a:xfrm rot="-3172564">
                <a:off x="5430" y="1086"/>
                <a:ext cx="62" cy="28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45" h="806">
                    <a:moveTo>
                      <a:pt x="123" y="9"/>
                    </a:moveTo>
                    <a:lnTo>
                      <a:pt x="131" y="342"/>
                    </a:lnTo>
                    <a:lnTo>
                      <a:pt x="0" y="806"/>
                    </a:lnTo>
                    <a:lnTo>
                      <a:pt x="79" y="789"/>
                    </a:lnTo>
                    <a:lnTo>
                      <a:pt x="218" y="376"/>
                    </a:lnTo>
                    <a:lnTo>
                      <a:pt x="245" y="0"/>
                    </a:lnTo>
                    <a:lnTo>
                      <a:pt x="123" y="9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grpSp>
            <p:nvGrpSpPr>
              <p:cNvPr id="1040" name="Group 43"/>
              <p:cNvGrpSpPr/>
              <p:nvPr userDrawn="1"/>
            </p:nvGrpSpPr>
            <p:grpSpPr>
              <a:xfrm>
                <a:off x="4610" y="57"/>
                <a:ext cx="1344" cy="985"/>
                <a:chOff x="4610" y="57"/>
                <a:chExt cx="1344" cy="985"/>
              </a:xfrm>
            </p:grpSpPr>
            <p:sp>
              <p:nvSpPr>
                <p:cNvPr id="1041" name="Freeform 44"/>
                <p:cNvSpPr/>
                <p:nvPr userDrawn="1"/>
              </p:nvSpPr>
              <p:spPr>
                <a:xfrm rot="-3172564">
                  <a:off x="4966" y="71"/>
                  <a:ext cx="153" cy="125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604" h="349">
                      <a:moveTo>
                        <a:pt x="0" y="0"/>
                      </a:moveTo>
                      <a:lnTo>
                        <a:pt x="298" y="184"/>
                      </a:lnTo>
                      <a:lnTo>
                        <a:pt x="500" y="349"/>
                      </a:lnTo>
                      <a:lnTo>
                        <a:pt x="604" y="140"/>
                      </a:lnTo>
                      <a:lnTo>
                        <a:pt x="359" y="9"/>
                      </a:lnTo>
                      <a:lnTo>
                        <a:pt x="464" y="184"/>
                      </a:lnTo>
                      <a:lnTo>
                        <a:pt x="131" y="1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42" name="Freeform 45"/>
                <p:cNvSpPr/>
                <p:nvPr userDrawn="1"/>
              </p:nvSpPr>
              <p:spPr>
                <a:xfrm rot="-3172564">
                  <a:off x="5050" y="329"/>
                  <a:ext cx="269" cy="43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1064" h="1230">
                      <a:moveTo>
                        <a:pt x="741" y="129"/>
                      </a:moveTo>
                      <a:lnTo>
                        <a:pt x="485" y="352"/>
                      </a:lnTo>
                      <a:lnTo>
                        <a:pt x="163" y="762"/>
                      </a:lnTo>
                      <a:lnTo>
                        <a:pt x="0" y="1101"/>
                      </a:lnTo>
                      <a:lnTo>
                        <a:pt x="59" y="1230"/>
                      </a:lnTo>
                      <a:lnTo>
                        <a:pt x="262" y="1201"/>
                      </a:lnTo>
                      <a:lnTo>
                        <a:pt x="578" y="914"/>
                      </a:lnTo>
                      <a:lnTo>
                        <a:pt x="876" y="534"/>
                      </a:lnTo>
                      <a:lnTo>
                        <a:pt x="1034" y="270"/>
                      </a:lnTo>
                      <a:lnTo>
                        <a:pt x="1064" y="84"/>
                      </a:lnTo>
                      <a:lnTo>
                        <a:pt x="977" y="0"/>
                      </a:lnTo>
                      <a:lnTo>
                        <a:pt x="836" y="65"/>
                      </a:lnTo>
                      <a:lnTo>
                        <a:pt x="969" y="107"/>
                      </a:lnTo>
                      <a:lnTo>
                        <a:pt x="876" y="352"/>
                      </a:lnTo>
                      <a:lnTo>
                        <a:pt x="690" y="656"/>
                      </a:lnTo>
                      <a:lnTo>
                        <a:pt x="350" y="1008"/>
                      </a:lnTo>
                      <a:lnTo>
                        <a:pt x="116" y="1114"/>
                      </a:lnTo>
                      <a:lnTo>
                        <a:pt x="135" y="943"/>
                      </a:lnTo>
                      <a:lnTo>
                        <a:pt x="437" y="504"/>
                      </a:lnTo>
                      <a:lnTo>
                        <a:pt x="831" y="118"/>
                      </a:lnTo>
                      <a:lnTo>
                        <a:pt x="741" y="129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43" name="Freeform 46"/>
                <p:cNvSpPr/>
                <p:nvPr userDrawn="1"/>
              </p:nvSpPr>
              <p:spPr>
                <a:xfrm rot="-3172564">
                  <a:off x="4860" y="179"/>
                  <a:ext cx="505" cy="89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2002" h="2521">
                      <a:moveTo>
                        <a:pt x="1941" y="0"/>
                      </a:moveTo>
                      <a:lnTo>
                        <a:pt x="0" y="2521"/>
                      </a:lnTo>
                      <a:lnTo>
                        <a:pt x="192" y="2450"/>
                      </a:lnTo>
                      <a:lnTo>
                        <a:pt x="2002" y="61"/>
                      </a:lnTo>
                      <a:lnTo>
                        <a:pt x="1941" y="0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44" name="Freeform 47"/>
                <p:cNvSpPr/>
                <p:nvPr userDrawn="1"/>
              </p:nvSpPr>
              <p:spPr>
                <a:xfrm rot="-3172564">
                  <a:off x="4903" y="-19"/>
                  <a:ext cx="758" cy="1344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3007" h="3771">
                      <a:moveTo>
                        <a:pt x="95" y="2844"/>
                      </a:moveTo>
                      <a:lnTo>
                        <a:pt x="394" y="2834"/>
                      </a:lnTo>
                      <a:lnTo>
                        <a:pt x="821" y="3009"/>
                      </a:lnTo>
                      <a:lnTo>
                        <a:pt x="681" y="2817"/>
                      </a:lnTo>
                      <a:lnTo>
                        <a:pt x="367" y="2703"/>
                      </a:lnTo>
                      <a:lnTo>
                        <a:pt x="637" y="2720"/>
                      </a:lnTo>
                      <a:lnTo>
                        <a:pt x="979" y="2870"/>
                      </a:lnTo>
                      <a:lnTo>
                        <a:pt x="2859" y="420"/>
                      </a:lnTo>
                      <a:lnTo>
                        <a:pt x="2578" y="148"/>
                      </a:lnTo>
                      <a:lnTo>
                        <a:pt x="2308" y="0"/>
                      </a:lnTo>
                      <a:lnTo>
                        <a:pt x="2692" y="78"/>
                      </a:lnTo>
                      <a:lnTo>
                        <a:pt x="3007" y="428"/>
                      </a:lnTo>
                      <a:lnTo>
                        <a:pt x="831" y="3273"/>
                      </a:lnTo>
                      <a:lnTo>
                        <a:pt x="481" y="3412"/>
                      </a:lnTo>
                      <a:lnTo>
                        <a:pt x="105" y="3771"/>
                      </a:lnTo>
                      <a:lnTo>
                        <a:pt x="0" y="3667"/>
                      </a:lnTo>
                      <a:lnTo>
                        <a:pt x="131" y="3631"/>
                      </a:lnTo>
                      <a:lnTo>
                        <a:pt x="376" y="3385"/>
                      </a:lnTo>
                      <a:lnTo>
                        <a:pt x="165" y="3273"/>
                      </a:lnTo>
                      <a:lnTo>
                        <a:pt x="165" y="3176"/>
                      </a:lnTo>
                      <a:lnTo>
                        <a:pt x="411" y="3298"/>
                      </a:lnTo>
                      <a:lnTo>
                        <a:pt x="411" y="3186"/>
                      </a:lnTo>
                      <a:lnTo>
                        <a:pt x="603" y="3220"/>
                      </a:lnTo>
                      <a:lnTo>
                        <a:pt x="428" y="3079"/>
                      </a:lnTo>
                      <a:lnTo>
                        <a:pt x="629" y="3062"/>
                      </a:lnTo>
                      <a:lnTo>
                        <a:pt x="95" y="2844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45" name="Freeform 48"/>
                <p:cNvSpPr/>
                <p:nvPr userDrawn="1"/>
              </p:nvSpPr>
              <p:spPr>
                <a:xfrm rot="-3172564">
                  <a:off x="5299" y="894"/>
                  <a:ext cx="169" cy="12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673" h="342">
                      <a:moveTo>
                        <a:pt x="0" y="80"/>
                      </a:moveTo>
                      <a:lnTo>
                        <a:pt x="255" y="106"/>
                      </a:lnTo>
                      <a:lnTo>
                        <a:pt x="639" y="342"/>
                      </a:lnTo>
                      <a:lnTo>
                        <a:pt x="673" y="289"/>
                      </a:lnTo>
                      <a:lnTo>
                        <a:pt x="447" y="114"/>
                      </a:lnTo>
                      <a:lnTo>
                        <a:pt x="26" y="0"/>
                      </a:lnTo>
                      <a:lnTo>
                        <a:pt x="0" y="80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46" name="Freeform 49"/>
                <p:cNvSpPr/>
                <p:nvPr userDrawn="1"/>
              </p:nvSpPr>
              <p:spPr>
                <a:xfrm rot="-3172564">
                  <a:off x="5253" y="803"/>
                  <a:ext cx="181" cy="144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716" h="403">
                      <a:moveTo>
                        <a:pt x="0" y="78"/>
                      </a:moveTo>
                      <a:lnTo>
                        <a:pt x="340" y="148"/>
                      </a:lnTo>
                      <a:lnTo>
                        <a:pt x="638" y="403"/>
                      </a:lnTo>
                      <a:lnTo>
                        <a:pt x="716" y="296"/>
                      </a:lnTo>
                      <a:lnTo>
                        <a:pt x="420" y="114"/>
                      </a:lnTo>
                      <a:lnTo>
                        <a:pt x="70" y="0"/>
                      </a:lnTo>
                      <a:lnTo>
                        <a:pt x="0" y="78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47" name="Freeform 50"/>
                <p:cNvSpPr/>
                <p:nvPr userDrawn="1"/>
              </p:nvSpPr>
              <p:spPr>
                <a:xfrm rot="-3172564">
                  <a:off x="4985" y="210"/>
                  <a:ext cx="181" cy="147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717" h="411">
                      <a:moveTo>
                        <a:pt x="0" y="78"/>
                      </a:moveTo>
                      <a:lnTo>
                        <a:pt x="316" y="139"/>
                      </a:lnTo>
                      <a:lnTo>
                        <a:pt x="649" y="411"/>
                      </a:lnTo>
                      <a:lnTo>
                        <a:pt x="717" y="314"/>
                      </a:lnTo>
                      <a:lnTo>
                        <a:pt x="394" y="87"/>
                      </a:lnTo>
                      <a:lnTo>
                        <a:pt x="54" y="0"/>
                      </a:lnTo>
                      <a:lnTo>
                        <a:pt x="0" y="78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48" name="Freeform 51"/>
                <p:cNvSpPr/>
                <p:nvPr userDrawn="1"/>
              </p:nvSpPr>
              <p:spPr>
                <a:xfrm rot="-3172564">
                  <a:off x="4949" y="139"/>
                  <a:ext cx="179" cy="13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709" h="386">
                      <a:moveTo>
                        <a:pt x="0" y="88"/>
                      </a:moveTo>
                      <a:lnTo>
                        <a:pt x="272" y="131"/>
                      </a:lnTo>
                      <a:lnTo>
                        <a:pt x="665" y="386"/>
                      </a:lnTo>
                      <a:lnTo>
                        <a:pt x="709" y="308"/>
                      </a:lnTo>
                      <a:lnTo>
                        <a:pt x="306" y="53"/>
                      </a:lnTo>
                      <a:lnTo>
                        <a:pt x="43" y="0"/>
                      </a:lnTo>
                      <a:lnTo>
                        <a:pt x="0" y="88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</p:grpSp>
        <p:sp>
          <p:nvSpPr>
            <p:cNvPr id="1038" name="Line 52"/>
            <p:cNvSpPr/>
            <p:nvPr userDrawn="1"/>
          </p:nvSpPr>
          <p:spPr>
            <a:xfrm>
              <a:off x="4870" y="84"/>
              <a:ext cx="42" cy="96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Freeform 2"/>
          <p:cNvSpPr/>
          <p:nvPr/>
        </p:nvSpPr>
        <p:spPr>
          <a:xfrm rot="-3172564">
            <a:off x="7777163" y="-14287"/>
            <a:ext cx="1162050" cy="2084387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2903" h="3686">
                <a:moveTo>
                  <a:pt x="2903" y="433"/>
                </a:moveTo>
                <a:lnTo>
                  <a:pt x="2565" y="80"/>
                </a:lnTo>
                <a:lnTo>
                  <a:pt x="2241" y="0"/>
                </a:lnTo>
                <a:lnTo>
                  <a:pt x="110" y="2811"/>
                </a:lnTo>
                <a:lnTo>
                  <a:pt x="110" y="3228"/>
                </a:lnTo>
                <a:lnTo>
                  <a:pt x="0" y="3631"/>
                </a:lnTo>
                <a:lnTo>
                  <a:pt x="72" y="3686"/>
                </a:lnTo>
                <a:lnTo>
                  <a:pt x="441" y="3355"/>
                </a:lnTo>
                <a:lnTo>
                  <a:pt x="740" y="3228"/>
                </a:lnTo>
                <a:lnTo>
                  <a:pt x="2903" y="43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/>
          <a:p>
            <a:endParaRPr lang="zh-CN" altLang="en-US" sz="1800"/>
          </a:p>
        </p:txBody>
      </p:sp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85800" y="152400"/>
            <a:ext cx="6870700" cy="1600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85800" y="1828800"/>
            <a:ext cx="7696200" cy="36576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3493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49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49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209FD15-7203-42AB-B6E8-71254F103DC7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2" name="Freeform 8"/>
          <p:cNvSpPr/>
          <p:nvPr/>
        </p:nvSpPr>
        <p:spPr>
          <a:xfrm rot="-3172564">
            <a:off x="7864475" y="23813"/>
            <a:ext cx="1165225" cy="2097087"/>
          </a:xfrm>
          <a:custGeom>
            <a:avLst/>
            <a:gdLst/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0"/>
              </a:cxn>
            </a:cxnLst>
            <a:pathLst>
              <a:path w="2911" h="3703">
                <a:moveTo>
                  <a:pt x="2293" y="0"/>
                </a:moveTo>
                <a:lnTo>
                  <a:pt x="130" y="2835"/>
                </a:lnTo>
                <a:lnTo>
                  <a:pt x="131" y="3201"/>
                </a:lnTo>
                <a:lnTo>
                  <a:pt x="0" y="3633"/>
                </a:lnTo>
                <a:lnTo>
                  <a:pt x="50" y="3703"/>
                </a:lnTo>
                <a:lnTo>
                  <a:pt x="422" y="3352"/>
                </a:lnTo>
                <a:lnTo>
                  <a:pt x="763" y="3220"/>
                </a:lnTo>
                <a:lnTo>
                  <a:pt x="2911" y="428"/>
                </a:lnTo>
                <a:lnTo>
                  <a:pt x="2589" y="96"/>
                </a:lnTo>
                <a:lnTo>
                  <a:pt x="2293" y="0"/>
                </a:lnTo>
                <a:close/>
              </a:path>
            </a:pathLst>
          </a:custGeom>
          <a:solidFill>
            <a:schemeClr val="folHlink">
              <a:alpha val="100000"/>
            </a:schemeClr>
          </a:solidFill>
          <a:ln w="9525">
            <a:noFill/>
          </a:ln>
        </p:spPr>
        <p:txBody>
          <a:bodyPr/>
          <a:p>
            <a:endParaRPr lang="zh-CN" altLang="en-US" sz="1800"/>
          </a:p>
        </p:txBody>
      </p:sp>
      <p:sp>
        <p:nvSpPr>
          <p:cNvPr id="1033" name="Freeform 9"/>
          <p:cNvSpPr/>
          <p:nvPr/>
        </p:nvSpPr>
        <p:spPr>
          <a:xfrm rot="-3172564">
            <a:off x="7831138" y="192088"/>
            <a:ext cx="1025525" cy="1571625"/>
          </a:xfrm>
          <a:custGeom>
            <a:avLst/>
            <a:gdLst/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0" y="2147483646"/>
              </a:cxn>
              <a:cxn ang="0">
                <a:pos x="0" y="2147483646"/>
              </a:cxn>
            </a:cxnLst>
            <a:pathLst>
              <a:path w="2561" h="2777">
                <a:moveTo>
                  <a:pt x="0" y="2485"/>
                </a:moveTo>
                <a:lnTo>
                  <a:pt x="432" y="2553"/>
                </a:lnTo>
                <a:lnTo>
                  <a:pt x="736" y="2777"/>
                </a:lnTo>
                <a:lnTo>
                  <a:pt x="2561" y="399"/>
                </a:lnTo>
                <a:lnTo>
                  <a:pt x="2118" y="82"/>
                </a:lnTo>
                <a:lnTo>
                  <a:pt x="1898" y="0"/>
                </a:lnTo>
                <a:lnTo>
                  <a:pt x="0" y="2485"/>
                </a:lnTo>
                <a:close/>
              </a:path>
            </a:pathLst>
          </a:custGeom>
          <a:solidFill>
            <a:schemeClr val="bg2">
              <a:alpha val="100000"/>
            </a:schemeClr>
          </a:solidFill>
          <a:ln w="9525">
            <a:noFill/>
          </a:ln>
        </p:spPr>
        <p:txBody>
          <a:bodyPr/>
          <a:p>
            <a:endParaRPr lang="zh-CN" altLang="en-US" sz="1800"/>
          </a:p>
        </p:txBody>
      </p:sp>
      <p:grpSp>
        <p:nvGrpSpPr>
          <p:cNvPr id="1034" name="Group 10"/>
          <p:cNvGrpSpPr/>
          <p:nvPr/>
        </p:nvGrpSpPr>
        <p:grpSpPr>
          <a:xfrm>
            <a:off x="7938" y="5540375"/>
            <a:ext cx="1784350" cy="1246188"/>
            <a:chOff x="5" y="3490"/>
            <a:chExt cx="1124" cy="785"/>
          </a:xfrm>
        </p:grpSpPr>
        <p:sp>
          <p:nvSpPr>
            <p:cNvPr id="1051" name="Freeform 11"/>
            <p:cNvSpPr/>
            <p:nvPr userDrawn="1"/>
          </p:nvSpPr>
          <p:spPr>
            <a:xfrm>
              <a:off x="24" y="3505"/>
              <a:ext cx="1089" cy="649"/>
            </a:xfrm>
            <a:custGeom>
              <a:avLst/>
              <a:gdLst/>
              <a:ahLst/>
              <a:cxnLst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</a:cxnLst>
              <a:pathLst>
                <a:path w="2177" h="1298">
                  <a:moveTo>
                    <a:pt x="1587" y="1260"/>
                  </a:moveTo>
                  <a:lnTo>
                    <a:pt x="1420" y="1106"/>
                  </a:lnTo>
                  <a:lnTo>
                    <a:pt x="1331" y="477"/>
                  </a:lnTo>
                  <a:lnTo>
                    <a:pt x="2139" y="330"/>
                  </a:lnTo>
                  <a:lnTo>
                    <a:pt x="2177" y="203"/>
                  </a:lnTo>
                  <a:lnTo>
                    <a:pt x="2099" y="100"/>
                  </a:lnTo>
                  <a:lnTo>
                    <a:pt x="1276" y="211"/>
                  </a:lnTo>
                  <a:lnTo>
                    <a:pt x="1219" y="32"/>
                  </a:lnTo>
                  <a:lnTo>
                    <a:pt x="1085" y="0"/>
                  </a:lnTo>
                  <a:lnTo>
                    <a:pt x="958" y="28"/>
                  </a:lnTo>
                  <a:lnTo>
                    <a:pt x="888" y="106"/>
                  </a:lnTo>
                  <a:lnTo>
                    <a:pt x="937" y="285"/>
                  </a:lnTo>
                  <a:lnTo>
                    <a:pt x="660" y="441"/>
                  </a:lnTo>
                  <a:lnTo>
                    <a:pt x="983" y="473"/>
                  </a:lnTo>
                  <a:lnTo>
                    <a:pt x="1112" y="889"/>
                  </a:lnTo>
                  <a:lnTo>
                    <a:pt x="141" y="469"/>
                  </a:lnTo>
                  <a:lnTo>
                    <a:pt x="46" y="509"/>
                  </a:lnTo>
                  <a:lnTo>
                    <a:pt x="0" y="636"/>
                  </a:lnTo>
                  <a:lnTo>
                    <a:pt x="55" y="779"/>
                  </a:lnTo>
                  <a:lnTo>
                    <a:pt x="1139" y="1288"/>
                  </a:lnTo>
                  <a:lnTo>
                    <a:pt x="1378" y="1256"/>
                  </a:lnTo>
                  <a:lnTo>
                    <a:pt x="1570" y="1298"/>
                  </a:lnTo>
                  <a:lnTo>
                    <a:pt x="1587" y="1260"/>
                  </a:lnTo>
                  <a:close/>
                </a:path>
              </a:pathLst>
            </a:custGeom>
            <a:solidFill>
              <a:srgbClr val="F8F8F8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 sz="1800"/>
            </a:p>
          </p:txBody>
        </p:sp>
        <p:sp>
          <p:nvSpPr>
            <p:cNvPr id="1052" name="Freeform 12"/>
            <p:cNvSpPr/>
            <p:nvPr userDrawn="1"/>
          </p:nvSpPr>
          <p:spPr>
            <a:xfrm>
              <a:off x="1022" y="3582"/>
              <a:ext cx="71" cy="129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</a:cxnLst>
              <a:pathLst>
                <a:path w="143" h="258">
                  <a:moveTo>
                    <a:pt x="0" y="7"/>
                  </a:moveTo>
                  <a:lnTo>
                    <a:pt x="120" y="0"/>
                  </a:lnTo>
                  <a:lnTo>
                    <a:pt x="143" y="233"/>
                  </a:lnTo>
                  <a:lnTo>
                    <a:pt x="8" y="258"/>
                  </a:lnTo>
                  <a:lnTo>
                    <a:pt x="0" y="7"/>
                  </a:lnTo>
                  <a:close/>
                </a:path>
              </a:pathLst>
            </a:custGeom>
            <a:solidFill>
              <a:schemeClr val="accent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 sz="1800"/>
            </a:p>
          </p:txBody>
        </p:sp>
        <p:sp>
          <p:nvSpPr>
            <p:cNvPr id="1053" name="Freeform 13"/>
            <p:cNvSpPr/>
            <p:nvPr userDrawn="1"/>
          </p:nvSpPr>
          <p:spPr>
            <a:xfrm>
              <a:off x="20" y="3774"/>
              <a:ext cx="792" cy="41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1586" h="821">
                  <a:moveTo>
                    <a:pt x="137" y="0"/>
                  </a:moveTo>
                  <a:lnTo>
                    <a:pt x="1331" y="519"/>
                  </a:lnTo>
                  <a:lnTo>
                    <a:pt x="1428" y="638"/>
                  </a:lnTo>
                  <a:lnTo>
                    <a:pt x="1586" y="792"/>
                  </a:lnTo>
                  <a:lnTo>
                    <a:pt x="1565" y="821"/>
                  </a:lnTo>
                  <a:lnTo>
                    <a:pt x="1350" y="787"/>
                  </a:lnTo>
                  <a:lnTo>
                    <a:pt x="1145" y="811"/>
                  </a:lnTo>
                  <a:lnTo>
                    <a:pt x="42" y="298"/>
                  </a:lnTo>
                  <a:lnTo>
                    <a:pt x="0" y="150"/>
                  </a:lnTo>
                  <a:lnTo>
                    <a:pt x="46" y="32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tx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 sz="1800"/>
            </a:p>
          </p:txBody>
        </p:sp>
        <p:sp>
          <p:nvSpPr>
            <p:cNvPr id="1054" name="Freeform 14"/>
            <p:cNvSpPr/>
            <p:nvPr userDrawn="1"/>
          </p:nvSpPr>
          <p:spPr>
            <a:xfrm>
              <a:off x="129" y="3808"/>
              <a:ext cx="525" cy="374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</a:cxnLst>
              <a:pathLst>
                <a:path w="1049" h="747">
                  <a:moveTo>
                    <a:pt x="0" y="325"/>
                  </a:moveTo>
                  <a:lnTo>
                    <a:pt x="922" y="747"/>
                  </a:lnTo>
                  <a:lnTo>
                    <a:pt x="939" y="534"/>
                  </a:lnTo>
                  <a:lnTo>
                    <a:pt x="1049" y="422"/>
                  </a:lnTo>
                  <a:lnTo>
                    <a:pt x="78" y="0"/>
                  </a:lnTo>
                  <a:lnTo>
                    <a:pt x="0" y="127"/>
                  </a:lnTo>
                  <a:lnTo>
                    <a:pt x="0" y="325"/>
                  </a:lnTo>
                  <a:close/>
                </a:path>
              </a:pathLst>
            </a:custGeom>
            <a:solidFill>
              <a:schemeClr val="bg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 sz="1800"/>
            </a:p>
          </p:txBody>
        </p:sp>
        <p:sp>
          <p:nvSpPr>
            <p:cNvPr id="1055" name="Freeform 15"/>
            <p:cNvSpPr/>
            <p:nvPr userDrawn="1"/>
          </p:nvSpPr>
          <p:spPr>
            <a:xfrm>
              <a:off x="485" y="3532"/>
              <a:ext cx="135" cy="121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</a:cxnLst>
              <a:pathLst>
                <a:path w="272" h="241">
                  <a:moveTo>
                    <a:pt x="0" y="28"/>
                  </a:moveTo>
                  <a:lnTo>
                    <a:pt x="160" y="0"/>
                  </a:lnTo>
                  <a:lnTo>
                    <a:pt x="251" y="36"/>
                  </a:lnTo>
                  <a:lnTo>
                    <a:pt x="272" y="139"/>
                  </a:lnTo>
                  <a:lnTo>
                    <a:pt x="164" y="146"/>
                  </a:lnTo>
                  <a:lnTo>
                    <a:pt x="32" y="241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chemeClr val="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 sz="1800"/>
            </a:p>
          </p:txBody>
        </p:sp>
        <p:sp>
          <p:nvSpPr>
            <p:cNvPr id="1056" name="Freeform 16"/>
            <p:cNvSpPr/>
            <p:nvPr userDrawn="1"/>
          </p:nvSpPr>
          <p:spPr>
            <a:xfrm>
              <a:off x="641" y="4163"/>
              <a:ext cx="76" cy="112"/>
            </a:xfrm>
            <a:custGeom>
              <a:avLst/>
              <a:gdLst/>
              <a:ahLst/>
              <a:cxnLst>
                <a:cxn ang="0">
                  <a:pos x="1" y="1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1" y="1"/>
                </a:cxn>
              </a:cxnLst>
              <a:pathLst>
                <a:path w="152" h="224">
                  <a:moveTo>
                    <a:pt x="152" y="4"/>
                  </a:moveTo>
                  <a:lnTo>
                    <a:pt x="152" y="224"/>
                  </a:lnTo>
                  <a:lnTo>
                    <a:pt x="0" y="8"/>
                  </a:lnTo>
                  <a:lnTo>
                    <a:pt x="72" y="0"/>
                  </a:lnTo>
                  <a:lnTo>
                    <a:pt x="152" y="4"/>
                  </a:lnTo>
                  <a:close/>
                </a:path>
              </a:pathLst>
            </a:custGeom>
            <a:solidFill>
              <a:schemeClr val="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 sz="1800"/>
            </a:p>
          </p:txBody>
        </p:sp>
        <p:sp>
          <p:nvSpPr>
            <p:cNvPr id="1057" name="Freeform 17"/>
            <p:cNvSpPr/>
            <p:nvPr userDrawn="1"/>
          </p:nvSpPr>
          <p:spPr>
            <a:xfrm>
              <a:off x="504" y="3607"/>
              <a:ext cx="193" cy="383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0" y="1"/>
                </a:cxn>
              </a:cxnLst>
              <a:pathLst>
                <a:path w="386" h="764">
                  <a:moveTo>
                    <a:pt x="0" y="80"/>
                  </a:moveTo>
                  <a:lnTo>
                    <a:pt x="87" y="0"/>
                  </a:lnTo>
                  <a:lnTo>
                    <a:pt x="232" y="6"/>
                  </a:lnTo>
                  <a:lnTo>
                    <a:pt x="386" y="764"/>
                  </a:lnTo>
                  <a:lnTo>
                    <a:pt x="279" y="720"/>
                  </a:lnTo>
                  <a:lnTo>
                    <a:pt x="152" y="677"/>
                  </a:lnTo>
                  <a:lnTo>
                    <a:pt x="0" y="80"/>
                  </a:lnTo>
                  <a:close/>
                </a:path>
              </a:pathLst>
            </a:custGeom>
            <a:solidFill>
              <a:schemeClr val="bg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 sz="1800"/>
            </a:p>
          </p:txBody>
        </p:sp>
        <p:sp>
          <p:nvSpPr>
            <p:cNvPr id="1058" name="Freeform 18"/>
            <p:cNvSpPr/>
            <p:nvPr userDrawn="1"/>
          </p:nvSpPr>
          <p:spPr>
            <a:xfrm>
              <a:off x="668" y="3590"/>
              <a:ext cx="364" cy="174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1" y="0"/>
                </a:cxn>
              </a:cxnLst>
              <a:pathLst>
                <a:path w="728" h="348">
                  <a:moveTo>
                    <a:pt x="692" y="0"/>
                  </a:moveTo>
                  <a:lnTo>
                    <a:pt x="0" y="106"/>
                  </a:lnTo>
                  <a:lnTo>
                    <a:pt x="28" y="348"/>
                  </a:lnTo>
                  <a:lnTo>
                    <a:pt x="715" y="237"/>
                  </a:lnTo>
                  <a:lnTo>
                    <a:pt x="728" y="43"/>
                  </a:lnTo>
                  <a:lnTo>
                    <a:pt x="692" y="0"/>
                  </a:lnTo>
                  <a:close/>
                </a:path>
              </a:pathLst>
            </a:custGeom>
            <a:solidFill>
              <a:schemeClr val="bg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 sz="1800"/>
            </a:p>
          </p:txBody>
        </p:sp>
        <p:sp>
          <p:nvSpPr>
            <p:cNvPr id="1059" name="Freeform 19"/>
            <p:cNvSpPr/>
            <p:nvPr userDrawn="1"/>
          </p:nvSpPr>
          <p:spPr>
            <a:xfrm>
              <a:off x="347" y="3693"/>
              <a:ext cx="156" cy="67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</a:cxnLst>
              <a:pathLst>
                <a:path w="312" h="135">
                  <a:moveTo>
                    <a:pt x="272" y="0"/>
                  </a:moveTo>
                  <a:lnTo>
                    <a:pt x="0" y="78"/>
                  </a:lnTo>
                  <a:lnTo>
                    <a:pt x="312" y="135"/>
                  </a:lnTo>
                  <a:lnTo>
                    <a:pt x="272" y="0"/>
                  </a:lnTo>
                  <a:close/>
                </a:path>
              </a:pathLst>
            </a:custGeom>
            <a:solidFill>
              <a:schemeClr val="accent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 sz="1800"/>
            </a:p>
          </p:txBody>
        </p:sp>
        <p:grpSp>
          <p:nvGrpSpPr>
            <p:cNvPr id="1060" name="Group 20"/>
            <p:cNvGrpSpPr/>
            <p:nvPr userDrawn="1"/>
          </p:nvGrpSpPr>
          <p:grpSpPr>
            <a:xfrm>
              <a:off x="5" y="3490"/>
              <a:ext cx="1124" cy="780"/>
              <a:chOff x="5" y="3490"/>
              <a:chExt cx="1124" cy="780"/>
            </a:xfrm>
          </p:grpSpPr>
          <p:grpSp>
            <p:nvGrpSpPr>
              <p:cNvPr id="1061" name="Group 21"/>
              <p:cNvGrpSpPr/>
              <p:nvPr userDrawn="1"/>
            </p:nvGrpSpPr>
            <p:grpSpPr>
              <a:xfrm>
                <a:off x="499" y="3562"/>
                <a:ext cx="548" cy="708"/>
                <a:chOff x="499" y="3562"/>
                <a:chExt cx="548" cy="708"/>
              </a:xfrm>
            </p:grpSpPr>
            <p:sp>
              <p:nvSpPr>
                <p:cNvPr id="1074" name="Freeform 22"/>
                <p:cNvSpPr/>
                <p:nvPr userDrawn="1"/>
              </p:nvSpPr>
              <p:spPr>
                <a:xfrm>
                  <a:off x="499" y="3587"/>
                  <a:ext cx="157" cy="87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313" h="175">
                      <a:moveTo>
                        <a:pt x="0" y="107"/>
                      </a:moveTo>
                      <a:lnTo>
                        <a:pt x="114" y="10"/>
                      </a:lnTo>
                      <a:lnTo>
                        <a:pt x="213" y="0"/>
                      </a:lnTo>
                      <a:lnTo>
                        <a:pt x="292" y="27"/>
                      </a:lnTo>
                      <a:lnTo>
                        <a:pt x="313" y="91"/>
                      </a:lnTo>
                      <a:lnTo>
                        <a:pt x="167" y="67"/>
                      </a:lnTo>
                      <a:lnTo>
                        <a:pt x="74" y="101"/>
                      </a:lnTo>
                      <a:lnTo>
                        <a:pt x="13" y="175"/>
                      </a:lnTo>
                      <a:lnTo>
                        <a:pt x="0" y="107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 sz="1800"/>
                </a:p>
              </p:txBody>
            </p:sp>
            <p:sp>
              <p:nvSpPr>
                <p:cNvPr id="1075" name="Freeform 23"/>
                <p:cNvSpPr/>
                <p:nvPr userDrawn="1"/>
              </p:nvSpPr>
              <p:spPr>
                <a:xfrm>
                  <a:off x="636" y="4137"/>
                  <a:ext cx="115" cy="133"/>
                </a:xfrm>
                <a:custGeom>
                  <a:avLst/>
                  <a:gdLst/>
                  <a:ahLst/>
                  <a:cxnLst>
                    <a:cxn ang="0">
                      <a:pos x="0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0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0" y="1"/>
                    </a:cxn>
                    <a:cxn ang="0">
                      <a:pos x="0" y="1"/>
                    </a:cxn>
                  </a:cxnLst>
                  <a:pathLst>
                    <a:path w="230" h="266">
                      <a:moveTo>
                        <a:pt x="0" y="40"/>
                      </a:moveTo>
                      <a:lnTo>
                        <a:pt x="160" y="266"/>
                      </a:lnTo>
                      <a:lnTo>
                        <a:pt x="230" y="251"/>
                      </a:lnTo>
                      <a:lnTo>
                        <a:pt x="223" y="17"/>
                      </a:lnTo>
                      <a:lnTo>
                        <a:pt x="166" y="0"/>
                      </a:lnTo>
                      <a:lnTo>
                        <a:pt x="179" y="197"/>
                      </a:lnTo>
                      <a:lnTo>
                        <a:pt x="71" y="4"/>
                      </a:lnTo>
                      <a:lnTo>
                        <a:pt x="0" y="40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 sz="1800"/>
                </a:p>
              </p:txBody>
            </p:sp>
            <p:sp>
              <p:nvSpPr>
                <p:cNvPr id="1076" name="Freeform 24"/>
                <p:cNvSpPr/>
                <p:nvPr userDrawn="1"/>
              </p:nvSpPr>
              <p:spPr>
                <a:xfrm>
                  <a:off x="1004" y="3562"/>
                  <a:ext cx="43" cy="117"/>
                </a:xfrm>
                <a:custGeom>
                  <a:avLst/>
                  <a:gdLst/>
                  <a:ahLst/>
                  <a:cxnLst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0" y="1"/>
                    </a:cxn>
                  </a:cxnLst>
                  <a:pathLst>
                    <a:path w="87" h="234">
                      <a:moveTo>
                        <a:pt x="0" y="19"/>
                      </a:moveTo>
                      <a:lnTo>
                        <a:pt x="36" y="93"/>
                      </a:lnTo>
                      <a:lnTo>
                        <a:pt x="44" y="154"/>
                      </a:lnTo>
                      <a:lnTo>
                        <a:pt x="27" y="234"/>
                      </a:lnTo>
                      <a:lnTo>
                        <a:pt x="80" y="220"/>
                      </a:lnTo>
                      <a:lnTo>
                        <a:pt x="87" y="116"/>
                      </a:lnTo>
                      <a:lnTo>
                        <a:pt x="46" y="0"/>
                      </a:lnTo>
                      <a:lnTo>
                        <a:pt x="0" y="19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 sz="1800"/>
                </a:p>
              </p:txBody>
            </p:sp>
          </p:grpSp>
          <p:sp>
            <p:nvSpPr>
              <p:cNvPr id="1062" name="Freeform 25"/>
              <p:cNvSpPr/>
              <p:nvPr userDrawn="1"/>
            </p:nvSpPr>
            <p:spPr>
              <a:xfrm>
                <a:off x="76" y="3732"/>
                <a:ext cx="595" cy="250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1" y="0"/>
                  </a:cxn>
                </a:cxnLst>
                <a:pathLst>
                  <a:path w="1190" h="500">
                    <a:moveTo>
                      <a:pt x="100" y="0"/>
                    </a:moveTo>
                    <a:lnTo>
                      <a:pt x="1190" y="490"/>
                    </a:lnTo>
                    <a:lnTo>
                      <a:pt x="1076" y="500"/>
                    </a:lnTo>
                    <a:lnTo>
                      <a:pt x="0" y="27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 sz="1800"/>
              </a:p>
            </p:txBody>
          </p:sp>
          <p:sp>
            <p:nvSpPr>
              <p:cNvPr id="1063" name="Freeform 26"/>
              <p:cNvSpPr/>
              <p:nvPr userDrawn="1"/>
            </p:nvSpPr>
            <p:spPr>
              <a:xfrm>
                <a:off x="260" y="3886"/>
                <a:ext cx="244" cy="148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0" y="1"/>
                  </a:cxn>
                </a:cxnLst>
                <a:pathLst>
                  <a:path w="489" h="296">
                    <a:moveTo>
                      <a:pt x="14" y="34"/>
                    </a:moveTo>
                    <a:lnTo>
                      <a:pt x="160" y="66"/>
                    </a:lnTo>
                    <a:lnTo>
                      <a:pt x="324" y="137"/>
                    </a:lnTo>
                    <a:lnTo>
                      <a:pt x="440" y="243"/>
                    </a:lnTo>
                    <a:lnTo>
                      <a:pt x="326" y="230"/>
                    </a:lnTo>
                    <a:lnTo>
                      <a:pt x="139" y="146"/>
                    </a:lnTo>
                    <a:lnTo>
                      <a:pt x="50" y="80"/>
                    </a:lnTo>
                    <a:lnTo>
                      <a:pt x="107" y="163"/>
                    </a:lnTo>
                    <a:lnTo>
                      <a:pt x="272" y="270"/>
                    </a:lnTo>
                    <a:lnTo>
                      <a:pt x="466" y="296"/>
                    </a:lnTo>
                    <a:lnTo>
                      <a:pt x="489" y="224"/>
                    </a:lnTo>
                    <a:lnTo>
                      <a:pt x="394" y="120"/>
                    </a:lnTo>
                    <a:lnTo>
                      <a:pt x="170" y="17"/>
                    </a:lnTo>
                    <a:lnTo>
                      <a:pt x="0" y="0"/>
                    </a:ln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 sz="1800"/>
              </a:p>
            </p:txBody>
          </p:sp>
          <p:sp>
            <p:nvSpPr>
              <p:cNvPr id="1064" name="Freeform 27"/>
              <p:cNvSpPr/>
              <p:nvPr userDrawn="1"/>
            </p:nvSpPr>
            <p:spPr>
              <a:xfrm>
                <a:off x="565" y="3680"/>
                <a:ext cx="107" cy="23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0" y="0"/>
                  </a:cxn>
                  <a:cxn ang="0">
                    <a:pos x="1" y="0"/>
                  </a:cxn>
                  <a:cxn ang="0">
                    <a:pos x="1" y="0"/>
                  </a:cxn>
                </a:cxnLst>
                <a:pathLst>
                  <a:path w="213" h="478">
                    <a:moveTo>
                      <a:pt x="24" y="0"/>
                    </a:moveTo>
                    <a:lnTo>
                      <a:pt x="91" y="25"/>
                    </a:lnTo>
                    <a:lnTo>
                      <a:pt x="80" y="192"/>
                    </a:lnTo>
                    <a:lnTo>
                      <a:pt x="106" y="327"/>
                    </a:lnTo>
                    <a:lnTo>
                      <a:pt x="213" y="451"/>
                    </a:lnTo>
                    <a:lnTo>
                      <a:pt x="97" y="478"/>
                    </a:lnTo>
                    <a:lnTo>
                      <a:pt x="30" y="344"/>
                    </a:lnTo>
                    <a:lnTo>
                      <a:pt x="0" y="57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 sz="1800"/>
              </a:p>
            </p:txBody>
          </p:sp>
          <p:grpSp>
            <p:nvGrpSpPr>
              <p:cNvPr id="1065" name="Group 28"/>
              <p:cNvGrpSpPr/>
              <p:nvPr userDrawn="1"/>
            </p:nvGrpSpPr>
            <p:grpSpPr>
              <a:xfrm>
                <a:off x="5" y="3490"/>
                <a:ext cx="1124" cy="678"/>
                <a:chOff x="5" y="3490"/>
                <a:chExt cx="1124" cy="678"/>
              </a:xfrm>
            </p:grpSpPr>
            <p:sp>
              <p:nvSpPr>
                <p:cNvPr id="1066" name="Freeform 29"/>
                <p:cNvSpPr/>
                <p:nvPr userDrawn="1"/>
              </p:nvSpPr>
              <p:spPr>
                <a:xfrm>
                  <a:off x="669" y="4048"/>
                  <a:ext cx="75" cy="87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1" y="1"/>
                    </a:cxn>
                    <a:cxn ang="0">
                      <a:pos x="0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0"/>
                    </a:cxn>
                    <a:cxn ang="0">
                      <a:pos x="1" y="0"/>
                    </a:cxn>
                  </a:cxnLst>
                  <a:pathLst>
                    <a:path w="150" h="173">
                      <a:moveTo>
                        <a:pt x="110" y="0"/>
                      </a:moveTo>
                      <a:lnTo>
                        <a:pt x="40" y="66"/>
                      </a:lnTo>
                      <a:lnTo>
                        <a:pt x="0" y="173"/>
                      </a:lnTo>
                      <a:lnTo>
                        <a:pt x="80" y="160"/>
                      </a:lnTo>
                      <a:lnTo>
                        <a:pt x="103" y="84"/>
                      </a:lnTo>
                      <a:lnTo>
                        <a:pt x="150" y="27"/>
                      </a:lnTo>
                      <a:lnTo>
                        <a:pt x="110" y="0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 sz="1800"/>
                </a:p>
              </p:txBody>
            </p:sp>
            <p:sp>
              <p:nvSpPr>
                <p:cNvPr id="1067" name="Freeform 30"/>
                <p:cNvSpPr/>
                <p:nvPr userDrawn="1"/>
              </p:nvSpPr>
              <p:spPr>
                <a:xfrm>
                  <a:off x="5" y="3728"/>
                  <a:ext cx="842" cy="440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1" y="1"/>
                    </a:cxn>
                    <a:cxn ang="0">
                      <a:pos x="0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</a:cxnLst>
                  <a:pathLst>
                    <a:path w="1684" h="880">
                      <a:moveTo>
                        <a:pt x="156" y="0"/>
                      </a:moveTo>
                      <a:lnTo>
                        <a:pt x="63" y="52"/>
                      </a:lnTo>
                      <a:lnTo>
                        <a:pt x="0" y="208"/>
                      </a:lnTo>
                      <a:lnTo>
                        <a:pt x="67" y="358"/>
                      </a:lnTo>
                      <a:lnTo>
                        <a:pt x="1182" y="867"/>
                      </a:lnTo>
                      <a:lnTo>
                        <a:pt x="1422" y="835"/>
                      </a:lnTo>
                      <a:lnTo>
                        <a:pt x="1616" y="880"/>
                      </a:lnTo>
                      <a:lnTo>
                        <a:pt x="1684" y="808"/>
                      </a:lnTo>
                      <a:lnTo>
                        <a:pt x="1502" y="664"/>
                      </a:lnTo>
                      <a:lnTo>
                        <a:pt x="1428" y="512"/>
                      </a:lnTo>
                      <a:lnTo>
                        <a:pt x="1369" y="527"/>
                      </a:lnTo>
                      <a:lnTo>
                        <a:pt x="1439" y="664"/>
                      </a:lnTo>
                      <a:lnTo>
                        <a:pt x="1578" y="810"/>
                      </a:lnTo>
                      <a:lnTo>
                        <a:pt x="1413" y="787"/>
                      </a:lnTo>
                      <a:lnTo>
                        <a:pt x="1219" y="814"/>
                      </a:lnTo>
                      <a:lnTo>
                        <a:pt x="1255" y="650"/>
                      </a:lnTo>
                      <a:lnTo>
                        <a:pt x="1338" y="538"/>
                      </a:lnTo>
                      <a:lnTo>
                        <a:pt x="1241" y="552"/>
                      </a:lnTo>
                      <a:lnTo>
                        <a:pt x="1165" y="658"/>
                      </a:lnTo>
                      <a:lnTo>
                        <a:pt x="1139" y="791"/>
                      </a:lnTo>
                      <a:lnTo>
                        <a:pt x="107" y="310"/>
                      </a:lnTo>
                      <a:lnTo>
                        <a:pt x="80" y="215"/>
                      </a:lnTo>
                      <a:lnTo>
                        <a:pt x="103" y="95"/>
                      </a:lnTo>
                      <a:lnTo>
                        <a:pt x="217" y="0"/>
                      </a:lnTo>
                      <a:lnTo>
                        <a:pt x="156" y="0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 sz="1800"/>
                </a:p>
              </p:txBody>
            </p:sp>
            <p:sp>
              <p:nvSpPr>
                <p:cNvPr id="1068" name="Freeform 31"/>
                <p:cNvSpPr/>
                <p:nvPr userDrawn="1"/>
              </p:nvSpPr>
              <p:spPr>
                <a:xfrm>
                  <a:off x="106" y="3770"/>
                  <a:ext cx="80" cy="167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0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</a:cxnLst>
                  <a:pathLst>
                    <a:path w="160" h="335">
                      <a:moveTo>
                        <a:pt x="116" y="0"/>
                      </a:moveTo>
                      <a:lnTo>
                        <a:pt x="19" y="106"/>
                      </a:lnTo>
                      <a:lnTo>
                        <a:pt x="0" y="230"/>
                      </a:lnTo>
                      <a:lnTo>
                        <a:pt x="33" y="314"/>
                      </a:lnTo>
                      <a:lnTo>
                        <a:pt x="94" y="335"/>
                      </a:lnTo>
                      <a:lnTo>
                        <a:pt x="76" y="154"/>
                      </a:lnTo>
                      <a:lnTo>
                        <a:pt x="160" y="17"/>
                      </a:lnTo>
                      <a:lnTo>
                        <a:pt x="116" y="0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 sz="1800"/>
                </a:p>
              </p:txBody>
            </p:sp>
            <p:sp>
              <p:nvSpPr>
                <p:cNvPr id="1069" name="Freeform 32"/>
                <p:cNvSpPr/>
                <p:nvPr userDrawn="1"/>
              </p:nvSpPr>
              <p:spPr>
                <a:xfrm>
                  <a:off x="449" y="3490"/>
                  <a:ext cx="322" cy="594"/>
                </a:xfrm>
                <a:custGeom>
                  <a:avLst/>
                  <a:gdLst/>
                  <a:ahLst/>
                  <a:cxnLst>
                    <a:cxn ang="0">
                      <a:pos x="1" y="1"/>
                    </a:cxn>
                    <a:cxn ang="0">
                      <a:pos x="0" y="1"/>
                    </a:cxn>
                    <a:cxn ang="0">
                      <a:pos x="1" y="1"/>
                    </a:cxn>
                    <a:cxn ang="0">
                      <a:pos x="1" y="0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</a:cxnLst>
                  <a:pathLst>
                    <a:path w="642" h="1188">
                      <a:moveTo>
                        <a:pt x="218" y="896"/>
                      </a:moveTo>
                      <a:lnTo>
                        <a:pt x="0" y="124"/>
                      </a:lnTo>
                      <a:lnTo>
                        <a:pt x="81" y="38"/>
                      </a:lnTo>
                      <a:lnTo>
                        <a:pt x="258" y="0"/>
                      </a:lnTo>
                      <a:lnTo>
                        <a:pt x="399" y="57"/>
                      </a:lnTo>
                      <a:lnTo>
                        <a:pt x="642" y="1188"/>
                      </a:lnTo>
                      <a:lnTo>
                        <a:pt x="555" y="1091"/>
                      </a:lnTo>
                      <a:lnTo>
                        <a:pt x="355" y="97"/>
                      </a:lnTo>
                      <a:lnTo>
                        <a:pt x="226" y="61"/>
                      </a:lnTo>
                      <a:lnTo>
                        <a:pt x="119" y="74"/>
                      </a:lnTo>
                      <a:lnTo>
                        <a:pt x="76" y="141"/>
                      </a:lnTo>
                      <a:lnTo>
                        <a:pt x="306" y="924"/>
                      </a:lnTo>
                      <a:lnTo>
                        <a:pt x="218" y="896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 sz="1800"/>
                </a:p>
              </p:txBody>
            </p:sp>
            <p:sp>
              <p:nvSpPr>
                <p:cNvPr id="1070" name="Freeform 33"/>
                <p:cNvSpPr/>
                <p:nvPr userDrawn="1"/>
              </p:nvSpPr>
              <p:spPr>
                <a:xfrm>
                  <a:off x="578" y="3650"/>
                  <a:ext cx="96" cy="252"/>
                </a:xfrm>
                <a:custGeom>
                  <a:avLst/>
                  <a:gdLst/>
                  <a:ahLst/>
                  <a:cxnLst>
                    <a:cxn ang="0">
                      <a:pos x="0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0"/>
                    </a:cxn>
                    <a:cxn ang="0">
                      <a:pos x="0" y="1"/>
                    </a:cxn>
                    <a:cxn ang="0">
                      <a:pos x="0" y="1"/>
                    </a:cxn>
                  </a:cxnLst>
                  <a:pathLst>
                    <a:path w="192" h="504">
                      <a:moveTo>
                        <a:pt x="0" y="27"/>
                      </a:moveTo>
                      <a:lnTo>
                        <a:pt x="76" y="194"/>
                      </a:lnTo>
                      <a:lnTo>
                        <a:pt x="113" y="318"/>
                      </a:lnTo>
                      <a:lnTo>
                        <a:pt x="116" y="504"/>
                      </a:lnTo>
                      <a:lnTo>
                        <a:pt x="192" y="504"/>
                      </a:lnTo>
                      <a:lnTo>
                        <a:pt x="187" y="360"/>
                      </a:lnTo>
                      <a:lnTo>
                        <a:pt x="162" y="208"/>
                      </a:lnTo>
                      <a:lnTo>
                        <a:pt x="99" y="59"/>
                      </a:lnTo>
                      <a:lnTo>
                        <a:pt x="63" y="0"/>
                      </a:lnTo>
                      <a:lnTo>
                        <a:pt x="0" y="27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 sz="1800"/>
                </a:p>
              </p:txBody>
            </p:sp>
            <p:sp>
              <p:nvSpPr>
                <p:cNvPr id="1071" name="Freeform 34"/>
                <p:cNvSpPr/>
                <p:nvPr userDrawn="1"/>
              </p:nvSpPr>
              <p:spPr>
                <a:xfrm>
                  <a:off x="328" y="3630"/>
                  <a:ext cx="195" cy="135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0"/>
                    </a:cxn>
                    <a:cxn ang="0">
                      <a:pos x="1" y="0"/>
                    </a:cxn>
                  </a:cxnLst>
                  <a:pathLst>
                    <a:path w="390" h="269">
                      <a:moveTo>
                        <a:pt x="297" y="0"/>
                      </a:moveTo>
                      <a:lnTo>
                        <a:pt x="257" y="17"/>
                      </a:lnTo>
                      <a:lnTo>
                        <a:pt x="253" y="66"/>
                      </a:lnTo>
                      <a:lnTo>
                        <a:pt x="0" y="169"/>
                      </a:lnTo>
                      <a:lnTo>
                        <a:pt x="0" y="222"/>
                      </a:lnTo>
                      <a:lnTo>
                        <a:pt x="284" y="226"/>
                      </a:lnTo>
                      <a:lnTo>
                        <a:pt x="320" y="269"/>
                      </a:lnTo>
                      <a:lnTo>
                        <a:pt x="390" y="266"/>
                      </a:lnTo>
                      <a:lnTo>
                        <a:pt x="383" y="190"/>
                      </a:lnTo>
                      <a:lnTo>
                        <a:pt x="116" y="176"/>
                      </a:lnTo>
                      <a:lnTo>
                        <a:pt x="333" y="89"/>
                      </a:lnTo>
                      <a:lnTo>
                        <a:pt x="297" y="0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 sz="1800"/>
                </a:p>
              </p:txBody>
            </p:sp>
            <p:sp>
              <p:nvSpPr>
                <p:cNvPr id="1072" name="Freeform 35"/>
                <p:cNvSpPr/>
                <p:nvPr userDrawn="1"/>
              </p:nvSpPr>
              <p:spPr>
                <a:xfrm>
                  <a:off x="658" y="3538"/>
                  <a:ext cx="471" cy="212"/>
                </a:xfrm>
                <a:custGeom>
                  <a:avLst/>
                  <a:gdLst/>
                  <a:ahLst/>
                  <a:cxnLst>
                    <a:cxn ang="0">
                      <a:pos x="0" y="1"/>
                    </a:cxn>
                    <a:cxn ang="0">
                      <a:pos x="1" y="0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</a:cxnLst>
                  <a:pathLst>
                    <a:path w="941" h="424">
                      <a:moveTo>
                        <a:pt x="0" y="131"/>
                      </a:moveTo>
                      <a:lnTo>
                        <a:pt x="863" y="0"/>
                      </a:lnTo>
                      <a:lnTo>
                        <a:pt x="926" y="78"/>
                      </a:lnTo>
                      <a:lnTo>
                        <a:pt x="941" y="181"/>
                      </a:lnTo>
                      <a:lnTo>
                        <a:pt x="903" y="282"/>
                      </a:lnTo>
                      <a:lnTo>
                        <a:pt x="57" y="424"/>
                      </a:lnTo>
                      <a:lnTo>
                        <a:pt x="53" y="384"/>
                      </a:lnTo>
                      <a:lnTo>
                        <a:pt x="863" y="242"/>
                      </a:lnTo>
                      <a:lnTo>
                        <a:pt x="893" y="145"/>
                      </a:lnTo>
                      <a:lnTo>
                        <a:pt x="840" y="57"/>
                      </a:lnTo>
                      <a:lnTo>
                        <a:pt x="0" y="185"/>
                      </a:lnTo>
                      <a:lnTo>
                        <a:pt x="0" y="131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 sz="1800"/>
                </a:p>
              </p:txBody>
            </p:sp>
            <p:sp>
              <p:nvSpPr>
                <p:cNvPr id="1073" name="Freeform 36"/>
                <p:cNvSpPr/>
                <p:nvPr userDrawn="1"/>
              </p:nvSpPr>
              <p:spPr>
                <a:xfrm>
                  <a:off x="717" y="3606"/>
                  <a:ext cx="245" cy="86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488" h="173">
                      <a:moveTo>
                        <a:pt x="0" y="126"/>
                      </a:moveTo>
                      <a:lnTo>
                        <a:pt x="66" y="173"/>
                      </a:lnTo>
                      <a:lnTo>
                        <a:pt x="222" y="166"/>
                      </a:lnTo>
                      <a:lnTo>
                        <a:pt x="418" y="116"/>
                      </a:lnTo>
                      <a:lnTo>
                        <a:pt x="488" y="42"/>
                      </a:lnTo>
                      <a:lnTo>
                        <a:pt x="443" y="2"/>
                      </a:lnTo>
                      <a:lnTo>
                        <a:pt x="253" y="0"/>
                      </a:lnTo>
                      <a:lnTo>
                        <a:pt x="110" y="12"/>
                      </a:lnTo>
                      <a:lnTo>
                        <a:pt x="15" y="76"/>
                      </a:lnTo>
                      <a:lnTo>
                        <a:pt x="112" y="95"/>
                      </a:lnTo>
                      <a:lnTo>
                        <a:pt x="275" y="53"/>
                      </a:lnTo>
                      <a:lnTo>
                        <a:pt x="416" y="53"/>
                      </a:lnTo>
                      <a:lnTo>
                        <a:pt x="268" y="110"/>
                      </a:lnTo>
                      <a:lnTo>
                        <a:pt x="142" y="126"/>
                      </a:lnTo>
                      <a:lnTo>
                        <a:pt x="0" y="126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 sz="1800"/>
                </a:p>
              </p:txBody>
            </p:sp>
          </p:grpSp>
        </p:grpSp>
      </p:grpSp>
      <p:grpSp>
        <p:nvGrpSpPr>
          <p:cNvPr id="1035" name="Group 37"/>
          <p:cNvGrpSpPr/>
          <p:nvPr/>
        </p:nvGrpSpPr>
        <p:grpSpPr>
          <a:xfrm>
            <a:off x="8680450" y="2116138"/>
            <a:ext cx="385763" cy="4308475"/>
            <a:chOff x="5468" y="1333"/>
            <a:chExt cx="243" cy="2714"/>
          </a:xfrm>
        </p:grpSpPr>
        <p:sp>
          <p:nvSpPr>
            <p:cNvPr id="1049" name="Freeform 38"/>
            <p:cNvSpPr/>
            <p:nvPr userDrawn="1"/>
          </p:nvSpPr>
          <p:spPr>
            <a:xfrm flipH="1">
              <a:off x="5468" y="2620"/>
              <a:ext cx="205" cy="142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772" h="3266">
                  <a:moveTo>
                    <a:pt x="692" y="3156"/>
                  </a:moveTo>
                  <a:lnTo>
                    <a:pt x="380" y="2945"/>
                  </a:lnTo>
                  <a:lnTo>
                    <a:pt x="319" y="2783"/>
                  </a:lnTo>
                  <a:lnTo>
                    <a:pt x="371" y="2542"/>
                  </a:lnTo>
                  <a:lnTo>
                    <a:pt x="591" y="2251"/>
                  </a:lnTo>
                  <a:lnTo>
                    <a:pt x="641" y="2070"/>
                  </a:lnTo>
                  <a:lnTo>
                    <a:pt x="591" y="1948"/>
                  </a:lnTo>
                  <a:lnTo>
                    <a:pt x="401" y="1859"/>
                  </a:lnTo>
                  <a:lnTo>
                    <a:pt x="361" y="1747"/>
                  </a:lnTo>
                  <a:lnTo>
                    <a:pt x="430" y="1587"/>
                  </a:lnTo>
                  <a:lnTo>
                    <a:pt x="741" y="1156"/>
                  </a:lnTo>
                  <a:lnTo>
                    <a:pt x="772" y="945"/>
                  </a:lnTo>
                  <a:lnTo>
                    <a:pt x="692" y="713"/>
                  </a:lnTo>
                  <a:lnTo>
                    <a:pt x="430" y="603"/>
                  </a:lnTo>
                  <a:lnTo>
                    <a:pt x="200" y="422"/>
                  </a:lnTo>
                  <a:lnTo>
                    <a:pt x="0" y="0"/>
                  </a:lnTo>
                  <a:lnTo>
                    <a:pt x="29" y="382"/>
                  </a:lnTo>
                  <a:lnTo>
                    <a:pt x="179" y="612"/>
                  </a:lnTo>
                  <a:lnTo>
                    <a:pt x="380" y="753"/>
                  </a:lnTo>
                  <a:lnTo>
                    <a:pt x="601" y="833"/>
                  </a:lnTo>
                  <a:lnTo>
                    <a:pt x="612" y="1044"/>
                  </a:lnTo>
                  <a:lnTo>
                    <a:pt x="500" y="1266"/>
                  </a:lnTo>
                  <a:lnTo>
                    <a:pt x="240" y="1658"/>
                  </a:lnTo>
                  <a:lnTo>
                    <a:pt x="230" y="1909"/>
                  </a:lnTo>
                  <a:lnTo>
                    <a:pt x="471" y="2049"/>
                  </a:lnTo>
                  <a:lnTo>
                    <a:pt x="460" y="2180"/>
                  </a:lnTo>
                  <a:lnTo>
                    <a:pt x="249" y="2452"/>
                  </a:lnTo>
                  <a:lnTo>
                    <a:pt x="160" y="2713"/>
                  </a:lnTo>
                  <a:lnTo>
                    <a:pt x="240" y="2994"/>
                  </a:lnTo>
                  <a:lnTo>
                    <a:pt x="430" y="3144"/>
                  </a:lnTo>
                  <a:lnTo>
                    <a:pt x="671" y="3266"/>
                  </a:lnTo>
                  <a:lnTo>
                    <a:pt x="692" y="3156"/>
                  </a:lnTo>
                  <a:close/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 sz="1800"/>
            </a:p>
          </p:txBody>
        </p:sp>
        <p:sp>
          <p:nvSpPr>
            <p:cNvPr id="1050" name="Freeform 39"/>
            <p:cNvSpPr/>
            <p:nvPr userDrawn="1"/>
          </p:nvSpPr>
          <p:spPr>
            <a:xfrm flipH="1">
              <a:off x="5506" y="1333"/>
              <a:ext cx="205" cy="1633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</a:cxnLst>
              <a:pathLst>
                <a:path w="772" h="3266">
                  <a:moveTo>
                    <a:pt x="692" y="3156"/>
                  </a:moveTo>
                  <a:lnTo>
                    <a:pt x="380" y="2945"/>
                  </a:lnTo>
                  <a:lnTo>
                    <a:pt x="319" y="2783"/>
                  </a:lnTo>
                  <a:lnTo>
                    <a:pt x="371" y="2542"/>
                  </a:lnTo>
                  <a:lnTo>
                    <a:pt x="591" y="2251"/>
                  </a:lnTo>
                  <a:lnTo>
                    <a:pt x="641" y="2070"/>
                  </a:lnTo>
                  <a:lnTo>
                    <a:pt x="591" y="1948"/>
                  </a:lnTo>
                  <a:lnTo>
                    <a:pt x="401" y="1859"/>
                  </a:lnTo>
                  <a:lnTo>
                    <a:pt x="361" y="1747"/>
                  </a:lnTo>
                  <a:lnTo>
                    <a:pt x="430" y="1587"/>
                  </a:lnTo>
                  <a:lnTo>
                    <a:pt x="741" y="1156"/>
                  </a:lnTo>
                  <a:lnTo>
                    <a:pt x="772" y="945"/>
                  </a:lnTo>
                  <a:lnTo>
                    <a:pt x="692" y="713"/>
                  </a:lnTo>
                  <a:lnTo>
                    <a:pt x="430" y="603"/>
                  </a:lnTo>
                  <a:lnTo>
                    <a:pt x="200" y="422"/>
                  </a:lnTo>
                  <a:lnTo>
                    <a:pt x="0" y="0"/>
                  </a:lnTo>
                  <a:lnTo>
                    <a:pt x="29" y="382"/>
                  </a:lnTo>
                  <a:lnTo>
                    <a:pt x="179" y="612"/>
                  </a:lnTo>
                  <a:lnTo>
                    <a:pt x="380" y="753"/>
                  </a:lnTo>
                  <a:lnTo>
                    <a:pt x="601" y="833"/>
                  </a:lnTo>
                  <a:lnTo>
                    <a:pt x="612" y="1044"/>
                  </a:lnTo>
                  <a:lnTo>
                    <a:pt x="500" y="1266"/>
                  </a:lnTo>
                  <a:lnTo>
                    <a:pt x="240" y="1658"/>
                  </a:lnTo>
                  <a:lnTo>
                    <a:pt x="230" y="1909"/>
                  </a:lnTo>
                  <a:lnTo>
                    <a:pt x="471" y="2049"/>
                  </a:lnTo>
                  <a:lnTo>
                    <a:pt x="460" y="2180"/>
                  </a:lnTo>
                  <a:lnTo>
                    <a:pt x="249" y="2452"/>
                  </a:lnTo>
                  <a:lnTo>
                    <a:pt x="160" y="2713"/>
                  </a:lnTo>
                  <a:lnTo>
                    <a:pt x="240" y="2994"/>
                  </a:lnTo>
                  <a:lnTo>
                    <a:pt x="430" y="3144"/>
                  </a:lnTo>
                  <a:lnTo>
                    <a:pt x="671" y="3266"/>
                  </a:lnTo>
                  <a:lnTo>
                    <a:pt x="692" y="3156"/>
                  </a:lnTo>
                  <a:close/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 sz="1800"/>
            </a:p>
          </p:txBody>
        </p:sp>
      </p:grpSp>
      <p:grpSp>
        <p:nvGrpSpPr>
          <p:cNvPr id="1036" name="Group 40"/>
          <p:cNvGrpSpPr/>
          <p:nvPr/>
        </p:nvGrpSpPr>
        <p:grpSpPr>
          <a:xfrm>
            <a:off x="7318375" y="90488"/>
            <a:ext cx="2133600" cy="1911350"/>
            <a:chOff x="4610" y="57"/>
            <a:chExt cx="1344" cy="1204"/>
          </a:xfrm>
        </p:grpSpPr>
        <p:grpSp>
          <p:nvGrpSpPr>
            <p:cNvPr id="1037" name="Group 41"/>
            <p:cNvGrpSpPr/>
            <p:nvPr userDrawn="1"/>
          </p:nvGrpSpPr>
          <p:grpSpPr>
            <a:xfrm>
              <a:off x="4610" y="57"/>
              <a:ext cx="1344" cy="1204"/>
              <a:chOff x="4610" y="57"/>
              <a:chExt cx="1344" cy="1204"/>
            </a:xfrm>
          </p:grpSpPr>
          <p:sp>
            <p:nvSpPr>
              <p:cNvPr id="1039" name="Freeform 42"/>
              <p:cNvSpPr/>
              <p:nvPr userDrawn="1"/>
            </p:nvSpPr>
            <p:spPr>
              <a:xfrm rot="-3172564">
                <a:off x="5430" y="1086"/>
                <a:ext cx="62" cy="28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45" h="806">
                    <a:moveTo>
                      <a:pt x="123" y="9"/>
                    </a:moveTo>
                    <a:lnTo>
                      <a:pt x="131" y="342"/>
                    </a:lnTo>
                    <a:lnTo>
                      <a:pt x="0" y="806"/>
                    </a:lnTo>
                    <a:lnTo>
                      <a:pt x="79" y="789"/>
                    </a:lnTo>
                    <a:lnTo>
                      <a:pt x="218" y="376"/>
                    </a:lnTo>
                    <a:lnTo>
                      <a:pt x="245" y="0"/>
                    </a:lnTo>
                    <a:lnTo>
                      <a:pt x="123" y="9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 sz="1800"/>
              </a:p>
            </p:txBody>
          </p:sp>
          <p:grpSp>
            <p:nvGrpSpPr>
              <p:cNvPr id="1040" name="Group 43"/>
              <p:cNvGrpSpPr/>
              <p:nvPr userDrawn="1"/>
            </p:nvGrpSpPr>
            <p:grpSpPr>
              <a:xfrm>
                <a:off x="4610" y="57"/>
                <a:ext cx="1344" cy="985"/>
                <a:chOff x="4610" y="57"/>
                <a:chExt cx="1344" cy="985"/>
              </a:xfrm>
            </p:grpSpPr>
            <p:sp>
              <p:nvSpPr>
                <p:cNvPr id="1041" name="Freeform 44"/>
                <p:cNvSpPr/>
                <p:nvPr userDrawn="1"/>
              </p:nvSpPr>
              <p:spPr>
                <a:xfrm rot="-3172564">
                  <a:off x="4966" y="71"/>
                  <a:ext cx="153" cy="125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604" h="349">
                      <a:moveTo>
                        <a:pt x="0" y="0"/>
                      </a:moveTo>
                      <a:lnTo>
                        <a:pt x="298" y="184"/>
                      </a:lnTo>
                      <a:lnTo>
                        <a:pt x="500" y="349"/>
                      </a:lnTo>
                      <a:lnTo>
                        <a:pt x="604" y="140"/>
                      </a:lnTo>
                      <a:lnTo>
                        <a:pt x="359" y="9"/>
                      </a:lnTo>
                      <a:lnTo>
                        <a:pt x="464" y="184"/>
                      </a:lnTo>
                      <a:lnTo>
                        <a:pt x="131" y="1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 sz="1800"/>
                </a:p>
              </p:txBody>
            </p:sp>
            <p:sp>
              <p:nvSpPr>
                <p:cNvPr id="1042" name="Freeform 45"/>
                <p:cNvSpPr/>
                <p:nvPr userDrawn="1"/>
              </p:nvSpPr>
              <p:spPr>
                <a:xfrm rot="-3172564">
                  <a:off x="5050" y="329"/>
                  <a:ext cx="269" cy="43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1064" h="1230">
                      <a:moveTo>
                        <a:pt x="741" y="129"/>
                      </a:moveTo>
                      <a:lnTo>
                        <a:pt x="485" y="352"/>
                      </a:lnTo>
                      <a:lnTo>
                        <a:pt x="163" y="762"/>
                      </a:lnTo>
                      <a:lnTo>
                        <a:pt x="0" y="1101"/>
                      </a:lnTo>
                      <a:lnTo>
                        <a:pt x="59" y="1230"/>
                      </a:lnTo>
                      <a:lnTo>
                        <a:pt x="262" y="1201"/>
                      </a:lnTo>
                      <a:lnTo>
                        <a:pt x="578" y="914"/>
                      </a:lnTo>
                      <a:lnTo>
                        <a:pt x="876" y="534"/>
                      </a:lnTo>
                      <a:lnTo>
                        <a:pt x="1034" y="270"/>
                      </a:lnTo>
                      <a:lnTo>
                        <a:pt x="1064" y="84"/>
                      </a:lnTo>
                      <a:lnTo>
                        <a:pt x="977" y="0"/>
                      </a:lnTo>
                      <a:lnTo>
                        <a:pt x="836" y="65"/>
                      </a:lnTo>
                      <a:lnTo>
                        <a:pt x="969" y="107"/>
                      </a:lnTo>
                      <a:lnTo>
                        <a:pt x="876" y="352"/>
                      </a:lnTo>
                      <a:lnTo>
                        <a:pt x="690" y="656"/>
                      </a:lnTo>
                      <a:lnTo>
                        <a:pt x="350" y="1008"/>
                      </a:lnTo>
                      <a:lnTo>
                        <a:pt x="116" y="1114"/>
                      </a:lnTo>
                      <a:lnTo>
                        <a:pt x="135" y="943"/>
                      </a:lnTo>
                      <a:lnTo>
                        <a:pt x="437" y="504"/>
                      </a:lnTo>
                      <a:lnTo>
                        <a:pt x="831" y="118"/>
                      </a:lnTo>
                      <a:lnTo>
                        <a:pt x="741" y="129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 sz="1800"/>
                </a:p>
              </p:txBody>
            </p:sp>
            <p:sp>
              <p:nvSpPr>
                <p:cNvPr id="1043" name="Freeform 46"/>
                <p:cNvSpPr/>
                <p:nvPr userDrawn="1"/>
              </p:nvSpPr>
              <p:spPr>
                <a:xfrm rot="-3172564">
                  <a:off x="4860" y="179"/>
                  <a:ext cx="505" cy="89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2002" h="2521">
                      <a:moveTo>
                        <a:pt x="1941" y="0"/>
                      </a:moveTo>
                      <a:lnTo>
                        <a:pt x="0" y="2521"/>
                      </a:lnTo>
                      <a:lnTo>
                        <a:pt x="192" y="2450"/>
                      </a:lnTo>
                      <a:lnTo>
                        <a:pt x="2002" y="61"/>
                      </a:lnTo>
                      <a:lnTo>
                        <a:pt x="1941" y="0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 sz="1800"/>
                </a:p>
              </p:txBody>
            </p:sp>
            <p:sp>
              <p:nvSpPr>
                <p:cNvPr id="1044" name="Freeform 47"/>
                <p:cNvSpPr/>
                <p:nvPr userDrawn="1"/>
              </p:nvSpPr>
              <p:spPr>
                <a:xfrm rot="-3172564">
                  <a:off x="4903" y="-19"/>
                  <a:ext cx="758" cy="1344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3007" h="3771">
                      <a:moveTo>
                        <a:pt x="95" y="2844"/>
                      </a:moveTo>
                      <a:lnTo>
                        <a:pt x="394" y="2834"/>
                      </a:lnTo>
                      <a:lnTo>
                        <a:pt x="821" y="3009"/>
                      </a:lnTo>
                      <a:lnTo>
                        <a:pt x="681" y="2817"/>
                      </a:lnTo>
                      <a:lnTo>
                        <a:pt x="367" y="2703"/>
                      </a:lnTo>
                      <a:lnTo>
                        <a:pt x="637" y="2720"/>
                      </a:lnTo>
                      <a:lnTo>
                        <a:pt x="979" y="2870"/>
                      </a:lnTo>
                      <a:lnTo>
                        <a:pt x="2859" y="420"/>
                      </a:lnTo>
                      <a:lnTo>
                        <a:pt x="2578" y="148"/>
                      </a:lnTo>
                      <a:lnTo>
                        <a:pt x="2308" y="0"/>
                      </a:lnTo>
                      <a:lnTo>
                        <a:pt x="2692" y="78"/>
                      </a:lnTo>
                      <a:lnTo>
                        <a:pt x="3007" y="428"/>
                      </a:lnTo>
                      <a:lnTo>
                        <a:pt x="831" y="3273"/>
                      </a:lnTo>
                      <a:lnTo>
                        <a:pt x="481" y="3412"/>
                      </a:lnTo>
                      <a:lnTo>
                        <a:pt x="105" y="3771"/>
                      </a:lnTo>
                      <a:lnTo>
                        <a:pt x="0" y="3667"/>
                      </a:lnTo>
                      <a:lnTo>
                        <a:pt x="131" y="3631"/>
                      </a:lnTo>
                      <a:lnTo>
                        <a:pt x="376" y="3385"/>
                      </a:lnTo>
                      <a:lnTo>
                        <a:pt x="165" y="3273"/>
                      </a:lnTo>
                      <a:lnTo>
                        <a:pt x="165" y="3176"/>
                      </a:lnTo>
                      <a:lnTo>
                        <a:pt x="411" y="3298"/>
                      </a:lnTo>
                      <a:lnTo>
                        <a:pt x="411" y="3186"/>
                      </a:lnTo>
                      <a:lnTo>
                        <a:pt x="603" y="3220"/>
                      </a:lnTo>
                      <a:lnTo>
                        <a:pt x="428" y="3079"/>
                      </a:lnTo>
                      <a:lnTo>
                        <a:pt x="629" y="3062"/>
                      </a:lnTo>
                      <a:lnTo>
                        <a:pt x="95" y="2844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 sz="1800"/>
                </a:p>
              </p:txBody>
            </p:sp>
            <p:sp>
              <p:nvSpPr>
                <p:cNvPr id="1045" name="Freeform 48"/>
                <p:cNvSpPr/>
                <p:nvPr userDrawn="1"/>
              </p:nvSpPr>
              <p:spPr>
                <a:xfrm rot="-3172564">
                  <a:off x="5299" y="894"/>
                  <a:ext cx="169" cy="12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673" h="342">
                      <a:moveTo>
                        <a:pt x="0" y="80"/>
                      </a:moveTo>
                      <a:lnTo>
                        <a:pt x="255" y="106"/>
                      </a:lnTo>
                      <a:lnTo>
                        <a:pt x="639" y="342"/>
                      </a:lnTo>
                      <a:lnTo>
                        <a:pt x="673" y="289"/>
                      </a:lnTo>
                      <a:lnTo>
                        <a:pt x="447" y="114"/>
                      </a:lnTo>
                      <a:lnTo>
                        <a:pt x="26" y="0"/>
                      </a:lnTo>
                      <a:lnTo>
                        <a:pt x="0" y="80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 sz="1800"/>
                </a:p>
              </p:txBody>
            </p:sp>
            <p:sp>
              <p:nvSpPr>
                <p:cNvPr id="1046" name="Freeform 49"/>
                <p:cNvSpPr/>
                <p:nvPr userDrawn="1"/>
              </p:nvSpPr>
              <p:spPr>
                <a:xfrm rot="-3172564">
                  <a:off x="5253" y="803"/>
                  <a:ext cx="181" cy="144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716" h="403">
                      <a:moveTo>
                        <a:pt x="0" y="78"/>
                      </a:moveTo>
                      <a:lnTo>
                        <a:pt x="340" y="148"/>
                      </a:lnTo>
                      <a:lnTo>
                        <a:pt x="638" y="403"/>
                      </a:lnTo>
                      <a:lnTo>
                        <a:pt x="716" y="296"/>
                      </a:lnTo>
                      <a:lnTo>
                        <a:pt x="420" y="114"/>
                      </a:lnTo>
                      <a:lnTo>
                        <a:pt x="70" y="0"/>
                      </a:lnTo>
                      <a:lnTo>
                        <a:pt x="0" y="78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 sz="1800"/>
                </a:p>
              </p:txBody>
            </p:sp>
            <p:sp>
              <p:nvSpPr>
                <p:cNvPr id="1047" name="Freeform 50"/>
                <p:cNvSpPr/>
                <p:nvPr userDrawn="1"/>
              </p:nvSpPr>
              <p:spPr>
                <a:xfrm rot="-3172564">
                  <a:off x="4985" y="210"/>
                  <a:ext cx="181" cy="147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717" h="411">
                      <a:moveTo>
                        <a:pt x="0" y="78"/>
                      </a:moveTo>
                      <a:lnTo>
                        <a:pt x="316" y="139"/>
                      </a:lnTo>
                      <a:lnTo>
                        <a:pt x="649" y="411"/>
                      </a:lnTo>
                      <a:lnTo>
                        <a:pt x="717" y="314"/>
                      </a:lnTo>
                      <a:lnTo>
                        <a:pt x="394" y="87"/>
                      </a:lnTo>
                      <a:lnTo>
                        <a:pt x="54" y="0"/>
                      </a:lnTo>
                      <a:lnTo>
                        <a:pt x="0" y="78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 sz="1800"/>
                </a:p>
              </p:txBody>
            </p:sp>
            <p:sp>
              <p:nvSpPr>
                <p:cNvPr id="1048" name="Freeform 51"/>
                <p:cNvSpPr/>
                <p:nvPr userDrawn="1"/>
              </p:nvSpPr>
              <p:spPr>
                <a:xfrm rot="-3172564">
                  <a:off x="4949" y="139"/>
                  <a:ext cx="179" cy="13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709" h="386">
                      <a:moveTo>
                        <a:pt x="0" y="88"/>
                      </a:moveTo>
                      <a:lnTo>
                        <a:pt x="272" y="131"/>
                      </a:lnTo>
                      <a:lnTo>
                        <a:pt x="665" y="386"/>
                      </a:lnTo>
                      <a:lnTo>
                        <a:pt x="709" y="308"/>
                      </a:lnTo>
                      <a:lnTo>
                        <a:pt x="306" y="53"/>
                      </a:lnTo>
                      <a:lnTo>
                        <a:pt x="43" y="0"/>
                      </a:lnTo>
                      <a:lnTo>
                        <a:pt x="0" y="88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 sz="1800"/>
                </a:p>
              </p:txBody>
            </p:sp>
          </p:grpSp>
        </p:grpSp>
        <p:sp>
          <p:nvSpPr>
            <p:cNvPr id="1038" name="Line 52"/>
            <p:cNvSpPr/>
            <p:nvPr userDrawn="1"/>
          </p:nvSpPr>
          <p:spPr>
            <a:xfrm>
              <a:off x="4870" y="84"/>
              <a:ext cx="42" cy="96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audio" Target="../media/audio3.wav"/><Relationship Id="rId2" Type="http://schemas.openxmlformats.org/officeDocument/2006/relationships/audio" Target="../media/audio1.wav"/><Relationship Id="rId1" Type="http://schemas.openxmlformats.org/officeDocument/2006/relationships/audio" Target="../media/audio2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audio" Target="../media/audio5.wav"/><Relationship Id="rId2" Type="http://schemas.openxmlformats.org/officeDocument/2006/relationships/audio" Target="../media/audio4.wav"/><Relationship Id="rId1" Type="http://schemas.openxmlformats.org/officeDocument/2006/relationships/audio" Target="../media/audio1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audio1.wav"/><Relationship Id="rId1" Type="http://schemas.openxmlformats.org/officeDocument/2006/relationships/image" Target="../media/image1.jpe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audio" Target="../media/audio6.wav"/><Relationship Id="rId2" Type="http://schemas.openxmlformats.org/officeDocument/2006/relationships/audio" Target="../media/audio1.wav"/><Relationship Id="rId1" Type="http://schemas.openxmlformats.org/officeDocument/2006/relationships/image" Target="../media/image1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audio" Target="../media/audio4.wav"/><Relationship Id="rId2" Type="http://schemas.openxmlformats.org/officeDocument/2006/relationships/audio" Target="../media/audio1.wav"/><Relationship Id="rId1" Type="http://schemas.openxmlformats.org/officeDocument/2006/relationships/image" Target="../media/image2.jpe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5.wav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audio4.wav"/><Relationship Id="rId1" Type="http://schemas.openxmlformats.org/officeDocument/2006/relationships/audio" Target="../media/audio1.wav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audio" Target="../media/audio7.wav"/><Relationship Id="rId8" Type="http://schemas.openxmlformats.org/officeDocument/2006/relationships/audio" Target="../media/audio3.wav"/><Relationship Id="rId7" Type="http://schemas.openxmlformats.org/officeDocument/2006/relationships/audio" Target="../media/audio5.wav"/><Relationship Id="rId6" Type="http://schemas.openxmlformats.org/officeDocument/2006/relationships/audio" Target="../media/audio4.wav"/><Relationship Id="rId5" Type="http://schemas.openxmlformats.org/officeDocument/2006/relationships/audio" Target="../media/audio1.wav"/><Relationship Id="rId4" Type="http://schemas.openxmlformats.org/officeDocument/2006/relationships/image" Target="../media/image4.jpeg"/><Relationship Id="rId3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1" Type="http://schemas.openxmlformats.org/officeDocument/2006/relationships/vmlDrawing" Target="../drawings/vmlDrawing1.vml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audio1.wav"/><Relationship Id="rId1" Type="http://schemas.openxmlformats.org/officeDocument/2006/relationships/image" Target="../media/image1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jpe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audio" Target="../media/audio8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jpeg"/><Relationship Id="rId1" Type="http://schemas.openxmlformats.org/officeDocument/2006/relationships/image" Target="../media/image1.jpe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.vml"/><Relationship Id="rId7" Type="http://schemas.openxmlformats.org/officeDocument/2006/relationships/slideLayout" Target="../slideLayouts/slideLayout7.xml"/><Relationship Id="rId6" Type="http://schemas.openxmlformats.org/officeDocument/2006/relationships/audio" Target="../media/audio8.wav"/><Relationship Id="rId5" Type="http://schemas.openxmlformats.org/officeDocument/2006/relationships/audio" Target="../media/audio9.wav"/><Relationship Id="rId4" Type="http://schemas.openxmlformats.org/officeDocument/2006/relationships/audio" Target="../media/audio1.wav"/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oleObject" Target="../embeddings/oleObject2.bin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audio9.wav"/><Relationship Id="rId1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Chapter 5 Hashing</a:t>
            </a:r>
            <a:br>
              <a:rPr kumimoji="0" lang="en-US" altLang="zh-CN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（哈希</a:t>
            </a:r>
            <a:r>
              <a:rPr kumimoji="0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表）</a:t>
            </a:r>
            <a:endParaRPr kumimoji="0" lang="zh-CN" altLang="en-US" sz="44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6386" name="Rectangle 2"/>
          <p:cNvSpPr>
            <a:spLocks noGrp="1"/>
          </p:cNvSpPr>
          <p:nvPr>
            <p:ph type="title"/>
          </p:nvPr>
        </p:nvSpPr>
        <p:spPr>
          <a:xfrm>
            <a:off x="685800" y="152400"/>
            <a:ext cx="6870700" cy="1260475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Searching</a:t>
            </a:r>
            <a:endParaRPr lang="en-US" altLang="zh-CN" dirty="0"/>
          </a:p>
        </p:txBody>
      </p:sp>
      <p:sp>
        <p:nvSpPr>
          <p:cNvPr id="16387" name="Rectangle 3"/>
          <p:cNvSpPr>
            <a:spLocks noGrp="1"/>
          </p:cNvSpPr>
          <p:nvPr>
            <p:ph idx="1"/>
          </p:nvPr>
        </p:nvSpPr>
        <p:spPr>
          <a:xfrm>
            <a:off x="685800" y="1676400"/>
            <a:ext cx="8062913" cy="48006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We have some collection of records</a:t>
            </a:r>
            <a:endParaRPr lang="en-US" altLang="zh-CN" sz="2800" dirty="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800" dirty="0"/>
              <a:t>    (stored in an array, tree, or list)</a:t>
            </a:r>
            <a:endParaRPr lang="en-US" altLang="zh-CN" sz="28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May be </a:t>
            </a:r>
            <a:r>
              <a:rPr lang="en-US" altLang="zh-CN" dirty="0">
                <a:solidFill>
                  <a:srgbClr val="3333FF"/>
                </a:solidFill>
              </a:rPr>
              <a:t>sorted</a:t>
            </a:r>
            <a:r>
              <a:rPr lang="en-US" altLang="zh-CN" dirty="0"/>
              <a:t> or not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May be </a:t>
            </a:r>
            <a:r>
              <a:rPr lang="en-US" altLang="zh-CN" dirty="0">
                <a:solidFill>
                  <a:srgbClr val="3333FF"/>
                </a:solidFill>
              </a:rPr>
              <a:t>empty</a:t>
            </a:r>
            <a:r>
              <a:rPr lang="en-US" altLang="zh-CN" dirty="0"/>
              <a:t> or not</a:t>
            </a:r>
            <a:endParaRPr lang="en-US" altLang="zh-CN" dirty="0"/>
          </a:p>
          <a:p>
            <a:pPr eaLnBrk="1" hangingPunct="1">
              <a:lnSpc>
                <a:spcPct val="90000"/>
              </a:lnSpc>
            </a:pPr>
            <a:endParaRPr lang="en-US" altLang="zh-CN" sz="2800" dirty="0"/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We want to determine whether a </a:t>
            </a:r>
            <a:r>
              <a:rPr lang="en-US" altLang="zh-CN" sz="2800" dirty="0">
                <a:solidFill>
                  <a:srgbClr val="3333FF"/>
                </a:solidFill>
              </a:rPr>
              <a:t>particular record</a:t>
            </a:r>
            <a:r>
              <a:rPr lang="en-US" altLang="zh-CN" sz="2800" dirty="0"/>
              <a:t> is in the collection or not.</a:t>
            </a:r>
            <a:endParaRPr lang="en-US" altLang="zh-CN" sz="2800" dirty="0"/>
          </a:p>
          <a:p>
            <a:pPr eaLnBrk="1" hangingPunct="1">
              <a:lnSpc>
                <a:spcPct val="90000"/>
              </a:lnSpc>
            </a:pPr>
            <a:endParaRPr lang="en-US" altLang="zh-CN" sz="2800" dirty="0"/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We need to search for the record</a:t>
            </a:r>
            <a:r>
              <a:rPr lang="en-US" altLang="zh-CN" sz="3600" b="1" dirty="0"/>
              <a:t>.</a:t>
            </a:r>
            <a:endParaRPr lang="en-US" altLang="zh-CN" sz="36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7410" name="Rectangle 2"/>
          <p:cNvSpPr>
            <a:spLocks noGrp="1"/>
          </p:cNvSpPr>
          <p:nvPr>
            <p:ph type="title"/>
          </p:nvPr>
        </p:nvSpPr>
        <p:spPr>
          <a:xfrm>
            <a:off x="685800" y="152400"/>
            <a:ext cx="6870700" cy="1189038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Key Fields</a:t>
            </a:r>
            <a:endParaRPr lang="en-US" altLang="zh-CN" dirty="0"/>
          </a:p>
        </p:txBody>
      </p:sp>
      <p:sp>
        <p:nvSpPr>
          <p:cNvPr id="5123" name="Rectangle 3"/>
          <p:cNvSpPr>
            <a:spLocks noGrp="1"/>
          </p:cNvSpPr>
          <p:nvPr>
            <p:ph idx="1"/>
          </p:nvPr>
        </p:nvSpPr>
        <p:spPr>
          <a:xfrm>
            <a:off x="900113" y="1557338"/>
            <a:ext cx="7404100" cy="3633787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2800" dirty="0"/>
              <a:t>Often, our records will hold </a:t>
            </a:r>
            <a:r>
              <a:rPr lang="en-US" altLang="zh-CN" sz="2800" dirty="0">
                <a:solidFill>
                  <a:srgbClr val="3333FF"/>
                </a:solidFill>
              </a:rPr>
              <a:t>complex structures </a:t>
            </a:r>
            <a:r>
              <a:rPr lang="en-US" altLang="zh-CN" sz="2800" dirty="0"/>
              <a:t>(i.e. have many fields of information in each record).</a:t>
            </a:r>
            <a:endParaRPr lang="en-US" altLang="zh-CN" sz="2800" dirty="0"/>
          </a:p>
          <a:p>
            <a:pPr eaLnBrk="1" hangingPunct="1"/>
            <a:r>
              <a:rPr lang="en-US" altLang="zh-CN" sz="2800" dirty="0"/>
              <a:t>It is common to </a:t>
            </a:r>
            <a:r>
              <a:rPr lang="en-US" altLang="zh-CN" sz="2800" dirty="0">
                <a:solidFill>
                  <a:srgbClr val="3333FF"/>
                </a:solidFill>
              </a:rPr>
              <a:t>organize our records using one field</a:t>
            </a:r>
            <a:r>
              <a:rPr lang="en-US" altLang="zh-CN" sz="2800" dirty="0"/>
              <a:t>, e.g.</a:t>
            </a:r>
            <a:endParaRPr lang="en-US" altLang="zh-CN" sz="2800" dirty="0"/>
          </a:p>
          <a:p>
            <a:pPr lvl="1" eaLnBrk="1" hangingPunct="1"/>
            <a:r>
              <a:rPr lang="en-US" altLang="zh-CN" dirty="0"/>
              <a:t>Name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Student Number</a:t>
            </a:r>
            <a:endParaRPr lang="en-US" altLang="zh-CN" dirty="0"/>
          </a:p>
          <a:p>
            <a:pPr eaLnBrk="1" hangingPunct="1"/>
            <a:r>
              <a:rPr lang="en-US" altLang="zh-CN" sz="2800" dirty="0"/>
              <a:t>This field is called the </a:t>
            </a:r>
            <a:r>
              <a:rPr lang="en-US" altLang="zh-CN" sz="2800" dirty="0">
                <a:solidFill>
                  <a:srgbClr val="3333FF"/>
                </a:solidFill>
                <a:latin typeface="Arial" panose="020B0604020202020204" pitchFamily="34" charset="0"/>
              </a:rPr>
              <a:t>“</a:t>
            </a:r>
            <a:r>
              <a:rPr lang="en-US" altLang="zh-CN" sz="2800" dirty="0">
                <a:solidFill>
                  <a:srgbClr val="3333FF"/>
                </a:solidFill>
              </a:rPr>
              <a:t>key field</a:t>
            </a:r>
            <a:r>
              <a:rPr lang="en-US" altLang="zh-CN" sz="2800" dirty="0">
                <a:solidFill>
                  <a:srgbClr val="3333FF"/>
                </a:solidFill>
                <a:latin typeface="Arial" panose="020B0604020202020204" pitchFamily="34" charset="0"/>
              </a:rPr>
              <a:t>”</a:t>
            </a:r>
            <a:endParaRPr lang="en-US" altLang="zh-CN" sz="2800" dirty="0">
              <a:solidFill>
                <a:srgbClr val="3333FF"/>
              </a:solidFill>
            </a:endParaRPr>
          </a:p>
          <a:p>
            <a:pPr eaLnBrk="1" hangingPunct="1"/>
            <a:r>
              <a:rPr lang="en-US" altLang="zh-CN" sz="2800" dirty="0"/>
              <a:t>Then we can search on the key field.</a:t>
            </a:r>
            <a:endParaRPr lang="en-US" altLang="zh-CN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charRg st="0" end="10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charRg st="103" end="1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charRg st="162" end="1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charRg st="167" end="1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charRg st="182" end="2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charRg st="219" end="2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2"/>
          <p:cNvSpPr>
            <a:spLocks noGrp="1"/>
          </p:cNvSpPr>
          <p:nvPr>
            <p:ph type="title"/>
          </p:nvPr>
        </p:nvSpPr>
        <p:spPr>
          <a:xfrm>
            <a:off x="685800" y="152400"/>
            <a:ext cx="6870700" cy="1116013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Searching</a:t>
            </a:r>
            <a:endParaRPr lang="en-US" altLang="zh-CN" dirty="0"/>
          </a:p>
        </p:txBody>
      </p:sp>
      <p:sp>
        <p:nvSpPr>
          <p:cNvPr id="22531" name="Rectangle 3"/>
          <p:cNvSpPr>
            <a:spLocks noGrp="1"/>
          </p:cNvSpPr>
          <p:nvPr>
            <p:ph idx="1"/>
          </p:nvPr>
        </p:nvSpPr>
        <p:spPr>
          <a:xfrm>
            <a:off x="468313" y="1700213"/>
            <a:ext cx="8229600" cy="4525962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2800" dirty="0"/>
              <a:t>Consider the problem of searching an array for a given value</a:t>
            </a:r>
            <a:endParaRPr lang="en-US" altLang="zh-CN" sz="2800" dirty="0"/>
          </a:p>
          <a:p>
            <a:pPr lvl="1" eaLnBrk="1" hangingPunct="1"/>
            <a:r>
              <a:rPr lang="en-US" altLang="zh-CN" sz="2400" b="1" dirty="0">
                <a:solidFill>
                  <a:srgbClr val="FF0000"/>
                </a:solidFill>
              </a:rPr>
              <a:t>Linear search</a:t>
            </a:r>
            <a:r>
              <a:rPr lang="en-US" altLang="zh-CN" sz="2400" dirty="0"/>
              <a:t>: If the array is </a:t>
            </a:r>
            <a:r>
              <a:rPr lang="en-US" altLang="zh-CN" sz="2400" b="1" dirty="0">
                <a:solidFill>
                  <a:schemeClr val="hlink"/>
                </a:solidFill>
              </a:rPr>
              <a:t>not sorted</a:t>
            </a:r>
            <a:endParaRPr lang="en-US" altLang="zh-CN" sz="2400" b="1" dirty="0">
              <a:solidFill>
                <a:schemeClr val="hlink"/>
              </a:solidFill>
            </a:endParaRPr>
          </a:p>
          <a:p>
            <a:pPr lvl="1" eaLnBrk="1" hangingPunct="1"/>
            <a:endParaRPr lang="en-US" altLang="zh-CN" sz="2400" dirty="0"/>
          </a:p>
          <a:p>
            <a:pPr lvl="1" eaLnBrk="1" hangingPunct="1"/>
            <a:r>
              <a:rPr lang="en-US" altLang="zh-CN" sz="2400" b="1" dirty="0">
                <a:solidFill>
                  <a:srgbClr val="FF0000"/>
                </a:solidFill>
              </a:rPr>
              <a:t>Binary search</a:t>
            </a:r>
            <a:r>
              <a:rPr lang="en-US" altLang="zh-CN" sz="2400" dirty="0"/>
              <a:t>: If the array is </a:t>
            </a:r>
            <a:r>
              <a:rPr lang="en-US" altLang="zh-CN" sz="2400" b="1" dirty="0">
                <a:solidFill>
                  <a:schemeClr val="hlink"/>
                </a:solidFill>
              </a:rPr>
              <a:t>sorted</a:t>
            </a:r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/>
          </p:cNvSpPr>
          <p:nvPr>
            <p:ph type="title"/>
          </p:nvPr>
        </p:nvSpPr>
        <p:spPr>
          <a:xfrm>
            <a:off x="685800" y="152400"/>
            <a:ext cx="6870700" cy="960438"/>
          </a:xfrm>
        </p:spPr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sz="4000" b="1" dirty="0"/>
              <a:t>Binary Search</a:t>
            </a:r>
            <a:endParaRPr lang="en-US" altLang="zh-CN" sz="4000" b="1" dirty="0"/>
          </a:p>
        </p:txBody>
      </p:sp>
      <p:sp>
        <p:nvSpPr>
          <p:cNvPr id="41987" name="Rectangle 3"/>
          <p:cNvSpPr>
            <a:spLocks noGrp="1"/>
          </p:cNvSpPr>
          <p:nvPr>
            <p:ph idx="1"/>
          </p:nvPr>
        </p:nvSpPr>
        <p:spPr>
          <a:xfrm>
            <a:off x="685800" y="1676400"/>
            <a:ext cx="7772400" cy="4419600"/>
          </a:xfrm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US" altLang="zh-CN" dirty="0"/>
              <a:t>Input: 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A sorted array X[ ] of size n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A value b to be searched for </a:t>
            </a:r>
            <a:endParaRPr lang="en-US" altLang="zh-CN" dirty="0"/>
          </a:p>
          <a:p>
            <a:pPr eaLnBrk="1" hangingPunct="1"/>
            <a:r>
              <a:rPr lang="en-US" altLang="zh-CN" dirty="0"/>
              <a:t>Output: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If b is found, the index k where X[k]=b is returned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If b is not found, return -1</a:t>
            </a:r>
            <a:endParaRPr lang="en-US" altLang="zh-CN" dirty="0"/>
          </a:p>
          <a:p>
            <a:pPr eaLnBrk="1" hangingPunct="1"/>
            <a:endParaRPr lang="en-US" altLang="zh-CN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/>
          </p:cNvSpPr>
          <p:nvPr>
            <p:ph type="title"/>
          </p:nvPr>
        </p:nvSpPr>
        <p:spPr>
          <a:xfrm>
            <a:off x="685800" y="152400"/>
            <a:ext cx="6870700" cy="854075"/>
          </a:xfrm>
        </p:spPr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sz="4000" b="1" dirty="0"/>
              <a:t>Binary Search: Method</a:t>
            </a:r>
            <a:endParaRPr lang="en-US" altLang="zh-CN" sz="4000" b="1" dirty="0"/>
          </a:p>
        </p:txBody>
      </p:sp>
      <p:sp>
        <p:nvSpPr>
          <p:cNvPr id="43011" name="Rectangle 3"/>
          <p:cNvSpPr>
            <a:spLocks noGrp="1"/>
          </p:cNvSpPr>
          <p:nvPr>
            <p:ph idx="1"/>
          </p:nvPr>
        </p:nvSpPr>
        <p:spPr>
          <a:xfrm>
            <a:off x="685800" y="1371600"/>
            <a:ext cx="7772400" cy="4724400"/>
          </a:xfrm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US" altLang="zh-CN" sz="2800" dirty="0"/>
              <a:t>The method is recursive:</a:t>
            </a:r>
            <a:endParaRPr lang="en-US" altLang="zh-CN" sz="2800" dirty="0"/>
          </a:p>
          <a:p>
            <a:pPr eaLnBrk="1" hangingPunct="1"/>
            <a:r>
              <a:rPr lang="en-US" altLang="zh-CN" sz="2800" dirty="0"/>
              <a:t>Compare b with the middle value X[</a:t>
            </a:r>
            <a:r>
              <a:rPr lang="en-US" altLang="zh-CN" sz="2800" i="1" dirty="0"/>
              <a:t>mid</a:t>
            </a:r>
            <a:r>
              <a:rPr lang="en-US" altLang="zh-CN" sz="2800" dirty="0"/>
              <a:t>]</a:t>
            </a:r>
            <a:endParaRPr lang="en-US" altLang="zh-CN" sz="2800" dirty="0"/>
          </a:p>
          <a:p>
            <a:pPr eaLnBrk="1" hangingPunct="1"/>
            <a:r>
              <a:rPr lang="en-US" altLang="zh-CN" sz="2800" dirty="0"/>
              <a:t>If b = X[</a:t>
            </a:r>
            <a:r>
              <a:rPr lang="en-US" altLang="zh-CN" sz="2800" i="1" dirty="0"/>
              <a:t>mid</a:t>
            </a:r>
            <a:r>
              <a:rPr lang="en-US" altLang="zh-CN" sz="2800" dirty="0"/>
              <a:t>], return </a:t>
            </a:r>
            <a:r>
              <a:rPr lang="en-US" altLang="zh-CN" sz="2800" i="1" dirty="0"/>
              <a:t>mid</a:t>
            </a:r>
            <a:endParaRPr lang="en-US" altLang="zh-CN" sz="2800" dirty="0"/>
          </a:p>
          <a:p>
            <a:pPr eaLnBrk="1" hangingPunct="1"/>
            <a:r>
              <a:rPr lang="en-US" altLang="zh-CN" sz="2800" dirty="0"/>
              <a:t>If b &lt; X[</a:t>
            </a:r>
            <a:r>
              <a:rPr lang="en-US" altLang="zh-CN" sz="2800" i="1" dirty="0"/>
              <a:t>mid</a:t>
            </a:r>
            <a:r>
              <a:rPr lang="en-US" altLang="zh-CN" sz="2800" dirty="0"/>
              <a:t>], then b can only be in the left half of X[</a:t>
            </a:r>
            <a:r>
              <a:rPr lang="en-US" altLang="zh-CN" sz="2800" dirty="0">
                <a:solidFill>
                  <a:srgbClr val="FF0000"/>
                </a:solidFill>
              </a:rPr>
              <a:t>left..mid</a:t>
            </a:r>
            <a:r>
              <a:rPr lang="en-US" altLang="zh-CN" sz="2800" dirty="0"/>
              <a:t>], because X[ ] is sorted. So call the function recursively on the left half.</a:t>
            </a:r>
            <a:endParaRPr lang="en-US" altLang="zh-CN" sz="2800" dirty="0"/>
          </a:p>
          <a:p>
            <a:pPr eaLnBrk="1" hangingPunct="1"/>
            <a:r>
              <a:rPr lang="en-US" altLang="zh-CN" sz="2800" dirty="0"/>
              <a:t>If b &gt; X[</a:t>
            </a:r>
            <a:r>
              <a:rPr lang="en-US" altLang="zh-CN" sz="2800" i="1" dirty="0"/>
              <a:t>mid</a:t>
            </a:r>
            <a:r>
              <a:rPr lang="en-US" altLang="zh-CN" sz="2800" dirty="0"/>
              <a:t>], then b can only be in the right half of X[</a:t>
            </a:r>
            <a:r>
              <a:rPr lang="en-US" altLang="zh-CN" sz="2800" dirty="0">
                <a:solidFill>
                  <a:srgbClr val="FF0000"/>
                </a:solidFill>
              </a:rPr>
              <a:t>mid+1..right</a:t>
            </a:r>
            <a:r>
              <a:rPr lang="en-US" altLang="zh-CN" sz="2800" dirty="0"/>
              <a:t>], because X[ ] is sorted. So call the function recursively on the right half.</a:t>
            </a:r>
            <a:endParaRPr lang="en-US" altLang="zh-CN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609600"/>
          </a:xfrm>
        </p:spPr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sz="4000" b="1" dirty="0"/>
              <a:t>Illustration of Binary search</a:t>
            </a:r>
            <a:endParaRPr lang="en-US" altLang="zh-CN" sz="4000" b="1" dirty="0"/>
          </a:p>
        </p:txBody>
      </p:sp>
      <p:sp>
        <p:nvSpPr>
          <p:cNvPr id="53251" name="Rectangle 3"/>
          <p:cNvSpPr>
            <a:spLocks noGrp="1"/>
          </p:cNvSpPr>
          <p:nvPr>
            <p:ph idx="1"/>
          </p:nvPr>
        </p:nvSpPr>
        <p:spPr>
          <a:xfrm>
            <a:off x="685800" y="1143000"/>
            <a:ext cx="7772400" cy="495300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80000"/>
              </a:lnSpc>
            </a:pPr>
            <a:r>
              <a:rPr lang="en-US" altLang="zh-CN" sz="2000" dirty="0"/>
              <a:t>X[12]:</a:t>
            </a:r>
            <a:endParaRPr lang="en-US" altLang="zh-CN" sz="2000" dirty="0"/>
          </a:p>
          <a:p>
            <a:pPr eaLnBrk="1" hangingPunct="1">
              <a:lnSpc>
                <a:spcPct val="80000"/>
              </a:lnSpc>
            </a:pPr>
            <a:endParaRPr lang="en-US" altLang="zh-CN" sz="2400" dirty="0"/>
          </a:p>
          <a:p>
            <a:pPr eaLnBrk="1" hangingPunct="1">
              <a:lnSpc>
                <a:spcPct val="80000"/>
              </a:lnSpc>
            </a:pPr>
            <a:r>
              <a:rPr lang="en-US" altLang="zh-CN" sz="2400" dirty="0"/>
              <a:t>Search for b=12</a:t>
            </a:r>
            <a:endParaRPr lang="en-US" altLang="zh-CN" sz="2400" dirty="0"/>
          </a:p>
          <a:p>
            <a:pPr eaLnBrk="1" hangingPunct="1">
              <a:lnSpc>
                <a:spcPct val="80000"/>
              </a:lnSpc>
            </a:pPr>
            <a:r>
              <a:rPr lang="en-US" altLang="zh-CN" sz="2400" i="1" dirty="0"/>
              <a:t>mid</a:t>
            </a:r>
            <a:r>
              <a:rPr lang="en-US" altLang="zh-CN" sz="2400" dirty="0"/>
              <a:t> = (0+11)/2 = 5. Compare b with X[5]: 12&lt;20. </a:t>
            </a:r>
            <a:endParaRPr lang="en-US" altLang="zh-CN" sz="2400" dirty="0"/>
          </a:p>
          <a:p>
            <a:pPr eaLnBrk="1" hangingPunct="1">
              <a:lnSpc>
                <a:spcPct val="80000"/>
              </a:lnSpc>
            </a:pPr>
            <a:r>
              <a:rPr lang="en-US" altLang="zh-CN" sz="2400" dirty="0"/>
              <a:t>So search in left half X[0..5]</a:t>
            </a:r>
            <a:endParaRPr lang="en-US" altLang="zh-CN" sz="2400" dirty="0"/>
          </a:p>
          <a:p>
            <a:pPr eaLnBrk="1" hangingPunct="1">
              <a:lnSpc>
                <a:spcPct val="80000"/>
              </a:lnSpc>
            </a:pPr>
            <a:endParaRPr lang="en-US" altLang="zh-CN" sz="2400" dirty="0"/>
          </a:p>
          <a:p>
            <a:pPr eaLnBrk="1" hangingPunct="1">
              <a:lnSpc>
                <a:spcPct val="80000"/>
              </a:lnSpc>
            </a:pPr>
            <a:endParaRPr lang="en-US" altLang="zh-CN" sz="2400" i="1" dirty="0"/>
          </a:p>
          <a:p>
            <a:pPr eaLnBrk="1" hangingPunct="1">
              <a:lnSpc>
                <a:spcPct val="80000"/>
              </a:lnSpc>
            </a:pPr>
            <a:r>
              <a:rPr lang="en-US" altLang="zh-CN" sz="2400" i="1" dirty="0"/>
              <a:t>mid</a:t>
            </a:r>
            <a:r>
              <a:rPr lang="en-US" altLang="zh-CN" sz="2400" dirty="0"/>
              <a:t> = (0+5)/2 = 2. Compare b with X[2]: 12 &gt; 7. </a:t>
            </a:r>
            <a:endParaRPr lang="en-US" altLang="zh-CN" sz="2400" dirty="0"/>
          </a:p>
          <a:p>
            <a:pPr eaLnBrk="1" hangingPunct="1">
              <a:lnSpc>
                <a:spcPct val="80000"/>
              </a:lnSpc>
            </a:pPr>
            <a:r>
              <a:rPr lang="en-US" altLang="zh-CN" sz="2400" dirty="0"/>
              <a:t>So search right half X[3..5]</a:t>
            </a:r>
            <a:endParaRPr lang="en-US" altLang="zh-CN" sz="2400" dirty="0"/>
          </a:p>
          <a:p>
            <a:pPr eaLnBrk="1" hangingPunct="1">
              <a:lnSpc>
                <a:spcPct val="80000"/>
              </a:lnSpc>
            </a:pPr>
            <a:endParaRPr lang="en-US" altLang="zh-CN" sz="2400" dirty="0"/>
          </a:p>
          <a:p>
            <a:pPr eaLnBrk="1" hangingPunct="1">
              <a:lnSpc>
                <a:spcPct val="80000"/>
              </a:lnSpc>
            </a:pPr>
            <a:endParaRPr lang="en-US" altLang="zh-CN" sz="2400" dirty="0"/>
          </a:p>
          <a:p>
            <a:pPr eaLnBrk="1" hangingPunct="1">
              <a:lnSpc>
                <a:spcPct val="80000"/>
              </a:lnSpc>
            </a:pPr>
            <a:r>
              <a:rPr lang="en-US" altLang="zh-CN" sz="2400" i="1" dirty="0"/>
              <a:t>mid</a:t>
            </a:r>
            <a:r>
              <a:rPr lang="en-US" altLang="zh-CN" sz="2400" dirty="0"/>
              <a:t> = (3+5)/2 = 4.Compare b with X[4]: 12&lt;15. </a:t>
            </a:r>
            <a:endParaRPr lang="en-US" altLang="zh-CN" sz="2400" dirty="0"/>
          </a:p>
          <a:p>
            <a:pPr eaLnBrk="1" hangingPunct="1">
              <a:lnSpc>
                <a:spcPct val="80000"/>
              </a:lnSpc>
            </a:pPr>
            <a:r>
              <a:rPr lang="en-US" altLang="zh-CN" sz="2400" dirty="0"/>
              <a:t>So search left half X[3..4]</a:t>
            </a:r>
            <a:endParaRPr lang="en-US" altLang="zh-CN" sz="2400" dirty="0"/>
          </a:p>
          <a:p>
            <a:pPr eaLnBrk="1" hangingPunct="1">
              <a:lnSpc>
                <a:spcPct val="80000"/>
              </a:lnSpc>
            </a:pPr>
            <a:r>
              <a:rPr lang="en-US" altLang="zh-CN" sz="2400" i="1" dirty="0"/>
              <a:t>mid</a:t>
            </a:r>
            <a:r>
              <a:rPr lang="en-US" altLang="zh-CN" sz="2400" dirty="0"/>
              <a:t> = (3+4)/2 = 3.Compare b with X[3]: b=X[3]=12. </a:t>
            </a:r>
            <a:endParaRPr lang="en-US" altLang="zh-CN" sz="2400" dirty="0"/>
          </a:p>
          <a:p>
            <a:pPr eaLnBrk="1" hangingPunct="1">
              <a:lnSpc>
                <a:spcPct val="80000"/>
              </a:lnSpc>
            </a:pPr>
            <a:r>
              <a:rPr lang="en-US" altLang="zh-CN" sz="2400" dirty="0"/>
              <a:t>Return 3.</a:t>
            </a:r>
            <a:endParaRPr lang="en-US" altLang="zh-CN" sz="2400" dirty="0"/>
          </a:p>
          <a:p>
            <a:pPr eaLnBrk="1" hangingPunct="1">
              <a:lnSpc>
                <a:spcPct val="80000"/>
              </a:lnSpc>
              <a:buNone/>
            </a:pPr>
            <a:endParaRPr lang="en-US" altLang="zh-CN" sz="2400" dirty="0"/>
          </a:p>
        </p:txBody>
      </p:sp>
      <p:grpSp>
        <p:nvGrpSpPr>
          <p:cNvPr id="72708" name="Group 4"/>
          <p:cNvGrpSpPr/>
          <p:nvPr/>
        </p:nvGrpSpPr>
        <p:grpSpPr>
          <a:xfrm>
            <a:off x="2514600" y="1143000"/>
            <a:ext cx="6629400" cy="762000"/>
            <a:chOff x="1056" y="1248"/>
            <a:chExt cx="4128" cy="480"/>
          </a:xfrm>
        </p:grpSpPr>
        <p:sp>
          <p:nvSpPr>
            <p:cNvPr id="72769" name="Text Box 5"/>
            <p:cNvSpPr txBox="1"/>
            <p:nvPr/>
          </p:nvSpPr>
          <p:spPr>
            <a:xfrm>
              <a:off x="1152" y="144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0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72770" name="Text Box 6"/>
            <p:cNvSpPr txBox="1"/>
            <p:nvPr/>
          </p:nvSpPr>
          <p:spPr>
            <a:xfrm>
              <a:off x="2112" y="144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3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72771" name="Group 7"/>
            <p:cNvGrpSpPr/>
            <p:nvPr/>
          </p:nvGrpSpPr>
          <p:grpSpPr>
            <a:xfrm>
              <a:off x="1056" y="1248"/>
              <a:ext cx="3984" cy="480"/>
              <a:chOff x="1056" y="1248"/>
              <a:chExt cx="3984" cy="480"/>
            </a:xfrm>
          </p:grpSpPr>
          <p:grpSp>
            <p:nvGrpSpPr>
              <p:cNvPr id="72781" name="Group 8"/>
              <p:cNvGrpSpPr/>
              <p:nvPr/>
            </p:nvGrpSpPr>
            <p:grpSpPr>
              <a:xfrm>
                <a:off x="2400" y="1248"/>
                <a:ext cx="2640" cy="240"/>
                <a:chOff x="2400" y="1248"/>
                <a:chExt cx="2640" cy="240"/>
              </a:xfrm>
            </p:grpSpPr>
            <p:sp>
              <p:nvSpPr>
                <p:cNvPr id="72788" name="Rectangle 9"/>
                <p:cNvSpPr/>
                <p:nvPr/>
              </p:nvSpPr>
              <p:spPr>
                <a:xfrm>
                  <a:off x="2400" y="1248"/>
                  <a:ext cx="336" cy="240"/>
                </a:xfrm>
                <a:prstGeom prst="rect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dirty="0">
                      <a:latin typeface="Times New Roman" panose="02020603050405020304" pitchFamily="18" charset="0"/>
                    </a:rPr>
                    <a:t>15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2789" name="Rectangle 10"/>
                <p:cNvSpPr/>
                <p:nvPr/>
              </p:nvSpPr>
              <p:spPr>
                <a:xfrm>
                  <a:off x="2736" y="1248"/>
                  <a:ext cx="336" cy="240"/>
                </a:xfrm>
                <a:prstGeom prst="rect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dirty="0">
                      <a:latin typeface="Times New Roman" panose="02020603050405020304" pitchFamily="18" charset="0"/>
                    </a:rPr>
                    <a:t>20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2790" name="Rectangle 11"/>
                <p:cNvSpPr/>
                <p:nvPr/>
              </p:nvSpPr>
              <p:spPr>
                <a:xfrm>
                  <a:off x="3072" y="1248"/>
                  <a:ext cx="336" cy="240"/>
                </a:xfrm>
                <a:prstGeom prst="rect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dirty="0">
                      <a:latin typeface="Times New Roman" panose="02020603050405020304" pitchFamily="18" charset="0"/>
                    </a:rPr>
                    <a:t>25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2791" name="Rectangle 12"/>
                <p:cNvSpPr/>
                <p:nvPr/>
              </p:nvSpPr>
              <p:spPr>
                <a:xfrm>
                  <a:off x="3408" y="1248"/>
                  <a:ext cx="336" cy="240"/>
                </a:xfrm>
                <a:prstGeom prst="rect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dirty="0">
                      <a:latin typeface="Times New Roman" panose="02020603050405020304" pitchFamily="18" charset="0"/>
                    </a:rPr>
                    <a:t>27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2792" name="Rectangle 13"/>
                <p:cNvSpPr/>
                <p:nvPr/>
              </p:nvSpPr>
              <p:spPr>
                <a:xfrm>
                  <a:off x="3744" y="1248"/>
                  <a:ext cx="336" cy="240"/>
                </a:xfrm>
                <a:prstGeom prst="rect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dirty="0">
                      <a:latin typeface="Times New Roman" panose="02020603050405020304" pitchFamily="18" charset="0"/>
                    </a:rPr>
                    <a:t>35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2793" name="Rectangle 14"/>
                <p:cNvSpPr/>
                <p:nvPr/>
              </p:nvSpPr>
              <p:spPr>
                <a:xfrm>
                  <a:off x="4080" y="1248"/>
                  <a:ext cx="336" cy="240"/>
                </a:xfrm>
                <a:prstGeom prst="rect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dirty="0">
                      <a:latin typeface="Times New Roman" panose="02020603050405020304" pitchFamily="18" charset="0"/>
                    </a:rPr>
                    <a:t>40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2794" name="Rectangle 15"/>
                <p:cNvSpPr/>
                <p:nvPr/>
              </p:nvSpPr>
              <p:spPr>
                <a:xfrm>
                  <a:off x="4416" y="1248"/>
                  <a:ext cx="336" cy="240"/>
                </a:xfrm>
                <a:prstGeom prst="rect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dirty="0">
                      <a:latin typeface="Times New Roman" panose="02020603050405020304" pitchFamily="18" charset="0"/>
                    </a:rPr>
                    <a:t>47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2795" name="Rectangle 16"/>
                <p:cNvSpPr/>
                <p:nvPr/>
              </p:nvSpPr>
              <p:spPr>
                <a:xfrm>
                  <a:off x="4704" y="1248"/>
                  <a:ext cx="336" cy="240"/>
                </a:xfrm>
                <a:prstGeom prst="rect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dirty="0">
                      <a:latin typeface="Times New Roman" panose="02020603050405020304" pitchFamily="18" charset="0"/>
                    </a:rPr>
                    <a:t>60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72782" name="Group 17"/>
              <p:cNvGrpSpPr/>
              <p:nvPr/>
            </p:nvGrpSpPr>
            <p:grpSpPr>
              <a:xfrm>
                <a:off x="1056" y="1248"/>
                <a:ext cx="1344" cy="480"/>
                <a:chOff x="1056" y="1248"/>
                <a:chExt cx="1344" cy="480"/>
              </a:xfrm>
            </p:grpSpPr>
            <p:sp>
              <p:nvSpPr>
                <p:cNvPr id="72783" name="Rectangle 18"/>
                <p:cNvSpPr/>
                <p:nvPr/>
              </p:nvSpPr>
              <p:spPr>
                <a:xfrm>
                  <a:off x="1056" y="1248"/>
                  <a:ext cx="336" cy="240"/>
                </a:xfrm>
                <a:prstGeom prst="rect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dirty="0">
                      <a:latin typeface="Times New Roman" panose="02020603050405020304" pitchFamily="18" charset="0"/>
                    </a:rPr>
                    <a:t>1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2784" name="Rectangle 19"/>
                <p:cNvSpPr/>
                <p:nvPr/>
              </p:nvSpPr>
              <p:spPr>
                <a:xfrm>
                  <a:off x="1392" y="1248"/>
                  <a:ext cx="336" cy="240"/>
                </a:xfrm>
                <a:prstGeom prst="rect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dirty="0">
                      <a:latin typeface="Times New Roman" panose="02020603050405020304" pitchFamily="18" charset="0"/>
                    </a:rPr>
                    <a:t>5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2785" name="Rectangle 20"/>
                <p:cNvSpPr/>
                <p:nvPr/>
              </p:nvSpPr>
              <p:spPr>
                <a:xfrm>
                  <a:off x="1728" y="1248"/>
                  <a:ext cx="336" cy="240"/>
                </a:xfrm>
                <a:prstGeom prst="rect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dirty="0">
                      <a:latin typeface="Times New Roman" panose="02020603050405020304" pitchFamily="18" charset="0"/>
                    </a:rPr>
                    <a:t>7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2786" name="Rectangle 21"/>
                <p:cNvSpPr/>
                <p:nvPr/>
              </p:nvSpPr>
              <p:spPr>
                <a:xfrm>
                  <a:off x="2064" y="1248"/>
                  <a:ext cx="336" cy="240"/>
                </a:xfrm>
                <a:prstGeom prst="rect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dirty="0">
                      <a:latin typeface="Times New Roman" panose="02020603050405020304" pitchFamily="18" charset="0"/>
                    </a:rPr>
                    <a:t>12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2787" name="Text Box 22"/>
                <p:cNvSpPr txBox="1"/>
                <p:nvPr/>
              </p:nvSpPr>
              <p:spPr>
                <a:xfrm>
                  <a:off x="1488" y="1440"/>
                  <a:ext cx="212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dirty="0">
                      <a:latin typeface="Times New Roman" panose="02020603050405020304" pitchFamily="18" charset="0"/>
                    </a:rPr>
                    <a:t>1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72772" name="Text Box 23"/>
            <p:cNvSpPr txBox="1"/>
            <p:nvPr/>
          </p:nvSpPr>
          <p:spPr>
            <a:xfrm>
              <a:off x="2496" y="144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4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72773" name="Text Box 24"/>
            <p:cNvSpPr txBox="1"/>
            <p:nvPr/>
          </p:nvSpPr>
          <p:spPr>
            <a:xfrm>
              <a:off x="1776" y="144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2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72774" name="Text Box 25"/>
            <p:cNvSpPr txBox="1"/>
            <p:nvPr/>
          </p:nvSpPr>
          <p:spPr>
            <a:xfrm>
              <a:off x="3120" y="144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6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72775" name="Text Box 26"/>
            <p:cNvSpPr txBox="1"/>
            <p:nvPr/>
          </p:nvSpPr>
          <p:spPr>
            <a:xfrm>
              <a:off x="2832" y="144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5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72776" name="Text Box 27"/>
            <p:cNvSpPr txBox="1"/>
            <p:nvPr/>
          </p:nvSpPr>
          <p:spPr>
            <a:xfrm>
              <a:off x="3792" y="144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8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72777" name="Text Box 28"/>
            <p:cNvSpPr txBox="1"/>
            <p:nvPr/>
          </p:nvSpPr>
          <p:spPr>
            <a:xfrm>
              <a:off x="3456" y="144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7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72778" name="Text Box 29"/>
            <p:cNvSpPr txBox="1"/>
            <p:nvPr/>
          </p:nvSpPr>
          <p:spPr>
            <a:xfrm>
              <a:off x="4416" y="1440"/>
              <a:ext cx="3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10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72779" name="Text Box 30"/>
            <p:cNvSpPr txBox="1"/>
            <p:nvPr/>
          </p:nvSpPr>
          <p:spPr>
            <a:xfrm>
              <a:off x="4128" y="144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9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72780" name="Text Box 31"/>
            <p:cNvSpPr txBox="1"/>
            <p:nvPr/>
          </p:nvSpPr>
          <p:spPr>
            <a:xfrm>
              <a:off x="4752" y="1440"/>
              <a:ext cx="43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11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" name="Group 32"/>
          <p:cNvGrpSpPr/>
          <p:nvPr/>
        </p:nvGrpSpPr>
        <p:grpSpPr>
          <a:xfrm>
            <a:off x="2286000" y="2971800"/>
            <a:ext cx="6553200" cy="762000"/>
            <a:chOff x="1056" y="1248"/>
            <a:chExt cx="4128" cy="480"/>
          </a:xfrm>
        </p:grpSpPr>
        <p:sp>
          <p:nvSpPr>
            <p:cNvPr id="72742" name="Text Box 33"/>
            <p:cNvSpPr txBox="1"/>
            <p:nvPr/>
          </p:nvSpPr>
          <p:spPr>
            <a:xfrm>
              <a:off x="1152" y="144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0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72743" name="Text Box 34"/>
            <p:cNvSpPr txBox="1"/>
            <p:nvPr/>
          </p:nvSpPr>
          <p:spPr>
            <a:xfrm>
              <a:off x="2112" y="144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3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72744" name="Group 35"/>
            <p:cNvGrpSpPr/>
            <p:nvPr/>
          </p:nvGrpSpPr>
          <p:grpSpPr>
            <a:xfrm>
              <a:off x="1056" y="1248"/>
              <a:ext cx="4028" cy="480"/>
              <a:chOff x="1056" y="1248"/>
              <a:chExt cx="4028" cy="480"/>
            </a:xfrm>
          </p:grpSpPr>
          <p:grpSp>
            <p:nvGrpSpPr>
              <p:cNvPr id="72754" name="Group 36"/>
              <p:cNvGrpSpPr/>
              <p:nvPr/>
            </p:nvGrpSpPr>
            <p:grpSpPr>
              <a:xfrm>
                <a:off x="2400" y="1248"/>
                <a:ext cx="2684" cy="240"/>
                <a:chOff x="2400" y="1248"/>
                <a:chExt cx="2684" cy="240"/>
              </a:xfrm>
            </p:grpSpPr>
            <p:sp>
              <p:nvSpPr>
                <p:cNvPr id="72761" name="Rectangle 37"/>
                <p:cNvSpPr/>
                <p:nvPr/>
              </p:nvSpPr>
              <p:spPr>
                <a:xfrm>
                  <a:off x="2400" y="1248"/>
                  <a:ext cx="336" cy="240"/>
                </a:xfrm>
                <a:prstGeom prst="rect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dirty="0">
                      <a:latin typeface="Times New Roman" panose="02020603050405020304" pitchFamily="18" charset="0"/>
                    </a:rPr>
                    <a:t>15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3306" name="Rectangle 38"/>
                <p:cNvSpPr>
                  <a:spLocks noChangeArrowheads="1"/>
                </p:cNvSpPr>
                <p:nvPr/>
              </p:nvSpPr>
              <p:spPr bwMode="auto">
                <a:xfrm>
                  <a:off x="2736" y="1248"/>
                  <a:ext cx="336" cy="240"/>
                </a:xfrm>
                <a:prstGeom prst="rect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Arial" panose="020B0604020202020204" pitchFamily="34" charset="0"/>
                    </a:rPr>
                    <a:t>20</a:t>
                  </a:r>
                  <a:endPara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2763" name="Rectangle 39"/>
                <p:cNvSpPr/>
                <p:nvPr/>
              </p:nvSpPr>
              <p:spPr>
                <a:xfrm>
                  <a:off x="3072" y="1248"/>
                  <a:ext cx="336" cy="24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dirty="0">
                      <a:latin typeface="Times New Roman" panose="02020603050405020304" pitchFamily="18" charset="0"/>
                    </a:rPr>
                    <a:t>25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2764" name="Rectangle 40"/>
                <p:cNvSpPr/>
                <p:nvPr/>
              </p:nvSpPr>
              <p:spPr>
                <a:xfrm>
                  <a:off x="3408" y="1248"/>
                  <a:ext cx="336" cy="24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dirty="0">
                      <a:latin typeface="Times New Roman" panose="02020603050405020304" pitchFamily="18" charset="0"/>
                    </a:rPr>
                    <a:t>27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2765" name="Rectangle 41"/>
                <p:cNvSpPr/>
                <p:nvPr/>
              </p:nvSpPr>
              <p:spPr>
                <a:xfrm>
                  <a:off x="3744" y="1248"/>
                  <a:ext cx="336" cy="24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dirty="0">
                      <a:latin typeface="Times New Roman" panose="02020603050405020304" pitchFamily="18" charset="0"/>
                    </a:rPr>
                    <a:t>35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2766" name="Rectangle 42"/>
                <p:cNvSpPr/>
                <p:nvPr/>
              </p:nvSpPr>
              <p:spPr>
                <a:xfrm>
                  <a:off x="4080" y="1248"/>
                  <a:ext cx="336" cy="24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dirty="0">
                      <a:latin typeface="Times New Roman" panose="02020603050405020304" pitchFamily="18" charset="0"/>
                    </a:rPr>
                    <a:t>40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2767" name="Rectangle 43"/>
                <p:cNvSpPr/>
                <p:nvPr/>
              </p:nvSpPr>
              <p:spPr>
                <a:xfrm>
                  <a:off x="4416" y="1248"/>
                  <a:ext cx="336" cy="24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dirty="0">
                      <a:latin typeface="Times New Roman" panose="02020603050405020304" pitchFamily="18" charset="0"/>
                    </a:rPr>
                    <a:t>47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2768" name="Rectangle 44"/>
                <p:cNvSpPr/>
                <p:nvPr/>
              </p:nvSpPr>
              <p:spPr>
                <a:xfrm>
                  <a:off x="4748" y="1248"/>
                  <a:ext cx="336" cy="24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dirty="0">
                      <a:latin typeface="Times New Roman" panose="02020603050405020304" pitchFamily="18" charset="0"/>
                    </a:rPr>
                    <a:t>60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72755" name="Group 45"/>
              <p:cNvGrpSpPr/>
              <p:nvPr/>
            </p:nvGrpSpPr>
            <p:grpSpPr>
              <a:xfrm>
                <a:off x="1056" y="1248"/>
                <a:ext cx="1344" cy="480"/>
                <a:chOff x="1056" y="1248"/>
                <a:chExt cx="1344" cy="480"/>
              </a:xfrm>
            </p:grpSpPr>
            <p:sp>
              <p:nvSpPr>
                <p:cNvPr id="72756" name="Rectangle 46"/>
                <p:cNvSpPr/>
                <p:nvPr/>
              </p:nvSpPr>
              <p:spPr>
                <a:xfrm>
                  <a:off x="1056" y="1248"/>
                  <a:ext cx="336" cy="240"/>
                </a:xfrm>
                <a:prstGeom prst="rect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dirty="0">
                      <a:latin typeface="Times New Roman" panose="02020603050405020304" pitchFamily="18" charset="0"/>
                    </a:rPr>
                    <a:t>1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2757" name="Rectangle 47"/>
                <p:cNvSpPr/>
                <p:nvPr/>
              </p:nvSpPr>
              <p:spPr>
                <a:xfrm>
                  <a:off x="1392" y="1248"/>
                  <a:ext cx="336" cy="240"/>
                </a:xfrm>
                <a:prstGeom prst="rect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dirty="0">
                      <a:latin typeface="Times New Roman" panose="02020603050405020304" pitchFamily="18" charset="0"/>
                    </a:rPr>
                    <a:t>5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2758" name="Rectangle 48"/>
                <p:cNvSpPr/>
                <p:nvPr/>
              </p:nvSpPr>
              <p:spPr>
                <a:xfrm>
                  <a:off x="1728" y="1248"/>
                  <a:ext cx="336" cy="240"/>
                </a:xfrm>
                <a:prstGeom prst="rect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dirty="0">
                      <a:latin typeface="Times New Roman" panose="02020603050405020304" pitchFamily="18" charset="0"/>
                    </a:rPr>
                    <a:t>7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2759" name="Rectangle 49"/>
                <p:cNvSpPr/>
                <p:nvPr/>
              </p:nvSpPr>
              <p:spPr>
                <a:xfrm>
                  <a:off x="2064" y="1248"/>
                  <a:ext cx="336" cy="240"/>
                </a:xfrm>
                <a:prstGeom prst="rect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dirty="0">
                      <a:latin typeface="Times New Roman" panose="02020603050405020304" pitchFamily="18" charset="0"/>
                    </a:rPr>
                    <a:t>12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2760" name="Text Box 50"/>
                <p:cNvSpPr txBox="1"/>
                <p:nvPr/>
              </p:nvSpPr>
              <p:spPr>
                <a:xfrm>
                  <a:off x="1488" y="1440"/>
                  <a:ext cx="212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dirty="0">
                      <a:latin typeface="Times New Roman" panose="02020603050405020304" pitchFamily="18" charset="0"/>
                    </a:rPr>
                    <a:t>1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72745" name="Text Box 51"/>
            <p:cNvSpPr txBox="1"/>
            <p:nvPr/>
          </p:nvSpPr>
          <p:spPr>
            <a:xfrm>
              <a:off x="2496" y="144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4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72746" name="Text Box 52"/>
            <p:cNvSpPr txBox="1"/>
            <p:nvPr/>
          </p:nvSpPr>
          <p:spPr>
            <a:xfrm>
              <a:off x="1776" y="144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2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72747" name="Text Box 53"/>
            <p:cNvSpPr txBox="1"/>
            <p:nvPr/>
          </p:nvSpPr>
          <p:spPr>
            <a:xfrm>
              <a:off x="3120" y="144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6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72748" name="Text Box 54"/>
            <p:cNvSpPr txBox="1"/>
            <p:nvPr/>
          </p:nvSpPr>
          <p:spPr>
            <a:xfrm>
              <a:off x="2832" y="144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5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72749" name="Text Box 55"/>
            <p:cNvSpPr txBox="1"/>
            <p:nvPr/>
          </p:nvSpPr>
          <p:spPr>
            <a:xfrm>
              <a:off x="3792" y="144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8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72750" name="Text Box 56"/>
            <p:cNvSpPr txBox="1"/>
            <p:nvPr/>
          </p:nvSpPr>
          <p:spPr>
            <a:xfrm>
              <a:off x="3456" y="144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7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72751" name="Text Box 57"/>
            <p:cNvSpPr txBox="1"/>
            <p:nvPr/>
          </p:nvSpPr>
          <p:spPr>
            <a:xfrm>
              <a:off x="4416" y="1440"/>
              <a:ext cx="3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10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72752" name="Text Box 58"/>
            <p:cNvSpPr txBox="1"/>
            <p:nvPr/>
          </p:nvSpPr>
          <p:spPr>
            <a:xfrm>
              <a:off x="4128" y="144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9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72753" name="Text Box 59"/>
            <p:cNvSpPr txBox="1"/>
            <p:nvPr/>
          </p:nvSpPr>
          <p:spPr>
            <a:xfrm>
              <a:off x="4752" y="1440"/>
              <a:ext cx="43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11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0" name="Group 60"/>
          <p:cNvGrpSpPr/>
          <p:nvPr/>
        </p:nvGrpSpPr>
        <p:grpSpPr>
          <a:xfrm>
            <a:off x="2362200" y="4419600"/>
            <a:ext cx="6553200" cy="762000"/>
            <a:chOff x="1056" y="1248"/>
            <a:chExt cx="4128" cy="480"/>
          </a:xfrm>
        </p:grpSpPr>
        <p:sp>
          <p:nvSpPr>
            <p:cNvPr id="72715" name="Text Box 61"/>
            <p:cNvSpPr txBox="1"/>
            <p:nvPr/>
          </p:nvSpPr>
          <p:spPr>
            <a:xfrm>
              <a:off x="1152" y="144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0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72716" name="Text Box 62"/>
            <p:cNvSpPr txBox="1"/>
            <p:nvPr/>
          </p:nvSpPr>
          <p:spPr>
            <a:xfrm>
              <a:off x="2112" y="144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3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72717" name="Group 63"/>
            <p:cNvGrpSpPr/>
            <p:nvPr/>
          </p:nvGrpSpPr>
          <p:grpSpPr>
            <a:xfrm>
              <a:off x="1056" y="1248"/>
              <a:ext cx="4030" cy="480"/>
              <a:chOff x="1056" y="1248"/>
              <a:chExt cx="4030" cy="480"/>
            </a:xfrm>
          </p:grpSpPr>
          <p:grpSp>
            <p:nvGrpSpPr>
              <p:cNvPr id="72727" name="Group 64"/>
              <p:cNvGrpSpPr/>
              <p:nvPr/>
            </p:nvGrpSpPr>
            <p:grpSpPr>
              <a:xfrm>
                <a:off x="2400" y="1248"/>
                <a:ext cx="2686" cy="240"/>
                <a:chOff x="2400" y="1248"/>
                <a:chExt cx="2686" cy="240"/>
              </a:xfrm>
            </p:grpSpPr>
            <p:sp>
              <p:nvSpPr>
                <p:cNvPr id="72734" name="Rectangle 65"/>
                <p:cNvSpPr/>
                <p:nvPr/>
              </p:nvSpPr>
              <p:spPr>
                <a:xfrm>
                  <a:off x="2400" y="1248"/>
                  <a:ext cx="336" cy="240"/>
                </a:xfrm>
                <a:prstGeom prst="rect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dirty="0">
                      <a:latin typeface="Times New Roman" panose="02020603050405020304" pitchFamily="18" charset="0"/>
                    </a:rPr>
                    <a:t>15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2735" name="Rectangle 66"/>
                <p:cNvSpPr/>
                <p:nvPr/>
              </p:nvSpPr>
              <p:spPr>
                <a:xfrm>
                  <a:off x="2736" y="1248"/>
                  <a:ext cx="336" cy="240"/>
                </a:xfrm>
                <a:prstGeom prst="rect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dirty="0">
                      <a:latin typeface="Times New Roman" panose="02020603050405020304" pitchFamily="18" charset="0"/>
                    </a:rPr>
                    <a:t>20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2736" name="Rectangle 67"/>
                <p:cNvSpPr/>
                <p:nvPr/>
              </p:nvSpPr>
              <p:spPr>
                <a:xfrm>
                  <a:off x="3072" y="1248"/>
                  <a:ext cx="336" cy="24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dirty="0">
                      <a:latin typeface="Times New Roman" panose="02020603050405020304" pitchFamily="18" charset="0"/>
                    </a:rPr>
                    <a:t>25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2737" name="Rectangle 68"/>
                <p:cNvSpPr/>
                <p:nvPr/>
              </p:nvSpPr>
              <p:spPr>
                <a:xfrm>
                  <a:off x="3408" y="1248"/>
                  <a:ext cx="336" cy="24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dirty="0">
                      <a:latin typeface="Times New Roman" panose="02020603050405020304" pitchFamily="18" charset="0"/>
                    </a:rPr>
                    <a:t>27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2738" name="Rectangle 69"/>
                <p:cNvSpPr/>
                <p:nvPr/>
              </p:nvSpPr>
              <p:spPr>
                <a:xfrm>
                  <a:off x="3744" y="1248"/>
                  <a:ext cx="336" cy="24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dirty="0">
                      <a:latin typeface="Times New Roman" panose="02020603050405020304" pitchFamily="18" charset="0"/>
                    </a:rPr>
                    <a:t>35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2739" name="Rectangle 70"/>
                <p:cNvSpPr/>
                <p:nvPr/>
              </p:nvSpPr>
              <p:spPr>
                <a:xfrm>
                  <a:off x="4080" y="1248"/>
                  <a:ext cx="336" cy="24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dirty="0">
                      <a:latin typeface="Times New Roman" panose="02020603050405020304" pitchFamily="18" charset="0"/>
                    </a:rPr>
                    <a:t>40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2740" name="Rectangle 71"/>
                <p:cNvSpPr/>
                <p:nvPr/>
              </p:nvSpPr>
              <p:spPr>
                <a:xfrm>
                  <a:off x="4416" y="1248"/>
                  <a:ext cx="336" cy="24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dirty="0">
                      <a:latin typeface="Times New Roman" panose="02020603050405020304" pitchFamily="18" charset="0"/>
                    </a:rPr>
                    <a:t>47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2741" name="Rectangle 72"/>
                <p:cNvSpPr/>
                <p:nvPr/>
              </p:nvSpPr>
              <p:spPr>
                <a:xfrm>
                  <a:off x="4750" y="1248"/>
                  <a:ext cx="336" cy="24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dirty="0">
                      <a:latin typeface="Times New Roman" panose="02020603050405020304" pitchFamily="18" charset="0"/>
                    </a:rPr>
                    <a:t>60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72728" name="Group 73"/>
              <p:cNvGrpSpPr/>
              <p:nvPr/>
            </p:nvGrpSpPr>
            <p:grpSpPr>
              <a:xfrm>
                <a:off x="1056" y="1248"/>
                <a:ext cx="1344" cy="480"/>
                <a:chOff x="1056" y="1248"/>
                <a:chExt cx="1344" cy="480"/>
              </a:xfrm>
            </p:grpSpPr>
            <p:sp>
              <p:nvSpPr>
                <p:cNvPr id="72729" name="Rectangle 74"/>
                <p:cNvSpPr/>
                <p:nvPr/>
              </p:nvSpPr>
              <p:spPr>
                <a:xfrm>
                  <a:off x="1056" y="1248"/>
                  <a:ext cx="336" cy="24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dirty="0">
                      <a:latin typeface="Times New Roman" panose="02020603050405020304" pitchFamily="18" charset="0"/>
                    </a:rPr>
                    <a:t>1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2730" name="Rectangle 75"/>
                <p:cNvSpPr/>
                <p:nvPr/>
              </p:nvSpPr>
              <p:spPr>
                <a:xfrm>
                  <a:off x="1392" y="1248"/>
                  <a:ext cx="336" cy="24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dirty="0">
                      <a:latin typeface="Times New Roman" panose="02020603050405020304" pitchFamily="18" charset="0"/>
                    </a:rPr>
                    <a:t>5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3275" name="Rectangle 76"/>
                <p:cNvSpPr>
                  <a:spLocks noChangeArrowheads="1"/>
                </p:cNvSpPr>
                <p:nvPr/>
              </p:nvSpPr>
              <p:spPr bwMode="auto">
                <a:xfrm>
                  <a:off x="1728" y="1248"/>
                  <a:ext cx="336" cy="240"/>
                </a:xfrm>
                <a:prstGeom prst="rect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7</a:t>
                  </a:r>
                  <a:endParaRPr kumimoji="0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2732" name="Rectangle 77"/>
                <p:cNvSpPr/>
                <p:nvPr/>
              </p:nvSpPr>
              <p:spPr>
                <a:xfrm>
                  <a:off x="2064" y="1248"/>
                  <a:ext cx="336" cy="240"/>
                </a:xfrm>
                <a:prstGeom prst="rect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dirty="0">
                      <a:latin typeface="Times New Roman" panose="02020603050405020304" pitchFamily="18" charset="0"/>
                    </a:rPr>
                    <a:t>12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2733" name="Text Box 78"/>
                <p:cNvSpPr txBox="1"/>
                <p:nvPr/>
              </p:nvSpPr>
              <p:spPr>
                <a:xfrm>
                  <a:off x="1488" y="1440"/>
                  <a:ext cx="212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dirty="0">
                      <a:latin typeface="Times New Roman" panose="02020603050405020304" pitchFamily="18" charset="0"/>
                    </a:rPr>
                    <a:t>1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72718" name="Text Box 79"/>
            <p:cNvSpPr txBox="1"/>
            <p:nvPr/>
          </p:nvSpPr>
          <p:spPr>
            <a:xfrm>
              <a:off x="2496" y="144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4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72719" name="Text Box 80"/>
            <p:cNvSpPr txBox="1"/>
            <p:nvPr/>
          </p:nvSpPr>
          <p:spPr>
            <a:xfrm>
              <a:off x="1776" y="144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2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72720" name="Text Box 81"/>
            <p:cNvSpPr txBox="1"/>
            <p:nvPr/>
          </p:nvSpPr>
          <p:spPr>
            <a:xfrm>
              <a:off x="3120" y="144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6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72721" name="Text Box 82"/>
            <p:cNvSpPr txBox="1"/>
            <p:nvPr/>
          </p:nvSpPr>
          <p:spPr>
            <a:xfrm>
              <a:off x="2832" y="144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5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72722" name="Text Box 83"/>
            <p:cNvSpPr txBox="1"/>
            <p:nvPr/>
          </p:nvSpPr>
          <p:spPr>
            <a:xfrm>
              <a:off x="3792" y="144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8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72723" name="Text Box 84"/>
            <p:cNvSpPr txBox="1"/>
            <p:nvPr/>
          </p:nvSpPr>
          <p:spPr>
            <a:xfrm>
              <a:off x="3456" y="144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7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72724" name="Text Box 85"/>
            <p:cNvSpPr txBox="1"/>
            <p:nvPr/>
          </p:nvSpPr>
          <p:spPr>
            <a:xfrm>
              <a:off x="4416" y="1440"/>
              <a:ext cx="3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10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72725" name="Text Box 86"/>
            <p:cNvSpPr txBox="1"/>
            <p:nvPr/>
          </p:nvSpPr>
          <p:spPr>
            <a:xfrm>
              <a:off x="4128" y="144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9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72726" name="Text Box 87"/>
            <p:cNvSpPr txBox="1"/>
            <p:nvPr/>
          </p:nvSpPr>
          <p:spPr>
            <a:xfrm>
              <a:off x="4752" y="1440"/>
              <a:ext cx="43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11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72711" name="Line 88"/>
          <p:cNvSpPr/>
          <p:nvPr/>
        </p:nvSpPr>
        <p:spPr>
          <a:xfrm>
            <a:off x="609600" y="2514600"/>
            <a:ext cx="8534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2712" name="Line 89"/>
          <p:cNvSpPr/>
          <p:nvPr/>
        </p:nvSpPr>
        <p:spPr>
          <a:xfrm>
            <a:off x="609600" y="3962400"/>
            <a:ext cx="8534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2713" name="Line 90"/>
          <p:cNvSpPr/>
          <p:nvPr/>
        </p:nvSpPr>
        <p:spPr>
          <a:xfrm>
            <a:off x="609600" y="5410200"/>
            <a:ext cx="8534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2714" name="Line 91"/>
          <p:cNvSpPr/>
          <p:nvPr/>
        </p:nvSpPr>
        <p:spPr>
          <a:xfrm>
            <a:off x="609600" y="5791200"/>
            <a:ext cx="8534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8434" name="Rectangle 2"/>
          <p:cNvSpPr>
            <a:spLocks noGrp="1"/>
          </p:cNvSpPr>
          <p:nvPr>
            <p:ph type="title"/>
          </p:nvPr>
        </p:nvSpPr>
        <p:spPr>
          <a:xfrm>
            <a:off x="685800" y="152400"/>
            <a:ext cx="6870700" cy="1116013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Hashing</a:t>
            </a:r>
            <a:endParaRPr lang="en-US" altLang="zh-CN" dirty="0"/>
          </a:p>
        </p:txBody>
      </p:sp>
      <p:sp>
        <p:nvSpPr>
          <p:cNvPr id="22531" name="Rectangle 3"/>
          <p:cNvSpPr>
            <a:spLocks noGrp="1"/>
          </p:cNvSpPr>
          <p:nvPr>
            <p:ph idx="1"/>
          </p:nvPr>
        </p:nvSpPr>
        <p:spPr>
          <a:xfrm>
            <a:off x="468313" y="1700213"/>
            <a:ext cx="8229600" cy="4525962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2800" dirty="0"/>
              <a:t>Consider the problem of searching an array for a given value</a:t>
            </a:r>
            <a:endParaRPr lang="en-US" altLang="zh-CN" sz="2800" dirty="0"/>
          </a:p>
          <a:p>
            <a:pPr lvl="1" eaLnBrk="1" hangingPunct="1"/>
            <a:r>
              <a:rPr lang="en-US" altLang="zh-CN" sz="2400" b="1" dirty="0">
                <a:solidFill>
                  <a:srgbClr val="FF0000"/>
                </a:solidFill>
              </a:rPr>
              <a:t>Linear search</a:t>
            </a:r>
            <a:r>
              <a:rPr lang="en-US" altLang="zh-CN" sz="2400" dirty="0"/>
              <a:t>: If the array is </a:t>
            </a:r>
            <a:r>
              <a:rPr lang="en-US" altLang="zh-CN" sz="2400" b="1" dirty="0">
                <a:solidFill>
                  <a:schemeClr val="hlink"/>
                </a:solidFill>
              </a:rPr>
              <a:t>not sorted</a:t>
            </a:r>
            <a:r>
              <a:rPr lang="en-US" altLang="zh-CN" sz="2400" dirty="0"/>
              <a:t>, average and worst case of serial search = </a:t>
            </a:r>
            <a:r>
              <a:rPr lang="en-US" altLang="zh-CN" sz="2400" b="1" dirty="0">
                <a:solidFill>
                  <a:srgbClr val="FF0000"/>
                </a:solidFill>
              </a:rPr>
              <a:t>O(n)</a:t>
            </a:r>
            <a:r>
              <a:rPr lang="en-US" altLang="zh-CN" sz="2400" dirty="0"/>
              <a:t> </a:t>
            </a:r>
            <a:endParaRPr lang="en-US" altLang="zh-CN" sz="2400" dirty="0"/>
          </a:p>
          <a:p>
            <a:pPr lvl="1" eaLnBrk="1" hangingPunct="1"/>
            <a:r>
              <a:rPr lang="en-US" altLang="zh-CN" sz="2400" b="1" dirty="0">
                <a:solidFill>
                  <a:srgbClr val="FF0000"/>
                </a:solidFill>
              </a:rPr>
              <a:t>Binary search</a:t>
            </a:r>
            <a:r>
              <a:rPr lang="en-US" altLang="zh-CN" sz="2400" dirty="0"/>
              <a:t>: If the array is </a:t>
            </a:r>
            <a:r>
              <a:rPr lang="en-US" altLang="zh-CN" sz="2400" b="1" dirty="0">
                <a:solidFill>
                  <a:schemeClr val="hlink"/>
                </a:solidFill>
              </a:rPr>
              <a:t>sorted</a:t>
            </a:r>
            <a:r>
              <a:rPr lang="en-US" altLang="zh-CN" sz="2400" dirty="0">
                <a:solidFill>
                  <a:schemeClr val="hlink"/>
                </a:solidFill>
              </a:rPr>
              <a:t>,</a:t>
            </a:r>
            <a:r>
              <a:rPr lang="en-US" altLang="zh-CN" sz="2400" dirty="0"/>
              <a:t> Average and worst case of binary search= </a:t>
            </a:r>
            <a:r>
              <a:rPr lang="en-US" altLang="zh-CN" sz="2400" b="1" dirty="0">
                <a:solidFill>
                  <a:srgbClr val="FF0000"/>
                </a:solidFill>
              </a:rPr>
              <a:t>O(log n) 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pPr eaLnBrk="1" hangingPunct="1"/>
            <a:r>
              <a:rPr lang="en-US" altLang="zh-CN" dirty="0"/>
              <a:t>Can we do better than this, </a:t>
            </a:r>
            <a:r>
              <a:rPr lang="en-US" altLang="zh-CN" dirty="0">
                <a:solidFill>
                  <a:srgbClr val="FF0000"/>
                </a:solidFill>
              </a:rPr>
              <a:t>O(1)</a:t>
            </a:r>
            <a:r>
              <a:rPr lang="en-US" altLang="zh-CN" dirty="0"/>
              <a:t> ? </a:t>
            </a:r>
            <a:endParaRPr lang="en-US" altLang="zh-CN" dirty="0"/>
          </a:p>
          <a:p>
            <a:pPr eaLnBrk="1" hangingPunct="1">
              <a:buNone/>
            </a:pPr>
            <a:r>
              <a:rPr lang="en-US" altLang="zh-CN" dirty="0">
                <a:solidFill>
                  <a:srgbClr val="FFCC00"/>
                </a:solidFill>
              </a:rPr>
              <a:t>     </a:t>
            </a:r>
            <a:r>
              <a:rPr lang="en-US" altLang="zh-CN" sz="4000" dirty="0">
                <a:solidFill>
                  <a:srgbClr val="FF0000"/>
                </a:solidFill>
              </a:rPr>
              <a:t>YES.  Use a hash table!</a:t>
            </a:r>
            <a:endParaRPr lang="en-US" altLang="zh-CN" sz="4000" dirty="0">
              <a:solidFill>
                <a:srgbClr val="FF0000"/>
              </a:solidFill>
            </a:endParaRPr>
          </a:p>
          <a:p>
            <a:pPr eaLnBrk="1" hangingPunct="1">
              <a:buNone/>
            </a:pPr>
            <a:endParaRPr lang="en-US" altLang="zh-CN" dirty="0">
              <a:solidFill>
                <a:srgbClr val="FF0000"/>
              </a:solidFill>
            </a:endParaRPr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charRg st="242" end="27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charRg st="278" end="30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9458" name="Rectangle 2"/>
          <p:cNvSpPr>
            <a:spLocks noGrp="1"/>
          </p:cNvSpPr>
          <p:nvPr>
            <p:ph type="title"/>
          </p:nvPr>
        </p:nvSpPr>
        <p:spPr>
          <a:xfrm>
            <a:off x="685800" y="152400"/>
            <a:ext cx="6870700" cy="1116013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Hashing</a:t>
            </a:r>
            <a:r>
              <a:rPr lang="zh-CN" altLang="en-US" dirty="0"/>
              <a:t>（杂凑）</a:t>
            </a:r>
            <a:endParaRPr lang="en-US" altLang="zh-CN" dirty="0"/>
          </a:p>
        </p:txBody>
      </p:sp>
      <p:sp>
        <p:nvSpPr>
          <p:cNvPr id="13315" name="Rectangle 3"/>
          <p:cNvSpPr>
            <a:spLocks noGrp="1"/>
          </p:cNvSpPr>
          <p:nvPr>
            <p:ph idx="1"/>
          </p:nvPr>
        </p:nvSpPr>
        <p:spPr>
          <a:xfrm>
            <a:off x="457200" y="1196975"/>
            <a:ext cx="8229600" cy="4525963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2800" dirty="0"/>
              <a:t>Suppose we were to come up with a </a:t>
            </a:r>
            <a:r>
              <a:rPr lang="en-US" altLang="zh-CN" sz="2800" dirty="0">
                <a:latin typeface="Times New Roman" panose="02020603050405020304" pitchFamily="18" charset="0"/>
              </a:rPr>
              <a:t>“</a:t>
            </a:r>
            <a:r>
              <a:rPr lang="en-US" altLang="zh-CN" sz="2800" b="1" dirty="0">
                <a:solidFill>
                  <a:srgbClr val="FF0000"/>
                </a:solidFill>
              </a:rPr>
              <a:t>magic function</a:t>
            </a:r>
            <a:r>
              <a:rPr lang="en-US" altLang="zh-CN" sz="2800" dirty="0">
                <a:latin typeface="Times New Roman" panose="02020603050405020304" pitchFamily="18" charset="0"/>
              </a:rPr>
              <a:t>”</a:t>
            </a:r>
            <a:r>
              <a:rPr lang="en-US" altLang="zh-CN" sz="2800" dirty="0"/>
              <a:t> that, given a value of the key to search for, would tell us exactly where in the array to look at</a:t>
            </a:r>
            <a:endParaRPr lang="en-US" altLang="zh-CN" sz="2800" dirty="0"/>
          </a:p>
          <a:p>
            <a:pPr lvl="1" eaLnBrk="1" hangingPunct="1"/>
            <a:r>
              <a:rPr lang="en-US" altLang="zh-CN" sz="2400" dirty="0"/>
              <a:t>If it</a:t>
            </a:r>
            <a:r>
              <a:rPr lang="en-US" altLang="zh-CN" sz="2400" dirty="0">
                <a:latin typeface="Times New Roman" panose="02020603050405020304" pitchFamily="18" charset="0"/>
              </a:rPr>
              <a:t>’</a:t>
            </a:r>
            <a:r>
              <a:rPr lang="en-US" altLang="zh-CN" sz="2400" dirty="0"/>
              <a:t>s in that location, it</a:t>
            </a:r>
            <a:r>
              <a:rPr lang="en-US" altLang="zh-CN" sz="2400" dirty="0">
                <a:latin typeface="Times New Roman" panose="02020603050405020304" pitchFamily="18" charset="0"/>
              </a:rPr>
              <a:t>’</a:t>
            </a:r>
            <a:r>
              <a:rPr lang="en-US" altLang="zh-CN" sz="2400" dirty="0"/>
              <a:t>s in the array</a:t>
            </a:r>
            <a:endParaRPr lang="en-US" altLang="zh-CN" sz="2400" dirty="0"/>
          </a:p>
          <a:p>
            <a:pPr lvl="1" eaLnBrk="1" hangingPunct="1"/>
            <a:r>
              <a:rPr lang="en-US" altLang="zh-CN" sz="2400" dirty="0"/>
              <a:t>If it</a:t>
            </a:r>
            <a:r>
              <a:rPr lang="en-US" altLang="zh-CN" sz="2400" dirty="0">
                <a:latin typeface="Times New Roman" panose="02020603050405020304" pitchFamily="18" charset="0"/>
              </a:rPr>
              <a:t>’</a:t>
            </a:r>
            <a:r>
              <a:rPr lang="en-US" altLang="zh-CN" sz="2400" dirty="0"/>
              <a:t>s not in that location, it</a:t>
            </a:r>
            <a:r>
              <a:rPr lang="en-US" altLang="zh-CN" sz="2400" dirty="0">
                <a:latin typeface="Times New Roman" panose="02020603050405020304" pitchFamily="18" charset="0"/>
              </a:rPr>
              <a:t>’</a:t>
            </a:r>
            <a:r>
              <a:rPr lang="en-US" altLang="zh-CN" sz="2400" dirty="0"/>
              <a:t>s not in the array</a:t>
            </a:r>
            <a:endParaRPr lang="en-US" altLang="zh-CN" sz="2400" dirty="0"/>
          </a:p>
          <a:p>
            <a:pPr eaLnBrk="1" hangingPunct="1"/>
            <a:r>
              <a:rPr lang="en-US" altLang="zh-CN" sz="2800" dirty="0"/>
              <a:t>This function would have no other purpose</a:t>
            </a:r>
            <a:endParaRPr lang="en-US" altLang="zh-CN" sz="2800" dirty="0"/>
          </a:p>
          <a:p>
            <a:pPr eaLnBrk="1" hangingPunct="1"/>
            <a:r>
              <a:rPr lang="en-US" altLang="zh-CN" sz="2800" dirty="0"/>
              <a:t>If we look at the function</a:t>
            </a:r>
            <a:r>
              <a:rPr lang="en-US" altLang="zh-CN" sz="2800" dirty="0">
                <a:latin typeface="Times New Roman" panose="02020603050405020304" pitchFamily="18" charset="0"/>
              </a:rPr>
              <a:t>’</a:t>
            </a:r>
            <a:r>
              <a:rPr lang="en-US" altLang="zh-CN" sz="2800" dirty="0"/>
              <a:t>s inputs and outputs, they probably won</a:t>
            </a:r>
            <a:r>
              <a:rPr lang="en-US" altLang="zh-CN" sz="2800" dirty="0">
                <a:latin typeface="Times New Roman" panose="02020603050405020304" pitchFamily="18" charset="0"/>
              </a:rPr>
              <a:t>’</a:t>
            </a:r>
            <a:r>
              <a:rPr lang="en-US" altLang="zh-CN" sz="2800" dirty="0"/>
              <a:t>t </a:t>
            </a:r>
            <a:r>
              <a:rPr lang="en-US" altLang="zh-CN" sz="2800" dirty="0">
                <a:latin typeface="Times New Roman" panose="02020603050405020304" pitchFamily="18" charset="0"/>
              </a:rPr>
              <a:t>“</a:t>
            </a:r>
            <a:r>
              <a:rPr lang="en-US" altLang="zh-CN" sz="2800" dirty="0"/>
              <a:t>make sense</a:t>
            </a:r>
            <a:r>
              <a:rPr lang="en-US" altLang="zh-CN" sz="2800" dirty="0">
                <a:latin typeface="Times New Roman" panose="02020603050405020304" pitchFamily="18" charset="0"/>
              </a:rPr>
              <a:t>”</a:t>
            </a:r>
            <a:endParaRPr lang="en-US" altLang="zh-CN" sz="2800" dirty="0"/>
          </a:p>
          <a:p>
            <a:pPr eaLnBrk="1" hangingPunct="1"/>
            <a:r>
              <a:rPr lang="en-US" altLang="zh-CN" sz="2800" dirty="0"/>
              <a:t>This function is called a </a:t>
            </a:r>
            <a:r>
              <a:rPr lang="en-US" altLang="zh-CN" sz="2800" dirty="0">
                <a:solidFill>
                  <a:schemeClr val="tx2"/>
                </a:solidFill>
              </a:rPr>
              <a:t>hash function</a:t>
            </a:r>
            <a:r>
              <a:rPr lang="en-US" altLang="zh-CN" sz="2800" dirty="0"/>
              <a:t> </a:t>
            </a:r>
            <a:endParaRPr lang="en-US" altLang="zh-CN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charRg st="0" end="1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charRg st="149" end="19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charRg st="193" end="2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charRg st="245" end="28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charRg st="287" end="3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charRg st="369" end="4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0482" name="Rectangle 2"/>
          <p:cNvSpPr>
            <a:spLocks noGrp="1"/>
          </p:cNvSpPr>
          <p:nvPr>
            <p:ph type="title"/>
          </p:nvPr>
        </p:nvSpPr>
        <p:spPr>
          <a:xfrm>
            <a:off x="685800" y="152400"/>
            <a:ext cx="6870700" cy="1044575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Hash Tables</a:t>
            </a:r>
            <a:endParaRPr lang="en-US" altLang="zh-CN" dirty="0"/>
          </a:p>
        </p:txBody>
      </p:sp>
      <p:sp>
        <p:nvSpPr>
          <p:cNvPr id="93187" name="Rectangle 3"/>
          <p:cNvSpPr>
            <a:spLocks noGrp="1"/>
          </p:cNvSpPr>
          <p:nvPr>
            <p:ph idx="1"/>
          </p:nvPr>
        </p:nvSpPr>
        <p:spPr>
          <a:xfrm>
            <a:off x="684213" y="1412875"/>
            <a:ext cx="7632700" cy="5040313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sz="2400" dirty="0"/>
              <a:t>The simplest kind of hash table</a:t>
            </a:r>
            <a:endParaRPr lang="en-US" altLang="zh-CN" sz="2400" dirty="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dirty="0"/>
              <a:t>    is an array of some fixed size </a:t>
            </a:r>
            <a:endParaRPr lang="en-US" altLang="zh-CN" sz="2400" dirty="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dirty="0"/>
              <a:t>    (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TableSize</a:t>
            </a:r>
            <a:r>
              <a:rPr lang="en-US" altLang="zh-CN" sz="2400" dirty="0"/>
              <a:t>), containing records.</a:t>
            </a:r>
            <a:endParaRPr lang="en-US" altLang="zh-CN" sz="2400" dirty="0"/>
          </a:p>
          <a:p>
            <a:pPr eaLnBrk="1" hangingPunct="1">
              <a:lnSpc>
                <a:spcPct val="90000"/>
              </a:lnSpc>
            </a:pPr>
            <a:endParaRPr lang="en-US" altLang="zh-CN" sz="2400" dirty="0"/>
          </a:p>
          <a:p>
            <a:pPr eaLnBrk="1" hangingPunct="1">
              <a:lnSpc>
                <a:spcPct val="90000"/>
              </a:lnSpc>
            </a:pPr>
            <a:endParaRPr lang="en-US" altLang="zh-CN" sz="2400" dirty="0"/>
          </a:p>
          <a:p>
            <a:pPr eaLnBrk="1" hangingPunct="1">
              <a:lnSpc>
                <a:spcPct val="90000"/>
              </a:lnSpc>
            </a:pPr>
            <a:r>
              <a:rPr lang="en-US" altLang="zh-CN" sz="2400" dirty="0"/>
              <a:t>Each record has a special field, </a:t>
            </a:r>
            <a:endParaRPr lang="en-US" altLang="zh-CN" sz="2400" dirty="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dirty="0"/>
              <a:t>   called its </a:t>
            </a:r>
            <a:r>
              <a:rPr lang="en-US" altLang="zh-CN" sz="2400" b="1" dirty="0">
                <a:solidFill>
                  <a:srgbClr val="0000FF"/>
                </a:solidFill>
              </a:rPr>
              <a:t>key</a:t>
            </a:r>
            <a:r>
              <a:rPr lang="en-US" altLang="zh-CN" sz="2400" dirty="0"/>
              <a:t>.</a:t>
            </a:r>
            <a:endParaRPr lang="en-US" altLang="zh-CN" sz="2400" dirty="0"/>
          </a:p>
          <a:p>
            <a:pPr eaLnBrk="1" hangingPunct="1">
              <a:lnSpc>
                <a:spcPct val="90000"/>
              </a:lnSpc>
              <a:buNone/>
            </a:pPr>
            <a:endParaRPr lang="en-US" altLang="zh-CN" sz="2400" dirty="0"/>
          </a:p>
          <a:p>
            <a:pPr eaLnBrk="1" hangingPunct="1">
              <a:lnSpc>
                <a:spcPct val="90000"/>
              </a:lnSpc>
            </a:pPr>
            <a:endParaRPr lang="en-US" altLang="zh-CN" sz="2400" dirty="0"/>
          </a:p>
          <a:p>
            <a:pPr eaLnBrk="1" hangingPunct="1">
              <a:lnSpc>
                <a:spcPct val="90000"/>
              </a:lnSpc>
            </a:pPr>
            <a:r>
              <a:rPr lang="en-US" altLang="zh-CN" sz="2400" dirty="0"/>
              <a:t>For each key </a:t>
            </a:r>
            <a:r>
              <a:rPr lang="en-US" altLang="zh-CN" sz="2400" b="1" i="1" dirty="0"/>
              <a:t>x</a:t>
            </a:r>
            <a:r>
              <a:rPr lang="en-US" altLang="zh-CN" sz="2400" dirty="0"/>
              <a:t>,  we define a </a:t>
            </a:r>
            <a:r>
              <a:rPr lang="en-US" altLang="zh-CN" sz="2400" b="1" dirty="0">
                <a:solidFill>
                  <a:srgbClr val="0000FF"/>
                </a:solidFill>
              </a:rPr>
              <a:t>hash function</a:t>
            </a:r>
            <a:r>
              <a:rPr lang="en-US" altLang="zh-CN" sz="2400" dirty="0">
                <a:solidFill>
                  <a:srgbClr val="0000FF"/>
                </a:solidFill>
              </a:rPr>
              <a:t> </a:t>
            </a:r>
            <a:endParaRPr lang="en-US" altLang="zh-CN" sz="2400" dirty="0">
              <a:solidFill>
                <a:srgbClr val="0000FF"/>
              </a:solidFill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dirty="0"/>
              <a:t>             </a:t>
            </a:r>
            <a:r>
              <a:rPr lang="en-US" altLang="zh-CN" sz="2400" b="1" dirty="0">
                <a:solidFill>
                  <a:srgbClr val="FF3300"/>
                </a:solidFill>
              </a:rPr>
              <a:t>f ( x ) = position of x in ht[ ]</a:t>
            </a:r>
            <a:r>
              <a:rPr lang="en-US" altLang="zh-CN" sz="2400" dirty="0"/>
              <a:t> </a:t>
            </a:r>
            <a:endParaRPr lang="en-US" altLang="zh-CN" sz="2400" dirty="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dirty="0"/>
              <a:t>   (i.e. the index of the bucket that contains the record with key x ) </a:t>
            </a:r>
            <a:endParaRPr lang="en-US" altLang="zh-CN" sz="2400" dirty="0"/>
          </a:p>
          <a:p>
            <a:pPr eaLnBrk="1" hangingPunct="1">
              <a:lnSpc>
                <a:spcPct val="90000"/>
              </a:lnSpc>
            </a:pPr>
            <a:endParaRPr lang="en-US" altLang="zh-CN" sz="2400" dirty="0"/>
          </a:p>
          <a:p>
            <a:pPr eaLnBrk="1" hangingPunct="1">
              <a:lnSpc>
                <a:spcPct val="90000"/>
              </a:lnSpc>
            </a:pPr>
            <a:endParaRPr lang="en-US" altLang="zh-CN" sz="2400" dirty="0"/>
          </a:p>
        </p:txBody>
      </p:sp>
      <p:sp>
        <p:nvSpPr>
          <p:cNvPr id="20484" name="Rectangle 22"/>
          <p:cNvSpPr/>
          <p:nvPr/>
        </p:nvSpPr>
        <p:spPr>
          <a:xfrm>
            <a:off x="6594475" y="1320800"/>
            <a:ext cx="801688" cy="457200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20485" name="Rectangle 26"/>
          <p:cNvSpPr/>
          <p:nvPr/>
        </p:nvSpPr>
        <p:spPr>
          <a:xfrm>
            <a:off x="5756275" y="1397000"/>
            <a:ext cx="838200" cy="304800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ht [ 0 ]</a:t>
            </a:r>
            <a:endParaRPr lang="en-US" altLang="zh-CN" sz="1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486" name="Rectangle 28"/>
          <p:cNvSpPr/>
          <p:nvPr/>
        </p:nvSpPr>
        <p:spPr>
          <a:xfrm>
            <a:off x="6594475" y="1778000"/>
            <a:ext cx="801688" cy="457200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20487" name="Rectangle 32"/>
          <p:cNvSpPr/>
          <p:nvPr/>
        </p:nvSpPr>
        <p:spPr>
          <a:xfrm>
            <a:off x="5756275" y="1854200"/>
            <a:ext cx="838200" cy="304800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ht [ 1 ]</a:t>
            </a:r>
            <a:endParaRPr lang="en-US" altLang="zh-CN" sz="1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488" name="Rectangle 34"/>
          <p:cNvSpPr/>
          <p:nvPr/>
        </p:nvSpPr>
        <p:spPr>
          <a:xfrm>
            <a:off x="6594475" y="3835400"/>
            <a:ext cx="801688" cy="457200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20489" name="Rectangle 38"/>
          <p:cNvSpPr/>
          <p:nvPr/>
        </p:nvSpPr>
        <p:spPr>
          <a:xfrm>
            <a:off x="5364163" y="3913188"/>
            <a:ext cx="838200" cy="304800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ht [</a:t>
            </a:r>
            <a:r>
              <a:rPr lang="en-US" altLang="zh-CN" sz="18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Tablesize</a:t>
            </a:r>
            <a:r>
              <a:rPr lang="en-US" altLang="zh-CN" sz="1800" b="1" dirty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1</a:t>
            </a:r>
            <a:r>
              <a:rPr lang="en-US" altLang="zh-CN" sz="1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]</a:t>
            </a:r>
            <a:endParaRPr lang="en-US" altLang="zh-CN" sz="1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490" name="Rectangle 39"/>
          <p:cNvSpPr/>
          <p:nvPr/>
        </p:nvSpPr>
        <p:spPr>
          <a:xfrm>
            <a:off x="6594475" y="1320800"/>
            <a:ext cx="801688" cy="2971800"/>
          </a:xfrm>
          <a:prstGeom prst="rect">
            <a:avLst/>
          </a:prstGeom>
          <a:noFill/>
          <a:ln w="76200" cap="flat" cmpd="tri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       </a:t>
            </a:r>
            <a:r>
              <a:rPr lang="en-US" altLang="zh-CN" sz="3600" b="1" dirty="0">
                <a:latin typeface="Times New Roman" panose="02020603050405020304" pitchFamily="18" charset="0"/>
              </a:rPr>
              <a:t>… …</a:t>
            </a:r>
            <a:endParaRPr lang="en-US" altLang="zh-CN" sz="3600" b="1" dirty="0">
              <a:latin typeface="Times New Roman" panose="02020603050405020304" pitchFamily="18" charset="0"/>
            </a:endParaRPr>
          </a:p>
        </p:txBody>
      </p:sp>
      <p:sp>
        <p:nvSpPr>
          <p:cNvPr id="20491" name="Rectangle 40"/>
          <p:cNvSpPr/>
          <p:nvPr/>
        </p:nvSpPr>
        <p:spPr>
          <a:xfrm>
            <a:off x="6061075" y="2387600"/>
            <a:ext cx="381000" cy="1371600"/>
          </a:xfrm>
          <a:prstGeom prst="rect">
            <a:avLst/>
          </a:prstGeom>
          <a:noFill/>
          <a:ln w="25400">
            <a:noFill/>
          </a:ln>
        </p:spPr>
        <p:txBody>
          <a:bodyPr vert="eaVert"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</a:rPr>
              <a:t>…  …</a:t>
            </a:r>
            <a:endParaRPr lang="en-US" altLang="zh-CN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" name="Group 41"/>
          <p:cNvGrpSpPr/>
          <p:nvPr/>
        </p:nvGrpSpPr>
        <p:grpSpPr>
          <a:xfrm>
            <a:off x="7540625" y="1320800"/>
            <a:ext cx="1693863" cy="2971800"/>
            <a:chOff x="2352" y="1296"/>
            <a:chExt cx="1067" cy="1872"/>
          </a:xfrm>
        </p:grpSpPr>
        <p:sp>
          <p:nvSpPr>
            <p:cNvPr id="20493" name="AutoShape 42"/>
            <p:cNvSpPr/>
            <p:nvPr/>
          </p:nvSpPr>
          <p:spPr>
            <a:xfrm>
              <a:off x="2352" y="1296"/>
              <a:ext cx="240" cy="1872"/>
            </a:xfrm>
            <a:prstGeom prst="rightBrace">
              <a:avLst>
                <a:gd name="adj1" fmla="val 65000"/>
                <a:gd name="adj2" fmla="val 50000"/>
              </a:avLst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0494" name="Rectangle 43"/>
            <p:cNvSpPr/>
            <p:nvPr/>
          </p:nvSpPr>
          <p:spPr>
            <a:xfrm>
              <a:off x="2507" y="2064"/>
              <a:ext cx="912" cy="336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i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TableSize</a:t>
              </a: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 </a:t>
              </a:r>
              <a:endPara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buckets</a:t>
              </a:r>
              <a:endPara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charRg st="107" end="1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charRg st="141" end="1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charRg st="162" end="20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charRg st="206" end="2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charRg st="253" end="3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94210" name="Text Box 2"/>
          <p:cNvSpPr txBox="1"/>
          <p:nvPr/>
        </p:nvSpPr>
        <p:spPr>
          <a:xfrm>
            <a:off x="285750" y="-26987"/>
            <a:ext cx="8534400" cy="1814830"/>
          </a:xfrm>
          <a:prstGeom prst="rect">
            <a:avLst/>
          </a:prstGeom>
          <a:noFill/>
          <a:ln w="25400">
            <a:noFill/>
          </a:ln>
        </p:spPr>
        <p:txBody>
          <a:bodyPr lIns="0" r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660400" lvl="0" indent="-660400" eaLnBrk="1" hangingPunct="1">
              <a:spcBef>
                <a:spcPct val="50000"/>
              </a:spcBef>
              <a:buNone/>
            </a:pPr>
            <a:r>
              <a:rPr lang="en-US" altLang="zh-CN" sz="4000" dirty="0">
                <a:solidFill>
                  <a:schemeClr val="hlink"/>
                </a:solidFill>
                <a:latin typeface="Times New Roman" panose="02020603050405020304" pitchFamily="18" charset="0"/>
                <a:sym typeface="Webdings" panose="05030102010509060703" pitchFamily="18" charset="2"/>
              </a:rPr>
              <a:t> </a:t>
            </a:r>
            <a:r>
              <a:rPr lang="en-US" altLang="zh-CN" sz="2400" b="1" dirty="0">
                <a:sym typeface="Webdings" panose="05030102010509060703" pitchFamily="18" charset="2"/>
              </a:rPr>
              <a:t>A</a:t>
            </a:r>
            <a:r>
              <a:rPr lang="en-US" altLang="zh-CN" sz="2400" b="1" dirty="0">
                <a:solidFill>
                  <a:schemeClr val="hlink"/>
                </a:solidFill>
                <a:sym typeface="Webdings" panose="05030102010509060703" pitchFamily="18" charset="2"/>
              </a:rPr>
              <a:t> </a:t>
            </a:r>
            <a:r>
              <a:rPr lang="en-US" altLang="zh-CN" sz="2400" b="1" dirty="0">
                <a:solidFill>
                  <a:srgbClr val="0000FF"/>
                </a:solidFill>
                <a:sym typeface="Webdings" panose="05030102010509060703" pitchFamily="18" charset="2"/>
              </a:rPr>
              <a:t>collision</a:t>
            </a:r>
            <a:r>
              <a:rPr lang="zh-CN" altLang="en-US" sz="2400" b="1" dirty="0">
                <a:solidFill>
                  <a:srgbClr val="0000FF"/>
                </a:solidFill>
                <a:sym typeface="Webdings" panose="05030102010509060703" pitchFamily="18" charset="2"/>
              </a:rPr>
              <a:t>（冲突）</a:t>
            </a:r>
            <a:r>
              <a:rPr lang="en-US" altLang="zh-CN" sz="2400" b="1" dirty="0">
                <a:sym typeface="Webdings" panose="05030102010509060703" pitchFamily="18" charset="2"/>
              </a:rPr>
              <a:t>occurs when we hash two nonidentical</a:t>
            </a:r>
            <a:endParaRPr lang="en-US" altLang="zh-CN" sz="2400" b="1" dirty="0">
              <a:sym typeface="Webdings" panose="05030102010509060703" pitchFamily="18" charset="2"/>
            </a:endParaRPr>
          </a:p>
          <a:p>
            <a:pPr marL="660400" lvl="0" indent="-66040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ym typeface="Webdings" panose="05030102010509060703" pitchFamily="18" charset="2"/>
              </a:rPr>
              <a:t> keys into the same bucket, i.e.  </a:t>
            </a:r>
            <a:r>
              <a:rPr lang="en-US" altLang="zh-CN" sz="2400" b="1" i="1" dirty="0">
                <a:latin typeface="Times New Roman" panose="02020603050405020304" pitchFamily="18" charset="0"/>
                <a:sym typeface="Webdings" panose="05030102010509060703" pitchFamily="18" charset="2"/>
              </a:rPr>
              <a:t>f</a:t>
            </a:r>
            <a:r>
              <a:rPr lang="en-US" altLang="zh-CN" sz="2400" b="1" dirty="0">
                <a:latin typeface="Times New Roman" panose="02020603050405020304" pitchFamily="18" charset="0"/>
                <a:sym typeface="Webdings" panose="05030102010509060703" pitchFamily="18" charset="2"/>
              </a:rPr>
              <a:t> ( </a:t>
            </a:r>
            <a:r>
              <a:rPr lang="en-US" altLang="zh-CN" sz="2400" b="1" i="1" dirty="0">
                <a:latin typeface="Times New Roman" panose="02020603050405020304" pitchFamily="18" charset="0"/>
                <a:sym typeface="Webdings" panose="05030102010509060703" pitchFamily="18" charset="2"/>
              </a:rPr>
              <a:t>x</a:t>
            </a:r>
            <a:r>
              <a:rPr lang="en-US" altLang="zh-CN" sz="2400" b="1" baseline="-25000" dirty="0">
                <a:latin typeface="Times New Roman" panose="02020603050405020304" pitchFamily="18" charset="0"/>
                <a:sym typeface="Webdings" panose="05030102010509060703" pitchFamily="18" charset="2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  <a:sym typeface="Webdings" panose="05030102010509060703" pitchFamily="18" charset="2"/>
              </a:rPr>
              <a:t> ) = </a:t>
            </a:r>
            <a:r>
              <a:rPr lang="en-US" altLang="zh-CN" sz="2400" b="1" i="1" dirty="0">
                <a:latin typeface="Times New Roman" panose="02020603050405020304" pitchFamily="18" charset="0"/>
                <a:sym typeface="Webdings" panose="05030102010509060703" pitchFamily="18" charset="2"/>
              </a:rPr>
              <a:t>f</a:t>
            </a:r>
            <a:r>
              <a:rPr lang="en-US" altLang="zh-CN" sz="2400" b="1" dirty="0">
                <a:latin typeface="Times New Roman" panose="02020603050405020304" pitchFamily="18" charset="0"/>
                <a:sym typeface="Webdings" panose="05030102010509060703" pitchFamily="18" charset="2"/>
              </a:rPr>
              <a:t> ( </a:t>
            </a:r>
            <a:r>
              <a:rPr lang="en-US" altLang="zh-CN" sz="2400" b="1" i="1" dirty="0">
                <a:latin typeface="Times New Roman" panose="02020603050405020304" pitchFamily="18" charset="0"/>
                <a:sym typeface="Webdings" panose="05030102010509060703" pitchFamily="18" charset="2"/>
              </a:rPr>
              <a:t>x</a:t>
            </a:r>
            <a:r>
              <a:rPr lang="en-US" altLang="zh-CN" sz="2400" b="1" baseline="-25000" dirty="0">
                <a:latin typeface="Times New Roman" panose="02020603050405020304" pitchFamily="18" charset="0"/>
                <a:sym typeface="Webdings" panose="05030102010509060703" pitchFamily="18" charset="2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  <a:sym typeface="Webdings" panose="05030102010509060703" pitchFamily="18" charset="2"/>
              </a:rPr>
              <a:t> )</a:t>
            </a:r>
            <a:r>
              <a:rPr lang="en-US" altLang="zh-CN" sz="2400" b="1" dirty="0">
                <a:sym typeface="Webdings" panose="05030102010509060703" pitchFamily="18" charset="2"/>
              </a:rPr>
              <a:t> when </a:t>
            </a:r>
            <a:endParaRPr lang="en-US" altLang="zh-CN" sz="2400" b="1" dirty="0">
              <a:sym typeface="Webdings" panose="05030102010509060703" pitchFamily="18" charset="2"/>
            </a:endParaRPr>
          </a:p>
          <a:p>
            <a:pPr marL="660400" lvl="0" indent="-660400" eaLnBrk="1" hangingPunct="1">
              <a:spcBef>
                <a:spcPct val="50000"/>
              </a:spcBef>
              <a:buNone/>
            </a:pPr>
            <a:r>
              <a:rPr lang="en-US" altLang="zh-CN" sz="2400" b="1" i="1" dirty="0">
                <a:latin typeface="Times New Roman" panose="02020603050405020304" pitchFamily="18" charset="0"/>
                <a:sym typeface="Webdings" panose="05030102010509060703" pitchFamily="18" charset="2"/>
              </a:rPr>
              <a:t>  </a:t>
            </a:r>
            <a:r>
              <a:rPr lang="en-US" altLang="zh-CN" sz="2400" b="1" i="1" dirty="0">
                <a:latin typeface="Times New Roman" panose="02020603050405020304" pitchFamily="18" charset="0"/>
                <a:sym typeface="Webdings" panose="05030102010509060703" pitchFamily="18" charset="2"/>
              </a:rPr>
              <a:t>x</a:t>
            </a:r>
            <a:r>
              <a:rPr lang="en-US" altLang="zh-CN" sz="2400" b="1" baseline="-25000" dirty="0">
                <a:latin typeface="Times New Roman" panose="02020603050405020304" pitchFamily="18" charset="0"/>
                <a:sym typeface="Webdings" panose="05030102010509060703" pitchFamily="18" charset="2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  <a:sym typeface="Webdings" panose="05030102010509060703" pitchFamily="18" charset="2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 </a:t>
            </a:r>
            <a:r>
              <a:rPr lang="en-US" altLang="zh-CN" sz="2400" b="1" i="1" dirty="0">
                <a:latin typeface="Times New Roman" panose="02020603050405020304" pitchFamily="18" charset="0"/>
                <a:sym typeface="Webdings" panose="05030102010509060703" pitchFamily="18" charset="2"/>
              </a:rPr>
              <a:t>x</a:t>
            </a:r>
            <a:r>
              <a:rPr lang="en-US" altLang="zh-CN" sz="2400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1" baseline="-25000" dirty="0">
                <a:sym typeface="Symbol" panose="05050102010706020507" pitchFamily="18" charset="2"/>
              </a:rPr>
              <a:t> </a:t>
            </a:r>
            <a:r>
              <a:rPr lang="en-US" altLang="zh-CN" sz="2400" b="1" dirty="0">
                <a:sym typeface="Symbol" panose="05050102010706020507" pitchFamily="18" charset="2"/>
              </a:rPr>
              <a:t>.</a:t>
            </a:r>
            <a:endParaRPr lang="en-US" altLang="zh-CN" sz="2400" b="1" dirty="0"/>
          </a:p>
        </p:txBody>
      </p:sp>
      <p:sp>
        <p:nvSpPr>
          <p:cNvPr id="94213" name="Text Box 5"/>
          <p:cNvSpPr txBox="1"/>
          <p:nvPr/>
        </p:nvSpPr>
        <p:spPr>
          <a:xfrm>
            <a:off x="304800" y="1989138"/>
            <a:ext cx="83058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1905000" lvl="0" indent="-190500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ea typeface="MS Hei" pitchFamily="49" charset="-122"/>
              </a:rPr>
              <a:t>〖</a:t>
            </a:r>
            <a:r>
              <a:rPr lang="en-US" altLang="zh-CN" sz="2400" b="1" dirty="0"/>
              <a:t>Example</a:t>
            </a:r>
            <a:r>
              <a:rPr lang="en-US" altLang="zh-CN" sz="2400" b="1" dirty="0">
                <a:ea typeface="MS Hei" pitchFamily="49" charset="-122"/>
              </a:rPr>
              <a:t>〗</a:t>
            </a:r>
            <a:r>
              <a:rPr lang="en-US" altLang="zh-CN" sz="2400" b="1" dirty="0"/>
              <a:t>  Mapping  </a:t>
            </a:r>
            <a:r>
              <a:rPr lang="en-US" altLang="zh-CN" sz="2400" b="1" i="1" dirty="0"/>
              <a:t>n</a:t>
            </a:r>
            <a:r>
              <a:rPr lang="en-US" altLang="zh-CN" sz="2400" b="1" dirty="0"/>
              <a:t> = 10  strings into a hash table ht[ ] with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TableSize</a:t>
            </a:r>
            <a:r>
              <a:rPr lang="en-US" altLang="zh-CN" sz="2400" b="1" dirty="0"/>
              <a:t> = 26.</a:t>
            </a:r>
            <a:endParaRPr lang="en-US" altLang="zh-CN" sz="2400" b="1" dirty="0"/>
          </a:p>
        </p:txBody>
      </p:sp>
      <p:sp>
        <p:nvSpPr>
          <p:cNvPr id="21508" name="Rectangle 10"/>
          <p:cNvSpPr/>
          <p:nvPr/>
        </p:nvSpPr>
        <p:spPr>
          <a:xfrm>
            <a:off x="7221538" y="3709988"/>
            <a:ext cx="838200" cy="304800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21509" name="Rectangle 12"/>
          <p:cNvSpPr/>
          <p:nvPr/>
        </p:nvSpPr>
        <p:spPr>
          <a:xfrm>
            <a:off x="6372225" y="3709988"/>
            <a:ext cx="838200" cy="304800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0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21510" name="Rectangle 15"/>
          <p:cNvSpPr/>
          <p:nvPr/>
        </p:nvSpPr>
        <p:spPr>
          <a:xfrm>
            <a:off x="6383338" y="4014788"/>
            <a:ext cx="838200" cy="304800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1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21511" name="Rectangle 16"/>
          <p:cNvSpPr/>
          <p:nvPr/>
        </p:nvSpPr>
        <p:spPr>
          <a:xfrm>
            <a:off x="7221538" y="4319588"/>
            <a:ext cx="838200" cy="304800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21512" name="Rectangle 18"/>
          <p:cNvSpPr/>
          <p:nvPr/>
        </p:nvSpPr>
        <p:spPr>
          <a:xfrm>
            <a:off x="6383338" y="4319588"/>
            <a:ext cx="838200" cy="304800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2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21513" name="Rectangle 19"/>
          <p:cNvSpPr/>
          <p:nvPr/>
        </p:nvSpPr>
        <p:spPr>
          <a:xfrm>
            <a:off x="7221538" y="4624388"/>
            <a:ext cx="838200" cy="304800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21514" name="Rectangle 21"/>
          <p:cNvSpPr/>
          <p:nvPr/>
        </p:nvSpPr>
        <p:spPr>
          <a:xfrm>
            <a:off x="6383338" y="4624388"/>
            <a:ext cx="838200" cy="304800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3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21515" name="Rectangle 22"/>
          <p:cNvSpPr/>
          <p:nvPr/>
        </p:nvSpPr>
        <p:spPr>
          <a:xfrm>
            <a:off x="7221538" y="4929188"/>
            <a:ext cx="838200" cy="304800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21516" name="Rectangle 24"/>
          <p:cNvSpPr/>
          <p:nvPr/>
        </p:nvSpPr>
        <p:spPr>
          <a:xfrm>
            <a:off x="6383338" y="4929188"/>
            <a:ext cx="838200" cy="304800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4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21517" name="Rectangle 25"/>
          <p:cNvSpPr/>
          <p:nvPr/>
        </p:nvSpPr>
        <p:spPr>
          <a:xfrm>
            <a:off x="7221538" y="5233988"/>
            <a:ext cx="838200" cy="304800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21518" name="Rectangle 27"/>
          <p:cNvSpPr/>
          <p:nvPr/>
        </p:nvSpPr>
        <p:spPr>
          <a:xfrm>
            <a:off x="6372225" y="5233988"/>
            <a:ext cx="838200" cy="304800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5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21519" name="Rectangle 28"/>
          <p:cNvSpPr/>
          <p:nvPr/>
        </p:nvSpPr>
        <p:spPr>
          <a:xfrm>
            <a:off x="7221538" y="5538788"/>
            <a:ext cx="838200" cy="304800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21520" name="Rectangle 30"/>
          <p:cNvSpPr/>
          <p:nvPr/>
        </p:nvSpPr>
        <p:spPr>
          <a:xfrm>
            <a:off x="6383338" y="5538788"/>
            <a:ext cx="838200" cy="304800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6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21521" name="Rectangle 31"/>
          <p:cNvSpPr/>
          <p:nvPr/>
        </p:nvSpPr>
        <p:spPr>
          <a:xfrm>
            <a:off x="7221538" y="5843588"/>
            <a:ext cx="838200" cy="304800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21522" name="Rectangle 33"/>
          <p:cNvSpPr/>
          <p:nvPr/>
        </p:nvSpPr>
        <p:spPr>
          <a:xfrm>
            <a:off x="6383338" y="5843588"/>
            <a:ext cx="838200" cy="304800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……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21523" name="Rectangle 34"/>
          <p:cNvSpPr/>
          <p:nvPr/>
        </p:nvSpPr>
        <p:spPr>
          <a:xfrm>
            <a:off x="7221538" y="6148388"/>
            <a:ext cx="838200" cy="304800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21524" name="Rectangle 36"/>
          <p:cNvSpPr/>
          <p:nvPr/>
        </p:nvSpPr>
        <p:spPr>
          <a:xfrm>
            <a:off x="6383338" y="6148388"/>
            <a:ext cx="838200" cy="304800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25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21525" name="Rectangle 37"/>
          <p:cNvSpPr/>
          <p:nvPr/>
        </p:nvSpPr>
        <p:spPr>
          <a:xfrm>
            <a:off x="7235825" y="3717925"/>
            <a:ext cx="865188" cy="2735263"/>
          </a:xfrm>
          <a:prstGeom prst="rect">
            <a:avLst/>
          </a:prstGeom>
          <a:noFill/>
          <a:ln w="76200" cap="flat" cmpd="tri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94248" name="Text Box 40"/>
          <p:cNvSpPr txBox="1"/>
          <p:nvPr/>
        </p:nvSpPr>
        <p:spPr>
          <a:xfrm>
            <a:off x="250825" y="4070350"/>
            <a:ext cx="4800600" cy="82232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/>
              <a:t>To map the letters</a:t>
            </a:r>
            <a:r>
              <a:rPr lang="en-US" altLang="zh-CN" sz="2400" b="1" dirty="0">
                <a:latin typeface="Times New Roman" panose="02020603050405020304" pitchFamily="18" charset="0"/>
              </a:rPr>
              <a:t> 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400" b="1" dirty="0">
                <a:latin typeface="Times New Roman" panose="02020603050405020304" pitchFamily="18" charset="0"/>
              </a:rPr>
              <a:t> ~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z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/>
              <a:t> to</a:t>
            </a:r>
            <a:r>
              <a:rPr lang="en-US" altLang="zh-CN" sz="2400" b="1" dirty="0">
                <a:latin typeface="Times New Roman" panose="02020603050405020304" pitchFamily="18" charset="0"/>
              </a:rPr>
              <a:t> 0 ~ 25, </a:t>
            </a:r>
            <a:r>
              <a:rPr lang="en-US" altLang="zh-CN" sz="2400" b="1" dirty="0"/>
              <a:t>we may define</a:t>
            </a:r>
            <a:r>
              <a:rPr lang="en-US" altLang="zh-CN" sz="2400" b="1" dirty="0">
                <a:latin typeface="Times New Roman" panose="02020603050405020304" pitchFamily="18" charset="0"/>
              </a:rPr>
              <a:t> 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400" b="1" dirty="0">
                <a:latin typeface="Times New Roman" panose="02020603050405020304" pitchFamily="18" charset="0"/>
              </a:rPr>
              <a:t> (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 ) =  ?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94249" name="Rectangle 41"/>
          <p:cNvSpPr/>
          <p:nvPr/>
        </p:nvSpPr>
        <p:spPr>
          <a:xfrm>
            <a:off x="4035425" y="4430713"/>
            <a:ext cx="1905000" cy="381000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i="1" dirty="0">
                <a:latin typeface="Times New Roman" panose="02020603050405020304" pitchFamily="18" charset="0"/>
              </a:rPr>
              <a:t> x</a:t>
            </a:r>
            <a:r>
              <a:rPr lang="en-US" altLang="zh-CN" sz="2400" b="1" dirty="0">
                <a:latin typeface="Times New Roman" panose="02020603050405020304" pitchFamily="18" charset="0"/>
              </a:rPr>
              <a:t> [ 0 ]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 ‘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’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94250" name="Rectangle 42"/>
          <p:cNvSpPr/>
          <p:nvPr/>
        </p:nvSpPr>
        <p:spPr>
          <a:xfrm>
            <a:off x="914400" y="5060950"/>
            <a:ext cx="762000" cy="304800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acos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94251" name="Rectangle 43"/>
          <p:cNvSpPr/>
          <p:nvPr/>
        </p:nvSpPr>
        <p:spPr>
          <a:xfrm>
            <a:off x="7210425" y="3709988"/>
            <a:ext cx="838200" cy="304800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acos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94252" name="Rectangle 44"/>
          <p:cNvSpPr/>
          <p:nvPr/>
        </p:nvSpPr>
        <p:spPr>
          <a:xfrm>
            <a:off x="1752600" y="5060950"/>
            <a:ext cx="914400" cy="304800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define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94253" name="Rectangle 45"/>
          <p:cNvSpPr/>
          <p:nvPr/>
        </p:nvSpPr>
        <p:spPr>
          <a:xfrm>
            <a:off x="7210425" y="4624388"/>
            <a:ext cx="838200" cy="304800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define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94254" name="Rectangle 46"/>
          <p:cNvSpPr/>
          <p:nvPr/>
        </p:nvSpPr>
        <p:spPr>
          <a:xfrm>
            <a:off x="2667000" y="5060950"/>
            <a:ext cx="914400" cy="304800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float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94255" name="Rectangle 47"/>
          <p:cNvSpPr/>
          <p:nvPr/>
        </p:nvSpPr>
        <p:spPr>
          <a:xfrm>
            <a:off x="7210425" y="5233988"/>
            <a:ext cx="838200" cy="304800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float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94256" name="Rectangle 48"/>
          <p:cNvSpPr/>
          <p:nvPr/>
        </p:nvSpPr>
        <p:spPr>
          <a:xfrm>
            <a:off x="3429000" y="5060950"/>
            <a:ext cx="914400" cy="304800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exp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94257" name="Rectangle 49"/>
          <p:cNvSpPr/>
          <p:nvPr/>
        </p:nvSpPr>
        <p:spPr>
          <a:xfrm>
            <a:off x="7210425" y="4929188"/>
            <a:ext cx="838200" cy="304800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exp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94258" name="Rectangle 50"/>
          <p:cNvSpPr/>
          <p:nvPr/>
        </p:nvSpPr>
        <p:spPr>
          <a:xfrm>
            <a:off x="4191000" y="5060950"/>
            <a:ext cx="914400" cy="304800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char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94259" name="Rectangle 51"/>
          <p:cNvSpPr/>
          <p:nvPr/>
        </p:nvSpPr>
        <p:spPr>
          <a:xfrm>
            <a:off x="7210425" y="4319588"/>
            <a:ext cx="838200" cy="304800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char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94260" name="Rectangle 52"/>
          <p:cNvSpPr/>
          <p:nvPr/>
        </p:nvSpPr>
        <p:spPr>
          <a:xfrm>
            <a:off x="838200" y="5518150"/>
            <a:ext cx="914400" cy="304800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atan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94261" name="Rectangle 53"/>
          <p:cNvSpPr/>
          <p:nvPr/>
        </p:nvSpPr>
        <p:spPr>
          <a:xfrm>
            <a:off x="6372225" y="3709988"/>
            <a:ext cx="838200" cy="304800"/>
          </a:xfrm>
          <a:prstGeom prst="rect">
            <a:avLst/>
          </a:prstGeom>
          <a:solidFill>
            <a:srgbClr val="FF0000">
              <a:alpha val="50195"/>
            </a:srgbClr>
          </a:solidFill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94263" name="Rectangle 55"/>
          <p:cNvSpPr/>
          <p:nvPr/>
        </p:nvSpPr>
        <p:spPr>
          <a:xfrm>
            <a:off x="1752600" y="5518150"/>
            <a:ext cx="914400" cy="304800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ceil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94264" name="Rectangle 56"/>
          <p:cNvSpPr/>
          <p:nvPr/>
        </p:nvSpPr>
        <p:spPr>
          <a:xfrm>
            <a:off x="6372225" y="4319588"/>
            <a:ext cx="838200" cy="304800"/>
          </a:xfrm>
          <a:prstGeom prst="rect">
            <a:avLst/>
          </a:prstGeom>
          <a:solidFill>
            <a:srgbClr val="FF0000">
              <a:alpha val="50195"/>
            </a:srgbClr>
          </a:solidFill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94266" name="Rectangle 58"/>
          <p:cNvSpPr/>
          <p:nvPr/>
        </p:nvSpPr>
        <p:spPr>
          <a:xfrm>
            <a:off x="2590800" y="5518150"/>
            <a:ext cx="914400" cy="304800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floor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94267" name="Rectangle 59"/>
          <p:cNvSpPr/>
          <p:nvPr/>
        </p:nvSpPr>
        <p:spPr>
          <a:xfrm>
            <a:off x="6372225" y="5233988"/>
            <a:ext cx="838200" cy="304800"/>
          </a:xfrm>
          <a:prstGeom prst="rect">
            <a:avLst/>
          </a:prstGeom>
          <a:solidFill>
            <a:srgbClr val="FF0000">
              <a:alpha val="50195"/>
            </a:srgbClr>
          </a:solidFill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40" name="Rectangle 42"/>
          <p:cNvSpPr/>
          <p:nvPr/>
        </p:nvSpPr>
        <p:spPr>
          <a:xfrm>
            <a:off x="827088" y="3000375"/>
            <a:ext cx="762000" cy="304800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acos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41" name="Rectangle 44"/>
          <p:cNvSpPr/>
          <p:nvPr/>
        </p:nvSpPr>
        <p:spPr>
          <a:xfrm>
            <a:off x="1665288" y="3000375"/>
            <a:ext cx="914400" cy="304800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define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42" name="Rectangle 46"/>
          <p:cNvSpPr/>
          <p:nvPr/>
        </p:nvSpPr>
        <p:spPr>
          <a:xfrm>
            <a:off x="2579688" y="3000375"/>
            <a:ext cx="914400" cy="304800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float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43" name="Rectangle 48"/>
          <p:cNvSpPr/>
          <p:nvPr/>
        </p:nvSpPr>
        <p:spPr>
          <a:xfrm>
            <a:off x="3341688" y="3000375"/>
            <a:ext cx="914400" cy="304800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exp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44" name="Rectangle 50"/>
          <p:cNvSpPr/>
          <p:nvPr/>
        </p:nvSpPr>
        <p:spPr>
          <a:xfrm>
            <a:off x="4103688" y="3000375"/>
            <a:ext cx="914400" cy="304800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char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45" name="Rectangle 52"/>
          <p:cNvSpPr/>
          <p:nvPr/>
        </p:nvSpPr>
        <p:spPr>
          <a:xfrm>
            <a:off x="5018088" y="2997200"/>
            <a:ext cx="914400" cy="304800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atan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46" name="Rectangle 55"/>
          <p:cNvSpPr/>
          <p:nvPr/>
        </p:nvSpPr>
        <p:spPr>
          <a:xfrm>
            <a:off x="5932488" y="2997200"/>
            <a:ext cx="914400" cy="304800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ceil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47" name="Rectangle 58"/>
          <p:cNvSpPr/>
          <p:nvPr/>
        </p:nvSpPr>
        <p:spPr>
          <a:xfrm>
            <a:off x="6770688" y="2997200"/>
            <a:ext cx="914400" cy="304800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floor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42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GLAS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42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42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42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1" dur="500"/>
                                        <p:tgtEl>
                                          <p:spTgt spid="942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6" dur="500"/>
                                        <p:tgtEl>
                                          <p:spTgt spid="942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1" dur="500"/>
                                        <p:tgtEl>
                                          <p:spTgt spid="9425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6" dur="500"/>
                                        <p:tgtEl>
                                          <p:spTgt spid="9425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1" dur="500"/>
                                        <p:tgtEl>
                                          <p:spTgt spid="9425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6" dur="500"/>
                                        <p:tgtEl>
                                          <p:spTgt spid="9425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1" dur="500"/>
                                        <p:tgtEl>
                                          <p:spTgt spid="9425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6" dur="500"/>
                                        <p:tgtEl>
                                          <p:spTgt spid="9425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91" dur="500"/>
                                        <p:tgtEl>
                                          <p:spTgt spid="942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96" dur="500"/>
                                        <p:tgtEl>
                                          <p:spTgt spid="9425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1" dur="500"/>
                                        <p:tgtEl>
                                          <p:spTgt spid="942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4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GLAS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9" dur="500"/>
                                        <p:tgtEl>
                                          <p:spTgt spid="9426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4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GLAS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7" dur="500"/>
                                        <p:tgtEl>
                                          <p:spTgt spid="9426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500"/>
                            </p:stCondLst>
                            <p:childTnLst>
                              <p:par>
                                <p:cTn id="1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4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GLAS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10" grpId="0"/>
      <p:bldP spid="94213" grpId="0"/>
      <p:bldP spid="94248" grpId="0"/>
      <p:bldP spid="94249" grpId="0" animBg="1"/>
      <p:bldP spid="94250" grpId="0"/>
      <p:bldP spid="94251" grpId="0" animBg="1"/>
      <p:bldP spid="94252" grpId="0"/>
      <p:bldP spid="94253" grpId="0" animBg="1"/>
      <p:bldP spid="94254" grpId="0"/>
      <p:bldP spid="94255" grpId="0" animBg="1"/>
      <p:bldP spid="94256" grpId="0"/>
      <p:bldP spid="94257" grpId="0" animBg="1"/>
      <p:bldP spid="94258" grpId="0"/>
      <p:bldP spid="94259" grpId="0" animBg="1"/>
      <p:bldP spid="94260" grpId="0"/>
      <p:bldP spid="94261" grpId="0" animBg="1"/>
      <p:bldP spid="94263" grpId="0"/>
      <p:bldP spid="94264" grpId="0" animBg="1"/>
      <p:bldP spid="94266" grpId="0"/>
      <p:bldP spid="94267" grpId="0" animBg="1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2530" name="Rectangle 2"/>
          <p:cNvSpPr>
            <a:spLocks noGrp="1"/>
          </p:cNvSpPr>
          <p:nvPr>
            <p:ph type="title"/>
          </p:nvPr>
        </p:nvSpPr>
        <p:spPr>
          <a:xfrm>
            <a:off x="685800" y="152400"/>
            <a:ext cx="6870700" cy="1260475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Remaining Problems</a:t>
            </a:r>
            <a:endParaRPr lang="en-US" altLang="zh-CN" dirty="0"/>
          </a:p>
        </p:txBody>
      </p:sp>
      <p:sp>
        <p:nvSpPr>
          <p:cNvPr id="9523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Choose a hash function</a:t>
            </a:r>
            <a:endParaRPr lang="en-US" altLang="zh-CN" dirty="0"/>
          </a:p>
          <a:p>
            <a:pPr eaLnBrk="1" hangingPunct="1"/>
            <a:r>
              <a:rPr lang="en-US" altLang="zh-CN" dirty="0"/>
              <a:t>What to do when collision happens</a:t>
            </a:r>
            <a:endParaRPr lang="en-US" altLang="zh-CN" dirty="0"/>
          </a:p>
          <a:p>
            <a:pPr eaLnBrk="1" hangingPunct="1"/>
            <a:r>
              <a:rPr lang="en-US" altLang="zh-CN" dirty="0"/>
              <a:t>Decide the size of the table (loading density)</a:t>
            </a: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charRg st="23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charRg st="57" end="10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96258" name="Text Box 2"/>
          <p:cNvSpPr txBox="1"/>
          <p:nvPr/>
        </p:nvSpPr>
        <p:spPr>
          <a:xfrm>
            <a:off x="755650" y="1628775"/>
            <a:ext cx="3887788" cy="519113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dirty="0"/>
              <a:t>Properties of</a:t>
            </a:r>
            <a:r>
              <a:rPr lang="en-US" altLang="zh-CN" sz="2800" b="1" dirty="0">
                <a:latin typeface="Times New Roman" panose="02020603050405020304" pitchFamily="18" charset="0"/>
              </a:rPr>
              <a:t> 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 </a:t>
            </a:r>
            <a:r>
              <a:rPr lang="en-US" altLang="zh-CN" sz="2800" b="1" dirty="0">
                <a:latin typeface="Times New Roman" panose="02020603050405020304" pitchFamily="18" charset="0"/>
              </a:rPr>
              <a:t>: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96259" name="Text Box 3"/>
          <p:cNvSpPr txBox="1"/>
          <p:nvPr/>
        </p:nvSpPr>
        <p:spPr>
          <a:xfrm>
            <a:off x="685800" y="2492375"/>
            <a:ext cx="8077200" cy="460375"/>
          </a:xfrm>
          <a:prstGeom prst="rect">
            <a:avLst/>
          </a:prstGeom>
          <a:noFill/>
          <a:ln w="25400">
            <a:noFill/>
          </a:ln>
        </p:spPr>
        <p:txBody>
          <a:bodyPr lIns="0" r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89255" lvl="0" indent="-389255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  </a:t>
            </a:r>
            <a:r>
              <a:rPr lang="en-US" altLang="zh-CN" sz="24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f</a:t>
            </a: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( </a:t>
            </a:r>
            <a:r>
              <a:rPr lang="en-US" altLang="zh-CN" sz="24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) </a:t>
            </a:r>
            <a:r>
              <a:rPr lang="en-US" altLang="zh-CN" sz="2400" b="1" dirty="0">
                <a:sym typeface="Wingdings" panose="05000000000000000000" pitchFamily="2" charset="2"/>
              </a:rPr>
              <a:t>must be </a:t>
            </a:r>
            <a:r>
              <a:rPr lang="en-US" altLang="zh-CN" sz="2400" b="1" dirty="0">
                <a:solidFill>
                  <a:schemeClr val="hlink"/>
                </a:solidFill>
                <a:sym typeface="Wingdings" panose="05000000000000000000" pitchFamily="2" charset="2"/>
              </a:rPr>
              <a:t>easy (fast)</a:t>
            </a:r>
            <a:r>
              <a:rPr lang="en-US" altLang="zh-CN" sz="2400" b="1" dirty="0">
                <a:sym typeface="Wingdings" panose="05000000000000000000" pitchFamily="2" charset="2"/>
              </a:rPr>
              <a:t> to compute .</a:t>
            </a:r>
            <a:endParaRPr lang="en-US" altLang="zh-CN" sz="2400" dirty="0"/>
          </a:p>
        </p:txBody>
      </p:sp>
      <p:sp>
        <p:nvSpPr>
          <p:cNvPr id="96260" name="Text Box 4"/>
          <p:cNvSpPr txBox="1"/>
          <p:nvPr/>
        </p:nvSpPr>
        <p:spPr>
          <a:xfrm>
            <a:off x="685800" y="3644900"/>
            <a:ext cx="8077200" cy="2306955"/>
          </a:xfrm>
          <a:prstGeom prst="rect">
            <a:avLst/>
          </a:prstGeom>
          <a:noFill/>
          <a:ln w="25400">
            <a:noFill/>
          </a:ln>
        </p:spPr>
        <p:txBody>
          <a:bodyPr lIns="0" r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89255" lvl="0" indent="-389255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 </a:t>
            </a:r>
            <a:r>
              <a:rPr lang="en-US" altLang="zh-CN" sz="24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f</a:t>
            </a: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( </a:t>
            </a:r>
            <a:r>
              <a:rPr lang="en-US" altLang="zh-CN" sz="24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) </a:t>
            </a:r>
            <a:r>
              <a:rPr lang="en-US" altLang="zh-CN" sz="2400" b="1" dirty="0">
                <a:sym typeface="Wingdings" panose="05000000000000000000" pitchFamily="2" charset="2"/>
              </a:rPr>
              <a:t>should </a:t>
            </a:r>
            <a:r>
              <a:rPr lang="en-US" altLang="zh-CN" sz="2400" b="1" dirty="0">
                <a:sym typeface="Wingdings" panose="05000000000000000000" pitchFamily="2" charset="2"/>
              </a:rPr>
              <a:t>distribute the keys into the table evenly. That is, for any </a:t>
            </a:r>
            <a:r>
              <a:rPr lang="en-US" altLang="zh-CN" sz="2400" b="1" i="1" dirty="0">
                <a:sym typeface="Wingdings" panose="05000000000000000000" pitchFamily="2" charset="2"/>
              </a:rPr>
              <a:t>x</a:t>
            </a:r>
            <a:r>
              <a:rPr lang="en-US" altLang="zh-CN" sz="2400" b="1" dirty="0">
                <a:sym typeface="Wingdings" panose="05000000000000000000" pitchFamily="2" charset="2"/>
              </a:rPr>
              <a:t> and any </a:t>
            </a:r>
            <a:r>
              <a:rPr lang="en-US" altLang="zh-CN" sz="2400" b="1" i="1" dirty="0">
                <a:sym typeface="Wingdings" panose="05000000000000000000" pitchFamily="2" charset="2"/>
              </a:rPr>
              <a:t>i</a:t>
            </a:r>
            <a:r>
              <a:rPr lang="en-US" altLang="zh-CN" sz="2400" b="1" dirty="0">
                <a:sym typeface="Wingdings" panose="05000000000000000000" pitchFamily="2" charset="2"/>
              </a:rPr>
              <a:t>, we have</a:t>
            </a:r>
            <a:endParaRPr lang="en-US" altLang="zh-CN" sz="2400" b="1" dirty="0">
              <a:sym typeface="Wingdings" panose="05000000000000000000" pitchFamily="2" charset="2"/>
            </a:endParaRPr>
          </a:p>
          <a:p>
            <a:pPr marL="389255" lvl="0" indent="-389255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              </a:t>
            </a: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Probability( </a:t>
            </a:r>
            <a:r>
              <a:rPr lang="en-US" altLang="zh-CN" sz="2400" b="1" i="1" dirty="0">
                <a:solidFill>
                  <a:schemeClr val="hlink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f</a:t>
            </a: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 ( </a:t>
            </a:r>
            <a:r>
              <a:rPr lang="en-US" altLang="zh-CN" sz="2400" b="1" i="1" dirty="0">
                <a:solidFill>
                  <a:schemeClr val="hlink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x</a:t>
            </a: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 ) = </a:t>
            </a:r>
            <a:r>
              <a:rPr lang="en-US" altLang="zh-CN" sz="2400" b="1" i="1" dirty="0">
                <a:solidFill>
                  <a:schemeClr val="hlink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i</a:t>
            </a: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 ) = 1 / </a:t>
            </a:r>
            <a:r>
              <a:rPr lang="en-US" altLang="zh-CN" sz="2400" b="1" i="1" dirty="0">
                <a:solidFill>
                  <a:schemeClr val="hlink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TableSize</a:t>
            </a: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.  </a:t>
            </a:r>
            <a:endParaRPr lang="en-US" altLang="zh-CN" sz="2400" b="1" dirty="0"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marL="389255" lvl="0" indent="-389255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    </a:t>
            </a:r>
            <a:r>
              <a:rPr lang="en-US" altLang="zh-CN" sz="2400" b="1" dirty="0">
                <a:sym typeface="Wingdings" panose="05000000000000000000" pitchFamily="2" charset="2"/>
              </a:rPr>
              <a:t>Such kind of a hash function is called a </a:t>
            </a:r>
            <a:r>
              <a:rPr lang="en-US" altLang="zh-CN" sz="2400" b="1" dirty="0">
                <a:solidFill>
                  <a:schemeClr val="hlink"/>
                </a:solidFill>
                <a:sym typeface="Wingdings" panose="05000000000000000000" pitchFamily="2" charset="2"/>
              </a:rPr>
              <a:t>uniform hash function</a:t>
            </a:r>
            <a:r>
              <a:rPr lang="en-US" altLang="zh-CN" sz="2400" b="1" dirty="0">
                <a:sym typeface="Wingdings" panose="05000000000000000000" pitchFamily="2" charset="2"/>
              </a:rPr>
              <a:t>.</a:t>
            </a:r>
            <a:endParaRPr lang="en-US" altLang="zh-CN" sz="2400" b="1" dirty="0">
              <a:sym typeface="Wingdings" panose="05000000000000000000" pitchFamily="2" charset="2"/>
            </a:endParaRPr>
          </a:p>
        </p:txBody>
      </p:sp>
      <p:sp>
        <p:nvSpPr>
          <p:cNvPr id="96261" name="Text Box 5"/>
          <p:cNvSpPr txBox="1"/>
          <p:nvPr/>
        </p:nvSpPr>
        <p:spPr>
          <a:xfrm>
            <a:off x="2411413" y="188913"/>
            <a:ext cx="5559425" cy="7620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dirty="0">
                <a:latin typeface="Times New Roman" panose="02020603050405020304" pitchFamily="18" charset="0"/>
                <a:sym typeface="Webdings" panose="05030102010509060703" pitchFamily="18" charset="2"/>
              </a:rPr>
              <a:t>  </a:t>
            </a:r>
            <a:r>
              <a:rPr lang="en-US" altLang="zh-CN" sz="4400" dirty="0">
                <a:sym typeface="Webdings" panose="05030102010509060703" pitchFamily="18" charset="2"/>
              </a:rPr>
              <a:t>Hash Function</a:t>
            </a:r>
            <a:endParaRPr lang="en-US" altLang="zh-CN" sz="4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626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62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9625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962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58" grpId="0"/>
      <p:bldP spid="96259" grpId="0"/>
      <p:bldP spid="96260" grpId="0"/>
      <p:bldP spid="9626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标题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6870700" cy="1116013"/>
          </a:xfrm>
        </p:spPr>
        <p:txBody>
          <a:bodyPr vert="horz" wrap="square" lIns="91440" tIns="45720" rIns="91440" bIns="45720" anchor="b" anchorCtr="0"/>
          <a:p>
            <a:r>
              <a:rPr lang="en-US" altLang="zh-CN" dirty="0"/>
              <a:t>Hash function examples</a:t>
            </a:r>
            <a:endParaRPr lang="zh-CN" altLang="en-US" dirty="0"/>
          </a:p>
        </p:txBody>
      </p:sp>
      <p:sp>
        <p:nvSpPr>
          <p:cNvPr id="24579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r>
              <a:rPr lang="en-US" altLang="zh-CN" dirty="0"/>
              <a:t>Integer keys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String keys </a:t>
            </a:r>
            <a:endParaRPr lang="zh-CN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560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endParaRPr lang="zh-CN" altLang="zh-CN" dirty="0"/>
          </a:p>
        </p:txBody>
      </p:sp>
      <p:sp>
        <p:nvSpPr>
          <p:cNvPr id="25603" name="Rectangle 3"/>
          <p:cNvSpPr>
            <a:spLocks noGrp="1"/>
          </p:cNvSpPr>
          <p:nvPr>
            <p:ph idx="1"/>
          </p:nvPr>
        </p:nvSpPr>
        <p:spPr>
          <a:xfrm>
            <a:off x="684213" y="1844675"/>
            <a:ext cx="7696200" cy="3657600"/>
          </a:xfrm>
        </p:spPr>
        <p:txBody>
          <a:bodyPr vert="horz" wrap="square" lIns="91440" tIns="45720" rIns="91440" bIns="45720" anchor="t" anchorCtr="0"/>
          <a:p>
            <a:pPr eaLnBrk="1" hangingPunct="1"/>
            <a:endParaRPr lang="zh-CN" altLang="zh-CN" dirty="0"/>
          </a:p>
        </p:txBody>
      </p:sp>
      <p:sp>
        <p:nvSpPr>
          <p:cNvPr id="97284" name="Rectangle 4" descr="新闻纸"/>
          <p:cNvSpPr/>
          <p:nvPr/>
        </p:nvSpPr>
        <p:spPr>
          <a:xfrm>
            <a:off x="838200" y="2276475"/>
            <a:ext cx="7391400" cy="914400"/>
          </a:xfrm>
          <a:prstGeom prst="rect">
            <a:avLst/>
          </a:prstGeom>
          <a:blipFill rotWithShape="0">
            <a:blip r:embed="rId1"/>
          </a:blipFill>
          <a:ln w="25400">
            <a:noFill/>
          </a:ln>
          <a:effectLst>
            <a:outerShdw dist="107763" dir="2699999" algn="ctr" rotWithShape="0">
              <a:srgbClr val="B2B2B2"/>
            </a:outer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( </a:t>
            </a:r>
            <a:r>
              <a:rPr lang="en-US" altLang="zh-CN" sz="28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) </a:t>
            </a:r>
            <a:r>
              <a:rPr lang="en-US" altLang="zh-CN" sz="2800" b="1" dirty="0">
                <a:latin typeface="Times New Roman" panose="02020603050405020304" pitchFamily="18" charset="0"/>
              </a:rPr>
              <a:t>=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 %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TableSize</a:t>
            </a:r>
            <a:r>
              <a:rPr lang="en-US" altLang="zh-CN" sz="2800" b="1" dirty="0">
                <a:latin typeface="Times New Roman" panose="02020603050405020304" pitchFamily="18" charset="0"/>
              </a:rPr>
              <a:t> ;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  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/* if 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is an integer */</a:t>
            </a:r>
            <a:endParaRPr lang="en-US" altLang="zh-CN" sz="24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97285" name="Text Box 5"/>
          <p:cNvSpPr txBox="1"/>
          <p:nvPr/>
        </p:nvSpPr>
        <p:spPr>
          <a:xfrm>
            <a:off x="838200" y="3343275"/>
            <a:ext cx="7467600" cy="944563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b="1" dirty="0">
                <a:latin typeface="Times New Roman" panose="02020603050405020304" pitchFamily="18" charset="0"/>
                <a:sym typeface="Wingdings" panose="05000000000000000000" pitchFamily="2" charset="2"/>
              </a:rPr>
              <a:t></a:t>
            </a: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 </a:t>
            </a:r>
            <a:r>
              <a:rPr lang="en-US" altLang="zh-CN" sz="2400" b="1" dirty="0">
                <a:sym typeface="Wingdings" panose="05000000000000000000" pitchFamily="2" charset="2"/>
              </a:rPr>
              <a:t>What if</a:t>
            </a: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TableSize</a:t>
            </a: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CN" sz="2400" b="1" dirty="0">
                <a:sym typeface="Wingdings" panose="05000000000000000000" pitchFamily="2" charset="2"/>
              </a:rPr>
              <a:t>= 10 and </a:t>
            </a:r>
            <a:r>
              <a:rPr lang="en-US" altLang="zh-CN" sz="2400" b="1" i="1" dirty="0">
                <a:sym typeface="Wingdings" panose="05000000000000000000" pitchFamily="2" charset="2"/>
              </a:rPr>
              <a:t>x</a:t>
            </a:r>
            <a:r>
              <a:rPr lang="en-US" altLang="zh-CN" sz="2400" b="1" dirty="0">
                <a:sym typeface="Wingdings" panose="05000000000000000000" pitchFamily="2" charset="2"/>
              </a:rPr>
              <a:t>’s are all end in zero?</a:t>
            </a:r>
            <a:endParaRPr lang="en-US" altLang="zh-CN" sz="2400" b="1" dirty="0"/>
          </a:p>
        </p:txBody>
      </p:sp>
      <p:sp>
        <p:nvSpPr>
          <p:cNvPr id="97286" name="Text Box 6"/>
          <p:cNvSpPr txBox="1"/>
          <p:nvPr/>
        </p:nvSpPr>
        <p:spPr>
          <a:xfrm>
            <a:off x="827088" y="4437063"/>
            <a:ext cx="7705725" cy="112712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577080" lvl="0" indent="-4577080" eaLnBrk="1" hangingPunct="1">
              <a:spcBef>
                <a:spcPct val="50000"/>
              </a:spcBef>
              <a:buNone/>
            </a:pPr>
            <a:r>
              <a:rPr lang="en-US" altLang="zh-CN" b="1" dirty="0">
                <a:latin typeface="Times New Roman" panose="02020603050405020304" pitchFamily="18" charset="0"/>
                <a:sym typeface="Wingdings" panose="05000000000000000000" pitchFamily="2" charset="2"/>
              </a:rPr>
              <a:t></a:t>
            </a: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 </a:t>
            </a:r>
            <a:r>
              <a:rPr lang="en-US" altLang="zh-CN" sz="24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TableSize</a:t>
            </a: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= </a:t>
            </a:r>
            <a:r>
              <a:rPr lang="en-US" altLang="zh-CN" sz="2400" b="1" dirty="0">
                <a:solidFill>
                  <a:schemeClr val="hlink"/>
                </a:solidFill>
                <a:sym typeface="Wingdings" panose="05000000000000000000" pitchFamily="2" charset="2"/>
              </a:rPr>
              <a:t>prime</a:t>
            </a:r>
            <a:r>
              <a:rPr lang="en-US" altLang="zh-CN" sz="2400" b="1" dirty="0">
                <a:sym typeface="Wingdings" panose="05000000000000000000" pitchFamily="2" charset="2"/>
              </a:rPr>
              <a:t> number ----  good for</a:t>
            </a:r>
            <a:endParaRPr lang="en-US" altLang="zh-CN" sz="2400" b="1" dirty="0">
              <a:sym typeface="Wingdings" panose="05000000000000000000" pitchFamily="2" charset="2"/>
            </a:endParaRPr>
          </a:p>
          <a:p>
            <a:pPr marL="4577080" lvl="0" indent="-457708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ym typeface="Wingdings" panose="05000000000000000000" pitchFamily="2" charset="2"/>
              </a:rPr>
              <a:t>                               random integer keys</a:t>
            </a:r>
            <a:endParaRPr lang="en-US" altLang="zh-CN" sz="2400" b="1" dirty="0"/>
          </a:p>
        </p:txBody>
      </p:sp>
      <p:sp>
        <p:nvSpPr>
          <p:cNvPr id="25607" name="Text Box 7"/>
          <p:cNvSpPr txBox="1"/>
          <p:nvPr/>
        </p:nvSpPr>
        <p:spPr>
          <a:xfrm>
            <a:off x="684213" y="1196975"/>
            <a:ext cx="5256212" cy="519113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dirty="0"/>
              <a:t>If the keys are integers:</a:t>
            </a:r>
            <a:endParaRPr lang="en-US" altLang="zh-CN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97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7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7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84" grpId="0" animBg="1"/>
      <p:bldP spid="97285" grpId="0"/>
      <p:bldP spid="9728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0825" y="400050"/>
            <a:ext cx="7696200" cy="23796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Example: Hash table with input 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13, 15, 24.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</a:t>
            </a:r>
            <a:r>
              <a:rPr kumimoji="0" lang="en-US" altLang="zh-CN" sz="3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Tablesize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=7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f(x)= x % 7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6627" name="矩形 3"/>
          <p:cNvSpPr/>
          <p:nvPr/>
        </p:nvSpPr>
        <p:spPr>
          <a:xfrm>
            <a:off x="2195513" y="3068638"/>
            <a:ext cx="1871662" cy="431800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5" name="矩形 4"/>
          <p:cNvSpPr/>
          <p:nvPr/>
        </p:nvSpPr>
        <p:spPr>
          <a:xfrm>
            <a:off x="2195513" y="3500438"/>
            <a:ext cx="1871662" cy="433387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/>
              <a:t>  15</a:t>
            </a:r>
            <a:endParaRPr lang="zh-CN" altLang="en-US" sz="2400" dirty="0"/>
          </a:p>
        </p:txBody>
      </p:sp>
      <p:sp>
        <p:nvSpPr>
          <p:cNvPr id="26629" name="矩形 5"/>
          <p:cNvSpPr/>
          <p:nvPr/>
        </p:nvSpPr>
        <p:spPr>
          <a:xfrm>
            <a:off x="2195513" y="3933825"/>
            <a:ext cx="1871662" cy="431800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7" name="矩形 6"/>
          <p:cNvSpPr/>
          <p:nvPr/>
        </p:nvSpPr>
        <p:spPr>
          <a:xfrm>
            <a:off x="2195513" y="4365625"/>
            <a:ext cx="1871662" cy="431800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/>
              <a:t>  24</a:t>
            </a:r>
            <a:endParaRPr lang="zh-CN" altLang="en-US" sz="2400" dirty="0"/>
          </a:p>
        </p:txBody>
      </p:sp>
      <p:sp>
        <p:nvSpPr>
          <p:cNvPr id="26631" name="矩形 7"/>
          <p:cNvSpPr/>
          <p:nvPr/>
        </p:nvSpPr>
        <p:spPr>
          <a:xfrm>
            <a:off x="2195513" y="4797425"/>
            <a:ext cx="1871662" cy="431800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26632" name="矩形 8"/>
          <p:cNvSpPr/>
          <p:nvPr/>
        </p:nvSpPr>
        <p:spPr>
          <a:xfrm>
            <a:off x="2195513" y="5229225"/>
            <a:ext cx="1871662" cy="431800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0" name="矩形 9"/>
          <p:cNvSpPr/>
          <p:nvPr/>
        </p:nvSpPr>
        <p:spPr>
          <a:xfrm>
            <a:off x="2195513" y="5661025"/>
            <a:ext cx="1871662" cy="431800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dirty="0"/>
              <a:t>   </a:t>
            </a:r>
            <a:r>
              <a:rPr lang="en-US" altLang="zh-CN" sz="2400" dirty="0"/>
              <a:t>13</a:t>
            </a:r>
            <a:endParaRPr lang="zh-CN" altLang="en-US" sz="2400" dirty="0"/>
          </a:p>
        </p:txBody>
      </p:sp>
      <p:sp>
        <p:nvSpPr>
          <p:cNvPr id="26634" name="文本框 10"/>
          <p:cNvSpPr txBox="1"/>
          <p:nvPr/>
        </p:nvSpPr>
        <p:spPr>
          <a:xfrm>
            <a:off x="1763713" y="2997200"/>
            <a:ext cx="431800" cy="3384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800" dirty="0"/>
              <a:t>0</a:t>
            </a:r>
            <a:endParaRPr lang="en-US" altLang="zh-CN" sz="2800" dirty="0"/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800" dirty="0"/>
              <a:t>1</a:t>
            </a:r>
            <a:endParaRPr lang="en-US" altLang="zh-CN" sz="2800" dirty="0"/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800" dirty="0"/>
              <a:t>2</a:t>
            </a:r>
            <a:endParaRPr lang="en-US" altLang="zh-CN" sz="2800" dirty="0"/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800" dirty="0"/>
              <a:t>3</a:t>
            </a:r>
            <a:endParaRPr lang="en-US" altLang="zh-CN" sz="2800" dirty="0"/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800" dirty="0"/>
              <a:t>4</a:t>
            </a:r>
            <a:endParaRPr lang="en-US" altLang="zh-CN" sz="2800" dirty="0"/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800" dirty="0"/>
              <a:t>5</a:t>
            </a:r>
            <a:endParaRPr lang="en-US" altLang="zh-CN" sz="2800" dirty="0"/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800" dirty="0"/>
              <a:t>6</a:t>
            </a:r>
            <a:endParaRPr lang="en-US" altLang="zh-CN" sz="2800" dirty="0"/>
          </a:p>
          <a:p>
            <a:pPr marL="0" lvl="0" indent="0">
              <a:spcBef>
                <a:spcPct val="0"/>
              </a:spcBef>
              <a:buNone/>
            </a:pPr>
            <a:endParaRPr lang="zh-CN" alt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47" end="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68" end="9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98317" name="Rectangle 13"/>
          <p:cNvSpPr/>
          <p:nvPr/>
        </p:nvSpPr>
        <p:spPr>
          <a:xfrm>
            <a:off x="31750" y="3548063"/>
            <a:ext cx="7132638" cy="457200"/>
          </a:xfrm>
          <a:prstGeom prst="rect">
            <a:avLst/>
          </a:prstGeom>
          <a:noFill/>
          <a:ln w="254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ym typeface="Symbol" panose="05050102010706020507" pitchFamily="18" charset="2"/>
              </a:rPr>
              <a:t>If  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[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]  [0, 127],</a:t>
            </a:r>
            <a:r>
              <a:rPr lang="en-US" altLang="zh-CN" sz="2400" b="1" dirty="0">
                <a:sym typeface="Symbol" panose="05050102010706020507" pitchFamily="18" charset="2"/>
              </a:rPr>
              <a:t> then  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 ( 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 )</a:t>
            </a:r>
            <a:r>
              <a:rPr lang="en-US" altLang="zh-CN" sz="2400" b="1" dirty="0">
                <a:sym typeface="Symbol" panose="05050102010706020507" pitchFamily="18" charset="2"/>
              </a:rPr>
              <a:t>  [0,      </a:t>
            </a:r>
            <a:r>
              <a:rPr lang="en-US" altLang="zh-CN" sz="2400" b="1" dirty="0">
                <a:solidFill>
                  <a:srgbClr val="FF0000"/>
                </a:solidFill>
                <a:sym typeface="Symbol" panose="05050102010706020507" pitchFamily="18" charset="2"/>
              </a:rPr>
              <a:t>?</a:t>
            </a:r>
            <a:r>
              <a:rPr lang="en-US" altLang="zh-CN" sz="2400" b="1" dirty="0">
                <a:sym typeface="Symbol" panose="05050102010706020507" pitchFamily="18" charset="2"/>
              </a:rPr>
              <a:t>      ]</a:t>
            </a:r>
            <a:endParaRPr lang="en-US" altLang="zh-CN" sz="2400" b="1" dirty="0">
              <a:sym typeface="Symbol" panose="05050102010706020507" pitchFamily="18" charset="2"/>
            </a:endParaRPr>
          </a:p>
        </p:txBody>
      </p:sp>
      <p:sp>
        <p:nvSpPr>
          <p:cNvPr id="98307" name="Rectangle 3" descr="新闻纸"/>
          <p:cNvSpPr/>
          <p:nvPr/>
        </p:nvSpPr>
        <p:spPr>
          <a:xfrm>
            <a:off x="609600" y="1423988"/>
            <a:ext cx="7620000" cy="914400"/>
          </a:xfrm>
          <a:prstGeom prst="rect">
            <a:avLst/>
          </a:prstGeom>
          <a:blipFill rotWithShape="0">
            <a:blip r:embed="rId1"/>
          </a:blipFill>
          <a:ln w="25400">
            <a:noFill/>
          </a:ln>
          <a:effectLst>
            <a:outerShdw dist="107763" dir="2699999" algn="ctr" rotWithShape="0">
              <a:srgbClr val="B2B2B2"/>
            </a:outer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( </a:t>
            </a:r>
            <a:r>
              <a:rPr lang="en-US" altLang="zh-CN" sz="28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) </a:t>
            </a:r>
            <a:r>
              <a:rPr lang="en-US" altLang="zh-CN" sz="2800" b="1" dirty="0">
                <a:latin typeface="Times New Roman" panose="02020603050405020304" pitchFamily="18" charset="0"/>
              </a:rPr>
              <a:t>= (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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[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i</a:t>
            </a:r>
            <a:r>
              <a:rPr lang="en-US" altLang="zh-CN" sz="2800" b="1" dirty="0">
                <a:latin typeface="Times New Roman" panose="02020603050405020304" pitchFamily="18" charset="0"/>
              </a:rPr>
              <a:t>]) %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TableSize</a:t>
            </a:r>
            <a:r>
              <a:rPr lang="en-US" altLang="zh-CN" sz="2800" b="1" dirty="0">
                <a:latin typeface="Times New Roman" panose="02020603050405020304" pitchFamily="18" charset="0"/>
              </a:rPr>
              <a:t> ;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  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/* if 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is a string */</a:t>
            </a:r>
            <a:endParaRPr lang="en-US" altLang="zh-CN" sz="24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98308" name="Text Box 4"/>
          <p:cNvSpPr txBox="1"/>
          <p:nvPr/>
        </p:nvSpPr>
        <p:spPr>
          <a:xfrm>
            <a:off x="34925" y="2597150"/>
            <a:ext cx="8153400" cy="1004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85775" lvl="0" indent="-485775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ea typeface="MS Hei" pitchFamily="49" charset="-122"/>
              </a:rPr>
              <a:t>〖Example〗</a:t>
            </a:r>
            <a:r>
              <a:rPr lang="en-US" altLang="zh-CN" sz="2400" b="1" dirty="0">
                <a:latin typeface="Times New Roman" panose="02020603050405020304" pitchFamily="18" charset="0"/>
                <a:ea typeface="MS Hei" pitchFamily="49" charset="-122"/>
              </a:rPr>
              <a:t> S</a:t>
            </a:r>
            <a:r>
              <a:rPr lang="en-US" altLang="zh-CN" sz="2400" b="1" dirty="0"/>
              <a:t>tring length of </a:t>
            </a:r>
            <a:r>
              <a:rPr lang="en-US" altLang="zh-CN" sz="2400" b="1" i="1" dirty="0"/>
              <a:t>x</a:t>
            </a:r>
            <a:r>
              <a:rPr lang="en-US" altLang="zh-CN" sz="2400" b="1" dirty="0"/>
              <a:t> </a:t>
            </a:r>
            <a:r>
              <a:rPr lang="en-US" altLang="zh-CN" sz="2400" b="1" dirty="0">
                <a:sym typeface="Symbol" panose="05050102010706020507" pitchFamily="18" charset="2"/>
              </a:rPr>
              <a:t> 8, </a:t>
            </a:r>
            <a:endParaRPr lang="en-US" altLang="zh-CN" sz="2400" b="1" dirty="0">
              <a:sym typeface="Symbol" panose="05050102010706020507" pitchFamily="18" charset="2"/>
            </a:endParaRPr>
          </a:p>
          <a:p>
            <a:pPr marL="485775" lvl="0" indent="-485775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   </a:t>
            </a:r>
            <a:r>
              <a:rPr lang="en-US" altLang="zh-CN" sz="2400" b="1" dirty="0">
                <a:sym typeface="Symbol" panose="05050102010706020507" pitchFamily="18" charset="2"/>
              </a:rPr>
              <a:t> </a:t>
            </a:r>
            <a:endParaRPr lang="en-US" altLang="zh-CN" sz="24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98309" name="Text Box 5"/>
          <p:cNvSpPr txBox="1"/>
          <p:nvPr/>
        </p:nvSpPr>
        <p:spPr>
          <a:xfrm>
            <a:off x="5759450" y="3538538"/>
            <a:ext cx="914400" cy="457200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1016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8310" name="Text Box 6"/>
          <p:cNvSpPr txBox="1"/>
          <p:nvPr/>
        </p:nvSpPr>
        <p:spPr>
          <a:xfrm>
            <a:off x="7054850" y="3448050"/>
            <a:ext cx="685800" cy="579438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en-US" altLang="zh-CN" b="1" dirty="0">
                <a:latin typeface="Times New Roman" panose="02020603050405020304" pitchFamily="18" charset="0"/>
                <a:sym typeface="Wingdings" panose="05000000000000000000" pitchFamily="2" charset="2"/>
              </a:rPr>
              <a:t></a:t>
            </a:r>
            <a:endParaRPr lang="en-US" altLang="zh-CN" b="1" dirty="0">
              <a:latin typeface="Times New Roman" panose="02020603050405020304" pitchFamily="18" charset="0"/>
            </a:endParaRPr>
          </a:p>
        </p:txBody>
      </p:sp>
      <p:sp>
        <p:nvSpPr>
          <p:cNvPr id="98311" name="Rectangle 7" descr="新闻纸"/>
          <p:cNvSpPr/>
          <p:nvPr/>
        </p:nvSpPr>
        <p:spPr>
          <a:xfrm>
            <a:off x="533400" y="4171950"/>
            <a:ext cx="8077200" cy="914400"/>
          </a:xfrm>
          <a:prstGeom prst="rect">
            <a:avLst/>
          </a:prstGeom>
          <a:blipFill rotWithShape="0">
            <a:blip r:embed="rId1"/>
          </a:blipFill>
          <a:ln w="25400">
            <a:noFill/>
          </a:ln>
          <a:effectLst>
            <a:outerShdw dist="107763" dir="2699999" algn="ctr" rotWithShape="0">
              <a:srgbClr val="B2B2B2"/>
            </a:outer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( </a:t>
            </a:r>
            <a:r>
              <a:rPr lang="en-US" altLang="zh-CN" sz="28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) </a:t>
            </a:r>
            <a:r>
              <a:rPr lang="en-US" altLang="zh-CN" sz="2800" b="1" dirty="0">
                <a:latin typeface="Times New Roman" panose="02020603050405020304" pitchFamily="18" charset="0"/>
              </a:rPr>
              <a:t>= 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[0]+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[1]*27 +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[2]*27</a:t>
            </a:r>
            <a:r>
              <a:rPr lang="en-US" altLang="zh-CN" sz="2800" b="1" baseline="30000" dirty="0"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latin typeface="Times New Roman" panose="02020603050405020304" pitchFamily="18" charset="0"/>
              </a:rPr>
              <a:t>) %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TableSize</a:t>
            </a:r>
            <a:r>
              <a:rPr lang="en-US" altLang="zh-CN" sz="2800" b="1" dirty="0">
                <a:latin typeface="Times New Roman" panose="02020603050405020304" pitchFamily="18" charset="0"/>
              </a:rPr>
              <a:t> ;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98312" name="Text Box 8"/>
          <p:cNvSpPr txBox="1"/>
          <p:nvPr/>
        </p:nvSpPr>
        <p:spPr>
          <a:xfrm>
            <a:off x="762000" y="5310188"/>
            <a:ext cx="78422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85775" lvl="0" indent="-485775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ea typeface="MS Hei" pitchFamily="49" charset="-122"/>
                <a:sym typeface="Wingdings" panose="05000000000000000000" pitchFamily="2" charset="2"/>
              </a:rPr>
              <a:t>Total</a:t>
            </a:r>
            <a:r>
              <a:rPr lang="en-US" altLang="zh-CN" sz="2400" b="1" dirty="0">
                <a:ea typeface="MS Hei" pitchFamily="49" charset="-122"/>
              </a:rPr>
              <a:t> number of combinations</a:t>
            </a:r>
            <a:r>
              <a:rPr lang="en-US" altLang="zh-CN" sz="2400" b="1" dirty="0">
                <a:latin typeface="Times New Roman" panose="02020603050405020304" pitchFamily="18" charset="0"/>
                <a:ea typeface="MS Hei" pitchFamily="49" charset="-122"/>
              </a:rPr>
              <a:t> =  26</a:t>
            </a:r>
            <a:r>
              <a:rPr lang="en-US" altLang="zh-CN" sz="2400" b="1" baseline="30000" dirty="0">
                <a:latin typeface="Times New Roman" panose="02020603050405020304" pitchFamily="18" charset="0"/>
                <a:ea typeface="MS Hei" pitchFamily="49" charset="-122"/>
              </a:rPr>
              <a:t>3 </a:t>
            </a:r>
            <a:r>
              <a:rPr lang="en-US" altLang="zh-CN" sz="2400" b="1" dirty="0">
                <a:latin typeface="Times New Roman" panose="02020603050405020304" pitchFamily="18" charset="0"/>
                <a:ea typeface="MS Hei" pitchFamily="49" charset="-122"/>
              </a:rPr>
              <a:t>= 17,576</a:t>
            </a:r>
            <a:endParaRPr lang="en-US" altLang="zh-CN" sz="2400" b="1" dirty="0">
              <a:latin typeface="Times New Roman" panose="02020603050405020304" pitchFamily="18" charset="0"/>
              <a:ea typeface="MS Hei" pitchFamily="49" charset="-122"/>
            </a:endParaRPr>
          </a:p>
        </p:txBody>
      </p:sp>
      <p:sp>
        <p:nvSpPr>
          <p:cNvPr id="98313" name="Text Box 9"/>
          <p:cNvSpPr txBox="1"/>
          <p:nvPr/>
        </p:nvSpPr>
        <p:spPr>
          <a:xfrm>
            <a:off x="685800" y="5873750"/>
            <a:ext cx="791845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85775" lvl="0" indent="-485775" eaLnBrk="1" hangingPunct="1">
              <a:spcBef>
                <a:spcPct val="50000"/>
              </a:spcBef>
              <a:buNone/>
            </a:pPr>
            <a:r>
              <a:rPr lang="en-US" altLang="zh-CN" b="1" dirty="0">
                <a:latin typeface="Times New Roman" panose="02020603050405020304" pitchFamily="18" charset="0"/>
                <a:sym typeface="Wingdings" panose="05000000000000000000" pitchFamily="2" charset="2"/>
              </a:rPr>
              <a:t></a:t>
            </a:r>
            <a:r>
              <a:rPr lang="en-US" altLang="zh-CN" sz="2400" b="1" dirty="0">
                <a:latin typeface="Times New Roman" panose="02020603050405020304" pitchFamily="18" charset="0"/>
                <a:ea typeface="MS Hei" pitchFamily="49" charset="-122"/>
              </a:rPr>
              <a:t>   </a:t>
            </a:r>
            <a:r>
              <a:rPr lang="en-US" altLang="zh-CN" sz="2400" b="1" dirty="0">
                <a:ea typeface="MS Hei" pitchFamily="49" charset="-122"/>
              </a:rPr>
              <a:t>Actual number of combinations &lt; 3000</a:t>
            </a:r>
            <a:endParaRPr lang="en-US" altLang="zh-CN" sz="2400" b="1" dirty="0">
              <a:ea typeface="MS Hei" pitchFamily="49" charset="-122"/>
            </a:endParaRPr>
          </a:p>
        </p:txBody>
      </p:sp>
      <p:sp>
        <p:nvSpPr>
          <p:cNvPr id="27658" name="Text Box 11"/>
          <p:cNvSpPr txBox="1"/>
          <p:nvPr/>
        </p:nvSpPr>
        <p:spPr>
          <a:xfrm>
            <a:off x="611188" y="549275"/>
            <a:ext cx="5256212" cy="519113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dirty="0"/>
              <a:t>If the keys are strings:</a:t>
            </a:r>
            <a:endParaRPr lang="en-US" altLang="zh-CN" sz="2800" dirty="0"/>
          </a:p>
        </p:txBody>
      </p:sp>
      <p:sp>
        <p:nvSpPr>
          <p:cNvPr id="98316" name="Rectangle 12"/>
          <p:cNvSpPr/>
          <p:nvPr/>
        </p:nvSpPr>
        <p:spPr>
          <a:xfrm>
            <a:off x="5308600" y="2565400"/>
            <a:ext cx="3727450" cy="457200"/>
          </a:xfrm>
          <a:prstGeom prst="rect">
            <a:avLst/>
          </a:prstGeom>
          <a:noFill/>
          <a:ln w="254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/>
              <a:t>and</a:t>
            </a:r>
            <a:r>
              <a:rPr lang="en-US" altLang="zh-CN" sz="2400" i="1" dirty="0">
                <a:solidFill>
                  <a:schemeClr val="hlink"/>
                </a:solidFill>
              </a:rPr>
              <a:t> </a:t>
            </a:r>
            <a:r>
              <a:rPr lang="en-US" altLang="zh-CN" sz="2400" b="1" i="1" dirty="0">
                <a:solidFill>
                  <a:schemeClr val="hlink"/>
                </a:solidFill>
              </a:rPr>
              <a:t>TableSize</a:t>
            </a:r>
            <a:r>
              <a:rPr lang="en-US" altLang="zh-CN" sz="2400" b="1" dirty="0"/>
              <a:t> = 10,007</a:t>
            </a:r>
            <a:endParaRPr lang="en-US" altLang="zh-CN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98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830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98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983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983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98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83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83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17" grpId="0"/>
      <p:bldP spid="98307" grpId="0" animBg="1"/>
      <p:bldP spid="98308" grpId="0"/>
      <p:bldP spid="98309" grpId="0" animBg="1"/>
      <p:bldP spid="98310" grpId="0"/>
      <p:bldP spid="98311" grpId="0" animBg="1"/>
      <p:bldP spid="98312" grpId="0"/>
      <p:bldP spid="98313" grpId="0"/>
      <p:bldP spid="9831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99331" name="Rectangle 3" descr="新闻纸"/>
          <p:cNvSpPr/>
          <p:nvPr/>
        </p:nvSpPr>
        <p:spPr>
          <a:xfrm>
            <a:off x="609600" y="609600"/>
            <a:ext cx="7620000" cy="914400"/>
          </a:xfrm>
          <a:prstGeom prst="rect">
            <a:avLst/>
          </a:prstGeom>
          <a:blipFill rotWithShape="0">
            <a:blip r:embed="rId1"/>
          </a:blipFill>
          <a:ln w="25400">
            <a:noFill/>
          </a:ln>
          <a:effectLst>
            <a:outerShdw dist="107763" dir="2699999" algn="ctr" rotWithShape="0">
              <a:srgbClr val="B2B2B2"/>
            </a:outer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( </a:t>
            </a:r>
            <a:r>
              <a:rPr lang="en-US" altLang="zh-CN" sz="28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) </a:t>
            </a:r>
            <a:r>
              <a:rPr lang="en-US" altLang="zh-CN" sz="2800" b="1" dirty="0">
                <a:latin typeface="Times New Roman" panose="02020603050405020304" pitchFamily="18" charset="0"/>
              </a:rPr>
              <a:t>= (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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</a:rPr>
              <a:t>[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N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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i </a:t>
            </a:r>
            <a:r>
              <a:rPr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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</a:rPr>
              <a:t>] * 32</a:t>
            </a:r>
            <a:r>
              <a:rPr lang="en-US" altLang="zh-CN" sz="2800" b="1" i="1" baseline="30000" dirty="0">
                <a:latin typeface="Times New Roman" panose="02020603050405020304" pitchFamily="18" charset="0"/>
              </a:rPr>
              <a:t>i</a:t>
            </a:r>
            <a:r>
              <a:rPr lang="en-US" altLang="zh-CN" sz="2800" b="1" dirty="0">
                <a:latin typeface="Times New Roman" panose="02020603050405020304" pitchFamily="18" charset="0"/>
              </a:rPr>
              <a:t> ) %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TableSize</a:t>
            </a:r>
            <a:r>
              <a:rPr lang="en-US" altLang="zh-CN" sz="2800" b="1" dirty="0">
                <a:latin typeface="Times New Roman" panose="02020603050405020304" pitchFamily="18" charset="0"/>
              </a:rPr>
              <a:t> ;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1752600" y="1676400"/>
            <a:ext cx="4876800" cy="609600"/>
            <a:chOff x="1104" y="1152"/>
            <a:chExt cx="3072" cy="384"/>
          </a:xfrm>
        </p:grpSpPr>
        <p:sp>
          <p:nvSpPr>
            <p:cNvPr id="28685" name="Rectangle 5"/>
            <p:cNvSpPr/>
            <p:nvPr/>
          </p:nvSpPr>
          <p:spPr>
            <a:xfrm>
              <a:off x="1104" y="1296"/>
              <a:ext cx="96" cy="192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8686" name="Rectangle 6"/>
            <p:cNvSpPr/>
            <p:nvPr/>
          </p:nvSpPr>
          <p:spPr>
            <a:xfrm>
              <a:off x="1200" y="1296"/>
              <a:ext cx="96" cy="192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8687" name="Rectangle 7"/>
            <p:cNvSpPr/>
            <p:nvPr/>
          </p:nvSpPr>
          <p:spPr>
            <a:xfrm>
              <a:off x="1296" y="1296"/>
              <a:ext cx="96" cy="192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8688" name="Rectangle 8"/>
            <p:cNvSpPr/>
            <p:nvPr/>
          </p:nvSpPr>
          <p:spPr>
            <a:xfrm>
              <a:off x="1392" y="1296"/>
              <a:ext cx="96" cy="192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8689" name="Rectangle 9"/>
            <p:cNvSpPr/>
            <p:nvPr/>
          </p:nvSpPr>
          <p:spPr>
            <a:xfrm>
              <a:off x="1488" y="1296"/>
              <a:ext cx="96" cy="192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8690" name="Rectangle 10"/>
            <p:cNvSpPr/>
            <p:nvPr/>
          </p:nvSpPr>
          <p:spPr>
            <a:xfrm>
              <a:off x="2064" y="1296"/>
              <a:ext cx="1152" cy="192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28691" name="Rectangle 11"/>
            <p:cNvSpPr/>
            <p:nvPr/>
          </p:nvSpPr>
          <p:spPr>
            <a:xfrm>
              <a:off x="1584" y="1296"/>
              <a:ext cx="96" cy="192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8692" name="Rectangle 12"/>
            <p:cNvSpPr/>
            <p:nvPr/>
          </p:nvSpPr>
          <p:spPr>
            <a:xfrm>
              <a:off x="1680" y="1296"/>
              <a:ext cx="96" cy="192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8693" name="Rectangle 13"/>
            <p:cNvSpPr/>
            <p:nvPr/>
          </p:nvSpPr>
          <p:spPr>
            <a:xfrm>
              <a:off x="1776" y="1296"/>
              <a:ext cx="96" cy="192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8694" name="Rectangle 14"/>
            <p:cNvSpPr/>
            <p:nvPr/>
          </p:nvSpPr>
          <p:spPr>
            <a:xfrm>
              <a:off x="1872" y="1296"/>
              <a:ext cx="96" cy="192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8695" name="Rectangle 15"/>
            <p:cNvSpPr/>
            <p:nvPr/>
          </p:nvSpPr>
          <p:spPr>
            <a:xfrm>
              <a:off x="1968" y="1296"/>
              <a:ext cx="96" cy="192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8696" name="Rectangle 16"/>
            <p:cNvSpPr/>
            <p:nvPr/>
          </p:nvSpPr>
          <p:spPr>
            <a:xfrm>
              <a:off x="3216" y="1296"/>
              <a:ext cx="96" cy="192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8697" name="Rectangle 17"/>
            <p:cNvSpPr/>
            <p:nvPr/>
          </p:nvSpPr>
          <p:spPr>
            <a:xfrm>
              <a:off x="3312" y="1296"/>
              <a:ext cx="96" cy="192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8698" name="Rectangle 18"/>
            <p:cNvSpPr/>
            <p:nvPr/>
          </p:nvSpPr>
          <p:spPr>
            <a:xfrm>
              <a:off x="3408" y="1296"/>
              <a:ext cx="96" cy="192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8699" name="Rectangle 19"/>
            <p:cNvSpPr/>
            <p:nvPr/>
          </p:nvSpPr>
          <p:spPr>
            <a:xfrm>
              <a:off x="3504" y="1296"/>
              <a:ext cx="96" cy="192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8700" name="Rectangle 20"/>
            <p:cNvSpPr/>
            <p:nvPr/>
          </p:nvSpPr>
          <p:spPr>
            <a:xfrm>
              <a:off x="3600" y="1296"/>
              <a:ext cx="96" cy="192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8701" name="Rectangle 21"/>
            <p:cNvSpPr/>
            <p:nvPr/>
          </p:nvSpPr>
          <p:spPr>
            <a:xfrm>
              <a:off x="3696" y="1296"/>
              <a:ext cx="96" cy="192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8702" name="Rectangle 22"/>
            <p:cNvSpPr/>
            <p:nvPr/>
          </p:nvSpPr>
          <p:spPr>
            <a:xfrm>
              <a:off x="3792" y="1296"/>
              <a:ext cx="96" cy="192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8703" name="Rectangle 23"/>
            <p:cNvSpPr/>
            <p:nvPr/>
          </p:nvSpPr>
          <p:spPr>
            <a:xfrm>
              <a:off x="3888" y="1296"/>
              <a:ext cx="96" cy="192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8704" name="Rectangle 24"/>
            <p:cNvSpPr/>
            <p:nvPr/>
          </p:nvSpPr>
          <p:spPr>
            <a:xfrm>
              <a:off x="3984" y="1296"/>
              <a:ext cx="96" cy="192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8705" name="Rectangle 25"/>
            <p:cNvSpPr/>
            <p:nvPr/>
          </p:nvSpPr>
          <p:spPr>
            <a:xfrm>
              <a:off x="4080" y="1296"/>
              <a:ext cx="96" cy="192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8706" name="AutoShape 26"/>
            <p:cNvSpPr/>
            <p:nvPr/>
          </p:nvSpPr>
          <p:spPr>
            <a:xfrm>
              <a:off x="1561" y="1248"/>
              <a:ext cx="48" cy="288"/>
            </a:xfrm>
            <a:prstGeom prst="can">
              <a:avLst>
                <a:gd name="adj" fmla="val 150000"/>
              </a:avLst>
            </a:prstGeom>
            <a:solidFill>
              <a:schemeClr val="hlink"/>
            </a:solidFill>
            <a:ln w="254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8707" name="AutoShape 27"/>
            <p:cNvSpPr/>
            <p:nvPr/>
          </p:nvSpPr>
          <p:spPr>
            <a:xfrm>
              <a:off x="2040" y="1248"/>
              <a:ext cx="48" cy="288"/>
            </a:xfrm>
            <a:prstGeom prst="can">
              <a:avLst>
                <a:gd name="adj" fmla="val 150000"/>
              </a:avLst>
            </a:prstGeom>
            <a:solidFill>
              <a:schemeClr val="hlink"/>
            </a:solidFill>
            <a:ln w="254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8708" name="AutoShape 28"/>
            <p:cNvSpPr/>
            <p:nvPr/>
          </p:nvSpPr>
          <p:spPr>
            <a:xfrm>
              <a:off x="3194" y="1248"/>
              <a:ext cx="48" cy="288"/>
            </a:xfrm>
            <a:prstGeom prst="can">
              <a:avLst>
                <a:gd name="adj" fmla="val 150000"/>
              </a:avLst>
            </a:prstGeom>
            <a:solidFill>
              <a:schemeClr val="hlink"/>
            </a:solidFill>
            <a:ln w="254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8709" name="AutoShape 29"/>
            <p:cNvSpPr/>
            <p:nvPr/>
          </p:nvSpPr>
          <p:spPr>
            <a:xfrm>
              <a:off x="3672" y="1248"/>
              <a:ext cx="48" cy="288"/>
            </a:xfrm>
            <a:prstGeom prst="can">
              <a:avLst>
                <a:gd name="adj" fmla="val 150000"/>
              </a:avLst>
            </a:prstGeom>
            <a:solidFill>
              <a:schemeClr val="hlink"/>
            </a:solidFill>
            <a:ln w="254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28710" name="Text Box 30"/>
            <p:cNvSpPr txBox="1"/>
            <p:nvPr/>
          </p:nvSpPr>
          <p:spPr>
            <a:xfrm>
              <a:off x="2112" y="1152"/>
              <a:ext cx="1056" cy="365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b="1" dirty="0">
                  <a:latin typeface="Times New Roman" panose="02020603050405020304" pitchFamily="18" charset="0"/>
                </a:rPr>
                <a:t>…………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31"/>
          <p:cNvGrpSpPr/>
          <p:nvPr/>
        </p:nvGrpSpPr>
        <p:grpSpPr>
          <a:xfrm>
            <a:off x="1676400" y="2209800"/>
            <a:ext cx="5029200" cy="366713"/>
            <a:chOff x="1056" y="1488"/>
            <a:chExt cx="3168" cy="231"/>
          </a:xfrm>
        </p:grpSpPr>
        <p:sp>
          <p:nvSpPr>
            <p:cNvPr id="28681" name="Text Box 32"/>
            <p:cNvSpPr txBox="1"/>
            <p:nvPr/>
          </p:nvSpPr>
          <p:spPr>
            <a:xfrm>
              <a:off x="1056" y="1488"/>
              <a:ext cx="528" cy="231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18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1800" b="1" dirty="0">
                  <a:latin typeface="Times New Roman" panose="02020603050405020304" pitchFamily="18" charset="0"/>
                </a:rPr>
                <a:t>[0]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682" name="Text Box 33"/>
            <p:cNvSpPr txBox="1"/>
            <p:nvPr/>
          </p:nvSpPr>
          <p:spPr>
            <a:xfrm>
              <a:off x="1536" y="1488"/>
              <a:ext cx="528" cy="231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18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1800" b="1" dirty="0">
                  <a:latin typeface="Times New Roman" panose="02020603050405020304" pitchFamily="18" charset="0"/>
                </a:rPr>
                <a:t>[1]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683" name="Text Box 34"/>
            <p:cNvSpPr txBox="1"/>
            <p:nvPr/>
          </p:nvSpPr>
          <p:spPr>
            <a:xfrm>
              <a:off x="3216" y="1488"/>
              <a:ext cx="528" cy="231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18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1800" b="1" dirty="0">
                  <a:latin typeface="Times New Roman" panose="02020603050405020304" pitchFamily="18" charset="0"/>
                </a:rPr>
                <a:t>[</a:t>
              </a:r>
              <a:r>
                <a:rPr lang="en-US" altLang="zh-CN" sz="1800" b="1" i="1" dirty="0">
                  <a:latin typeface="Times New Roman" panose="02020603050405020304" pitchFamily="18" charset="0"/>
                </a:rPr>
                <a:t>N</a:t>
              </a:r>
              <a:r>
                <a:rPr lang="en-US" altLang="zh-CN" sz="1800" b="1" dirty="0">
                  <a:latin typeface="Times New Roman" panose="02020603050405020304" pitchFamily="18" charset="0"/>
                </a:rPr>
                <a:t>-2]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684" name="Text Box 35"/>
            <p:cNvSpPr txBox="1"/>
            <p:nvPr/>
          </p:nvSpPr>
          <p:spPr>
            <a:xfrm>
              <a:off x="3696" y="1488"/>
              <a:ext cx="528" cy="231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18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1800" b="1" dirty="0">
                  <a:latin typeface="Times New Roman" panose="02020603050405020304" pitchFamily="18" charset="0"/>
                </a:rPr>
                <a:t>[</a:t>
              </a:r>
              <a:r>
                <a:rPr lang="en-US" altLang="zh-CN" sz="1800" b="1" i="1" dirty="0">
                  <a:latin typeface="Times New Roman" panose="02020603050405020304" pitchFamily="18" charset="0"/>
                </a:rPr>
                <a:t>N</a:t>
              </a:r>
              <a:r>
                <a:rPr lang="en-US" altLang="zh-CN" sz="1800" b="1" dirty="0">
                  <a:latin typeface="Times New Roman" panose="02020603050405020304" pitchFamily="18" charset="0"/>
                </a:rPr>
                <a:t>-1]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99364" name="AutoShape 36"/>
          <p:cNvSpPr/>
          <p:nvPr/>
        </p:nvSpPr>
        <p:spPr>
          <a:xfrm>
            <a:off x="685800" y="2743200"/>
            <a:ext cx="5410200" cy="2286000"/>
          </a:xfrm>
          <a:prstGeom prst="foldedCorner">
            <a:avLst>
              <a:gd name="adj" fmla="val 12500"/>
            </a:avLst>
          </a:prstGeom>
          <a:gradFill rotWithShape="0">
            <a:gsLst>
              <a:gs pos="0">
                <a:srgbClr val="FFFFFF"/>
              </a:gs>
              <a:gs pos="100000">
                <a:schemeClr val="bg1"/>
              </a:gs>
            </a:gsLst>
            <a:lin ang="5400000" scaled="1"/>
            <a:tileRect/>
          </a:gra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lIns="126000" tIns="1188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Index Hash3( </a:t>
            </a: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const</a:t>
            </a:r>
            <a:r>
              <a:rPr lang="en-US" altLang="zh-CN" sz="1800" b="1" dirty="0">
                <a:latin typeface="Arial" panose="020B0604020202020204" pitchFamily="34" charset="0"/>
              </a:rPr>
              <a:t> </a:t>
            </a: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char</a:t>
            </a:r>
            <a:r>
              <a:rPr lang="en-US" altLang="zh-CN" sz="1800" b="1" dirty="0">
                <a:latin typeface="Arial" panose="020B0604020202020204" pitchFamily="34" charset="0"/>
              </a:rPr>
              <a:t> *x, </a:t>
            </a: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int</a:t>
            </a:r>
            <a:r>
              <a:rPr lang="en-US" altLang="zh-CN" sz="1800" b="1" dirty="0">
                <a:latin typeface="Arial" panose="020B0604020202020204" pitchFamily="34" charset="0"/>
              </a:rPr>
              <a:t> TableSize )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{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	</a:t>
            </a: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unsigned  int</a:t>
            </a:r>
            <a:r>
              <a:rPr lang="en-US" altLang="zh-CN" sz="1800" b="1" dirty="0">
                <a:latin typeface="Arial" panose="020B0604020202020204" pitchFamily="34" charset="0"/>
              </a:rPr>
              <a:t>  HashVal = 0;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rgbClr val="008000"/>
                </a:solidFill>
                <a:latin typeface="Arial" panose="020B0604020202020204" pitchFamily="34" charset="0"/>
              </a:rPr>
              <a:t>/* 1*/</a:t>
            </a:r>
            <a:r>
              <a:rPr lang="en-US" altLang="zh-CN" sz="1800" b="1" dirty="0">
                <a:latin typeface="Arial" panose="020B0604020202020204" pitchFamily="34" charset="0"/>
              </a:rPr>
              <a:t> 	</a:t>
            </a: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while</a:t>
            </a:r>
            <a:r>
              <a:rPr lang="en-US" altLang="zh-CN" sz="1800" b="1" dirty="0">
                <a:latin typeface="Arial" panose="020B0604020202020204" pitchFamily="34" charset="0"/>
              </a:rPr>
              <a:t>( *x != '\0' )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rgbClr val="008000"/>
                </a:solidFill>
                <a:latin typeface="Arial" panose="020B0604020202020204" pitchFamily="34" charset="0"/>
              </a:rPr>
              <a:t>/* 2*/</a:t>
            </a:r>
            <a:r>
              <a:rPr lang="en-US" altLang="zh-CN" sz="1800" b="1" dirty="0">
                <a:latin typeface="Arial" panose="020B0604020202020204" pitchFamily="34" charset="0"/>
              </a:rPr>
              <a:t> 	     HashVal = ( HashVal &lt;&lt; 5 ) + *x++;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rgbClr val="008000"/>
                </a:solidFill>
                <a:latin typeface="Arial" panose="020B0604020202020204" pitchFamily="34" charset="0"/>
              </a:rPr>
              <a:t>/* 3*/</a:t>
            </a:r>
            <a:r>
              <a:rPr lang="en-US" altLang="zh-CN" sz="1800" b="1" dirty="0">
                <a:latin typeface="Arial" panose="020B0604020202020204" pitchFamily="34" charset="0"/>
              </a:rPr>
              <a:t> 	</a:t>
            </a: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return</a:t>
            </a:r>
            <a:r>
              <a:rPr lang="en-US" altLang="zh-CN" sz="1800" b="1" dirty="0">
                <a:latin typeface="Arial" panose="020B0604020202020204" pitchFamily="34" charset="0"/>
              </a:rPr>
              <a:t> HashVal % TableSize;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} </a:t>
            </a:r>
            <a:endParaRPr lang="en-US" altLang="zh-CN" sz="1800" b="1" dirty="0">
              <a:latin typeface="Arial" panose="020B0604020202020204" pitchFamily="34" charset="0"/>
            </a:endParaRPr>
          </a:p>
        </p:txBody>
      </p:sp>
      <p:sp>
        <p:nvSpPr>
          <p:cNvPr id="99365" name="AutoShape 37"/>
          <p:cNvSpPr/>
          <p:nvPr/>
        </p:nvSpPr>
        <p:spPr>
          <a:xfrm>
            <a:off x="5943600" y="2514600"/>
            <a:ext cx="2667000" cy="990600"/>
          </a:xfrm>
          <a:prstGeom prst="wedgeEllipseCallout">
            <a:avLst>
              <a:gd name="adj1" fmla="val -103931"/>
              <a:gd name="adj2" fmla="val 109454"/>
            </a:avLst>
          </a:prstGeom>
          <a:gradFill rotWithShape="0">
            <a:gsLst>
              <a:gs pos="0">
                <a:srgbClr val="C0C0C0"/>
              </a:gs>
              <a:gs pos="100000">
                <a:srgbClr val="FFFFFF"/>
              </a:gs>
            </a:gsLst>
            <a:lin ang="18900000" scaled="1"/>
            <a:tileRect/>
          </a:gra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Faster than *27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99367" name="Text Box 39"/>
          <p:cNvSpPr txBox="1"/>
          <p:nvPr/>
        </p:nvSpPr>
        <p:spPr>
          <a:xfrm>
            <a:off x="685800" y="5075238"/>
            <a:ext cx="7696200" cy="13096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568325" lvl="0" indent="-568325" eaLnBrk="1" hangingPunct="1">
              <a:spcBef>
                <a:spcPct val="50000"/>
              </a:spcBef>
              <a:buNone/>
            </a:pPr>
            <a:r>
              <a:rPr lang="en-US" altLang="zh-CN" b="1" dirty="0">
                <a:latin typeface="Times New Roman" panose="02020603050405020304" pitchFamily="18" charset="0"/>
                <a:sym typeface="Wingdings" panose="05000000000000000000" pitchFamily="2" charset="2"/>
              </a:rPr>
              <a:t></a:t>
            </a:r>
            <a:r>
              <a:rPr lang="en-US" altLang="zh-CN" sz="2400" b="1" dirty="0">
                <a:latin typeface="Times New Roman" panose="02020603050405020304" pitchFamily="18" charset="0"/>
                <a:ea typeface="MS Hei" pitchFamily="49" charset="-122"/>
              </a:rPr>
              <a:t>   </a:t>
            </a:r>
            <a:r>
              <a:rPr lang="en-US" altLang="zh-CN" sz="2400" b="1" dirty="0">
                <a:ea typeface="MS Hei" pitchFamily="49" charset="-122"/>
              </a:rPr>
              <a:t>If </a:t>
            </a:r>
            <a:r>
              <a:rPr lang="en-US" altLang="zh-CN" sz="2400" b="1" i="1" dirty="0">
                <a:ea typeface="MS Hei" pitchFamily="49" charset="-122"/>
              </a:rPr>
              <a:t>x</a:t>
            </a:r>
            <a:r>
              <a:rPr lang="en-US" altLang="zh-CN" sz="2400" b="1" dirty="0">
                <a:ea typeface="MS Hei" pitchFamily="49" charset="-122"/>
              </a:rPr>
              <a:t> is too long (e.g. street address), the early characters will be left-shifted out of place.</a:t>
            </a:r>
            <a:endParaRPr lang="en-US" altLang="zh-CN" sz="2400" b="1" dirty="0">
              <a:ea typeface="MS Hei" pitchFamily="49" charset="-122"/>
            </a:endParaRPr>
          </a:p>
        </p:txBody>
      </p:sp>
      <p:sp>
        <p:nvSpPr>
          <p:cNvPr id="99368" name="Text Box 40"/>
          <p:cNvSpPr txBox="1"/>
          <p:nvPr/>
        </p:nvSpPr>
        <p:spPr>
          <a:xfrm>
            <a:off x="6400800" y="2895600"/>
            <a:ext cx="2438400" cy="1797050"/>
          </a:xfrm>
          <a:prstGeom prst="rect">
            <a:avLst/>
          </a:prstGeom>
          <a:noFill/>
          <a:ln w="25400">
            <a:noFill/>
          </a:ln>
        </p:spPr>
        <p:txBody>
          <a:bodyPr lIns="0" r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660400" lvl="0" indent="-660400" eaLnBrk="1" hangingPunct="1">
              <a:spcBef>
                <a:spcPct val="50000"/>
              </a:spcBef>
              <a:buNone/>
            </a:pPr>
            <a:r>
              <a:rPr lang="en-US" altLang="zh-CN" sz="4000" dirty="0">
                <a:solidFill>
                  <a:schemeClr val="hlink"/>
                </a:solidFill>
                <a:latin typeface="Times New Roman" panose="02020603050405020304" pitchFamily="18" charset="0"/>
                <a:sym typeface="Webdings" panose="05030102010509060703" pitchFamily="18" charset="2"/>
              </a:rPr>
              <a:t> </a:t>
            </a:r>
            <a:r>
              <a:rPr lang="en-US" altLang="zh-CN" sz="2400" b="1" dirty="0">
                <a:latin typeface="Times New Roman" panose="02020603050405020304" pitchFamily="18" charset="0"/>
                <a:sym typeface="Webdings" panose="05030102010509060703" pitchFamily="18" charset="2"/>
              </a:rPr>
              <a:t>Carefully select some characters from </a:t>
            </a:r>
            <a:r>
              <a:rPr lang="en-US" altLang="zh-CN" sz="2400" b="1" i="1" dirty="0">
                <a:latin typeface="Times New Roman" panose="02020603050405020304" pitchFamily="18" charset="0"/>
                <a:sym typeface="Webdings" panose="05030102010509060703" pitchFamily="18" charset="2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  <a:sym typeface="Webdings" panose="05030102010509060703" pitchFamily="18" charset="2"/>
              </a:rPr>
              <a:t>.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99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9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7" dur="500"/>
                                        <p:tgtEl>
                                          <p:spTgt spid="9936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9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936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9936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蛙鸣周期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31" grpId="0" animBg="1"/>
      <p:bldP spid="99364" grpId="0" animBg="1"/>
      <p:bldP spid="99365" grpId="0" animBg="1"/>
      <p:bldP spid="99367" grpId="0"/>
      <p:bldP spid="9936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969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Solving Collisions</a:t>
            </a:r>
            <a:endParaRPr lang="en-US" altLang="zh-CN" dirty="0"/>
          </a:p>
        </p:txBody>
      </p:sp>
      <p:sp>
        <p:nvSpPr>
          <p:cNvPr id="2969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Separate Chaining </a:t>
            </a:r>
            <a:r>
              <a:rPr lang="zh-CN" altLang="en-US" dirty="0"/>
              <a:t>（链地址法）</a:t>
            </a:r>
            <a:endParaRPr lang="en-US" altLang="zh-CN" dirty="0"/>
          </a:p>
          <a:p>
            <a:pPr eaLnBrk="1" hangingPunct="1"/>
            <a:r>
              <a:rPr lang="en-US" altLang="zh-CN" dirty="0"/>
              <a:t>Open Addressing </a:t>
            </a:r>
            <a:r>
              <a:rPr lang="zh-CN" altLang="en-US" dirty="0"/>
              <a:t>（开放定址法）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Linear probing </a:t>
            </a:r>
            <a:r>
              <a:rPr lang="zh-CN" altLang="en-US" dirty="0"/>
              <a:t>（线性探测再散列）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Quadratic probing </a:t>
            </a:r>
            <a:r>
              <a:rPr lang="zh-CN" altLang="en-US" dirty="0"/>
              <a:t>（二次探测再散列）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Double hashing </a:t>
            </a:r>
            <a:endParaRPr lang="en-US" altLang="zh-CN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30722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2800" dirty="0"/>
              <a:t>Idea: keep a linked list of all keys that hash to the same value</a:t>
            </a:r>
            <a:endParaRPr lang="en-US" altLang="zh-CN" sz="2800" dirty="0"/>
          </a:p>
          <a:p>
            <a:pPr eaLnBrk="1" hangingPunct="1"/>
            <a:endParaRPr lang="en-US" altLang="zh-CN" sz="2800" dirty="0"/>
          </a:p>
        </p:txBody>
      </p:sp>
      <p:sp>
        <p:nvSpPr>
          <p:cNvPr id="3072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Separate Chaining</a:t>
            </a:r>
            <a:endParaRPr lang="en-US" altLang="zh-CN" dirty="0"/>
          </a:p>
        </p:txBody>
      </p:sp>
      <p:grpSp>
        <p:nvGrpSpPr>
          <p:cNvPr id="2" name="Group 95"/>
          <p:cNvGrpSpPr/>
          <p:nvPr/>
        </p:nvGrpSpPr>
        <p:grpSpPr>
          <a:xfrm>
            <a:off x="-36512" y="3709988"/>
            <a:ext cx="1728787" cy="2743200"/>
            <a:chOff x="204" y="1797"/>
            <a:chExt cx="1089" cy="1728"/>
          </a:xfrm>
        </p:grpSpPr>
        <p:sp>
          <p:nvSpPr>
            <p:cNvPr id="30807" name="Rectangle 4"/>
            <p:cNvSpPr/>
            <p:nvPr/>
          </p:nvSpPr>
          <p:spPr>
            <a:xfrm>
              <a:off x="739" y="1797"/>
              <a:ext cx="528" cy="192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0808" name="Rectangle 5"/>
            <p:cNvSpPr/>
            <p:nvPr/>
          </p:nvSpPr>
          <p:spPr>
            <a:xfrm>
              <a:off x="204" y="1797"/>
              <a:ext cx="528" cy="19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0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0809" name="Rectangle 6"/>
            <p:cNvSpPr/>
            <p:nvPr/>
          </p:nvSpPr>
          <p:spPr>
            <a:xfrm>
              <a:off x="211" y="1989"/>
              <a:ext cx="528" cy="19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0810" name="Rectangle 7"/>
            <p:cNvSpPr/>
            <p:nvPr/>
          </p:nvSpPr>
          <p:spPr>
            <a:xfrm>
              <a:off x="739" y="2181"/>
              <a:ext cx="528" cy="192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0811" name="Rectangle 8"/>
            <p:cNvSpPr/>
            <p:nvPr/>
          </p:nvSpPr>
          <p:spPr>
            <a:xfrm>
              <a:off x="211" y="2181"/>
              <a:ext cx="528" cy="19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2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0812" name="Rectangle 9"/>
            <p:cNvSpPr/>
            <p:nvPr/>
          </p:nvSpPr>
          <p:spPr>
            <a:xfrm>
              <a:off x="739" y="2373"/>
              <a:ext cx="528" cy="192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0813" name="Rectangle 10"/>
            <p:cNvSpPr/>
            <p:nvPr/>
          </p:nvSpPr>
          <p:spPr>
            <a:xfrm>
              <a:off x="211" y="2373"/>
              <a:ext cx="528" cy="19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3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0814" name="Rectangle 11"/>
            <p:cNvSpPr/>
            <p:nvPr/>
          </p:nvSpPr>
          <p:spPr>
            <a:xfrm>
              <a:off x="739" y="2565"/>
              <a:ext cx="528" cy="192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0815" name="Rectangle 12"/>
            <p:cNvSpPr/>
            <p:nvPr/>
          </p:nvSpPr>
          <p:spPr>
            <a:xfrm>
              <a:off x="211" y="2565"/>
              <a:ext cx="528" cy="19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4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0816" name="Rectangle 13"/>
            <p:cNvSpPr/>
            <p:nvPr/>
          </p:nvSpPr>
          <p:spPr>
            <a:xfrm>
              <a:off x="739" y="2757"/>
              <a:ext cx="528" cy="192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0817" name="Rectangle 14"/>
            <p:cNvSpPr/>
            <p:nvPr/>
          </p:nvSpPr>
          <p:spPr>
            <a:xfrm>
              <a:off x="204" y="2757"/>
              <a:ext cx="528" cy="19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5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0818" name="Rectangle 15"/>
            <p:cNvSpPr/>
            <p:nvPr/>
          </p:nvSpPr>
          <p:spPr>
            <a:xfrm>
              <a:off x="739" y="2949"/>
              <a:ext cx="528" cy="192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0819" name="Rectangle 16"/>
            <p:cNvSpPr/>
            <p:nvPr/>
          </p:nvSpPr>
          <p:spPr>
            <a:xfrm>
              <a:off x="211" y="2949"/>
              <a:ext cx="528" cy="19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6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0820" name="Rectangle 17"/>
            <p:cNvSpPr/>
            <p:nvPr/>
          </p:nvSpPr>
          <p:spPr>
            <a:xfrm>
              <a:off x="739" y="3141"/>
              <a:ext cx="528" cy="192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0821" name="Rectangle 18"/>
            <p:cNvSpPr/>
            <p:nvPr/>
          </p:nvSpPr>
          <p:spPr>
            <a:xfrm>
              <a:off x="211" y="3141"/>
              <a:ext cx="528" cy="19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……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0822" name="Rectangle 19"/>
            <p:cNvSpPr/>
            <p:nvPr/>
          </p:nvSpPr>
          <p:spPr>
            <a:xfrm>
              <a:off x="739" y="3333"/>
              <a:ext cx="528" cy="192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0823" name="Rectangle 20"/>
            <p:cNvSpPr/>
            <p:nvPr/>
          </p:nvSpPr>
          <p:spPr>
            <a:xfrm>
              <a:off x="211" y="3333"/>
              <a:ext cx="528" cy="19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9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0824" name="Rectangle 21"/>
            <p:cNvSpPr/>
            <p:nvPr/>
          </p:nvSpPr>
          <p:spPr>
            <a:xfrm>
              <a:off x="748" y="1802"/>
              <a:ext cx="545" cy="1723"/>
            </a:xfrm>
            <a:prstGeom prst="rect">
              <a:avLst/>
            </a:prstGeom>
            <a:noFill/>
            <a:ln w="76200" cap="flat" cmpd="tri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30825" name="Rectangle 30"/>
            <p:cNvSpPr/>
            <p:nvPr/>
          </p:nvSpPr>
          <p:spPr>
            <a:xfrm>
              <a:off x="742" y="1979"/>
              <a:ext cx="528" cy="192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0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12671" name="Line 31"/>
          <p:cNvSpPr/>
          <p:nvPr/>
        </p:nvSpPr>
        <p:spPr>
          <a:xfrm>
            <a:off x="1331913" y="3854450"/>
            <a:ext cx="576262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12672" name="Line 32"/>
          <p:cNvSpPr/>
          <p:nvPr/>
        </p:nvSpPr>
        <p:spPr>
          <a:xfrm>
            <a:off x="1331913" y="4141788"/>
            <a:ext cx="576262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12673" name="Line 33"/>
          <p:cNvSpPr/>
          <p:nvPr/>
        </p:nvSpPr>
        <p:spPr>
          <a:xfrm>
            <a:off x="1331913" y="4503738"/>
            <a:ext cx="576262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12674" name="Line 34"/>
          <p:cNvSpPr/>
          <p:nvPr/>
        </p:nvSpPr>
        <p:spPr>
          <a:xfrm>
            <a:off x="1331913" y="4791075"/>
            <a:ext cx="576262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12675" name="Line 35"/>
          <p:cNvSpPr/>
          <p:nvPr/>
        </p:nvSpPr>
        <p:spPr>
          <a:xfrm>
            <a:off x="1331913" y="5078413"/>
            <a:ext cx="576262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12676" name="Line 36"/>
          <p:cNvSpPr/>
          <p:nvPr/>
        </p:nvSpPr>
        <p:spPr>
          <a:xfrm>
            <a:off x="1331913" y="5365750"/>
            <a:ext cx="576262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12677" name="Line 37"/>
          <p:cNvSpPr/>
          <p:nvPr/>
        </p:nvSpPr>
        <p:spPr>
          <a:xfrm>
            <a:off x="1331913" y="5727700"/>
            <a:ext cx="576262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12678" name="Line 38"/>
          <p:cNvSpPr/>
          <p:nvPr/>
        </p:nvSpPr>
        <p:spPr>
          <a:xfrm>
            <a:off x="1331913" y="6302375"/>
            <a:ext cx="576262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3" name="Group 44"/>
          <p:cNvGrpSpPr/>
          <p:nvPr/>
        </p:nvGrpSpPr>
        <p:grpSpPr>
          <a:xfrm>
            <a:off x="1906588" y="3709988"/>
            <a:ext cx="722312" cy="288925"/>
            <a:chOff x="1881" y="1888"/>
            <a:chExt cx="499" cy="227"/>
          </a:xfrm>
        </p:grpSpPr>
        <p:sp>
          <p:nvSpPr>
            <p:cNvPr id="30803" name="Rectangle 39"/>
            <p:cNvSpPr/>
            <p:nvPr/>
          </p:nvSpPr>
          <p:spPr>
            <a:xfrm>
              <a:off x="1881" y="1888"/>
              <a:ext cx="499" cy="227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30804" name="Line 40"/>
            <p:cNvSpPr/>
            <p:nvPr/>
          </p:nvSpPr>
          <p:spPr>
            <a:xfrm>
              <a:off x="2154" y="1888"/>
              <a:ext cx="0" cy="227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805" name="Line 41"/>
            <p:cNvSpPr/>
            <p:nvPr/>
          </p:nvSpPr>
          <p:spPr>
            <a:xfrm flipH="1">
              <a:off x="2200" y="1933"/>
              <a:ext cx="90" cy="13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806" name="Line 42"/>
            <p:cNvSpPr/>
            <p:nvPr/>
          </p:nvSpPr>
          <p:spPr>
            <a:xfrm>
              <a:off x="2290" y="1933"/>
              <a:ext cx="46" cy="13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4" name="Group 45"/>
          <p:cNvGrpSpPr/>
          <p:nvPr/>
        </p:nvGrpSpPr>
        <p:grpSpPr>
          <a:xfrm>
            <a:off x="1908175" y="3997325"/>
            <a:ext cx="722313" cy="288925"/>
            <a:chOff x="1881" y="1888"/>
            <a:chExt cx="499" cy="227"/>
          </a:xfrm>
        </p:grpSpPr>
        <p:sp>
          <p:nvSpPr>
            <p:cNvPr id="30799" name="Rectangle 46"/>
            <p:cNvSpPr/>
            <p:nvPr/>
          </p:nvSpPr>
          <p:spPr>
            <a:xfrm>
              <a:off x="1881" y="1888"/>
              <a:ext cx="499" cy="227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30800" name="Line 47"/>
            <p:cNvSpPr/>
            <p:nvPr/>
          </p:nvSpPr>
          <p:spPr>
            <a:xfrm>
              <a:off x="2154" y="1888"/>
              <a:ext cx="0" cy="227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801" name="Line 48"/>
            <p:cNvSpPr/>
            <p:nvPr/>
          </p:nvSpPr>
          <p:spPr>
            <a:xfrm flipH="1">
              <a:off x="2200" y="1933"/>
              <a:ext cx="90" cy="13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802" name="Line 49"/>
            <p:cNvSpPr/>
            <p:nvPr/>
          </p:nvSpPr>
          <p:spPr>
            <a:xfrm>
              <a:off x="2290" y="1933"/>
              <a:ext cx="46" cy="13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5" name="Group 50"/>
          <p:cNvGrpSpPr/>
          <p:nvPr/>
        </p:nvGrpSpPr>
        <p:grpSpPr>
          <a:xfrm>
            <a:off x="1908175" y="4313238"/>
            <a:ext cx="722313" cy="288925"/>
            <a:chOff x="1881" y="1888"/>
            <a:chExt cx="499" cy="227"/>
          </a:xfrm>
        </p:grpSpPr>
        <p:sp>
          <p:nvSpPr>
            <p:cNvPr id="30795" name="Rectangle 51"/>
            <p:cNvSpPr/>
            <p:nvPr/>
          </p:nvSpPr>
          <p:spPr>
            <a:xfrm>
              <a:off x="1881" y="1888"/>
              <a:ext cx="499" cy="227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30796" name="Line 52"/>
            <p:cNvSpPr/>
            <p:nvPr/>
          </p:nvSpPr>
          <p:spPr>
            <a:xfrm>
              <a:off x="2154" y="1888"/>
              <a:ext cx="0" cy="227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97" name="Line 53"/>
            <p:cNvSpPr/>
            <p:nvPr/>
          </p:nvSpPr>
          <p:spPr>
            <a:xfrm flipH="1">
              <a:off x="2200" y="1933"/>
              <a:ext cx="90" cy="13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98" name="Line 54"/>
            <p:cNvSpPr/>
            <p:nvPr/>
          </p:nvSpPr>
          <p:spPr>
            <a:xfrm>
              <a:off x="2290" y="1933"/>
              <a:ext cx="46" cy="13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6" name="Group 55"/>
          <p:cNvGrpSpPr/>
          <p:nvPr/>
        </p:nvGrpSpPr>
        <p:grpSpPr>
          <a:xfrm>
            <a:off x="1908175" y="4622800"/>
            <a:ext cx="722313" cy="288925"/>
            <a:chOff x="1881" y="1888"/>
            <a:chExt cx="499" cy="227"/>
          </a:xfrm>
        </p:grpSpPr>
        <p:sp>
          <p:nvSpPr>
            <p:cNvPr id="30791" name="Rectangle 56"/>
            <p:cNvSpPr/>
            <p:nvPr/>
          </p:nvSpPr>
          <p:spPr>
            <a:xfrm>
              <a:off x="1881" y="1888"/>
              <a:ext cx="499" cy="227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30792" name="Line 57"/>
            <p:cNvSpPr/>
            <p:nvPr/>
          </p:nvSpPr>
          <p:spPr>
            <a:xfrm>
              <a:off x="2154" y="1888"/>
              <a:ext cx="0" cy="227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93" name="Line 58"/>
            <p:cNvSpPr/>
            <p:nvPr/>
          </p:nvSpPr>
          <p:spPr>
            <a:xfrm flipH="1">
              <a:off x="2200" y="1933"/>
              <a:ext cx="90" cy="13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94" name="Line 59"/>
            <p:cNvSpPr/>
            <p:nvPr/>
          </p:nvSpPr>
          <p:spPr>
            <a:xfrm>
              <a:off x="2290" y="1933"/>
              <a:ext cx="46" cy="13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7" name="Group 60"/>
          <p:cNvGrpSpPr/>
          <p:nvPr/>
        </p:nvGrpSpPr>
        <p:grpSpPr>
          <a:xfrm>
            <a:off x="1908175" y="4956175"/>
            <a:ext cx="722313" cy="288925"/>
            <a:chOff x="1881" y="1888"/>
            <a:chExt cx="499" cy="227"/>
          </a:xfrm>
        </p:grpSpPr>
        <p:sp>
          <p:nvSpPr>
            <p:cNvPr id="30787" name="Rectangle 61"/>
            <p:cNvSpPr/>
            <p:nvPr/>
          </p:nvSpPr>
          <p:spPr>
            <a:xfrm>
              <a:off x="1881" y="1888"/>
              <a:ext cx="499" cy="227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30788" name="Line 62"/>
            <p:cNvSpPr/>
            <p:nvPr/>
          </p:nvSpPr>
          <p:spPr>
            <a:xfrm>
              <a:off x="2154" y="1888"/>
              <a:ext cx="0" cy="227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89" name="Line 63"/>
            <p:cNvSpPr/>
            <p:nvPr/>
          </p:nvSpPr>
          <p:spPr>
            <a:xfrm flipH="1">
              <a:off x="2200" y="1933"/>
              <a:ext cx="90" cy="13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90" name="Line 64"/>
            <p:cNvSpPr/>
            <p:nvPr/>
          </p:nvSpPr>
          <p:spPr>
            <a:xfrm>
              <a:off x="2290" y="1933"/>
              <a:ext cx="46" cy="13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8" name="Group 65"/>
          <p:cNvGrpSpPr/>
          <p:nvPr/>
        </p:nvGrpSpPr>
        <p:grpSpPr>
          <a:xfrm>
            <a:off x="1909763" y="5243513"/>
            <a:ext cx="722312" cy="288925"/>
            <a:chOff x="1881" y="1888"/>
            <a:chExt cx="499" cy="227"/>
          </a:xfrm>
        </p:grpSpPr>
        <p:sp>
          <p:nvSpPr>
            <p:cNvPr id="30783" name="Rectangle 66"/>
            <p:cNvSpPr/>
            <p:nvPr/>
          </p:nvSpPr>
          <p:spPr>
            <a:xfrm>
              <a:off x="1881" y="1888"/>
              <a:ext cx="499" cy="227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30784" name="Line 67"/>
            <p:cNvSpPr/>
            <p:nvPr/>
          </p:nvSpPr>
          <p:spPr>
            <a:xfrm>
              <a:off x="2154" y="1888"/>
              <a:ext cx="0" cy="227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85" name="Line 68"/>
            <p:cNvSpPr/>
            <p:nvPr/>
          </p:nvSpPr>
          <p:spPr>
            <a:xfrm flipH="1">
              <a:off x="2200" y="1933"/>
              <a:ext cx="90" cy="13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86" name="Line 69"/>
            <p:cNvSpPr/>
            <p:nvPr/>
          </p:nvSpPr>
          <p:spPr>
            <a:xfrm>
              <a:off x="2290" y="1933"/>
              <a:ext cx="46" cy="13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9" name="Group 70"/>
          <p:cNvGrpSpPr/>
          <p:nvPr/>
        </p:nvGrpSpPr>
        <p:grpSpPr>
          <a:xfrm>
            <a:off x="1909763" y="5559425"/>
            <a:ext cx="722312" cy="288925"/>
            <a:chOff x="1881" y="1888"/>
            <a:chExt cx="499" cy="227"/>
          </a:xfrm>
        </p:grpSpPr>
        <p:sp>
          <p:nvSpPr>
            <p:cNvPr id="30779" name="Rectangle 71"/>
            <p:cNvSpPr/>
            <p:nvPr/>
          </p:nvSpPr>
          <p:spPr>
            <a:xfrm>
              <a:off x="1881" y="1888"/>
              <a:ext cx="499" cy="227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30780" name="Line 72"/>
            <p:cNvSpPr/>
            <p:nvPr/>
          </p:nvSpPr>
          <p:spPr>
            <a:xfrm>
              <a:off x="2154" y="1888"/>
              <a:ext cx="0" cy="227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81" name="Line 73"/>
            <p:cNvSpPr/>
            <p:nvPr/>
          </p:nvSpPr>
          <p:spPr>
            <a:xfrm flipH="1">
              <a:off x="2200" y="1933"/>
              <a:ext cx="90" cy="13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82" name="Line 74"/>
            <p:cNvSpPr/>
            <p:nvPr/>
          </p:nvSpPr>
          <p:spPr>
            <a:xfrm>
              <a:off x="2290" y="1933"/>
              <a:ext cx="46" cy="13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0" name="Group 75"/>
          <p:cNvGrpSpPr/>
          <p:nvPr/>
        </p:nvGrpSpPr>
        <p:grpSpPr>
          <a:xfrm>
            <a:off x="1909763" y="6157913"/>
            <a:ext cx="722312" cy="288925"/>
            <a:chOff x="1881" y="1888"/>
            <a:chExt cx="499" cy="227"/>
          </a:xfrm>
        </p:grpSpPr>
        <p:sp>
          <p:nvSpPr>
            <p:cNvPr id="30775" name="Rectangle 76"/>
            <p:cNvSpPr/>
            <p:nvPr/>
          </p:nvSpPr>
          <p:spPr>
            <a:xfrm>
              <a:off x="1881" y="1888"/>
              <a:ext cx="499" cy="227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30776" name="Line 77"/>
            <p:cNvSpPr/>
            <p:nvPr/>
          </p:nvSpPr>
          <p:spPr>
            <a:xfrm>
              <a:off x="2154" y="1888"/>
              <a:ext cx="0" cy="227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77" name="Line 78"/>
            <p:cNvSpPr/>
            <p:nvPr/>
          </p:nvSpPr>
          <p:spPr>
            <a:xfrm flipH="1">
              <a:off x="2200" y="1933"/>
              <a:ext cx="90" cy="13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78" name="Line 79"/>
            <p:cNvSpPr/>
            <p:nvPr/>
          </p:nvSpPr>
          <p:spPr>
            <a:xfrm>
              <a:off x="2290" y="1933"/>
              <a:ext cx="46" cy="13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12737" name="Text Box 97"/>
          <p:cNvSpPr txBox="1"/>
          <p:nvPr/>
        </p:nvSpPr>
        <p:spPr>
          <a:xfrm>
            <a:off x="4275138" y="2806700"/>
            <a:ext cx="4968875" cy="20320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1800" dirty="0"/>
              <a:t>【Example】</a:t>
            </a:r>
            <a:r>
              <a:rPr lang="en-US" altLang="zh-CN" sz="1800" b="1" dirty="0">
                <a:solidFill>
                  <a:srgbClr val="0000FF"/>
                </a:solidFill>
              </a:rPr>
              <a:t>keys:</a:t>
            </a:r>
            <a:r>
              <a:rPr lang="en-US" altLang="zh-CN" sz="1800" dirty="0"/>
              <a:t> first 10 perfect squares</a:t>
            </a:r>
            <a:endParaRPr lang="en-US" altLang="zh-CN" sz="1800" dirty="0"/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1800" dirty="0"/>
              <a:t>                             1,4,9,16,25,36,49,64,81</a:t>
            </a:r>
            <a:endParaRPr lang="en-US" altLang="zh-CN" sz="1800" dirty="0"/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1800" dirty="0"/>
              <a:t>                 </a:t>
            </a:r>
            <a:r>
              <a:rPr lang="en-US" altLang="zh-CN" sz="1800" b="1" dirty="0">
                <a:solidFill>
                  <a:srgbClr val="0000FF"/>
                </a:solidFill>
              </a:rPr>
              <a:t>TableSize:  </a:t>
            </a:r>
            <a:r>
              <a:rPr lang="en-US" altLang="zh-CN" sz="1800" dirty="0"/>
              <a:t>10</a:t>
            </a:r>
            <a:endParaRPr lang="en-US" altLang="zh-CN" sz="1800" dirty="0"/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1800" b="1" dirty="0">
                <a:solidFill>
                  <a:schemeClr val="hlink"/>
                </a:solidFill>
              </a:rPr>
              <a:t>           </a:t>
            </a:r>
            <a:r>
              <a:rPr lang="en-US" altLang="zh-CN" sz="1800" b="1" dirty="0">
                <a:solidFill>
                  <a:srgbClr val="0000FF"/>
                </a:solidFill>
              </a:rPr>
              <a:t>hash function: </a:t>
            </a:r>
            <a:r>
              <a:rPr lang="en-US" altLang="zh-CN" sz="1800" dirty="0"/>
              <a:t>Hash(X)=X mod 10</a:t>
            </a:r>
            <a:endParaRPr lang="en-US" altLang="zh-CN" sz="1800" dirty="0"/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1800" dirty="0"/>
              <a:t>                 </a:t>
            </a:r>
            <a:endParaRPr lang="en-US" altLang="zh-CN" sz="1800" dirty="0"/>
          </a:p>
        </p:txBody>
      </p:sp>
      <p:grpSp>
        <p:nvGrpSpPr>
          <p:cNvPr id="11" name="Group 124"/>
          <p:cNvGrpSpPr/>
          <p:nvPr/>
        </p:nvGrpSpPr>
        <p:grpSpPr>
          <a:xfrm>
            <a:off x="2339975" y="3954463"/>
            <a:ext cx="1373188" cy="360362"/>
            <a:chOff x="1701" y="2024"/>
            <a:chExt cx="865" cy="227"/>
          </a:xfrm>
        </p:grpSpPr>
        <p:sp>
          <p:nvSpPr>
            <p:cNvPr id="30768" name="Rectangle 112"/>
            <p:cNvSpPr/>
            <p:nvPr/>
          </p:nvSpPr>
          <p:spPr>
            <a:xfrm>
              <a:off x="1701" y="2087"/>
              <a:ext cx="160" cy="118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grpSp>
          <p:nvGrpSpPr>
            <p:cNvPr id="30769" name="Group 123"/>
            <p:cNvGrpSpPr/>
            <p:nvPr/>
          </p:nvGrpSpPr>
          <p:grpSpPr>
            <a:xfrm>
              <a:off x="1794" y="2024"/>
              <a:ext cx="772" cy="227"/>
              <a:chOff x="1794" y="2024"/>
              <a:chExt cx="772" cy="227"/>
            </a:xfrm>
          </p:grpSpPr>
          <p:sp>
            <p:nvSpPr>
              <p:cNvPr id="30770" name="Line 113"/>
              <p:cNvSpPr/>
              <p:nvPr/>
            </p:nvSpPr>
            <p:spPr>
              <a:xfrm>
                <a:off x="1794" y="2153"/>
                <a:ext cx="363" cy="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30771" name="Text Box 119"/>
              <p:cNvSpPr txBox="1"/>
              <p:nvPr/>
            </p:nvSpPr>
            <p:spPr>
              <a:xfrm>
                <a:off x="2158" y="2024"/>
                <a:ext cx="408" cy="208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None/>
                </a:pPr>
                <a:r>
                  <a:rPr lang="en-US" altLang="zh-CN" sz="1400" dirty="0"/>
                  <a:t>1</a:t>
                </a:r>
                <a:endParaRPr lang="en-US" altLang="zh-CN" sz="1400" dirty="0"/>
              </a:p>
            </p:txBody>
          </p:sp>
          <p:sp>
            <p:nvSpPr>
              <p:cNvPr id="30772" name="Line 120"/>
              <p:cNvSpPr/>
              <p:nvPr/>
            </p:nvSpPr>
            <p:spPr>
              <a:xfrm>
                <a:off x="2381" y="2024"/>
                <a:ext cx="0" cy="227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773" name="Line 121"/>
              <p:cNvSpPr/>
              <p:nvPr/>
            </p:nvSpPr>
            <p:spPr>
              <a:xfrm flipH="1">
                <a:off x="2426" y="2069"/>
                <a:ext cx="46" cy="91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774" name="Line 122"/>
              <p:cNvSpPr/>
              <p:nvPr/>
            </p:nvSpPr>
            <p:spPr>
              <a:xfrm>
                <a:off x="2472" y="2069"/>
                <a:ext cx="45" cy="91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13" name="Group 125"/>
          <p:cNvGrpSpPr/>
          <p:nvPr/>
        </p:nvGrpSpPr>
        <p:grpSpPr>
          <a:xfrm>
            <a:off x="2339975" y="4902200"/>
            <a:ext cx="1373188" cy="360363"/>
            <a:chOff x="1701" y="2024"/>
            <a:chExt cx="865" cy="227"/>
          </a:xfrm>
        </p:grpSpPr>
        <p:sp>
          <p:nvSpPr>
            <p:cNvPr id="30761" name="Rectangle 126"/>
            <p:cNvSpPr/>
            <p:nvPr/>
          </p:nvSpPr>
          <p:spPr>
            <a:xfrm>
              <a:off x="1701" y="2087"/>
              <a:ext cx="160" cy="118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grpSp>
          <p:nvGrpSpPr>
            <p:cNvPr id="30762" name="Group 127"/>
            <p:cNvGrpSpPr/>
            <p:nvPr/>
          </p:nvGrpSpPr>
          <p:grpSpPr>
            <a:xfrm>
              <a:off x="1794" y="2024"/>
              <a:ext cx="772" cy="227"/>
              <a:chOff x="1794" y="2024"/>
              <a:chExt cx="772" cy="227"/>
            </a:xfrm>
          </p:grpSpPr>
          <p:sp>
            <p:nvSpPr>
              <p:cNvPr id="30763" name="Line 128"/>
              <p:cNvSpPr/>
              <p:nvPr/>
            </p:nvSpPr>
            <p:spPr>
              <a:xfrm>
                <a:off x="1794" y="2153"/>
                <a:ext cx="363" cy="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30764" name="Text Box 129"/>
              <p:cNvSpPr txBox="1"/>
              <p:nvPr/>
            </p:nvSpPr>
            <p:spPr>
              <a:xfrm>
                <a:off x="2158" y="2024"/>
                <a:ext cx="408" cy="208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None/>
                </a:pPr>
                <a:r>
                  <a:rPr lang="en-US" altLang="zh-CN" sz="1400" dirty="0"/>
                  <a:t>4</a:t>
                </a:r>
                <a:endParaRPr lang="en-US" altLang="zh-CN" sz="1400" dirty="0"/>
              </a:p>
            </p:txBody>
          </p:sp>
          <p:sp>
            <p:nvSpPr>
              <p:cNvPr id="30765" name="Line 130"/>
              <p:cNvSpPr/>
              <p:nvPr/>
            </p:nvSpPr>
            <p:spPr>
              <a:xfrm>
                <a:off x="2381" y="2024"/>
                <a:ext cx="0" cy="227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766" name="Line 131"/>
              <p:cNvSpPr/>
              <p:nvPr/>
            </p:nvSpPr>
            <p:spPr>
              <a:xfrm flipH="1">
                <a:off x="2426" y="2069"/>
                <a:ext cx="46" cy="91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767" name="Line 132"/>
              <p:cNvSpPr/>
              <p:nvPr/>
            </p:nvSpPr>
            <p:spPr>
              <a:xfrm>
                <a:off x="2472" y="2069"/>
                <a:ext cx="45" cy="91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15" name="Group 133"/>
          <p:cNvGrpSpPr/>
          <p:nvPr/>
        </p:nvGrpSpPr>
        <p:grpSpPr>
          <a:xfrm>
            <a:off x="3475038" y="3921125"/>
            <a:ext cx="1373187" cy="360363"/>
            <a:chOff x="1701" y="2024"/>
            <a:chExt cx="865" cy="227"/>
          </a:xfrm>
        </p:grpSpPr>
        <p:sp>
          <p:nvSpPr>
            <p:cNvPr id="30754" name="Rectangle 134"/>
            <p:cNvSpPr/>
            <p:nvPr/>
          </p:nvSpPr>
          <p:spPr>
            <a:xfrm>
              <a:off x="1701" y="2087"/>
              <a:ext cx="160" cy="118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grpSp>
          <p:nvGrpSpPr>
            <p:cNvPr id="30755" name="Group 135"/>
            <p:cNvGrpSpPr/>
            <p:nvPr/>
          </p:nvGrpSpPr>
          <p:grpSpPr>
            <a:xfrm>
              <a:off x="1794" y="2024"/>
              <a:ext cx="772" cy="227"/>
              <a:chOff x="1794" y="2024"/>
              <a:chExt cx="772" cy="227"/>
            </a:xfrm>
          </p:grpSpPr>
          <p:sp>
            <p:nvSpPr>
              <p:cNvPr id="30756" name="Line 136"/>
              <p:cNvSpPr/>
              <p:nvPr/>
            </p:nvSpPr>
            <p:spPr>
              <a:xfrm>
                <a:off x="1794" y="2153"/>
                <a:ext cx="363" cy="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30757" name="Text Box 137"/>
              <p:cNvSpPr txBox="1"/>
              <p:nvPr/>
            </p:nvSpPr>
            <p:spPr>
              <a:xfrm>
                <a:off x="2158" y="2024"/>
                <a:ext cx="408" cy="208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None/>
                </a:pPr>
                <a:r>
                  <a:rPr lang="en-US" altLang="zh-CN" sz="1400" dirty="0"/>
                  <a:t>81</a:t>
                </a:r>
                <a:endParaRPr lang="en-US" altLang="zh-CN" sz="1400" dirty="0"/>
              </a:p>
            </p:txBody>
          </p:sp>
          <p:sp>
            <p:nvSpPr>
              <p:cNvPr id="30758" name="Line 138"/>
              <p:cNvSpPr/>
              <p:nvPr/>
            </p:nvSpPr>
            <p:spPr>
              <a:xfrm>
                <a:off x="2381" y="2024"/>
                <a:ext cx="0" cy="227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759" name="Line 139"/>
              <p:cNvSpPr/>
              <p:nvPr/>
            </p:nvSpPr>
            <p:spPr>
              <a:xfrm flipH="1">
                <a:off x="2426" y="2069"/>
                <a:ext cx="46" cy="91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760" name="Line 140"/>
              <p:cNvSpPr/>
              <p:nvPr/>
            </p:nvSpPr>
            <p:spPr>
              <a:xfrm>
                <a:off x="2472" y="2069"/>
                <a:ext cx="45" cy="91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sp>
        <p:nvSpPr>
          <p:cNvPr id="112781" name="Text Box 141"/>
          <p:cNvSpPr txBox="1"/>
          <p:nvPr/>
        </p:nvSpPr>
        <p:spPr>
          <a:xfrm>
            <a:off x="5795963" y="4797425"/>
            <a:ext cx="2592387" cy="779463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1800" dirty="0"/>
              <a:t>Find(81 )</a:t>
            </a:r>
            <a:endParaRPr lang="en-US" altLang="zh-CN" sz="1800" dirty="0"/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1800" dirty="0"/>
              <a:t>Insert(64 )</a:t>
            </a:r>
            <a:endParaRPr lang="en-US" altLang="zh-CN" sz="1800" dirty="0"/>
          </a:p>
        </p:txBody>
      </p:sp>
      <p:grpSp>
        <p:nvGrpSpPr>
          <p:cNvPr id="17" name="Group 143"/>
          <p:cNvGrpSpPr/>
          <p:nvPr/>
        </p:nvGrpSpPr>
        <p:grpSpPr>
          <a:xfrm>
            <a:off x="3452813" y="4868863"/>
            <a:ext cx="1335087" cy="360362"/>
            <a:chOff x="1725" y="2024"/>
            <a:chExt cx="841" cy="227"/>
          </a:xfrm>
        </p:grpSpPr>
        <p:sp>
          <p:nvSpPr>
            <p:cNvPr id="30747" name="Rectangle 144"/>
            <p:cNvSpPr/>
            <p:nvPr/>
          </p:nvSpPr>
          <p:spPr>
            <a:xfrm>
              <a:off x="1725" y="2087"/>
              <a:ext cx="160" cy="118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grpSp>
          <p:nvGrpSpPr>
            <p:cNvPr id="30748" name="Group 145"/>
            <p:cNvGrpSpPr/>
            <p:nvPr/>
          </p:nvGrpSpPr>
          <p:grpSpPr>
            <a:xfrm>
              <a:off x="1794" y="2024"/>
              <a:ext cx="772" cy="227"/>
              <a:chOff x="1794" y="2024"/>
              <a:chExt cx="772" cy="227"/>
            </a:xfrm>
          </p:grpSpPr>
          <p:sp>
            <p:nvSpPr>
              <p:cNvPr id="30749" name="Line 146"/>
              <p:cNvSpPr/>
              <p:nvPr/>
            </p:nvSpPr>
            <p:spPr>
              <a:xfrm>
                <a:off x="1794" y="2153"/>
                <a:ext cx="363" cy="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30750" name="Text Box 147"/>
              <p:cNvSpPr txBox="1"/>
              <p:nvPr/>
            </p:nvSpPr>
            <p:spPr>
              <a:xfrm>
                <a:off x="2158" y="2024"/>
                <a:ext cx="408" cy="208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None/>
                </a:pPr>
                <a:r>
                  <a:rPr lang="en-US" altLang="zh-CN" sz="1400" dirty="0"/>
                  <a:t>64</a:t>
                </a:r>
                <a:endParaRPr lang="en-US" altLang="zh-CN" sz="1400" dirty="0"/>
              </a:p>
            </p:txBody>
          </p:sp>
          <p:sp>
            <p:nvSpPr>
              <p:cNvPr id="30751" name="Line 148"/>
              <p:cNvSpPr/>
              <p:nvPr/>
            </p:nvSpPr>
            <p:spPr>
              <a:xfrm>
                <a:off x="2381" y="2024"/>
                <a:ext cx="0" cy="227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752" name="Line 149"/>
              <p:cNvSpPr/>
              <p:nvPr/>
            </p:nvSpPr>
            <p:spPr>
              <a:xfrm flipH="1">
                <a:off x="2426" y="2069"/>
                <a:ext cx="46" cy="91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753" name="Line 150"/>
              <p:cNvSpPr/>
              <p:nvPr/>
            </p:nvSpPr>
            <p:spPr>
              <a:xfrm>
                <a:off x="2472" y="2069"/>
                <a:ext cx="45" cy="91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81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81">
                                            <p:txEl>
                                              <p:charRg st="10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3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01378" name="Text Box 2"/>
          <p:cNvSpPr txBox="1"/>
          <p:nvPr/>
        </p:nvSpPr>
        <p:spPr>
          <a:xfrm>
            <a:off x="381000" y="166688"/>
            <a:ext cx="6567488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dirty="0">
                <a:sym typeface="Webdings" panose="05030102010509060703" pitchFamily="18" charset="2"/>
              </a:rPr>
              <a:t>Separate Chaining Hash Table</a:t>
            </a:r>
            <a:endParaRPr lang="en-US" altLang="zh-CN" sz="2400" b="1" dirty="0"/>
          </a:p>
        </p:txBody>
      </p:sp>
      <p:sp>
        <p:nvSpPr>
          <p:cNvPr id="101379" name="Text Box 3"/>
          <p:cNvSpPr txBox="1"/>
          <p:nvPr/>
        </p:nvSpPr>
        <p:spPr>
          <a:xfrm>
            <a:off x="838200" y="685800"/>
            <a:ext cx="7239000" cy="82232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/>
              <a:t>---- keep a list of all keys that hash to the same value</a:t>
            </a:r>
            <a:endParaRPr lang="en-US" altLang="zh-CN" sz="2400" b="1" dirty="0"/>
          </a:p>
        </p:txBody>
      </p:sp>
      <p:sp>
        <p:nvSpPr>
          <p:cNvPr id="101380" name="AutoShape 4" descr="羊皮纸"/>
          <p:cNvSpPr/>
          <p:nvPr/>
        </p:nvSpPr>
        <p:spPr>
          <a:xfrm>
            <a:off x="1187450" y="1484313"/>
            <a:ext cx="6858000" cy="5256212"/>
          </a:xfrm>
          <a:prstGeom prst="roundRect">
            <a:avLst>
              <a:gd name="adj" fmla="val 6088"/>
            </a:avLst>
          </a:prstGeom>
          <a:blipFill rotWithShape="0">
            <a:blip r:embed="rId1"/>
          </a:blipFill>
          <a:ln w="12700" cap="flat" cmpd="sng">
            <a:solidFill>
              <a:srgbClr val="9933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struct </a:t>
            </a:r>
            <a:r>
              <a:rPr lang="en-US" altLang="zh-CN" sz="1800" b="1" dirty="0">
                <a:latin typeface="Arial" panose="020B0604020202020204" pitchFamily="34" charset="0"/>
              </a:rPr>
              <a:t> ListNode;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typedef  struct</a:t>
            </a:r>
            <a:r>
              <a:rPr lang="en-US" altLang="zh-CN" sz="1800" b="1" dirty="0">
                <a:latin typeface="Arial" panose="020B0604020202020204" pitchFamily="34" charset="0"/>
              </a:rPr>
              <a:t>  ListNode  * Position;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typedef </a:t>
            </a:r>
            <a:r>
              <a:rPr lang="en-US" altLang="zh-CN" sz="1800" b="1" dirty="0">
                <a:latin typeface="Arial" panose="020B0604020202020204" pitchFamily="34" charset="0"/>
              </a:rPr>
              <a:t> Position  List;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struct</a:t>
            </a:r>
            <a:r>
              <a:rPr lang="en-US" altLang="zh-CN" sz="1800" b="1" dirty="0">
                <a:latin typeface="Arial" panose="020B0604020202020204" pitchFamily="34" charset="0"/>
              </a:rPr>
              <a:t>  ListNode {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	ElementType  Element;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	Position  Next;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};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struct </a:t>
            </a:r>
            <a:r>
              <a:rPr lang="en-US" altLang="zh-CN" sz="1800" b="1" dirty="0">
                <a:latin typeface="Arial" panose="020B0604020202020204" pitchFamily="34" charset="0"/>
              </a:rPr>
              <a:t> HashTbl;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spcAft>
                <a:spcPct val="50000"/>
              </a:spcAft>
              <a:buNone/>
            </a:pP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typedef  struct</a:t>
            </a:r>
            <a:r>
              <a:rPr lang="en-US" altLang="zh-CN" sz="1800" b="1" dirty="0">
                <a:latin typeface="Arial" panose="020B0604020202020204" pitchFamily="34" charset="0"/>
              </a:rPr>
              <a:t>  HashTbl  *HashTable;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rgbClr val="008000"/>
                </a:solidFill>
                <a:latin typeface="Arial" panose="020B0604020202020204" pitchFamily="34" charset="0"/>
              </a:rPr>
              <a:t>/* List *TheList will be an array of lists, allocated later */ </a:t>
            </a:r>
            <a:endParaRPr lang="en-US" altLang="zh-CN" sz="1800" b="1" dirty="0">
              <a:solidFill>
                <a:srgbClr val="008000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rgbClr val="008000"/>
                </a:solidFill>
                <a:latin typeface="Arial" panose="020B0604020202020204" pitchFamily="34" charset="0"/>
              </a:rPr>
              <a:t>/* The lists use headers (for simplicity), */ </a:t>
            </a:r>
            <a:endParaRPr lang="en-US" altLang="zh-CN" sz="1800" b="1" dirty="0">
              <a:solidFill>
                <a:srgbClr val="008000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rgbClr val="008000"/>
                </a:solidFill>
                <a:latin typeface="Arial" panose="020B0604020202020204" pitchFamily="34" charset="0"/>
              </a:rPr>
              <a:t>/* though this wastes space */ </a:t>
            </a:r>
            <a:endParaRPr lang="en-US" altLang="zh-CN" sz="1800" b="1" dirty="0">
              <a:solidFill>
                <a:srgbClr val="008000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struct</a:t>
            </a:r>
            <a:r>
              <a:rPr lang="en-US" altLang="zh-CN" sz="1800" b="1" dirty="0">
                <a:latin typeface="Arial" panose="020B0604020202020204" pitchFamily="34" charset="0"/>
              </a:rPr>
              <a:t>  HashTbl {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	</a:t>
            </a: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int</a:t>
            </a:r>
            <a:r>
              <a:rPr lang="en-US" altLang="zh-CN" sz="1800" b="1" dirty="0">
                <a:latin typeface="Arial" panose="020B0604020202020204" pitchFamily="34" charset="0"/>
              </a:rPr>
              <a:t>  TableSize;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	List  * TheLists;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}; </a:t>
            </a:r>
            <a:endParaRPr lang="en-US" altLang="zh-CN" sz="1800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137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137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01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78" grpId="0"/>
      <p:bldP spid="101379" grpId="0"/>
      <p:bldP spid="10138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02402" name="AutoShape 2"/>
          <p:cNvSpPr/>
          <p:nvPr/>
        </p:nvSpPr>
        <p:spPr>
          <a:xfrm>
            <a:off x="533400" y="609600"/>
            <a:ext cx="8153400" cy="5867400"/>
          </a:xfrm>
          <a:prstGeom prst="foldedCorner">
            <a:avLst>
              <a:gd name="adj" fmla="val 7787"/>
            </a:avLst>
          </a:prstGeom>
          <a:gradFill rotWithShape="0">
            <a:gsLst>
              <a:gs pos="0">
                <a:srgbClr val="FFFFFF"/>
              </a:gs>
              <a:gs pos="100000">
                <a:schemeClr val="bg1"/>
              </a:gs>
            </a:gsLst>
            <a:lin ang="5400000" scaled="1"/>
            <a:tileRect/>
          </a:gra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lIns="126000" tIns="1548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HashTable  InitializeTable( </a:t>
            </a: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int</a:t>
            </a:r>
            <a:r>
              <a:rPr lang="en-US" altLang="zh-CN" sz="1800" b="1" dirty="0">
                <a:latin typeface="Arial" panose="020B0604020202020204" pitchFamily="34" charset="0"/>
              </a:rPr>
              <a:t> TableSize )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{   HashTable  H;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</a:t>
            </a: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int</a:t>
            </a:r>
            <a:r>
              <a:rPr lang="en-US" altLang="zh-CN" sz="1800" b="1" dirty="0">
                <a:latin typeface="Arial" panose="020B0604020202020204" pitchFamily="34" charset="0"/>
              </a:rPr>
              <a:t>  i;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</a:t>
            </a: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if</a:t>
            </a:r>
            <a:r>
              <a:rPr lang="en-US" altLang="zh-CN" sz="1800" b="1" dirty="0">
                <a:latin typeface="Arial" panose="020B0604020202020204" pitchFamily="34" charset="0"/>
              </a:rPr>
              <a:t> ( TableSize &lt; MinTableSize ) {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	    Error( "Table size too small" );  </a:t>
            </a: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return</a:t>
            </a:r>
            <a:r>
              <a:rPr lang="en-US" altLang="zh-CN" sz="1800" b="1" dirty="0">
                <a:latin typeface="Arial" panose="020B0604020202020204" pitchFamily="34" charset="0"/>
              </a:rPr>
              <a:t> NULL; 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}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H = malloc( </a:t>
            </a: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sizeof</a:t>
            </a:r>
            <a:r>
              <a:rPr lang="en-US" altLang="zh-CN" sz="1800" b="1" dirty="0">
                <a:latin typeface="Arial" panose="020B0604020202020204" pitchFamily="34" charset="0"/>
              </a:rPr>
              <a:t>( </a:t>
            </a: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struct</a:t>
            </a:r>
            <a:r>
              <a:rPr lang="en-US" altLang="zh-CN" sz="1800" b="1" dirty="0">
                <a:latin typeface="Arial" panose="020B0604020202020204" pitchFamily="34" charset="0"/>
              </a:rPr>
              <a:t> HashTbl ) );  </a:t>
            </a:r>
            <a:r>
              <a:rPr lang="en-US" altLang="zh-CN" sz="1800" b="1" dirty="0">
                <a:solidFill>
                  <a:srgbClr val="008000"/>
                </a:solidFill>
                <a:latin typeface="Arial" panose="020B0604020202020204" pitchFamily="34" charset="0"/>
              </a:rPr>
              <a:t>/* Allocate table */</a:t>
            </a:r>
            <a:endParaRPr lang="en-US" altLang="zh-CN" sz="1800" b="1" dirty="0">
              <a:solidFill>
                <a:srgbClr val="008000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</a:t>
            </a: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if</a:t>
            </a:r>
            <a:r>
              <a:rPr lang="en-US" altLang="zh-CN" sz="1800" b="1" dirty="0">
                <a:latin typeface="Arial" panose="020B0604020202020204" pitchFamily="34" charset="0"/>
              </a:rPr>
              <a:t> ( H == NULL )    FatalError( "Out of space!!!" );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H-&gt;TableSize = NextPrime( TableSize );  </a:t>
            </a:r>
            <a:r>
              <a:rPr lang="en-US" altLang="zh-CN" sz="1800" b="1" dirty="0">
                <a:solidFill>
                  <a:srgbClr val="008000"/>
                </a:solidFill>
                <a:latin typeface="Arial" panose="020B0604020202020204" pitchFamily="34" charset="0"/>
              </a:rPr>
              <a:t>/* Better be prime */</a:t>
            </a:r>
            <a:endParaRPr lang="en-US" altLang="zh-CN" sz="1800" b="1" dirty="0">
              <a:solidFill>
                <a:srgbClr val="008000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H-&gt;TheLists = malloc( </a:t>
            </a: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sizeof</a:t>
            </a:r>
            <a:r>
              <a:rPr lang="en-US" altLang="zh-CN" sz="1800" b="1" dirty="0">
                <a:latin typeface="Arial" panose="020B0604020202020204" pitchFamily="34" charset="0"/>
              </a:rPr>
              <a:t>( List ) * H-&gt;TableSize );  </a:t>
            </a:r>
            <a:r>
              <a:rPr lang="en-US" altLang="zh-CN" sz="1800" b="1" dirty="0">
                <a:solidFill>
                  <a:srgbClr val="008000"/>
                </a:solidFill>
                <a:latin typeface="Arial" panose="020B0604020202020204" pitchFamily="34" charset="0"/>
              </a:rPr>
              <a:t>/*Array of lists*/</a:t>
            </a:r>
            <a:endParaRPr lang="en-US" altLang="zh-CN" sz="1800" b="1" dirty="0">
              <a:solidFill>
                <a:srgbClr val="008000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</a:t>
            </a: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if</a:t>
            </a:r>
            <a:r>
              <a:rPr lang="en-US" altLang="zh-CN" sz="1800" b="1" dirty="0">
                <a:latin typeface="Arial" panose="020B0604020202020204" pitchFamily="34" charset="0"/>
              </a:rPr>
              <a:t> ( H-&gt;TheLists == NULL )   FatalError( "Out of space!!!" );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</a:t>
            </a: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for</a:t>
            </a:r>
            <a:r>
              <a:rPr lang="en-US" altLang="zh-CN" sz="1800" b="1" dirty="0">
                <a:latin typeface="Arial" panose="020B0604020202020204" pitchFamily="34" charset="0"/>
              </a:rPr>
              <a:t>( i = 0; i &lt; H-&gt;TableSize; i++ ) {   </a:t>
            </a:r>
            <a:r>
              <a:rPr lang="en-US" altLang="zh-CN" sz="1800" b="1" dirty="0">
                <a:solidFill>
                  <a:srgbClr val="008000"/>
                </a:solidFill>
                <a:latin typeface="Arial" panose="020B0604020202020204" pitchFamily="34" charset="0"/>
              </a:rPr>
              <a:t>/* Allocate list headers */</a:t>
            </a:r>
            <a:endParaRPr lang="en-US" altLang="zh-CN" sz="1800" b="1" dirty="0">
              <a:solidFill>
                <a:srgbClr val="008000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	H-&gt;TheLists[ i ] = malloc( </a:t>
            </a: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sizeof</a:t>
            </a:r>
            <a:r>
              <a:rPr lang="en-US" altLang="zh-CN" sz="1800" b="1" dirty="0">
                <a:latin typeface="Arial" panose="020B0604020202020204" pitchFamily="34" charset="0"/>
              </a:rPr>
              <a:t>( </a:t>
            </a: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struct</a:t>
            </a:r>
            <a:r>
              <a:rPr lang="en-US" altLang="zh-CN" sz="1800" b="1" dirty="0">
                <a:latin typeface="Arial" panose="020B0604020202020204" pitchFamily="34" charset="0"/>
              </a:rPr>
              <a:t> ListNode ) ); </a:t>
            </a:r>
            <a:r>
              <a:rPr lang="en-US" altLang="zh-CN" sz="1800" b="1" dirty="0">
                <a:solidFill>
                  <a:srgbClr val="008000"/>
                </a:solidFill>
                <a:latin typeface="Arial" panose="020B0604020202020204" pitchFamily="34" charset="0"/>
              </a:rPr>
              <a:t>/* Slow! */</a:t>
            </a:r>
            <a:endParaRPr lang="en-US" altLang="zh-CN" sz="1800" b="1" dirty="0">
              <a:solidFill>
                <a:srgbClr val="008000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	</a:t>
            </a: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if</a:t>
            </a:r>
            <a:r>
              <a:rPr lang="en-US" altLang="zh-CN" sz="1800" b="1" dirty="0">
                <a:latin typeface="Arial" panose="020B0604020202020204" pitchFamily="34" charset="0"/>
              </a:rPr>
              <a:t> ( H-&gt;TheLists[ i ] == NULL )  FatalError( "Out of space!!!" );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	</a:t>
            </a: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else</a:t>
            </a:r>
            <a:r>
              <a:rPr lang="en-US" altLang="zh-CN" sz="1800" b="1" dirty="0">
                <a:latin typeface="Arial" panose="020B0604020202020204" pitchFamily="34" charset="0"/>
              </a:rPr>
              <a:t>    H-&gt;TheLists[ i ]-&gt;Next = NULL;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}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</a:t>
            </a: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return </a:t>
            </a:r>
            <a:r>
              <a:rPr lang="en-US" altLang="zh-CN" sz="1800" b="1" dirty="0">
                <a:latin typeface="Arial" panose="020B0604020202020204" pitchFamily="34" charset="0"/>
              </a:rPr>
              <a:t> H;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} </a:t>
            </a:r>
            <a:endParaRPr lang="en-US" altLang="zh-CN" sz="1800" b="1" dirty="0">
              <a:latin typeface="Arial" panose="020B0604020202020204" pitchFamily="34" charset="0"/>
            </a:endParaRPr>
          </a:p>
        </p:txBody>
      </p:sp>
      <p:sp>
        <p:nvSpPr>
          <p:cNvPr id="102404" name="Text Box 4"/>
          <p:cNvSpPr txBox="1"/>
          <p:nvPr/>
        </p:nvSpPr>
        <p:spPr>
          <a:xfrm>
            <a:off x="533400" y="76200"/>
            <a:ext cx="464820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ym typeface="Wingdings" panose="05000000000000000000" pitchFamily="2" charset="2"/>
              </a:rPr>
              <a:t> Create an empty table</a:t>
            </a:r>
            <a:endParaRPr lang="en-US" altLang="zh-CN" sz="2400" b="1" dirty="0"/>
          </a:p>
        </p:txBody>
      </p:sp>
      <p:grpSp>
        <p:nvGrpSpPr>
          <p:cNvPr id="2" name="Group 5"/>
          <p:cNvGrpSpPr/>
          <p:nvPr/>
        </p:nvGrpSpPr>
        <p:grpSpPr>
          <a:xfrm>
            <a:off x="2700338" y="4895850"/>
            <a:ext cx="1643062" cy="819150"/>
            <a:chOff x="1365" y="3276"/>
            <a:chExt cx="1035" cy="516"/>
          </a:xfrm>
        </p:grpSpPr>
        <p:sp>
          <p:nvSpPr>
            <p:cNvPr id="32796" name="Text Box 6"/>
            <p:cNvSpPr txBox="1"/>
            <p:nvPr/>
          </p:nvSpPr>
          <p:spPr>
            <a:xfrm>
              <a:off x="1365" y="3276"/>
              <a:ext cx="288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H</a:t>
              </a:r>
              <a:endPara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797" name="Line 7"/>
            <p:cNvSpPr/>
            <p:nvPr/>
          </p:nvSpPr>
          <p:spPr>
            <a:xfrm>
              <a:off x="1581" y="3421"/>
              <a:ext cx="192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sm" len="med"/>
            </a:ln>
          </p:spPr>
        </p:sp>
        <p:sp>
          <p:nvSpPr>
            <p:cNvPr id="32798" name="Rectangle 8"/>
            <p:cNvSpPr/>
            <p:nvPr/>
          </p:nvSpPr>
          <p:spPr>
            <a:xfrm>
              <a:off x="1824" y="3408"/>
              <a:ext cx="576" cy="192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360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TheLists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2799" name="Rectangle 9"/>
            <p:cNvSpPr/>
            <p:nvPr/>
          </p:nvSpPr>
          <p:spPr>
            <a:xfrm>
              <a:off x="1824" y="3600"/>
              <a:ext cx="576" cy="192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360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TableSize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10"/>
          <p:cNvGrpSpPr/>
          <p:nvPr/>
        </p:nvGrpSpPr>
        <p:grpSpPr>
          <a:xfrm>
            <a:off x="4267200" y="5181600"/>
            <a:ext cx="2286000" cy="381000"/>
            <a:chOff x="2352" y="3648"/>
            <a:chExt cx="1440" cy="240"/>
          </a:xfrm>
        </p:grpSpPr>
        <p:sp>
          <p:nvSpPr>
            <p:cNvPr id="32788" name="Line 11"/>
            <p:cNvSpPr/>
            <p:nvPr/>
          </p:nvSpPr>
          <p:spPr>
            <a:xfrm>
              <a:off x="2352" y="3696"/>
              <a:ext cx="240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sm" len="med"/>
            </a:ln>
          </p:spPr>
        </p:sp>
        <p:sp>
          <p:nvSpPr>
            <p:cNvPr id="32789" name="Rectangle 12"/>
            <p:cNvSpPr/>
            <p:nvPr/>
          </p:nvSpPr>
          <p:spPr>
            <a:xfrm>
              <a:off x="2640" y="3648"/>
              <a:ext cx="192" cy="96"/>
            </a:xfrm>
            <a:prstGeom prst="rect">
              <a:avLst/>
            </a:prstGeom>
            <a:solidFill>
              <a:schemeClr val="hlink"/>
            </a:solidFill>
            <a:ln w="25400" cap="flat" cmpd="sng">
              <a:solidFill>
                <a:srgbClr val="FFFF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32790" name="Line 13"/>
            <p:cNvSpPr/>
            <p:nvPr/>
          </p:nvSpPr>
          <p:spPr>
            <a:xfrm>
              <a:off x="2736" y="3696"/>
              <a:ext cx="0" cy="192"/>
            </a:xfrm>
            <a:prstGeom prst="line">
              <a:avLst/>
            </a:prstGeom>
            <a:ln w="25400" cap="flat" cmpd="sng">
              <a:solidFill>
                <a:schemeClr val="hlink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2791" name="Rectangle 14"/>
            <p:cNvSpPr/>
            <p:nvPr/>
          </p:nvSpPr>
          <p:spPr>
            <a:xfrm>
              <a:off x="2832" y="3648"/>
              <a:ext cx="192" cy="96"/>
            </a:xfrm>
            <a:prstGeom prst="rect">
              <a:avLst/>
            </a:prstGeom>
            <a:solidFill>
              <a:schemeClr val="hlink"/>
            </a:solidFill>
            <a:ln w="25400" cap="flat" cmpd="sng">
              <a:solidFill>
                <a:srgbClr val="FFFF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32792" name="Line 15"/>
            <p:cNvSpPr/>
            <p:nvPr/>
          </p:nvSpPr>
          <p:spPr>
            <a:xfrm>
              <a:off x="2928" y="3696"/>
              <a:ext cx="0" cy="192"/>
            </a:xfrm>
            <a:prstGeom prst="line">
              <a:avLst/>
            </a:prstGeom>
            <a:ln w="25400" cap="flat" cmpd="sng">
              <a:solidFill>
                <a:schemeClr val="hlink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2793" name="Rectangle 16"/>
            <p:cNvSpPr/>
            <p:nvPr/>
          </p:nvSpPr>
          <p:spPr>
            <a:xfrm>
              <a:off x="3600" y="3648"/>
              <a:ext cx="192" cy="96"/>
            </a:xfrm>
            <a:prstGeom prst="rect">
              <a:avLst/>
            </a:prstGeom>
            <a:solidFill>
              <a:schemeClr val="hlink"/>
            </a:solidFill>
            <a:ln w="25400" cap="flat" cmpd="sng">
              <a:solidFill>
                <a:srgbClr val="FFFF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32794" name="Line 17"/>
            <p:cNvSpPr/>
            <p:nvPr/>
          </p:nvSpPr>
          <p:spPr>
            <a:xfrm>
              <a:off x="3696" y="3696"/>
              <a:ext cx="0" cy="192"/>
            </a:xfrm>
            <a:prstGeom prst="line">
              <a:avLst/>
            </a:prstGeom>
            <a:ln w="25400" cap="flat" cmpd="sng">
              <a:solidFill>
                <a:schemeClr val="hlink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2795" name="Rectangle 18"/>
            <p:cNvSpPr/>
            <p:nvPr/>
          </p:nvSpPr>
          <p:spPr>
            <a:xfrm>
              <a:off x="3024" y="3648"/>
              <a:ext cx="576" cy="96"/>
            </a:xfrm>
            <a:prstGeom prst="rect">
              <a:avLst/>
            </a:prstGeom>
            <a:solidFill>
              <a:schemeClr val="hlink"/>
            </a:solidFill>
            <a:ln w="25400" cap="flat" cmpd="sng">
              <a:solidFill>
                <a:srgbClr val="FFFF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bIns="262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solidFill>
                    <a:srgbClr val="FFFFFF"/>
                  </a:solidFill>
                  <a:latin typeface="Times New Roman" panose="02020603050405020304" pitchFamily="18" charset="0"/>
                </a:rPr>
                <a:t>……</a:t>
              </a:r>
              <a:endParaRPr lang="en-US" altLang="zh-CN" sz="2400" dirty="0">
                <a:solidFill>
                  <a:srgbClr val="FFFFFF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" name="Group 19"/>
          <p:cNvGrpSpPr/>
          <p:nvPr/>
        </p:nvGrpSpPr>
        <p:grpSpPr>
          <a:xfrm>
            <a:off x="4724400" y="5410200"/>
            <a:ext cx="1828800" cy="914400"/>
            <a:chOff x="2640" y="3600"/>
            <a:chExt cx="1152" cy="576"/>
          </a:xfrm>
        </p:grpSpPr>
        <p:sp>
          <p:nvSpPr>
            <p:cNvPr id="32775" name="Rectangle 20"/>
            <p:cNvSpPr/>
            <p:nvPr/>
          </p:nvSpPr>
          <p:spPr>
            <a:xfrm>
              <a:off x="2640" y="3696"/>
              <a:ext cx="192" cy="14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32776" name="Rectangle 21"/>
            <p:cNvSpPr/>
            <p:nvPr/>
          </p:nvSpPr>
          <p:spPr>
            <a:xfrm>
              <a:off x="2640" y="3840"/>
              <a:ext cx="192" cy="96"/>
            </a:xfrm>
            <a:prstGeom prst="rect">
              <a:avLst/>
            </a:prstGeom>
            <a:solidFill>
              <a:schemeClr val="hlink"/>
            </a:solidFill>
            <a:ln w="25400" cap="flat" cmpd="sng">
              <a:solidFill>
                <a:srgbClr val="FFFF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32777" name="Line 22"/>
            <p:cNvSpPr/>
            <p:nvPr/>
          </p:nvSpPr>
          <p:spPr>
            <a:xfrm>
              <a:off x="2736" y="3888"/>
              <a:ext cx="0" cy="192"/>
            </a:xfrm>
            <a:prstGeom prst="line">
              <a:avLst/>
            </a:prstGeom>
            <a:ln w="25400" cap="flat" cmpd="sng">
              <a:solidFill>
                <a:schemeClr val="hlink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2778" name="Oval 23"/>
            <p:cNvSpPr/>
            <p:nvPr/>
          </p:nvSpPr>
          <p:spPr>
            <a:xfrm>
              <a:off x="2688" y="4080"/>
              <a:ext cx="96" cy="9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32779" name="Rectangle 24"/>
            <p:cNvSpPr/>
            <p:nvPr/>
          </p:nvSpPr>
          <p:spPr>
            <a:xfrm>
              <a:off x="2832" y="3696"/>
              <a:ext cx="192" cy="14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32780" name="Rectangle 25"/>
            <p:cNvSpPr/>
            <p:nvPr/>
          </p:nvSpPr>
          <p:spPr>
            <a:xfrm>
              <a:off x="2832" y="3840"/>
              <a:ext cx="192" cy="96"/>
            </a:xfrm>
            <a:prstGeom prst="rect">
              <a:avLst/>
            </a:prstGeom>
            <a:solidFill>
              <a:schemeClr val="hlink"/>
            </a:solidFill>
            <a:ln w="25400" cap="flat" cmpd="sng">
              <a:solidFill>
                <a:srgbClr val="FFFF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32781" name="Line 26"/>
            <p:cNvSpPr/>
            <p:nvPr/>
          </p:nvSpPr>
          <p:spPr>
            <a:xfrm>
              <a:off x="2928" y="3888"/>
              <a:ext cx="0" cy="192"/>
            </a:xfrm>
            <a:prstGeom prst="line">
              <a:avLst/>
            </a:prstGeom>
            <a:ln w="25400" cap="flat" cmpd="sng">
              <a:solidFill>
                <a:schemeClr val="hlink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2782" name="Oval 27"/>
            <p:cNvSpPr/>
            <p:nvPr/>
          </p:nvSpPr>
          <p:spPr>
            <a:xfrm>
              <a:off x="2880" y="4080"/>
              <a:ext cx="96" cy="9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32783" name="Rectangle 28"/>
            <p:cNvSpPr/>
            <p:nvPr/>
          </p:nvSpPr>
          <p:spPr>
            <a:xfrm>
              <a:off x="3600" y="3696"/>
              <a:ext cx="192" cy="14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32784" name="Rectangle 29"/>
            <p:cNvSpPr/>
            <p:nvPr/>
          </p:nvSpPr>
          <p:spPr>
            <a:xfrm>
              <a:off x="3600" y="3840"/>
              <a:ext cx="192" cy="96"/>
            </a:xfrm>
            <a:prstGeom prst="rect">
              <a:avLst/>
            </a:prstGeom>
            <a:solidFill>
              <a:schemeClr val="hlink"/>
            </a:solidFill>
            <a:ln w="25400" cap="flat" cmpd="sng">
              <a:solidFill>
                <a:srgbClr val="FFFF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32785" name="Line 30"/>
            <p:cNvSpPr/>
            <p:nvPr/>
          </p:nvSpPr>
          <p:spPr>
            <a:xfrm>
              <a:off x="3696" y="3888"/>
              <a:ext cx="0" cy="192"/>
            </a:xfrm>
            <a:prstGeom prst="line">
              <a:avLst/>
            </a:prstGeom>
            <a:ln w="25400" cap="flat" cmpd="sng">
              <a:solidFill>
                <a:schemeClr val="hlink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2786" name="Oval 31"/>
            <p:cNvSpPr/>
            <p:nvPr/>
          </p:nvSpPr>
          <p:spPr>
            <a:xfrm>
              <a:off x="3648" y="4080"/>
              <a:ext cx="96" cy="9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32787" name="Text Box 32"/>
            <p:cNvSpPr txBox="1"/>
            <p:nvPr/>
          </p:nvSpPr>
          <p:spPr>
            <a:xfrm>
              <a:off x="3072" y="3600"/>
              <a:ext cx="528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……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02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02" grpId="0" animBg="1"/>
      <p:bldP spid="10240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03427" name="Text Box 3"/>
          <p:cNvSpPr txBox="1"/>
          <p:nvPr/>
        </p:nvSpPr>
        <p:spPr>
          <a:xfrm>
            <a:off x="533400" y="242888"/>
            <a:ext cx="464820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ym typeface="Wingdings" panose="05000000000000000000" pitchFamily="2" charset="2"/>
              </a:rPr>
              <a:t>Find a key from a hash table</a:t>
            </a:r>
            <a:endParaRPr lang="en-US" altLang="zh-CN" sz="2400" b="1" dirty="0"/>
          </a:p>
        </p:txBody>
      </p:sp>
      <p:sp>
        <p:nvSpPr>
          <p:cNvPr id="103428" name="AutoShape 4"/>
          <p:cNvSpPr/>
          <p:nvPr/>
        </p:nvSpPr>
        <p:spPr>
          <a:xfrm>
            <a:off x="533400" y="762000"/>
            <a:ext cx="8153400" cy="3810000"/>
          </a:xfrm>
          <a:prstGeom prst="foldedCorner">
            <a:avLst>
              <a:gd name="adj" fmla="val 10866"/>
            </a:avLst>
          </a:prstGeom>
          <a:gradFill rotWithShape="0">
            <a:gsLst>
              <a:gs pos="0">
                <a:srgbClr val="FFFFFF"/>
              </a:gs>
              <a:gs pos="100000">
                <a:schemeClr val="bg1"/>
              </a:gs>
            </a:gsLst>
            <a:lin ang="5400000" scaled="1"/>
            <a:tileRect/>
          </a:gra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lIns="126000" tIns="1548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Position  Find ( ElementType Key, HashTable H )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{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Position P;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List L;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L = H-&gt;TheLists[ Hash( Key, H-&gt;TableSize ) ];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P = L-&gt;Next;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</a:t>
            </a: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while</a:t>
            </a:r>
            <a:r>
              <a:rPr lang="en-US" altLang="zh-CN" sz="1800" b="1" dirty="0">
                <a:latin typeface="Arial" panose="020B0604020202020204" pitchFamily="34" charset="0"/>
              </a:rPr>
              <a:t>( P != NULL &amp;&amp; P-&gt;Element != Key )  </a:t>
            </a:r>
            <a:r>
              <a:rPr lang="en-US" altLang="zh-CN" sz="1800" b="1" dirty="0">
                <a:solidFill>
                  <a:srgbClr val="008000"/>
                </a:solidFill>
                <a:latin typeface="Arial" panose="020B0604020202020204" pitchFamily="34" charset="0"/>
              </a:rPr>
              <a:t>/* Probably need strcmp */</a:t>
            </a:r>
            <a:r>
              <a:rPr lang="en-US" altLang="zh-CN" sz="1800" b="1" dirty="0">
                <a:latin typeface="Arial" panose="020B0604020202020204" pitchFamily="34" charset="0"/>
              </a:rPr>
              <a:t>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	P = P-&gt;Next;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</a:t>
            </a: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return</a:t>
            </a:r>
            <a:r>
              <a:rPr lang="en-US" altLang="zh-CN" sz="1800" b="1" dirty="0">
                <a:latin typeface="Arial" panose="020B0604020202020204" pitchFamily="34" charset="0"/>
              </a:rPr>
              <a:t> P;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} </a:t>
            </a:r>
            <a:endParaRPr lang="en-US" altLang="zh-CN" sz="1800" b="1" dirty="0">
              <a:latin typeface="Arial" panose="020B0604020202020204" pitchFamily="34" charset="0"/>
            </a:endParaRPr>
          </a:p>
        </p:txBody>
      </p:sp>
      <p:grpSp>
        <p:nvGrpSpPr>
          <p:cNvPr id="2" name="Group 5"/>
          <p:cNvGrpSpPr/>
          <p:nvPr/>
        </p:nvGrpSpPr>
        <p:grpSpPr>
          <a:xfrm>
            <a:off x="2667000" y="1295400"/>
            <a:ext cx="5867400" cy="1447800"/>
            <a:chOff x="1680" y="528"/>
            <a:chExt cx="3696" cy="912"/>
          </a:xfrm>
        </p:grpSpPr>
        <p:sp>
          <p:nvSpPr>
            <p:cNvPr id="33801" name="Oval 6"/>
            <p:cNvSpPr/>
            <p:nvPr/>
          </p:nvSpPr>
          <p:spPr>
            <a:xfrm>
              <a:off x="1680" y="1104"/>
              <a:ext cx="1872" cy="336"/>
            </a:xfrm>
            <a:prstGeom prst="ellipse">
              <a:avLst/>
            </a:prstGeom>
            <a:noFill/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33802" name="AutoShape 7"/>
            <p:cNvSpPr/>
            <p:nvPr/>
          </p:nvSpPr>
          <p:spPr>
            <a:xfrm>
              <a:off x="3648" y="528"/>
              <a:ext cx="1728" cy="576"/>
            </a:xfrm>
            <a:prstGeom prst="wedgeEllipseCallout">
              <a:avLst>
                <a:gd name="adj1" fmla="val -82583"/>
                <a:gd name="adj2" fmla="val 54343"/>
              </a:avLst>
            </a:prstGeom>
            <a:gradFill rotWithShape="0">
              <a:gsLst>
                <a:gs pos="0">
                  <a:srgbClr val="C0C0C0"/>
                </a:gs>
                <a:gs pos="100000">
                  <a:srgbClr val="FFFFFF"/>
                </a:gs>
              </a:gsLst>
              <a:lin ang="18900000" scaled="1"/>
              <a:tileRect/>
            </a:gra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Your hash function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8"/>
          <p:cNvGrpSpPr/>
          <p:nvPr/>
        </p:nvGrpSpPr>
        <p:grpSpPr>
          <a:xfrm>
            <a:off x="317500" y="2971800"/>
            <a:ext cx="7912100" cy="3276600"/>
            <a:chOff x="200" y="1776"/>
            <a:chExt cx="4984" cy="2064"/>
          </a:xfrm>
        </p:grpSpPr>
        <p:sp>
          <p:nvSpPr>
            <p:cNvPr id="33798" name="AutoShape 9"/>
            <p:cNvSpPr/>
            <p:nvPr/>
          </p:nvSpPr>
          <p:spPr>
            <a:xfrm>
              <a:off x="432" y="1776"/>
              <a:ext cx="96" cy="576"/>
            </a:xfrm>
            <a:prstGeom prst="leftBrace">
              <a:avLst>
                <a:gd name="adj1" fmla="val 50000"/>
                <a:gd name="adj2" fmla="val 50000"/>
              </a:avLst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33799" name="Freeform 10"/>
            <p:cNvSpPr/>
            <p:nvPr/>
          </p:nvSpPr>
          <p:spPr>
            <a:xfrm>
              <a:off x="200" y="2064"/>
              <a:ext cx="568" cy="1296"/>
            </a:xfrm>
            <a:custGeom>
              <a:avLst/>
              <a:gdLst>
                <a:gd name="txL" fmla="*/ 0 w 568"/>
                <a:gd name="txT" fmla="*/ 0 h 1296"/>
                <a:gd name="txR" fmla="*/ 568 w 568"/>
                <a:gd name="txB" fmla="*/ 1296 h 1296"/>
              </a:gdLst>
              <a:ahLst/>
              <a:cxnLst>
                <a:cxn ang="0">
                  <a:pos x="232" y="0"/>
                </a:cxn>
                <a:cxn ang="0">
                  <a:pos x="40" y="480"/>
                </a:cxn>
                <a:cxn ang="0">
                  <a:pos x="88" y="1056"/>
                </a:cxn>
                <a:cxn ang="0">
                  <a:pos x="568" y="1296"/>
                </a:cxn>
              </a:cxnLst>
              <a:rect l="txL" t="txT" r="txR" b="txB"/>
              <a:pathLst>
                <a:path w="568" h="1296">
                  <a:moveTo>
                    <a:pt x="232" y="0"/>
                  </a:moveTo>
                  <a:cubicBezTo>
                    <a:pt x="148" y="152"/>
                    <a:pt x="64" y="304"/>
                    <a:pt x="40" y="480"/>
                  </a:cubicBezTo>
                  <a:cubicBezTo>
                    <a:pt x="16" y="656"/>
                    <a:pt x="0" y="920"/>
                    <a:pt x="88" y="1056"/>
                  </a:cubicBezTo>
                  <a:cubicBezTo>
                    <a:pt x="176" y="1192"/>
                    <a:pt x="372" y="1244"/>
                    <a:pt x="568" y="1296"/>
                  </a:cubicBezTo>
                </a:path>
              </a:pathLst>
            </a:custGeom>
            <a:noFill/>
            <a:ln w="254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3800" name="Oval 11"/>
            <p:cNvSpPr/>
            <p:nvPr/>
          </p:nvSpPr>
          <p:spPr>
            <a:xfrm>
              <a:off x="768" y="2976"/>
              <a:ext cx="4416" cy="864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C0C0C0"/>
                </a:gs>
              </a:gsLst>
              <a:path path="shape">
                <a:fillToRect l="50000" t="50000" r="50000" b="50000"/>
              </a:path>
              <a:tileRect/>
            </a:gra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Identical to the code to perform a </a:t>
              </a:r>
              <a:r>
                <a:rPr lang="en-US" altLang="zh-CN" sz="2400" b="1" i="1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Find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 for general linked lists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3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03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27" grpId="0"/>
      <p:bldP spid="10342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04451" name="Text Box 3"/>
          <p:cNvSpPr txBox="1"/>
          <p:nvPr/>
        </p:nvSpPr>
        <p:spPr>
          <a:xfrm>
            <a:off x="533400" y="615950"/>
            <a:ext cx="5694363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CN" sz="2400" b="1" dirty="0">
                <a:sym typeface="Wingdings" panose="05000000000000000000" pitchFamily="2" charset="2"/>
              </a:rPr>
              <a:t>Insert a key into a hash table</a:t>
            </a:r>
            <a:endParaRPr lang="en-US" altLang="zh-CN" sz="2400" b="1" dirty="0"/>
          </a:p>
        </p:txBody>
      </p:sp>
      <p:sp>
        <p:nvSpPr>
          <p:cNvPr id="104452" name="AutoShape 4"/>
          <p:cNvSpPr/>
          <p:nvPr/>
        </p:nvSpPr>
        <p:spPr>
          <a:xfrm>
            <a:off x="685800" y="1149350"/>
            <a:ext cx="7696200" cy="4800600"/>
          </a:xfrm>
          <a:prstGeom prst="foldedCorner">
            <a:avLst>
              <a:gd name="adj" fmla="val 10866"/>
            </a:avLst>
          </a:prstGeom>
          <a:gradFill rotWithShape="0">
            <a:gsLst>
              <a:gs pos="0">
                <a:srgbClr val="FFFFFF"/>
              </a:gs>
              <a:gs pos="100000">
                <a:schemeClr val="bg1"/>
              </a:gs>
            </a:gsLst>
            <a:lin ang="5400000" scaled="1"/>
            <a:tileRect/>
          </a:gra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lIns="126000" tIns="1548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void</a:t>
            </a:r>
            <a:r>
              <a:rPr lang="en-US" altLang="zh-CN" sz="1800" b="1" dirty="0">
                <a:latin typeface="Arial" panose="020B0604020202020204" pitchFamily="34" charset="0"/>
              </a:rPr>
              <a:t>  Insert ( ElementType Key, HashTable H )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{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Position   Pos, NewCell;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List  L;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Pos = Find( Key, H );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</a:t>
            </a: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if </a:t>
            </a:r>
            <a:r>
              <a:rPr lang="en-US" altLang="zh-CN" sz="1800" b="1" dirty="0">
                <a:latin typeface="Arial" panose="020B0604020202020204" pitchFamily="34" charset="0"/>
              </a:rPr>
              <a:t>( Pos == NULL ) {   </a:t>
            </a:r>
            <a:r>
              <a:rPr lang="en-US" altLang="zh-CN" sz="1800" b="1" dirty="0">
                <a:solidFill>
                  <a:srgbClr val="008000"/>
                </a:solidFill>
                <a:latin typeface="Arial" panose="020B0604020202020204" pitchFamily="34" charset="0"/>
              </a:rPr>
              <a:t>/* Key is not found, then insert */</a:t>
            </a:r>
            <a:endParaRPr lang="en-US" altLang="zh-CN" sz="1800" b="1" dirty="0">
              <a:solidFill>
                <a:srgbClr val="008000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	NewCell = malloc( </a:t>
            </a: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sizeof</a:t>
            </a:r>
            <a:r>
              <a:rPr lang="en-US" altLang="zh-CN" sz="1800" b="1" dirty="0">
                <a:latin typeface="Arial" panose="020B0604020202020204" pitchFamily="34" charset="0"/>
              </a:rPr>
              <a:t>( </a:t>
            </a: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struct</a:t>
            </a:r>
            <a:r>
              <a:rPr lang="en-US" altLang="zh-CN" sz="1800" b="1" dirty="0">
                <a:latin typeface="Arial" panose="020B0604020202020204" pitchFamily="34" charset="0"/>
              </a:rPr>
              <a:t> ListNode ) );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	</a:t>
            </a: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if </a:t>
            </a:r>
            <a:r>
              <a:rPr lang="en-US" altLang="zh-CN" sz="1800" b="1" dirty="0">
                <a:latin typeface="Arial" panose="020B0604020202020204" pitchFamily="34" charset="0"/>
              </a:rPr>
              <a:t>( NewCell == NULL )     FatalError( "Out of space!!!" );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	</a:t>
            </a: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else</a:t>
            </a:r>
            <a:r>
              <a:rPr lang="en-US" altLang="zh-CN" sz="1800" b="1" dirty="0">
                <a:latin typeface="Arial" panose="020B0604020202020204" pitchFamily="34" charset="0"/>
              </a:rPr>
              <a:t> {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	     L = H-&gt;TheLists[ Hash( Key, H-&gt;TableSize ) ];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	     NewCell-&gt;Next = L-&gt;Next;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	     NewCell-&gt;Element = Key; </a:t>
            </a:r>
            <a:r>
              <a:rPr lang="en-US" altLang="zh-CN" sz="1800" b="1" dirty="0">
                <a:solidFill>
                  <a:srgbClr val="008000"/>
                </a:solidFill>
                <a:latin typeface="Arial" panose="020B0604020202020204" pitchFamily="34" charset="0"/>
              </a:rPr>
              <a:t>/* Probably need strcpy! */ </a:t>
            </a:r>
            <a:endParaRPr lang="en-US" altLang="zh-CN" sz="1800" b="1" dirty="0">
              <a:solidFill>
                <a:srgbClr val="008000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	     L-&gt;Next = NewCell;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	}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}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} </a:t>
            </a:r>
            <a:endParaRPr lang="en-US" altLang="zh-CN" sz="1800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4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04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1" grpId="0"/>
      <p:bldP spid="10445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49"/>
          <p:cNvSpPr txBox="1"/>
          <p:nvPr/>
        </p:nvSpPr>
        <p:spPr>
          <a:xfrm>
            <a:off x="395288" y="404813"/>
            <a:ext cx="8208962" cy="1076325"/>
          </a:xfrm>
          <a:prstGeom prst="rect">
            <a:avLst/>
          </a:prstGeom>
          <a:noFill/>
          <a:ln w="25400">
            <a:noFill/>
          </a:ln>
        </p:spPr>
        <p:txBody>
          <a:bodyPr lIns="0" r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1244600" lvl="0" indent="-1244600" eaLnBrk="1" hangingPunct="1"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chemeClr val="hlink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CN" sz="2800" b="1" i="1" u="sng" dirty="0">
                <a:solidFill>
                  <a:srgbClr val="0000FF"/>
                </a:solidFill>
                <a:sym typeface="Wingdings" panose="05000000000000000000" pitchFamily="2" charset="2"/>
              </a:rPr>
              <a:t>Loading density</a:t>
            </a:r>
            <a:r>
              <a:rPr lang="en-US" altLang="zh-CN" sz="2800" b="1" i="1" u="sng" dirty="0">
                <a:solidFill>
                  <a:srgbClr val="0000FF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: </a:t>
            </a:r>
            <a:endParaRPr lang="en-US" altLang="zh-CN" sz="2400" b="1" dirty="0"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marL="1244600" lvl="0" indent="-124460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ym typeface="Wingdings" panose="05000000000000000000" pitchFamily="2" charset="2"/>
              </a:rPr>
              <a:t>If</a:t>
            </a:r>
            <a:r>
              <a:rPr lang="en-US" altLang="zh-CN" sz="2400" b="1" dirty="0">
                <a:solidFill>
                  <a:schemeClr val="hlink"/>
                </a:solidFill>
                <a:sym typeface="Wingdings" panose="05000000000000000000" pitchFamily="2" charset="2"/>
              </a:rPr>
              <a:t> </a:t>
            </a:r>
            <a:r>
              <a:rPr lang="en-US" altLang="zh-CN" sz="2400" b="1" i="1" dirty="0">
                <a:sym typeface="Wingdings" panose="05000000000000000000" pitchFamily="2" charset="2"/>
              </a:rPr>
              <a:t>n</a:t>
            </a:r>
            <a:r>
              <a:rPr lang="en-US" altLang="zh-CN" sz="2400" b="1" dirty="0">
                <a:sym typeface="Wingdings" panose="05000000000000000000" pitchFamily="2" charset="2"/>
              </a:rPr>
              <a:t> is the total number of keys in the hash table</a:t>
            </a:r>
            <a:endParaRPr lang="en-US" altLang="zh-CN" sz="2400" b="1" dirty="0"/>
          </a:p>
        </p:txBody>
      </p:sp>
      <p:sp>
        <p:nvSpPr>
          <p:cNvPr id="5" name="Text Box 50"/>
          <p:cNvSpPr txBox="1"/>
          <p:nvPr/>
        </p:nvSpPr>
        <p:spPr>
          <a:xfrm>
            <a:off x="1547813" y="1557338"/>
            <a:ext cx="4648200" cy="457200"/>
          </a:xfrm>
          <a:prstGeom prst="rect">
            <a:avLst/>
          </a:prstGeom>
          <a:noFill/>
          <a:ln w="25400">
            <a:noFill/>
          </a:ln>
        </p:spPr>
        <p:txBody>
          <a:bodyPr lIns="0" r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1244600" lvl="0" indent="-124460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ym typeface="Wingdings" panose="05000000000000000000" pitchFamily="2" charset="2"/>
              </a:rPr>
              <a:t>loading density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= </a:t>
            </a:r>
            <a:r>
              <a:rPr lang="en-US" altLang="zh-CN" sz="24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n </a:t>
            </a: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/ </a:t>
            </a:r>
            <a:r>
              <a:rPr lang="en-US" altLang="zh-CN" sz="24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TableSize</a:t>
            </a:r>
            <a:endParaRPr lang="en-US" altLang="zh-CN" sz="2400" b="1" i="1" dirty="0">
              <a:latin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23850" y="2420938"/>
            <a:ext cx="8351838" cy="19383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/>
              <a:t>The average length of the lists is </a:t>
            </a:r>
            <a:r>
              <a:rPr lang="en-US" altLang="zh-CN" sz="2400" b="1" dirty="0">
                <a:sym typeface="Symbol" panose="05050102010706020507" pitchFamily="18" charset="2"/>
              </a:rPr>
              <a:t>: </a:t>
            </a:r>
            <a:endParaRPr lang="en-US" altLang="zh-CN" sz="2400" b="1" dirty="0">
              <a:sym typeface="Symbol" panose="05050102010706020507" pitchFamily="18" charset="2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dirty="0">
                <a:sym typeface="Symbol" panose="05050102010706020507" pitchFamily="18" charset="2"/>
              </a:rPr>
              <a:t>  in an unsuccessful search, the number of links to traverse is about </a:t>
            </a:r>
            <a:endParaRPr lang="en-US" altLang="zh-CN" sz="2400" dirty="0">
              <a:sym typeface="Symbol" panose="05050102010706020507" pitchFamily="18" charset="2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dirty="0">
                <a:sym typeface="Symbol" panose="05050102010706020507" pitchFamily="18" charset="2"/>
              </a:rPr>
              <a:t>  in an successful search, the number of links to traverse is about 1+ /2</a:t>
            </a:r>
            <a:r>
              <a:rPr lang="en-US" altLang="zh-CN" sz="2400" dirty="0"/>
              <a:t> </a:t>
            </a:r>
            <a:endParaRPr lang="zh-CN" altLang="en-US" sz="2400" dirty="0"/>
          </a:p>
        </p:txBody>
      </p:sp>
      <p:sp>
        <p:nvSpPr>
          <p:cNvPr id="8" name="Text Box 8"/>
          <p:cNvSpPr txBox="1"/>
          <p:nvPr/>
        </p:nvSpPr>
        <p:spPr>
          <a:xfrm>
            <a:off x="468313" y="5013325"/>
            <a:ext cx="7620000" cy="120015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767080" lvl="0" indent="-76708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</a:t>
            </a:r>
            <a:r>
              <a:rPr lang="en-US" altLang="zh-CN" sz="2400" b="1" dirty="0">
                <a:solidFill>
                  <a:srgbClr val="FF0000"/>
                </a:solidFill>
              </a:rPr>
              <a:t>Tip: </a:t>
            </a:r>
            <a:r>
              <a:rPr lang="en-US" altLang="zh-CN" sz="2400" b="1" dirty="0"/>
              <a:t>For separate chaining, make the TableSize about as large as the number of keys expected, i.e. </a:t>
            </a:r>
            <a:r>
              <a:rPr lang="en-US" altLang="zh-CN" sz="2400" b="1" dirty="0">
                <a:solidFill>
                  <a:srgbClr val="FF0000"/>
                </a:solidFill>
                <a:sym typeface="Symbol" panose="05050102010706020507" pitchFamily="18" charset="2"/>
              </a:rPr>
              <a:t> ≈1</a:t>
            </a:r>
            <a:endParaRPr lang="en-US" altLang="zh-CN" sz="2400" b="1" dirty="0">
              <a:solidFill>
                <a:srgbClr val="FF0000"/>
              </a:solidFill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05474" name="Text Box 2"/>
          <p:cNvSpPr txBox="1"/>
          <p:nvPr/>
        </p:nvSpPr>
        <p:spPr>
          <a:xfrm>
            <a:off x="2339975" y="376238"/>
            <a:ext cx="4114800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b="1" dirty="0">
                <a:sym typeface="Webdings" panose="05030102010509060703" pitchFamily="18" charset="2"/>
              </a:rPr>
              <a:t>Open Addressing</a:t>
            </a:r>
            <a:endParaRPr lang="en-US" altLang="zh-CN" b="1" dirty="0"/>
          </a:p>
        </p:txBody>
      </p:sp>
      <p:sp>
        <p:nvSpPr>
          <p:cNvPr id="105475" name="Text Box 3"/>
          <p:cNvSpPr txBox="1"/>
          <p:nvPr/>
        </p:nvSpPr>
        <p:spPr>
          <a:xfrm>
            <a:off x="1258888" y="1262063"/>
            <a:ext cx="8126412" cy="862012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 dirty="0"/>
              <a:t>Find another empty cell to solve collision (avoiding pointers).</a:t>
            </a:r>
            <a:endParaRPr lang="en-US" altLang="zh-CN" sz="2000" b="1" dirty="0"/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rgbClr val="0000FF"/>
                </a:solidFill>
              </a:rPr>
              <a:t>   </a:t>
            </a:r>
            <a:r>
              <a:rPr lang="en-US" altLang="zh-CN" sz="2000" b="1" i="1" dirty="0">
                <a:solidFill>
                  <a:srgbClr val="0000FF"/>
                </a:solidFill>
              </a:rPr>
              <a:t>hi(X)=( Hash(X)+f(i) ) mod TableSize</a:t>
            </a:r>
            <a:endParaRPr lang="en-US" altLang="zh-CN" sz="2000" b="1" i="1" dirty="0">
              <a:solidFill>
                <a:srgbClr val="0000FF"/>
              </a:solidFill>
            </a:endParaRPr>
          </a:p>
        </p:txBody>
      </p:sp>
      <p:sp>
        <p:nvSpPr>
          <p:cNvPr id="105476" name="AutoShape 4"/>
          <p:cNvSpPr/>
          <p:nvPr/>
        </p:nvSpPr>
        <p:spPr>
          <a:xfrm>
            <a:off x="1547813" y="2287588"/>
            <a:ext cx="6629400" cy="4267200"/>
          </a:xfrm>
          <a:prstGeom prst="foldedCorner">
            <a:avLst>
              <a:gd name="adj" fmla="val 10866"/>
            </a:avLst>
          </a:prstGeom>
          <a:gradFill rotWithShape="0">
            <a:gsLst>
              <a:gs pos="0">
                <a:srgbClr val="FFFFFF"/>
              </a:gs>
              <a:gs pos="100000">
                <a:schemeClr val="bg1"/>
              </a:gs>
            </a:gsLst>
            <a:lin ang="5400000" scaled="1"/>
            <a:tileRect/>
          </a:gra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lIns="126000" tIns="1548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Algorithm: insert key into an array of hash table</a:t>
            </a:r>
            <a:endParaRPr lang="en-US" altLang="zh-CN" sz="1800" b="1" dirty="0">
              <a:solidFill>
                <a:schemeClr val="hlink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{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index = hash(key);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initialize i = 0;  </a:t>
            </a:r>
            <a:r>
              <a:rPr lang="en-US" altLang="zh-CN" sz="1800" b="1" dirty="0">
                <a:solidFill>
                  <a:srgbClr val="0000FF"/>
                </a:solidFill>
                <a:latin typeface="Arial" panose="020B0604020202020204" pitchFamily="34" charset="0"/>
              </a:rPr>
              <a:t>//------ the counter of probing;</a:t>
            </a:r>
            <a:endParaRPr lang="en-US" altLang="zh-CN" sz="1800" b="1" dirty="0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</a:t>
            </a: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while</a:t>
            </a:r>
            <a:r>
              <a:rPr lang="en-US" altLang="zh-CN" sz="1800" b="1" dirty="0">
                <a:latin typeface="Arial" panose="020B0604020202020204" pitchFamily="34" charset="0"/>
              </a:rPr>
              <a:t> ( collision at index ) {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	index = ( hash(key) + f(i) ) % TableSize;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	</a:t>
            </a: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if</a:t>
            </a:r>
            <a:r>
              <a:rPr lang="en-US" altLang="zh-CN" sz="1800" b="1" dirty="0">
                <a:latin typeface="Arial" panose="020B0604020202020204" pitchFamily="34" charset="0"/>
              </a:rPr>
              <a:t> ( table is full )    </a:t>
            </a: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break</a:t>
            </a:r>
            <a:r>
              <a:rPr lang="en-US" altLang="zh-CN" sz="1800" b="1" dirty="0">
                <a:latin typeface="Arial" panose="020B0604020202020204" pitchFamily="34" charset="0"/>
              </a:rPr>
              <a:t>;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	</a:t>
            </a: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else    </a:t>
            </a:r>
            <a:r>
              <a:rPr lang="en-US" altLang="zh-CN" sz="1800" b="1" dirty="0">
                <a:latin typeface="Arial" panose="020B0604020202020204" pitchFamily="34" charset="0"/>
              </a:rPr>
              <a:t>i ++;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}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</a:t>
            </a: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if</a:t>
            </a:r>
            <a:r>
              <a:rPr lang="en-US" altLang="zh-CN" sz="1800" b="1" dirty="0">
                <a:latin typeface="Arial" panose="020B0604020202020204" pitchFamily="34" charset="0"/>
              </a:rPr>
              <a:t> ( table is full )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	ERROR (“No space left”);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</a:t>
            </a: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else</a:t>
            </a:r>
            <a:endParaRPr lang="en-US" altLang="zh-CN" sz="1800" b="1" dirty="0">
              <a:solidFill>
                <a:schemeClr val="hlink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	insert key at index;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}</a:t>
            </a:r>
            <a:endParaRPr lang="en-US" altLang="zh-CN" sz="1800" b="1" dirty="0">
              <a:latin typeface="Arial" panose="020B0604020202020204" pitchFamily="34" charset="0"/>
            </a:endParaRPr>
          </a:p>
        </p:txBody>
      </p:sp>
      <p:sp>
        <p:nvSpPr>
          <p:cNvPr id="105477" name="AutoShape 5"/>
          <p:cNvSpPr/>
          <p:nvPr/>
        </p:nvSpPr>
        <p:spPr>
          <a:xfrm>
            <a:off x="5148263" y="74613"/>
            <a:ext cx="3600450" cy="1658937"/>
          </a:xfrm>
          <a:prstGeom prst="wedgeEllipseCallout">
            <a:avLst>
              <a:gd name="adj1" fmla="val -76074"/>
              <a:gd name="adj2" fmla="val 57514"/>
            </a:avLst>
          </a:prstGeom>
          <a:gradFill rotWithShape="0">
            <a:gsLst>
              <a:gs pos="0">
                <a:srgbClr val="C0C0C0"/>
              </a:gs>
              <a:gs pos="100000">
                <a:srgbClr val="FFFFFF"/>
              </a:gs>
            </a:gsLst>
            <a:lin ang="2700000" scaled="1"/>
            <a:tileRect/>
          </a:gra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f(i): </a:t>
            </a:r>
            <a:r>
              <a:rPr lang="en-US" altLang="zh-CN" sz="2400" b="1" i="1" u="sng" dirty="0">
                <a:latin typeface="Times New Roman" panose="02020603050405020304" pitchFamily="18" charset="0"/>
              </a:rPr>
              <a:t>collision resolving function</a:t>
            </a:r>
            <a:r>
              <a:rPr lang="en-US" altLang="zh-CN" sz="2400" b="1" dirty="0">
                <a:latin typeface="Times New Roman" panose="02020603050405020304" pitchFamily="18" charset="0"/>
              </a:rPr>
              <a:t>.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f(0) = 0.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547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54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105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05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4" grpId="0"/>
      <p:bldP spid="105475" grpId="0"/>
      <p:bldP spid="105476" grpId="0" animBg="1"/>
      <p:bldP spid="10547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06499" name="Text Box 3"/>
          <p:cNvSpPr txBox="1"/>
          <p:nvPr/>
        </p:nvSpPr>
        <p:spPr>
          <a:xfrm>
            <a:off x="533400" y="533400"/>
            <a:ext cx="304800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ym typeface="Wingdings" panose="05000000000000000000" pitchFamily="2" charset="2"/>
              </a:rPr>
              <a:t>1.  Linear Probing</a:t>
            </a:r>
            <a:endParaRPr lang="en-US" altLang="zh-CN" sz="2400" b="1" dirty="0"/>
          </a:p>
        </p:txBody>
      </p:sp>
      <p:sp>
        <p:nvSpPr>
          <p:cNvPr id="106500" name="Rectangle 4" descr="新闻纸"/>
          <p:cNvSpPr/>
          <p:nvPr/>
        </p:nvSpPr>
        <p:spPr>
          <a:xfrm>
            <a:off x="3581400" y="381000"/>
            <a:ext cx="4953000" cy="685800"/>
          </a:xfrm>
          <a:prstGeom prst="rect">
            <a:avLst/>
          </a:prstGeom>
          <a:blipFill rotWithShape="0">
            <a:blip r:embed="rId1"/>
          </a:blipFill>
          <a:ln w="25400">
            <a:noFill/>
          </a:ln>
          <a:effectLst>
            <a:outerShdw dist="107763" dir="2699999" algn="ctr" rotWithShape="0">
              <a:srgbClr val="B2B2B2"/>
            </a:outer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f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 ( 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i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 ) 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= 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 ;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   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/* a linear function */</a:t>
            </a:r>
            <a:endParaRPr lang="en-US" altLang="zh-CN" sz="24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6501" name="Text Box 5"/>
          <p:cNvSpPr txBox="1"/>
          <p:nvPr/>
        </p:nvSpPr>
        <p:spPr>
          <a:xfrm>
            <a:off x="381000" y="1219200"/>
            <a:ext cx="8305800" cy="8302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1905000" lvl="0" indent="-190500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MS Hei" pitchFamily="49" charset="-122"/>
              </a:rPr>
              <a:t>〖</a:t>
            </a:r>
            <a:r>
              <a:rPr lang="en-US" altLang="zh-CN" sz="2400" b="1" dirty="0">
                <a:latin typeface="Times New Roman" panose="02020603050405020304" pitchFamily="18" charset="0"/>
              </a:rPr>
              <a:t>Example</a:t>
            </a:r>
            <a:r>
              <a:rPr lang="en-US" altLang="zh-CN" sz="2400" b="1" dirty="0">
                <a:latin typeface="Times New Roman" panose="02020603050405020304" pitchFamily="18" charset="0"/>
                <a:ea typeface="MS Hei" pitchFamily="49" charset="-122"/>
              </a:rPr>
              <a:t>〗</a:t>
            </a:r>
            <a:r>
              <a:rPr lang="en-US" altLang="zh-CN" sz="2400" b="1" dirty="0">
                <a:latin typeface="Times New Roman" panose="02020603050405020304" pitchFamily="18" charset="0"/>
              </a:rPr>
              <a:t>  Mapping 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latin typeface="Times New Roman" panose="02020603050405020304" pitchFamily="18" charset="0"/>
              </a:rPr>
              <a:t> = 11  strings into a hash table ht[ ] with 26 buckets.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06502" name="Text Box 6"/>
          <p:cNvSpPr txBox="1"/>
          <p:nvPr/>
        </p:nvSpPr>
        <p:spPr>
          <a:xfrm>
            <a:off x="609600" y="2225675"/>
            <a:ext cx="4038600" cy="822325"/>
          </a:xfrm>
          <a:prstGeom prst="rect">
            <a:avLst/>
          </a:prstGeom>
          <a:noFill/>
          <a:ln w="25400">
            <a:noFill/>
          </a:ln>
        </p:spPr>
        <p:txBody>
          <a:bodyPr lIns="0" r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acos  atoi 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char 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define  exp  ceil  cos  float  atol  floor  ctime</a:t>
            </a:r>
            <a:endParaRPr lang="en-US" altLang="zh-CN" sz="2400" b="1" dirty="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" name="Group 7"/>
          <p:cNvGrpSpPr/>
          <p:nvPr/>
        </p:nvGrpSpPr>
        <p:grpSpPr>
          <a:xfrm>
            <a:off x="5486400" y="2133600"/>
            <a:ext cx="2895600" cy="3276600"/>
            <a:chOff x="3456" y="1968"/>
            <a:chExt cx="1824" cy="2064"/>
          </a:xfrm>
        </p:grpSpPr>
        <p:sp>
          <p:nvSpPr>
            <p:cNvPr id="37939" name="Rectangle 8"/>
            <p:cNvSpPr/>
            <p:nvPr/>
          </p:nvSpPr>
          <p:spPr>
            <a:xfrm>
              <a:off x="3456" y="1968"/>
              <a:ext cx="528" cy="192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bucket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940" name="Rectangle 9"/>
            <p:cNvSpPr/>
            <p:nvPr/>
          </p:nvSpPr>
          <p:spPr>
            <a:xfrm>
              <a:off x="3984" y="1968"/>
              <a:ext cx="528" cy="192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i="1" dirty="0">
                  <a:latin typeface="Times New Roman" panose="02020603050405020304" pitchFamily="18" charset="0"/>
                </a:rPr>
                <a:t>x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941" name="Rectangle 10"/>
            <p:cNvSpPr/>
            <p:nvPr/>
          </p:nvSpPr>
          <p:spPr>
            <a:xfrm>
              <a:off x="3456" y="2160"/>
              <a:ext cx="528" cy="14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0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942" name="Rectangle 11"/>
            <p:cNvSpPr/>
            <p:nvPr/>
          </p:nvSpPr>
          <p:spPr>
            <a:xfrm>
              <a:off x="3456" y="2304"/>
              <a:ext cx="528" cy="14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1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943" name="Rectangle 12"/>
            <p:cNvSpPr/>
            <p:nvPr/>
          </p:nvSpPr>
          <p:spPr>
            <a:xfrm>
              <a:off x="3456" y="2448"/>
              <a:ext cx="528" cy="14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2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944" name="Rectangle 13"/>
            <p:cNvSpPr/>
            <p:nvPr/>
          </p:nvSpPr>
          <p:spPr>
            <a:xfrm>
              <a:off x="3456" y="2592"/>
              <a:ext cx="528" cy="14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3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945" name="Rectangle 14"/>
            <p:cNvSpPr/>
            <p:nvPr/>
          </p:nvSpPr>
          <p:spPr>
            <a:xfrm>
              <a:off x="3456" y="2736"/>
              <a:ext cx="528" cy="14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4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946" name="Rectangle 15"/>
            <p:cNvSpPr/>
            <p:nvPr/>
          </p:nvSpPr>
          <p:spPr>
            <a:xfrm>
              <a:off x="3456" y="2880"/>
              <a:ext cx="528" cy="14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5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947" name="Rectangle 16"/>
            <p:cNvSpPr/>
            <p:nvPr/>
          </p:nvSpPr>
          <p:spPr>
            <a:xfrm>
              <a:off x="3456" y="3024"/>
              <a:ext cx="528" cy="14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6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948" name="Rectangle 17"/>
            <p:cNvSpPr/>
            <p:nvPr/>
          </p:nvSpPr>
          <p:spPr>
            <a:xfrm>
              <a:off x="3456" y="3168"/>
              <a:ext cx="528" cy="14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7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949" name="Rectangle 18"/>
            <p:cNvSpPr/>
            <p:nvPr/>
          </p:nvSpPr>
          <p:spPr>
            <a:xfrm>
              <a:off x="3456" y="3312"/>
              <a:ext cx="528" cy="14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8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950" name="Rectangle 19"/>
            <p:cNvSpPr/>
            <p:nvPr/>
          </p:nvSpPr>
          <p:spPr>
            <a:xfrm>
              <a:off x="3456" y="3456"/>
              <a:ext cx="528" cy="14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9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951" name="Rectangle 20"/>
            <p:cNvSpPr/>
            <p:nvPr/>
          </p:nvSpPr>
          <p:spPr>
            <a:xfrm>
              <a:off x="3456" y="3600"/>
              <a:ext cx="528" cy="14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10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952" name="Rectangle 21"/>
            <p:cNvSpPr/>
            <p:nvPr/>
          </p:nvSpPr>
          <p:spPr>
            <a:xfrm>
              <a:off x="3456" y="3744"/>
              <a:ext cx="528" cy="14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… …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953" name="Rectangle 22"/>
            <p:cNvSpPr/>
            <p:nvPr/>
          </p:nvSpPr>
          <p:spPr>
            <a:xfrm>
              <a:off x="3456" y="3888"/>
              <a:ext cx="528" cy="14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25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954" name="Rectangle 23"/>
            <p:cNvSpPr/>
            <p:nvPr/>
          </p:nvSpPr>
          <p:spPr>
            <a:xfrm>
              <a:off x="3984" y="2160"/>
              <a:ext cx="528" cy="14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955" name="Rectangle 24"/>
            <p:cNvSpPr/>
            <p:nvPr/>
          </p:nvSpPr>
          <p:spPr>
            <a:xfrm>
              <a:off x="4512" y="1968"/>
              <a:ext cx="768" cy="192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search time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956" name="Rectangle 25"/>
            <p:cNvSpPr/>
            <p:nvPr/>
          </p:nvSpPr>
          <p:spPr>
            <a:xfrm>
              <a:off x="4512" y="2160"/>
              <a:ext cx="768" cy="14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957" name="Rectangle 26"/>
            <p:cNvSpPr/>
            <p:nvPr/>
          </p:nvSpPr>
          <p:spPr>
            <a:xfrm>
              <a:off x="3984" y="2304"/>
              <a:ext cx="528" cy="14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958" name="Rectangle 27"/>
            <p:cNvSpPr/>
            <p:nvPr/>
          </p:nvSpPr>
          <p:spPr>
            <a:xfrm>
              <a:off x="4512" y="2304"/>
              <a:ext cx="768" cy="14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959" name="Rectangle 28"/>
            <p:cNvSpPr/>
            <p:nvPr/>
          </p:nvSpPr>
          <p:spPr>
            <a:xfrm>
              <a:off x="3984" y="2448"/>
              <a:ext cx="528" cy="14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960" name="Rectangle 29"/>
            <p:cNvSpPr/>
            <p:nvPr/>
          </p:nvSpPr>
          <p:spPr>
            <a:xfrm>
              <a:off x="4512" y="2448"/>
              <a:ext cx="768" cy="14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961" name="Rectangle 30"/>
            <p:cNvSpPr/>
            <p:nvPr/>
          </p:nvSpPr>
          <p:spPr>
            <a:xfrm>
              <a:off x="3984" y="2592"/>
              <a:ext cx="528" cy="14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962" name="Rectangle 31"/>
            <p:cNvSpPr/>
            <p:nvPr/>
          </p:nvSpPr>
          <p:spPr>
            <a:xfrm>
              <a:off x="4512" y="2592"/>
              <a:ext cx="768" cy="14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963" name="Rectangle 32"/>
            <p:cNvSpPr/>
            <p:nvPr/>
          </p:nvSpPr>
          <p:spPr>
            <a:xfrm>
              <a:off x="3984" y="2736"/>
              <a:ext cx="528" cy="14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964" name="Rectangle 33"/>
            <p:cNvSpPr/>
            <p:nvPr/>
          </p:nvSpPr>
          <p:spPr>
            <a:xfrm>
              <a:off x="4512" y="2736"/>
              <a:ext cx="768" cy="14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965" name="Rectangle 34"/>
            <p:cNvSpPr/>
            <p:nvPr/>
          </p:nvSpPr>
          <p:spPr>
            <a:xfrm>
              <a:off x="3984" y="2880"/>
              <a:ext cx="528" cy="14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966" name="Rectangle 35"/>
            <p:cNvSpPr/>
            <p:nvPr/>
          </p:nvSpPr>
          <p:spPr>
            <a:xfrm>
              <a:off x="4512" y="2880"/>
              <a:ext cx="768" cy="14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967" name="Rectangle 36"/>
            <p:cNvSpPr/>
            <p:nvPr/>
          </p:nvSpPr>
          <p:spPr>
            <a:xfrm>
              <a:off x="3984" y="3024"/>
              <a:ext cx="528" cy="14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968" name="Rectangle 37"/>
            <p:cNvSpPr/>
            <p:nvPr/>
          </p:nvSpPr>
          <p:spPr>
            <a:xfrm>
              <a:off x="4512" y="3024"/>
              <a:ext cx="768" cy="14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969" name="Rectangle 38"/>
            <p:cNvSpPr/>
            <p:nvPr/>
          </p:nvSpPr>
          <p:spPr>
            <a:xfrm>
              <a:off x="3984" y="3168"/>
              <a:ext cx="528" cy="14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970" name="Rectangle 39"/>
            <p:cNvSpPr/>
            <p:nvPr/>
          </p:nvSpPr>
          <p:spPr>
            <a:xfrm>
              <a:off x="4512" y="3168"/>
              <a:ext cx="768" cy="14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971" name="Rectangle 40"/>
            <p:cNvSpPr/>
            <p:nvPr/>
          </p:nvSpPr>
          <p:spPr>
            <a:xfrm>
              <a:off x="3984" y="3312"/>
              <a:ext cx="528" cy="14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972" name="Rectangle 41"/>
            <p:cNvSpPr/>
            <p:nvPr/>
          </p:nvSpPr>
          <p:spPr>
            <a:xfrm>
              <a:off x="4512" y="3312"/>
              <a:ext cx="768" cy="14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973" name="Rectangle 42"/>
            <p:cNvSpPr/>
            <p:nvPr/>
          </p:nvSpPr>
          <p:spPr>
            <a:xfrm>
              <a:off x="3984" y="3456"/>
              <a:ext cx="528" cy="14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974" name="Rectangle 43"/>
            <p:cNvSpPr/>
            <p:nvPr/>
          </p:nvSpPr>
          <p:spPr>
            <a:xfrm>
              <a:off x="4512" y="3456"/>
              <a:ext cx="768" cy="14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975" name="Rectangle 44"/>
            <p:cNvSpPr/>
            <p:nvPr/>
          </p:nvSpPr>
          <p:spPr>
            <a:xfrm>
              <a:off x="3984" y="3600"/>
              <a:ext cx="528" cy="14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976" name="Rectangle 45"/>
            <p:cNvSpPr/>
            <p:nvPr/>
          </p:nvSpPr>
          <p:spPr>
            <a:xfrm>
              <a:off x="4512" y="3600"/>
              <a:ext cx="768" cy="14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977" name="Rectangle 46"/>
            <p:cNvSpPr/>
            <p:nvPr/>
          </p:nvSpPr>
          <p:spPr>
            <a:xfrm>
              <a:off x="3984" y="3744"/>
              <a:ext cx="528" cy="14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978" name="Rectangle 47"/>
            <p:cNvSpPr/>
            <p:nvPr/>
          </p:nvSpPr>
          <p:spPr>
            <a:xfrm>
              <a:off x="4512" y="3744"/>
              <a:ext cx="768" cy="14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979" name="Rectangle 48"/>
            <p:cNvSpPr/>
            <p:nvPr/>
          </p:nvSpPr>
          <p:spPr>
            <a:xfrm>
              <a:off x="3984" y="3888"/>
              <a:ext cx="528" cy="14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980" name="Rectangle 49"/>
            <p:cNvSpPr/>
            <p:nvPr/>
          </p:nvSpPr>
          <p:spPr>
            <a:xfrm>
              <a:off x="4512" y="3888"/>
              <a:ext cx="768" cy="14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981" name="Rectangle 50"/>
            <p:cNvSpPr/>
            <p:nvPr/>
          </p:nvSpPr>
          <p:spPr>
            <a:xfrm>
              <a:off x="3456" y="1968"/>
              <a:ext cx="1824" cy="2064"/>
            </a:xfrm>
            <a:prstGeom prst="rect">
              <a:avLst/>
            </a:prstGeom>
            <a:noFill/>
            <a:ln w="76200" cap="flat" cmpd="tri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</p:grpSp>
      <p:grpSp>
        <p:nvGrpSpPr>
          <p:cNvPr id="3" name="Group 51"/>
          <p:cNvGrpSpPr/>
          <p:nvPr/>
        </p:nvGrpSpPr>
        <p:grpSpPr>
          <a:xfrm>
            <a:off x="6324600" y="2438400"/>
            <a:ext cx="2057400" cy="228600"/>
            <a:chOff x="3984" y="2160"/>
            <a:chExt cx="1296" cy="144"/>
          </a:xfrm>
        </p:grpSpPr>
        <p:sp>
          <p:nvSpPr>
            <p:cNvPr id="37937" name="Rectangle 52"/>
            <p:cNvSpPr/>
            <p:nvPr/>
          </p:nvSpPr>
          <p:spPr>
            <a:xfrm>
              <a:off x="3984" y="2160"/>
              <a:ext cx="528" cy="14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acos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938" name="Rectangle 53"/>
            <p:cNvSpPr/>
            <p:nvPr/>
          </p:nvSpPr>
          <p:spPr>
            <a:xfrm>
              <a:off x="4512" y="2160"/>
              <a:ext cx="768" cy="14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1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" name="Group 54"/>
          <p:cNvGrpSpPr/>
          <p:nvPr/>
        </p:nvGrpSpPr>
        <p:grpSpPr>
          <a:xfrm>
            <a:off x="6324600" y="2667000"/>
            <a:ext cx="2057400" cy="228600"/>
            <a:chOff x="3984" y="2160"/>
            <a:chExt cx="1296" cy="144"/>
          </a:xfrm>
        </p:grpSpPr>
        <p:sp>
          <p:nvSpPr>
            <p:cNvPr id="37935" name="Rectangle 55"/>
            <p:cNvSpPr/>
            <p:nvPr/>
          </p:nvSpPr>
          <p:spPr>
            <a:xfrm>
              <a:off x="3984" y="2160"/>
              <a:ext cx="528" cy="14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atoi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936" name="Rectangle 56"/>
            <p:cNvSpPr/>
            <p:nvPr/>
          </p:nvSpPr>
          <p:spPr>
            <a:xfrm>
              <a:off x="4512" y="2160"/>
              <a:ext cx="768" cy="14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2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" name="Group 57"/>
          <p:cNvGrpSpPr/>
          <p:nvPr/>
        </p:nvGrpSpPr>
        <p:grpSpPr>
          <a:xfrm>
            <a:off x="6324600" y="2895600"/>
            <a:ext cx="2057400" cy="228600"/>
            <a:chOff x="3984" y="2160"/>
            <a:chExt cx="1296" cy="144"/>
          </a:xfrm>
        </p:grpSpPr>
        <p:sp>
          <p:nvSpPr>
            <p:cNvPr id="37933" name="Rectangle 58"/>
            <p:cNvSpPr/>
            <p:nvPr/>
          </p:nvSpPr>
          <p:spPr>
            <a:xfrm>
              <a:off x="3984" y="2160"/>
              <a:ext cx="528" cy="14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char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934" name="Rectangle 59"/>
            <p:cNvSpPr/>
            <p:nvPr/>
          </p:nvSpPr>
          <p:spPr>
            <a:xfrm>
              <a:off x="4512" y="2160"/>
              <a:ext cx="768" cy="14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1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" name="Group 60"/>
          <p:cNvGrpSpPr/>
          <p:nvPr/>
        </p:nvGrpSpPr>
        <p:grpSpPr>
          <a:xfrm>
            <a:off x="6324600" y="3124200"/>
            <a:ext cx="2057400" cy="228600"/>
            <a:chOff x="3984" y="2160"/>
            <a:chExt cx="1296" cy="144"/>
          </a:xfrm>
        </p:grpSpPr>
        <p:sp>
          <p:nvSpPr>
            <p:cNvPr id="37931" name="Rectangle 61"/>
            <p:cNvSpPr/>
            <p:nvPr/>
          </p:nvSpPr>
          <p:spPr>
            <a:xfrm>
              <a:off x="3984" y="2160"/>
              <a:ext cx="528" cy="14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define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932" name="Rectangle 62"/>
            <p:cNvSpPr/>
            <p:nvPr/>
          </p:nvSpPr>
          <p:spPr>
            <a:xfrm>
              <a:off x="4512" y="2160"/>
              <a:ext cx="768" cy="14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1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" name="Group 63"/>
          <p:cNvGrpSpPr/>
          <p:nvPr/>
        </p:nvGrpSpPr>
        <p:grpSpPr>
          <a:xfrm>
            <a:off x="6324600" y="3352800"/>
            <a:ext cx="2057400" cy="228600"/>
            <a:chOff x="3984" y="2160"/>
            <a:chExt cx="1296" cy="144"/>
          </a:xfrm>
        </p:grpSpPr>
        <p:sp>
          <p:nvSpPr>
            <p:cNvPr id="37929" name="Rectangle 64"/>
            <p:cNvSpPr/>
            <p:nvPr/>
          </p:nvSpPr>
          <p:spPr>
            <a:xfrm>
              <a:off x="3984" y="2160"/>
              <a:ext cx="528" cy="14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exp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930" name="Rectangle 65"/>
            <p:cNvSpPr/>
            <p:nvPr/>
          </p:nvSpPr>
          <p:spPr>
            <a:xfrm>
              <a:off x="4512" y="2160"/>
              <a:ext cx="768" cy="14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1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8" name="Group 66"/>
          <p:cNvGrpSpPr/>
          <p:nvPr/>
        </p:nvGrpSpPr>
        <p:grpSpPr>
          <a:xfrm>
            <a:off x="6324600" y="3581400"/>
            <a:ext cx="2057400" cy="228600"/>
            <a:chOff x="3984" y="2160"/>
            <a:chExt cx="1296" cy="144"/>
          </a:xfrm>
        </p:grpSpPr>
        <p:sp>
          <p:nvSpPr>
            <p:cNvPr id="37927" name="Rectangle 67"/>
            <p:cNvSpPr/>
            <p:nvPr/>
          </p:nvSpPr>
          <p:spPr>
            <a:xfrm>
              <a:off x="3984" y="2160"/>
              <a:ext cx="528" cy="14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ceil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928" name="Rectangle 68"/>
            <p:cNvSpPr/>
            <p:nvPr/>
          </p:nvSpPr>
          <p:spPr>
            <a:xfrm>
              <a:off x="4512" y="2160"/>
              <a:ext cx="768" cy="14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4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9" name="Group 69"/>
          <p:cNvGrpSpPr/>
          <p:nvPr/>
        </p:nvGrpSpPr>
        <p:grpSpPr>
          <a:xfrm>
            <a:off x="6324600" y="3810000"/>
            <a:ext cx="2057400" cy="228600"/>
            <a:chOff x="3984" y="2160"/>
            <a:chExt cx="1296" cy="144"/>
          </a:xfrm>
        </p:grpSpPr>
        <p:sp>
          <p:nvSpPr>
            <p:cNvPr id="37925" name="Rectangle 70"/>
            <p:cNvSpPr/>
            <p:nvPr/>
          </p:nvSpPr>
          <p:spPr>
            <a:xfrm>
              <a:off x="3984" y="2160"/>
              <a:ext cx="528" cy="14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cos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926" name="Rectangle 71"/>
            <p:cNvSpPr/>
            <p:nvPr/>
          </p:nvSpPr>
          <p:spPr>
            <a:xfrm>
              <a:off x="4512" y="2160"/>
              <a:ext cx="768" cy="14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5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0" name="Group 72"/>
          <p:cNvGrpSpPr/>
          <p:nvPr/>
        </p:nvGrpSpPr>
        <p:grpSpPr>
          <a:xfrm>
            <a:off x="6324600" y="4038600"/>
            <a:ext cx="2057400" cy="228600"/>
            <a:chOff x="3984" y="2160"/>
            <a:chExt cx="1296" cy="144"/>
          </a:xfrm>
        </p:grpSpPr>
        <p:sp>
          <p:nvSpPr>
            <p:cNvPr id="37923" name="Rectangle 73"/>
            <p:cNvSpPr/>
            <p:nvPr/>
          </p:nvSpPr>
          <p:spPr>
            <a:xfrm>
              <a:off x="3984" y="2160"/>
              <a:ext cx="528" cy="14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float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924" name="Rectangle 74"/>
            <p:cNvSpPr/>
            <p:nvPr/>
          </p:nvSpPr>
          <p:spPr>
            <a:xfrm>
              <a:off x="4512" y="2160"/>
              <a:ext cx="768" cy="14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3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1" name="Group 75"/>
          <p:cNvGrpSpPr/>
          <p:nvPr/>
        </p:nvGrpSpPr>
        <p:grpSpPr>
          <a:xfrm>
            <a:off x="6324600" y="4267200"/>
            <a:ext cx="2057400" cy="228600"/>
            <a:chOff x="3984" y="2160"/>
            <a:chExt cx="1296" cy="144"/>
          </a:xfrm>
        </p:grpSpPr>
        <p:sp>
          <p:nvSpPr>
            <p:cNvPr id="37921" name="Rectangle 76"/>
            <p:cNvSpPr/>
            <p:nvPr/>
          </p:nvSpPr>
          <p:spPr>
            <a:xfrm>
              <a:off x="3984" y="2160"/>
              <a:ext cx="528" cy="14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atol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922" name="Rectangle 77"/>
            <p:cNvSpPr/>
            <p:nvPr/>
          </p:nvSpPr>
          <p:spPr>
            <a:xfrm>
              <a:off x="4512" y="2160"/>
              <a:ext cx="768" cy="14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9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2" name="Group 78"/>
          <p:cNvGrpSpPr/>
          <p:nvPr/>
        </p:nvGrpSpPr>
        <p:grpSpPr>
          <a:xfrm>
            <a:off x="6324600" y="4495800"/>
            <a:ext cx="2057400" cy="228600"/>
            <a:chOff x="3984" y="2160"/>
            <a:chExt cx="1296" cy="144"/>
          </a:xfrm>
        </p:grpSpPr>
        <p:sp>
          <p:nvSpPr>
            <p:cNvPr id="37919" name="Rectangle 79"/>
            <p:cNvSpPr/>
            <p:nvPr/>
          </p:nvSpPr>
          <p:spPr>
            <a:xfrm>
              <a:off x="3984" y="2160"/>
              <a:ext cx="528" cy="14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floor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920" name="Rectangle 80"/>
            <p:cNvSpPr/>
            <p:nvPr/>
          </p:nvSpPr>
          <p:spPr>
            <a:xfrm>
              <a:off x="4512" y="2160"/>
              <a:ext cx="768" cy="14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5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3" name="Group 81"/>
          <p:cNvGrpSpPr/>
          <p:nvPr/>
        </p:nvGrpSpPr>
        <p:grpSpPr>
          <a:xfrm>
            <a:off x="6324600" y="4724400"/>
            <a:ext cx="2057400" cy="228600"/>
            <a:chOff x="3984" y="2160"/>
            <a:chExt cx="1296" cy="144"/>
          </a:xfrm>
        </p:grpSpPr>
        <p:sp>
          <p:nvSpPr>
            <p:cNvPr id="37917" name="Rectangle 82"/>
            <p:cNvSpPr/>
            <p:nvPr/>
          </p:nvSpPr>
          <p:spPr>
            <a:xfrm>
              <a:off x="3984" y="2160"/>
              <a:ext cx="528" cy="14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ctime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918" name="Rectangle 83"/>
            <p:cNvSpPr/>
            <p:nvPr/>
          </p:nvSpPr>
          <p:spPr>
            <a:xfrm>
              <a:off x="4512" y="2160"/>
              <a:ext cx="768" cy="14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9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06580" name="Text Box 84"/>
          <p:cNvSpPr txBox="1"/>
          <p:nvPr/>
        </p:nvSpPr>
        <p:spPr>
          <a:xfrm>
            <a:off x="609600" y="3260725"/>
            <a:ext cx="4419600" cy="39687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 dirty="0"/>
              <a:t>Loading density</a:t>
            </a:r>
            <a:r>
              <a:rPr lang="en-US" altLang="zh-CN" sz="2000" b="1" dirty="0">
                <a:latin typeface="Arial" panose="020B0604020202020204" pitchFamily="34" charset="0"/>
              </a:rPr>
              <a:t> </a:t>
            </a:r>
            <a:r>
              <a:rPr lang="en-US" altLang="zh-CN" sz="2000" b="1" dirty="0">
                <a:latin typeface="Arial" panose="020B0604020202020204" pitchFamily="34" charset="0"/>
                <a:sym typeface="Symbol" panose="05050102010706020507" pitchFamily="18" charset="2"/>
              </a:rPr>
              <a:t></a:t>
            </a:r>
            <a:r>
              <a:rPr lang="en-US" altLang="zh-CN" sz="2000" b="1" dirty="0">
                <a:latin typeface="Arial" panose="020B0604020202020204" pitchFamily="34" charset="0"/>
              </a:rPr>
              <a:t> = 11 / 26 = 0.42</a:t>
            </a:r>
            <a:endParaRPr lang="en-US" altLang="zh-CN" sz="2000" b="1" dirty="0">
              <a:latin typeface="Arial" panose="020B0604020202020204" pitchFamily="34" charset="0"/>
            </a:endParaRPr>
          </a:p>
        </p:txBody>
      </p:sp>
      <p:sp>
        <p:nvSpPr>
          <p:cNvPr id="106581" name="Text Box 85"/>
          <p:cNvSpPr txBox="1"/>
          <p:nvPr/>
        </p:nvSpPr>
        <p:spPr>
          <a:xfrm>
            <a:off x="609600" y="3870325"/>
            <a:ext cx="4724400" cy="39687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 dirty="0"/>
              <a:t>Average search time</a:t>
            </a:r>
            <a:r>
              <a:rPr lang="en-US" altLang="zh-CN" sz="2000" b="1" dirty="0">
                <a:latin typeface="Arial" panose="020B0604020202020204" pitchFamily="34" charset="0"/>
              </a:rPr>
              <a:t> = 41 / 11 = 3.73</a:t>
            </a:r>
            <a:endParaRPr lang="en-US" altLang="zh-CN" sz="2000" b="1" dirty="0">
              <a:latin typeface="Arial" panose="020B0604020202020204" pitchFamily="34" charset="0"/>
            </a:endParaRPr>
          </a:p>
        </p:txBody>
      </p:sp>
      <p:sp>
        <p:nvSpPr>
          <p:cNvPr id="106582" name="Oval 86"/>
          <p:cNvSpPr/>
          <p:nvPr/>
        </p:nvSpPr>
        <p:spPr>
          <a:xfrm>
            <a:off x="4419600" y="3870325"/>
            <a:ext cx="685800" cy="381000"/>
          </a:xfrm>
          <a:prstGeom prst="ellipse">
            <a:avLst/>
          </a:prstGeom>
          <a:noFill/>
          <a:ln w="254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06583" name="Oval 87"/>
          <p:cNvSpPr/>
          <p:nvPr/>
        </p:nvSpPr>
        <p:spPr>
          <a:xfrm>
            <a:off x="7620000" y="4267200"/>
            <a:ext cx="304800" cy="228600"/>
          </a:xfrm>
          <a:prstGeom prst="ellipse">
            <a:avLst/>
          </a:prstGeom>
          <a:noFill/>
          <a:ln w="254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06584" name="Oval 88"/>
          <p:cNvSpPr/>
          <p:nvPr/>
        </p:nvSpPr>
        <p:spPr>
          <a:xfrm>
            <a:off x="7620000" y="4724400"/>
            <a:ext cx="304800" cy="228600"/>
          </a:xfrm>
          <a:prstGeom prst="ellipse">
            <a:avLst/>
          </a:prstGeom>
          <a:noFill/>
          <a:ln w="254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06585" name="AutoShape 89"/>
          <p:cNvSpPr/>
          <p:nvPr/>
        </p:nvSpPr>
        <p:spPr>
          <a:xfrm flipH="1">
            <a:off x="2066925" y="1370013"/>
            <a:ext cx="3657600" cy="1828800"/>
          </a:xfrm>
          <a:prstGeom prst="wedgeEllipseCallout">
            <a:avLst>
              <a:gd name="adj1" fmla="val -97398"/>
              <a:gd name="adj2" fmla="val 138190"/>
            </a:avLst>
          </a:prstGeom>
          <a:gradFill rotWithShape="0">
            <a:gsLst>
              <a:gs pos="0">
                <a:srgbClr val="FFFFFF"/>
              </a:gs>
              <a:gs pos="100000">
                <a:srgbClr val="DBDBDB"/>
              </a:gs>
            </a:gsLst>
            <a:lin ang="2700000" scaled="1"/>
            <a:tileRect/>
          </a:gra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Although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p</a:t>
            </a:r>
            <a:r>
              <a:rPr lang="en-US" altLang="zh-CN" sz="2400" b="1" dirty="0">
                <a:latin typeface="Times New Roman" panose="02020603050405020304" pitchFamily="18" charset="0"/>
              </a:rPr>
              <a:t> is small,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the worst case can be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LARGE.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grpSp>
        <p:nvGrpSpPr>
          <p:cNvPr id="14" name="Group 99"/>
          <p:cNvGrpSpPr/>
          <p:nvPr/>
        </p:nvGrpSpPr>
        <p:grpSpPr>
          <a:xfrm>
            <a:off x="323850" y="4437063"/>
            <a:ext cx="4929188" cy="2197100"/>
            <a:chOff x="204" y="2795"/>
            <a:chExt cx="3105" cy="1384"/>
          </a:xfrm>
        </p:grpSpPr>
        <p:sp>
          <p:nvSpPr>
            <p:cNvPr id="37915" name="Text Box 91"/>
            <p:cNvSpPr txBox="1"/>
            <p:nvPr/>
          </p:nvSpPr>
          <p:spPr>
            <a:xfrm>
              <a:off x="333" y="2795"/>
              <a:ext cx="2976" cy="442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000" b="1" dirty="0"/>
                <a:t>Analysis of the linear probing show that the </a:t>
              </a:r>
              <a:r>
                <a:rPr lang="en-US" altLang="zh-CN" sz="2000" b="1" dirty="0">
                  <a:solidFill>
                    <a:srgbClr val="0000FF"/>
                  </a:solidFill>
                </a:rPr>
                <a:t>expected number of probes</a:t>
              </a:r>
              <a:endParaRPr lang="en-US" altLang="zh-CN" sz="2000" b="1" dirty="0">
                <a:solidFill>
                  <a:srgbClr val="0000FF"/>
                </a:solidFill>
              </a:endParaRPr>
            </a:p>
          </p:txBody>
        </p:sp>
        <p:graphicFrame>
          <p:nvGraphicFramePr>
            <p:cNvPr id="37916" name="Object 92"/>
            <p:cNvGraphicFramePr>
              <a:graphicFrameLocks noChangeAspect="1"/>
            </p:cNvGraphicFramePr>
            <p:nvPr/>
          </p:nvGraphicFramePr>
          <p:xfrm>
            <a:off x="204" y="3385"/>
            <a:ext cx="2849" cy="7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6" name="" r:id="rId2" imgW="2552700" imgH="711200" progId="Equation.3">
                    <p:embed/>
                  </p:oleObj>
                </mc:Choice>
                <mc:Fallback>
                  <p:oleObj name="" r:id="rId2" imgW="2552700" imgH="711200" progId="Equation.3">
                    <p:embed/>
                    <p:pic>
                      <p:nvPicPr>
                        <p:cNvPr id="0" name="图片 3075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204" y="3385"/>
                          <a:ext cx="2849" cy="79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6589" name="Rectangle 93"/>
          <p:cNvSpPr/>
          <p:nvPr/>
        </p:nvSpPr>
        <p:spPr>
          <a:xfrm>
            <a:off x="4716463" y="6165850"/>
            <a:ext cx="152400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8000"/>
                </a:solidFill>
                <a:latin typeface="Arial" panose="020B0604020202020204" pitchFamily="34" charset="0"/>
              </a:rPr>
              <a:t>= 1.36</a:t>
            </a:r>
            <a:endParaRPr lang="en-US" altLang="zh-CN" sz="2400" b="1" dirty="0">
              <a:solidFill>
                <a:srgbClr val="008000"/>
              </a:solidFill>
              <a:latin typeface="Arial" panose="020B0604020202020204" pitchFamily="34" charset="0"/>
            </a:endParaRPr>
          </a:p>
        </p:txBody>
      </p:sp>
      <p:sp>
        <p:nvSpPr>
          <p:cNvPr id="106594" name="Oval 98" descr="信纸"/>
          <p:cNvSpPr/>
          <p:nvPr/>
        </p:nvSpPr>
        <p:spPr>
          <a:xfrm>
            <a:off x="900113" y="2060575"/>
            <a:ext cx="7127875" cy="2881313"/>
          </a:xfrm>
          <a:prstGeom prst="ellipse">
            <a:avLst/>
          </a:prstGeom>
          <a:blipFill rotWithShape="1">
            <a:blip r:embed="rId4"/>
          </a:blipFill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en-US" altLang="zh-CN" sz="2400" b="1" dirty="0"/>
              <a:t> </a:t>
            </a:r>
            <a:r>
              <a:rPr lang="en-US" altLang="zh-CN" sz="2800" b="1" i="1" dirty="0">
                <a:solidFill>
                  <a:srgbClr val="0000FF"/>
                </a:solidFill>
              </a:rPr>
              <a:t>primary clustering</a:t>
            </a:r>
            <a:r>
              <a:rPr lang="en-US" altLang="zh-CN" sz="2400" b="1" dirty="0">
                <a:solidFill>
                  <a:schemeClr val="hlink"/>
                </a:solidFill>
              </a:rPr>
              <a:t>: </a:t>
            </a:r>
            <a:endParaRPr lang="en-US" altLang="zh-CN" sz="2400" b="1" dirty="0">
              <a:solidFill>
                <a:schemeClr val="hlink"/>
              </a:solidFill>
            </a:endParaRPr>
          </a:p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en-US" altLang="zh-CN" sz="2400" b="1" dirty="0"/>
              <a:t>any key that hashes into the cluster </a:t>
            </a:r>
            <a:endParaRPr lang="en-US" altLang="zh-CN" sz="2400" b="1" dirty="0"/>
          </a:p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en-US" altLang="zh-CN" sz="2400" b="1" dirty="0"/>
              <a:t>will add to the cluster after several </a:t>
            </a:r>
            <a:endParaRPr lang="en-US" altLang="zh-CN" sz="2400" b="1" dirty="0"/>
          </a:p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en-US" altLang="zh-CN" sz="2400" b="1" dirty="0"/>
              <a:t>attempts to resolve the collision.</a:t>
            </a:r>
            <a:endParaRPr lang="en-US" altLang="zh-CN" sz="2400" b="1" i="1" dirty="0">
              <a:solidFill>
                <a:schemeClr val="hlink"/>
              </a:solidFill>
            </a:endParaRPr>
          </a:p>
          <a:p>
            <a:pPr marL="0" lvl="0" indent="0" algn="ctr" eaLnBrk="1" hangingPunct="1">
              <a:spcBef>
                <a:spcPct val="0"/>
              </a:spcBef>
              <a:buNone/>
            </a:pPr>
            <a:endParaRPr lang="en-US" altLang="zh-CN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6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6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650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650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0658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0658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0658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0658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000"/>
                            </p:stCondLst>
                            <p:childTnLst>
                              <p:par>
                                <p:cTn id="10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10658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106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7" dur="500"/>
                                        <p:tgtEl>
                                          <p:spTgt spid="10658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6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499" grpId="0"/>
      <p:bldP spid="106500" grpId="0" animBg="1"/>
      <p:bldP spid="106501" grpId="0"/>
      <p:bldP spid="106502" grpId="0"/>
      <p:bldP spid="106580" grpId="0"/>
      <p:bldP spid="106581" grpId="0"/>
      <p:bldP spid="106582" grpId="0" animBg="1"/>
      <p:bldP spid="106583" grpId="0" animBg="1"/>
      <p:bldP spid="106584" grpId="0" animBg="1"/>
      <p:bldP spid="106585" grpId="0" animBg="1"/>
      <p:bldP spid="106589" grpId="0"/>
      <p:bldP spid="10659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07523" name="Text Box 3"/>
          <p:cNvSpPr txBox="1"/>
          <p:nvPr/>
        </p:nvSpPr>
        <p:spPr>
          <a:xfrm>
            <a:off x="381000" y="457200"/>
            <a:ext cx="3614738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ym typeface="Wingdings" panose="05000000000000000000" pitchFamily="2" charset="2"/>
              </a:rPr>
              <a:t>2. Quadratic Probing</a:t>
            </a:r>
            <a:endParaRPr lang="en-US" altLang="zh-CN" sz="2400" b="1" dirty="0"/>
          </a:p>
        </p:txBody>
      </p:sp>
      <p:sp>
        <p:nvSpPr>
          <p:cNvPr id="107524" name="Rectangle 4" descr="新闻纸"/>
          <p:cNvSpPr/>
          <p:nvPr/>
        </p:nvSpPr>
        <p:spPr>
          <a:xfrm>
            <a:off x="3708400" y="357188"/>
            <a:ext cx="5181600" cy="685800"/>
          </a:xfrm>
          <a:prstGeom prst="rect">
            <a:avLst/>
          </a:prstGeom>
          <a:blipFill rotWithShape="0">
            <a:blip r:embed="rId1"/>
          </a:blipFill>
          <a:ln w="25400">
            <a:noFill/>
          </a:ln>
          <a:effectLst>
            <a:outerShdw dist="107763" dir="2699999" algn="ctr" rotWithShape="0">
              <a:srgbClr val="B2B2B2"/>
            </a:outer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f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 ( 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i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 )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= 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i </a:t>
            </a:r>
            <a:r>
              <a:rPr lang="en-US" altLang="zh-CN" sz="2800" b="1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;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  </a:t>
            </a:r>
            <a:r>
              <a:rPr lang="en-US" altLang="zh-CN" sz="2000" dirty="0">
                <a:solidFill>
                  <a:srgbClr val="0000FF"/>
                </a:solidFill>
              </a:rPr>
              <a:t>/* a quadratic function */</a:t>
            </a:r>
            <a:endParaRPr lang="en-US" altLang="zh-CN" sz="2000" dirty="0">
              <a:solidFill>
                <a:srgbClr val="0000FF"/>
              </a:solidFill>
            </a:endParaRPr>
          </a:p>
        </p:txBody>
      </p:sp>
      <p:sp>
        <p:nvSpPr>
          <p:cNvPr id="107539" name="Text Box 19"/>
          <p:cNvSpPr txBox="1"/>
          <p:nvPr/>
        </p:nvSpPr>
        <p:spPr>
          <a:xfrm>
            <a:off x="900113" y="1341438"/>
            <a:ext cx="7632700" cy="830262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dirty="0"/>
              <a:t>Quadratic Probing is a collision resolution method that eliminates the </a:t>
            </a:r>
            <a:r>
              <a:rPr lang="en-US" altLang="zh-CN" sz="2400" dirty="0">
                <a:solidFill>
                  <a:srgbClr val="0000FF"/>
                </a:solidFill>
              </a:rPr>
              <a:t>primary clustering problem</a:t>
            </a:r>
            <a:r>
              <a:rPr lang="en-US" altLang="zh-CN" sz="2400" dirty="0"/>
              <a:t>.</a:t>
            </a:r>
            <a:endParaRPr lang="en-US" altLang="zh-CN" sz="2400" dirty="0"/>
          </a:p>
        </p:txBody>
      </p:sp>
      <p:sp>
        <p:nvSpPr>
          <p:cNvPr id="7" name="Text Box 5"/>
          <p:cNvSpPr txBox="1"/>
          <p:nvPr/>
        </p:nvSpPr>
        <p:spPr>
          <a:xfrm>
            <a:off x="179388" y="2573338"/>
            <a:ext cx="8305800" cy="15700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1905000" lvl="0" indent="-190500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MS Hei" pitchFamily="49" charset="-122"/>
              </a:rPr>
              <a:t>〖</a:t>
            </a:r>
            <a:r>
              <a:rPr lang="en-US" altLang="zh-CN" sz="2400" b="1" dirty="0">
                <a:latin typeface="Times New Roman" panose="02020603050405020304" pitchFamily="18" charset="0"/>
              </a:rPr>
              <a:t>Example</a:t>
            </a:r>
            <a:r>
              <a:rPr lang="en-US" altLang="zh-CN" sz="2400" b="1" dirty="0">
                <a:latin typeface="Times New Roman" panose="02020603050405020304" pitchFamily="18" charset="0"/>
                <a:ea typeface="MS Hei" pitchFamily="49" charset="-122"/>
              </a:rPr>
              <a:t>〗</a:t>
            </a:r>
            <a:r>
              <a:rPr lang="en-US" altLang="zh-CN" sz="2400" b="1" dirty="0">
                <a:latin typeface="Times New Roman" panose="02020603050405020304" pitchFamily="18" charset="0"/>
              </a:rPr>
              <a:t>  Given input {71, 109, 23, 73, 99, 44, 79, 89} and a hush function h(X)=X mod 10, show the resulting open addressing hash table using quadratic probing.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7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7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23" grpId="0"/>
      <p:bldP spid="107524" grpId="0" animBg="1"/>
      <p:bldP spid="107539" grpId="0"/>
      <p:bldP spid="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5"/>
          <p:cNvSpPr/>
          <p:nvPr/>
        </p:nvSpPr>
        <p:spPr>
          <a:xfrm>
            <a:off x="304800" y="2420938"/>
            <a:ext cx="7848600" cy="155257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290830" lvl="0" indent="-29083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FF3300"/>
                </a:solidFill>
              </a:rPr>
              <a:t>【Theorem】</a:t>
            </a:r>
            <a:r>
              <a:rPr lang="en-US" altLang="zh-CN" sz="2400" b="1" dirty="0"/>
              <a:t>If quadratic probing is used, and the table size is </a:t>
            </a:r>
            <a:r>
              <a:rPr lang="en-US" altLang="zh-CN" sz="2400" b="1" dirty="0">
                <a:solidFill>
                  <a:schemeClr val="hlink"/>
                </a:solidFill>
              </a:rPr>
              <a:t>prime</a:t>
            </a:r>
            <a:r>
              <a:rPr lang="en-US" altLang="zh-CN" sz="2400" b="1" dirty="0"/>
              <a:t>, then a new element can always be inserted if the table is </a:t>
            </a:r>
            <a:r>
              <a:rPr lang="en-US" altLang="zh-CN" sz="2400" b="1" dirty="0">
                <a:solidFill>
                  <a:schemeClr val="hlink"/>
                </a:solidFill>
              </a:rPr>
              <a:t>at least half empty (</a:t>
            </a:r>
            <a:r>
              <a:rPr lang="en-US" altLang="zh-CN" sz="2400" b="1" dirty="0">
                <a:solidFill>
                  <a:schemeClr val="hlink"/>
                </a:solidFill>
                <a:sym typeface="Symbol" panose="05050102010706020507" pitchFamily="18" charset="2"/>
              </a:rPr>
              <a:t> &lt; 0.5)</a:t>
            </a:r>
            <a:r>
              <a:rPr lang="en-US" altLang="zh-CN" sz="2400" b="1" dirty="0"/>
              <a:t>.</a:t>
            </a:r>
            <a:endParaRPr lang="en-US" altLang="zh-CN" sz="2400" b="1" dirty="0"/>
          </a:p>
        </p:txBody>
      </p:sp>
      <p:sp>
        <p:nvSpPr>
          <p:cNvPr id="3" name="AutoShape 20" descr="再生纸"/>
          <p:cNvSpPr/>
          <p:nvPr/>
        </p:nvSpPr>
        <p:spPr>
          <a:xfrm>
            <a:off x="1000125" y="4221163"/>
            <a:ext cx="7162800" cy="990600"/>
          </a:xfrm>
          <a:prstGeom prst="roundRect">
            <a:avLst>
              <a:gd name="adj" fmla="val 16667"/>
            </a:avLst>
          </a:prstGeom>
          <a:blipFill rotWithShape="0">
            <a:blip r:embed="rId1"/>
          </a:blipFill>
          <a:ln w="25400">
            <a:noFill/>
          </a:ln>
          <a:effectLst>
            <a:outerShdw dist="107763" dir="2699999" algn="ctr" rotWithShape="0">
              <a:schemeClr val="bg2"/>
            </a:outerShdw>
          </a:effectLst>
        </p:spPr>
        <p:txBody>
          <a:bodyPr lIns="126000" tIns="82800" rIns="126000" bIns="82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662305" lvl="0" indent="-662305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chemeClr val="hlink"/>
                </a:solidFill>
              </a:rPr>
              <a:t>Note:</a:t>
            </a:r>
            <a:r>
              <a:rPr lang="en-US" altLang="zh-CN" sz="2000" b="1" dirty="0"/>
              <a:t> If the table size is a prime of the form 4</a:t>
            </a:r>
            <a:r>
              <a:rPr lang="en-US" altLang="zh-CN" sz="2000" b="1" i="1" dirty="0"/>
              <a:t>k</a:t>
            </a:r>
            <a:r>
              <a:rPr lang="en-US" altLang="zh-CN" sz="2000" b="1" dirty="0"/>
              <a:t> + 3, then the quadratic probing  </a:t>
            </a:r>
            <a:r>
              <a:rPr lang="en-US" altLang="zh-CN" sz="2000" b="1" i="1" dirty="0"/>
              <a:t>f</a:t>
            </a:r>
            <a:r>
              <a:rPr lang="en-US" altLang="zh-CN" sz="2000" b="1" dirty="0"/>
              <a:t>(</a:t>
            </a:r>
            <a:r>
              <a:rPr lang="en-US" altLang="zh-CN" sz="2000" b="1" i="1" dirty="0"/>
              <a:t>i</a:t>
            </a:r>
            <a:r>
              <a:rPr lang="en-US" altLang="zh-CN" sz="2000" b="1" dirty="0"/>
              <a:t>) = </a:t>
            </a:r>
            <a:r>
              <a:rPr lang="en-US" altLang="zh-CN" sz="2000" b="1" dirty="0">
                <a:sym typeface="Symbol" panose="05050102010706020507" pitchFamily="18" charset="2"/>
              </a:rPr>
              <a:t> </a:t>
            </a:r>
            <a:r>
              <a:rPr lang="en-US" altLang="zh-CN" sz="2000" b="1" i="1" dirty="0">
                <a:sym typeface="Symbol" panose="05050102010706020507" pitchFamily="18" charset="2"/>
              </a:rPr>
              <a:t>i </a:t>
            </a:r>
            <a:r>
              <a:rPr lang="en-US" altLang="zh-CN" sz="2000" b="1" baseline="30000" dirty="0">
                <a:sym typeface="Symbol" panose="05050102010706020507" pitchFamily="18" charset="2"/>
              </a:rPr>
              <a:t>2</a:t>
            </a:r>
            <a:r>
              <a:rPr lang="en-US" altLang="zh-CN" sz="2000" b="1" dirty="0">
                <a:sym typeface="Symbol" panose="05050102010706020507" pitchFamily="18" charset="2"/>
              </a:rPr>
              <a:t> can probe the entire table.</a:t>
            </a:r>
            <a:endParaRPr lang="en-US" altLang="zh-CN" sz="2000" b="1" dirty="0">
              <a:sym typeface="Symbol" panose="05050102010706020507" pitchFamily="18" charset="2"/>
            </a:endParaRPr>
          </a:p>
        </p:txBody>
      </p:sp>
      <p:sp>
        <p:nvSpPr>
          <p:cNvPr id="39940" name="矩形 4"/>
          <p:cNvSpPr/>
          <p:nvPr/>
        </p:nvSpPr>
        <p:spPr>
          <a:xfrm>
            <a:off x="468313" y="782638"/>
            <a:ext cx="8207375" cy="1568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FF0000"/>
                </a:solidFill>
              </a:rPr>
              <a:t>Problem: </a:t>
            </a:r>
            <a:r>
              <a:rPr lang="en-US" altLang="zh-CN" sz="2400" b="1" dirty="0"/>
              <a:t>Although </a:t>
            </a:r>
            <a:r>
              <a:rPr lang="en-US" altLang="zh-CN" sz="2400" b="1" i="1" dirty="0">
                <a:solidFill>
                  <a:srgbClr val="0000FF"/>
                </a:solidFill>
              </a:rPr>
              <a:t>primary clustering </a:t>
            </a:r>
            <a:r>
              <a:rPr lang="en-US" altLang="zh-CN" sz="2400" b="1" dirty="0"/>
              <a:t>is solved, </a:t>
            </a:r>
            <a:r>
              <a:rPr lang="en-US" altLang="zh-CN" sz="2400" b="1" i="1" dirty="0">
                <a:solidFill>
                  <a:srgbClr val="0000FF"/>
                </a:solidFill>
              </a:rPr>
              <a:t>secondary clustering</a:t>
            </a:r>
            <a:r>
              <a:rPr lang="en-US" altLang="zh-CN" sz="2400" b="1" dirty="0">
                <a:solidFill>
                  <a:srgbClr val="0000FF"/>
                </a:solidFill>
              </a:rPr>
              <a:t> </a:t>
            </a:r>
            <a:r>
              <a:rPr lang="en-US" altLang="zh-CN" sz="2400" b="1" dirty="0"/>
              <a:t>occurs – that is, keys that hash to the same position will probe the same alternative cells.</a:t>
            </a:r>
            <a:endParaRPr lang="en-US" altLang="zh-CN" sz="2400" b="1" dirty="0"/>
          </a:p>
        </p:txBody>
      </p:sp>
      <p:sp>
        <p:nvSpPr>
          <p:cNvPr id="6" name="Text Box 6"/>
          <p:cNvSpPr txBox="1"/>
          <p:nvPr/>
        </p:nvSpPr>
        <p:spPr>
          <a:xfrm>
            <a:off x="539750" y="5805488"/>
            <a:ext cx="8135938" cy="830262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767080" lvl="0" indent="-76708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</a:t>
            </a:r>
            <a:r>
              <a:rPr lang="en-US" altLang="zh-CN" sz="2400" b="1" dirty="0">
                <a:solidFill>
                  <a:schemeClr val="hlink"/>
                </a:solidFill>
                <a:latin typeface="Arial" panose="020B0604020202020204" pitchFamily="34" charset="0"/>
              </a:rPr>
              <a:t>Tip: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/>
              <a:t>Generally, for open addressing hash table, choose  </a:t>
            </a:r>
            <a:r>
              <a:rPr lang="en-US" altLang="zh-CN" sz="2400" b="1" dirty="0">
                <a:solidFill>
                  <a:srgbClr val="FF0000"/>
                </a:solidFill>
                <a:sym typeface="Symbol" panose="05050102010706020507" pitchFamily="18" charset="2"/>
              </a:rPr>
              <a:t> &lt; 0.5</a:t>
            </a:r>
            <a:r>
              <a:rPr lang="en-US" altLang="zh-CN" sz="2400" b="1" dirty="0">
                <a:sym typeface="Symbol" panose="05050102010706020507" pitchFamily="18" charset="2"/>
              </a:rPr>
              <a:t>.</a:t>
            </a:r>
            <a:endParaRPr lang="en-US" altLang="zh-CN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08549" name="AutoShape 5"/>
          <p:cNvSpPr/>
          <p:nvPr/>
        </p:nvSpPr>
        <p:spPr>
          <a:xfrm>
            <a:off x="250825" y="1039813"/>
            <a:ext cx="5473700" cy="5702300"/>
          </a:xfrm>
          <a:prstGeom prst="foldedCorner">
            <a:avLst>
              <a:gd name="adj" fmla="val 8102"/>
            </a:avLst>
          </a:prstGeom>
          <a:gradFill rotWithShape="0">
            <a:gsLst>
              <a:gs pos="0">
                <a:srgbClr val="FFFFFF"/>
              </a:gs>
              <a:gs pos="100000">
                <a:schemeClr val="bg1"/>
              </a:gs>
            </a:gsLst>
            <a:lin ang="5400000" scaled="1"/>
            <a:tileRect/>
          </a:gra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lIns="126000" tIns="1548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typedef unsigned int Index;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typedef Index Position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struct HashTbl;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typedef struct HashTbl *HashTable;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HashTable InitializeTable(int TableSize);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……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enum KindOfEntry { Legitimate, Empty, Deleted};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struct HashEntry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{   ElementType  Element;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 enum KindOfEntry Info;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};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typedef struct HashEntry Cell;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struct HashTbl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{  int TableSize;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Cell *TheCells;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}; </a:t>
            </a:r>
            <a:endParaRPr lang="en-US" altLang="zh-CN" sz="1800" b="1" dirty="0">
              <a:latin typeface="Arial" panose="020B0604020202020204" pitchFamily="34" charset="0"/>
            </a:endParaRPr>
          </a:p>
        </p:txBody>
      </p:sp>
      <p:sp>
        <p:nvSpPr>
          <p:cNvPr id="108555" name="Oval 11"/>
          <p:cNvSpPr/>
          <p:nvPr/>
        </p:nvSpPr>
        <p:spPr>
          <a:xfrm>
            <a:off x="250825" y="188913"/>
            <a:ext cx="7239000" cy="762000"/>
          </a:xfrm>
          <a:prstGeom prst="ellipse">
            <a:avLst/>
          </a:prstGeom>
          <a:gradFill rotWithShape="0">
            <a:gsLst>
              <a:gs pos="0">
                <a:srgbClr val="A6CFA6"/>
              </a:gs>
              <a:gs pos="50000">
                <a:srgbClr val="CCFFCC"/>
              </a:gs>
              <a:gs pos="100000">
                <a:srgbClr val="A6CFA6"/>
              </a:gs>
            </a:gsLst>
            <a:lin ang="0" scaled="1"/>
            <a:tileRect/>
          </a:gradFill>
          <a:ln w="25400" cap="flat" cmpd="sng">
            <a:solidFill>
              <a:srgbClr val="CCFFFF"/>
            </a:solidFill>
            <a:prstDash val="solid"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Question:</a:t>
            </a:r>
            <a:r>
              <a:rPr lang="en-US" altLang="zh-CN" sz="2400" b="1" dirty="0">
                <a:latin typeface="Times New Roman" panose="02020603050405020304" pitchFamily="18" charset="0"/>
              </a:rPr>
              <a:t>  How to delete a key in an 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open addressing hash table?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grpSp>
        <p:nvGrpSpPr>
          <p:cNvPr id="40964" name="组合 1"/>
          <p:cNvGrpSpPr/>
          <p:nvPr/>
        </p:nvGrpSpPr>
        <p:grpSpPr>
          <a:xfrm>
            <a:off x="5826125" y="1052513"/>
            <a:ext cx="2900363" cy="3276600"/>
            <a:chOff x="5826579" y="725948"/>
            <a:chExt cx="2899755" cy="3276600"/>
          </a:xfrm>
        </p:grpSpPr>
        <p:grpSp>
          <p:nvGrpSpPr>
            <p:cNvPr id="40965" name="Group 7"/>
            <p:cNvGrpSpPr/>
            <p:nvPr/>
          </p:nvGrpSpPr>
          <p:grpSpPr>
            <a:xfrm>
              <a:off x="5826579" y="725948"/>
              <a:ext cx="2895600" cy="3276600"/>
              <a:chOff x="3456" y="1968"/>
              <a:chExt cx="1824" cy="2064"/>
            </a:xfrm>
          </p:grpSpPr>
          <p:sp>
            <p:nvSpPr>
              <p:cNvPr id="40999" name="Rectangle 8"/>
              <p:cNvSpPr/>
              <p:nvPr/>
            </p:nvSpPr>
            <p:spPr>
              <a:xfrm>
                <a:off x="3456" y="1968"/>
                <a:ext cx="528" cy="192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latin typeface="Times New Roman" panose="02020603050405020304" pitchFamily="18" charset="0"/>
                  </a:rPr>
                  <a:t>bucket</a:t>
                </a:r>
                <a:endParaRPr lang="en-US" altLang="zh-CN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000" name="Rectangle 9"/>
              <p:cNvSpPr/>
              <p:nvPr/>
            </p:nvSpPr>
            <p:spPr>
              <a:xfrm>
                <a:off x="3984" y="1968"/>
                <a:ext cx="528" cy="192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b="1" i="1" dirty="0">
                    <a:latin typeface="Times New Roman" panose="02020603050405020304" pitchFamily="18" charset="0"/>
                  </a:rPr>
                  <a:t>x</a:t>
                </a:r>
                <a:endParaRPr lang="en-US" altLang="zh-CN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001" name="Rectangle 10"/>
              <p:cNvSpPr/>
              <p:nvPr/>
            </p:nvSpPr>
            <p:spPr>
              <a:xfrm>
                <a:off x="3456" y="2160"/>
                <a:ext cx="528" cy="144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latin typeface="Times New Roman" panose="02020603050405020304" pitchFamily="18" charset="0"/>
                  </a:rPr>
                  <a:t>0</a:t>
                </a:r>
                <a:endParaRPr lang="en-US" altLang="zh-CN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002" name="Rectangle 11"/>
              <p:cNvSpPr/>
              <p:nvPr/>
            </p:nvSpPr>
            <p:spPr>
              <a:xfrm>
                <a:off x="3456" y="2304"/>
                <a:ext cx="528" cy="144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latin typeface="Times New Roman" panose="02020603050405020304" pitchFamily="18" charset="0"/>
                  </a:rPr>
                  <a:t>1</a:t>
                </a:r>
                <a:endParaRPr lang="en-US" altLang="zh-CN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003" name="Rectangle 12"/>
              <p:cNvSpPr/>
              <p:nvPr/>
            </p:nvSpPr>
            <p:spPr>
              <a:xfrm>
                <a:off x="3456" y="2448"/>
                <a:ext cx="528" cy="144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latin typeface="Times New Roman" panose="02020603050405020304" pitchFamily="18" charset="0"/>
                  </a:rPr>
                  <a:t>2</a:t>
                </a:r>
                <a:endParaRPr lang="en-US" altLang="zh-CN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004" name="Rectangle 13"/>
              <p:cNvSpPr/>
              <p:nvPr/>
            </p:nvSpPr>
            <p:spPr>
              <a:xfrm>
                <a:off x="3456" y="2592"/>
                <a:ext cx="528" cy="144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latin typeface="Times New Roman" panose="02020603050405020304" pitchFamily="18" charset="0"/>
                  </a:rPr>
                  <a:t>3</a:t>
                </a:r>
                <a:endParaRPr lang="en-US" altLang="zh-CN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005" name="Rectangle 14"/>
              <p:cNvSpPr/>
              <p:nvPr/>
            </p:nvSpPr>
            <p:spPr>
              <a:xfrm>
                <a:off x="3456" y="2736"/>
                <a:ext cx="528" cy="144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latin typeface="Times New Roman" panose="02020603050405020304" pitchFamily="18" charset="0"/>
                  </a:rPr>
                  <a:t>4</a:t>
                </a:r>
                <a:endParaRPr lang="en-US" altLang="zh-CN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006" name="Rectangle 15"/>
              <p:cNvSpPr/>
              <p:nvPr/>
            </p:nvSpPr>
            <p:spPr>
              <a:xfrm>
                <a:off x="3456" y="2880"/>
                <a:ext cx="528" cy="144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latin typeface="Times New Roman" panose="02020603050405020304" pitchFamily="18" charset="0"/>
                  </a:rPr>
                  <a:t>5</a:t>
                </a:r>
                <a:endParaRPr lang="en-US" altLang="zh-CN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007" name="Rectangle 16"/>
              <p:cNvSpPr/>
              <p:nvPr/>
            </p:nvSpPr>
            <p:spPr>
              <a:xfrm>
                <a:off x="3456" y="3024"/>
                <a:ext cx="528" cy="144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latin typeface="Times New Roman" panose="02020603050405020304" pitchFamily="18" charset="0"/>
                  </a:rPr>
                  <a:t>6</a:t>
                </a:r>
                <a:endParaRPr lang="en-US" altLang="zh-CN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008" name="Rectangle 17"/>
              <p:cNvSpPr/>
              <p:nvPr/>
            </p:nvSpPr>
            <p:spPr>
              <a:xfrm>
                <a:off x="3456" y="3168"/>
                <a:ext cx="528" cy="144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latin typeface="Times New Roman" panose="02020603050405020304" pitchFamily="18" charset="0"/>
                  </a:rPr>
                  <a:t>7</a:t>
                </a:r>
                <a:endParaRPr lang="en-US" altLang="zh-CN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009" name="Rectangle 18"/>
              <p:cNvSpPr/>
              <p:nvPr/>
            </p:nvSpPr>
            <p:spPr>
              <a:xfrm>
                <a:off x="3456" y="3312"/>
                <a:ext cx="528" cy="144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latin typeface="Times New Roman" panose="02020603050405020304" pitchFamily="18" charset="0"/>
                  </a:rPr>
                  <a:t>8</a:t>
                </a:r>
                <a:endParaRPr lang="en-US" altLang="zh-CN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010" name="Rectangle 19"/>
              <p:cNvSpPr/>
              <p:nvPr/>
            </p:nvSpPr>
            <p:spPr>
              <a:xfrm>
                <a:off x="3456" y="3456"/>
                <a:ext cx="528" cy="144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latin typeface="Times New Roman" panose="02020603050405020304" pitchFamily="18" charset="0"/>
                  </a:rPr>
                  <a:t>9</a:t>
                </a:r>
                <a:endParaRPr lang="en-US" altLang="zh-CN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011" name="Rectangle 20"/>
              <p:cNvSpPr/>
              <p:nvPr/>
            </p:nvSpPr>
            <p:spPr>
              <a:xfrm>
                <a:off x="3456" y="3600"/>
                <a:ext cx="528" cy="144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latin typeface="Times New Roman" panose="02020603050405020304" pitchFamily="18" charset="0"/>
                  </a:rPr>
                  <a:t>10</a:t>
                </a:r>
                <a:endParaRPr lang="en-US" altLang="zh-CN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012" name="Rectangle 21"/>
              <p:cNvSpPr/>
              <p:nvPr/>
            </p:nvSpPr>
            <p:spPr>
              <a:xfrm>
                <a:off x="3456" y="3744"/>
                <a:ext cx="528" cy="144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latin typeface="Times New Roman" panose="02020603050405020304" pitchFamily="18" charset="0"/>
                  </a:rPr>
                  <a:t>… …</a:t>
                </a:r>
                <a:endParaRPr lang="en-US" altLang="zh-CN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013" name="Rectangle 22"/>
              <p:cNvSpPr/>
              <p:nvPr/>
            </p:nvSpPr>
            <p:spPr>
              <a:xfrm>
                <a:off x="3456" y="3888"/>
                <a:ext cx="528" cy="144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latin typeface="Times New Roman" panose="02020603050405020304" pitchFamily="18" charset="0"/>
                  </a:rPr>
                  <a:t>25</a:t>
                </a:r>
                <a:endParaRPr lang="en-US" altLang="zh-CN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014" name="Rectangle 23"/>
              <p:cNvSpPr/>
              <p:nvPr/>
            </p:nvSpPr>
            <p:spPr>
              <a:xfrm>
                <a:off x="3984" y="2160"/>
                <a:ext cx="528" cy="144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015" name="Rectangle 24"/>
              <p:cNvSpPr/>
              <p:nvPr/>
            </p:nvSpPr>
            <p:spPr>
              <a:xfrm>
                <a:off x="4512" y="1968"/>
                <a:ext cx="768" cy="192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latin typeface="Times New Roman" panose="02020603050405020304" pitchFamily="18" charset="0"/>
                  </a:rPr>
                  <a:t>search time</a:t>
                </a:r>
                <a:endParaRPr lang="en-US" altLang="zh-CN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016" name="Rectangle 25"/>
              <p:cNvSpPr/>
              <p:nvPr/>
            </p:nvSpPr>
            <p:spPr>
              <a:xfrm>
                <a:off x="4512" y="2160"/>
                <a:ext cx="768" cy="144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017" name="Rectangle 26"/>
              <p:cNvSpPr/>
              <p:nvPr/>
            </p:nvSpPr>
            <p:spPr>
              <a:xfrm>
                <a:off x="3984" y="2304"/>
                <a:ext cx="528" cy="144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018" name="Rectangle 27"/>
              <p:cNvSpPr/>
              <p:nvPr/>
            </p:nvSpPr>
            <p:spPr>
              <a:xfrm>
                <a:off x="4512" y="2304"/>
                <a:ext cx="768" cy="144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019" name="Rectangle 28"/>
              <p:cNvSpPr/>
              <p:nvPr/>
            </p:nvSpPr>
            <p:spPr>
              <a:xfrm>
                <a:off x="3984" y="2448"/>
                <a:ext cx="528" cy="144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020" name="Rectangle 29"/>
              <p:cNvSpPr/>
              <p:nvPr/>
            </p:nvSpPr>
            <p:spPr>
              <a:xfrm>
                <a:off x="4512" y="2448"/>
                <a:ext cx="768" cy="144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021" name="Rectangle 30"/>
              <p:cNvSpPr/>
              <p:nvPr/>
            </p:nvSpPr>
            <p:spPr>
              <a:xfrm>
                <a:off x="3984" y="2592"/>
                <a:ext cx="528" cy="144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022" name="Rectangle 31"/>
              <p:cNvSpPr/>
              <p:nvPr/>
            </p:nvSpPr>
            <p:spPr>
              <a:xfrm>
                <a:off x="4512" y="2592"/>
                <a:ext cx="768" cy="144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023" name="Rectangle 32"/>
              <p:cNvSpPr/>
              <p:nvPr/>
            </p:nvSpPr>
            <p:spPr>
              <a:xfrm>
                <a:off x="3984" y="2736"/>
                <a:ext cx="528" cy="144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024" name="Rectangle 33"/>
              <p:cNvSpPr/>
              <p:nvPr/>
            </p:nvSpPr>
            <p:spPr>
              <a:xfrm>
                <a:off x="4512" y="2736"/>
                <a:ext cx="768" cy="144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025" name="Rectangle 34"/>
              <p:cNvSpPr/>
              <p:nvPr/>
            </p:nvSpPr>
            <p:spPr>
              <a:xfrm>
                <a:off x="3984" y="2880"/>
                <a:ext cx="528" cy="144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026" name="Rectangle 35"/>
              <p:cNvSpPr/>
              <p:nvPr/>
            </p:nvSpPr>
            <p:spPr>
              <a:xfrm>
                <a:off x="4512" y="2880"/>
                <a:ext cx="768" cy="144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027" name="Rectangle 36"/>
              <p:cNvSpPr/>
              <p:nvPr/>
            </p:nvSpPr>
            <p:spPr>
              <a:xfrm>
                <a:off x="3984" y="3024"/>
                <a:ext cx="528" cy="144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028" name="Rectangle 37"/>
              <p:cNvSpPr/>
              <p:nvPr/>
            </p:nvSpPr>
            <p:spPr>
              <a:xfrm>
                <a:off x="4512" y="3024"/>
                <a:ext cx="768" cy="144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029" name="Rectangle 38"/>
              <p:cNvSpPr/>
              <p:nvPr/>
            </p:nvSpPr>
            <p:spPr>
              <a:xfrm>
                <a:off x="3984" y="3168"/>
                <a:ext cx="528" cy="144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030" name="Rectangle 39"/>
              <p:cNvSpPr/>
              <p:nvPr/>
            </p:nvSpPr>
            <p:spPr>
              <a:xfrm>
                <a:off x="4512" y="3168"/>
                <a:ext cx="768" cy="144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031" name="Rectangle 40"/>
              <p:cNvSpPr/>
              <p:nvPr/>
            </p:nvSpPr>
            <p:spPr>
              <a:xfrm>
                <a:off x="3984" y="3312"/>
                <a:ext cx="528" cy="144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032" name="Rectangle 41"/>
              <p:cNvSpPr/>
              <p:nvPr/>
            </p:nvSpPr>
            <p:spPr>
              <a:xfrm>
                <a:off x="4512" y="3312"/>
                <a:ext cx="768" cy="144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033" name="Rectangle 42"/>
              <p:cNvSpPr/>
              <p:nvPr/>
            </p:nvSpPr>
            <p:spPr>
              <a:xfrm>
                <a:off x="3984" y="3456"/>
                <a:ext cx="528" cy="144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034" name="Rectangle 43"/>
              <p:cNvSpPr/>
              <p:nvPr/>
            </p:nvSpPr>
            <p:spPr>
              <a:xfrm>
                <a:off x="4512" y="3456"/>
                <a:ext cx="768" cy="144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035" name="Rectangle 44"/>
              <p:cNvSpPr/>
              <p:nvPr/>
            </p:nvSpPr>
            <p:spPr>
              <a:xfrm>
                <a:off x="3984" y="3600"/>
                <a:ext cx="528" cy="144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036" name="Rectangle 45"/>
              <p:cNvSpPr/>
              <p:nvPr/>
            </p:nvSpPr>
            <p:spPr>
              <a:xfrm>
                <a:off x="4512" y="3600"/>
                <a:ext cx="768" cy="144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037" name="Rectangle 46"/>
              <p:cNvSpPr/>
              <p:nvPr/>
            </p:nvSpPr>
            <p:spPr>
              <a:xfrm>
                <a:off x="3984" y="3744"/>
                <a:ext cx="528" cy="144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038" name="Rectangle 47"/>
              <p:cNvSpPr/>
              <p:nvPr/>
            </p:nvSpPr>
            <p:spPr>
              <a:xfrm>
                <a:off x="4512" y="3744"/>
                <a:ext cx="768" cy="144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039" name="Rectangle 48"/>
              <p:cNvSpPr/>
              <p:nvPr/>
            </p:nvSpPr>
            <p:spPr>
              <a:xfrm>
                <a:off x="3984" y="3888"/>
                <a:ext cx="528" cy="144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040" name="Rectangle 49"/>
              <p:cNvSpPr/>
              <p:nvPr/>
            </p:nvSpPr>
            <p:spPr>
              <a:xfrm>
                <a:off x="4512" y="3888"/>
                <a:ext cx="768" cy="144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041" name="Rectangle 50"/>
              <p:cNvSpPr/>
              <p:nvPr/>
            </p:nvSpPr>
            <p:spPr>
              <a:xfrm>
                <a:off x="3456" y="1968"/>
                <a:ext cx="1824" cy="2064"/>
              </a:xfrm>
              <a:prstGeom prst="rect">
                <a:avLst/>
              </a:prstGeom>
              <a:noFill/>
              <a:ln w="76200" cap="flat" cmpd="tri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</p:grpSp>
        <p:grpSp>
          <p:nvGrpSpPr>
            <p:cNvPr id="40966" name="Group 51"/>
            <p:cNvGrpSpPr/>
            <p:nvPr/>
          </p:nvGrpSpPr>
          <p:grpSpPr>
            <a:xfrm>
              <a:off x="6668934" y="1030606"/>
              <a:ext cx="2057400" cy="228600"/>
              <a:chOff x="3984" y="2160"/>
              <a:chExt cx="1296" cy="144"/>
            </a:xfrm>
          </p:grpSpPr>
          <p:sp>
            <p:nvSpPr>
              <p:cNvPr id="40997" name="Rectangle 52"/>
              <p:cNvSpPr/>
              <p:nvPr/>
            </p:nvSpPr>
            <p:spPr>
              <a:xfrm>
                <a:off x="3984" y="2160"/>
                <a:ext cx="528" cy="144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latin typeface="Times New Roman" panose="02020603050405020304" pitchFamily="18" charset="0"/>
                  </a:rPr>
                  <a:t>acos</a:t>
                </a:r>
                <a:endParaRPr lang="en-US" altLang="zh-CN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998" name="Rectangle 53"/>
              <p:cNvSpPr/>
              <p:nvPr/>
            </p:nvSpPr>
            <p:spPr>
              <a:xfrm>
                <a:off x="4512" y="2160"/>
                <a:ext cx="768" cy="144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latin typeface="Times New Roman" panose="02020603050405020304" pitchFamily="18" charset="0"/>
                  </a:rPr>
                  <a:t>1</a:t>
                </a:r>
                <a:endParaRPr lang="en-US" altLang="zh-CN" sz="1800" b="1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40967" name="Group 54"/>
            <p:cNvGrpSpPr/>
            <p:nvPr/>
          </p:nvGrpSpPr>
          <p:grpSpPr>
            <a:xfrm>
              <a:off x="6668934" y="1259206"/>
              <a:ext cx="2057400" cy="228600"/>
              <a:chOff x="3984" y="2160"/>
              <a:chExt cx="1296" cy="144"/>
            </a:xfrm>
          </p:grpSpPr>
          <p:sp>
            <p:nvSpPr>
              <p:cNvPr id="40995" name="Rectangle 55"/>
              <p:cNvSpPr/>
              <p:nvPr/>
            </p:nvSpPr>
            <p:spPr>
              <a:xfrm>
                <a:off x="3984" y="2160"/>
                <a:ext cx="528" cy="144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latin typeface="Times New Roman" panose="02020603050405020304" pitchFamily="18" charset="0"/>
                  </a:rPr>
                  <a:t>atoi</a:t>
                </a:r>
                <a:endParaRPr lang="en-US" altLang="zh-CN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996" name="Rectangle 56"/>
              <p:cNvSpPr/>
              <p:nvPr/>
            </p:nvSpPr>
            <p:spPr>
              <a:xfrm>
                <a:off x="4512" y="2160"/>
                <a:ext cx="768" cy="144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latin typeface="Times New Roman" panose="02020603050405020304" pitchFamily="18" charset="0"/>
                  </a:rPr>
                  <a:t>2</a:t>
                </a:r>
                <a:endParaRPr lang="en-US" altLang="zh-CN" sz="1800" b="1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40968" name="Group 57"/>
            <p:cNvGrpSpPr/>
            <p:nvPr/>
          </p:nvGrpSpPr>
          <p:grpSpPr>
            <a:xfrm>
              <a:off x="6668934" y="1487806"/>
              <a:ext cx="2057400" cy="228600"/>
              <a:chOff x="3984" y="2160"/>
              <a:chExt cx="1296" cy="144"/>
            </a:xfrm>
          </p:grpSpPr>
          <p:sp>
            <p:nvSpPr>
              <p:cNvPr id="40993" name="Rectangle 58"/>
              <p:cNvSpPr/>
              <p:nvPr/>
            </p:nvSpPr>
            <p:spPr>
              <a:xfrm>
                <a:off x="3984" y="2160"/>
                <a:ext cx="528" cy="144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latin typeface="Times New Roman" panose="02020603050405020304" pitchFamily="18" charset="0"/>
                  </a:rPr>
                  <a:t>char</a:t>
                </a:r>
                <a:endParaRPr lang="en-US" altLang="zh-CN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994" name="Rectangle 59"/>
              <p:cNvSpPr/>
              <p:nvPr/>
            </p:nvSpPr>
            <p:spPr>
              <a:xfrm>
                <a:off x="4512" y="2160"/>
                <a:ext cx="768" cy="144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latin typeface="Times New Roman" panose="02020603050405020304" pitchFamily="18" charset="0"/>
                  </a:rPr>
                  <a:t>1</a:t>
                </a:r>
                <a:endParaRPr lang="en-US" altLang="zh-CN" sz="1800" b="1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40969" name="Group 60"/>
            <p:cNvGrpSpPr/>
            <p:nvPr/>
          </p:nvGrpSpPr>
          <p:grpSpPr>
            <a:xfrm>
              <a:off x="6668934" y="1716406"/>
              <a:ext cx="2057400" cy="228600"/>
              <a:chOff x="3984" y="2160"/>
              <a:chExt cx="1296" cy="144"/>
            </a:xfrm>
          </p:grpSpPr>
          <p:sp>
            <p:nvSpPr>
              <p:cNvPr id="40991" name="Rectangle 61"/>
              <p:cNvSpPr/>
              <p:nvPr/>
            </p:nvSpPr>
            <p:spPr>
              <a:xfrm>
                <a:off x="3984" y="2160"/>
                <a:ext cx="528" cy="144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latin typeface="Times New Roman" panose="02020603050405020304" pitchFamily="18" charset="0"/>
                  </a:rPr>
                  <a:t>define</a:t>
                </a:r>
                <a:endParaRPr lang="en-US" altLang="zh-CN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992" name="Rectangle 62"/>
              <p:cNvSpPr/>
              <p:nvPr/>
            </p:nvSpPr>
            <p:spPr>
              <a:xfrm>
                <a:off x="4512" y="2160"/>
                <a:ext cx="768" cy="144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latin typeface="Times New Roman" panose="02020603050405020304" pitchFamily="18" charset="0"/>
                  </a:rPr>
                  <a:t>1</a:t>
                </a:r>
                <a:endParaRPr lang="en-US" altLang="zh-CN" sz="1800" b="1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40970" name="Group 63"/>
            <p:cNvGrpSpPr/>
            <p:nvPr/>
          </p:nvGrpSpPr>
          <p:grpSpPr>
            <a:xfrm>
              <a:off x="6668934" y="1945006"/>
              <a:ext cx="2057400" cy="228600"/>
              <a:chOff x="3984" y="2160"/>
              <a:chExt cx="1296" cy="144"/>
            </a:xfrm>
          </p:grpSpPr>
          <p:sp>
            <p:nvSpPr>
              <p:cNvPr id="40989" name="Rectangle 64"/>
              <p:cNvSpPr/>
              <p:nvPr/>
            </p:nvSpPr>
            <p:spPr>
              <a:xfrm>
                <a:off x="3984" y="2160"/>
                <a:ext cx="528" cy="144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latin typeface="Times New Roman" panose="02020603050405020304" pitchFamily="18" charset="0"/>
                  </a:rPr>
                  <a:t>exp</a:t>
                </a:r>
                <a:endParaRPr lang="en-US" altLang="zh-CN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990" name="Rectangle 65"/>
              <p:cNvSpPr/>
              <p:nvPr/>
            </p:nvSpPr>
            <p:spPr>
              <a:xfrm>
                <a:off x="4512" y="2160"/>
                <a:ext cx="768" cy="144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latin typeface="Times New Roman" panose="02020603050405020304" pitchFamily="18" charset="0"/>
                  </a:rPr>
                  <a:t>1</a:t>
                </a:r>
                <a:endParaRPr lang="en-US" altLang="zh-CN" sz="1800" b="1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40971" name="Group 66"/>
            <p:cNvGrpSpPr/>
            <p:nvPr/>
          </p:nvGrpSpPr>
          <p:grpSpPr>
            <a:xfrm>
              <a:off x="6668934" y="2173606"/>
              <a:ext cx="2057400" cy="228600"/>
              <a:chOff x="3984" y="2160"/>
              <a:chExt cx="1296" cy="144"/>
            </a:xfrm>
          </p:grpSpPr>
          <p:sp>
            <p:nvSpPr>
              <p:cNvPr id="40987" name="Rectangle 67"/>
              <p:cNvSpPr/>
              <p:nvPr/>
            </p:nvSpPr>
            <p:spPr>
              <a:xfrm>
                <a:off x="3984" y="2160"/>
                <a:ext cx="528" cy="144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latin typeface="Times New Roman" panose="02020603050405020304" pitchFamily="18" charset="0"/>
                  </a:rPr>
                  <a:t>ceil</a:t>
                </a:r>
                <a:endParaRPr lang="en-US" altLang="zh-CN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988" name="Rectangle 68"/>
              <p:cNvSpPr/>
              <p:nvPr/>
            </p:nvSpPr>
            <p:spPr>
              <a:xfrm>
                <a:off x="4512" y="2160"/>
                <a:ext cx="768" cy="144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latin typeface="Times New Roman" panose="02020603050405020304" pitchFamily="18" charset="0"/>
                  </a:rPr>
                  <a:t>4</a:t>
                </a:r>
                <a:endParaRPr lang="en-US" altLang="zh-CN" sz="1800" b="1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40972" name="Group 69"/>
            <p:cNvGrpSpPr/>
            <p:nvPr/>
          </p:nvGrpSpPr>
          <p:grpSpPr>
            <a:xfrm>
              <a:off x="6668934" y="2402206"/>
              <a:ext cx="2057400" cy="228600"/>
              <a:chOff x="3984" y="2160"/>
              <a:chExt cx="1296" cy="144"/>
            </a:xfrm>
          </p:grpSpPr>
          <p:sp>
            <p:nvSpPr>
              <p:cNvPr id="40985" name="Rectangle 70"/>
              <p:cNvSpPr/>
              <p:nvPr/>
            </p:nvSpPr>
            <p:spPr>
              <a:xfrm>
                <a:off x="3984" y="2160"/>
                <a:ext cx="528" cy="144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latin typeface="Times New Roman" panose="02020603050405020304" pitchFamily="18" charset="0"/>
                  </a:rPr>
                  <a:t>cos</a:t>
                </a:r>
                <a:endParaRPr lang="en-US" altLang="zh-CN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986" name="Rectangle 71"/>
              <p:cNvSpPr/>
              <p:nvPr/>
            </p:nvSpPr>
            <p:spPr>
              <a:xfrm>
                <a:off x="4512" y="2160"/>
                <a:ext cx="768" cy="144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latin typeface="Times New Roman" panose="02020603050405020304" pitchFamily="18" charset="0"/>
                  </a:rPr>
                  <a:t>5</a:t>
                </a:r>
                <a:endParaRPr lang="en-US" altLang="zh-CN" sz="1800" b="1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40973" name="Group 72"/>
            <p:cNvGrpSpPr/>
            <p:nvPr/>
          </p:nvGrpSpPr>
          <p:grpSpPr>
            <a:xfrm>
              <a:off x="6668934" y="2630806"/>
              <a:ext cx="2057400" cy="228600"/>
              <a:chOff x="3984" y="2160"/>
              <a:chExt cx="1296" cy="144"/>
            </a:xfrm>
          </p:grpSpPr>
          <p:sp>
            <p:nvSpPr>
              <p:cNvPr id="40983" name="Rectangle 73"/>
              <p:cNvSpPr/>
              <p:nvPr/>
            </p:nvSpPr>
            <p:spPr>
              <a:xfrm>
                <a:off x="3984" y="2160"/>
                <a:ext cx="528" cy="144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latin typeface="Times New Roman" panose="02020603050405020304" pitchFamily="18" charset="0"/>
                  </a:rPr>
                  <a:t>float</a:t>
                </a:r>
                <a:endParaRPr lang="en-US" altLang="zh-CN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984" name="Rectangle 74"/>
              <p:cNvSpPr/>
              <p:nvPr/>
            </p:nvSpPr>
            <p:spPr>
              <a:xfrm>
                <a:off x="4512" y="2160"/>
                <a:ext cx="768" cy="144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latin typeface="Times New Roman" panose="02020603050405020304" pitchFamily="18" charset="0"/>
                  </a:rPr>
                  <a:t>3</a:t>
                </a:r>
                <a:endParaRPr lang="en-US" altLang="zh-CN" sz="1800" b="1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40974" name="Group 75"/>
            <p:cNvGrpSpPr/>
            <p:nvPr/>
          </p:nvGrpSpPr>
          <p:grpSpPr>
            <a:xfrm>
              <a:off x="6668934" y="2859406"/>
              <a:ext cx="2057400" cy="228600"/>
              <a:chOff x="3984" y="2160"/>
              <a:chExt cx="1296" cy="144"/>
            </a:xfrm>
          </p:grpSpPr>
          <p:sp>
            <p:nvSpPr>
              <p:cNvPr id="40981" name="Rectangle 76"/>
              <p:cNvSpPr/>
              <p:nvPr/>
            </p:nvSpPr>
            <p:spPr>
              <a:xfrm>
                <a:off x="3984" y="2160"/>
                <a:ext cx="528" cy="144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latin typeface="Times New Roman" panose="02020603050405020304" pitchFamily="18" charset="0"/>
                  </a:rPr>
                  <a:t>atol</a:t>
                </a:r>
                <a:endParaRPr lang="en-US" altLang="zh-CN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982" name="Rectangle 77"/>
              <p:cNvSpPr/>
              <p:nvPr/>
            </p:nvSpPr>
            <p:spPr>
              <a:xfrm>
                <a:off x="4512" y="2160"/>
                <a:ext cx="768" cy="144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latin typeface="Times New Roman" panose="02020603050405020304" pitchFamily="18" charset="0"/>
                  </a:rPr>
                  <a:t>9</a:t>
                </a:r>
                <a:endParaRPr lang="en-US" altLang="zh-CN" sz="1800" b="1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40975" name="Group 78"/>
            <p:cNvGrpSpPr/>
            <p:nvPr/>
          </p:nvGrpSpPr>
          <p:grpSpPr>
            <a:xfrm>
              <a:off x="6668934" y="3088006"/>
              <a:ext cx="2057400" cy="228600"/>
              <a:chOff x="3984" y="2160"/>
              <a:chExt cx="1296" cy="144"/>
            </a:xfrm>
          </p:grpSpPr>
          <p:sp>
            <p:nvSpPr>
              <p:cNvPr id="40979" name="Rectangle 79"/>
              <p:cNvSpPr/>
              <p:nvPr/>
            </p:nvSpPr>
            <p:spPr>
              <a:xfrm>
                <a:off x="3984" y="2160"/>
                <a:ext cx="528" cy="144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latin typeface="Times New Roman" panose="02020603050405020304" pitchFamily="18" charset="0"/>
                  </a:rPr>
                  <a:t>floor</a:t>
                </a:r>
                <a:endParaRPr lang="en-US" altLang="zh-CN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980" name="Rectangle 80"/>
              <p:cNvSpPr/>
              <p:nvPr/>
            </p:nvSpPr>
            <p:spPr>
              <a:xfrm>
                <a:off x="4512" y="2160"/>
                <a:ext cx="768" cy="144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latin typeface="Times New Roman" panose="02020603050405020304" pitchFamily="18" charset="0"/>
                  </a:rPr>
                  <a:t>5</a:t>
                </a:r>
                <a:endParaRPr lang="en-US" altLang="zh-CN" sz="1800" b="1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40976" name="Group 81"/>
            <p:cNvGrpSpPr/>
            <p:nvPr/>
          </p:nvGrpSpPr>
          <p:grpSpPr>
            <a:xfrm>
              <a:off x="6668934" y="3316606"/>
              <a:ext cx="2057400" cy="228600"/>
              <a:chOff x="3984" y="2160"/>
              <a:chExt cx="1296" cy="144"/>
            </a:xfrm>
          </p:grpSpPr>
          <p:sp>
            <p:nvSpPr>
              <p:cNvPr id="40977" name="Rectangle 82"/>
              <p:cNvSpPr/>
              <p:nvPr/>
            </p:nvSpPr>
            <p:spPr>
              <a:xfrm>
                <a:off x="3984" y="2160"/>
                <a:ext cx="528" cy="144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latin typeface="Times New Roman" panose="02020603050405020304" pitchFamily="18" charset="0"/>
                  </a:rPr>
                  <a:t>ctime</a:t>
                </a:r>
                <a:endParaRPr lang="en-US" altLang="zh-CN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978" name="Rectangle 83"/>
              <p:cNvSpPr/>
              <p:nvPr/>
            </p:nvSpPr>
            <p:spPr>
              <a:xfrm>
                <a:off x="4512" y="2160"/>
                <a:ext cx="768" cy="144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latin typeface="Times New Roman" panose="02020603050405020304" pitchFamily="18" charset="0"/>
                  </a:rPr>
                  <a:t>9</a:t>
                </a:r>
                <a:endParaRPr lang="en-US" altLang="zh-CN" sz="1800" b="1" dirty="0">
                  <a:latin typeface="Times New Roman" panose="02020603050405020304" pitchFamily="18" charset="0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0855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8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49" grpId="0" animBg="1"/>
      <p:bldP spid="10855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AutoShape 5"/>
          <p:cNvSpPr/>
          <p:nvPr/>
        </p:nvSpPr>
        <p:spPr>
          <a:xfrm>
            <a:off x="533400" y="260350"/>
            <a:ext cx="8153400" cy="6140450"/>
          </a:xfrm>
          <a:prstGeom prst="foldedCorner">
            <a:avLst>
              <a:gd name="adj" fmla="val 8102"/>
            </a:avLst>
          </a:prstGeom>
          <a:gradFill rotWithShape="0">
            <a:gsLst>
              <a:gs pos="0">
                <a:srgbClr val="FFFFFF"/>
              </a:gs>
              <a:gs pos="100000">
                <a:schemeClr val="bg1"/>
              </a:gs>
            </a:gsLst>
            <a:lin ang="5400000" scaled="1"/>
            <a:tileRect/>
          </a:gra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lIns="126000" tIns="1548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HashTable InitializeTable( int TableSize)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{   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  HashTable H</a:t>
            </a:r>
            <a:r>
              <a:rPr lang="zh-CN" altLang="en-US" sz="1800" b="1" dirty="0">
                <a:latin typeface="Arial" panose="020B0604020202020204" pitchFamily="34" charset="0"/>
              </a:rPr>
              <a:t>；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  int i;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  H=malloc( sizeof (struct HashTbl));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  if (H==NULL) ERROR (“Out of space”);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 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   H-&gt;TableSize=NextPrime(TableSize);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  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    H-&gt;TheCells=malloc( sizeof(Cell) * H-&gt;TableSize);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    if (H-&gt;TheCells==NULL) ERROR(“Out of space”);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    for (i=0; i&lt;H-&gt;TableSize; i++)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          H-&gt;TheCells[ i ].Info =  Empty;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    return H;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}</a:t>
            </a:r>
            <a:endParaRPr lang="en-US" altLang="zh-CN" sz="1800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AutoShape 5"/>
          <p:cNvSpPr/>
          <p:nvPr/>
        </p:nvSpPr>
        <p:spPr>
          <a:xfrm>
            <a:off x="395288" y="115888"/>
            <a:ext cx="8153400" cy="3657600"/>
          </a:xfrm>
          <a:prstGeom prst="foldedCorner">
            <a:avLst>
              <a:gd name="adj" fmla="val 8102"/>
            </a:avLst>
          </a:prstGeom>
          <a:gradFill rotWithShape="0">
            <a:gsLst>
              <a:gs pos="0">
                <a:srgbClr val="FFFFFF"/>
              </a:gs>
              <a:gs pos="100000">
                <a:schemeClr val="bg1"/>
              </a:gs>
            </a:gsLst>
            <a:lin ang="5400000" scaled="1"/>
            <a:tileRect/>
          </a:gra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lIns="126000" tIns="1548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Position  Find ( ElementType Key, HashTable H )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{   Position  CurrentPos;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</a:t>
            </a: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int</a:t>
            </a:r>
            <a:r>
              <a:rPr lang="en-US" altLang="zh-CN" sz="1800" b="1" dirty="0">
                <a:latin typeface="Arial" panose="020B0604020202020204" pitchFamily="34" charset="0"/>
              </a:rPr>
              <a:t>  CollisionNum;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CollisionNum = 0;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CurrentPos = Hash( Key, H-&gt;TableSize );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</a:t>
            </a: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while</a:t>
            </a:r>
            <a:r>
              <a:rPr lang="en-US" altLang="zh-CN" sz="1800" b="1" dirty="0">
                <a:latin typeface="Arial" panose="020B0604020202020204" pitchFamily="34" charset="0"/>
              </a:rPr>
              <a:t>( H-&gt;TheCells[ CurrentPos ].Info != Empty &amp;&amp;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	H-&gt;TheCells[ CurrentPos ].Element != Key ) {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	CurrentPos += 2 * ++CollisionNum </a:t>
            </a:r>
            <a:r>
              <a:rPr lang="en-US" altLang="zh-CN" sz="1800" b="1" dirty="0">
                <a:latin typeface="Arial" panose="020B0604020202020204" pitchFamily="34" charset="0"/>
                <a:sym typeface="Symbol" panose="05050102010706020507" pitchFamily="18" charset="2"/>
              </a:rPr>
              <a:t></a:t>
            </a:r>
            <a:r>
              <a:rPr lang="en-US" altLang="zh-CN" sz="1800" b="1" dirty="0">
                <a:latin typeface="Arial" panose="020B0604020202020204" pitchFamily="34" charset="0"/>
              </a:rPr>
              <a:t> 1;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	</a:t>
            </a: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if </a:t>
            </a:r>
            <a:r>
              <a:rPr lang="en-US" altLang="zh-CN" sz="1800" b="1" dirty="0">
                <a:latin typeface="Arial" panose="020B0604020202020204" pitchFamily="34" charset="0"/>
              </a:rPr>
              <a:t>( CurrentPos &gt;= H-&gt;TableSize )  CurrentPos </a:t>
            </a:r>
            <a:r>
              <a:rPr lang="en-US" altLang="zh-CN" sz="1800" b="1" dirty="0">
                <a:latin typeface="Arial" panose="020B0604020202020204" pitchFamily="34" charset="0"/>
                <a:sym typeface="Symbol" panose="05050102010706020507" pitchFamily="18" charset="2"/>
              </a:rPr>
              <a:t></a:t>
            </a:r>
            <a:r>
              <a:rPr lang="en-US" altLang="zh-CN" sz="1800" b="1" dirty="0">
                <a:latin typeface="Arial" panose="020B0604020202020204" pitchFamily="34" charset="0"/>
              </a:rPr>
              <a:t> = H-&gt;TableSize;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}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</a:t>
            </a: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return</a:t>
            </a:r>
            <a:r>
              <a:rPr lang="en-US" altLang="zh-CN" sz="1800" b="1" dirty="0">
                <a:latin typeface="Arial" panose="020B0604020202020204" pitchFamily="34" charset="0"/>
              </a:rPr>
              <a:t> CurrentPos;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} </a:t>
            </a:r>
            <a:endParaRPr lang="en-US" altLang="zh-CN" sz="1800" b="1" dirty="0">
              <a:latin typeface="Arial" panose="020B0604020202020204" pitchFamily="34" charset="0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395288" y="3994150"/>
            <a:ext cx="8208962" cy="2819400"/>
          </a:xfrm>
          <a:prstGeom prst="foldedCorner">
            <a:avLst>
              <a:gd name="adj" fmla="val 10532"/>
            </a:avLst>
          </a:prstGeom>
          <a:gradFill rotWithShape="0">
            <a:gsLst>
              <a:gs pos="0">
                <a:srgbClr val="FFFFFF"/>
              </a:gs>
              <a:gs pos="100000">
                <a:schemeClr val="bg1"/>
              </a:gs>
            </a:gsLst>
            <a:lin ang="5400000" scaled="1"/>
            <a:tileRect/>
          </a:gra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lIns="126000" tIns="1548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void</a:t>
            </a:r>
            <a:r>
              <a:rPr lang="en-US" altLang="zh-CN" sz="1800" b="1" dirty="0">
                <a:latin typeface="Arial" panose="020B0604020202020204" pitchFamily="34" charset="0"/>
              </a:rPr>
              <a:t>  Insert ( ElementType Key, HashTable H )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{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Position  Pos;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Pos = Find( Key, H );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</a:t>
            </a: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if</a:t>
            </a:r>
            <a:r>
              <a:rPr lang="en-US" altLang="zh-CN" sz="1800" b="1" dirty="0">
                <a:latin typeface="Arial" panose="020B0604020202020204" pitchFamily="34" charset="0"/>
              </a:rPr>
              <a:t> ( H-&gt;TheCells[ Pos ].Info != Legitimate ) { </a:t>
            </a:r>
            <a:r>
              <a:rPr lang="en-US" altLang="zh-CN" sz="1800" b="1" dirty="0">
                <a:solidFill>
                  <a:srgbClr val="008000"/>
                </a:solidFill>
                <a:latin typeface="Arial" panose="020B0604020202020204" pitchFamily="34" charset="0"/>
              </a:rPr>
              <a:t>/* OK to insert here */</a:t>
            </a:r>
            <a:r>
              <a:rPr lang="en-US" altLang="zh-CN" sz="1800" b="1" dirty="0">
                <a:latin typeface="Arial" panose="020B0604020202020204" pitchFamily="34" charset="0"/>
              </a:rPr>
              <a:t>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	H-&gt;TheCells[ Pos ].Info = Legitimate;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	H-&gt;TheCells[ Pos ].Element = Key; </a:t>
            </a:r>
            <a:r>
              <a:rPr lang="en-US" altLang="zh-CN" sz="1800" b="1" dirty="0">
                <a:solidFill>
                  <a:srgbClr val="008000"/>
                </a:solidFill>
                <a:latin typeface="Arial" panose="020B0604020202020204" pitchFamily="34" charset="0"/>
              </a:rPr>
              <a:t>/* Probably need strcpy */</a:t>
            </a:r>
            <a:r>
              <a:rPr lang="en-US" altLang="zh-CN" sz="1800" b="1" dirty="0">
                <a:latin typeface="Arial" panose="020B0604020202020204" pitchFamily="34" charset="0"/>
              </a:rPr>
              <a:t>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} 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} </a:t>
            </a:r>
            <a:endParaRPr lang="en-US" altLang="zh-CN" sz="1800" b="1" dirty="0">
              <a:latin typeface="Arial" panose="020B0604020202020204" pitchFamily="34" charset="0"/>
            </a:endParaRPr>
          </a:p>
        </p:txBody>
      </p:sp>
      <p:sp>
        <p:nvSpPr>
          <p:cNvPr id="4" name="AutoShape 6"/>
          <p:cNvSpPr/>
          <p:nvPr/>
        </p:nvSpPr>
        <p:spPr>
          <a:xfrm>
            <a:off x="5789613" y="44450"/>
            <a:ext cx="2590800" cy="1219200"/>
          </a:xfrm>
          <a:prstGeom prst="wedgeEllipseCallout">
            <a:avLst>
              <a:gd name="adj1" fmla="val -37991"/>
              <a:gd name="adj2" fmla="val 83074"/>
            </a:avLst>
          </a:prstGeom>
          <a:gradFill rotWithShape="0">
            <a:gsLst>
              <a:gs pos="0">
                <a:srgbClr val="C0C0C0"/>
              </a:gs>
              <a:gs pos="100000">
                <a:srgbClr val="FFFFFF"/>
              </a:gs>
            </a:gsLst>
            <a:lin ang="18900000" scaled="1"/>
            <a:tileRect/>
          </a:gra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What if these two conditions are switched?</a:t>
            </a:r>
            <a:endParaRPr lang="en-US" altLang="zh-CN" sz="1800" b="1" dirty="0">
              <a:latin typeface="Arial" panose="020B0604020202020204" pitchFamily="34" charset="0"/>
            </a:endParaRPr>
          </a:p>
        </p:txBody>
      </p:sp>
      <p:sp>
        <p:nvSpPr>
          <p:cNvPr id="5" name="AutoShape 7"/>
          <p:cNvSpPr/>
          <p:nvPr/>
        </p:nvSpPr>
        <p:spPr>
          <a:xfrm>
            <a:off x="5561013" y="44450"/>
            <a:ext cx="2971800" cy="1295400"/>
          </a:xfrm>
          <a:prstGeom prst="wedgeEllipseCallout">
            <a:avLst>
              <a:gd name="adj1" fmla="val -123023"/>
              <a:gd name="adj2" fmla="val 117648"/>
            </a:avLst>
          </a:prstGeom>
          <a:gradFill rotWithShape="0">
            <a:gsLst>
              <a:gs pos="0">
                <a:srgbClr val="C0C0C0"/>
              </a:gs>
              <a:gs pos="100000">
                <a:srgbClr val="FFFFFF"/>
              </a:gs>
            </a:gsLst>
            <a:lin ang="18900000" scaled="1"/>
            <a:tileRect/>
          </a:gra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1800" b="1" dirty="0">
                <a:latin typeface="Times New Roman" panose="02020603050405020304" pitchFamily="18" charset="0"/>
              </a:rPr>
              <a:t>(</a:t>
            </a:r>
            <a:r>
              <a:rPr lang="en-US" altLang="zh-CN" sz="1800" b="1" i="1" dirty="0">
                <a:latin typeface="Times New Roman" panose="02020603050405020304" pitchFamily="18" charset="0"/>
              </a:rPr>
              <a:t>i</a:t>
            </a:r>
            <a:r>
              <a:rPr lang="en-US" altLang="zh-CN" sz="1800" b="1" dirty="0">
                <a:latin typeface="Times New Roman" panose="02020603050405020304" pitchFamily="18" charset="0"/>
              </a:rPr>
              <a:t>)=</a:t>
            </a:r>
            <a:r>
              <a:rPr lang="en-US" altLang="zh-CN" sz="18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1800" b="1" dirty="0">
                <a:latin typeface="Times New Roman" panose="02020603050405020304" pitchFamily="18" charset="0"/>
              </a:rPr>
              <a:t>(</a:t>
            </a:r>
            <a:r>
              <a:rPr lang="en-US" altLang="zh-CN" sz="1800" b="1" i="1" dirty="0">
                <a:latin typeface="Times New Roman" panose="02020603050405020304" pitchFamily="18" charset="0"/>
              </a:rPr>
              <a:t>i</a:t>
            </a:r>
            <a:r>
              <a:rPr lang="en-US" altLang="zh-CN" sz="1800" b="1" dirty="0">
                <a:latin typeface="Arial" panose="020B0604020202020204" pitchFamily="34" charset="0"/>
                <a:sym typeface="Symbol" panose="05050102010706020507" pitchFamily="18" charset="2"/>
              </a:rPr>
              <a:t></a:t>
            </a:r>
            <a:r>
              <a:rPr lang="en-US" altLang="zh-CN" sz="1800" b="1" dirty="0">
                <a:latin typeface="Times New Roman" panose="02020603050405020304" pitchFamily="18" charset="0"/>
              </a:rPr>
              <a:t>1)+2</a:t>
            </a:r>
            <a:r>
              <a:rPr lang="en-US" altLang="zh-CN" sz="1800" b="1" i="1" dirty="0">
                <a:latin typeface="Times New Roman" panose="02020603050405020304" pitchFamily="18" charset="0"/>
              </a:rPr>
              <a:t>i</a:t>
            </a:r>
            <a:r>
              <a:rPr lang="en-US" altLang="zh-CN" sz="1800" b="1" dirty="0">
                <a:latin typeface="Arial" panose="020B0604020202020204" pitchFamily="34" charset="0"/>
                <a:sym typeface="Symbol" panose="05050102010706020507" pitchFamily="18" charset="2"/>
              </a:rPr>
              <a:t></a:t>
            </a:r>
            <a:r>
              <a:rPr lang="en-US" altLang="zh-CN" sz="1800" b="1" dirty="0">
                <a:latin typeface="Times New Roman" panose="02020603050405020304" pitchFamily="18" charset="0"/>
              </a:rPr>
              <a:t>1</a:t>
            </a:r>
            <a:endParaRPr lang="en-US" altLang="zh-CN" sz="1800" b="1" i="1" dirty="0">
              <a:latin typeface="Times New Roman" panose="02020603050405020304" pitchFamily="18" charset="0"/>
            </a:endParaRP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where 2* is really a bit shift</a:t>
            </a:r>
            <a:endParaRPr lang="en-US" altLang="zh-CN" sz="1800" b="1" dirty="0">
              <a:latin typeface="Arial" panose="020B0604020202020204" pitchFamily="34" charset="0"/>
            </a:endParaRPr>
          </a:p>
        </p:txBody>
      </p:sp>
      <p:sp>
        <p:nvSpPr>
          <p:cNvPr id="6" name="AutoShape 8"/>
          <p:cNvSpPr/>
          <p:nvPr/>
        </p:nvSpPr>
        <p:spPr>
          <a:xfrm>
            <a:off x="5942013" y="196850"/>
            <a:ext cx="2286000" cy="1143000"/>
          </a:xfrm>
          <a:prstGeom prst="wedgeEllipseCallout">
            <a:avLst>
              <a:gd name="adj1" fmla="val -27639"/>
              <a:gd name="adj2" fmla="val 160694"/>
            </a:avLst>
          </a:prstGeom>
          <a:gradFill rotWithShape="0">
            <a:gsLst>
              <a:gs pos="0">
                <a:srgbClr val="C0C0C0"/>
              </a:gs>
              <a:gs pos="100000">
                <a:srgbClr val="FFFFFF"/>
              </a:gs>
            </a:gsLst>
            <a:lin ang="18900000" scaled="1"/>
            <a:tileRect/>
          </a:gra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Faster than mod</a:t>
            </a:r>
            <a:endParaRPr lang="en-US" altLang="zh-CN" sz="1800" b="1" dirty="0">
              <a:latin typeface="Arial" panose="020B0604020202020204" pitchFamily="34" charset="0"/>
            </a:endParaRPr>
          </a:p>
        </p:txBody>
      </p:sp>
      <p:sp>
        <p:nvSpPr>
          <p:cNvPr id="7" name="AutoShape 9"/>
          <p:cNvSpPr/>
          <p:nvPr/>
        </p:nvSpPr>
        <p:spPr>
          <a:xfrm>
            <a:off x="5484813" y="349250"/>
            <a:ext cx="2895600" cy="1219200"/>
          </a:xfrm>
          <a:prstGeom prst="wedgeEllipseCallout">
            <a:avLst>
              <a:gd name="adj1" fmla="val -150440"/>
              <a:gd name="adj2" fmla="val 167190"/>
            </a:avLst>
          </a:prstGeom>
          <a:gradFill rotWithShape="0">
            <a:gsLst>
              <a:gs pos="0">
                <a:srgbClr val="C0C0C0"/>
              </a:gs>
              <a:gs pos="100000">
                <a:srgbClr val="FFFFFF"/>
              </a:gs>
            </a:gsLst>
            <a:lin ang="18900000" scaled="1"/>
            <a:tileRect/>
          </a:gra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What is returned?</a:t>
            </a:r>
            <a:endParaRPr lang="en-US" altLang="zh-CN" sz="1800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10595" name="Text Box 3"/>
          <p:cNvSpPr txBox="1"/>
          <p:nvPr/>
        </p:nvSpPr>
        <p:spPr>
          <a:xfrm>
            <a:off x="381000" y="76200"/>
            <a:ext cx="3614738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ym typeface="Wingdings" panose="05000000000000000000" pitchFamily="2" charset="2"/>
              </a:rPr>
              <a:t>3. Double Hashing</a:t>
            </a:r>
            <a:endParaRPr lang="en-US" altLang="zh-CN" sz="2400" b="1" dirty="0"/>
          </a:p>
        </p:txBody>
      </p:sp>
      <p:sp>
        <p:nvSpPr>
          <p:cNvPr id="110596" name="Rectangle 4" descr="新闻纸"/>
          <p:cNvSpPr/>
          <p:nvPr/>
        </p:nvSpPr>
        <p:spPr>
          <a:xfrm>
            <a:off x="533400" y="609600"/>
            <a:ext cx="8001000" cy="685800"/>
          </a:xfrm>
          <a:prstGeom prst="rect">
            <a:avLst/>
          </a:prstGeom>
          <a:blipFill rotWithShape="0">
            <a:blip r:embed="rId1"/>
          </a:blipFill>
          <a:ln w="25400">
            <a:noFill/>
          </a:ln>
          <a:effectLst>
            <a:outerShdw dist="107763" dir="2699999" algn="ctr" rotWithShape="0">
              <a:srgbClr val="B2B2B2"/>
            </a:outer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( </a:t>
            </a:r>
            <a:r>
              <a:rPr lang="en-US" altLang="zh-CN" sz="28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i</a:t>
            </a:r>
            <a:r>
              <a:rPr lang="en-US" altLang="zh-CN" sz="28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) </a:t>
            </a:r>
            <a:r>
              <a:rPr lang="en-US" altLang="zh-CN" sz="2800" b="1" dirty="0">
                <a:latin typeface="Times New Roman" panose="02020603050405020304" pitchFamily="18" charset="0"/>
              </a:rPr>
              <a:t>=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i </a:t>
            </a:r>
            <a:r>
              <a:rPr lang="en-US" altLang="zh-CN" sz="2800" b="1" dirty="0">
                <a:latin typeface="Times New Roman" panose="02020603050405020304" pitchFamily="18" charset="0"/>
              </a:rPr>
              <a:t>* hash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latin typeface="Times New Roman" panose="02020603050405020304" pitchFamily="18" charset="0"/>
              </a:rPr>
              <a:t>(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 </a:t>
            </a:r>
            <a:r>
              <a:rPr lang="en-US" altLang="zh-CN" sz="2800" b="1" dirty="0">
                <a:latin typeface="Times New Roman" panose="02020603050405020304" pitchFamily="18" charset="0"/>
              </a:rPr>
              <a:t>);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   </a:t>
            </a:r>
            <a:r>
              <a:rPr lang="en-US" altLang="zh-CN" sz="20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/* hash</a:t>
            </a:r>
            <a:r>
              <a:rPr lang="en-US" altLang="zh-CN" sz="2000" b="1" baseline="-25000" dirty="0">
                <a:solidFill>
                  <a:schemeClr val="hlink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0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( </a:t>
            </a:r>
            <a:r>
              <a:rPr lang="en-US" altLang="zh-CN" sz="2000" b="1" i="1" dirty="0">
                <a:solidFill>
                  <a:schemeClr val="hlink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0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 ) is the 2</a:t>
            </a:r>
            <a:r>
              <a:rPr lang="en-US" altLang="zh-CN" sz="2000" b="1" baseline="30000" dirty="0">
                <a:solidFill>
                  <a:schemeClr val="hlink"/>
                </a:solidFill>
                <a:latin typeface="Times New Roman" panose="02020603050405020304" pitchFamily="18" charset="0"/>
              </a:rPr>
              <a:t>nd</a:t>
            </a:r>
            <a:r>
              <a:rPr lang="en-US" altLang="zh-CN" sz="20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 hash function */</a:t>
            </a:r>
            <a:endParaRPr lang="en-US" altLang="zh-CN" sz="2000" b="1" dirty="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0597" name="Rectangle 5"/>
          <p:cNvSpPr/>
          <p:nvPr/>
        </p:nvSpPr>
        <p:spPr>
          <a:xfrm>
            <a:off x="2971800" y="1371600"/>
            <a:ext cx="6172200" cy="579438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b="1" dirty="0">
                <a:solidFill>
                  <a:schemeClr val="hlink"/>
                </a:solidFill>
                <a:latin typeface="Times New Roman" panose="02020603050405020304" pitchFamily="18" charset="0"/>
                <a:sym typeface="Webdings" panose="05030102010509060703" pitchFamily="18" charset="2"/>
              </a:rPr>
              <a:t> </a:t>
            </a:r>
            <a:r>
              <a:rPr lang="en-US" altLang="zh-CN" sz="2000" b="1" dirty="0"/>
              <a:t>make sure that all cells can be probed.</a:t>
            </a:r>
            <a:endParaRPr lang="en-US" altLang="zh-CN" sz="2000" b="1" dirty="0"/>
          </a:p>
        </p:txBody>
      </p:sp>
      <p:grpSp>
        <p:nvGrpSpPr>
          <p:cNvPr id="2" name="Group 6"/>
          <p:cNvGrpSpPr/>
          <p:nvPr/>
        </p:nvGrpSpPr>
        <p:grpSpPr>
          <a:xfrm>
            <a:off x="381000" y="1371600"/>
            <a:ext cx="2819400" cy="579438"/>
            <a:chOff x="240" y="912"/>
            <a:chExt cx="1776" cy="365"/>
          </a:xfrm>
        </p:grpSpPr>
        <p:sp>
          <p:nvSpPr>
            <p:cNvPr id="44040" name="Rectangle 7"/>
            <p:cNvSpPr/>
            <p:nvPr/>
          </p:nvSpPr>
          <p:spPr>
            <a:xfrm>
              <a:off x="240" y="912"/>
              <a:ext cx="1776" cy="365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b="1" dirty="0">
                  <a:solidFill>
                    <a:schemeClr val="hlink"/>
                  </a:solidFill>
                  <a:latin typeface="Times New Roman" panose="02020603050405020304" pitchFamily="18" charset="0"/>
                  <a:sym typeface="Webdings" panose="05030102010509060703" pitchFamily="18" charset="2"/>
                </a:rPr>
                <a:t> 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hash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( 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 ) </a:t>
              </a:r>
              <a:r>
                <a:rPr lang="en-US" altLang="zh-CN" sz="2400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 0 ;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041" name="Line 8"/>
            <p:cNvSpPr/>
            <p:nvPr/>
          </p:nvSpPr>
          <p:spPr>
            <a:xfrm>
              <a:off x="1440" y="1056"/>
              <a:ext cx="96" cy="19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10601" name="Text Box 9"/>
          <p:cNvSpPr txBox="1"/>
          <p:nvPr/>
        </p:nvSpPr>
        <p:spPr>
          <a:xfrm>
            <a:off x="457200" y="1905000"/>
            <a:ext cx="8001000" cy="944563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860425" lvl="0" indent="-860425" eaLnBrk="1" hangingPunct="1">
              <a:spcBef>
                <a:spcPct val="50000"/>
              </a:spcBef>
              <a:buNone/>
            </a:pPr>
            <a:r>
              <a:rPr lang="en-US" altLang="zh-CN" b="1" dirty="0">
                <a:solidFill>
                  <a:schemeClr val="hlink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 </a:t>
            </a:r>
            <a:r>
              <a:rPr lang="en-US" altLang="zh-CN" sz="2000" b="1" dirty="0">
                <a:solidFill>
                  <a:schemeClr val="hlink"/>
                </a:solidFill>
                <a:latin typeface="Arial" panose="020B0604020202020204" pitchFamily="34" charset="0"/>
              </a:rPr>
              <a:t>Tip:</a:t>
            </a:r>
            <a:r>
              <a:rPr lang="en-US" altLang="zh-CN" sz="20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rgbClr val="008000"/>
                </a:solidFill>
                <a:latin typeface="Times New Roman" panose="02020603050405020304" pitchFamily="18" charset="0"/>
              </a:rPr>
              <a:t>hash</a:t>
            </a:r>
            <a:r>
              <a:rPr lang="en-US" altLang="zh-CN" sz="2400" b="1" baseline="-25000" dirty="0">
                <a:solidFill>
                  <a:srgbClr val="008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400" b="1" dirty="0">
                <a:solidFill>
                  <a:srgbClr val="008000"/>
                </a:solidFill>
                <a:latin typeface="Times New Roman" panose="02020603050405020304" pitchFamily="18" charset="0"/>
              </a:rPr>
              <a:t>( </a:t>
            </a:r>
            <a:r>
              <a:rPr lang="en-US" altLang="zh-CN" sz="2400" b="1" i="1" dirty="0">
                <a:solidFill>
                  <a:srgbClr val="008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solidFill>
                  <a:srgbClr val="008000"/>
                </a:solidFill>
                <a:latin typeface="Times New Roman" panose="02020603050405020304" pitchFamily="18" charset="0"/>
              </a:rPr>
              <a:t> ) = </a:t>
            </a:r>
            <a:r>
              <a:rPr lang="en-US" altLang="zh-CN" sz="2400" b="1" i="1" dirty="0">
                <a:solidFill>
                  <a:srgbClr val="008000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400" b="1" dirty="0">
                <a:solidFill>
                  <a:srgbClr val="008000"/>
                </a:solidFill>
                <a:latin typeface="Times New Roman" panose="02020603050405020304" pitchFamily="18" charset="0"/>
              </a:rPr>
              <a:t> – ( </a:t>
            </a:r>
            <a:r>
              <a:rPr lang="en-US" altLang="zh-CN" sz="2400" b="1" i="1" dirty="0">
                <a:solidFill>
                  <a:srgbClr val="008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solidFill>
                  <a:srgbClr val="008000"/>
                </a:solidFill>
                <a:latin typeface="Times New Roman" panose="02020603050405020304" pitchFamily="18" charset="0"/>
              </a:rPr>
              <a:t> % </a:t>
            </a:r>
            <a:r>
              <a:rPr lang="en-US" altLang="zh-CN" sz="2400" b="1" i="1" dirty="0">
                <a:solidFill>
                  <a:srgbClr val="008000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400" b="1" dirty="0">
                <a:solidFill>
                  <a:srgbClr val="008000"/>
                </a:solidFill>
                <a:latin typeface="Times New Roman" panose="02020603050405020304" pitchFamily="18" charset="0"/>
              </a:rPr>
              <a:t> )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/>
              <a:t>with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/>
              <a:t>a prime smaller than 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TableSize</a:t>
            </a:r>
            <a:r>
              <a:rPr lang="en-US" altLang="zh-CN" sz="2400" b="1" dirty="0"/>
              <a:t>, will work well.</a:t>
            </a:r>
            <a:endParaRPr lang="en-US" altLang="zh-CN" sz="2400" b="1" dirty="0"/>
          </a:p>
        </p:txBody>
      </p:sp>
      <p:sp>
        <p:nvSpPr>
          <p:cNvPr id="110602" name="AutoShape 10" descr="再生纸"/>
          <p:cNvSpPr/>
          <p:nvPr/>
        </p:nvSpPr>
        <p:spPr>
          <a:xfrm>
            <a:off x="611188" y="3284538"/>
            <a:ext cx="8281987" cy="3124200"/>
          </a:xfrm>
          <a:prstGeom prst="roundRect">
            <a:avLst>
              <a:gd name="adj" fmla="val 6046"/>
            </a:avLst>
          </a:prstGeom>
          <a:blipFill rotWithShape="0">
            <a:blip r:embed="rId2"/>
          </a:blipFill>
          <a:ln w="25400">
            <a:noFill/>
          </a:ln>
          <a:effectLst>
            <a:outerShdw dist="107763" dir="2699999" algn="ctr" rotWithShape="0">
              <a:schemeClr val="bg2"/>
            </a:outerShdw>
          </a:effectLst>
        </p:spPr>
        <p:txBody>
          <a:bodyPr lIns="126000" tIns="82800" rIns="126000" bIns="82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767080" lvl="0" indent="-76708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hlink"/>
                </a:solidFill>
              </a:rPr>
              <a:t>Note:</a:t>
            </a:r>
            <a:r>
              <a:rPr lang="en-US" altLang="zh-CN" sz="2400" b="1" dirty="0"/>
              <a:t> </a:t>
            </a:r>
            <a:r>
              <a:rPr lang="en-US" altLang="zh-CN" sz="2400" b="1" dirty="0">
                <a:sym typeface="Wingdings" panose="05000000000000000000" pitchFamily="2" charset="2"/>
              </a:rPr>
              <a:t> </a:t>
            </a:r>
            <a:r>
              <a:rPr lang="en-US" altLang="zh-CN" sz="2400" b="1" dirty="0"/>
              <a:t>If double hashing is correctly implemented, simulations imply that the </a:t>
            </a:r>
            <a:r>
              <a:rPr lang="en-US" altLang="zh-CN" sz="2400" b="1" dirty="0">
                <a:solidFill>
                  <a:schemeClr val="hlink"/>
                </a:solidFill>
              </a:rPr>
              <a:t>expected</a:t>
            </a:r>
            <a:r>
              <a:rPr lang="en-US" altLang="zh-CN" sz="2400" b="1" dirty="0"/>
              <a:t> number of probes is almost the same as for a </a:t>
            </a:r>
            <a:r>
              <a:rPr lang="en-US" altLang="zh-CN" sz="2400" b="1" dirty="0">
                <a:solidFill>
                  <a:schemeClr val="hlink"/>
                </a:solidFill>
              </a:rPr>
              <a:t>random</a:t>
            </a:r>
            <a:r>
              <a:rPr lang="en-US" altLang="zh-CN" sz="2400" b="1" dirty="0"/>
              <a:t> collision resolution strategy.</a:t>
            </a:r>
            <a:endParaRPr lang="en-US" altLang="zh-CN" sz="2400" b="1" dirty="0"/>
          </a:p>
          <a:p>
            <a:pPr marL="767080" lvl="0" indent="-767080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          </a:t>
            </a:r>
            <a:r>
              <a:rPr lang="en-US" altLang="zh-CN" sz="2400" b="1" dirty="0">
                <a:sym typeface="Wingdings" panose="05000000000000000000" pitchFamily="2" charset="2"/>
              </a:rPr>
              <a:t></a:t>
            </a:r>
            <a:r>
              <a:rPr lang="en-US" altLang="zh-CN" sz="2400" b="1" dirty="0"/>
              <a:t> Quadratic probing does not require the use of a second hash function and is thus likely to be </a:t>
            </a:r>
            <a:r>
              <a:rPr lang="en-US" altLang="zh-CN" sz="2400" b="1" dirty="0">
                <a:solidFill>
                  <a:schemeClr val="hlink"/>
                </a:solidFill>
              </a:rPr>
              <a:t>simpler and faster</a:t>
            </a:r>
            <a:r>
              <a:rPr lang="en-US" altLang="zh-CN" sz="2400" b="1" dirty="0"/>
              <a:t> in practice.</a:t>
            </a:r>
            <a:endParaRPr lang="en-US" altLang="zh-CN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0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10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10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10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10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595" grpId="0"/>
      <p:bldP spid="110596" grpId="0" animBg="1"/>
      <p:bldP spid="110597" grpId="0"/>
      <p:bldP spid="110601" grpId="0"/>
      <p:bldP spid="110602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48130" name="Text Box 2"/>
          <p:cNvSpPr txBox="1"/>
          <p:nvPr/>
        </p:nvSpPr>
        <p:spPr>
          <a:xfrm>
            <a:off x="381000" y="152400"/>
            <a:ext cx="28194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dirty="0">
                <a:sym typeface="Webdings" panose="05030102010509060703" pitchFamily="18" charset="2"/>
              </a:rPr>
              <a:t>4  Rehashing</a:t>
            </a:r>
            <a:endParaRPr lang="en-US" altLang="zh-CN" sz="1800" b="1" dirty="0"/>
          </a:p>
        </p:txBody>
      </p:sp>
      <p:grpSp>
        <p:nvGrpSpPr>
          <p:cNvPr id="2" name="Group 3"/>
          <p:cNvGrpSpPr/>
          <p:nvPr/>
        </p:nvGrpSpPr>
        <p:grpSpPr>
          <a:xfrm>
            <a:off x="6019800" y="4191000"/>
            <a:ext cx="2286000" cy="1985963"/>
            <a:chOff x="1680" y="2373"/>
            <a:chExt cx="2038" cy="1758"/>
          </a:xfrm>
        </p:grpSpPr>
        <p:grpSp>
          <p:nvGrpSpPr>
            <p:cNvPr id="45074" name="Group 4"/>
            <p:cNvGrpSpPr/>
            <p:nvPr/>
          </p:nvGrpSpPr>
          <p:grpSpPr>
            <a:xfrm rot="4724383" flipH="1">
              <a:off x="2718" y="2714"/>
              <a:ext cx="256" cy="751"/>
              <a:chOff x="1902" y="2055"/>
              <a:chExt cx="318" cy="912"/>
            </a:xfrm>
          </p:grpSpPr>
          <p:grpSp>
            <p:nvGrpSpPr>
              <p:cNvPr id="45110" name="Group 5"/>
              <p:cNvGrpSpPr/>
              <p:nvPr/>
            </p:nvGrpSpPr>
            <p:grpSpPr>
              <a:xfrm>
                <a:off x="1902" y="2711"/>
                <a:ext cx="285" cy="256"/>
                <a:chOff x="1902" y="2711"/>
                <a:chExt cx="285" cy="256"/>
              </a:xfrm>
            </p:grpSpPr>
            <p:sp>
              <p:nvSpPr>
                <p:cNvPr id="45113" name="Freeform 6"/>
                <p:cNvSpPr/>
                <p:nvPr/>
              </p:nvSpPr>
              <p:spPr>
                <a:xfrm>
                  <a:off x="1902" y="2711"/>
                  <a:ext cx="285" cy="256"/>
                </a:xfrm>
                <a:custGeom>
                  <a:avLst/>
                  <a:gdLst>
                    <a:gd name="txL" fmla="*/ 0 w 571"/>
                    <a:gd name="txT" fmla="*/ 0 h 510"/>
                    <a:gd name="txR" fmla="*/ 571 w 571"/>
                    <a:gd name="txB" fmla="*/ 510 h 510"/>
                  </a:gdLst>
                  <a:ahLst/>
                  <a:cxnLst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0"/>
                    </a:cxn>
                    <a:cxn ang="0">
                      <a:pos x="0" y="1"/>
                    </a:cxn>
                  </a:cxnLst>
                  <a:rect l="txL" t="txT" r="txR" b="txB"/>
                  <a:pathLst>
                    <a:path w="571" h="510">
                      <a:moveTo>
                        <a:pt x="88" y="64"/>
                      </a:moveTo>
                      <a:lnTo>
                        <a:pt x="50" y="130"/>
                      </a:lnTo>
                      <a:lnTo>
                        <a:pt x="38" y="156"/>
                      </a:lnTo>
                      <a:lnTo>
                        <a:pt x="31" y="184"/>
                      </a:lnTo>
                      <a:lnTo>
                        <a:pt x="24" y="225"/>
                      </a:lnTo>
                      <a:lnTo>
                        <a:pt x="24" y="264"/>
                      </a:lnTo>
                      <a:lnTo>
                        <a:pt x="29" y="302"/>
                      </a:lnTo>
                      <a:lnTo>
                        <a:pt x="45" y="337"/>
                      </a:lnTo>
                      <a:lnTo>
                        <a:pt x="78" y="361"/>
                      </a:lnTo>
                      <a:lnTo>
                        <a:pt x="43" y="340"/>
                      </a:lnTo>
                      <a:lnTo>
                        <a:pt x="29" y="338"/>
                      </a:lnTo>
                      <a:lnTo>
                        <a:pt x="10" y="345"/>
                      </a:lnTo>
                      <a:lnTo>
                        <a:pt x="3" y="357"/>
                      </a:lnTo>
                      <a:lnTo>
                        <a:pt x="0" y="373"/>
                      </a:lnTo>
                      <a:lnTo>
                        <a:pt x="5" y="387"/>
                      </a:lnTo>
                      <a:lnTo>
                        <a:pt x="15" y="404"/>
                      </a:lnTo>
                      <a:lnTo>
                        <a:pt x="60" y="437"/>
                      </a:lnTo>
                      <a:lnTo>
                        <a:pt x="128" y="463"/>
                      </a:lnTo>
                      <a:lnTo>
                        <a:pt x="158" y="474"/>
                      </a:lnTo>
                      <a:lnTo>
                        <a:pt x="191" y="479"/>
                      </a:lnTo>
                      <a:lnTo>
                        <a:pt x="218" y="479"/>
                      </a:lnTo>
                      <a:lnTo>
                        <a:pt x="248" y="488"/>
                      </a:lnTo>
                      <a:lnTo>
                        <a:pt x="284" y="500"/>
                      </a:lnTo>
                      <a:lnTo>
                        <a:pt x="366" y="510"/>
                      </a:lnTo>
                      <a:lnTo>
                        <a:pt x="463" y="489"/>
                      </a:lnTo>
                      <a:lnTo>
                        <a:pt x="527" y="489"/>
                      </a:lnTo>
                      <a:lnTo>
                        <a:pt x="543" y="484"/>
                      </a:lnTo>
                      <a:lnTo>
                        <a:pt x="559" y="469"/>
                      </a:lnTo>
                      <a:lnTo>
                        <a:pt x="564" y="448"/>
                      </a:lnTo>
                      <a:lnTo>
                        <a:pt x="571" y="364"/>
                      </a:lnTo>
                      <a:lnTo>
                        <a:pt x="571" y="297"/>
                      </a:lnTo>
                      <a:lnTo>
                        <a:pt x="567" y="262"/>
                      </a:lnTo>
                      <a:lnTo>
                        <a:pt x="564" y="239"/>
                      </a:lnTo>
                      <a:lnTo>
                        <a:pt x="559" y="215"/>
                      </a:lnTo>
                      <a:lnTo>
                        <a:pt x="553" y="191"/>
                      </a:lnTo>
                      <a:lnTo>
                        <a:pt x="522" y="99"/>
                      </a:lnTo>
                      <a:lnTo>
                        <a:pt x="489" y="0"/>
                      </a:lnTo>
                      <a:lnTo>
                        <a:pt x="88" y="64"/>
                      </a:lnTo>
                      <a:close/>
                    </a:path>
                  </a:pathLst>
                </a:custGeom>
                <a:solidFill>
                  <a:srgbClr val="FFE0C0">
                    <a:alpha val="100000"/>
                  </a:srgbClr>
                </a:solidFill>
                <a:ln w="11113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45114" name="Arc 7"/>
                <p:cNvSpPr/>
                <p:nvPr/>
              </p:nvSpPr>
              <p:spPr>
                <a:xfrm>
                  <a:off x="1945" y="2885"/>
                  <a:ext cx="7" cy="17"/>
                </a:xfrm>
                <a:custGeom>
                  <a:avLst/>
                  <a:gdLst>
                    <a:gd name="txL" fmla="*/ 0 w 21584"/>
                    <a:gd name="txT" fmla="*/ 0 h 21468"/>
                    <a:gd name="txR" fmla="*/ 21584 w 21584"/>
                    <a:gd name="txB" fmla="*/ 21468 h 21468"/>
                  </a:gdLst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21584" h="21468" fill="none">
                      <a:moveTo>
                        <a:pt x="0" y="20627"/>
                      </a:moveTo>
                      <a:cubicBezTo>
                        <a:pt x="416" y="9948"/>
                        <a:pt x="8578" y="1180"/>
                        <a:pt x="19199" y="0"/>
                      </a:cubicBezTo>
                    </a:path>
                    <a:path w="21584" h="21468" stroke="0">
                      <a:moveTo>
                        <a:pt x="0" y="20627"/>
                      </a:moveTo>
                      <a:cubicBezTo>
                        <a:pt x="416" y="9948"/>
                        <a:pt x="8578" y="1180"/>
                        <a:pt x="19199" y="0"/>
                      </a:cubicBezTo>
                      <a:lnTo>
                        <a:pt x="21584" y="21468"/>
                      </a:lnTo>
                      <a:lnTo>
                        <a:pt x="0" y="20627"/>
                      </a:lnTo>
                      <a:close/>
                    </a:path>
                  </a:pathLst>
                </a:custGeom>
                <a:noFill/>
                <a:ln w="11113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sp>
            <p:nvSpPr>
              <p:cNvPr id="45111" name="Rectangle 8"/>
              <p:cNvSpPr/>
              <p:nvPr/>
            </p:nvSpPr>
            <p:spPr>
              <a:xfrm>
                <a:off x="1958" y="2738"/>
                <a:ext cx="239" cy="45"/>
              </a:xfrm>
              <a:prstGeom prst="rect">
                <a:avLst/>
              </a:prstGeom>
              <a:solidFill>
                <a:srgbClr val="FFFFFF"/>
              </a:solidFill>
              <a:ln w="11113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45112" name="Freeform 9"/>
              <p:cNvSpPr/>
              <p:nvPr/>
            </p:nvSpPr>
            <p:spPr>
              <a:xfrm>
                <a:off x="1937" y="2055"/>
                <a:ext cx="283" cy="704"/>
              </a:xfrm>
              <a:custGeom>
                <a:avLst/>
                <a:gdLst>
                  <a:gd name="txL" fmla="*/ 0 w 566"/>
                  <a:gd name="txT" fmla="*/ 0 h 1408"/>
                  <a:gd name="txR" fmla="*/ 566 w 566"/>
                  <a:gd name="txB" fmla="*/ 1408 h 1408"/>
                </a:gdLst>
                <a:ahLst/>
                <a:cxnLst>
                  <a:cxn ang="0">
                    <a:pos x="1" y="1"/>
                  </a:cxn>
                  <a:cxn ang="0">
                    <a:pos x="1" y="1"/>
                  </a:cxn>
                  <a:cxn ang="0">
                    <a:pos x="0" y="2"/>
                  </a:cxn>
                  <a:cxn ang="0">
                    <a:pos x="1" y="2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0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</a:cxnLst>
                <a:rect l="txL" t="txT" r="txR" b="txB"/>
                <a:pathLst>
                  <a:path w="566" h="1408">
                    <a:moveTo>
                      <a:pt x="26" y="484"/>
                    </a:moveTo>
                    <a:lnTo>
                      <a:pt x="15" y="903"/>
                    </a:lnTo>
                    <a:lnTo>
                      <a:pt x="0" y="1408"/>
                    </a:lnTo>
                    <a:lnTo>
                      <a:pt x="543" y="1403"/>
                    </a:lnTo>
                    <a:lnTo>
                      <a:pt x="548" y="873"/>
                    </a:lnTo>
                    <a:lnTo>
                      <a:pt x="547" y="599"/>
                    </a:lnTo>
                    <a:lnTo>
                      <a:pt x="566" y="314"/>
                    </a:lnTo>
                    <a:lnTo>
                      <a:pt x="560" y="247"/>
                    </a:lnTo>
                    <a:lnTo>
                      <a:pt x="555" y="200"/>
                    </a:lnTo>
                    <a:lnTo>
                      <a:pt x="545" y="151"/>
                    </a:lnTo>
                    <a:lnTo>
                      <a:pt x="534" y="120"/>
                    </a:lnTo>
                    <a:lnTo>
                      <a:pt x="515" y="85"/>
                    </a:lnTo>
                    <a:lnTo>
                      <a:pt x="496" y="62"/>
                    </a:lnTo>
                    <a:lnTo>
                      <a:pt x="463" y="40"/>
                    </a:lnTo>
                    <a:lnTo>
                      <a:pt x="423" y="19"/>
                    </a:lnTo>
                    <a:lnTo>
                      <a:pt x="380" y="7"/>
                    </a:lnTo>
                    <a:lnTo>
                      <a:pt x="331" y="2"/>
                    </a:lnTo>
                    <a:lnTo>
                      <a:pt x="291" y="0"/>
                    </a:lnTo>
                    <a:lnTo>
                      <a:pt x="243" y="9"/>
                    </a:lnTo>
                    <a:lnTo>
                      <a:pt x="196" y="24"/>
                    </a:lnTo>
                    <a:lnTo>
                      <a:pt x="168" y="42"/>
                    </a:lnTo>
                    <a:lnTo>
                      <a:pt x="135" y="66"/>
                    </a:lnTo>
                    <a:lnTo>
                      <a:pt x="111" y="95"/>
                    </a:lnTo>
                    <a:lnTo>
                      <a:pt x="85" y="139"/>
                    </a:lnTo>
                    <a:lnTo>
                      <a:pt x="66" y="187"/>
                    </a:lnTo>
                    <a:lnTo>
                      <a:pt x="48" y="267"/>
                    </a:lnTo>
                    <a:lnTo>
                      <a:pt x="26" y="484"/>
                    </a:lnTo>
                    <a:close/>
                  </a:path>
                </a:pathLst>
              </a:custGeom>
              <a:solidFill>
                <a:srgbClr val="804000">
                  <a:alpha val="100000"/>
                </a:srgbClr>
              </a:solidFill>
              <a:ln w="11113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45075" name="Group 10"/>
            <p:cNvGrpSpPr/>
            <p:nvPr/>
          </p:nvGrpSpPr>
          <p:grpSpPr>
            <a:xfrm flipH="1">
              <a:off x="2988" y="3981"/>
              <a:ext cx="593" cy="111"/>
              <a:chOff x="1503" y="3399"/>
              <a:chExt cx="719" cy="138"/>
            </a:xfrm>
          </p:grpSpPr>
          <p:sp>
            <p:nvSpPr>
              <p:cNvPr id="45108" name="Freeform 11"/>
              <p:cNvSpPr/>
              <p:nvPr/>
            </p:nvSpPr>
            <p:spPr>
              <a:xfrm>
                <a:off x="1766" y="3399"/>
                <a:ext cx="456" cy="115"/>
              </a:xfrm>
              <a:custGeom>
                <a:avLst/>
                <a:gdLst>
                  <a:gd name="txL" fmla="*/ 0 w 913"/>
                  <a:gd name="txT" fmla="*/ 0 h 229"/>
                  <a:gd name="txR" fmla="*/ 913 w 913"/>
                  <a:gd name="txB" fmla="*/ 229 h 229"/>
                </a:gdLst>
                <a:ahLst/>
                <a:cxnLst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0"/>
                  </a:cxn>
                  <a:cxn ang="0">
                    <a:pos x="0" y="1"/>
                  </a:cxn>
                </a:cxnLst>
                <a:rect l="txL" t="txT" r="txR" b="txB"/>
                <a:pathLst>
                  <a:path w="913" h="229">
                    <a:moveTo>
                      <a:pt x="0" y="42"/>
                    </a:moveTo>
                    <a:lnTo>
                      <a:pt x="0" y="179"/>
                    </a:lnTo>
                    <a:lnTo>
                      <a:pt x="245" y="179"/>
                    </a:lnTo>
                    <a:lnTo>
                      <a:pt x="252" y="151"/>
                    </a:lnTo>
                    <a:lnTo>
                      <a:pt x="300" y="179"/>
                    </a:lnTo>
                    <a:lnTo>
                      <a:pt x="391" y="203"/>
                    </a:lnTo>
                    <a:lnTo>
                      <a:pt x="503" y="224"/>
                    </a:lnTo>
                    <a:lnTo>
                      <a:pt x="597" y="229"/>
                    </a:lnTo>
                    <a:lnTo>
                      <a:pt x="686" y="224"/>
                    </a:lnTo>
                    <a:lnTo>
                      <a:pt x="816" y="214"/>
                    </a:lnTo>
                    <a:lnTo>
                      <a:pt x="863" y="208"/>
                    </a:lnTo>
                    <a:lnTo>
                      <a:pt x="913" y="194"/>
                    </a:lnTo>
                    <a:lnTo>
                      <a:pt x="913" y="158"/>
                    </a:lnTo>
                    <a:lnTo>
                      <a:pt x="908" y="141"/>
                    </a:lnTo>
                    <a:lnTo>
                      <a:pt x="892" y="120"/>
                    </a:lnTo>
                    <a:lnTo>
                      <a:pt x="873" y="106"/>
                    </a:lnTo>
                    <a:lnTo>
                      <a:pt x="847" y="92"/>
                    </a:lnTo>
                    <a:lnTo>
                      <a:pt x="802" y="71"/>
                    </a:lnTo>
                    <a:lnTo>
                      <a:pt x="755" y="54"/>
                    </a:lnTo>
                    <a:lnTo>
                      <a:pt x="705" y="38"/>
                    </a:lnTo>
                    <a:lnTo>
                      <a:pt x="651" y="26"/>
                    </a:lnTo>
                    <a:lnTo>
                      <a:pt x="469" y="0"/>
                    </a:lnTo>
                    <a:lnTo>
                      <a:pt x="0" y="42"/>
                    </a:lnTo>
                    <a:close/>
                  </a:path>
                </a:pathLst>
              </a:custGeom>
              <a:solidFill>
                <a:srgbClr val="201000">
                  <a:alpha val="100000"/>
                </a:srgbClr>
              </a:solidFill>
              <a:ln w="11113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5109" name="Freeform 12"/>
              <p:cNvSpPr/>
              <p:nvPr/>
            </p:nvSpPr>
            <p:spPr>
              <a:xfrm>
                <a:off x="1503" y="3426"/>
                <a:ext cx="456" cy="111"/>
              </a:xfrm>
              <a:custGeom>
                <a:avLst/>
                <a:gdLst>
                  <a:gd name="txL" fmla="*/ 0 w 913"/>
                  <a:gd name="txT" fmla="*/ 0 h 222"/>
                  <a:gd name="txR" fmla="*/ 913 w 913"/>
                  <a:gd name="txB" fmla="*/ 222 h 222"/>
                </a:gdLst>
                <a:ahLst/>
                <a:cxnLst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0"/>
                  </a:cxn>
                  <a:cxn ang="0">
                    <a:pos x="0" y="1"/>
                  </a:cxn>
                </a:cxnLst>
                <a:rect l="txL" t="txT" r="txR" b="txB"/>
                <a:pathLst>
                  <a:path w="913" h="222">
                    <a:moveTo>
                      <a:pt x="0" y="43"/>
                    </a:moveTo>
                    <a:lnTo>
                      <a:pt x="0" y="179"/>
                    </a:lnTo>
                    <a:lnTo>
                      <a:pt x="243" y="179"/>
                    </a:lnTo>
                    <a:lnTo>
                      <a:pt x="248" y="151"/>
                    </a:lnTo>
                    <a:lnTo>
                      <a:pt x="299" y="179"/>
                    </a:lnTo>
                    <a:lnTo>
                      <a:pt x="406" y="196"/>
                    </a:lnTo>
                    <a:lnTo>
                      <a:pt x="537" y="212"/>
                    </a:lnTo>
                    <a:lnTo>
                      <a:pt x="677" y="222"/>
                    </a:lnTo>
                    <a:lnTo>
                      <a:pt x="802" y="222"/>
                    </a:lnTo>
                    <a:lnTo>
                      <a:pt x="865" y="206"/>
                    </a:lnTo>
                    <a:lnTo>
                      <a:pt x="913" y="194"/>
                    </a:lnTo>
                    <a:lnTo>
                      <a:pt x="913" y="160"/>
                    </a:lnTo>
                    <a:lnTo>
                      <a:pt x="908" y="140"/>
                    </a:lnTo>
                    <a:lnTo>
                      <a:pt x="892" y="121"/>
                    </a:lnTo>
                    <a:lnTo>
                      <a:pt x="873" y="106"/>
                    </a:lnTo>
                    <a:lnTo>
                      <a:pt x="847" y="92"/>
                    </a:lnTo>
                    <a:lnTo>
                      <a:pt x="802" y="71"/>
                    </a:lnTo>
                    <a:lnTo>
                      <a:pt x="755" y="54"/>
                    </a:lnTo>
                    <a:lnTo>
                      <a:pt x="705" y="40"/>
                    </a:lnTo>
                    <a:lnTo>
                      <a:pt x="651" y="26"/>
                    </a:lnTo>
                    <a:lnTo>
                      <a:pt x="467" y="0"/>
                    </a:lnTo>
                    <a:lnTo>
                      <a:pt x="0" y="43"/>
                    </a:lnTo>
                    <a:close/>
                  </a:path>
                </a:pathLst>
              </a:custGeom>
              <a:solidFill>
                <a:srgbClr val="201000">
                  <a:alpha val="100000"/>
                </a:srgbClr>
              </a:solidFill>
              <a:ln w="11113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45076" name="Freeform 13"/>
            <p:cNvSpPr/>
            <p:nvPr/>
          </p:nvSpPr>
          <p:spPr>
            <a:xfrm flipH="1">
              <a:off x="3082" y="3427"/>
              <a:ext cx="352" cy="568"/>
            </a:xfrm>
            <a:custGeom>
              <a:avLst/>
              <a:gdLst>
                <a:gd name="txL" fmla="*/ 0 w 852"/>
                <a:gd name="txT" fmla="*/ 0 h 1411"/>
                <a:gd name="txR" fmla="*/ 852 w 852"/>
                <a:gd name="txB" fmla="*/ 1411 h 141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852" h="1411">
                  <a:moveTo>
                    <a:pt x="583" y="0"/>
                  </a:moveTo>
                  <a:lnTo>
                    <a:pt x="809" y="555"/>
                  </a:lnTo>
                  <a:lnTo>
                    <a:pt x="826" y="597"/>
                  </a:lnTo>
                  <a:lnTo>
                    <a:pt x="842" y="646"/>
                  </a:lnTo>
                  <a:lnTo>
                    <a:pt x="852" y="717"/>
                  </a:lnTo>
                  <a:lnTo>
                    <a:pt x="842" y="781"/>
                  </a:lnTo>
                  <a:lnTo>
                    <a:pt x="765" y="1010"/>
                  </a:lnTo>
                  <a:lnTo>
                    <a:pt x="737" y="1081"/>
                  </a:lnTo>
                  <a:lnTo>
                    <a:pt x="722" y="1153"/>
                  </a:lnTo>
                  <a:lnTo>
                    <a:pt x="755" y="1196"/>
                  </a:lnTo>
                  <a:lnTo>
                    <a:pt x="760" y="1229"/>
                  </a:lnTo>
                  <a:lnTo>
                    <a:pt x="727" y="1260"/>
                  </a:lnTo>
                  <a:lnTo>
                    <a:pt x="689" y="1304"/>
                  </a:lnTo>
                  <a:lnTo>
                    <a:pt x="727" y="1342"/>
                  </a:lnTo>
                  <a:lnTo>
                    <a:pt x="765" y="1411"/>
                  </a:lnTo>
                  <a:lnTo>
                    <a:pt x="158" y="1401"/>
                  </a:lnTo>
                  <a:lnTo>
                    <a:pt x="130" y="1250"/>
                  </a:lnTo>
                  <a:lnTo>
                    <a:pt x="152" y="1120"/>
                  </a:lnTo>
                  <a:lnTo>
                    <a:pt x="206" y="1000"/>
                  </a:lnTo>
                  <a:lnTo>
                    <a:pt x="239" y="934"/>
                  </a:lnTo>
                  <a:lnTo>
                    <a:pt x="387" y="738"/>
                  </a:lnTo>
                  <a:lnTo>
                    <a:pt x="343" y="640"/>
                  </a:lnTo>
                  <a:lnTo>
                    <a:pt x="0" y="15"/>
                  </a:lnTo>
                  <a:lnTo>
                    <a:pt x="583" y="0"/>
                  </a:lnTo>
                  <a:close/>
                </a:path>
              </a:pathLst>
            </a:custGeom>
            <a:solidFill>
              <a:srgbClr val="603000">
                <a:alpha val="100000"/>
              </a:srgbClr>
            </a:solidFill>
            <a:ln w="11113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5077" name="Freeform 14"/>
            <p:cNvSpPr/>
            <p:nvPr/>
          </p:nvSpPr>
          <p:spPr>
            <a:xfrm flipH="1">
              <a:off x="3218" y="3397"/>
              <a:ext cx="406" cy="629"/>
            </a:xfrm>
            <a:custGeom>
              <a:avLst/>
              <a:gdLst>
                <a:gd name="txL" fmla="*/ 0 w 982"/>
                <a:gd name="txT" fmla="*/ 0 h 1565"/>
                <a:gd name="txR" fmla="*/ 982 w 982"/>
                <a:gd name="txB" fmla="*/ 1565 h 1565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982" h="1565">
                  <a:moveTo>
                    <a:pt x="0" y="54"/>
                  </a:moveTo>
                  <a:lnTo>
                    <a:pt x="78" y="322"/>
                  </a:lnTo>
                  <a:lnTo>
                    <a:pt x="99" y="388"/>
                  </a:lnTo>
                  <a:lnTo>
                    <a:pt x="123" y="445"/>
                  </a:lnTo>
                  <a:lnTo>
                    <a:pt x="147" y="497"/>
                  </a:lnTo>
                  <a:lnTo>
                    <a:pt x="182" y="561"/>
                  </a:lnTo>
                  <a:lnTo>
                    <a:pt x="210" y="601"/>
                  </a:lnTo>
                  <a:lnTo>
                    <a:pt x="238" y="638"/>
                  </a:lnTo>
                  <a:lnTo>
                    <a:pt x="291" y="695"/>
                  </a:lnTo>
                  <a:lnTo>
                    <a:pt x="345" y="756"/>
                  </a:lnTo>
                  <a:lnTo>
                    <a:pt x="389" y="782"/>
                  </a:lnTo>
                  <a:lnTo>
                    <a:pt x="335" y="815"/>
                  </a:lnTo>
                  <a:lnTo>
                    <a:pt x="378" y="891"/>
                  </a:lnTo>
                  <a:lnTo>
                    <a:pt x="291" y="1011"/>
                  </a:lnTo>
                  <a:lnTo>
                    <a:pt x="225" y="1072"/>
                  </a:lnTo>
                  <a:lnTo>
                    <a:pt x="199" y="1099"/>
                  </a:lnTo>
                  <a:lnTo>
                    <a:pt x="177" y="1136"/>
                  </a:lnTo>
                  <a:lnTo>
                    <a:pt x="156" y="1174"/>
                  </a:lnTo>
                  <a:lnTo>
                    <a:pt x="140" y="1207"/>
                  </a:lnTo>
                  <a:lnTo>
                    <a:pt x="126" y="1237"/>
                  </a:lnTo>
                  <a:lnTo>
                    <a:pt x="113" y="1275"/>
                  </a:lnTo>
                  <a:lnTo>
                    <a:pt x="102" y="1325"/>
                  </a:lnTo>
                  <a:lnTo>
                    <a:pt x="97" y="1389"/>
                  </a:lnTo>
                  <a:lnTo>
                    <a:pt x="97" y="1455"/>
                  </a:lnTo>
                  <a:lnTo>
                    <a:pt x="100" y="1565"/>
                  </a:lnTo>
                  <a:lnTo>
                    <a:pt x="750" y="1535"/>
                  </a:lnTo>
                  <a:lnTo>
                    <a:pt x="713" y="1495"/>
                  </a:lnTo>
                  <a:lnTo>
                    <a:pt x="706" y="1464"/>
                  </a:lnTo>
                  <a:lnTo>
                    <a:pt x="703" y="1442"/>
                  </a:lnTo>
                  <a:lnTo>
                    <a:pt x="727" y="1349"/>
                  </a:lnTo>
                  <a:lnTo>
                    <a:pt x="661" y="1343"/>
                  </a:lnTo>
                  <a:lnTo>
                    <a:pt x="737" y="1284"/>
                  </a:lnTo>
                  <a:lnTo>
                    <a:pt x="954" y="967"/>
                  </a:lnTo>
                  <a:lnTo>
                    <a:pt x="968" y="936"/>
                  </a:lnTo>
                  <a:lnTo>
                    <a:pt x="977" y="901"/>
                  </a:lnTo>
                  <a:lnTo>
                    <a:pt x="982" y="865"/>
                  </a:lnTo>
                  <a:lnTo>
                    <a:pt x="982" y="825"/>
                  </a:lnTo>
                  <a:lnTo>
                    <a:pt x="975" y="790"/>
                  </a:lnTo>
                  <a:lnTo>
                    <a:pt x="967" y="756"/>
                  </a:lnTo>
                  <a:lnTo>
                    <a:pt x="944" y="705"/>
                  </a:lnTo>
                  <a:lnTo>
                    <a:pt x="835" y="467"/>
                  </a:lnTo>
                  <a:lnTo>
                    <a:pt x="633" y="0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603000">
                <a:alpha val="100000"/>
              </a:srgbClr>
            </a:solidFill>
            <a:ln w="11113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5078" name="Freeform 15"/>
            <p:cNvSpPr/>
            <p:nvPr/>
          </p:nvSpPr>
          <p:spPr>
            <a:xfrm flipH="1">
              <a:off x="3000" y="2918"/>
              <a:ext cx="147" cy="492"/>
            </a:xfrm>
            <a:custGeom>
              <a:avLst/>
              <a:gdLst>
                <a:gd name="txL" fmla="*/ 0 w 357"/>
                <a:gd name="txT" fmla="*/ 0 h 1222"/>
                <a:gd name="txR" fmla="*/ 357 w 357"/>
                <a:gd name="txB" fmla="*/ 1222 h 1222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357" h="1222">
                  <a:moveTo>
                    <a:pt x="255" y="81"/>
                  </a:moveTo>
                  <a:lnTo>
                    <a:pt x="276" y="113"/>
                  </a:lnTo>
                  <a:lnTo>
                    <a:pt x="300" y="151"/>
                  </a:lnTo>
                  <a:lnTo>
                    <a:pt x="321" y="196"/>
                  </a:lnTo>
                  <a:lnTo>
                    <a:pt x="338" y="246"/>
                  </a:lnTo>
                  <a:lnTo>
                    <a:pt x="349" y="295"/>
                  </a:lnTo>
                  <a:lnTo>
                    <a:pt x="354" y="349"/>
                  </a:lnTo>
                  <a:lnTo>
                    <a:pt x="357" y="403"/>
                  </a:lnTo>
                  <a:lnTo>
                    <a:pt x="354" y="491"/>
                  </a:lnTo>
                  <a:lnTo>
                    <a:pt x="347" y="557"/>
                  </a:lnTo>
                  <a:lnTo>
                    <a:pt x="333" y="635"/>
                  </a:lnTo>
                  <a:lnTo>
                    <a:pt x="321" y="684"/>
                  </a:lnTo>
                  <a:lnTo>
                    <a:pt x="305" y="755"/>
                  </a:lnTo>
                  <a:lnTo>
                    <a:pt x="288" y="816"/>
                  </a:lnTo>
                  <a:lnTo>
                    <a:pt x="271" y="865"/>
                  </a:lnTo>
                  <a:lnTo>
                    <a:pt x="253" y="910"/>
                  </a:lnTo>
                  <a:lnTo>
                    <a:pt x="232" y="955"/>
                  </a:lnTo>
                  <a:lnTo>
                    <a:pt x="210" y="997"/>
                  </a:lnTo>
                  <a:lnTo>
                    <a:pt x="184" y="1040"/>
                  </a:lnTo>
                  <a:lnTo>
                    <a:pt x="158" y="1075"/>
                  </a:lnTo>
                  <a:lnTo>
                    <a:pt x="132" y="1109"/>
                  </a:lnTo>
                  <a:lnTo>
                    <a:pt x="97" y="1148"/>
                  </a:lnTo>
                  <a:lnTo>
                    <a:pt x="64" y="1174"/>
                  </a:lnTo>
                  <a:lnTo>
                    <a:pt x="0" y="1222"/>
                  </a:lnTo>
                  <a:lnTo>
                    <a:pt x="0" y="0"/>
                  </a:lnTo>
                  <a:lnTo>
                    <a:pt x="208" y="15"/>
                  </a:lnTo>
                  <a:lnTo>
                    <a:pt x="255" y="8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1113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45079" name="Group 16"/>
            <p:cNvGrpSpPr/>
            <p:nvPr/>
          </p:nvGrpSpPr>
          <p:grpSpPr>
            <a:xfrm flipH="1">
              <a:off x="2990" y="2913"/>
              <a:ext cx="73" cy="514"/>
              <a:chOff x="2131" y="2072"/>
              <a:chExt cx="89" cy="639"/>
            </a:xfrm>
          </p:grpSpPr>
          <p:sp>
            <p:nvSpPr>
              <p:cNvPr id="45106" name="Freeform 17"/>
              <p:cNvSpPr/>
              <p:nvPr/>
            </p:nvSpPr>
            <p:spPr>
              <a:xfrm>
                <a:off x="2139" y="2117"/>
                <a:ext cx="81" cy="594"/>
              </a:xfrm>
              <a:custGeom>
                <a:avLst/>
                <a:gdLst>
                  <a:gd name="txL" fmla="*/ 0 w 163"/>
                  <a:gd name="txT" fmla="*/ 0 h 1188"/>
                  <a:gd name="txR" fmla="*/ 163 w 163"/>
                  <a:gd name="txB" fmla="*/ 1188 h 1188"/>
                </a:gdLst>
                <a:ahLst/>
                <a:cxnLst>
                  <a:cxn ang="0">
                    <a:pos x="0" y="0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2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txL" t="txT" r="txR" b="txB"/>
                <a:pathLst>
                  <a:path w="163" h="1188">
                    <a:moveTo>
                      <a:pt x="0" y="0"/>
                    </a:moveTo>
                    <a:lnTo>
                      <a:pt x="38" y="19"/>
                    </a:lnTo>
                    <a:lnTo>
                      <a:pt x="65" y="57"/>
                    </a:lnTo>
                    <a:lnTo>
                      <a:pt x="81" y="82"/>
                    </a:lnTo>
                    <a:lnTo>
                      <a:pt x="93" y="102"/>
                    </a:lnTo>
                    <a:lnTo>
                      <a:pt x="109" y="132"/>
                    </a:lnTo>
                    <a:lnTo>
                      <a:pt x="123" y="170"/>
                    </a:lnTo>
                    <a:lnTo>
                      <a:pt x="137" y="214"/>
                    </a:lnTo>
                    <a:lnTo>
                      <a:pt x="151" y="271"/>
                    </a:lnTo>
                    <a:lnTo>
                      <a:pt x="156" y="316"/>
                    </a:lnTo>
                    <a:lnTo>
                      <a:pt x="163" y="370"/>
                    </a:lnTo>
                    <a:lnTo>
                      <a:pt x="161" y="438"/>
                    </a:lnTo>
                    <a:lnTo>
                      <a:pt x="154" y="540"/>
                    </a:lnTo>
                    <a:lnTo>
                      <a:pt x="142" y="629"/>
                    </a:lnTo>
                    <a:lnTo>
                      <a:pt x="93" y="1068"/>
                    </a:lnTo>
                    <a:lnTo>
                      <a:pt x="45" y="1188"/>
                    </a:lnTo>
                    <a:lnTo>
                      <a:pt x="12" y="1024"/>
                    </a:lnTo>
                    <a:lnTo>
                      <a:pt x="32" y="851"/>
                    </a:lnTo>
                    <a:lnTo>
                      <a:pt x="48" y="736"/>
                    </a:lnTo>
                    <a:lnTo>
                      <a:pt x="57" y="646"/>
                    </a:lnTo>
                    <a:lnTo>
                      <a:pt x="64" y="554"/>
                    </a:lnTo>
                    <a:lnTo>
                      <a:pt x="71" y="460"/>
                    </a:lnTo>
                    <a:lnTo>
                      <a:pt x="72" y="406"/>
                    </a:lnTo>
                    <a:lnTo>
                      <a:pt x="71" y="358"/>
                    </a:lnTo>
                    <a:lnTo>
                      <a:pt x="65" y="309"/>
                    </a:lnTo>
                    <a:lnTo>
                      <a:pt x="53" y="215"/>
                    </a:lnTo>
                    <a:lnTo>
                      <a:pt x="48" y="182"/>
                    </a:lnTo>
                    <a:lnTo>
                      <a:pt x="41" y="144"/>
                    </a:lnTo>
                    <a:lnTo>
                      <a:pt x="34" y="10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FF">
                  <a:alpha val="100000"/>
                </a:srgbClr>
              </a:solidFill>
              <a:ln w="11113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5107" name="Arc 18"/>
              <p:cNvSpPr/>
              <p:nvPr/>
            </p:nvSpPr>
            <p:spPr>
              <a:xfrm>
                <a:off x="2131" y="2072"/>
                <a:ext cx="29" cy="58"/>
              </a:xfrm>
              <a:custGeom>
                <a:avLst/>
                <a:gdLst>
                  <a:gd name="txL" fmla="*/ 0 w 22307"/>
                  <a:gd name="txT" fmla="*/ 0 h 29828"/>
                  <a:gd name="txR" fmla="*/ 22307 w 22307"/>
                  <a:gd name="txB" fmla="*/ 29828 h 29828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307" h="29828" fill="none">
                    <a:moveTo>
                      <a:pt x="-1" y="11"/>
                    </a:moveTo>
                    <a:cubicBezTo>
                      <a:pt x="235" y="3"/>
                      <a:pt x="471" y="-1"/>
                      <a:pt x="707" y="0"/>
                    </a:cubicBezTo>
                    <a:cubicBezTo>
                      <a:pt x="12636" y="0"/>
                      <a:pt x="22307" y="9670"/>
                      <a:pt x="22307" y="21600"/>
                    </a:cubicBezTo>
                    <a:cubicBezTo>
                      <a:pt x="22307" y="24422"/>
                      <a:pt x="21753" y="27218"/>
                      <a:pt x="20678" y="29828"/>
                    </a:cubicBezTo>
                  </a:path>
                  <a:path w="22307" h="29828" stroke="0">
                    <a:moveTo>
                      <a:pt x="-1" y="11"/>
                    </a:moveTo>
                    <a:cubicBezTo>
                      <a:pt x="235" y="3"/>
                      <a:pt x="471" y="-1"/>
                      <a:pt x="707" y="0"/>
                    </a:cubicBezTo>
                    <a:cubicBezTo>
                      <a:pt x="12636" y="0"/>
                      <a:pt x="22307" y="9670"/>
                      <a:pt x="22307" y="21600"/>
                    </a:cubicBezTo>
                    <a:cubicBezTo>
                      <a:pt x="22307" y="24422"/>
                      <a:pt x="21753" y="27218"/>
                      <a:pt x="20678" y="29828"/>
                    </a:cubicBezTo>
                    <a:lnTo>
                      <a:pt x="707" y="21600"/>
                    </a:lnTo>
                    <a:lnTo>
                      <a:pt x="-1" y="11"/>
                    </a:lnTo>
                    <a:close/>
                  </a:path>
                </a:pathLst>
              </a:custGeom>
              <a:solidFill>
                <a:srgbClr val="0000E0">
                  <a:alpha val="100000"/>
                </a:srgbClr>
              </a:solidFill>
              <a:ln w="11113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45080" name="Freeform 19"/>
            <p:cNvSpPr/>
            <p:nvPr/>
          </p:nvSpPr>
          <p:spPr>
            <a:xfrm flipH="1">
              <a:off x="3024" y="2784"/>
              <a:ext cx="694" cy="740"/>
            </a:xfrm>
            <a:custGeom>
              <a:avLst/>
              <a:gdLst>
                <a:gd name="txL" fmla="*/ 0 w 1684"/>
                <a:gd name="txT" fmla="*/ 0 h 1839"/>
                <a:gd name="txR" fmla="*/ 1684 w 1684"/>
                <a:gd name="txB" fmla="*/ 1839 h 1839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684" h="1839">
                  <a:moveTo>
                    <a:pt x="1344" y="10"/>
                  </a:moveTo>
                  <a:lnTo>
                    <a:pt x="1307" y="0"/>
                  </a:lnTo>
                  <a:lnTo>
                    <a:pt x="1271" y="3"/>
                  </a:lnTo>
                  <a:lnTo>
                    <a:pt x="1228" y="12"/>
                  </a:lnTo>
                  <a:lnTo>
                    <a:pt x="1189" y="28"/>
                  </a:lnTo>
                  <a:lnTo>
                    <a:pt x="1151" y="45"/>
                  </a:lnTo>
                  <a:lnTo>
                    <a:pt x="1122" y="64"/>
                  </a:lnTo>
                  <a:lnTo>
                    <a:pt x="1071" y="101"/>
                  </a:lnTo>
                  <a:lnTo>
                    <a:pt x="1035" y="132"/>
                  </a:lnTo>
                  <a:lnTo>
                    <a:pt x="988" y="186"/>
                  </a:lnTo>
                  <a:lnTo>
                    <a:pt x="809" y="401"/>
                  </a:lnTo>
                  <a:lnTo>
                    <a:pt x="705" y="512"/>
                  </a:lnTo>
                  <a:lnTo>
                    <a:pt x="585" y="618"/>
                  </a:lnTo>
                  <a:lnTo>
                    <a:pt x="446" y="738"/>
                  </a:lnTo>
                  <a:lnTo>
                    <a:pt x="327" y="825"/>
                  </a:lnTo>
                  <a:lnTo>
                    <a:pt x="146" y="952"/>
                  </a:lnTo>
                  <a:lnTo>
                    <a:pt x="11" y="1044"/>
                  </a:lnTo>
                  <a:lnTo>
                    <a:pt x="0" y="1151"/>
                  </a:lnTo>
                  <a:lnTo>
                    <a:pt x="0" y="1249"/>
                  </a:lnTo>
                  <a:lnTo>
                    <a:pt x="9" y="1321"/>
                  </a:lnTo>
                  <a:lnTo>
                    <a:pt x="21" y="1400"/>
                  </a:lnTo>
                  <a:lnTo>
                    <a:pt x="33" y="1452"/>
                  </a:lnTo>
                  <a:lnTo>
                    <a:pt x="54" y="1504"/>
                  </a:lnTo>
                  <a:lnTo>
                    <a:pt x="75" y="1554"/>
                  </a:lnTo>
                  <a:lnTo>
                    <a:pt x="103" y="1601"/>
                  </a:lnTo>
                  <a:lnTo>
                    <a:pt x="144" y="1653"/>
                  </a:lnTo>
                  <a:lnTo>
                    <a:pt x="184" y="1688"/>
                  </a:lnTo>
                  <a:lnTo>
                    <a:pt x="236" y="1723"/>
                  </a:lnTo>
                  <a:lnTo>
                    <a:pt x="289" y="1754"/>
                  </a:lnTo>
                  <a:lnTo>
                    <a:pt x="358" y="1782"/>
                  </a:lnTo>
                  <a:lnTo>
                    <a:pt x="440" y="1808"/>
                  </a:lnTo>
                  <a:lnTo>
                    <a:pt x="507" y="1823"/>
                  </a:lnTo>
                  <a:lnTo>
                    <a:pt x="577" y="1834"/>
                  </a:lnTo>
                  <a:lnTo>
                    <a:pt x="650" y="1839"/>
                  </a:lnTo>
                  <a:lnTo>
                    <a:pt x="728" y="1835"/>
                  </a:lnTo>
                  <a:lnTo>
                    <a:pt x="783" y="1827"/>
                  </a:lnTo>
                  <a:lnTo>
                    <a:pt x="835" y="1816"/>
                  </a:lnTo>
                  <a:lnTo>
                    <a:pt x="903" y="1799"/>
                  </a:lnTo>
                  <a:lnTo>
                    <a:pt x="972" y="1771"/>
                  </a:lnTo>
                  <a:lnTo>
                    <a:pt x="1141" y="1700"/>
                  </a:lnTo>
                  <a:lnTo>
                    <a:pt x="1288" y="1631"/>
                  </a:lnTo>
                  <a:lnTo>
                    <a:pt x="1432" y="1532"/>
                  </a:lnTo>
                  <a:lnTo>
                    <a:pt x="1478" y="1481"/>
                  </a:lnTo>
                  <a:lnTo>
                    <a:pt x="1521" y="1429"/>
                  </a:lnTo>
                  <a:lnTo>
                    <a:pt x="1566" y="1365"/>
                  </a:lnTo>
                  <a:lnTo>
                    <a:pt x="1609" y="1276"/>
                  </a:lnTo>
                  <a:lnTo>
                    <a:pt x="1641" y="1198"/>
                  </a:lnTo>
                  <a:lnTo>
                    <a:pt x="1660" y="1136"/>
                  </a:lnTo>
                  <a:lnTo>
                    <a:pt x="1674" y="1068"/>
                  </a:lnTo>
                  <a:lnTo>
                    <a:pt x="1682" y="995"/>
                  </a:lnTo>
                  <a:lnTo>
                    <a:pt x="1682" y="926"/>
                  </a:lnTo>
                  <a:lnTo>
                    <a:pt x="1684" y="860"/>
                  </a:lnTo>
                  <a:lnTo>
                    <a:pt x="1681" y="785"/>
                  </a:lnTo>
                  <a:lnTo>
                    <a:pt x="1679" y="703"/>
                  </a:lnTo>
                  <a:lnTo>
                    <a:pt x="1674" y="648"/>
                  </a:lnTo>
                  <a:lnTo>
                    <a:pt x="1665" y="570"/>
                  </a:lnTo>
                  <a:lnTo>
                    <a:pt x="1660" y="512"/>
                  </a:lnTo>
                  <a:lnTo>
                    <a:pt x="1648" y="469"/>
                  </a:lnTo>
                  <a:lnTo>
                    <a:pt x="1636" y="427"/>
                  </a:lnTo>
                  <a:lnTo>
                    <a:pt x="1620" y="389"/>
                  </a:lnTo>
                  <a:lnTo>
                    <a:pt x="1597" y="349"/>
                  </a:lnTo>
                  <a:lnTo>
                    <a:pt x="1571" y="309"/>
                  </a:lnTo>
                  <a:lnTo>
                    <a:pt x="1545" y="269"/>
                  </a:lnTo>
                  <a:lnTo>
                    <a:pt x="1516" y="229"/>
                  </a:lnTo>
                  <a:lnTo>
                    <a:pt x="1344" y="10"/>
                  </a:lnTo>
                  <a:close/>
                </a:path>
              </a:pathLst>
            </a:custGeom>
            <a:solidFill>
              <a:srgbClr val="804000">
                <a:alpha val="100000"/>
              </a:srgbClr>
            </a:solidFill>
            <a:ln w="11113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5081" name="Freeform 20"/>
            <p:cNvSpPr/>
            <p:nvPr/>
          </p:nvSpPr>
          <p:spPr>
            <a:xfrm flipH="1">
              <a:off x="3046" y="2795"/>
              <a:ext cx="148" cy="609"/>
            </a:xfrm>
            <a:custGeom>
              <a:avLst/>
              <a:gdLst>
                <a:gd name="txL" fmla="*/ 0 w 360"/>
                <a:gd name="txT" fmla="*/ 0 h 1515"/>
                <a:gd name="txR" fmla="*/ 360 w 360"/>
                <a:gd name="txB" fmla="*/ 1515 h 1515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360" h="1515">
                  <a:moveTo>
                    <a:pt x="0" y="0"/>
                  </a:moveTo>
                  <a:lnTo>
                    <a:pt x="68" y="179"/>
                  </a:lnTo>
                  <a:lnTo>
                    <a:pt x="117" y="330"/>
                  </a:lnTo>
                  <a:lnTo>
                    <a:pt x="134" y="429"/>
                  </a:lnTo>
                  <a:lnTo>
                    <a:pt x="243" y="407"/>
                  </a:lnTo>
                  <a:lnTo>
                    <a:pt x="177" y="570"/>
                  </a:lnTo>
                  <a:lnTo>
                    <a:pt x="214" y="596"/>
                  </a:lnTo>
                  <a:lnTo>
                    <a:pt x="242" y="636"/>
                  </a:lnTo>
                  <a:lnTo>
                    <a:pt x="257" y="692"/>
                  </a:lnTo>
                  <a:lnTo>
                    <a:pt x="268" y="785"/>
                  </a:lnTo>
                  <a:lnTo>
                    <a:pt x="274" y="902"/>
                  </a:lnTo>
                  <a:lnTo>
                    <a:pt x="276" y="956"/>
                  </a:lnTo>
                  <a:lnTo>
                    <a:pt x="274" y="1016"/>
                  </a:lnTo>
                  <a:lnTo>
                    <a:pt x="269" y="1070"/>
                  </a:lnTo>
                  <a:lnTo>
                    <a:pt x="259" y="1159"/>
                  </a:lnTo>
                  <a:lnTo>
                    <a:pt x="252" y="1204"/>
                  </a:lnTo>
                  <a:lnTo>
                    <a:pt x="242" y="1252"/>
                  </a:lnTo>
                  <a:lnTo>
                    <a:pt x="231" y="1287"/>
                  </a:lnTo>
                  <a:lnTo>
                    <a:pt x="215" y="1334"/>
                  </a:lnTo>
                  <a:lnTo>
                    <a:pt x="203" y="1364"/>
                  </a:lnTo>
                  <a:lnTo>
                    <a:pt x="186" y="1397"/>
                  </a:lnTo>
                  <a:lnTo>
                    <a:pt x="165" y="1433"/>
                  </a:lnTo>
                  <a:lnTo>
                    <a:pt x="143" y="1463"/>
                  </a:lnTo>
                  <a:lnTo>
                    <a:pt x="103" y="1515"/>
                  </a:lnTo>
                  <a:lnTo>
                    <a:pt x="150" y="1480"/>
                  </a:lnTo>
                  <a:lnTo>
                    <a:pt x="186" y="1437"/>
                  </a:lnTo>
                  <a:lnTo>
                    <a:pt x="214" y="1400"/>
                  </a:lnTo>
                  <a:lnTo>
                    <a:pt x="238" y="1364"/>
                  </a:lnTo>
                  <a:lnTo>
                    <a:pt x="261" y="1324"/>
                  </a:lnTo>
                  <a:lnTo>
                    <a:pt x="283" y="1277"/>
                  </a:lnTo>
                  <a:lnTo>
                    <a:pt x="304" y="1225"/>
                  </a:lnTo>
                  <a:lnTo>
                    <a:pt x="318" y="1183"/>
                  </a:lnTo>
                  <a:lnTo>
                    <a:pt x="334" y="1131"/>
                  </a:lnTo>
                  <a:lnTo>
                    <a:pt x="344" y="1084"/>
                  </a:lnTo>
                  <a:lnTo>
                    <a:pt x="353" y="1018"/>
                  </a:lnTo>
                  <a:lnTo>
                    <a:pt x="358" y="943"/>
                  </a:lnTo>
                  <a:lnTo>
                    <a:pt x="360" y="857"/>
                  </a:lnTo>
                  <a:lnTo>
                    <a:pt x="356" y="778"/>
                  </a:lnTo>
                  <a:lnTo>
                    <a:pt x="354" y="733"/>
                  </a:lnTo>
                  <a:lnTo>
                    <a:pt x="349" y="652"/>
                  </a:lnTo>
                  <a:lnTo>
                    <a:pt x="346" y="603"/>
                  </a:lnTo>
                  <a:lnTo>
                    <a:pt x="339" y="551"/>
                  </a:lnTo>
                  <a:lnTo>
                    <a:pt x="334" y="513"/>
                  </a:lnTo>
                  <a:lnTo>
                    <a:pt x="325" y="469"/>
                  </a:lnTo>
                  <a:lnTo>
                    <a:pt x="307" y="417"/>
                  </a:lnTo>
                  <a:lnTo>
                    <a:pt x="288" y="377"/>
                  </a:lnTo>
                  <a:lnTo>
                    <a:pt x="266" y="343"/>
                  </a:lnTo>
                  <a:lnTo>
                    <a:pt x="235" y="301"/>
                  </a:lnTo>
                  <a:lnTo>
                    <a:pt x="186" y="233"/>
                  </a:lnTo>
                  <a:lnTo>
                    <a:pt x="146" y="1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4000">
                <a:alpha val="100000"/>
              </a:srgbClr>
            </a:solidFill>
            <a:ln w="11113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45082" name="Group 21"/>
            <p:cNvGrpSpPr/>
            <p:nvPr/>
          </p:nvGrpSpPr>
          <p:grpSpPr>
            <a:xfrm rot="-1020506">
              <a:off x="2758" y="2373"/>
              <a:ext cx="426" cy="642"/>
              <a:chOff x="2829" y="2352"/>
              <a:chExt cx="426" cy="642"/>
            </a:xfrm>
          </p:grpSpPr>
          <p:grpSp>
            <p:nvGrpSpPr>
              <p:cNvPr id="45091" name="Group 22"/>
              <p:cNvGrpSpPr/>
              <p:nvPr/>
            </p:nvGrpSpPr>
            <p:grpSpPr>
              <a:xfrm flipH="1">
                <a:off x="2829" y="2352"/>
                <a:ext cx="426" cy="599"/>
                <a:chOff x="1899" y="1375"/>
                <a:chExt cx="516" cy="744"/>
              </a:xfrm>
            </p:grpSpPr>
            <p:grpSp>
              <p:nvGrpSpPr>
                <p:cNvPr id="45101" name="Group 23"/>
                <p:cNvGrpSpPr/>
                <p:nvPr/>
              </p:nvGrpSpPr>
              <p:grpSpPr>
                <a:xfrm>
                  <a:off x="1899" y="1375"/>
                  <a:ext cx="516" cy="744"/>
                  <a:chOff x="1899" y="1375"/>
                  <a:chExt cx="516" cy="744"/>
                </a:xfrm>
              </p:grpSpPr>
              <p:sp>
                <p:nvSpPr>
                  <p:cNvPr id="45103" name="Freeform 24"/>
                  <p:cNvSpPr/>
                  <p:nvPr/>
                </p:nvSpPr>
                <p:spPr>
                  <a:xfrm>
                    <a:off x="1899" y="1375"/>
                    <a:ext cx="516" cy="744"/>
                  </a:xfrm>
                  <a:custGeom>
                    <a:avLst/>
                    <a:gdLst>
                      <a:gd name="txL" fmla="*/ 0 w 1032"/>
                      <a:gd name="txT" fmla="*/ 0 h 1488"/>
                      <a:gd name="txR" fmla="*/ 1032 w 1032"/>
                      <a:gd name="txB" fmla="*/ 1488 h 1488"/>
                    </a:gdLst>
                    <a:ahLst/>
                    <a:cxnLst>
                      <a:cxn ang="0">
                        <a:pos x="1" y="1"/>
                      </a:cxn>
                      <a:cxn ang="0">
                        <a:pos x="1" y="1"/>
                      </a:cxn>
                      <a:cxn ang="0">
                        <a:pos x="1" y="0"/>
                      </a:cxn>
                      <a:cxn ang="0">
                        <a:pos x="1" y="1"/>
                      </a:cxn>
                      <a:cxn ang="0">
                        <a:pos x="1" y="1"/>
                      </a:cxn>
                      <a:cxn ang="0">
                        <a:pos x="1" y="1"/>
                      </a:cxn>
                      <a:cxn ang="0">
                        <a:pos x="1" y="1"/>
                      </a:cxn>
                      <a:cxn ang="0">
                        <a:pos x="1" y="1"/>
                      </a:cxn>
                      <a:cxn ang="0">
                        <a:pos x="1" y="1"/>
                      </a:cxn>
                      <a:cxn ang="0">
                        <a:pos x="1" y="1"/>
                      </a:cxn>
                      <a:cxn ang="0">
                        <a:pos x="1" y="1"/>
                      </a:cxn>
                      <a:cxn ang="0">
                        <a:pos x="1" y="1"/>
                      </a:cxn>
                      <a:cxn ang="0">
                        <a:pos x="1" y="1"/>
                      </a:cxn>
                      <a:cxn ang="0">
                        <a:pos x="1" y="1"/>
                      </a:cxn>
                      <a:cxn ang="0">
                        <a:pos x="1" y="1"/>
                      </a:cxn>
                      <a:cxn ang="0">
                        <a:pos x="1" y="1"/>
                      </a:cxn>
                      <a:cxn ang="0">
                        <a:pos x="1" y="1"/>
                      </a:cxn>
                      <a:cxn ang="0">
                        <a:pos x="1" y="1"/>
                      </a:cxn>
                      <a:cxn ang="0">
                        <a:pos x="1" y="1"/>
                      </a:cxn>
                      <a:cxn ang="0">
                        <a:pos x="1" y="1"/>
                      </a:cxn>
                      <a:cxn ang="0">
                        <a:pos x="1" y="2"/>
                      </a:cxn>
                      <a:cxn ang="0">
                        <a:pos x="1" y="2"/>
                      </a:cxn>
                      <a:cxn ang="0">
                        <a:pos x="1" y="2"/>
                      </a:cxn>
                      <a:cxn ang="0">
                        <a:pos x="1" y="2"/>
                      </a:cxn>
                      <a:cxn ang="0">
                        <a:pos x="1" y="2"/>
                      </a:cxn>
                      <a:cxn ang="0">
                        <a:pos x="1" y="2"/>
                      </a:cxn>
                      <a:cxn ang="0">
                        <a:pos x="1" y="2"/>
                      </a:cxn>
                      <a:cxn ang="0">
                        <a:pos x="1" y="1"/>
                      </a:cxn>
                      <a:cxn ang="0">
                        <a:pos x="1" y="1"/>
                      </a:cxn>
                      <a:cxn ang="0">
                        <a:pos x="1" y="1"/>
                      </a:cxn>
                      <a:cxn ang="0">
                        <a:pos x="1" y="1"/>
                      </a:cxn>
                      <a:cxn ang="0">
                        <a:pos x="1" y="1"/>
                      </a:cxn>
                      <a:cxn ang="0">
                        <a:pos x="1" y="1"/>
                      </a:cxn>
                      <a:cxn ang="0">
                        <a:pos x="1" y="1"/>
                      </a:cxn>
                      <a:cxn ang="0">
                        <a:pos x="1" y="1"/>
                      </a:cxn>
                      <a:cxn ang="0">
                        <a:pos x="1" y="1"/>
                      </a:cxn>
                      <a:cxn ang="0">
                        <a:pos x="1" y="1"/>
                      </a:cxn>
                      <a:cxn ang="0">
                        <a:pos x="1" y="1"/>
                      </a:cxn>
                      <a:cxn ang="0">
                        <a:pos x="1" y="1"/>
                      </a:cxn>
                      <a:cxn ang="0">
                        <a:pos x="1" y="1"/>
                      </a:cxn>
                    </a:cxnLst>
                    <a:rect l="txL" t="txT" r="txR" b="txB"/>
                    <a:pathLst>
                      <a:path w="1032" h="1488">
                        <a:moveTo>
                          <a:pt x="743" y="54"/>
                        </a:moveTo>
                        <a:lnTo>
                          <a:pt x="686" y="28"/>
                        </a:lnTo>
                        <a:lnTo>
                          <a:pt x="620" y="16"/>
                        </a:lnTo>
                        <a:lnTo>
                          <a:pt x="570" y="11"/>
                        </a:lnTo>
                        <a:lnTo>
                          <a:pt x="495" y="0"/>
                        </a:lnTo>
                        <a:lnTo>
                          <a:pt x="419" y="0"/>
                        </a:lnTo>
                        <a:lnTo>
                          <a:pt x="334" y="11"/>
                        </a:lnTo>
                        <a:lnTo>
                          <a:pt x="282" y="25"/>
                        </a:lnTo>
                        <a:lnTo>
                          <a:pt x="186" y="58"/>
                        </a:lnTo>
                        <a:lnTo>
                          <a:pt x="115" y="85"/>
                        </a:lnTo>
                        <a:lnTo>
                          <a:pt x="141" y="101"/>
                        </a:lnTo>
                        <a:lnTo>
                          <a:pt x="87" y="160"/>
                        </a:lnTo>
                        <a:lnTo>
                          <a:pt x="49" y="205"/>
                        </a:lnTo>
                        <a:lnTo>
                          <a:pt x="98" y="219"/>
                        </a:lnTo>
                        <a:lnTo>
                          <a:pt x="33" y="285"/>
                        </a:lnTo>
                        <a:lnTo>
                          <a:pt x="77" y="280"/>
                        </a:lnTo>
                        <a:lnTo>
                          <a:pt x="11" y="367"/>
                        </a:lnTo>
                        <a:lnTo>
                          <a:pt x="54" y="382"/>
                        </a:lnTo>
                        <a:lnTo>
                          <a:pt x="37" y="403"/>
                        </a:lnTo>
                        <a:lnTo>
                          <a:pt x="21" y="427"/>
                        </a:lnTo>
                        <a:lnTo>
                          <a:pt x="0" y="474"/>
                        </a:lnTo>
                        <a:lnTo>
                          <a:pt x="49" y="459"/>
                        </a:lnTo>
                        <a:lnTo>
                          <a:pt x="87" y="502"/>
                        </a:lnTo>
                        <a:lnTo>
                          <a:pt x="73" y="511"/>
                        </a:lnTo>
                        <a:lnTo>
                          <a:pt x="51" y="528"/>
                        </a:lnTo>
                        <a:lnTo>
                          <a:pt x="33" y="551"/>
                        </a:lnTo>
                        <a:lnTo>
                          <a:pt x="21" y="573"/>
                        </a:lnTo>
                        <a:lnTo>
                          <a:pt x="16" y="594"/>
                        </a:lnTo>
                        <a:lnTo>
                          <a:pt x="14" y="618"/>
                        </a:lnTo>
                        <a:lnTo>
                          <a:pt x="16" y="645"/>
                        </a:lnTo>
                        <a:lnTo>
                          <a:pt x="21" y="672"/>
                        </a:lnTo>
                        <a:lnTo>
                          <a:pt x="35" y="698"/>
                        </a:lnTo>
                        <a:lnTo>
                          <a:pt x="59" y="724"/>
                        </a:lnTo>
                        <a:lnTo>
                          <a:pt x="82" y="742"/>
                        </a:lnTo>
                        <a:lnTo>
                          <a:pt x="106" y="759"/>
                        </a:lnTo>
                        <a:lnTo>
                          <a:pt x="125" y="775"/>
                        </a:lnTo>
                        <a:lnTo>
                          <a:pt x="164" y="808"/>
                        </a:lnTo>
                        <a:lnTo>
                          <a:pt x="202" y="872"/>
                        </a:lnTo>
                        <a:lnTo>
                          <a:pt x="207" y="947"/>
                        </a:lnTo>
                        <a:lnTo>
                          <a:pt x="200" y="992"/>
                        </a:lnTo>
                        <a:lnTo>
                          <a:pt x="167" y="1068"/>
                        </a:lnTo>
                        <a:lnTo>
                          <a:pt x="125" y="1143"/>
                        </a:lnTo>
                        <a:lnTo>
                          <a:pt x="460" y="1488"/>
                        </a:lnTo>
                        <a:lnTo>
                          <a:pt x="516" y="1367"/>
                        </a:lnTo>
                        <a:lnTo>
                          <a:pt x="561" y="1322"/>
                        </a:lnTo>
                        <a:lnTo>
                          <a:pt x="603" y="1292"/>
                        </a:lnTo>
                        <a:lnTo>
                          <a:pt x="653" y="1266"/>
                        </a:lnTo>
                        <a:lnTo>
                          <a:pt x="710" y="1249"/>
                        </a:lnTo>
                        <a:lnTo>
                          <a:pt x="768" y="1223"/>
                        </a:lnTo>
                        <a:lnTo>
                          <a:pt x="811" y="1204"/>
                        </a:lnTo>
                        <a:lnTo>
                          <a:pt x="842" y="1174"/>
                        </a:lnTo>
                        <a:lnTo>
                          <a:pt x="860" y="1145"/>
                        </a:lnTo>
                        <a:lnTo>
                          <a:pt x="877" y="1106"/>
                        </a:lnTo>
                        <a:lnTo>
                          <a:pt x="887" y="1072"/>
                        </a:lnTo>
                        <a:lnTo>
                          <a:pt x="896" y="1037"/>
                        </a:lnTo>
                        <a:lnTo>
                          <a:pt x="901" y="990"/>
                        </a:lnTo>
                        <a:lnTo>
                          <a:pt x="907" y="921"/>
                        </a:lnTo>
                        <a:lnTo>
                          <a:pt x="907" y="846"/>
                        </a:lnTo>
                        <a:lnTo>
                          <a:pt x="926" y="842"/>
                        </a:lnTo>
                        <a:lnTo>
                          <a:pt x="946" y="837"/>
                        </a:lnTo>
                        <a:lnTo>
                          <a:pt x="972" y="823"/>
                        </a:lnTo>
                        <a:lnTo>
                          <a:pt x="995" y="808"/>
                        </a:lnTo>
                        <a:lnTo>
                          <a:pt x="1012" y="783"/>
                        </a:lnTo>
                        <a:lnTo>
                          <a:pt x="1026" y="759"/>
                        </a:lnTo>
                        <a:lnTo>
                          <a:pt x="1032" y="728"/>
                        </a:lnTo>
                        <a:lnTo>
                          <a:pt x="1028" y="691"/>
                        </a:lnTo>
                        <a:lnTo>
                          <a:pt x="1012" y="655"/>
                        </a:lnTo>
                        <a:lnTo>
                          <a:pt x="999" y="625"/>
                        </a:lnTo>
                        <a:lnTo>
                          <a:pt x="978" y="594"/>
                        </a:lnTo>
                        <a:lnTo>
                          <a:pt x="929" y="520"/>
                        </a:lnTo>
                        <a:lnTo>
                          <a:pt x="919" y="490"/>
                        </a:lnTo>
                        <a:lnTo>
                          <a:pt x="919" y="448"/>
                        </a:lnTo>
                        <a:lnTo>
                          <a:pt x="913" y="339"/>
                        </a:lnTo>
                        <a:lnTo>
                          <a:pt x="903" y="283"/>
                        </a:lnTo>
                        <a:lnTo>
                          <a:pt x="889" y="224"/>
                        </a:lnTo>
                        <a:lnTo>
                          <a:pt x="863" y="176"/>
                        </a:lnTo>
                        <a:lnTo>
                          <a:pt x="839" y="136"/>
                        </a:lnTo>
                        <a:lnTo>
                          <a:pt x="809" y="101"/>
                        </a:lnTo>
                        <a:lnTo>
                          <a:pt x="778" y="75"/>
                        </a:lnTo>
                        <a:lnTo>
                          <a:pt x="743" y="54"/>
                        </a:lnTo>
                        <a:close/>
                      </a:path>
                    </a:pathLst>
                  </a:custGeom>
                  <a:solidFill>
                    <a:srgbClr val="FFE0C0">
                      <a:alpha val="100000"/>
                    </a:srgbClr>
                  </a:solidFill>
                  <a:ln w="11113" cap="flat" cmpd="sng">
                    <a:solidFill>
                      <a:srgbClr val="804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45104" name="Freeform 25"/>
                  <p:cNvSpPr/>
                  <p:nvPr/>
                </p:nvSpPr>
                <p:spPr>
                  <a:xfrm>
                    <a:off x="2265" y="1876"/>
                    <a:ext cx="80" cy="14"/>
                  </a:xfrm>
                  <a:custGeom>
                    <a:avLst/>
                    <a:gdLst>
                      <a:gd name="txL" fmla="*/ 0 w 162"/>
                      <a:gd name="txT" fmla="*/ 0 h 28"/>
                      <a:gd name="txR" fmla="*/ 162 w 162"/>
                      <a:gd name="txB" fmla="*/ 28 h 28"/>
                    </a:gdLst>
                    <a:ahLst/>
                    <a:cxnLst>
                      <a:cxn ang="0">
                        <a:pos x="0" y="1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1"/>
                      </a:cxn>
                      <a:cxn ang="0">
                        <a:pos x="0" y="1"/>
                      </a:cxn>
                      <a:cxn ang="0">
                        <a:pos x="0" y="1"/>
                      </a:cxn>
                    </a:cxnLst>
                    <a:rect l="txL" t="txT" r="txR" b="txB"/>
                    <a:pathLst>
                      <a:path w="162" h="28">
                        <a:moveTo>
                          <a:pt x="162" y="7"/>
                        </a:moveTo>
                        <a:lnTo>
                          <a:pt x="113" y="0"/>
                        </a:lnTo>
                        <a:lnTo>
                          <a:pt x="71" y="0"/>
                        </a:lnTo>
                        <a:lnTo>
                          <a:pt x="42" y="5"/>
                        </a:lnTo>
                        <a:lnTo>
                          <a:pt x="14" y="18"/>
                        </a:lnTo>
                        <a:lnTo>
                          <a:pt x="0" y="28"/>
                        </a:lnTo>
                      </a:path>
                    </a:pathLst>
                  </a:custGeom>
                  <a:noFill/>
                  <a:ln w="11113" cap="flat" cmpd="sng">
                    <a:solidFill>
                      <a:srgbClr val="804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  <p:sp>
                <p:nvSpPr>
                  <p:cNvPr id="45105" name="Arc 26"/>
                  <p:cNvSpPr/>
                  <p:nvPr/>
                </p:nvSpPr>
                <p:spPr>
                  <a:xfrm>
                    <a:off x="1924" y="1640"/>
                    <a:ext cx="38" cy="55"/>
                  </a:xfrm>
                  <a:custGeom>
                    <a:avLst/>
                    <a:gdLst>
                      <a:gd name="txL" fmla="*/ 0 w 21600"/>
                      <a:gd name="txT" fmla="*/ 0 h 21966"/>
                      <a:gd name="txR" fmla="*/ 21600 w 21600"/>
                      <a:gd name="txB" fmla="*/ 21966 h 21966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txL" t="txT" r="txR" b="txB"/>
                    <a:pathLst>
                      <a:path w="21600" h="21966" fill="none">
                        <a:moveTo>
                          <a:pt x="3" y="21965"/>
                        </a:moveTo>
                        <a:cubicBezTo>
                          <a:pt x="1" y="21844"/>
                          <a:pt x="0" y="21722"/>
                          <a:pt x="0" y="21600"/>
                        </a:cubicBezTo>
                        <a:cubicBezTo>
                          <a:pt x="-1" y="9670"/>
                          <a:pt x="9670" y="0"/>
                          <a:pt x="21599" y="0"/>
                        </a:cubicBezTo>
                      </a:path>
                      <a:path w="21600" h="21966" stroke="0">
                        <a:moveTo>
                          <a:pt x="3" y="21965"/>
                        </a:moveTo>
                        <a:cubicBezTo>
                          <a:pt x="1" y="21844"/>
                          <a:pt x="0" y="21722"/>
                          <a:pt x="0" y="21600"/>
                        </a:cubicBezTo>
                        <a:cubicBezTo>
                          <a:pt x="-1" y="9670"/>
                          <a:pt x="9670" y="0"/>
                          <a:pt x="21599" y="0"/>
                        </a:cubicBezTo>
                        <a:lnTo>
                          <a:pt x="21600" y="21600"/>
                        </a:lnTo>
                        <a:lnTo>
                          <a:pt x="3" y="21965"/>
                        </a:lnTo>
                        <a:close/>
                      </a:path>
                    </a:pathLst>
                  </a:custGeom>
                  <a:noFill/>
                  <a:ln w="11113" cap="flat" cmpd="sng">
                    <a:solidFill>
                      <a:srgbClr val="804000">
                        <a:alpha val="10000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/>
                  </a:p>
                </p:txBody>
              </p:sp>
            </p:grpSp>
            <p:sp>
              <p:nvSpPr>
                <p:cNvPr id="45102" name="Freeform 27"/>
                <p:cNvSpPr/>
                <p:nvPr/>
              </p:nvSpPr>
              <p:spPr>
                <a:xfrm>
                  <a:off x="1899" y="1375"/>
                  <a:ext cx="387" cy="323"/>
                </a:xfrm>
                <a:custGeom>
                  <a:avLst/>
                  <a:gdLst>
                    <a:gd name="txL" fmla="*/ 0 w 775"/>
                    <a:gd name="txT" fmla="*/ 0 h 646"/>
                    <a:gd name="txR" fmla="*/ 775 w 775"/>
                    <a:gd name="txB" fmla="*/ 646 h 646"/>
                  </a:gdLst>
                  <a:ahLst/>
                  <a:cxnLst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</a:cxnLst>
                  <a:rect l="txL" t="txT" r="txR" b="txB"/>
                  <a:pathLst>
                    <a:path w="775" h="646">
                      <a:moveTo>
                        <a:pt x="740" y="54"/>
                      </a:moveTo>
                      <a:lnTo>
                        <a:pt x="683" y="28"/>
                      </a:lnTo>
                      <a:lnTo>
                        <a:pt x="617" y="16"/>
                      </a:lnTo>
                      <a:lnTo>
                        <a:pt x="568" y="11"/>
                      </a:lnTo>
                      <a:lnTo>
                        <a:pt x="493" y="0"/>
                      </a:lnTo>
                      <a:lnTo>
                        <a:pt x="417" y="0"/>
                      </a:lnTo>
                      <a:lnTo>
                        <a:pt x="332" y="11"/>
                      </a:lnTo>
                      <a:lnTo>
                        <a:pt x="280" y="25"/>
                      </a:lnTo>
                      <a:lnTo>
                        <a:pt x="186" y="58"/>
                      </a:lnTo>
                      <a:lnTo>
                        <a:pt x="115" y="85"/>
                      </a:lnTo>
                      <a:lnTo>
                        <a:pt x="141" y="101"/>
                      </a:lnTo>
                      <a:lnTo>
                        <a:pt x="87" y="160"/>
                      </a:lnTo>
                      <a:lnTo>
                        <a:pt x="49" y="203"/>
                      </a:lnTo>
                      <a:lnTo>
                        <a:pt x="98" y="217"/>
                      </a:lnTo>
                      <a:lnTo>
                        <a:pt x="33" y="283"/>
                      </a:lnTo>
                      <a:lnTo>
                        <a:pt x="77" y="278"/>
                      </a:lnTo>
                      <a:lnTo>
                        <a:pt x="11" y="365"/>
                      </a:lnTo>
                      <a:lnTo>
                        <a:pt x="54" y="381"/>
                      </a:lnTo>
                      <a:lnTo>
                        <a:pt x="37" y="401"/>
                      </a:lnTo>
                      <a:lnTo>
                        <a:pt x="21" y="426"/>
                      </a:lnTo>
                      <a:lnTo>
                        <a:pt x="0" y="473"/>
                      </a:lnTo>
                      <a:lnTo>
                        <a:pt x="49" y="457"/>
                      </a:lnTo>
                      <a:lnTo>
                        <a:pt x="87" y="506"/>
                      </a:lnTo>
                      <a:lnTo>
                        <a:pt x="110" y="497"/>
                      </a:lnTo>
                      <a:lnTo>
                        <a:pt x="134" y="493"/>
                      </a:lnTo>
                      <a:lnTo>
                        <a:pt x="164" y="499"/>
                      </a:lnTo>
                      <a:lnTo>
                        <a:pt x="186" y="509"/>
                      </a:lnTo>
                      <a:lnTo>
                        <a:pt x="200" y="535"/>
                      </a:lnTo>
                      <a:lnTo>
                        <a:pt x="209" y="559"/>
                      </a:lnTo>
                      <a:lnTo>
                        <a:pt x="217" y="577"/>
                      </a:lnTo>
                      <a:lnTo>
                        <a:pt x="235" y="598"/>
                      </a:lnTo>
                      <a:lnTo>
                        <a:pt x="249" y="612"/>
                      </a:lnTo>
                      <a:lnTo>
                        <a:pt x="273" y="646"/>
                      </a:lnTo>
                      <a:lnTo>
                        <a:pt x="268" y="598"/>
                      </a:lnTo>
                      <a:lnTo>
                        <a:pt x="273" y="575"/>
                      </a:lnTo>
                      <a:lnTo>
                        <a:pt x="290" y="546"/>
                      </a:lnTo>
                      <a:lnTo>
                        <a:pt x="316" y="516"/>
                      </a:lnTo>
                      <a:lnTo>
                        <a:pt x="346" y="480"/>
                      </a:lnTo>
                      <a:lnTo>
                        <a:pt x="360" y="455"/>
                      </a:lnTo>
                      <a:lnTo>
                        <a:pt x="372" y="433"/>
                      </a:lnTo>
                      <a:lnTo>
                        <a:pt x="396" y="419"/>
                      </a:lnTo>
                      <a:lnTo>
                        <a:pt x="431" y="403"/>
                      </a:lnTo>
                      <a:lnTo>
                        <a:pt x="443" y="388"/>
                      </a:lnTo>
                      <a:lnTo>
                        <a:pt x="453" y="368"/>
                      </a:lnTo>
                      <a:lnTo>
                        <a:pt x="462" y="348"/>
                      </a:lnTo>
                      <a:lnTo>
                        <a:pt x="457" y="299"/>
                      </a:lnTo>
                      <a:lnTo>
                        <a:pt x="447" y="266"/>
                      </a:lnTo>
                      <a:lnTo>
                        <a:pt x="427" y="245"/>
                      </a:lnTo>
                      <a:lnTo>
                        <a:pt x="419" y="228"/>
                      </a:lnTo>
                      <a:lnTo>
                        <a:pt x="408" y="216"/>
                      </a:lnTo>
                      <a:lnTo>
                        <a:pt x="400" y="198"/>
                      </a:lnTo>
                      <a:lnTo>
                        <a:pt x="401" y="170"/>
                      </a:lnTo>
                      <a:lnTo>
                        <a:pt x="412" y="148"/>
                      </a:lnTo>
                      <a:lnTo>
                        <a:pt x="433" y="132"/>
                      </a:lnTo>
                      <a:lnTo>
                        <a:pt x="455" y="122"/>
                      </a:lnTo>
                      <a:lnTo>
                        <a:pt x="481" y="113"/>
                      </a:lnTo>
                      <a:lnTo>
                        <a:pt x="512" y="115"/>
                      </a:lnTo>
                      <a:lnTo>
                        <a:pt x="493" y="98"/>
                      </a:lnTo>
                      <a:lnTo>
                        <a:pt x="495" y="85"/>
                      </a:lnTo>
                      <a:lnTo>
                        <a:pt x="504" y="77"/>
                      </a:lnTo>
                      <a:lnTo>
                        <a:pt x="521" y="72"/>
                      </a:lnTo>
                      <a:lnTo>
                        <a:pt x="551" y="73"/>
                      </a:lnTo>
                      <a:lnTo>
                        <a:pt x="578" y="77"/>
                      </a:lnTo>
                      <a:lnTo>
                        <a:pt x="599" y="75"/>
                      </a:lnTo>
                      <a:lnTo>
                        <a:pt x="627" y="65"/>
                      </a:lnTo>
                      <a:lnTo>
                        <a:pt x="653" y="56"/>
                      </a:lnTo>
                      <a:lnTo>
                        <a:pt x="684" y="58"/>
                      </a:lnTo>
                      <a:lnTo>
                        <a:pt x="717" y="61"/>
                      </a:lnTo>
                      <a:lnTo>
                        <a:pt x="775" y="75"/>
                      </a:lnTo>
                      <a:lnTo>
                        <a:pt x="740" y="54"/>
                      </a:lnTo>
                      <a:close/>
                    </a:path>
                  </a:pathLst>
                </a:custGeom>
                <a:solidFill>
                  <a:srgbClr val="804000">
                    <a:alpha val="100000"/>
                  </a:srgb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sp>
            <p:nvSpPr>
              <p:cNvPr id="45092" name="Freeform 28"/>
              <p:cNvSpPr/>
              <p:nvPr/>
            </p:nvSpPr>
            <p:spPr>
              <a:xfrm flipH="1">
                <a:off x="3014" y="2796"/>
                <a:ext cx="180" cy="198"/>
              </a:xfrm>
              <a:custGeom>
                <a:avLst/>
                <a:gdLst>
                  <a:gd name="txL" fmla="*/ 0 w 438"/>
                  <a:gd name="txT" fmla="*/ 0 h 491"/>
                  <a:gd name="txR" fmla="*/ 438 w 438"/>
                  <a:gd name="txB" fmla="*/ 491 h 491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438" h="491">
                    <a:moveTo>
                      <a:pt x="0" y="0"/>
                    </a:moveTo>
                    <a:lnTo>
                      <a:pt x="363" y="300"/>
                    </a:lnTo>
                    <a:lnTo>
                      <a:pt x="438" y="49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0E0E0">
                  <a:alpha val="100000"/>
                </a:srgbClr>
              </a:solidFill>
              <a:ln w="11113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5093" name="Freeform 29"/>
              <p:cNvSpPr/>
              <p:nvPr/>
            </p:nvSpPr>
            <p:spPr>
              <a:xfrm flipH="1">
                <a:off x="3044" y="2795"/>
                <a:ext cx="150" cy="198"/>
              </a:xfrm>
              <a:custGeom>
                <a:avLst/>
                <a:gdLst>
                  <a:gd name="txL" fmla="*/ 0 w 363"/>
                  <a:gd name="txT" fmla="*/ 0 h 495"/>
                  <a:gd name="txR" fmla="*/ 363 w 363"/>
                  <a:gd name="txB" fmla="*/ 495 h 495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363" h="495">
                    <a:moveTo>
                      <a:pt x="0" y="0"/>
                    </a:moveTo>
                    <a:lnTo>
                      <a:pt x="363" y="311"/>
                    </a:lnTo>
                    <a:lnTo>
                      <a:pt x="278" y="49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 w="11113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grpSp>
            <p:nvGrpSpPr>
              <p:cNvPr id="45094" name="Group 30"/>
              <p:cNvGrpSpPr/>
              <p:nvPr/>
            </p:nvGrpSpPr>
            <p:grpSpPr>
              <a:xfrm flipH="1">
                <a:off x="2890" y="2522"/>
                <a:ext cx="272" cy="117"/>
                <a:chOff x="2011" y="1586"/>
                <a:chExt cx="331" cy="145"/>
              </a:xfrm>
            </p:grpSpPr>
            <p:sp>
              <p:nvSpPr>
                <p:cNvPr id="45095" name="Freeform 31"/>
                <p:cNvSpPr/>
                <p:nvPr/>
              </p:nvSpPr>
              <p:spPr>
                <a:xfrm>
                  <a:off x="2226" y="1602"/>
                  <a:ext cx="94" cy="12"/>
                </a:xfrm>
                <a:custGeom>
                  <a:avLst/>
                  <a:gdLst>
                    <a:gd name="txL" fmla="*/ 0 w 187"/>
                    <a:gd name="txT" fmla="*/ 0 h 24"/>
                    <a:gd name="txR" fmla="*/ 187 w 187"/>
                    <a:gd name="txB" fmla="*/ 24 h 24"/>
                  </a:gdLst>
                  <a:ahLst/>
                  <a:cxnLst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0" y="1"/>
                    </a:cxn>
                    <a:cxn ang="0">
                      <a:pos x="1" y="1"/>
                    </a:cxn>
                    <a:cxn ang="0">
                      <a:pos x="1" y="1"/>
                    </a:cxn>
                  </a:cxnLst>
                  <a:rect l="txL" t="txT" r="txR" b="txB"/>
                  <a:pathLst>
                    <a:path w="187" h="24">
                      <a:moveTo>
                        <a:pt x="187" y="24"/>
                      </a:moveTo>
                      <a:lnTo>
                        <a:pt x="163" y="10"/>
                      </a:lnTo>
                      <a:lnTo>
                        <a:pt x="139" y="5"/>
                      </a:lnTo>
                      <a:lnTo>
                        <a:pt x="90" y="0"/>
                      </a:lnTo>
                      <a:lnTo>
                        <a:pt x="43" y="0"/>
                      </a:lnTo>
                      <a:lnTo>
                        <a:pt x="0" y="6"/>
                      </a:lnTo>
                      <a:lnTo>
                        <a:pt x="101" y="15"/>
                      </a:lnTo>
                      <a:lnTo>
                        <a:pt x="187" y="24"/>
                      </a:lnTo>
                      <a:close/>
                    </a:path>
                  </a:pathLst>
                </a:custGeom>
                <a:solidFill>
                  <a:srgbClr val="603000">
                    <a:alpha val="100000"/>
                  </a:srgb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45096" name="Oval 32"/>
                <p:cNvSpPr/>
                <p:nvPr/>
              </p:nvSpPr>
              <p:spPr>
                <a:xfrm>
                  <a:off x="2255" y="1586"/>
                  <a:ext cx="87" cy="145"/>
                </a:xfrm>
                <a:prstGeom prst="ellipse">
                  <a:avLst/>
                </a:prstGeom>
                <a:noFill/>
                <a:ln w="11113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1800" dirty="0"/>
                </a:p>
              </p:txBody>
            </p:sp>
            <p:sp>
              <p:nvSpPr>
                <p:cNvPr id="45097" name="Line 33"/>
                <p:cNvSpPr/>
                <p:nvPr/>
              </p:nvSpPr>
              <p:spPr>
                <a:xfrm>
                  <a:off x="2011" y="1662"/>
                  <a:ext cx="248" cy="1"/>
                </a:xfrm>
                <a:prstGeom prst="line">
                  <a:avLst/>
                </a:prstGeom>
                <a:ln w="11113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grpSp>
              <p:nvGrpSpPr>
                <p:cNvPr id="45098" name="Group 34"/>
                <p:cNvGrpSpPr/>
                <p:nvPr/>
              </p:nvGrpSpPr>
              <p:grpSpPr>
                <a:xfrm>
                  <a:off x="2297" y="1645"/>
                  <a:ext cx="27" cy="51"/>
                  <a:chOff x="2297" y="1645"/>
                  <a:chExt cx="27" cy="51"/>
                </a:xfrm>
              </p:grpSpPr>
              <p:sp>
                <p:nvSpPr>
                  <p:cNvPr id="45099" name="Oval 35"/>
                  <p:cNvSpPr/>
                  <p:nvPr/>
                </p:nvSpPr>
                <p:spPr>
                  <a:xfrm>
                    <a:off x="2297" y="1645"/>
                    <a:ext cx="27" cy="51"/>
                  </a:xfrm>
                  <a:prstGeom prst="ellipse">
                    <a:avLst/>
                  </a:prstGeom>
                  <a:solidFill>
                    <a:srgbClr val="0000FF"/>
                  </a:solidFill>
                  <a:ln w="9525">
                    <a:noFill/>
                  </a:ln>
                </p:spPr>
                <p:txBody>
                  <a:bodyPr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1800" dirty="0"/>
                  </a:p>
                </p:txBody>
              </p:sp>
              <p:sp>
                <p:nvSpPr>
                  <p:cNvPr id="45100" name="Oval 36"/>
                  <p:cNvSpPr/>
                  <p:nvPr/>
                </p:nvSpPr>
                <p:spPr>
                  <a:xfrm>
                    <a:off x="2305" y="1651"/>
                    <a:ext cx="15" cy="29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noFill/>
                  </a:ln>
                </p:spPr>
                <p:txBody>
                  <a:bodyPr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1800" dirty="0"/>
                  </a:p>
                </p:txBody>
              </p:sp>
            </p:grpSp>
          </p:grpSp>
        </p:grpSp>
        <p:grpSp>
          <p:nvGrpSpPr>
            <p:cNvPr id="45083" name="Group 37"/>
            <p:cNvGrpSpPr/>
            <p:nvPr/>
          </p:nvGrpSpPr>
          <p:grpSpPr>
            <a:xfrm rot="5914597" flipH="1">
              <a:off x="2791" y="2604"/>
              <a:ext cx="239" cy="800"/>
              <a:chOff x="1744" y="2071"/>
              <a:chExt cx="297" cy="971"/>
            </a:xfrm>
          </p:grpSpPr>
          <p:grpSp>
            <p:nvGrpSpPr>
              <p:cNvPr id="45085" name="Group 38"/>
              <p:cNvGrpSpPr/>
              <p:nvPr/>
            </p:nvGrpSpPr>
            <p:grpSpPr>
              <a:xfrm>
                <a:off x="1744" y="2787"/>
                <a:ext cx="285" cy="255"/>
                <a:chOff x="1744" y="2787"/>
                <a:chExt cx="285" cy="255"/>
              </a:xfrm>
            </p:grpSpPr>
            <p:sp>
              <p:nvSpPr>
                <p:cNvPr id="45089" name="Freeform 39"/>
                <p:cNvSpPr/>
                <p:nvPr/>
              </p:nvSpPr>
              <p:spPr>
                <a:xfrm>
                  <a:off x="1744" y="2787"/>
                  <a:ext cx="285" cy="255"/>
                </a:xfrm>
                <a:custGeom>
                  <a:avLst/>
                  <a:gdLst>
                    <a:gd name="txL" fmla="*/ 0 w 571"/>
                    <a:gd name="txT" fmla="*/ 0 h 510"/>
                    <a:gd name="txR" fmla="*/ 571 w 571"/>
                    <a:gd name="txB" fmla="*/ 510 h 510"/>
                  </a:gdLst>
                  <a:ahLst/>
                  <a:cxnLst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0"/>
                    </a:cxn>
                    <a:cxn ang="0">
                      <a:pos x="0" y="1"/>
                    </a:cxn>
                  </a:cxnLst>
                  <a:rect l="txL" t="txT" r="txR" b="txB"/>
                  <a:pathLst>
                    <a:path w="571" h="510">
                      <a:moveTo>
                        <a:pt x="88" y="66"/>
                      </a:moveTo>
                      <a:lnTo>
                        <a:pt x="52" y="132"/>
                      </a:lnTo>
                      <a:lnTo>
                        <a:pt x="38" y="156"/>
                      </a:lnTo>
                      <a:lnTo>
                        <a:pt x="31" y="186"/>
                      </a:lnTo>
                      <a:lnTo>
                        <a:pt x="24" y="227"/>
                      </a:lnTo>
                      <a:lnTo>
                        <a:pt x="24" y="265"/>
                      </a:lnTo>
                      <a:lnTo>
                        <a:pt x="29" y="304"/>
                      </a:lnTo>
                      <a:lnTo>
                        <a:pt x="45" y="338"/>
                      </a:lnTo>
                      <a:lnTo>
                        <a:pt x="78" y="363"/>
                      </a:lnTo>
                      <a:lnTo>
                        <a:pt x="43" y="342"/>
                      </a:lnTo>
                      <a:lnTo>
                        <a:pt x="29" y="340"/>
                      </a:lnTo>
                      <a:lnTo>
                        <a:pt x="12" y="347"/>
                      </a:lnTo>
                      <a:lnTo>
                        <a:pt x="3" y="357"/>
                      </a:lnTo>
                      <a:lnTo>
                        <a:pt x="0" y="375"/>
                      </a:lnTo>
                      <a:lnTo>
                        <a:pt x="5" y="389"/>
                      </a:lnTo>
                      <a:lnTo>
                        <a:pt x="17" y="406"/>
                      </a:lnTo>
                      <a:lnTo>
                        <a:pt x="60" y="437"/>
                      </a:lnTo>
                      <a:lnTo>
                        <a:pt x="128" y="463"/>
                      </a:lnTo>
                      <a:lnTo>
                        <a:pt x="158" y="472"/>
                      </a:lnTo>
                      <a:lnTo>
                        <a:pt x="191" y="477"/>
                      </a:lnTo>
                      <a:lnTo>
                        <a:pt x="220" y="477"/>
                      </a:lnTo>
                      <a:lnTo>
                        <a:pt x="250" y="488"/>
                      </a:lnTo>
                      <a:lnTo>
                        <a:pt x="286" y="500"/>
                      </a:lnTo>
                      <a:lnTo>
                        <a:pt x="368" y="510"/>
                      </a:lnTo>
                      <a:lnTo>
                        <a:pt x="465" y="489"/>
                      </a:lnTo>
                      <a:lnTo>
                        <a:pt x="527" y="489"/>
                      </a:lnTo>
                      <a:lnTo>
                        <a:pt x="543" y="484"/>
                      </a:lnTo>
                      <a:lnTo>
                        <a:pt x="559" y="469"/>
                      </a:lnTo>
                      <a:lnTo>
                        <a:pt x="564" y="448"/>
                      </a:lnTo>
                      <a:lnTo>
                        <a:pt x="571" y="366"/>
                      </a:lnTo>
                      <a:lnTo>
                        <a:pt x="571" y="298"/>
                      </a:lnTo>
                      <a:lnTo>
                        <a:pt x="567" y="264"/>
                      </a:lnTo>
                      <a:lnTo>
                        <a:pt x="564" y="239"/>
                      </a:lnTo>
                      <a:lnTo>
                        <a:pt x="559" y="217"/>
                      </a:lnTo>
                      <a:lnTo>
                        <a:pt x="553" y="193"/>
                      </a:lnTo>
                      <a:lnTo>
                        <a:pt x="522" y="100"/>
                      </a:lnTo>
                      <a:lnTo>
                        <a:pt x="491" y="0"/>
                      </a:lnTo>
                      <a:lnTo>
                        <a:pt x="88" y="66"/>
                      </a:lnTo>
                      <a:close/>
                    </a:path>
                  </a:pathLst>
                </a:custGeom>
                <a:solidFill>
                  <a:srgbClr val="FFE0C0">
                    <a:alpha val="100000"/>
                  </a:srgbClr>
                </a:solidFill>
                <a:ln w="11113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45090" name="Arc 40"/>
                <p:cNvSpPr/>
                <p:nvPr/>
              </p:nvSpPr>
              <p:spPr>
                <a:xfrm>
                  <a:off x="1786" y="2960"/>
                  <a:ext cx="8" cy="18"/>
                </a:xfrm>
                <a:custGeom>
                  <a:avLst/>
                  <a:gdLst>
                    <a:gd name="txL" fmla="*/ 0 w 21600"/>
                    <a:gd name="txT" fmla="*/ 0 h 21460"/>
                    <a:gd name="txR" fmla="*/ 21600 w 21600"/>
                    <a:gd name="txB" fmla="*/ 21460 h 21460"/>
                  </a:gdLst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21600" h="21460" fill="none">
                      <a:moveTo>
                        <a:pt x="0" y="21460"/>
                      </a:moveTo>
                      <a:cubicBezTo>
                        <a:pt x="0" y="10479"/>
                        <a:pt x="8237" y="1246"/>
                        <a:pt x="19146" y="-1"/>
                      </a:cubicBezTo>
                    </a:path>
                    <a:path w="21600" h="21460" stroke="0">
                      <a:moveTo>
                        <a:pt x="0" y="21460"/>
                      </a:moveTo>
                      <a:cubicBezTo>
                        <a:pt x="0" y="10479"/>
                        <a:pt x="8237" y="1246"/>
                        <a:pt x="19146" y="-1"/>
                      </a:cubicBezTo>
                      <a:lnTo>
                        <a:pt x="21600" y="21460"/>
                      </a:lnTo>
                      <a:lnTo>
                        <a:pt x="0" y="21460"/>
                      </a:lnTo>
                      <a:close/>
                    </a:path>
                  </a:pathLst>
                </a:custGeom>
                <a:noFill/>
                <a:ln w="11113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grpSp>
            <p:nvGrpSpPr>
              <p:cNvPr id="45086" name="Group 41"/>
              <p:cNvGrpSpPr/>
              <p:nvPr/>
            </p:nvGrpSpPr>
            <p:grpSpPr>
              <a:xfrm>
                <a:off x="1758" y="2071"/>
                <a:ext cx="283" cy="756"/>
                <a:chOff x="1758" y="2071"/>
                <a:chExt cx="283" cy="756"/>
              </a:xfrm>
            </p:grpSpPr>
            <p:sp>
              <p:nvSpPr>
                <p:cNvPr id="45087" name="Rectangle 42"/>
                <p:cNvSpPr/>
                <p:nvPr/>
              </p:nvSpPr>
              <p:spPr>
                <a:xfrm>
                  <a:off x="1775" y="2781"/>
                  <a:ext cx="238" cy="46"/>
                </a:xfrm>
                <a:prstGeom prst="rect">
                  <a:avLst/>
                </a:prstGeom>
                <a:solidFill>
                  <a:srgbClr val="FFFFFF"/>
                </a:solidFill>
                <a:ln w="11113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1800" dirty="0"/>
                </a:p>
              </p:txBody>
            </p:sp>
            <p:sp>
              <p:nvSpPr>
                <p:cNvPr id="45088" name="Freeform 43"/>
                <p:cNvSpPr/>
                <p:nvPr/>
              </p:nvSpPr>
              <p:spPr>
                <a:xfrm>
                  <a:off x="1758" y="2071"/>
                  <a:ext cx="283" cy="729"/>
                </a:xfrm>
                <a:custGeom>
                  <a:avLst/>
                  <a:gdLst>
                    <a:gd name="txL" fmla="*/ 0 w 566"/>
                    <a:gd name="txT" fmla="*/ 0 h 1459"/>
                    <a:gd name="txR" fmla="*/ 566 w 566"/>
                    <a:gd name="txB" fmla="*/ 1459 h 1459"/>
                  </a:gdLst>
                  <a:ahLst/>
                  <a:cxnLst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0" y="1"/>
                    </a:cxn>
                    <a:cxn ang="0">
                      <a:pos x="1" y="1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</a:cxnLst>
                  <a:rect l="txL" t="txT" r="txR" b="txB"/>
                  <a:pathLst>
                    <a:path w="566" h="1459">
                      <a:moveTo>
                        <a:pt x="28" y="486"/>
                      </a:moveTo>
                      <a:lnTo>
                        <a:pt x="16" y="905"/>
                      </a:lnTo>
                      <a:lnTo>
                        <a:pt x="0" y="1454"/>
                      </a:lnTo>
                      <a:lnTo>
                        <a:pt x="544" y="1459"/>
                      </a:lnTo>
                      <a:lnTo>
                        <a:pt x="551" y="874"/>
                      </a:lnTo>
                      <a:lnTo>
                        <a:pt x="549" y="601"/>
                      </a:lnTo>
                      <a:lnTo>
                        <a:pt x="566" y="313"/>
                      </a:lnTo>
                      <a:lnTo>
                        <a:pt x="561" y="249"/>
                      </a:lnTo>
                      <a:lnTo>
                        <a:pt x="556" y="200"/>
                      </a:lnTo>
                      <a:lnTo>
                        <a:pt x="546" y="153"/>
                      </a:lnTo>
                      <a:lnTo>
                        <a:pt x="535" y="120"/>
                      </a:lnTo>
                      <a:lnTo>
                        <a:pt x="516" y="87"/>
                      </a:lnTo>
                      <a:lnTo>
                        <a:pt x="497" y="64"/>
                      </a:lnTo>
                      <a:lnTo>
                        <a:pt x="466" y="40"/>
                      </a:lnTo>
                      <a:lnTo>
                        <a:pt x="426" y="21"/>
                      </a:lnTo>
                      <a:lnTo>
                        <a:pt x="382" y="9"/>
                      </a:lnTo>
                      <a:lnTo>
                        <a:pt x="334" y="4"/>
                      </a:lnTo>
                      <a:lnTo>
                        <a:pt x="294" y="0"/>
                      </a:lnTo>
                      <a:lnTo>
                        <a:pt x="245" y="11"/>
                      </a:lnTo>
                      <a:lnTo>
                        <a:pt x="198" y="26"/>
                      </a:lnTo>
                      <a:lnTo>
                        <a:pt x="171" y="44"/>
                      </a:lnTo>
                      <a:lnTo>
                        <a:pt x="136" y="68"/>
                      </a:lnTo>
                      <a:lnTo>
                        <a:pt x="112" y="97"/>
                      </a:lnTo>
                      <a:lnTo>
                        <a:pt x="86" y="141"/>
                      </a:lnTo>
                      <a:lnTo>
                        <a:pt x="68" y="189"/>
                      </a:lnTo>
                      <a:lnTo>
                        <a:pt x="49" y="269"/>
                      </a:lnTo>
                      <a:lnTo>
                        <a:pt x="28" y="486"/>
                      </a:lnTo>
                      <a:close/>
                    </a:path>
                  </a:pathLst>
                </a:custGeom>
                <a:solidFill>
                  <a:srgbClr val="804000">
                    <a:alpha val="100000"/>
                  </a:srgbClr>
                </a:solidFill>
                <a:ln w="11113" cap="flat" cmpd="sng">
                  <a:solidFill>
                    <a:srgbClr val="00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</p:grpSp>
        <p:graphicFrame>
          <p:nvGraphicFramePr>
            <p:cNvPr id="45084" name="Object 2"/>
            <p:cNvGraphicFramePr>
              <a:graphicFrameLocks noChangeAspect="1"/>
            </p:cNvGraphicFramePr>
            <p:nvPr/>
          </p:nvGraphicFramePr>
          <p:xfrm>
            <a:off x="1680" y="2893"/>
            <a:ext cx="1345" cy="1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7" name="" r:id="rId1" imgW="2287270" imgH="2155825" progId="MS_ClipArt_Gallery.2">
                    <p:embed/>
                  </p:oleObj>
                </mc:Choice>
                <mc:Fallback>
                  <p:oleObj name="" r:id="rId1" imgW="2287270" imgH="2155825" progId="MS_ClipArt_Gallery.2">
                    <p:embed/>
                    <p:pic>
                      <p:nvPicPr>
                        <p:cNvPr id="0" name="图片 3076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680" y="2893"/>
                          <a:ext cx="1345" cy="123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8173" name="AutoShape 45"/>
          <p:cNvSpPr/>
          <p:nvPr/>
        </p:nvSpPr>
        <p:spPr>
          <a:xfrm>
            <a:off x="1219200" y="685800"/>
            <a:ext cx="5791200" cy="2438400"/>
          </a:xfrm>
          <a:prstGeom prst="cloudCallout">
            <a:avLst>
              <a:gd name="adj1" fmla="val 50056"/>
              <a:gd name="adj2" fmla="val 96940"/>
            </a:avLst>
          </a:prstGeom>
          <a:gradFill rotWithShape="0">
            <a:gsLst>
              <a:gs pos="0">
                <a:srgbClr val="CCFFFF"/>
              </a:gs>
              <a:gs pos="100000">
                <a:srgbClr val="AAD5D5"/>
              </a:gs>
            </a:gsLst>
            <a:lin ang="18900000" scaled="1"/>
            <a:tileRect/>
          </a:gradFill>
          <a:ln w="25400" cap="flat" cmpd="sng">
            <a:solidFill>
              <a:srgbClr val="CCFFCC"/>
            </a:solidFill>
            <a:prstDash val="solid"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/>
              <a:t>           Oh come on!  Haven’t we had </a:t>
            </a:r>
            <a:endParaRPr lang="en-US" altLang="zh-CN" sz="1800" b="1" dirty="0"/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/>
              <a:t>enough hashing methods?</a:t>
            </a:r>
            <a:endParaRPr lang="en-US" altLang="zh-CN" sz="1800" b="1" dirty="0"/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/>
              <a:t>    Why do we need </a:t>
            </a:r>
            <a:r>
              <a:rPr lang="en-US" altLang="zh-CN" sz="1800" b="1" i="1" dirty="0"/>
              <a:t>rehashing</a:t>
            </a:r>
            <a:r>
              <a:rPr lang="en-US" altLang="zh-CN" sz="1800" b="1" dirty="0"/>
              <a:t> ?</a:t>
            </a:r>
            <a:endParaRPr lang="en-US" altLang="zh-CN" sz="1800" b="1" dirty="0"/>
          </a:p>
        </p:txBody>
      </p:sp>
      <p:sp>
        <p:nvSpPr>
          <p:cNvPr id="48174" name="AutoShape 46"/>
          <p:cNvSpPr/>
          <p:nvPr/>
        </p:nvSpPr>
        <p:spPr>
          <a:xfrm>
            <a:off x="1143000" y="685800"/>
            <a:ext cx="5943600" cy="2590800"/>
          </a:xfrm>
          <a:prstGeom prst="cloudCallout">
            <a:avLst>
              <a:gd name="adj1" fmla="val 37097"/>
              <a:gd name="adj2" fmla="val 115014"/>
            </a:avLst>
          </a:prstGeom>
          <a:gradFill rotWithShape="0">
            <a:gsLst>
              <a:gs pos="0">
                <a:srgbClr val="AFDBAF"/>
              </a:gs>
              <a:gs pos="100000">
                <a:srgbClr val="CCFFCC"/>
              </a:gs>
            </a:gsLst>
            <a:lin ang="2700000" scaled="1"/>
            <a:tileRect/>
          </a:gradFill>
          <a:ln w="25400" cap="flat" cmpd="sng">
            <a:solidFill>
              <a:srgbClr val="CCFFFF"/>
            </a:solidFill>
            <a:prstDash val="solid"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/>
              <a:t>Because </a:t>
            </a:r>
            <a:endParaRPr lang="en-US" altLang="zh-CN" sz="1800" b="1" dirty="0"/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/>
              <a:t>         I enjoy giving you headaches …</a:t>
            </a:r>
            <a:endParaRPr lang="en-US" altLang="zh-CN" sz="1800" b="1" dirty="0"/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/>
              <a:t>Just kidding </a:t>
            </a:r>
            <a:r>
              <a:rPr lang="en-US" altLang="zh-CN" sz="1800" b="1" dirty="0">
                <a:sym typeface="Wingdings" panose="05000000000000000000" pitchFamily="2" charset="2"/>
              </a:rPr>
              <a:t></a:t>
            </a:r>
            <a:endParaRPr lang="en-US" altLang="zh-CN" sz="1800" b="1" dirty="0">
              <a:sym typeface="Wingdings" panose="05000000000000000000" pitchFamily="2" charset="2"/>
            </a:endParaRP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/>
              <a:t>Say which probing method</a:t>
            </a:r>
            <a:endParaRPr lang="en-US" altLang="zh-CN" sz="1800" b="1" dirty="0"/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/>
              <a:t>do you like?</a:t>
            </a:r>
            <a:endParaRPr lang="en-US" altLang="zh-CN" sz="1800" b="1" dirty="0"/>
          </a:p>
        </p:txBody>
      </p:sp>
      <p:sp>
        <p:nvSpPr>
          <p:cNvPr id="48175" name="AutoShape 47"/>
          <p:cNvSpPr/>
          <p:nvPr/>
        </p:nvSpPr>
        <p:spPr>
          <a:xfrm>
            <a:off x="1143000" y="685800"/>
            <a:ext cx="6019800" cy="2438400"/>
          </a:xfrm>
          <a:prstGeom prst="cloudCallout">
            <a:avLst>
              <a:gd name="adj1" fmla="val 48046"/>
              <a:gd name="adj2" fmla="val 91472"/>
            </a:avLst>
          </a:prstGeom>
          <a:gradFill rotWithShape="0">
            <a:gsLst>
              <a:gs pos="0">
                <a:srgbClr val="CCFFFF"/>
              </a:gs>
              <a:gs pos="100000">
                <a:srgbClr val="AAD5D5"/>
              </a:gs>
            </a:gsLst>
            <a:lin ang="18900000" scaled="1"/>
            <a:tileRect/>
          </a:gradFill>
          <a:ln w="25400" cap="flat" cmpd="sng">
            <a:solidFill>
              <a:srgbClr val="CCFFCC"/>
            </a:solidFill>
            <a:prstDash val="solid"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/>
              <a:t>   Practically speaking </a:t>
            </a:r>
            <a:endParaRPr lang="en-US" altLang="zh-CN" sz="1800" b="1" dirty="0"/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/>
              <a:t>       I would prefer to use quadratic hashing…</a:t>
            </a:r>
            <a:endParaRPr lang="en-US" altLang="zh-CN" sz="1800" b="1" dirty="0"/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/>
              <a:t>What, anything wrong with it?</a:t>
            </a:r>
            <a:endParaRPr lang="en-US" altLang="zh-CN" sz="1800" b="1" dirty="0"/>
          </a:p>
        </p:txBody>
      </p:sp>
      <p:sp>
        <p:nvSpPr>
          <p:cNvPr id="48176" name="AutoShape 48"/>
          <p:cNvSpPr/>
          <p:nvPr/>
        </p:nvSpPr>
        <p:spPr>
          <a:xfrm>
            <a:off x="1066800" y="685800"/>
            <a:ext cx="5334000" cy="2209800"/>
          </a:xfrm>
          <a:prstGeom prst="cloudCallout">
            <a:avLst>
              <a:gd name="adj1" fmla="val 47856"/>
              <a:gd name="adj2" fmla="val 138935"/>
            </a:avLst>
          </a:prstGeom>
          <a:gradFill rotWithShape="0">
            <a:gsLst>
              <a:gs pos="0">
                <a:srgbClr val="AFDBAF"/>
              </a:gs>
              <a:gs pos="100000">
                <a:srgbClr val="CCFFCC"/>
              </a:gs>
            </a:gsLst>
            <a:lin ang="2700000" scaled="1"/>
            <a:tileRect/>
          </a:gradFill>
          <a:ln w="25400" cap="flat" cmpd="sng">
            <a:solidFill>
              <a:srgbClr val="CCFFFF"/>
            </a:solidFill>
            <a:prstDash val="solid"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/>
              <a:t>What will happen </a:t>
            </a:r>
            <a:endParaRPr lang="en-US" altLang="zh-CN" sz="1800" b="1" dirty="0"/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/>
              <a:t>        if the table is more than half full?</a:t>
            </a:r>
            <a:endParaRPr lang="en-US" altLang="zh-CN" sz="1800" b="1" dirty="0"/>
          </a:p>
        </p:txBody>
      </p:sp>
      <p:sp>
        <p:nvSpPr>
          <p:cNvPr id="48177" name="AutoShape 49"/>
          <p:cNvSpPr/>
          <p:nvPr/>
        </p:nvSpPr>
        <p:spPr>
          <a:xfrm>
            <a:off x="990600" y="609600"/>
            <a:ext cx="5181600" cy="1981200"/>
          </a:xfrm>
          <a:prstGeom prst="cloudCallout">
            <a:avLst>
              <a:gd name="adj1" fmla="val 66454"/>
              <a:gd name="adj2" fmla="val 134296"/>
            </a:avLst>
          </a:prstGeom>
          <a:gradFill rotWithShape="0">
            <a:gsLst>
              <a:gs pos="0">
                <a:srgbClr val="CCFFFF"/>
              </a:gs>
              <a:gs pos="100000">
                <a:srgbClr val="AAD5D5"/>
              </a:gs>
            </a:gsLst>
            <a:lin ang="18900000" scaled="1"/>
            <a:tileRect/>
          </a:gradFill>
          <a:ln w="25400" cap="flat" cmpd="sng">
            <a:solidFill>
              <a:srgbClr val="CCFFCC"/>
            </a:solidFill>
            <a:prstDash val="solid"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/>
              <a:t>   Uhhhh… </a:t>
            </a:r>
            <a:endParaRPr lang="en-US" altLang="zh-CN" sz="1800" b="1" dirty="0"/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/>
              <a:t>insertion might fail </a:t>
            </a:r>
            <a:r>
              <a:rPr lang="en-US" altLang="zh-CN" sz="1800" b="1" dirty="0">
                <a:sym typeface="Wingdings" panose="05000000000000000000" pitchFamily="2" charset="2"/>
              </a:rPr>
              <a:t></a:t>
            </a:r>
            <a:endParaRPr lang="en-US" altLang="zh-CN" sz="1800" b="1" dirty="0"/>
          </a:p>
        </p:txBody>
      </p:sp>
      <p:sp>
        <p:nvSpPr>
          <p:cNvPr id="48178" name="AutoShape 50"/>
          <p:cNvSpPr/>
          <p:nvPr/>
        </p:nvSpPr>
        <p:spPr>
          <a:xfrm>
            <a:off x="990600" y="1143000"/>
            <a:ext cx="5334000" cy="1447800"/>
          </a:xfrm>
          <a:prstGeom prst="cloudCallout">
            <a:avLst>
              <a:gd name="adj1" fmla="val 48931"/>
              <a:gd name="adj2" fmla="val 207236"/>
            </a:avLst>
          </a:prstGeom>
          <a:gradFill rotWithShape="0">
            <a:gsLst>
              <a:gs pos="0">
                <a:srgbClr val="AFDBAF"/>
              </a:gs>
              <a:gs pos="100000">
                <a:srgbClr val="CCFFCC"/>
              </a:gs>
            </a:gsLst>
            <a:lin ang="2700000" scaled="1"/>
            <a:tileRect/>
          </a:gradFill>
          <a:ln w="25400" cap="flat" cmpd="sng">
            <a:solidFill>
              <a:srgbClr val="CCFFFF"/>
            </a:solidFill>
            <a:prstDash val="solid"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/>
              <a:t>Then what can we do?</a:t>
            </a:r>
            <a:endParaRPr lang="en-US" altLang="zh-CN" sz="1800" b="1" dirty="0"/>
          </a:p>
        </p:txBody>
      </p:sp>
      <p:sp>
        <p:nvSpPr>
          <p:cNvPr id="48179" name="Rectangle 51"/>
          <p:cNvSpPr/>
          <p:nvPr/>
        </p:nvSpPr>
        <p:spPr>
          <a:xfrm>
            <a:off x="5943600" y="4114800"/>
            <a:ext cx="2438400" cy="2133600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pSp>
        <p:nvGrpSpPr>
          <p:cNvPr id="15" name="Group 52"/>
          <p:cNvGrpSpPr/>
          <p:nvPr/>
        </p:nvGrpSpPr>
        <p:grpSpPr>
          <a:xfrm>
            <a:off x="533400" y="685800"/>
            <a:ext cx="7696200" cy="2355850"/>
            <a:chOff x="384" y="672"/>
            <a:chExt cx="4848" cy="1484"/>
          </a:xfrm>
        </p:grpSpPr>
        <p:pic>
          <p:nvPicPr>
            <p:cNvPr id="45072" name="Picture 53" descr="C:\Documents and Settings\chenyue\Application Data\Microsoft\Media Catalog\LIGHTBLB.WMF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4" y="912"/>
              <a:ext cx="791" cy="86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5073" name="Text Box 54"/>
            <p:cNvSpPr txBox="1"/>
            <p:nvPr/>
          </p:nvSpPr>
          <p:spPr>
            <a:xfrm>
              <a:off x="1248" y="672"/>
              <a:ext cx="3984" cy="1484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384175" lvl="0" indent="-384175" eaLnBrk="1" hangingPunct="1">
                <a:spcBef>
                  <a:spcPct val="10000"/>
                </a:spcBef>
                <a:buNone/>
              </a:pPr>
              <a:r>
                <a:rPr lang="en-US" altLang="zh-CN" sz="1800" b="1" dirty="0">
                  <a:solidFill>
                    <a:schemeClr val="hlink"/>
                  </a:solidFill>
                  <a:sym typeface="Wingdings" panose="05000000000000000000" pitchFamily="2" charset="2"/>
                </a:rPr>
                <a:t></a:t>
              </a:r>
              <a:r>
                <a:rPr lang="en-US" altLang="zh-CN" sz="1800" b="1" dirty="0">
                  <a:sym typeface="Wingdings" panose="05000000000000000000" pitchFamily="2" charset="2"/>
                </a:rPr>
                <a:t> </a:t>
              </a:r>
              <a:r>
                <a:rPr lang="en-US" altLang="zh-CN" sz="1800" b="1" dirty="0"/>
                <a:t>Build another table that is about twice as big;</a:t>
              </a:r>
              <a:endParaRPr lang="en-US" altLang="zh-CN" sz="1800" b="1" dirty="0"/>
            </a:p>
            <a:p>
              <a:pPr marL="384175" lvl="0" indent="-384175" eaLnBrk="1" hangingPunct="1">
                <a:spcBef>
                  <a:spcPct val="10000"/>
                </a:spcBef>
                <a:buNone/>
              </a:pPr>
              <a:r>
                <a:rPr lang="en-US" altLang="zh-CN" sz="1800" b="1" dirty="0">
                  <a:solidFill>
                    <a:schemeClr val="hlink"/>
                  </a:solidFill>
                  <a:sym typeface="Wingdings" panose="05000000000000000000" pitchFamily="2" charset="2"/>
                </a:rPr>
                <a:t></a:t>
              </a:r>
              <a:r>
                <a:rPr lang="en-US" altLang="zh-CN" sz="1800" b="1" dirty="0"/>
                <a:t> Scan down the entire original hash table for non-deleted elements;</a:t>
              </a:r>
              <a:endParaRPr lang="en-US" altLang="zh-CN" sz="1800" b="1" dirty="0"/>
            </a:p>
            <a:p>
              <a:pPr marL="384175" lvl="0" indent="-384175" eaLnBrk="1" hangingPunct="1">
                <a:spcBef>
                  <a:spcPct val="10000"/>
                </a:spcBef>
                <a:buNone/>
              </a:pPr>
              <a:r>
                <a:rPr lang="en-US" altLang="zh-CN" sz="1800" b="1" dirty="0">
                  <a:solidFill>
                    <a:schemeClr val="hlink"/>
                  </a:solidFill>
                  <a:sym typeface="Wingdings" panose="05000000000000000000" pitchFamily="2" charset="2"/>
                </a:rPr>
                <a:t></a:t>
              </a:r>
              <a:r>
                <a:rPr lang="en-US" altLang="zh-CN" sz="1800" b="1" dirty="0"/>
                <a:t> Use a new function to hash those elements into the new table.</a:t>
              </a:r>
              <a:endParaRPr lang="en-US" altLang="zh-CN" sz="1800" b="1" dirty="0"/>
            </a:p>
          </p:txBody>
        </p:sp>
      </p:grpSp>
      <p:sp>
        <p:nvSpPr>
          <p:cNvPr id="48183" name="Rectangle 55"/>
          <p:cNvSpPr/>
          <p:nvPr/>
        </p:nvSpPr>
        <p:spPr>
          <a:xfrm>
            <a:off x="609600" y="3048000"/>
            <a:ext cx="624840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/>
              <a:t>If there are </a:t>
            </a:r>
            <a:r>
              <a:rPr lang="en-US" altLang="zh-CN" sz="1800" b="1" i="1" dirty="0"/>
              <a:t>N</a:t>
            </a:r>
            <a:r>
              <a:rPr lang="en-US" altLang="zh-CN" sz="1800" b="1" dirty="0"/>
              <a:t> keys in the table, then </a:t>
            </a:r>
            <a:r>
              <a:rPr lang="en-US" altLang="zh-CN" sz="1800" b="1" i="1" dirty="0"/>
              <a:t>T</a:t>
            </a:r>
            <a:r>
              <a:rPr lang="en-US" altLang="zh-CN" sz="1800" b="1" dirty="0"/>
              <a:t> (</a:t>
            </a:r>
            <a:r>
              <a:rPr lang="en-US" altLang="zh-CN" sz="1800" b="1" i="1" dirty="0"/>
              <a:t>N</a:t>
            </a:r>
            <a:r>
              <a:rPr lang="en-US" altLang="zh-CN" sz="1800" b="1" dirty="0"/>
              <a:t>) = </a:t>
            </a:r>
            <a:endParaRPr lang="en-US" altLang="zh-CN" sz="1800" b="1" dirty="0"/>
          </a:p>
        </p:txBody>
      </p:sp>
      <p:sp>
        <p:nvSpPr>
          <p:cNvPr id="48184" name="Rectangle 56"/>
          <p:cNvSpPr/>
          <p:nvPr/>
        </p:nvSpPr>
        <p:spPr>
          <a:xfrm>
            <a:off x="6400800" y="3048000"/>
            <a:ext cx="114300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/>
              <a:t>O(</a:t>
            </a:r>
            <a:r>
              <a:rPr lang="en-US" altLang="zh-CN" sz="1800" b="1" i="1" dirty="0"/>
              <a:t>N</a:t>
            </a:r>
            <a:r>
              <a:rPr lang="en-US" altLang="zh-CN" sz="1800" b="1" dirty="0"/>
              <a:t>)</a:t>
            </a:r>
            <a:endParaRPr lang="en-US" altLang="zh-CN" sz="1800" b="1" dirty="0"/>
          </a:p>
        </p:txBody>
      </p:sp>
      <p:sp>
        <p:nvSpPr>
          <p:cNvPr id="48185" name="Oval 57"/>
          <p:cNvSpPr/>
          <p:nvPr/>
        </p:nvSpPr>
        <p:spPr>
          <a:xfrm>
            <a:off x="914400" y="3581400"/>
            <a:ext cx="6553200" cy="762000"/>
          </a:xfrm>
          <a:prstGeom prst="ellipse">
            <a:avLst/>
          </a:prstGeom>
          <a:gradFill rotWithShape="0">
            <a:gsLst>
              <a:gs pos="0">
                <a:srgbClr val="A6CFA6"/>
              </a:gs>
              <a:gs pos="50000">
                <a:srgbClr val="CCFFCC"/>
              </a:gs>
              <a:gs pos="100000">
                <a:srgbClr val="A6CFA6"/>
              </a:gs>
            </a:gsLst>
            <a:lin ang="0" scaled="1"/>
            <a:tileRect/>
          </a:gradFill>
          <a:ln w="25400" cap="flat" cmpd="sng">
            <a:solidFill>
              <a:srgbClr val="CCFFFF"/>
            </a:solidFill>
            <a:prstDash val="solid"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Question:</a:t>
            </a:r>
            <a:r>
              <a:rPr lang="en-US" altLang="zh-CN" sz="1800" b="1" dirty="0"/>
              <a:t>  When to rehash?</a:t>
            </a:r>
            <a:endParaRPr lang="en-US" altLang="zh-CN" sz="1800" b="1" dirty="0"/>
          </a:p>
        </p:txBody>
      </p:sp>
      <p:sp>
        <p:nvSpPr>
          <p:cNvPr id="48186" name="Oval 58"/>
          <p:cNvSpPr/>
          <p:nvPr/>
        </p:nvSpPr>
        <p:spPr>
          <a:xfrm>
            <a:off x="609600" y="4419600"/>
            <a:ext cx="8001000" cy="1905000"/>
          </a:xfrm>
          <a:prstGeom prst="ellipse">
            <a:avLst/>
          </a:prstGeom>
          <a:gradFill rotWithShape="0">
            <a:gsLst>
              <a:gs pos="0">
                <a:srgbClr val="CCFFFF"/>
              </a:gs>
              <a:gs pos="100000">
                <a:srgbClr val="A6CFCF"/>
              </a:gs>
            </a:gsLst>
            <a:path path="shape">
              <a:fillToRect l="50000" t="50000" r="50000" b="50000"/>
            </a:path>
            <a:tileRect/>
          </a:gradFill>
          <a:ln w="25400" cap="flat" cmpd="sng">
            <a:solidFill>
              <a:srgbClr val="CCFFCC"/>
            </a:solidFill>
            <a:prstDash val="solid"/>
            <a:headEnd type="none" w="med" len="med"/>
            <a:tailEnd type="none" w="med" len="med"/>
          </a:ln>
        </p:spPr>
        <p:txBody>
          <a:bodyPr wrap="none" lIns="90000" tIns="0" rIns="90000" bIns="190800" anchor="b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                   Answer: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latin typeface="Arial" panose="020B0604020202020204" pitchFamily="34" charset="0"/>
                <a:sym typeface="Wingdings" panose="05000000000000000000" pitchFamily="2" charset="2"/>
              </a:rPr>
              <a:t> As soon as the table is half full</a:t>
            </a:r>
            <a:endParaRPr lang="en-US" altLang="zh-CN" sz="2000" b="1" dirty="0">
              <a:latin typeface="Arial" panose="020B0604020202020204" pitchFamily="34" charset="0"/>
              <a:sym typeface="Wingdings" panose="05000000000000000000" pitchFamily="2" charset="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latin typeface="Arial" panose="020B0604020202020204" pitchFamily="34" charset="0"/>
                <a:sym typeface="Wingdings" panose="05000000000000000000" pitchFamily="2" charset="2"/>
              </a:rPr>
              <a:t> When an insertion fails</a:t>
            </a:r>
            <a:endParaRPr lang="en-US" altLang="zh-CN" sz="2000" b="1" dirty="0">
              <a:latin typeface="Arial" panose="020B0604020202020204" pitchFamily="34" charset="0"/>
              <a:sym typeface="Wingdings" panose="05000000000000000000" pitchFamily="2" charset="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latin typeface="Arial" panose="020B0604020202020204" pitchFamily="34" charset="0"/>
                <a:sym typeface="Wingdings" panose="05000000000000000000" pitchFamily="2" charset="2"/>
              </a:rPr>
              <a:t> When the table reaches a certain load factor</a:t>
            </a:r>
            <a:endParaRPr lang="en-US" altLang="zh-CN" sz="2000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1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81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8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21" dur="500"/>
                                        <p:tgtEl>
                                          <p:spTgt spid="4817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8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481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8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31" dur="500"/>
                                        <p:tgtEl>
                                          <p:spTgt spid="4817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8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481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8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41" dur="500"/>
                                        <p:tgtEl>
                                          <p:spTgt spid="4817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8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48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8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0" dur="500"/>
                                        <p:tgtEl>
                                          <p:spTgt spid="48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5" dur="500"/>
                                        <p:tgtEl>
                                          <p:spTgt spid="4818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0" dur="500"/>
                                        <p:tgtEl>
                                          <p:spTgt spid="4818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0" grpId="0"/>
      <p:bldP spid="48173" grpId="0" animBg="1"/>
      <p:bldP spid="48174" grpId="0" animBg="1"/>
      <p:bldP spid="48175" grpId="0" animBg="1"/>
      <p:bldP spid="48176" grpId="0" animBg="1"/>
      <p:bldP spid="48177" grpId="0" animBg="1"/>
      <p:bldP spid="48178" grpId="0" animBg="1"/>
      <p:bldP spid="48179" grpId="0" animBg="1"/>
      <p:bldP spid="48183" grpId="0"/>
      <p:bldP spid="48184" grpId="0"/>
      <p:bldP spid="48185" grpId="0" animBg="1"/>
      <p:bldP spid="48186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49155" name="AutoShape 3" descr="再生纸"/>
          <p:cNvSpPr/>
          <p:nvPr/>
        </p:nvSpPr>
        <p:spPr>
          <a:xfrm>
            <a:off x="762000" y="609600"/>
            <a:ext cx="7315200" cy="3048000"/>
          </a:xfrm>
          <a:prstGeom prst="roundRect">
            <a:avLst>
              <a:gd name="adj" fmla="val 16667"/>
            </a:avLst>
          </a:prstGeom>
          <a:blipFill rotWithShape="0">
            <a:blip r:embed="rId1"/>
          </a:blipFill>
          <a:ln w="25400">
            <a:noFill/>
          </a:ln>
          <a:effectLst>
            <a:outerShdw dist="107763" dir="2699999" algn="ctr" rotWithShape="0">
              <a:schemeClr val="bg2"/>
            </a:outerShdw>
          </a:effectLst>
        </p:spPr>
        <p:txBody>
          <a:bodyPr lIns="126000" tIns="82800" rIns="126000" bIns="82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767080" lvl="0" indent="-767080" eaLnBrk="1" hangingPunct="1">
              <a:spcBef>
                <a:spcPct val="0"/>
              </a:spcBef>
              <a:spcAft>
                <a:spcPct val="30000"/>
              </a:spcAft>
              <a:buNone/>
            </a:pPr>
            <a:r>
              <a:rPr lang="en-US" altLang="zh-CN" sz="1800" b="1" dirty="0">
                <a:solidFill>
                  <a:schemeClr val="hlink"/>
                </a:solidFill>
              </a:rPr>
              <a:t>Note:</a:t>
            </a:r>
            <a:r>
              <a:rPr lang="en-US" altLang="zh-CN" sz="1800" b="1" dirty="0"/>
              <a:t> Usually there should have been </a:t>
            </a:r>
            <a:r>
              <a:rPr lang="en-US" altLang="zh-CN" sz="1800" b="1" i="1" dirty="0"/>
              <a:t>N</a:t>
            </a:r>
            <a:r>
              <a:rPr lang="en-US" altLang="zh-CN" sz="1800" b="1" dirty="0"/>
              <a:t>/2 insertions before rehash, so O(</a:t>
            </a:r>
            <a:r>
              <a:rPr lang="en-US" altLang="zh-CN" sz="1800" b="1" i="1" dirty="0"/>
              <a:t>N</a:t>
            </a:r>
            <a:r>
              <a:rPr lang="en-US" altLang="zh-CN" sz="1800" b="1" dirty="0"/>
              <a:t>) rehash only adds a constant cost to each insertion.</a:t>
            </a:r>
            <a:endParaRPr lang="en-US" altLang="zh-CN" sz="1800" b="1" dirty="0"/>
          </a:p>
          <a:p>
            <a:pPr marL="767080" lvl="0" indent="-767080" eaLnBrk="1" hangingPunct="1">
              <a:spcBef>
                <a:spcPct val="0"/>
              </a:spcBef>
              <a:spcAft>
                <a:spcPct val="30000"/>
              </a:spcAft>
              <a:buNone/>
            </a:pPr>
            <a:r>
              <a:rPr lang="en-US" altLang="zh-CN" sz="1800" b="1" dirty="0"/>
              <a:t>          However, in an interactive system, the unfortunate user whose insertion caused a rehash could see a slowdown.</a:t>
            </a:r>
            <a:endParaRPr lang="en-US" altLang="zh-CN" sz="1800" b="1" dirty="0">
              <a:sym typeface="Symbol" panose="05050102010706020507" pitchFamily="18" charset="2"/>
            </a:endParaRPr>
          </a:p>
        </p:txBody>
      </p:sp>
      <p:sp>
        <p:nvSpPr>
          <p:cNvPr id="49156" name="AutoShape 4"/>
          <p:cNvSpPr/>
          <p:nvPr/>
        </p:nvSpPr>
        <p:spPr>
          <a:xfrm flipH="1">
            <a:off x="838200" y="3886200"/>
            <a:ext cx="7086600" cy="1600200"/>
          </a:xfrm>
          <a:prstGeom prst="horizontalScroll">
            <a:avLst>
              <a:gd name="adj" fmla="val 12500"/>
            </a:avLst>
          </a:prstGeom>
          <a:gradFill rotWithShape="0">
            <a:gsLst>
              <a:gs pos="0">
                <a:srgbClr val="CFCFCF"/>
              </a:gs>
              <a:gs pos="50000">
                <a:srgbClr val="FFFFFF"/>
              </a:gs>
              <a:gs pos="100000">
                <a:srgbClr val="CFCFCF"/>
              </a:gs>
            </a:gsLst>
            <a:lin ang="0" scaled="1"/>
            <a:tileRect/>
          </a:gradFill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/>
              <a:t>Read Figures 7.23 </a:t>
            </a:r>
            <a:endParaRPr lang="en-US" altLang="zh-CN" sz="1800" b="1" dirty="0"/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/>
              <a:t>for detailed implementation of rehashing.</a:t>
            </a:r>
            <a:endParaRPr lang="en-US" altLang="zh-CN" sz="1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9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915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5" grpId="0" animBg="1"/>
      <p:bldP spid="49156" grpId="0" animBg="1"/>
    </p:bldLst>
  </p:timing>
</p:sld>
</file>

<file path=ppt/theme/theme1.xml><?xml version="1.0" encoding="utf-8"?>
<a:theme xmlns:a="http://schemas.openxmlformats.org/drawingml/2006/main" name="Crayons">
  <a:themeElements>
    <a:clrScheme name="Crayons 1">
      <a:dk1>
        <a:srgbClr val="000000"/>
      </a:dk1>
      <a:lt1>
        <a:srgbClr val="FFFFFF"/>
      </a:lt1>
      <a:dk2>
        <a:srgbClr val="FF0000"/>
      </a:dk2>
      <a:lt2>
        <a:srgbClr val="FFB800"/>
      </a:lt2>
      <a:accent1>
        <a:srgbClr val="FFEF66"/>
      </a:accent1>
      <a:accent2>
        <a:srgbClr val="000000"/>
      </a:accent2>
      <a:accent3>
        <a:srgbClr val="FFFFFF"/>
      </a:accent3>
      <a:accent4>
        <a:srgbClr val="000000"/>
      </a:accent4>
      <a:accent5>
        <a:srgbClr val="FFF6B8"/>
      </a:accent5>
      <a:accent6>
        <a:srgbClr val="000000"/>
      </a:accent6>
      <a:hlink>
        <a:srgbClr val="00B200"/>
      </a:hlink>
      <a:folHlink>
        <a:srgbClr val="703DFF"/>
      </a:folHlink>
    </a:clrScheme>
    <a:fontScheme name="Crayons">
      <a:majorFont>
        <a:latin typeface="Comic Sans MS"/>
        <a:ea typeface="宋体"/>
        <a:cs typeface=""/>
      </a:majorFont>
      <a:minorFont>
        <a:latin typeface="Comic Sans MS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anose="030F0702030302020204" pitchFamily="66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anose="030F0702030302020204" pitchFamily="66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Crayons 1">
        <a:dk1>
          <a:srgbClr val="000000"/>
        </a:dk1>
        <a:lt1>
          <a:srgbClr val="FFFFFF"/>
        </a:lt1>
        <a:dk2>
          <a:srgbClr val="FF0000"/>
        </a:dk2>
        <a:lt2>
          <a:srgbClr val="FFB800"/>
        </a:lt2>
        <a:accent1>
          <a:srgbClr val="FFEF66"/>
        </a:accent1>
        <a:accent2>
          <a:srgbClr val="000000"/>
        </a:accent2>
        <a:accent3>
          <a:srgbClr val="FFFFFF"/>
        </a:accent3>
        <a:accent4>
          <a:srgbClr val="000000"/>
        </a:accent4>
        <a:accent5>
          <a:srgbClr val="FFF6B8"/>
        </a:accent5>
        <a:accent6>
          <a:srgbClr val="000000"/>
        </a:accent6>
        <a:hlink>
          <a:srgbClr val="00B200"/>
        </a:hlink>
        <a:folHlink>
          <a:srgbClr val="703D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rayons 2">
        <a:dk1>
          <a:srgbClr val="000000"/>
        </a:dk1>
        <a:lt1>
          <a:srgbClr val="FFFFFF"/>
        </a:lt1>
        <a:dk2>
          <a:srgbClr val="000000"/>
        </a:dk2>
        <a:lt2>
          <a:srgbClr val="99CCFF"/>
        </a:lt2>
        <a:accent1>
          <a:srgbClr val="CCCCFF"/>
        </a:accent1>
        <a:accent2>
          <a:srgbClr val="000066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00005C"/>
        </a:accent6>
        <a:hlink>
          <a:srgbClr val="00B200"/>
        </a:hlink>
        <a:folHlink>
          <a:srgbClr val="CCFF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rayons 3">
        <a:dk1>
          <a:srgbClr val="000000"/>
        </a:dk1>
        <a:lt1>
          <a:srgbClr val="FFFFFF"/>
        </a:lt1>
        <a:dk2>
          <a:srgbClr val="000000"/>
        </a:dk2>
        <a:lt2>
          <a:srgbClr val="3399FF"/>
        </a:lt2>
        <a:accent1>
          <a:srgbClr val="CCECFF"/>
        </a:accent1>
        <a:accent2>
          <a:srgbClr val="008080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007373"/>
        </a:accent6>
        <a:hlink>
          <a:srgbClr val="009999"/>
        </a:hlink>
        <a:folHlink>
          <a:srgbClr val="33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rayons 4">
        <a:dk1>
          <a:srgbClr val="808000"/>
        </a:dk1>
        <a:lt1>
          <a:srgbClr val="FFFFFF"/>
        </a:lt1>
        <a:dk2>
          <a:srgbClr val="336600"/>
        </a:dk2>
        <a:lt2>
          <a:srgbClr val="FFFFFF"/>
        </a:lt2>
        <a:accent1>
          <a:srgbClr val="99CC00"/>
        </a:accent1>
        <a:accent2>
          <a:srgbClr val="003300"/>
        </a:accent2>
        <a:accent3>
          <a:srgbClr val="ADB8AA"/>
        </a:accent3>
        <a:accent4>
          <a:srgbClr val="DADADA"/>
        </a:accent4>
        <a:accent5>
          <a:srgbClr val="CAE2AA"/>
        </a:accent5>
        <a:accent6>
          <a:srgbClr val="002D00"/>
        </a:accent6>
        <a:hlink>
          <a:srgbClr val="CCCC00"/>
        </a:hlink>
        <a:folHlink>
          <a:srgbClr val="CCFF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rayons 5">
        <a:dk1>
          <a:srgbClr val="808080"/>
        </a:dk1>
        <a:lt1>
          <a:srgbClr val="FFFFFF"/>
        </a:lt1>
        <a:dk2>
          <a:srgbClr val="003366"/>
        </a:dk2>
        <a:lt2>
          <a:srgbClr val="CCECFF"/>
        </a:lt2>
        <a:accent1>
          <a:srgbClr val="33CCCC"/>
        </a:accent1>
        <a:accent2>
          <a:srgbClr val="006699"/>
        </a:accent2>
        <a:accent3>
          <a:srgbClr val="AAADB8"/>
        </a:accent3>
        <a:accent4>
          <a:srgbClr val="DADADA"/>
        </a:accent4>
        <a:accent5>
          <a:srgbClr val="ADE2E2"/>
        </a:accent5>
        <a:accent6>
          <a:srgbClr val="005C8A"/>
        </a:accent6>
        <a:hlink>
          <a:srgbClr val="00FFFF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rayons 6">
        <a:dk1>
          <a:srgbClr val="6666FF"/>
        </a:dk1>
        <a:lt1>
          <a:srgbClr val="FFFFFF"/>
        </a:lt1>
        <a:dk2>
          <a:srgbClr val="000066"/>
        </a:dk2>
        <a:lt2>
          <a:srgbClr val="FFFFFF"/>
        </a:lt2>
        <a:accent1>
          <a:srgbClr val="33CCFF"/>
        </a:accent1>
        <a:accent2>
          <a:srgbClr val="0000FF"/>
        </a:accent2>
        <a:accent3>
          <a:srgbClr val="AAAAB8"/>
        </a:accent3>
        <a:accent4>
          <a:srgbClr val="DADADA"/>
        </a:accent4>
        <a:accent5>
          <a:srgbClr val="ADE2FF"/>
        </a:accent5>
        <a:accent6>
          <a:srgbClr val="0000E7"/>
        </a:accent6>
        <a:hlink>
          <a:srgbClr val="FFFF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rayons 7">
        <a:dk1>
          <a:srgbClr val="000000"/>
        </a:dk1>
        <a:lt1>
          <a:srgbClr val="FFFFFF"/>
        </a:lt1>
        <a:dk2>
          <a:srgbClr val="800080"/>
        </a:dk2>
        <a:lt2>
          <a:srgbClr val="FFFFFF"/>
        </a:lt2>
        <a:accent1>
          <a:srgbClr val="CC66FF"/>
        </a:accent1>
        <a:accent2>
          <a:srgbClr val="990099"/>
        </a:accent2>
        <a:accent3>
          <a:srgbClr val="C0AAC0"/>
        </a:accent3>
        <a:accent4>
          <a:srgbClr val="DADADA"/>
        </a:accent4>
        <a:accent5>
          <a:srgbClr val="E2B8FF"/>
        </a:accent5>
        <a:accent6>
          <a:srgbClr val="8A008A"/>
        </a:accent6>
        <a:hlink>
          <a:srgbClr val="FF9900"/>
        </a:hlink>
        <a:folHlink>
          <a:srgbClr val="FF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rayons 8">
        <a:dk1>
          <a:srgbClr val="FF3300"/>
        </a:dk1>
        <a:lt1>
          <a:srgbClr val="FFFFFF"/>
        </a:lt1>
        <a:dk2>
          <a:srgbClr val="800000"/>
        </a:dk2>
        <a:lt2>
          <a:srgbClr val="FFFFCC"/>
        </a:lt2>
        <a:accent1>
          <a:srgbClr val="FF7C80"/>
        </a:accent1>
        <a:accent2>
          <a:srgbClr val="990000"/>
        </a:accent2>
        <a:accent3>
          <a:srgbClr val="C0AAAA"/>
        </a:accent3>
        <a:accent4>
          <a:srgbClr val="DADADA"/>
        </a:accent4>
        <a:accent5>
          <a:srgbClr val="FFBFC0"/>
        </a:accent5>
        <a:accent6>
          <a:srgbClr val="8A0000"/>
        </a:accent6>
        <a:hlink>
          <a:srgbClr val="FF66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rayons">
  <a:themeElements>
    <a:clrScheme name="Crayons 1">
      <a:dk1>
        <a:srgbClr val="000000"/>
      </a:dk1>
      <a:lt1>
        <a:srgbClr val="FFFFFF"/>
      </a:lt1>
      <a:dk2>
        <a:srgbClr val="FF0000"/>
      </a:dk2>
      <a:lt2>
        <a:srgbClr val="FFB800"/>
      </a:lt2>
      <a:accent1>
        <a:srgbClr val="FFEF66"/>
      </a:accent1>
      <a:accent2>
        <a:srgbClr val="000000"/>
      </a:accent2>
      <a:accent3>
        <a:srgbClr val="FFFFFF"/>
      </a:accent3>
      <a:accent4>
        <a:srgbClr val="000000"/>
      </a:accent4>
      <a:accent5>
        <a:srgbClr val="FFF6B8"/>
      </a:accent5>
      <a:accent6>
        <a:srgbClr val="000000"/>
      </a:accent6>
      <a:hlink>
        <a:srgbClr val="00B200"/>
      </a:hlink>
      <a:folHlink>
        <a:srgbClr val="703DFF"/>
      </a:folHlink>
    </a:clrScheme>
    <a:fontScheme name="Crayons">
      <a:majorFont>
        <a:latin typeface="Comic Sans MS"/>
        <a:ea typeface="宋体"/>
        <a:cs typeface=""/>
      </a:majorFont>
      <a:minorFont>
        <a:latin typeface="Comic Sans MS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anose="030F0702030302020204" pitchFamily="66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anose="030F0702030302020204" pitchFamily="66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Crayons 1">
        <a:dk1>
          <a:srgbClr val="000000"/>
        </a:dk1>
        <a:lt1>
          <a:srgbClr val="FFFFFF"/>
        </a:lt1>
        <a:dk2>
          <a:srgbClr val="FF0000"/>
        </a:dk2>
        <a:lt2>
          <a:srgbClr val="FFB800"/>
        </a:lt2>
        <a:accent1>
          <a:srgbClr val="FFEF66"/>
        </a:accent1>
        <a:accent2>
          <a:srgbClr val="000000"/>
        </a:accent2>
        <a:accent3>
          <a:srgbClr val="FFFFFF"/>
        </a:accent3>
        <a:accent4>
          <a:srgbClr val="000000"/>
        </a:accent4>
        <a:accent5>
          <a:srgbClr val="FFF6B8"/>
        </a:accent5>
        <a:accent6>
          <a:srgbClr val="000000"/>
        </a:accent6>
        <a:hlink>
          <a:srgbClr val="00B200"/>
        </a:hlink>
        <a:folHlink>
          <a:srgbClr val="703D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rayons 2">
        <a:dk1>
          <a:srgbClr val="000000"/>
        </a:dk1>
        <a:lt1>
          <a:srgbClr val="FFFFFF"/>
        </a:lt1>
        <a:dk2>
          <a:srgbClr val="000000"/>
        </a:dk2>
        <a:lt2>
          <a:srgbClr val="99CCFF"/>
        </a:lt2>
        <a:accent1>
          <a:srgbClr val="CCCCFF"/>
        </a:accent1>
        <a:accent2>
          <a:srgbClr val="000066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00005C"/>
        </a:accent6>
        <a:hlink>
          <a:srgbClr val="00B200"/>
        </a:hlink>
        <a:folHlink>
          <a:srgbClr val="CCFF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rayons 3">
        <a:dk1>
          <a:srgbClr val="000000"/>
        </a:dk1>
        <a:lt1>
          <a:srgbClr val="FFFFFF"/>
        </a:lt1>
        <a:dk2>
          <a:srgbClr val="000000"/>
        </a:dk2>
        <a:lt2>
          <a:srgbClr val="3399FF"/>
        </a:lt2>
        <a:accent1>
          <a:srgbClr val="CCECFF"/>
        </a:accent1>
        <a:accent2>
          <a:srgbClr val="008080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007373"/>
        </a:accent6>
        <a:hlink>
          <a:srgbClr val="009999"/>
        </a:hlink>
        <a:folHlink>
          <a:srgbClr val="33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rayons 4">
        <a:dk1>
          <a:srgbClr val="808000"/>
        </a:dk1>
        <a:lt1>
          <a:srgbClr val="FFFFFF"/>
        </a:lt1>
        <a:dk2>
          <a:srgbClr val="336600"/>
        </a:dk2>
        <a:lt2>
          <a:srgbClr val="FFFFFF"/>
        </a:lt2>
        <a:accent1>
          <a:srgbClr val="99CC00"/>
        </a:accent1>
        <a:accent2>
          <a:srgbClr val="003300"/>
        </a:accent2>
        <a:accent3>
          <a:srgbClr val="ADB8AA"/>
        </a:accent3>
        <a:accent4>
          <a:srgbClr val="DADADA"/>
        </a:accent4>
        <a:accent5>
          <a:srgbClr val="CAE2AA"/>
        </a:accent5>
        <a:accent6>
          <a:srgbClr val="002D00"/>
        </a:accent6>
        <a:hlink>
          <a:srgbClr val="CCCC00"/>
        </a:hlink>
        <a:folHlink>
          <a:srgbClr val="CCFF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rayons 5">
        <a:dk1>
          <a:srgbClr val="808080"/>
        </a:dk1>
        <a:lt1>
          <a:srgbClr val="FFFFFF"/>
        </a:lt1>
        <a:dk2>
          <a:srgbClr val="003366"/>
        </a:dk2>
        <a:lt2>
          <a:srgbClr val="CCECFF"/>
        </a:lt2>
        <a:accent1>
          <a:srgbClr val="33CCCC"/>
        </a:accent1>
        <a:accent2>
          <a:srgbClr val="006699"/>
        </a:accent2>
        <a:accent3>
          <a:srgbClr val="AAADB8"/>
        </a:accent3>
        <a:accent4>
          <a:srgbClr val="DADADA"/>
        </a:accent4>
        <a:accent5>
          <a:srgbClr val="ADE2E2"/>
        </a:accent5>
        <a:accent6>
          <a:srgbClr val="005C8A"/>
        </a:accent6>
        <a:hlink>
          <a:srgbClr val="00FFFF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rayons 6">
        <a:dk1>
          <a:srgbClr val="6666FF"/>
        </a:dk1>
        <a:lt1>
          <a:srgbClr val="FFFFFF"/>
        </a:lt1>
        <a:dk2>
          <a:srgbClr val="000066"/>
        </a:dk2>
        <a:lt2>
          <a:srgbClr val="FFFFFF"/>
        </a:lt2>
        <a:accent1>
          <a:srgbClr val="33CCFF"/>
        </a:accent1>
        <a:accent2>
          <a:srgbClr val="0000FF"/>
        </a:accent2>
        <a:accent3>
          <a:srgbClr val="AAAAB8"/>
        </a:accent3>
        <a:accent4>
          <a:srgbClr val="DADADA"/>
        </a:accent4>
        <a:accent5>
          <a:srgbClr val="ADE2FF"/>
        </a:accent5>
        <a:accent6>
          <a:srgbClr val="0000E7"/>
        </a:accent6>
        <a:hlink>
          <a:srgbClr val="FFFF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rayons 7">
        <a:dk1>
          <a:srgbClr val="000000"/>
        </a:dk1>
        <a:lt1>
          <a:srgbClr val="FFFFFF"/>
        </a:lt1>
        <a:dk2>
          <a:srgbClr val="800080"/>
        </a:dk2>
        <a:lt2>
          <a:srgbClr val="FFFFFF"/>
        </a:lt2>
        <a:accent1>
          <a:srgbClr val="CC66FF"/>
        </a:accent1>
        <a:accent2>
          <a:srgbClr val="990099"/>
        </a:accent2>
        <a:accent3>
          <a:srgbClr val="C0AAC0"/>
        </a:accent3>
        <a:accent4>
          <a:srgbClr val="DADADA"/>
        </a:accent4>
        <a:accent5>
          <a:srgbClr val="E2B8FF"/>
        </a:accent5>
        <a:accent6>
          <a:srgbClr val="8A008A"/>
        </a:accent6>
        <a:hlink>
          <a:srgbClr val="FF9900"/>
        </a:hlink>
        <a:folHlink>
          <a:srgbClr val="FF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rayons 8">
        <a:dk1>
          <a:srgbClr val="FF3300"/>
        </a:dk1>
        <a:lt1>
          <a:srgbClr val="FFFFFF"/>
        </a:lt1>
        <a:dk2>
          <a:srgbClr val="800000"/>
        </a:dk2>
        <a:lt2>
          <a:srgbClr val="FFFFCC"/>
        </a:lt2>
        <a:accent1>
          <a:srgbClr val="FF7C80"/>
        </a:accent1>
        <a:accent2>
          <a:srgbClr val="990000"/>
        </a:accent2>
        <a:accent3>
          <a:srgbClr val="C0AAAA"/>
        </a:accent3>
        <a:accent4>
          <a:srgbClr val="DADADA"/>
        </a:accent4>
        <a:accent5>
          <a:srgbClr val="FFBFC0"/>
        </a:accent5>
        <a:accent6>
          <a:srgbClr val="8A0000"/>
        </a:accent6>
        <a:hlink>
          <a:srgbClr val="FF66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Crayons</Template>
  <TotalTime>0</TotalTime>
  <Words>12982</Words>
  <Application>WPS 演示</Application>
  <PresentationFormat>全屏显示(4:3)</PresentationFormat>
  <Paragraphs>935</Paragraphs>
  <Slides>35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35</vt:i4>
      </vt:variant>
    </vt:vector>
  </HeadingPairs>
  <TitlesOfParts>
    <vt:vector size="49" baseType="lpstr">
      <vt:lpstr>Arial</vt:lpstr>
      <vt:lpstr>宋体</vt:lpstr>
      <vt:lpstr>Wingdings</vt:lpstr>
      <vt:lpstr>Comic Sans MS</vt:lpstr>
      <vt:lpstr>Times New Roman</vt:lpstr>
      <vt:lpstr>Symbol</vt:lpstr>
      <vt:lpstr>微软雅黑</vt:lpstr>
      <vt:lpstr>Arial Unicode MS</vt:lpstr>
      <vt:lpstr>Webdings</vt:lpstr>
      <vt:lpstr>MS Hei</vt:lpstr>
      <vt:lpstr>Crayons</vt:lpstr>
      <vt:lpstr>1_Crayons</vt:lpstr>
      <vt:lpstr>Equation.3</vt:lpstr>
      <vt:lpstr>MS_ClipArt_Gallery.2</vt:lpstr>
      <vt:lpstr>Chapter 5 Hashing （哈希表）</vt:lpstr>
      <vt:lpstr>Searching</vt:lpstr>
      <vt:lpstr>Key Fields</vt:lpstr>
      <vt:lpstr>Searching</vt:lpstr>
      <vt:lpstr>Binary Search</vt:lpstr>
      <vt:lpstr>Binary Search: Method</vt:lpstr>
      <vt:lpstr>Illustration of Binary search</vt:lpstr>
      <vt:lpstr>Hashing</vt:lpstr>
      <vt:lpstr>Hashing（杂凑）</vt:lpstr>
      <vt:lpstr>Hash Tables</vt:lpstr>
      <vt:lpstr>PowerPoint 演示文稿</vt:lpstr>
      <vt:lpstr>Remaining Problems</vt:lpstr>
      <vt:lpstr>PowerPoint 演示文稿</vt:lpstr>
      <vt:lpstr>Hash function examples</vt:lpstr>
      <vt:lpstr>PowerPoint 演示文稿</vt:lpstr>
      <vt:lpstr>PowerPoint 演示文稿</vt:lpstr>
      <vt:lpstr>PowerPoint 演示文稿</vt:lpstr>
      <vt:lpstr>PowerPoint 演示文稿</vt:lpstr>
      <vt:lpstr>Solving Collisions</vt:lpstr>
      <vt:lpstr>Separate Chaining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CSG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9 Searching</dc:title>
  <dc:creator>YuChang</dc:creator>
  <cp:lastModifiedBy>Yan</cp:lastModifiedBy>
  <cp:revision>113</cp:revision>
  <dcterms:created xsi:type="dcterms:W3CDTF">2012-11-29T12:16:00Z</dcterms:created>
  <dcterms:modified xsi:type="dcterms:W3CDTF">2025-12-14T13:42:07Z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72E7A0EFFC9A4B0386AAC28277A12E59_12</vt:lpwstr>
  </property>
  <property fmtid="{D5CDD505-2E9C-101B-9397-08002B2CF9AE}" pid="3" name="KSOProductBuildVer">
    <vt:lpwstr>2052-12.1.0.24034</vt:lpwstr>
  </property>
</Properties>
</file>