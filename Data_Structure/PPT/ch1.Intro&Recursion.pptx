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8" r:id="rId3"/>
    <p:sldId id="259" r:id="rId4"/>
    <p:sldId id="263" r:id="rId5"/>
    <p:sldId id="374" r:id="rId6"/>
    <p:sldId id="375" r:id="rId8"/>
    <p:sldId id="261" r:id="rId9"/>
    <p:sldId id="376" r:id="rId10"/>
    <p:sldId id="271" r:id="rId11"/>
    <p:sldId id="272" r:id="rId12"/>
    <p:sldId id="273" r:id="rId13"/>
    <p:sldId id="275" r:id="rId14"/>
    <p:sldId id="303" r:id="rId15"/>
    <p:sldId id="277" r:id="rId16"/>
    <p:sldId id="278" r:id="rId17"/>
    <p:sldId id="298" r:id="rId18"/>
    <p:sldId id="301" r:id="rId19"/>
    <p:sldId id="304" r:id="rId20"/>
    <p:sldId id="279" r:id="rId21"/>
    <p:sldId id="280" r:id="rId22"/>
    <p:sldId id="346" r:id="rId23"/>
    <p:sldId id="281" r:id="rId24"/>
    <p:sldId id="282" r:id="rId25"/>
    <p:sldId id="283" r:id="rId26"/>
    <p:sldId id="285" r:id="rId27"/>
    <p:sldId id="286" r:id="rId28"/>
    <p:sldId id="287" r:id="rId29"/>
    <p:sldId id="345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332" r:id="rId48"/>
    <p:sldId id="333" r:id="rId49"/>
    <p:sldId id="335" r:id="rId50"/>
    <p:sldId id="288" r:id="rId51"/>
    <p:sldId id="289" r:id="rId52"/>
    <p:sldId id="290" r:id="rId53"/>
    <p:sldId id="291" r:id="rId5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8F8F8"/>
    <a:srgbClr val="000000"/>
    <a:srgbClr val="6600CC"/>
    <a:srgbClr val="009900"/>
    <a:srgbClr val="FF3300"/>
    <a:srgbClr val="33CC33"/>
    <a:srgbClr val="997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0"/>
    <p:restoredTop sz="95874" autoAdjust="0"/>
  </p:normalViewPr>
  <p:slideViewPr>
    <p:cSldViewPr showGuides="1">
      <p:cViewPr varScale="1">
        <p:scale>
          <a:sx n="110" d="100"/>
          <a:sy n="110" d="100"/>
        </p:scale>
        <p:origin x="15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b="1" dirty="0">
                <a:solidFill>
                  <a:srgbClr val="FF3300"/>
                </a:solidFill>
              </a:rPr>
              <a:t>例如</a:t>
            </a:r>
            <a:r>
              <a:rPr lang="en-US" altLang="zh-CN" b="1" dirty="0">
                <a:solidFill>
                  <a:srgbClr val="FF3300"/>
                </a:solidFill>
              </a:rPr>
              <a:t>,200402</a:t>
            </a:r>
            <a:r>
              <a:rPr lang="zh-CN" altLang="en-US" b="1" dirty="0">
                <a:solidFill>
                  <a:srgbClr val="FF3300"/>
                </a:solidFill>
              </a:rPr>
              <a:t>班为一个学生数据</a:t>
            </a:r>
            <a:r>
              <a:rPr lang="en-US" altLang="zh-CN" b="1" dirty="0">
                <a:solidFill>
                  <a:srgbClr val="FF3300"/>
                </a:solidFill>
              </a:rPr>
              <a:t>,</a:t>
            </a:r>
            <a:r>
              <a:rPr lang="zh-CN" altLang="en-US" b="1" dirty="0">
                <a:solidFill>
                  <a:srgbClr val="FF3300"/>
                </a:solidFill>
              </a:rPr>
              <a:t>而其中的</a:t>
            </a:r>
            <a:r>
              <a:rPr lang="zh-CN" altLang="en-US" b="1" dirty="0">
                <a:solidFill>
                  <a:srgbClr val="FF3300"/>
                </a:solidFill>
                <a:latin typeface="Arial" panose="020B0604020202020204" pitchFamily="34" charset="0"/>
              </a:rPr>
              <a:t>“</a:t>
            </a:r>
            <a:r>
              <a:rPr lang="zh-CN" altLang="en-US" b="1" dirty="0">
                <a:solidFill>
                  <a:srgbClr val="FF3300"/>
                </a:solidFill>
              </a:rPr>
              <a:t>张三</a:t>
            </a:r>
            <a:r>
              <a:rPr lang="zh-CN" altLang="en-US" b="1" dirty="0">
                <a:solidFill>
                  <a:srgbClr val="FF3300"/>
                </a:solidFill>
                <a:latin typeface="Arial" panose="020B0604020202020204" pitchFamily="34" charset="0"/>
              </a:rPr>
              <a:t>”</a:t>
            </a:r>
            <a:r>
              <a:rPr lang="zh-CN" altLang="en-US" b="1" dirty="0">
                <a:solidFill>
                  <a:srgbClr val="FF3300"/>
                </a:solidFill>
              </a:rPr>
              <a:t>是一个数据元素</a:t>
            </a:r>
            <a:r>
              <a:rPr lang="en-US" altLang="zh-CN" b="1" dirty="0">
                <a:solidFill>
                  <a:srgbClr val="FF3300"/>
                </a:solidFill>
              </a:rPr>
              <a:t>)</a:t>
            </a:r>
            <a:r>
              <a:rPr lang="zh-CN" altLang="en-US" b="1" dirty="0">
                <a:solidFill>
                  <a:srgbClr val="FF3300"/>
                </a:solidFill>
              </a:rPr>
              <a:t>。</a:t>
            </a:r>
            <a:endParaRPr lang="zh-CN" altLang="en-US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150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en-US" altLang="zh-CN" dirty="0"/>
              <a:t>clever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range from techniques with which you are already familiar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eg, representing simple lists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to ones that are more complex, such as hash tables or self-balancing trees.  Elegant, mathematically deep, non obvious.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making the different meanings of 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efficient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 precise is much of the work of this course!</a:t>
            </a:r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5603" name="Rectangle 7"/>
          <p:cNvSpPr txBox="1">
            <a:spLocks noGrp="1"/>
          </p:cNvSpPr>
          <p:nvPr/>
        </p:nvSpPr>
        <p:spPr>
          <a:xfrm>
            <a:off x="3887788" y="8686800"/>
            <a:ext cx="2970212" cy="457200"/>
          </a:xfrm>
          <a:prstGeom prst="rect">
            <a:avLst/>
          </a:prstGeom>
          <a:noFill/>
          <a:ln w="9525">
            <a:noFill/>
          </a:ln>
        </p:spPr>
        <p:txBody>
          <a:bodyPr lIns="90612" tIns="45305" rIns="90612" bIns="45305" anchor="b" anchorCtr="0"/>
          <a:lstStyle/>
          <a:p>
            <a:pPr lvl="0" algn="r" defTabSz="906780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560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</p:spPr>
      </p:sp>
      <p:sp>
        <p:nvSpPr>
          <p:cNvPr id="25605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0612" tIns="45305" rIns="90612" bIns="45305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7651" name="Rectangle 7"/>
          <p:cNvSpPr txBox="1">
            <a:spLocks noGrp="1"/>
          </p:cNvSpPr>
          <p:nvPr/>
        </p:nvSpPr>
        <p:spPr>
          <a:xfrm>
            <a:off x="3887788" y="8686800"/>
            <a:ext cx="2970212" cy="457200"/>
          </a:xfrm>
          <a:prstGeom prst="rect">
            <a:avLst/>
          </a:prstGeom>
          <a:noFill/>
          <a:ln w="9525">
            <a:noFill/>
          </a:ln>
        </p:spPr>
        <p:txBody>
          <a:bodyPr lIns="90612" tIns="45305" rIns="90612" bIns="45305" anchor="b" anchorCtr="0"/>
          <a:lstStyle/>
          <a:p>
            <a:pPr lvl="0" algn="r" defTabSz="906780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2765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</p:spPr>
      </p:sp>
      <p:sp>
        <p:nvSpPr>
          <p:cNvPr id="27653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0612" tIns="45305" rIns="90612" bIns="45305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en-US" altLang="zh-CN" dirty="0"/>
              <a:t>Three things to consider:1. what is the scale of the problem</a:t>
            </a:r>
            <a:endParaRPr lang="en-US" altLang="zh-CN" dirty="0"/>
          </a:p>
          <a:p>
            <a:pPr lvl="0"/>
            <a:r>
              <a:rPr lang="en-US" altLang="zh-CN" dirty="0"/>
              <a:t>                                        2. what is the base case</a:t>
            </a:r>
            <a:endParaRPr lang="en-US" altLang="zh-CN" dirty="0"/>
          </a:p>
          <a:p>
            <a:pPr lvl="0"/>
            <a:r>
              <a:rPr lang="en-US" altLang="zh-CN" dirty="0"/>
              <a:t>                                        3. how to make recursive involking i.e. how to express the problem in terms of smaller instances of the problem</a:t>
            </a:r>
            <a:endParaRPr lang="zh-CN" altLang="en-US" dirty="0"/>
          </a:p>
        </p:txBody>
      </p:sp>
      <p:sp>
        <p:nvSpPr>
          <p:cNvPr id="37892" name="幻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48131" name="Rectangle 7"/>
          <p:cNvSpPr txBox="1">
            <a:spLocks noGrp="1"/>
          </p:cNvSpPr>
          <p:nvPr/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18739" tIns="0" rIns="18739" bIns="0" anchor="b" anchorCtr="0"/>
          <a:lstStyle/>
          <a:p>
            <a:pPr lvl="0" algn="r" defTabSz="900430">
              <a:spcBef>
                <a:spcPct val="0"/>
              </a:spcBef>
            </a:pPr>
            <a:fld id="{9A0DB2DC-4C9A-4742-B13C-FB6460FD3503}" type="slidenum">
              <a:rPr lang="en-US" altLang="zh-CN" sz="1000" i="1" dirty="0">
                <a:latin typeface="Times New Roman" panose="02020603050405020304" pitchFamily="18" charset="0"/>
              </a:rPr>
            </a:fld>
            <a:endParaRPr lang="en-US" altLang="zh-CN" sz="1000" i="1" dirty="0">
              <a:latin typeface="Times New Roman" panose="02020603050405020304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0938" y="690563"/>
            <a:ext cx="4556125" cy="3416300"/>
          </a:xfrm>
        </p:spPr>
      </p:sp>
      <p:sp>
        <p:nvSpPr>
          <p:cNvPr id="48133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0574" tIns="45288" rIns="90574" bIns="45288" anchor="t" anchorCtr="0"/>
          <a:lstStyle/>
          <a:p>
            <a:pPr lvl="0"/>
            <a:r>
              <a:rPr lang="en-US" altLang="zh-CN" sz="2000" dirty="0"/>
              <a:t>Could use animation of towers of hanoi from animations page on Web site.</a:t>
            </a:r>
            <a:endParaRPr lang="en-US" altLang="zh-CN" sz="2000" dirty="0"/>
          </a:p>
          <a:p>
            <a:pPr lvl="0"/>
            <a:r>
              <a:rPr lang="en-US" altLang="zh-CN" sz="2000" dirty="0"/>
              <a:t>Also known as Towers of Brahma.</a:t>
            </a:r>
            <a:endParaRPr lang="en-US" altLang="zh-CN" sz="2000" dirty="0"/>
          </a:p>
          <a:p>
            <a:pPr lvl="0"/>
            <a:r>
              <a:rPr lang="en-US" altLang="zh-CN" sz="2000" dirty="0"/>
              <a:t>According to legend, on the day of creation Buddhist monks began the task of moving disks from tower A to tower C. When they get done, the world will come to an end.</a:t>
            </a:r>
            <a:endParaRPr lang="en-US" altLang="zh-CN" sz="20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7587" name="Rectangle 7"/>
          <p:cNvSpPr txBox="1">
            <a:spLocks noGrp="1"/>
          </p:cNvSpPr>
          <p:nvPr/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18739" tIns="0" rIns="18739" bIns="0" anchor="b" anchorCtr="0"/>
          <a:lstStyle/>
          <a:p>
            <a:pPr lvl="0" algn="r" defTabSz="900430">
              <a:spcBef>
                <a:spcPct val="0"/>
              </a:spcBef>
            </a:pPr>
            <a:fld id="{9A0DB2DC-4C9A-4742-B13C-FB6460FD3503}" type="slidenum">
              <a:rPr lang="en-US" altLang="zh-CN" sz="1000" i="1" dirty="0">
                <a:latin typeface="Times New Roman" panose="02020603050405020304" pitchFamily="18" charset="0"/>
              </a:rPr>
            </a:fld>
            <a:endParaRPr lang="en-US" altLang="zh-CN" sz="1000" i="1" dirty="0">
              <a:latin typeface="Times New Roman" panose="02020603050405020304" pitchFamily="18" charset="0"/>
            </a:endParaRPr>
          </a:p>
        </p:txBody>
      </p:sp>
      <p:sp>
        <p:nvSpPr>
          <p:cNvPr id="6758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0938" y="690563"/>
            <a:ext cx="4556125" cy="3416300"/>
          </a:xfrm>
        </p:spPr>
      </p:sp>
      <p:sp>
        <p:nvSpPr>
          <p:cNvPr id="67589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0574" tIns="45288" rIns="90574" bIns="45288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9635" name="Rectangle 7"/>
          <p:cNvSpPr txBox="1">
            <a:spLocks noGrp="1"/>
          </p:cNvSpPr>
          <p:nvPr/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18739" tIns="0" rIns="18739" bIns="0" anchor="b" anchorCtr="0"/>
          <a:lstStyle/>
          <a:p>
            <a:pPr lvl="0" algn="r" defTabSz="900430">
              <a:spcBef>
                <a:spcPct val="0"/>
              </a:spcBef>
            </a:pPr>
            <a:fld id="{9A0DB2DC-4C9A-4742-B13C-FB6460FD3503}" type="slidenum">
              <a:rPr lang="en-US" altLang="zh-CN" sz="1000" i="1" dirty="0">
                <a:latin typeface="Times New Roman" panose="02020603050405020304" pitchFamily="18" charset="0"/>
              </a:rPr>
            </a:fld>
            <a:endParaRPr lang="en-US" altLang="zh-CN" sz="1000" i="1" dirty="0">
              <a:latin typeface="Times New Roman" panose="02020603050405020304" pitchFamily="18" charset="0"/>
            </a:endParaRPr>
          </a:p>
        </p:txBody>
      </p:sp>
      <p:sp>
        <p:nvSpPr>
          <p:cNvPr id="6963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0938" y="690563"/>
            <a:ext cx="4556125" cy="3416300"/>
          </a:xfrm>
          <a:solidFill>
            <a:srgbClr val="FFFFFF">
              <a:alpha val="100000"/>
            </a:srgbClr>
          </a:solidFill>
        </p:spPr>
      </p:sp>
      <p:sp>
        <p:nvSpPr>
          <p:cNvPr id="69637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0574" tIns="45288" rIns="90574" bIns="45288" anchor="t" anchorCtr="0"/>
          <a:lstStyle/>
          <a:p>
            <a:pPr lvl="0"/>
            <a:r>
              <a:rPr lang="en-US" altLang="zh-CN" dirty="0"/>
              <a:t>At the rate of a billion moves/second it would take 570 years to complete the task of moving 64 disks. Of course, the Buddhist monks engaged in this activity are moving far fewer disks/second. At the rate of (say) 1 disk a minute (the disks are, after all, rather heavy), the monks will take about 3.4 * </a:t>
            </a:r>
            <a:r>
              <a:rPr lang="en-US" altLang="zh-CN" dirty="0">
                <a:solidFill>
                  <a:schemeClr val="hlink"/>
                </a:solidFill>
              </a:rPr>
              <a:t>10</a:t>
            </a:r>
            <a:r>
              <a:rPr lang="en-US" altLang="zh-CN" baseline="30000" dirty="0">
                <a:solidFill>
                  <a:schemeClr val="hlink"/>
                </a:solidFill>
              </a:rPr>
              <a:t>13 </a:t>
            </a:r>
            <a:r>
              <a:rPr lang="en-US" altLang="zh-CN" dirty="0">
                <a:solidFill>
                  <a:schemeClr val="hlink"/>
                </a:solidFill>
              </a:rPr>
              <a:t>years. So there is quite a while to go before the world comes to an end.</a:t>
            </a:r>
            <a:endParaRPr lang="en-US" altLang="zh-CN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50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rect l="0" t="0" r="0" b="0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051" name="Group 60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69" name="Freeform 28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2147483646" y="694403372"/>
                </a:cxn>
                <a:cxn ang="0">
                  <a:pos x="2147483646" y="559196143"/>
                </a:cxn>
                <a:cxn ang="0">
                  <a:pos x="2147483646" y="369499068"/>
                </a:cxn>
                <a:cxn ang="0">
                  <a:pos x="1227229359" y="0"/>
                </a:cxn>
                <a:cxn ang="0">
                  <a:pos x="395806202" y="35007909"/>
                </a:cxn>
                <a:cxn ang="0">
                  <a:pos x="0" y="146040743"/>
                </a:cxn>
                <a:cxn ang="0">
                  <a:pos x="482353713" y="272727544"/>
                </a:cxn>
                <a:cxn ang="0">
                  <a:pos x="2147483646" y="719463210"/>
                </a:cxn>
                <a:cxn ang="0">
                  <a:pos x="2147483646" y="690856238"/>
                </a:cxn>
                <a:cxn ang="0">
                  <a:pos x="2147483646" y="727857307"/>
                </a:cxn>
                <a:cxn ang="0">
                  <a:pos x="2147483646" y="694403372"/>
                </a:cxn>
                <a:cxn ang="0">
                  <a:pos x="2147483646" y="694403372"/>
                </a:cxn>
              </a:cxnLst>
              <a:rect l="0" t="0" r="0" b="0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0" name="Freeform 29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35344" y="0"/>
                </a:cxn>
                <a:cxn ang="0">
                  <a:pos x="343290" y="13617"/>
                </a:cxn>
                <a:cxn ang="0">
                  <a:pos x="368288" y="16740"/>
                </a:cxn>
                <a:cxn ang="0">
                  <a:pos x="409093" y="20778"/>
                </a:cxn>
                <a:cxn ang="0">
                  <a:pos x="403681" y="21542"/>
                </a:cxn>
                <a:cxn ang="0">
                  <a:pos x="348128" y="20647"/>
                </a:cxn>
                <a:cxn ang="0">
                  <a:pos x="295274" y="21281"/>
                </a:cxn>
                <a:cxn ang="0">
                  <a:pos x="10677" y="7841"/>
                </a:cxn>
                <a:cxn ang="0">
                  <a:pos x="0" y="3937"/>
                </a:cxn>
                <a:cxn ang="0">
                  <a:pos x="11840" y="830"/>
                </a:cxn>
                <a:cxn ang="0">
                  <a:pos x="35344" y="0"/>
                </a:cxn>
                <a:cxn ang="0">
                  <a:pos x="35344" y="0"/>
                </a:cxn>
              </a:cxnLst>
              <a:rect l="0" t="0" r="0" b="0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1" name="Freeform 30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8944"/>
                </a:cxn>
                <a:cxn ang="0">
                  <a:pos x="247689" y="20574"/>
                </a:cxn>
                <a:cxn ang="0">
                  <a:pos x="252296" y="14709"/>
                </a:cxn>
                <a:cxn ang="0">
                  <a:pos x="281842" y="11628"/>
                </a:cxn>
                <a:cxn ang="0">
                  <a:pos x="20953" y="0"/>
                </a:cxn>
                <a:cxn ang="0">
                  <a:pos x="0" y="3484"/>
                </a:cxn>
                <a:cxn ang="0">
                  <a:pos x="0" y="8944"/>
                </a:cxn>
                <a:cxn ang="0">
                  <a:pos x="0" y="8944"/>
                </a:cxn>
              </a:cxnLst>
              <a:rect l="0" t="0" r="0" b="0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72" name="Group 57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73" name="Freeform 31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27831" y="0"/>
                  </a:cxn>
                  <a:cxn ang="0">
                    <a:pos x="10244" y="1995"/>
                  </a:cxn>
                  <a:cxn ang="0">
                    <a:pos x="0" y="5205"/>
                  </a:cxn>
                  <a:cxn ang="0">
                    <a:pos x="20250" y="4811"/>
                  </a:cxn>
                  <a:cxn ang="0">
                    <a:pos x="26086" y="2542"/>
                  </a:cxn>
                  <a:cxn ang="0">
                    <a:pos x="38064" y="807"/>
                  </a:cxn>
                  <a:cxn ang="0">
                    <a:pos x="27831" y="0"/>
                  </a:cxn>
                  <a:cxn ang="0">
                    <a:pos x="27831" y="0"/>
                  </a:cxn>
                </a:cxnLst>
                <a:rect l="0" t="0" r="0" b="0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4" name="Freeform 32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41132" y="0"/>
                  </a:cxn>
                  <a:cxn ang="0">
                    <a:pos x="16630" y="1399"/>
                  </a:cxn>
                  <a:cxn ang="0">
                    <a:pos x="0" y="5594"/>
                  </a:cxn>
                  <a:cxn ang="0">
                    <a:pos x="17738" y="9648"/>
                  </a:cxn>
                  <a:cxn ang="0">
                    <a:pos x="311771" y="23307"/>
                  </a:cxn>
                  <a:cxn ang="0">
                    <a:pos x="375112" y="22457"/>
                  </a:cxn>
                  <a:cxn ang="0">
                    <a:pos x="426438" y="23659"/>
                  </a:cxn>
                  <a:cxn ang="0">
                    <a:pos x="444247" y="21749"/>
                  </a:cxn>
                  <a:cxn ang="0">
                    <a:pos x="396189" y="17845"/>
                  </a:cxn>
                  <a:cxn ang="0">
                    <a:pos x="376662" y="13780"/>
                  </a:cxn>
                  <a:cxn ang="0">
                    <a:pos x="361251" y="14170"/>
                  </a:cxn>
                  <a:cxn ang="0">
                    <a:pos x="379561" y="17845"/>
                  </a:cxn>
                  <a:cxn ang="0">
                    <a:pos x="416271" y="21764"/>
                  </a:cxn>
                  <a:cxn ang="0">
                    <a:pos x="372786" y="21162"/>
                  </a:cxn>
                  <a:cxn ang="0">
                    <a:pos x="321512" y="21862"/>
                  </a:cxn>
                  <a:cxn ang="0">
                    <a:pos x="331001" y="17463"/>
                  </a:cxn>
                  <a:cxn ang="0">
                    <a:pos x="352986" y="14467"/>
                  </a:cxn>
                  <a:cxn ang="0">
                    <a:pos x="327249" y="14840"/>
                  </a:cxn>
                  <a:cxn ang="0">
                    <a:pos x="307297" y="17705"/>
                  </a:cxn>
                  <a:cxn ang="0">
                    <a:pos x="300516" y="21274"/>
                  </a:cxn>
                  <a:cxn ang="0">
                    <a:pos x="28259" y="8332"/>
                  </a:cxn>
                  <a:cxn ang="0">
                    <a:pos x="21040" y="5772"/>
                  </a:cxn>
                  <a:cxn ang="0">
                    <a:pos x="27157" y="2570"/>
                  </a:cxn>
                  <a:cxn ang="0">
                    <a:pos x="57152" y="0"/>
                  </a:cxn>
                  <a:cxn ang="0">
                    <a:pos x="41132" y="0"/>
                  </a:cxn>
                  <a:cxn ang="0">
                    <a:pos x="41132" y="0"/>
                  </a:cxn>
                </a:cxnLst>
                <a:rect l="0" t="0" r="0" b="0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5" name="Freeform 33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26398" y="0"/>
                  </a:cxn>
                  <a:cxn ang="0">
                    <a:pos x="313766" y="13102"/>
                  </a:cxn>
                  <a:cxn ang="0">
                    <a:pos x="283514" y="13367"/>
                  </a:cxn>
                  <a:cxn ang="0">
                    <a:pos x="0" y="721"/>
                  </a:cxn>
                  <a:cxn ang="0">
                    <a:pos x="26398" y="0"/>
                  </a:cxn>
                  <a:cxn ang="0">
                    <a:pos x="26398" y="0"/>
                  </a:cxn>
                </a:cxnLst>
                <a:rect l="0" t="0" r="0" b="0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6" name="Freeform 34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31322" y="0"/>
                  </a:cxn>
                  <a:cxn ang="0">
                    <a:pos x="5129" y="2702"/>
                  </a:cxn>
                  <a:cxn ang="0">
                    <a:pos x="0" y="5820"/>
                  </a:cxn>
                  <a:cxn ang="0">
                    <a:pos x="8988" y="7956"/>
                  </a:cxn>
                  <a:cxn ang="0">
                    <a:pos x="25255" y="8483"/>
                  </a:cxn>
                  <a:cxn ang="0">
                    <a:pos x="20505" y="3885"/>
                  </a:cxn>
                  <a:cxn ang="0">
                    <a:pos x="43085" y="443"/>
                  </a:cxn>
                  <a:cxn ang="0">
                    <a:pos x="31322" y="0"/>
                  </a:cxn>
                  <a:cxn ang="0">
                    <a:pos x="31322" y="0"/>
                  </a:cxn>
                </a:cxnLst>
                <a:rect l="0" t="0" r="0" b="0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7" name="Freeform 35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3622" y="940"/>
                  </a:cxn>
                  <a:cxn ang="0">
                    <a:pos x="40363" y="1815"/>
                  </a:cxn>
                  <a:cxn ang="0">
                    <a:pos x="81901" y="3754"/>
                  </a:cxn>
                  <a:cxn ang="0">
                    <a:pos x="111231" y="6657"/>
                  </a:cxn>
                  <a:cxn ang="0">
                    <a:pos x="82397" y="6295"/>
                  </a:cxn>
                  <a:cxn ang="0">
                    <a:pos x="35036" y="4000"/>
                  </a:cxn>
                  <a:cxn ang="0">
                    <a:pos x="12608" y="2188"/>
                  </a:cxn>
                  <a:cxn ang="0">
                    <a:pos x="26967" y="4459"/>
                  </a:cxn>
                  <a:cxn ang="0">
                    <a:pos x="68733" y="7380"/>
                  </a:cxn>
                  <a:cxn ang="0">
                    <a:pos x="117729" y="8119"/>
                  </a:cxn>
                  <a:cxn ang="0">
                    <a:pos x="123567" y="6129"/>
                  </a:cxn>
                  <a:cxn ang="0">
                    <a:pos x="99593" y="3296"/>
                  </a:cxn>
                  <a:cxn ang="0">
                    <a:pos x="42915" y="475"/>
                  </a:cxn>
                  <a:cxn ang="0">
                    <a:pos x="0" y="0"/>
                  </a:cxn>
                  <a:cxn ang="0">
                    <a:pos x="3622" y="940"/>
                  </a:cxn>
                  <a:cxn ang="0">
                    <a:pos x="3622" y="940"/>
                  </a:cxn>
                </a:cxnLst>
                <a:rect l="0" t="0" r="0" b="0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052" name="Group 59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0" name="Freeform 37"/>
            <p:cNvSpPr/>
            <p:nvPr userDrawn="1"/>
          </p:nvSpPr>
          <p:spPr>
            <a:xfrm rot="7320404">
              <a:off x="4909" y="2936"/>
              <a:ext cx="629" cy="293"/>
            </a:xfrm>
            <a:custGeom>
              <a:avLst/>
              <a:gdLst/>
              <a:ahLst/>
              <a:cxnLst>
                <a:cxn ang="0">
                  <a:pos x="19" y="1"/>
                </a:cxn>
                <a:cxn ang="0">
                  <a:pos x="17" y="1"/>
                </a:cxn>
                <a:cxn ang="0">
                  <a:pos x="13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13" y="1"/>
                </a:cxn>
                <a:cxn ang="0">
                  <a:pos x="17" y="1"/>
                </a:cxn>
                <a:cxn ang="0">
                  <a:pos x="19" y="1"/>
                </a:cxn>
                <a:cxn ang="0">
                  <a:pos x="19" y="1"/>
                </a:cxn>
                <a:cxn ang="0">
                  <a:pos x="19" y="1"/>
                </a:cxn>
              </a:cxnLst>
              <a:rect l="0" t="0" r="0" b="0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Freeform 38"/>
            <p:cNvSpPr/>
            <p:nvPr userDrawn="1"/>
          </p:nvSpPr>
          <p:spPr>
            <a:xfrm rot="7320404">
              <a:off x="4893" y="2922"/>
              <a:ext cx="627" cy="2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Freeform 39"/>
            <p:cNvSpPr/>
            <p:nvPr userDrawn="1"/>
          </p:nvSpPr>
          <p:spPr>
            <a:xfrm rot="7320404">
              <a:off x="4999" y="2913"/>
              <a:ext cx="416" cy="2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63" name="Group 58"/>
            <p:cNvGrpSpPr/>
            <p:nvPr userDrawn="1"/>
          </p:nvGrpSpPr>
          <p:grpSpPr>
            <a:xfrm>
              <a:off x="4986" y="2752"/>
              <a:ext cx="469" cy="667"/>
              <a:chOff x="4986" y="2752"/>
              <a:chExt cx="469" cy="667"/>
            </a:xfrm>
          </p:grpSpPr>
          <p:sp>
            <p:nvSpPr>
              <p:cNvPr id="2064" name="Freeform 40"/>
              <p:cNvSpPr/>
              <p:nvPr userDrawn="1"/>
            </p:nvSpPr>
            <p:spPr>
              <a:xfrm rot="7320404">
                <a:off x="4987" y="3190"/>
                <a:ext cx="59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5" name="Freeform 41"/>
              <p:cNvSpPr/>
              <p:nvPr userDrawn="1"/>
            </p:nvSpPr>
            <p:spPr>
              <a:xfrm rot="7320404">
                <a:off x="4887" y="2930"/>
                <a:ext cx="667" cy="3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6" name="Freeform 42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7" name="Freeform 43"/>
              <p:cNvSpPr/>
              <p:nvPr userDrawn="1"/>
            </p:nvSpPr>
            <p:spPr>
              <a:xfrm rot="7320404">
                <a:off x="5364" y="2872"/>
                <a:ext cx="63" cy="1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8" name="Freeform 44"/>
              <p:cNvSpPr/>
              <p:nvPr userDrawn="1"/>
            </p:nvSpPr>
            <p:spPr>
              <a:xfrm rot="7320404">
                <a:off x="5137" y="2999"/>
                <a:ext cx="193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053" name="Freeform 45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4" name="Freeform 4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24"/>
          <p:cNvSpPr/>
          <p:nvPr/>
        </p:nvSpPr>
        <p:spPr>
          <a:xfrm rot="-3172564">
            <a:off x="7777163" y="-14287"/>
            <a:ext cx="1162050" cy="20843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32" name="Freeform 27"/>
          <p:cNvSpPr/>
          <p:nvPr/>
        </p:nvSpPr>
        <p:spPr>
          <a:xfrm rot="-3172564">
            <a:off x="7864475" y="23813"/>
            <a:ext cx="1165225" cy="20970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rect l="0" t="0" r="0" b="0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Freeform 2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</a:cxnLst>
            <a:rect l="0" t="0" r="0" b="0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34" name="Group 142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22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0" b="0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Freeform 23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3" name="Freeform 25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" name="Freeform 26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Freeform 33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Freeform 34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0" b="0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7" name="Freeform 35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8" name="Freeform 36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0" b="0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" name="Freeform 37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0" b="0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60" name="Group 137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128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49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5" name="Freeform 53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6" name="Freeform 56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62" name="Freeform 46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0" b="0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3" name="Freeform 50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0" b="0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4" name="Freeform 51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0" b="0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65" name="Group 126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32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0" b="0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7" name="Freeform 45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0" b="0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8" name="Freeform 47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0" b="0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9" name="Freeform 48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</a:cxnLst>
                  <a:rect l="0" t="0" r="0" b="0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0" name="Freeform 52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1" name="Freeform 54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0" b="0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2" name="Freeform 55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3" name="Freeform 57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035" name="Group 136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28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Freeform 59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6" name="Group 141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132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30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40" name="Group 131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31"/>
                <p:cNvSpPr/>
                <p:nvPr userDrawn="1"/>
              </p:nvSpPr>
              <p:spPr>
                <a:xfrm rot="-3172564">
                  <a:off x="4966" y="71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2" name="Freeform 38"/>
                <p:cNvSpPr/>
                <p:nvPr userDrawn="1"/>
              </p:nvSpPr>
              <p:spPr>
                <a:xfrm rot="-3172564">
                  <a:off x="5052" y="327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3" name="Freeform 39"/>
                <p:cNvSpPr/>
                <p:nvPr userDrawn="1"/>
              </p:nvSpPr>
              <p:spPr>
                <a:xfrm rot="-3172564">
                  <a:off x="4862" y="177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" name="Freeform 40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" name="Freeform 41"/>
                <p:cNvSpPr/>
                <p:nvPr userDrawn="1"/>
              </p:nvSpPr>
              <p:spPr>
                <a:xfrm rot="-3172564">
                  <a:off x="5301" y="892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" name="Freeform 42"/>
                <p:cNvSpPr/>
                <p:nvPr userDrawn="1"/>
              </p:nvSpPr>
              <p:spPr>
                <a:xfrm rot="-3172564">
                  <a:off x="5253" y="801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7" name="Freeform 43"/>
                <p:cNvSpPr/>
                <p:nvPr userDrawn="1"/>
              </p:nvSpPr>
              <p:spPr>
                <a:xfrm rot="-3172564">
                  <a:off x="4985" y="210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8" name="Freeform 44"/>
                <p:cNvSpPr/>
                <p:nvPr userDrawn="1"/>
              </p:nvSpPr>
              <p:spPr>
                <a:xfrm rot="-3172564">
                  <a:off x="4951" y="137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38" name="Line 140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6.xml"/><Relationship Id="rId10" Type="http://schemas.openxmlformats.org/officeDocument/2006/relationships/image" Target="../media/image8.png"/><Relationship Id="rId1" Type="http://schemas.openxmlformats.org/officeDocument/2006/relationships/tags" Target="../tags/tag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371600"/>
            <a:ext cx="6781800" cy="1905000"/>
          </a:xfrm>
          <a:effectLst>
            <a:outerShdw blurRad="63500" dist="45791" dir="2021404" algn="ctr" rotWithShape="0">
              <a:schemeClr val="bg2"/>
            </a:outerShdw>
          </a:effec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Data Structure Using C</a:t>
            </a:r>
            <a:endParaRPr kumimoji="0" lang="en-US" altLang="zh-CN" sz="40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3644900"/>
            <a:ext cx="6400800" cy="1800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Dr. YAN LI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Room 411,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Nanhai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Building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yanlics@qq.com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Textbook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8062913" cy="45529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Textbook :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 Data Structures and </a:t>
            </a:r>
            <a:endParaRPr lang="en-US" altLang="zh-CN" sz="2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Algorithm Analysis in C, </a:t>
            </a:r>
            <a:endParaRPr lang="en-US" altLang="zh-CN" sz="2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Second Edition</a:t>
            </a:r>
            <a:r>
              <a:rPr lang="zh-CN" altLang="en-US" sz="2400" dirty="0"/>
              <a:t>                   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by Mark Allen Weiss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But I will use material from other books, so the ultimate source should be my lectures.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pic>
        <p:nvPicPr>
          <p:cNvPr id="15364" name="Picture 4" descr="T1Hii0XsddXXXXXXXX_!!0-item_pic_jpg_310x3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2240" y="1628140"/>
            <a:ext cx="1517015" cy="21901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170" y="1628775"/>
            <a:ext cx="1660525" cy="2197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7162800" cy="5667375"/>
          </a:xfrm>
        </p:spPr>
        <p:txBody>
          <a:bodyPr vert="horz" wrap="square" lIns="91440" tIns="45720" rIns="91440" bIns="45720" anchor="t" anchorCtr="0"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400" dirty="0"/>
              <a:t>Score distribution</a:t>
            </a:r>
            <a:br>
              <a:rPr lang="en-US" altLang="zh-CN" b="1" dirty="0"/>
            </a:br>
            <a:endParaRPr lang="en-US" altLang="zh-CN" dirty="0"/>
          </a:p>
          <a:p>
            <a:r>
              <a:rPr lang="en-US" altLang="zh-CN" dirty="0"/>
              <a:t>Regular Grade: 40% </a:t>
            </a:r>
            <a:endParaRPr lang="en-US" altLang="zh-CN" dirty="0"/>
          </a:p>
          <a:p>
            <a:pPr lvl="1"/>
            <a:r>
              <a:rPr lang="en-US" altLang="zh-CN" dirty="0"/>
              <a:t>Attendance</a:t>
            </a:r>
            <a:endParaRPr lang="en-US" altLang="zh-CN" dirty="0"/>
          </a:p>
          <a:p>
            <a:pPr lvl="1"/>
            <a:r>
              <a:rPr lang="en-US" altLang="zh-CN" dirty="0"/>
              <a:t>Homework</a:t>
            </a:r>
            <a:endParaRPr lang="en-US" altLang="zh-CN" dirty="0"/>
          </a:p>
          <a:p>
            <a:pPr lvl="1"/>
            <a:r>
              <a:rPr lang="en-US" altLang="zh-CN" dirty="0"/>
              <a:t>Mid-term exam</a:t>
            </a:r>
            <a:endParaRPr lang="en-US" altLang="zh-CN" dirty="0"/>
          </a:p>
          <a:p>
            <a:pPr lvl="1"/>
            <a:r>
              <a:rPr lang="en-US" altLang="zh-CN" dirty="0"/>
              <a:t>Study attitude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Final exam: 60% 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What is Data</a:t>
            </a:r>
            <a:endParaRPr lang="en-US" altLang="zh-CN" dirty="0"/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755650" y="2060575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</a:pP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Data</a:t>
            </a:r>
            <a:endParaRPr lang="en-US" altLang="zh-CN" sz="28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黑体" panose="02010609060101010101" pitchFamily="49" charset="-122"/>
              </a:rPr>
              <a:t>The set of symbols which can be recognized, stored and processed by the computer.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黑体" panose="02010609060101010101" pitchFamily="49" charset="-122"/>
              </a:rPr>
              <a:t>Is the carrier of information.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Examples</a:t>
            </a:r>
            <a:endParaRPr lang="en-US" altLang="zh-CN" sz="28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黑体" panose="02010609060101010101" pitchFamily="49" charset="-122"/>
              </a:rPr>
              <a:t>Integer \ real. (processed by digital processing programs)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黑体" panose="02010609060101010101" pitchFamily="49" charset="-122"/>
              </a:rPr>
              <a:t>Source program.( processed by compiler)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黑体" panose="02010609060101010101" pitchFamily="49" charset="-122"/>
              </a:rPr>
              <a:t>Images. (processed by image processing programs)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黑体" panose="02010609060101010101" pitchFamily="49" charset="-122"/>
              </a:rPr>
              <a:t>Students in our class room</a:t>
            </a:r>
            <a:endParaRPr lang="en-US" altLang="zh-CN" sz="24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414592" cy="1600200"/>
          </a:xfrm>
        </p:spPr>
        <p:txBody>
          <a:bodyPr/>
          <a:lstStyle/>
          <a:p>
            <a:r>
              <a:rPr lang="en-US" altLang="zh-CN" dirty="0"/>
              <a:t>Basic Concepts about Data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Data object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1600" dirty="0"/>
              <a:t>A data </a:t>
            </a:r>
            <a:r>
              <a:rPr lang="en-US" altLang="zh-CN" sz="1600" b="1" dirty="0"/>
              <a:t>object</a:t>
            </a:r>
            <a:r>
              <a:rPr lang="en-US" altLang="zh-CN" sz="1600" dirty="0"/>
              <a:t> (or entity) is an abstract representation of a </a:t>
            </a:r>
            <a:r>
              <a:rPr lang="en-US" altLang="zh-CN" sz="1600" b="1" dirty="0"/>
              <a:t>real-world thing </a:t>
            </a:r>
            <a:r>
              <a:rPr lang="en-US" altLang="zh-CN" sz="1600" dirty="0"/>
              <a:t>about which data is collected. </a:t>
            </a:r>
            <a:r>
              <a:rPr lang="en-US" altLang="zh-CN" sz="1600" dirty="0">
                <a:solidFill>
                  <a:srgbClr val="FF0000"/>
                </a:solidFill>
              </a:rPr>
              <a:t> </a:t>
            </a:r>
            <a:r>
              <a:rPr lang="en-US" altLang="zh-CN" sz="1600" i="1" u="sng" dirty="0"/>
              <a:t>For example, </a:t>
            </a:r>
            <a:r>
              <a:rPr lang="en-US" altLang="zh-CN" sz="1600" b="1" i="1" u="sng" dirty="0">
                <a:solidFill>
                  <a:schemeClr val="tx2"/>
                </a:solidFill>
              </a:rPr>
              <a:t>"information of all students in our classroom" </a:t>
            </a:r>
            <a:r>
              <a:rPr lang="en-US" altLang="zh-CN" sz="1600" i="1" u="sng" dirty="0"/>
              <a:t>is a data object that contains all student-related data elements; similarly, </a:t>
            </a:r>
            <a:r>
              <a:rPr lang="en-US" altLang="zh-CN" sz="1600" i="1" u="sng" dirty="0">
                <a:solidFill>
                  <a:schemeClr val="tx2"/>
                </a:solidFill>
              </a:rPr>
              <a:t>"information of all books in a library"</a:t>
            </a:r>
            <a:r>
              <a:rPr lang="en-US" altLang="zh-CN" sz="1600" i="1" u="sng" dirty="0"/>
              <a:t> is a data object, and each specific book record (data element) belongs to this collection.</a:t>
            </a:r>
            <a:endParaRPr lang="en-US" altLang="zh-CN" sz="1600" i="1" u="sng" dirty="0"/>
          </a:p>
          <a:p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Data element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1600" dirty="0"/>
              <a:t>A data </a:t>
            </a:r>
            <a:r>
              <a:rPr lang="en-US" altLang="zh-CN" sz="1600" b="1" dirty="0"/>
              <a:t>element</a:t>
            </a:r>
            <a:r>
              <a:rPr lang="en-US" altLang="zh-CN" sz="1600" dirty="0"/>
              <a:t> (or </a:t>
            </a:r>
            <a:r>
              <a:rPr lang="en-US" altLang="zh-CN" sz="1600" i="1" dirty="0"/>
              <a:t>data attribute</a:t>
            </a:r>
            <a:r>
              <a:rPr lang="en-US" altLang="zh-CN" sz="1600" dirty="0"/>
              <a:t>) is a </a:t>
            </a:r>
            <a:r>
              <a:rPr lang="en-US" altLang="zh-CN" sz="1600" b="1" dirty="0"/>
              <a:t>specific one </a:t>
            </a:r>
            <a:r>
              <a:rPr lang="en-US" altLang="zh-CN" sz="1600" dirty="0"/>
              <a:t>of a data object. It is the basic unit of data, also called an "element" or "record," used to describe a specific object (such as a student or a book). </a:t>
            </a:r>
            <a:r>
              <a:rPr lang="en-US" altLang="zh-CN" sz="1600" i="1" u="sng" dirty="0"/>
              <a:t>For example, in </a:t>
            </a:r>
            <a:r>
              <a:rPr lang="en-US" altLang="zh-CN" sz="1600" b="1" i="1" u="sng" dirty="0"/>
              <a:t>a student information </a:t>
            </a:r>
            <a:r>
              <a:rPr lang="en-US" altLang="zh-CN" sz="1600" i="1" u="sng" dirty="0"/>
              <a:t>table, an entire record like </a:t>
            </a:r>
            <a:r>
              <a:rPr lang="en-US" altLang="zh-CN" sz="1600" b="1" i="1" u="sng" dirty="0">
                <a:solidFill>
                  <a:schemeClr val="tx2"/>
                </a:solidFill>
              </a:rPr>
              <a:t>"Student ID: 2024001, Name: Zhang San, Age: 20"</a:t>
            </a:r>
            <a:r>
              <a:rPr lang="en-US" altLang="zh-CN" sz="1600" i="1" u="sng" dirty="0">
                <a:solidFill>
                  <a:schemeClr val="tx2"/>
                </a:solidFill>
              </a:rPr>
              <a:t> </a:t>
            </a:r>
            <a:r>
              <a:rPr lang="en-US" altLang="zh-CN" sz="1600" i="1" u="sng" dirty="0"/>
              <a:t>is a data element.</a:t>
            </a:r>
            <a:endParaRPr lang="en-US" altLang="zh-CN" sz="1600" i="1" u="sng" dirty="0"/>
          </a:p>
          <a:p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Data item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1600" dirty="0"/>
              <a:t>A </a:t>
            </a:r>
            <a:r>
              <a:rPr lang="en-US" altLang="zh-CN" sz="1600" b="1" dirty="0"/>
              <a:t>data item is t</a:t>
            </a:r>
            <a:r>
              <a:rPr lang="en-US" altLang="zh-CN" sz="1600" dirty="0"/>
              <a:t>he smallest, indivisible unit that constitutes a data element, used to describe one aspect of a data element's attributes. </a:t>
            </a:r>
            <a:r>
              <a:rPr lang="en-US" altLang="zh-CN" sz="1600" i="1" u="sng" dirty="0"/>
              <a:t>Following the example above, </a:t>
            </a:r>
            <a:r>
              <a:rPr lang="en-US" altLang="zh-CN" sz="1600" b="1" i="1" u="sng" dirty="0">
                <a:solidFill>
                  <a:schemeClr val="tx2"/>
                </a:solidFill>
              </a:rPr>
              <a:t>"Student ID: 2024001"</a:t>
            </a:r>
            <a:r>
              <a:rPr lang="en-US" altLang="zh-CN" sz="1600" b="1" i="1" u="sng" dirty="0"/>
              <a:t>, </a:t>
            </a:r>
            <a:r>
              <a:rPr lang="en-US" altLang="zh-CN" sz="1600" b="1" i="1" u="sng" dirty="0">
                <a:solidFill>
                  <a:schemeClr val="tx2"/>
                </a:solidFill>
              </a:rPr>
              <a:t>"Name: Zhang San" </a:t>
            </a:r>
            <a:r>
              <a:rPr lang="en-US" altLang="zh-CN" sz="1600" i="1" u="sng" dirty="0"/>
              <a:t>, and </a:t>
            </a:r>
            <a:r>
              <a:rPr lang="en-US" altLang="zh-CN" sz="1600" b="1" i="1" u="sng" dirty="0">
                <a:solidFill>
                  <a:schemeClr val="tx2"/>
                </a:solidFill>
              </a:rPr>
              <a:t>"Age: 20" </a:t>
            </a:r>
            <a:r>
              <a:rPr lang="en-US" altLang="zh-CN" sz="1600" i="1" u="sng" dirty="0"/>
              <a:t>are each data items, which together form the "student" data element.</a:t>
            </a:r>
            <a:endParaRPr lang="zh-CN" altLang="en-US" sz="1600" i="1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What Is a Data Structure?</a:t>
            </a:r>
            <a:endParaRPr lang="en-US" altLang="zh-CN" dirty="0"/>
          </a:p>
        </p:txBody>
      </p:sp>
      <p:sp>
        <p:nvSpPr>
          <p:cNvPr id="51203" name="Text Box 3"/>
          <p:cNvSpPr txBox="1"/>
          <p:nvPr/>
        </p:nvSpPr>
        <p:spPr>
          <a:xfrm>
            <a:off x="2895600" y="2895600"/>
            <a:ext cx="6629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dirty="0">
                <a:ea typeface="PMingLiU" pitchFamily="18" charset="-120"/>
              </a:rPr>
              <a:t>organization of data </a:t>
            </a:r>
            <a:endParaRPr lang="en-US" altLang="zh-CN" dirty="0">
              <a:ea typeface="PMingLiU" pitchFamily="18" charset="-120"/>
            </a:endParaRPr>
          </a:p>
        </p:txBody>
      </p:sp>
      <p:sp>
        <p:nvSpPr>
          <p:cNvPr id="51204" name="Text Box 4"/>
          <p:cNvSpPr txBox="1"/>
          <p:nvPr/>
        </p:nvSpPr>
        <p:spPr>
          <a:xfrm>
            <a:off x="3194050" y="4178300"/>
            <a:ext cx="572135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dirty="0">
                <a:ea typeface="PMingLiU" pitchFamily="18" charset="-120"/>
              </a:rPr>
              <a:t>its associated operations</a:t>
            </a:r>
            <a:endParaRPr lang="en-US" altLang="zh-CN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50000"/>
              </a:spcBef>
              <a:buNone/>
            </a:pPr>
            <a:endParaRPr lang="en-US" altLang="zh-CN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51205" name="Text Box 5"/>
          <p:cNvSpPr txBox="1"/>
          <p:nvPr/>
        </p:nvSpPr>
        <p:spPr>
          <a:xfrm>
            <a:off x="2895600" y="2971800"/>
            <a:ext cx="83978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dirty="0">
                <a:ea typeface="PMingLiU" pitchFamily="18" charset="-120"/>
              </a:rPr>
              <a:t>=</a:t>
            </a:r>
            <a:endParaRPr lang="en-US" altLang="zh-CN" dirty="0">
              <a:ea typeface="PMingLiU" pitchFamily="18" charset="-120"/>
            </a:endParaRPr>
          </a:p>
        </p:txBody>
      </p:sp>
      <p:sp>
        <p:nvSpPr>
          <p:cNvPr id="19462" name="Text Box 6"/>
          <p:cNvSpPr txBox="1"/>
          <p:nvPr/>
        </p:nvSpPr>
        <p:spPr>
          <a:xfrm>
            <a:off x="-304800" y="2928938"/>
            <a:ext cx="3962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dirty="0">
                <a:ea typeface="PMingLiU" pitchFamily="18" charset="-120"/>
              </a:rPr>
              <a:t>Data Structure</a:t>
            </a:r>
            <a:endParaRPr lang="en-US" altLang="zh-CN" dirty="0">
              <a:ea typeface="PMingLiU" pitchFamily="18" charset="-120"/>
            </a:endParaRPr>
          </a:p>
        </p:txBody>
      </p:sp>
      <p:sp>
        <p:nvSpPr>
          <p:cNvPr id="51207" name="Text Box 7"/>
          <p:cNvSpPr txBox="1"/>
          <p:nvPr/>
        </p:nvSpPr>
        <p:spPr>
          <a:xfrm>
            <a:off x="5183188" y="3613150"/>
            <a:ext cx="137318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dirty="0">
                <a:ea typeface="PMingLiU" pitchFamily="18" charset="-120"/>
              </a:rPr>
              <a:t>+</a:t>
            </a:r>
            <a:endParaRPr lang="en-US" altLang="zh-CN" dirty="0">
              <a:ea typeface="PMingLiU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/>
      <p:bldP spid="51204" grpId="0"/>
      <p:bldP spid="51205" grpId="0"/>
      <p:bldP spid="512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17124" y="1383169"/>
          <a:ext cx="7067244" cy="4959156"/>
        </p:xfrm>
        <a:graphic>
          <a:graphicData uri="http://schemas.openxmlformats.org/drawingml/2006/table">
            <a:tbl>
              <a:tblPr/>
              <a:tblGrid>
                <a:gridCol w="2355748"/>
                <a:gridCol w="2355748"/>
                <a:gridCol w="2355748"/>
              </a:tblGrid>
              <a:tr h="3709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effectLst/>
                        </a:rPr>
                        <a:t>Operation</a:t>
                      </a:r>
                      <a:endParaRPr lang="en-US" sz="1200" dirty="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Example Scenario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166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>
                          <a:effectLst/>
                        </a:rPr>
                        <a:t>Insertion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Add a new data element to the structure (at a specified position).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Add "apple" to a list of fruits.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166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>
                          <a:effectLst/>
                        </a:rPr>
                        <a:t>Deletion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Remove an existing data element from the structure (by value or position).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effectLst/>
                        </a:rPr>
                        <a:t>Delete the 3rd element in an array.</a:t>
                      </a:r>
                      <a:endParaRPr lang="en-US" sz="1200" dirty="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808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>
                          <a:effectLst/>
                        </a:rPr>
                        <a:t>Traversal (Iteration)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Visit every data element exactly once (to read or process data).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Print all elements in a tree.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166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>
                          <a:effectLst/>
                        </a:rPr>
                        <a:t>Search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Find the position or existence of a target element (by value or key).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Check if "John" is in a hash table.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166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>
                          <a:effectLst/>
                        </a:rPr>
                        <a:t>Update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Modify the value of an existing data element (by position or key).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Change "age: 25" to "age: 26" in a dict.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166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>
                          <a:effectLst/>
                        </a:rPr>
                        <a:t>Sorting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Rearrange elements in a specified order (ascending/descending).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Sort a list of numbers from smallest to largest.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808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>
                          <a:effectLst/>
                        </a:rPr>
                        <a:t>Merging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Combine two or more structures of the same type into one.</a:t>
                      </a:r>
                      <a:endParaRPr lang="en-US" sz="120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effectLst/>
                        </a:rPr>
                        <a:t>Merge two sorted lists into one sorted list.</a:t>
                      </a:r>
                      <a:endParaRPr lang="en-US" sz="1200" dirty="0">
                        <a:effectLst/>
                      </a:endParaRPr>
                    </a:p>
                  </a:txBody>
                  <a:tcPr marL="23628" marR="23628" marT="26581" marB="26581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5463" y="539388"/>
            <a:ext cx="843211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400" dirty="0">
                <a:latin typeface="+mn-lt"/>
                <a:ea typeface="+mn-ea"/>
              </a:rPr>
              <a:t>These operations are fundamental to all data structures :</a:t>
            </a:r>
            <a:endParaRPr lang="zh-CN" altLang="zh-CN" sz="2400" dirty="0">
              <a:latin typeface="+mn-lt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endParaRPr lang="zh-CN" altLang="zh-CN" dirty="0"/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  <a:buNone/>
            </a:pPr>
            <a:r>
              <a:rPr lang="en-US" altLang="zh-CN" b="1" i="1" dirty="0">
                <a:latin typeface="Arial" panose="020B0604020202020204" pitchFamily="34" charset="0"/>
              </a:rPr>
              <a:t>“</a:t>
            </a:r>
            <a:r>
              <a:rPr lang="en-US" altLang="zh-CN" b="1" i="1" dirty="0">
                <a:solidFill>
                  <a:srgbClr val="FF6600"/>
                </a:solidFill>
              </a:rPr>
              <a:t>Clever</a:t>
            </a:r>
            <a:r>
              <a:rPr lang="en-US" altLang="zh-CN" b="1" i="1" dirty="0">
                <a:latin typeface="Arial" panose="020B0604020202020204" pitchFamily="34" charset="0"/>
              </a:rPr>
              <a:t>”</a:t>
            </a:r>
            <a:r>
              <a:rPr lang="en-US" altLang="zh-CN" b="1" i="1" dirty="0"/>
              <a:t> ways to organize data in order to enable </a:t>
            </a:r>
            <a:r>
              <a:rPr lang="en-US" altLang="zh-CN" b="1" i="1" dirty="0">
                <a:solidFill>
                  <a:srgbClr val="FF6600"/>
                </a:solidFill>
              </a:rPr>
              <a:t>efficient operations</a:t>
            </a:r>
            <a:endParaRPr lang="en-US" altLang="zh-CN" b="1" i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endParaRPr lang="en-US" altLang="zh-CN" b="1" i="1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 What do we mean by </a:t>
            </a:r>
            <a:r>
              <a:rPr lang="en-US" altLang="zh-CN" dirty="0">
                <a:latin typeface="Arial" panose="020B0604020202020204" pitchFamily="34" charset="0"/>
              </a:rPr>
              <a:t>‘</a:t>
            </a:r>
            <a:r>
              <a:rPr lang="en-US" altLang="zh-CN" dirty="0"/>
              <a:t>clever</a:t>
            </a:r>
            <a:r>
              <a:rPr lang="en-US" altLang="zh-CN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?</a:t>
            </a:r>
            <a:endParaRPr lang="en-US" altLang="zh-CN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 What do we mean by </a:t>
            </a:r>
            <a:r>
              <a:rPr lang="en-US" altLang="zh-CN" dirty="0">
                <a:latin typeface="Arial" panose="020B0604020202020204" pitchFamily="34" charset="0"/>
              </a:rPr>
              <a:t>‘</a:t>
            </a:r>
            <a:r>
              <a:rPr lang="en-US" altLang="zh-CN" dirty="0"/>
              <a:t>efficient</a:t>
            </a:r>
            <a:r>
              <a:rPr lang="en-US" altLang="zh-CN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?</a:t>
            </a:r>
            <a:endParaRPr lang="en-US" altLang="zh-CN" dirty="0"/>
          </a:p>
          <a:p>
            <a:pPr lvl="2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dirty="0"/>
              <a:t>Time efficient</a:t>
            </a:r>
            <a:endParaRPr lang="en-US" altLang="zh-CN" dirty="0"/>
          </a:p>
          <a:p>
            <a:pPr lvl="2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dirty="0"/>
              <a:t>Memory efficient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Why So Many Data Structures?</a:t>
            </a:r>
            <a:endParaRPr lang="en-US" altLang="zh-CN" dirty="0"/>
          </a:p>
        </p:txBody>
      </p:sp>
      <p:sp>
        <p:nvSpPr>
          <p:cNvPr id="62467" name="Rectangle 3"/>
          <p:cNvSpPr/>
          <p:nvPr>
            <p:custDataLst>
              <p:tags r:id="rId1"/>
            </p:custDataLst>
          </p:nvPr>
        </p:nvSpPr>
        <p:spPr>
          <a:xfrm>
            <a:off x="685800" y="1981200"/>
            <a:ext cx="7772400" cy="3695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</a:pPr>
            <a:r>
              <a:rPr lang="en-US" altLang="zh-CN" dirty="0"/>
              <a:t>Ideal data structure:</a:t>
            </a:r>
            <a:endParaRPr lang="en-US" altLang="zh-CN" dirty="0"/>
          </a:p>
          <a:p>
            <a:pPr marL="342900" lvl="0" indent="-342900" eaLnBrk="1" hangingPunct="1">
              <a:lnSpc>
                <a:spcPct val="90000"/>
              </a:lnSpc>
              <a:buNone/>
            </a:pPr>
            <a:r>
              <a:rPr lang="en-US" altLang="zh-CN" dirty="0"/>
              <a:t>	     </a:t>
            </a:r>
            <a:r>
              <a:rPr lang="en-US" altLang="zh-CN" dirty="0">
                <a:solidFill>
                  <a:schemeClr val="tx2"/>
                </a:solidFill>
              </a:rPr>
              <a:t>elegant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tx2"/>
                </a:solidFill>
              </a:rPr>
              <a:t>fast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tx2"/>
                </a:solidFill>
              </a:rPr>
              <a:t>memory efficient</a:t>
            </a:r>
            <a:endParaRPr lang="en-US" altLang="zh-CN" dirty="0">
              <a:solidFill>
                <a:schemeClr val="tx2"/>
              </a:solidFill>
            </a:endParaRPr>
          </a:p>
          <a:p>
            <a:pPr marL="342900" lvl="0" indent="-342900" eaLnBrk="1" hangingPunct="1">
              <a:lnSpc>
                <a:spcPct val="90000"/>
              </a:lnSpc>
            </a:pPr>
            <a:r>
              <a:rPr lang="en-US" altLang="zh-CN" dirty="0"/>
              <a:t>Generates tensions:</a:t>
            </a:r>
            <a:endParaRPr lang="en-US" altLang="zh-CN" dirty="0"/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08080"/>
                </a:solidFill>
              </a:rPr>
              <a:t>time </a:t>
            </a:r>
            <a:r>
              <a:rPr lang="en-US" altLang="zh-CN" i="1" dirty="0">
                <a:solidFill>
                  <a:srgbClr val="008080"/>
                </a:solidFill>
              </a:rPr>
              <a:t>vs.</a:t>
            </a:r>
            <a:r>
              <a:rPr lang="en-US" altLang="zh-CN" dirty="0">
                <a:solidFill>
                  <a:srgbClr val="008080"/>
                </a:solidFill>
              </a:rPr>
              <a:t> space</a:t>
            </a:r>
            <a:endParaRPr lang="en-US" altLang="zh-CN" dirty="0">
              <a:solidFill>
                <a:srgbClr val="008080"/>
              </a:solidFill>
            </a:endParaRP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3333CC"/>
                </a:solidFill>
              </a:rPr>
              <a:t>one operation</a:t>
            </a:r>
            <a:r>
              <a:rPr lang="en-US" altLang="zh-CN" dirty="0">
                <a:solidFill>
                  <a:srgbClr val="3333CC"/>
                </a:solidFill>
                <a:latin typeface="Arial" panose="020B0604020202020204" pitchFamily="34" charset="0"/>
              </a:rPr>
              <a:t>’</a:t>
            </a:r>
            <a:r>
              <a:rPr lang="en-US" altLang="zh-CN" dirty="0">
                <a:solidFill>
                  <a:srgbClr val="3333CC"/>
                </a:solidFill>
              </a:rPr>
              <a:t>s performance </a:t>
            </a:r>
            <a:r>
              <a:rPr lang="en-US" altLang="zh-CN" i="1" dirty="0">
                <a:solidFill>
                  <a:srgbClr val="3333CC"/>
                </a:solidFill>
              </a:rPr>
              <a:t>vs.</a:t>
            </a:r>
            <a:r>
              <a:rPr lang="en-US" altLang="zh-CN" dirty="0">
                <a:solidFill>
                  <a:srgbClr val="3333CC"/>
                </a:solidFill>
              </a:rPr>
              <a:t> another</a:t>
            </a:r>
            <a:r>
              <a:rPr lang="en-US" altLang="zh-CN" dirty="0">
                <a:solidFill>
                  <a:srgbClr val="3333CC"/>
                </a:solidFill>
                <a:latin typeface="Arial" panose="020B0604020202020204" pitchFamily="34" charset="0"/>
              </a:rPr>
              <a:t>’</a:t>
            </a:r>
            <a:r>
              <a:rPr lang="en-US" altLang="zh-CN" dirty="0">
                <a:solidFill>
                  <a:srgbClr val="3333CC"/>
                </a:solidFill>
              </a:rPr>
              <a:t>s</a:t>
            </a:r>
            <a:endParaRPr lang="en-US" altLang="zh-CN" dirty="0">
              <a:solidFill>
                <a:srgbClr val="3333CC"/>
              </a:solidFill>
            </a:endParaRP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08080"/>
                </a:solidFill>
              </a:rPr>
              <a:t>generality </a:t>
            </a:r>
            <a:r>
              <a:rPr lang="en-US" altLang="zh-CN" i="1" dirty="0">
                <a:solidFill>
                  <a:srgbClr val="008080"/>
                </a:solidFill>
              </a:rPr>
              <a:t>vs. </a:t>
            </a:r>
            <a:r>
              <a:rPr lang="en-US" altLang="zh-CN" dirty="0">
                <a:solidFill>
                  <a:srgbClr val="008080"/>
                </a:solidFill>
              </a:rPr>
              <a:t>simplicity</a:t>
            </a:r>
            <a:endParaRPr lang="en-US" altLang="zh-CN" dirty="0">
              <a:solidFill>
                <a:srgbClr val="008080"/>
              </a:solidFill>
            </a:endParaRPr>
          </a:p>
          <a:p>
            <a:pPr marL="742950" lvl="1" indent="-285750" eaLnBrk="1" hangingPunct="1">
              <a:lnSpc>
                <a:spcPct val="90000"/>
              </a:lnSpc>
              <a:buNone/>
            </a:pPr>
            <a:endParaRPr lang="en-US" altLang="zh-CN" dirty="0">
              <a:solidFill>
                <a:srgbClr val="3333CC"/>
              </a:solidFill>
            </a:endParaRPr>
          </a:p>
        </p:txBody>
      </p:sp>
      <p:sp>
        <p:nvSpPr>
          <p:cNvPr id="14341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81400" y="5872163"/>
            <a:ext cx="4648200" cy="941388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</a:ln>
        </p:spPr>
        <p:txBody>
          <a:bodyPr>
            <a:spAutoFit/>
          </a:bodyPr>
          <a:lstStyle/>
          <a:p>
            <a:pPr marR="0" defTabSz="914400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0" lang="en-US" i="1" kern="1200" cap="none" spc="0" normalizeH="0" baseline="0" noProof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The study of data structures is the study of tradeoffs.  That’s why we have so many of them!</a:t>
            </a:r>
            <a:endParaRPr kumimoji="0" lang="en-US" i="1" kern="1200" cap="none" spc="0" normalizeH="0" baseline="0" noProof="0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dirty="0"/>
              <a:t>Why do we need to learn data structures?</a:t>
            </a:r>
            <a:endParaRPr lang="en-US" altLang="zh-CN" sz="4000" dirty="0"/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ja-JP" dirty="0">
                <a:ea typeface="MS PGothic" panose="020B0600070205080204" pitchFamily="34" charset="-128"/>
              </a:rPr>
              <a:t>The way in which the data is organized affects the performance of a program for different tasks.</a:t>
            </a:r>
            <a:endParaRPr lang="en-US" altLang="zh-CN" dirty="0"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zh-CN" dirty="0"/>
              <a:t> A general understanding of the data structure is important in developing efficient algorithms in all phases of advanced data processing and computer science.</a:t>
            </a:r>
            <a:endParaRPr lang="en-US" altLang="zh-CN" dirty="0"/>
          </a:p>
          <a:p>
            <a:pPr lvl="1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 idx="4294967295"/>
            <p:custDataLst>
              <p:tags r:id="rId1"/>
            </p:custDataLst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Class Overview</a:t>
            </a:r>
            <a:endParaRPr lang="en-US" altLang="zh-CN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698500" y="1928813"/>
            <a:ext cx="7696200" cy="3325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Introduction of the basic data structures used in computer software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58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50" y="3219450"/>
            <a:ext cx="1189038" cy="1058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1" name="Picture 4" descr="84ee10d8eba048df68414a31a4b31004"/>
          <p:cNvPicPr>
            <a:picLocks noChangeAspect="1"/>
          </p:cNvPicPr>
          <p:nvPr/>
        </p:nvPicPr>
        <p:blipFill>
          <a:blip r:embed="rId4"/>
          <a:srcRect t="15749" b="6299"/>
          <a:stretch>
            <a:fillRect/>
          </a:stretch>
        </p:blipFill>
        <p:spPr>
          <a:xfrm>
            <a:off x="4157663" y="3157538"/>
            <a:ext cx="1238250" cy="12049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2" name="Picture 5" descr="queue_line_2"/>
          <p:cNvPicPr>
            <a:picLocks noChangeAspect="1"/>
          </p:cNvPicPr>
          <p:nvPr/>
        </p:nvPicPr>
        <p:blipFill>
          <a:blip r:embed="rId5"/>
          <a:srcRect t="6967"/>
          <a:stretch>
            <a:fillRect/>
          </a:stretch>
        </p:blipFill>
        <p:spPr>
          <a:xfrm>
            <a:off x="5411788" y="3143250"/>
            <a:ext cx="1581150" cy="1103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3" name="Rectangle 63"/>
          <p:cNvSpPr/>
          <p:nvPr/>
        </p:nvSpPr>
        <p:spPr>
          <a:xfrm>
            <a:off x="5895975" y="6497638"/>
            <a:ext cx="1401763" cy="3603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4584" name="Picture 7" descr="3e31655f0c4c98f39efd878ddfff2d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84" y="5072063"/>
            <a:ext cx="1449388" cy="1366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5" name="Text Box 8"/>
          <p:cNvSpPr txBox="1"/>
          <p:nvPr/>
        </p:nvSpPr>
        <p:spPr>
          <a:xfrm>
            <a:off x="2279650" y="4152900"/>
            <a:ext cx="12207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PMingLiU" pitchFamily="18" charset="-120"/>
              </a:rPr>
              <a:t>Array</a:t>
            </a:r>
            <a:endParaRPr lang="en-US" altLang="zh-CN" sz="2000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4586" name="Text Box 9"/>
          <p:cNvSpPr txBox="1"/>
          <p:nvPr/>
        </p:nvSpPr>
        <p:spPr>
          <a:xfrm>
            <a:off x="4208463" y="4143375"/>
            <a:ext cx="122078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PMingLiU" pitchFamily="18" charset="-120"/>
              </a:rPr>
              <a:t>Stack</a:t>
            </a:r>
            <a:endParaRPr lang="en-US" altLang="zh-CN" sz="2000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4587" name="Text Box 10"/>
          <p:cNvSpPr txBox="1"/>
          <p:nvPr/>
        </p:nvSpPr>
        <p:spPr>
          <a:xfrm>
            <a:off x="5643563" y="4076700"/>
            <a:ext cx="122078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PMingLiU" pitchFamily="18" charset="-120"/>
              </a:rPr>
              <a:t>Queue</a:t>
            </a:r>
            <a:endParaRPr lang="en-US" altLang="zh-CN" sz="2000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4588" name="Text Box 11"/>
          <p:cNvSpPr txBox="1"/>
          <p:nvPr/>
        </p:nvSpPr>
        <p:spPr>
          <a:xfrm>
            <a:off x="919659" y="6396038"/>
            <a:ext cx="12207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PMingLiU" pitchFamily="18" charset="-120"/>
              </a:rPr>
              <a:t>Tree</a:t>
            </a:r>
            <a:endParaRPr lang="en-US" altLang="zh-CN" sz="2000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4589" name="Text Box 12"/>
          <p:cNvSpPr txBox="1"/>
          <p:nvPr/>
        </p:nvSpPr>
        <p:spPr>
          <a:xfrm>
            <a:off x="3434259" y="6389688"/>
            <a:ext cx="12207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PMingLiU" pitchFamily="18" charset="-120"/>
              </a:rPr>
              <a:t>Graph</a:t>
            </a:r>
            <a:endParaRPr lang="en-US" altLang="zh-CN" sz="2000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grpSp>
        <p:nvGrpSpPr>
          <p:cNvPr id="24590" name="Group 33"/>
          <p:cNvGrpSpPr/>
          <p:nvPr/>
        </p:nvGrpSpPr>
        <p:grpSpPr>
          <a:xfrm>
            <a:off x="2934197" y="5072063"/>
            <a:ext cx="2414587" cy="1331912"/>
            <a:chOff x="3024" y="2593"/>
            <a:chExt cx="2328" cy="1495"/>
          </a:xfrm>
        </p:grpSpPr>
        <p:sp>
          <p:nvSpPr>
            <p:cNvPr id="24593" name="Oval 48"/>
            <p:cNvSpPr/>
            <p:nvPr/>
          </p:nvSpPr>
          <p:spPr>
            <a:xfrm>
              <a:off x="3024" y="2744"/>
              <a:ext cx="373" cy="303"/>
            </a:xfrm>
            <a:prstGeom prst="ellipse">
              <a:avLst/>
            </a:prstGeom>
            <a:solidFill>
              <a:srgbClr val="99CC00"/>
            </a:solidFill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1000" b="1" dirty="0">
                  <a:latin typeface="Times New Roman" panose="02020603050405020304" pitchFamily="18" charset="0"/>
                </a:rPr>
                <a:t>佛山</a:t>
              </a:r>
              <a:endParaRPr lang="zh-CN" altLang="en-US" sz="1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94" name="Oval 47"/>
            <p:cNvSpPr/>
            <p:nvPr/>
          </p:nvSpPr>
          <p:spPr>
            <a:xfrm>
              <a:off x="4910" y="2896"/>
              <a:ext cx="442" cy="302"/>
            </a:xfrm>
            <a:prstGeom prst="ellipse">
              <a:avLst/>
            </a:prstGeom>
            <a:solidFill>
              <a:srgbClr val="99CC00"/>
            </a:solidFill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1200" b="1" dirty="0">
                  <a:latin typeface="Times New Roman" panose="02020603050405020304" pitchFamily="18" charset="0"/>
                </a:rPr>
                <a:t>惠州</a:t>
              </a:r>
              <a:endParaRPr lang="zh-CN" altLang="en-US" sz="1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95" name="Oval 42"/>
            <p:cNvSpPr/>
            <p:nvPr/>
          </p:nvSpPr>
          <p:spPr>
            <a:xfrm>
              <a:off x="3630" y="2593"/>
              <a:ext cx="482" cy="230"/>
            </a:xfrm>
            <a:prstGeom prst="ellipse">
              <a:avLst/>
            </a:prstGeom>
            <a:solidFill>
              <a:srgbClr val="99CC00"/>
            </a:solidFill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1200" b="1" dirty="0">
                  <a:latin typeface="Times New Roman" panose="02020603050405020304" pitchFamily="18" charset="0"/>
                </a:rPr>
                <a:t>广州</a:t>
              </a:r>
              <a:endParaRPr lang="zh-CN" altLang="en-US" sz="1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96" name="Oval 43"/>
            <p:cNvSpPr/>
            <p:nvPr/>
          </p:nvSpPr>
          <p:spPr>
            <a:xfrm>
              <a:off x="3397" y="3274"/>
              <a:ext cx="509" cy="302"/>
            </a:xfrm>
            <a:prstGeom prst="ellipse">
              <a:avLst/>
            </a:prstGeom>
            <a:solidFill>
              <a:srgbClr val="99CC00"/>
            </a:solidFill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1200" b="1" dirty="0">
                  <a:latin typeface="Times New Roman" panose="02020603050405020304" pitchFamily="18" charset="0"/>
                </a:rPr>
                <a:t>中山</a:t>
              </a:r>
              <a:endParaRPr lang="zh-CN" altLang="en-US" sz="1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97" name="Oval 44"/>
            <p:cNvSpPr/>
            <p:nvPr/>
          </p:nvSpPr>
          <p:spPr>
            <a:xfrm>
              <a:off x="4250" y="3144"/>
              <a:ext cx="510" cy="302"/>
            </a:xfrm>
            <a:prstGeom prst="ellipse">
              <a:avLst/>
            </a:prstGeom>
            <a:solidFill>
              <a:srgbClr val="99CC00"/>
            </a:solidFill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1200" b="1" dirty="0">
                  <a:latin typeface="Times New Roman" panose="02020603050405020304" pitchFamily="18" charset="0"/>
                </a:rPr>
                <a:t>东莞</a:t>
              </a:r>
              <a:endParaRPr lang="zh-CN" altLang="en-US" sz="1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98" name="Oval 45"/>
            <p:cNvSpPr/>
            <p:nvPr/>
          </p:nvSpPr>
          <p:spPr>
            <a:xfrm>
              <a:off x="4626" y="3646"/>
              <a:ext cx="519" cy="302"/>
            </a:xfrm>
            <a:prstGeom prst="ellipse">
              <a:avLst/>
            </a:prstGeom>
            <a:solidFill>
              <a:srgbClr val="99CC00"/>
            </a:solidFill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1200" b="1" dirty="0">
                  <a:latin typeface="Times New Roman" panose="02020603050405020304" pitchFamily="18" charset="0"/>
                </a:rPr>
                <a:t>深圳</a:t>
              </a:r>
              <a:endParaRPr lang="zh-CN" altLang="en-US" sz="1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99" name="Oval 46"/>
            <p:cNvSpPr/>
            <p:nvPr/>
          </p:nvSpPr>
          <p:spPr>
            <a:xfrm>
              <a:off x="3286" y="3785"/>
              <a:ext cx="446" cy="303"/>
            </a:xfrm>
            <a:prstGeom prst="ellipse">
              <a:avLst/>
            </a:prstGeom>
            <a:solidFill>
              <a:srgbClr val="99CC00"/>
            </a:solidFill>
            <a:ln w="952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1200" b="1" dirty="0">
                  <a:latin typeface="Times New Roman" panose="02020603050405020304" pitchFamily="18" charset="0"/>
                </a:rPr>
                <a:t>珠海</a:t>
              </a:r>
              <a:endParaRPr lang="zh-CN" altLang="en-US" sz="1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00" name="Line 49"/>
            <p:cNvSpPr/>
            <p:nvPr/>
          </p:nvSpPr>
          <p:spPr>
            <a:xfrm flipV="1">
              <a:off x="3546" y="3576"/>
              <a:ext cx="0" cy="227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1" name="Line 50"/>
            <p:cNvSpPr/>
            <p:nvPr/>
          </p:nvSpPr>
          <p:spPr>
            <a:xfrm flipH="1" flipV="1">
              <a:off x="3345" y="3009"/>
              <a:ext cx="224" cy="268"/>
            </a:xfrm>
            <a:prstGeom prst="line">
              <a:avLst/>
            </a:prstGeom>
            <a:ln w="25400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2" name="Line 51"/>
            <p:cNvSpPr/>
            <p:nvPr/>
          </p:nvSpPr>
          <p:spPr>
            <a:xfrm flipH="1">
              <a:off x="3769" y="3274"/>
              <a:ext cx="522" cy="151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3" name="Line 52"/>
            <p:cNvSpPr/>
            <p:nvPr/>
          </p:nvSpPr>
          <p:spPr>
            <a:xfrm flipH="1" flipV="1">
              <a:off x="4063" y="2814"/>
              <a:ext cx="298" cy="357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4" name="Line 53"/>
            <p:cNvSpPr/>
            <p:nvPr/>
          </p:nvSpPr>
          <p:spPr>
            <a:xfrm flipH="1" flipV="1">
              <a:off x="4515" y="3425"/>
              <a:ext cx="223" cy="227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5" name="Line 54"/>
            <p:cNvSpPr/>
            <p:nvPr/>
          </p:nvSpPr>
          <p:spPr>
            <a:xfrm flipV="1">
              <a:off x="4887" y="3198"/>
              <a:ext cx="149" cy="454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6" name="Line 55"/>
            <p:cNvSpPr/>
            <p:nvPr/>
          </p:nvSpPr>
          <p:spPr>
            <a:xfrm flipH="1" flipV="1">
              <a:off x="4086" y="2744"/>
              <a:ext cx="843" cy="227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7" name="Line 56"/>
            <p:cNvSpPr/>
            <p:nvPr/>
          </p:nvSpPr>
          <p:spPr>
            <a:xfrm flipV="1">
              <a:off x="3697" y="2889"/>
              <a:ext cx="147" cy="423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8" name="Line 57"/>
            <p:cNvSpPr/>
            <p:nvPr/>
          </p:nvSpPr>
          <p:spPr>
            <a:xfrm flipH="1">
              <a:off x="3397" y="2782"/>
              <a:ext cx="317" cy="114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9" name="Line 58"/>
            <p:cNvSpPr/>
            <p:nvPr/>
          </p:nvSpPr>
          <p:spPr>
            <a:xfrm flipH="1">
              <a:off x="4664" y="3123"/>
              <a:ext cx="273" cy="151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0" name="Line 59"/>
            <p:cNvSpPr/>
            <p:nvPr/>
          </p:nvSpPr>
          <p:spPr>
            <a:xfrm flipH="1" flipV="1">
              <a:off x="3190" y="3047"/>
              <a:ext cx="210" cy="786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4591" name="Text Box 31"/>
          <p:cNvSpPr txBox="1"/>
          <p:nvPr/>
        </p:nvSpPr>
        <p:spPr>
          <a:xfrm>
            <a:off x="1143000" y="2786063"/>
            <a:ext cx="406717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85750" lvl="0" indent="-28575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/>
              <a:t>Linear data structures:</a:t>
            </a:r>
            <a:endParaRPr lang="en-US" altLang="zh-CN" sz="2000" dirty="0"/>
          </a:p>
        </p:txBody>
      </p:sp>
      <p:sp>
        <p:nvSpPr>
          <p:cNvPr id="24592" name="Text Box 32"/>
          <p:cNvSpPr txBox="1"/>
          <p:nvPr/>
        </p:nvSpPr>
        <p:spPr>
          <a:xfrm>
            <a:off x="1285875" y="4572000"/>
            <a:ext cx="4954588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85750" lvl="0" indent="-28575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/>
              <a:t>Nonlinear data structures:</a:t>
            </a:r>
            <a:endParaRPr lang="en-US" altLang="zh-CN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2426" y="5104765"/>
            <a:ext cx="2361023" cy="1247477"/>
          </a:xfrm>
          <a:prstGeom prst="rect">
            <a:avLst/>
          </a:prstGeom>
        </p:spPr>
      </p:pic>
      <p:sp>
        <p:nvSpPr>
          <p:cNvPr id="4" name="Text Box 12"/>
          <p:cNvSpPr txBox="1"/>
          <p:nvPr/>
        </p:nvSpPr>
        <p:spPr>
          <a:xfrm>
            <a:off x="6516216" y="6418626"/>
            <a:ext cx="12207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PMingLiU" pitchFamily="18" charset="-120"/>
              </a:rPr>
              <a:t>Set</a:t>
            </a:r>
            <a:endParaRPr lang="en-US" altLang="zh-CN" sz="2000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 idx="4294967295"/>
            <p:custDataLst>
              <p:tags r:id="rId1"/>
            </p:custDataLst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Class Overview</a:t>
            </a:r>
            <a:endParaRPr lang="en-US" altLang="zh-CN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928813"/>
            <a:ext cx="7696200" cy="3325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Introduction of the basic data structures used in computer software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fundamental data structures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logical structure &amp; storage structure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time-space complexity analysis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their implementations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Introduction of implementations and analysis of sorting and searching algorithms.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800" b="1" dirty="0"/>
              <a:t>Recursion</a:t>
            </a:r>
            <a:r>
              <a:rPr lang="zh-CN" altLang="en-US" sz="4800" b="1" dirty="0"/>
              <a:t>（递归）</a:t>
            </a:r>
            <a:br>
              <a:rPr lang="en-US" altLang="zh-CN" sz="4800" b="1" dirty="0"/>
            </a:br>
            <a:endParaRPr lang="en-US" altLang="zh-CN" sz="2800" b="1" dirty="0"/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xfrm>
            <a:off x="685800" y="2166938"/>
            <a:ext cx="7696200" cy="33194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3600" dirty="0"/>
              <a:t>Definition of a Recursion</a:t>
            </a:r>
            <a:endParaRPr lang="en-US" altLang="zh-CN" sz="36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3600" dirty="0"/>
              <a:t>Simple Examples of Recursion </a:t>
            </a:r>
            <a:endParaRPr lang="en-US" altLang="zh-CN" sz="36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3600" dirty="0"/>
              <a:t>Conditions for Recursion to Work</a:t>
            </a:r>
            <a:endParaRPr lang="en-US" altLang="zh-CN" sz="36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3600" dirty="0"/>
              <a:t>How Recursion Works Internally</a:t>
            </a:r>
            <a:endParaRPr lang="en-US" altLang="zh-CN" sz="36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3600" dirty="0"/>
              <a:t>Tower of Hanoi</a:t>
            </a:r>
            <a:endParaRPr lang="en-US" altLang="zh-CN" sz="36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3600" dirty="0"/>
              <a:t>Binary Search</a:t>
            </a:r>
            <a:endParaRPr lang="en-US" altLang="zh-CN" sz="3600" dirty="0"/>
          </a:p>
          <a:p>
            <a:pPr eaLnBrk="1" hangingPunct="1">
              <a:lnSpc>
                <a:spcPct val="90000"/>
              </a:lnSpc>
            </a:pPr>
            <a:endParaRPr lang="en-US" altLang="zh-CN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02550" cy="16002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800" b="1" dirty="0"/>
              <a:t>Definition of Recursion</a:t>
            </a:r>
            <a:endParaRPr lang="en-US" altLang="zh-CN" sz="4800" b="1" dirty="0"/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>
          <a:xfrm>
            <a:off x="685800" y="1989138"/>
            <a:ext cx="7772400" cy="41068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A function is said to be </a:t>
            </a:r>
            <a:r>
              <a:rPr lang="en-US" altLang="zh-CN" sz="2800" i="1" dirty="0">
                <a:solidFill>
                  <a:srgbClr val="FF0000"/>
                </a:solidFill>
              </a:rPr>
              <a:t>recursive</a:t>
            </a:r>
            <a:r>
              <a:rPr lang="en-US" altLang="zh-CN" sz="2800" dirty="0"/>
              <a:t> if it is defined in terms of </a:t>
            </a:r>
            <a:r>
              <a:rPr lang="en-US" altLang="zh-CN" sz="2800" dirty="0">
                <a:solidFill>
                  <a:srgbClr val="0000CC"/>
                </a:solidFill>
              </a:rPr>
              <a:t>iteself</a:t>
            </a:r>
            <a:endParaRPr lang="en-US" altLang="zh-CN" sz="2800" dirty="0">
              <a:solidFill>
                <a:srgbClr val="0000CC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solidFill>
                <a:srgbClr val="0000CC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rgbClr val="FF0000"/>
                </a:solidFill>
              </a:rPr>
              <a:t>Recursion</a:t>
            </a:r>
            <a:r>
              <a:rPr lang="en-US" altLang="zh-CN" sz="2800" dirty="0"/>
              <a:t> is a programming technique that enables the solution to certain problems to be expressed in terms of solutions to </a:t>
            </a:r>
            <a:r>
              <a:rPr lang="en-US" altLang="zh-CN" sz="2800" b="1" i="1" dirty="0">
                <a:solidFill>
                  <a:srgbClr val="0000CC"/>
                </a:solidFill>
              </a:rPr>
              <a:t>smaller instances </a:t>
            </a:r>
            <a:r>
              <a:rPr lang="en-US" altLang="zh-CN" sz="2800" dirty="0"/>
              <a:t>of the problem itself.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solidFill>
                <a:srgbClr val="0000CC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228600" y="1052513"/>
            <a:ext cx="8736013" cy="56896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The solution to the problem can be expressed in terms of 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solutions to </a:t>
            </a:r>
            <a:r>
              <a:rPr lang="en-US" altLang="zh-CN" sz="2400" b="1" i="1" dirty="0">
                <a:solidFill>
                  <a:srgbClr val="0000CC"/>
                </a:solidFill>
              </a:rPr>
              <a:t>smaller instances </a:t>
            </a:r>
            <a:r>
              <a:rPr lang="en-US" altLang="zh-CN" sz="2400" dirty="0"/>
              <a:t>of itself as: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            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y  </a:t>
            </a:r>
            <a:r>
              <a:rPr lang="en-US" altLang="zh-CN" sz="2800" dirty="0">
                <a:latin typeface="Times New Roman" panose="02020603050405020304" pitchFamily="18" charset="0"/>
              </a:rPr>
              <a:t>=   1,               if y=0  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                   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(y-1) </a:t>
            </a:r>
            <a:r>
              <a:rPr lang="en-US" altLang="zh-CN" sz="2800" dirty="0">
                <a:latin typeface="Times New Roman" panose="02020603050405020304" pitchFamily="18" charset="0"/>
              </a:rPr>
              <a:t>*x  ,    if y&gt;0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A function to calculate </a:t>
            </a:r>
            <a:r>
              <a:rPr lang="zh-CN" altLang="zh-CN" sz="2400" dirty="0"/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i="1" baseline="30000" dirty="0">
                <a:latin typeface="Times New Roman" panose="02020603050405020304" pitchFamily="18" charset="0"/>
              </a:rPr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(y&gt;=0) </a:t>
            </a:r>
            <a:r>
              <a:rPr lang="en-US" altLang="zh-CN" sz="2400" dirty="0"/>
              <a:t>can be expressed 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recursively </a:t>
            </a:r>
            <a:r>
              <a:rPr lang="en-US" altLang="zh-CN" sz="2400" dirty="0">
                <a:solidFill>
                  <a:schemeClr val="accent2"/>
                </a:solidFill>
              </a:rPr>
              <a:t>as: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int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power</a:t>
            </a:r>
            <a:r>
              <a:rPr lang="en-US" altLang="zh-CN" sz="2400" dirty="0"/>
              <a:t>(int x, int y){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b="1" dirty="0">
                <a:solidFill>
                  <a:srgbClr val="000099"/>
                </a:solidFill>
              </a:rPr>
              <a:t>if</a:t>
            </a:r>
            <a:r>
              <a:rPr lang="en-US" altLang="zh-CN" sz="2400" dirty="0"/>
              <a:t> (y==0) </a:t>
            </a:r>
            <a:r>
              <a:rPr lang="en-US" altLang="zh-CN" sz="2400" b="1" dirty="0">
                <a:solidFill>
                  <a:srgbClr val="000099"/>
                </a:solidFill>
              </a:rPr>
              <a:t>return</a:t>
            </a:r>
            <a:r>
              <a:rPr lang="en-US" altLang="zh-CN" sz="2400" dirty="0"/>
              <a:t> 1;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b="1" dirty="0">
                <a:solidFill>
                  <a:srgbClr val="000099"/>
                </a:solidFill>
              </a:rPr>
              <a:t>retrun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power</a:t>
            </a:r>
            <a:r>
              <a:rPr lang="en-US" altLang="zh-CN" sz="2400" dirty="0"/>
              <a:t>(x,y-1)*x;  </a:t>
            </a:r>
            <a:r>
              <a:rPr lang="en-US" altLang="zh-CN" sz="2400" dirty="0">
                <a:solidFill>
                  <a:srgbClr val="663300"/>
                </a:solidFill>
              </a:rPr>
              <a:t>// recursion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}</a:t>
            </a:r>
            <a:endParaRPr lang="en-US" altLang="zh-CN" sz="2400" dirty="0"/>
          </a:p>
        </p:txBody>
      </p:sp>
      <p:sp>
        <p:nvSpPr>
          <p:cNvPr id="5" name="AutoShape 5"/>
          <p:cNvSpPr/>
          <p:nvPr/>
        </p:nvSpPr>
        <p:spPr>
          <a:xfrm>
            <a:off x="5148263" y="3213100"/>
            <a:ext cx="3657600" cy="1439863"/>
          </a:xfrm>
          <a:prstGeom prst="wedgeRectCallout">
            <a:avLst>
              <a:gd name="adj1" fmla="val -61995"/>
              <a:gd name="adj2" fmla="val -50222"/>
            </a:avLst>
          </a:prstGeom>
          <a:solidFill>
            <a:srgbClr val="FF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Recursive calls </a:t>
            </a:r>
            <a:r>
              <a:rPr lang="en-US" altLang="zh-CN" sz="2000" dirty="0">
                <a:latin typeface="Times New Roman" panose="02020603050405020304" pitchFamily="18" charset="0"/>
              </a:rPr>
              <a:t>must always make progress toward the base case.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Usually made with 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smaller</a:t>
            </a:r>
            <a:r>
              <a:rPr lang="en-US" altLang="zh-CN" sz="2000" dirty="0">
                <a:latin typeface="Times New Roman" panose="02020603050405020304" pitchFamily="18" charset="0"/>
              </a:rPr>
              <a:t> or 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simpler</a:t>
            </a:r>
            <a:r>
              <a:rPr lang="en-US" altLang="zh-CN" sz="2000" dirty="0">
                <a:latin typeface="Times New Roman" panose="02020603050405020304" pitchFamily="18" charset="0"/>
              </a:rPr>
              <a:t> instances of the problem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376863" y="1817688"/>
            <a:ext cx="3200400" cy="576262"/>
          </a:xfrm>
          <a:prstGeom prst="wedgeRectCallout">
            <a:avLst>
              <a:gd name="adj1" fmla="val -51139"/>
              <a:gd name="adj2" fmla="val 82648"/>
            </a:avLst>
          </a:prstGeom>
          <a:solidFill>
            <a:srgbClr val="FF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Solution directly defined for </a:t>
            </a:r>
            <a:r>
              <a:rPr lang="en-US" altLang="zh-CN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base case</a:t>
            </a:r>
            <a:endParaRPr lang="en-US" altLang="zh-CN" sz="2000" b="1" i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3276600" y="2492375"/>
            <a:ext cx="215900" cy="64770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750" name="文本框 2"/>
          <p:cNvSpPr txBox="1"/>
          <p:nvPr/>
        </p:nvSpPr>
        <p:spPr>
          <a:xfrm>
            <a:off x="261938" y="225425"/>
            <a:ext cx="50403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/>
              <a:t>Problem: calculate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y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(y&gt;=0) 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b="1" dirty="0"/>
              <a:t>Conditions for Valid Recursion</a:t>
            </a:r>
            <a:endParaRPr lang="en-US" altLang="zh-CN" b="1" dirty="0"/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For recursive functions to work, the following two conditions must be met: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There must be a </a:t>
            </a:r>
            <a:r>
              <a:rPr lang="en-US" altLang="zh-CN" b="1" u="sng" dirty="0">
                <a:solidFill>
                  <a:srgbClr val="FF0000"/>
                </a:solidFill>
              </a:rPr>
              <a:t>base case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where the input value or size is 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dirty="0"/>
              <a:t>the smallest possible, and 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dirty="0"/>
              <a:t>in which case the processing is non-recursive.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The input (parameters) of every recursive call must be </a:t>
            </a:r>
            <a:r>
              <a:rPr lang="en-US" altLang="zh-CN" dirty="0">
                <a:solidFill>
                  <a:srgbClr val="FF0000"/>
                </a:solidFill>
              </a:rPr>
              <a:t>smaller in value or size</a:t>
            </a:r>
            <a:r>
              <a:rPr lang="en-US" altLang="zh-CN" dirty="0"/>
              <a:t> than the input of the original function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762000" y="457200"/>
            <a:ext cx="7772400" cy="6096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b="1" dirty="0"/>
              <a:t>Illustration of the Conditions</a:t>
            </a:r>
            <a:endParaRPr lang="en-US" altLang="zh-CN" sz="4000" b="1" dirty="0"/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685800" y="2505075"/>
            <a:ext cx="8077200" cy="1852613"/>
          </a:xfrm>
          <a:solidFill>
            <a:srgbClr val="CCFFCC">
              <a:alpha val="100000"/>
            </a:srgbClr>
          </a:solidFill>
          <a:ln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</a:rPr>
              <a:t>long</a:t>
            </a:r>
            <a:r>
              <a:rPr lang="en-US" altLang="zh-CN" sz="2000" dirty="0"/>
              <a:t> power(</a:t>
            </a: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x, </a:t>
            </a:r>
            <a:r>
              <a:rPr lang="en-US" altLang="zh-CN" sz="2000" b="1" dirty="0"/>
              <a:t>int</a:t>
            </a:r>
            <a:r>
              <a:rPr lang="en-US" altLang="zh-CN" sz="2000" dirty="0"/>
              <a:t> y){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if</a:t>
            </a:r>
            <a:r>
              <a:rPr lang="en-US" altLang="zh-CN" sz="2000" dirty="0"/>
              <a:t> (y==0) 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1; </a:t>
            </a:r>
            <a:r>
              <a:rPr lang="en-US" altLang="zh-CN" sz="2000" dirty="0">
                <a:solidFill>
                  <a:srgbClr val="CC0000"/>
                </a:solidFill>
              </a:rPr>
              <a:t>// base case. Input </a:t>
            </a:r>
            <a:r>
              <a:rPr lang="en-US" altLang="zh-CN" sz="2000" b="1" dirty="0">
                <a:solidFill>
                  <a:srgbClr val="00CC00"/>
                </a:solidFill>
              </a:rPr>
              <a:t>value</a:t>
            </a:r>
            <a:r>
              <a:rPr lang="en-US" altLang="zh-CN" sz="2000" dirty="0">
                <a:solidFill>
                  <a:srgbClr val="CC0000"/>
                </a:solidFill>
              </a:rPr>
              <a:t> y is the minimum.</a:t>
            </a:r>
            <a:endParaRPr lang="en-US" altLang="zh-CN" sz="2000" dirty="0">
              <a:solidFill>
                <a:srgbClr val="CC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000" dirty="0">
              <a:solidFill>
                <a:srgbClr val="CC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x*power(x,y-1);  </a:t>
            </a:r>
            <a:r>
              <a:rPr lang="en-US" altLang="zh-CN" sz="1800" b="1" dirty="0">
                <a:solidFill>
                  <a:srgbClr val="CC0000"/>
                </a:solidFill>
              </a:rPr>
              <a:t>// recursion. Input value of recursive call  </a:t>
            </a:r>
            <a:endParaRPr lang="en-US" altLang="zh-CN" sz="1800" b="1" dirty="0">
              <a:solidFill>
                <a:srgbClr val="CC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 b="1" dirty="0">
                <a:solidFill>
                  <a:srgbClr val="CC0000"/>
                </a:solidFill>
              </a:rPr>
              <a:t>                                 //is y-1&lt;y</a:t>
            </a:r>
            <a:endParaRPr lang="en-US" altLang="zh-CN" sz="1800" b="1" dirty="0">
              <a:solidFill>
                <a:srgbClr val="CC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</p:txBody>
      </p:sp>
      <p:sp>
        <p:nvSpPr>
          <p:cNvPr id="79876" name="Rectangle 4"/>
          <p:cNvSpPr/>
          <p:nvPr/>
        </p:nvSpPr>
        <p:spPr>
          <a:xfrm>
            <a:off x="1000125" y="3071813"/>
            <a:ext cx="7715250" cy="376237"/>
          </a:xfrm>
          <a:prstGeom prst="rect">
            <a:avLst/>
          </a:prstGeom>
          <a:solidFill>
            <a:srgbClr val="FF6600">
              <a:alpha val="43921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9877" name="Rectangle 5"/>
          <p:cNvSpPr/>
          <p:nvPr/>
        </p:nvSpPr>
        <p:spPr>
          <a:xfrm>
            <a:off x="1000125" y="3571875"/>
            <a:ext cx="7715250" cy="714375"/>
          </a:xfrm>
          <a:prstGeom prst="rect">
            <a:avLst/>
          </a:prstGeom>
          <a:solidFill>
            <a:srgbClr val="CC0000">
              <a:alpha val="43921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animBg="1"/>
      <p:bldP spid="7987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6858000" cy="12954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3600" b="1" dirty="0"/>
              <a:t>Example 1</a:t>
            </a:r>
            <a:br>
              <a:rPr lang="en-US" altLang="zh-CN" sz="3600" b="1" dirty="0"/>
            </a:br>
            <a:endParaRPr lang="en-US" altLang="zh-CN" sz="3600" b="1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800" dirty="0"/>
              <a:t>     int f(unsigned int N)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2800" dirty="0"/>
              <a:t>          {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2800" dirty="0"/>
              <a:t>                  if(N==0)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2800" dirty="0"/>
              <a:t>                        return 0;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2800" dirty="0"/>
              <a:t>                  else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2800" dirty="0"/>
              <a:t>                        return f(N/3+1)+N-1;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2800" dirty="0"/>
              <a:t>           }</a:t>
            </a:r>
            <a:endParaRPr lang="en-US" altLang="zh-CN" sz="2800" dirty="0"/>
          </a:p>
        </p:txBody>
      </p:sp>
      <p:sp>
        <p:nvSpPr>
          <p:cNvPr id="2" name="矩形 1"/>
          <p:cNvSpPr/>
          <p:nvPr/>
        </p:nvSpPr>
        <p:spPr>
          <a:xfrm>
            <a:off x="1476375" y="5661025"/>
            <a:ext cx="64008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A nonterminating recursive program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6870700" cy="960438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3600" b="1" dirty="0"/>
              <a:t>Example 2: Investment Accounts</a:t>
            </a:r>
            <a:endParaRPr lang="en-US" altLang="zh-CN" sz="3600" b="1" dirty="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8153400" cy="4495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Suppose you invest in an account </a:t>
            </a:r>
            <a:r>
              <a:rPr lang="en-US" altLang="zh-CN" dirty="0">
                <a:solidFill>
                  <a:srgbClr val="00CC00"/>
                </a:solidFill>
              </a:rPr>
              <a:t>$x</a:t>
            </a:r>
            <a:r>
              <a:rPr lang="en-US" altLang="zh-CN" dirty="0"/>
              <a:t> every year, and that the account grows at an interest rate of </a:t>
            </a:r>
            <a:r>
              <a:rPr lang="en-US" altLang="zh-CN" dirty="0">
                <a:solidFill>
                  <a:srgbClr val="00CC00"/>
                </a:solidFill>
              </a:rPr>
              <a:t>8%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dirty="0"/>
              <a:t>Write a function </a:t>
            </a:r>
            <a:r>
              <a:rPr lang="en-US" altLang="zh-CN" dirty="0">
                <a:solidFill>
                  <a:srgbClr val="00CC00"/>
                </a:solidFill>
              </a:rPr>
              <a:t>S(n</a:t>
            </a:r>
            <a:r>
              <a:rPr lang="en-US" altLang="zh-CN" dirty="0"/>
              <a:t>) that computes how much money you have in your account at the end of year </a:t>
            </a:r>
            <a:r>
              <a:rPr lang="en-US" altLang="zh-CN" dirty="0">
                <a:solidFill>
                  <a:srgbClr val="00CC00"/>
                </a:solidFill>
              </a:rPr>
              <a:t>n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文本框 5"/>
          <p:cNvSpPr txBox="1"/>
          <p:nvPr>
            <p:custDataLst>
              <p:tags r:id="rId1"/>
            </p:custDataLst>
          </p:nvPr>
        </p:nvSpPr>
        <p:spPr>
          <a:xfrm>
            <a:off x="914400" y="1412875"/>
            <a:ext cx="7315200" cy="33115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14350" indent="-514350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CN" sz="2800" dirty="0"/>
              <a:t>Indicate </a:t>
            </a:r>
            <a:r>
              <a:rPr lang="en-US" altLang="zh-CN" sz="2800" dirty="0">
                <a:solidFill>
                  <a:srgbClr val="FF0000"/>
                </a:solidFill>
              </a:rPr>
              <a:t>the base case</a:t>
            </a:r>
            <a:r>
              <a:rPr lang="en-US" altLang="zh-CN" sz="2800" dirty="0"/>
              <a:t> of the recursive procedure.</a:t>
            </a:r>
            <a:endParaRPr lang="en-US" altLang="zh-CN" sz="2800" dirty="0"/>
          </a:p>
          <a:p>
            <a:pPr marL="514350" indent="-514350" eaLnBrk="1" hangingPunct="1">
              <a:spcBef>
                <a:spcPct val="0"/>
              </a:spcBef>
              <a:buFontTx/>
              <a:buAutoNum type="arabicPeriod"/>
            </a:pPr>
            <a:endParaRPr lang="en-US" altLang="zh-CN" sz="2800" dirty="0"/>
          </a:p>
          <a:p>
            <a:pPr marL="514350" lvl="0" indent="-514350" eaLnBrk="1" hangingPunct="1">
              <a:spcBef>
                <a:spcPct val="0"/>
              </a:spcBef>
              <a:buAutoNum type="arabicPeriod"/>
            </a:pPr>
            <a:r>
              <a:rPr lang="en-US" altLang="zh-CN" sz="2800" dirty="0"/>
              <a:t>Write a function </a:t>
            </a:r>
            <a:r>
              <a:rPr lang="en-US" altLang="zh-CN" sz="2800" dirty="0">
                <a:solidFill>
                  <a:srgbClr val="FF0000"/>
                </a:solidFill>
              </a:rPr>
              <a:t>S(n)</a:t>
            </a:r>
            <a:r>
              <a:rPr lang="en-US" altLang="zh-CN" sz="2800" dirty="0"/>
              <a:t> that computes how much money you have in your account at the end of year </a:t>
            </a:r>
            <a:r>
              <a:rPr lang="en-US" altLang="zh-CN" sz="2800" dirty="0">
                <a:solidFill>
                  <a:srgbClr val="FF0000"/>
                </a:solidFill>
              </a:rPr>
              <a:t>n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marL="514350" lvl="0" indent="-514350" eaLnBrk="1" hangingPunct="1">
              <a:spcBef>
                <a:spcPct val="0"/>
              </a:spcBef>
              <a:buAutoNum type="arabicPeriod"/>
            </a:pPr>
            <a:endParaRPr lang="en-US" altLang="zh-CN" sz="2800" dirty="0"/>
          </a:p>
        </p:txBody>
      </p:sp>
      <p:sp>
        <p:nvSpPr>
          <p:cNvPr id="7" name="矩形: 圆角 6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正常使用主观题需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2.0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以上版本雨课堂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84F4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grpSp>
        <p:nvGrpSpPr>
          <p:cNvPr id="38917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21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8922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8918" name="图片 4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96200" cy="74612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b="1" dirty="0"/>
              <a:t>Investment </a:t>
            </a:r>
            <a:r>
              <a:rPr lang="en-US" altLang="zh-CN" sz="3600" b="1" dirty="0"/>
              <a:t>Example</a:t>
            </a:r>
            <a:r>
              <a:rPr lang="en-US" altLang="zh-CN" sz="4000" b="1" dirty="0"/>
              <a:t> (contd.)</a:t>
            </a:r>
            <a:endParaRPr lang="en-US" altLang="zh-CN" sz="4000" b="1" dirty="0"/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7244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zh-CN" altLang="zh-CN" dirty="0"/>
          </a:p>
        </p:txBody>
      </p:sp>
      <p:sp>
        <p:nvSpPr>
          <p:cNvPr id="75780" name="Rectangle 4"/>
          <p:cNvSpPr/>
          <p:nvPr/>
        </p:nvSpPr>
        <p:spPr>
          <a:xfrm>
            <a:off x="381000" y="1219200"/>
            <a:ext cx="8534400" cy="19050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</a:rPr>
              <a:t>The math:</a:t>
            </a:r>
            <a:endParaRPr lang="en-US" altLang="zh-CN" sz="2400" b="1" dirty="0">
              <a:solidFill>
                <a:srgbClr val="CC00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S(n) = S(n-1) + interest of past year + new deposit $x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S(n)=S(n-1)+0.08*S(n-1)+x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S(n)=1.08*S(n-1) + x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Note that S(0)=x (the first deposit when opening the acct)</a:t>
            </a:r>
            <a:endParaRPr lang="en-US" altLang="zh-CN" sz="2400" dirty="0"/>
          </a:p>
        </p:txBody>
      </p:sp>
      <p:sp>
        <p:nvSpPr>
          <p:cNvPr id="75781" name="Rectangle 5"/>
          <p:cNvSpPr/>
          <p:nvPr/>
        </p:nvSpPr>
        <p:spPr>
          <a:xfrm>
            <a:off x="381000" y="3276600"/>
            <a:ext cx="8534400" cy="28956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</a:rPr>
              <a:t>//The recursive code:</a:t>
            </a:r>
            <a:endParaRPr lang="en-US" altLang="zh-CN" sz="2400" b="1" dirty="0">
              <a:solidFill>
                <a:srgbClr val="CC00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//Precondition: n is a non-negative integer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//Postcondition: returns S(0)=x; S(n) = 1.08*S(n-1) + x</a:t>
            </a:r>
            <a:endParaRPr lang="en-US" altLang="zh-CN" sz="2400" b="1" dirty="0">
              <a:solidFill>
                <a:schemeClr val="accent2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double</a:t>
            </a:r>
            <a:r>
              <a:rPr lang="en-US" altLang="zh-CN" sz="2400" dirty="0"/>
              <a:t> S(</a:t>
            </a:r>
            <a:r>
              <a:rPr lang="en-US" altLang="zh-CN" sz="2400" b="1" dirty="0">
                <a:solidFill>
                  <a:srgbClr val="000099"/>
                </a:solidFill>
              </a:rPr>
              <a:t>int</a:t>
            </a:r>
            <a:r>
              <a:rPr lang="en-US" altLang="zh-CN" sz="2400" dirty="0"/>
              <a:t> n, </a:t>
            </a:r>
            <a:r>
              <a:rPr lang="en-US" altLang="zh-CN" sz="2400" b="1" dirty="0">
                <a:solidFill>
                  <a:srgbClr val="000099"/>
                </a:solidFill>
              </a:rPr>
              <a:t>double</a:t>
            </a:r>
            <a:r>
              <a:rPr lang="en-US" altLang="zh-CN" sz="2400" dirty="0"/>
              <a:t> x){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b="1" dirty="0">
                <a:solidFill>
                  <a:srgbClr val="000099"/>
                </a:solidFill>
              </a:rPr>
              <a:t>if</a:t>
            </a:r>
            <a:r>
              <a:rPr lang="en-US" altLang="zh-CN" sz="2400" dirty="0"/>
              <a:t> (n==0) </a:t>
            </a:r>
            <a:r>
              <a:rPr lang="en-US" altLang="zh-CN" sz="2400" b="1" dirty="0">
                <a:solidFill>
                  <a:srgbClr val="000099"/>
                </a:solidFill>
              </a:rPr>
              <a:t>return</a:t>
            </a:r>
            <a:r>
              <a:rPr lang="en-US" altLang="zh-CN" sz="2400" dirty="0"/>
              <a:t> x;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b="1" dirty="0">
                <a:solidFill>
                  <a:srgbClr val="000099"/>
                </a:solidFill>
              </a:rPr>
              <a:t>return</a:t>
            </a:r>
            <a:r>
              <a:rPr lang="en-US" altLang="zh-CN" sz="2400" dirty="0"/>
              <a:t> 1.08*S(n-1,x)+x;	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}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57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57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57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57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57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57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1" grpId="0" animBg="1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3600" b="1" dirty="0"/>
              <a:t>Example 3: Finding the Minimum in an Array</a:t>
            </a:r>
            <a:endParaRPr lang="en-US" altLang="zh-CN" sz="3600" b="1" dirty="0"/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zh-CN" altLang="zh-CN" dirty="0"/>
          </a:p>
        </p:txBody>
      </p:sp>
      <p:sp>
        <p:nvSpPr>
          <p:cNvPr id="76804" name="Rectangle 4"/>
          <p:cNvSpPr/>
          <p:nvPr/>
        </p:nvSpPr>
        <p:spPr>
          <a:xfrm>
            <a:off x="561975" y="1785938"/>
            <a:ext cx="8153400" cy="41910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663300"/>
                </a:solidFill>
              </a:rPr>
              <a:t>Question:</a:t>
            </a:r>
            <a:r>
              <a:rPr lang="en-US" altLang="zh-CN" sz="2000" dirty="0">
                <a:solidFill>
                  <a:srgbClr val="663300"/>
                </a:solidFill>
              </a:rPr>
              <a:t> the input is a double array x[ ], find the minimum element </a:t>
            </a:r>
            <a:endParaRPr lang="en-US" altLang="zh-CN" sz="2000" dirty="0">
              <a:solidFill>
                <a:srgbClr val="6633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663300"/>
                </a:solidFill>
              </a:rPr>
              <a:t>                 in the array. </a:t>
            </a:r>
            <a:endParaRPr lang="en-US" altLang="zh-CN" sz="2000" dirty="0">
              <a:solidFill>
                <a:srgbClr val="0000CC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zh-CN" sz="2000" dirty="0">
              <a:solidFill>
                <a:srgbClr val="6633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663300"/>
                </a:solidFill>
              </a:rPr>
              <a:t>// </a:t>
            </a:r>
            <a:r>
              <a:rPr lang="en-US" altLang="zh-CN" sz="2000" b="1" dirty="0">
                <a:solidFill>
                  <a:srgbClr val="663300"/>
                </a:solidFill>
              </a:rPr>
              <a:t>Precondition:</a:t>
            </a:r>
            <a:r>
              <a:rPr lang="en-US" altLang="zh-CN" sz="2000" i="1" dirty="0">
                <a:solidFill>
                  <a:srgbClr val="0000CC"/>
                </a:solidFill>
              </a:rPr>
              <a:t>start</a:t>
            </a:r>
            <a:r>
              <a:rPr lang="en-US" altLang="zh-CN" sz="2000" dirty="0">
                <a:solidFill>
                  <a:srgbClr val="663300"/>
                </a:solidFill>
              </a:rPr>
              <a:t> and </a:t>
            </a:r>
            <a:r>
              <a:rPr lang="en-US" altLang="zh-CN" sz="2000" i="1" dirty="0">
                <a:solidFill>
                  <a:srgbClr val="0000CC"/>
                </a:solidFill>
              </a:rPr>
              <a:t>end</a:t>
            </a:r>
            <a:r>
              <a:rPr lang="en-US" altLang="zh-CN" sz="2000" dirty="0">
                <a:solidFill>
                  <a:srgbClr val="0000CC"/>
                </a:solidFill>
              </a:rPr>
              <a:t> </a:t>
            </a:r>
            <a:r>
              <a:rPr lang="en-US" altLang="zh-CN" sz="2000" dirty="0">
                <a:solidFill>
                  <a:srgbClr val="663300"/>
                </a:solidFill>
              </a:rPr>
              <a:t>are nonnegative integer indexes</a:t>
            </a:r>
            <a:endParaRPr lang="en-US" altLang="zh-CN" sz="2000" dirty="0">
              <a:solidFill>
                <a:srgbClr val="6633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663300"/>
                </a:solidFill>
              </a:rPr>
              <a:t>// marking the portion of x[ ] over which to find the minimum.</a:t>
            </a:r>
            <a:endParaRPr lang="en-US" altLang="zh-CN" sz="2000" dirty="0">
              <a:solidFill>
                <a:srgbClr val="6633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663300"/>
                </a:solidFill>
              </a:rPr>
              <a:t>// </a:t>
            </a:r>
            <a:r>
              <a:rPr lang="en-US" altLang="zh-CN" sz="2000" i="1" dirty="0">
                <a:solidFill>
                  <a:srgbClr val="0000CC"/>
                </a:solidFill>
              </a:rPr>
              <a:t>end</a:t>
            </a:r>
            <a:r>
              <a:rPr lang="en-US" altLang="zh-CN" sz="2000" dirty="0">
                <a:solidFill>
                  <a:srgbClr val="0000CC"/>
                </a:solidFill>
              </a:rPr>
              <a:t> &gt;= </a:t>
            </a:r>
            <a:r>
              <a:rPr lang="en-US" altLang="zh-CN" sz="2000" i="1" dirty="0">
                <a:solidFill>
                  <a:srgbClr val="0000CC"/>
                </a:solidFill>
              </a:rPr>
              <a:t>start</a:t>
            </a:r>
            <a:r>
              <a:rPr lang="en-US" altLang="zh-CN" sz="2000" dirty="0">
                <a:solidFill>
                  <a:srgbClr val="663300"/>
                </a:solidFill>
              </a:rPr>
              <a:t>; i.e. find minimum from x[</a:t>
            </a:r>
            <a:r>
              <a:rPr lang="en-US" altLang="zh-CN" sz="2000" dirty="0">
                <a:solidFill>
                  <a:srgbClr val="0000CC"/>
                </a:solidFill>
              </a:rPr>
              <a:t>start</a:t>
            </a:r>
            <a:r>
              <a:rPr lang="en-US" altLang="zh-CN" sz="2000" dirty="0">
                <a:solidFill>
                  <a:srgbClr val="663300"/>
                </a:solidFill>
              </a:rPr>
              <a:t>] to x[</a:t>
            </a:r>
            <a:r>
              <a:rPr lang="en-US" altLang="zh-CN" sz="2000" dirty="0">
                <a:solidFill>
                  <a:srgbClr val="0000CC"/>
                </a:solidFill>
              </a:rPr>
              <a:t>end</a:t>
            </a:r>
            <a:r>
              <a:rPr lang="en-US" altLang="zh-CN" sz="2000" dirty="0">
                <a:solidFill>
                  <a:srgbClr val="663300"/>
                </a:solidFill>
              </a:rPr>
              <a:t>]</a:t>
            </a:r>
            <a:endParaRPr lang="en-US" altLang="zh-CN" sz="2000" dirty="0">
              <a:solidFill>
                <a:srgbClr val="6633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zh-CN" sz="2000" dirty="0">
              <a:solidFill>
                <a:srgbClr val="6633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CC0000"/>
                </a:solidFill>
              </a:rPr>
              <a:t>// </a:t>
            </a:r>
            <a:r>
              <a:rPr lang="en-US" altLang="zh-CN" sz="2000" b="1" dirty="0">
                <a:solidFill>
                  <a:srgbClr val="CC0000"/>
                </a:solidFill>
              </a:rPr>
              <a:t>Postcondition:</a:t>
            </a:r>
            <a:r>
              <a:rPr lang="en-US" altLang="zh-CN" sz="2000" dirty="0">
                <a:solidFill>
                  <a:srgbClr val="CC0000"/>
                </a:solidFill>
              </a:rPr>
              <a:t> returns the smallest value in x[start. .end ].</a:t>
            </a:r>
            <a:endParaRPr lang="en-US" altLang="zh-CN" sz="2000" dirty="0">
              <a:solidFill>
                <a:srgbClr val="CC00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zh-CN" sz="2000" dirty="0">
              <a:solidFill>
                <a:srgbClr val="CC00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800000"/>
                </a:solidFill>
              </a:rPr>
              <a:t>// </a:t>
            </a:r>
            <a:r>
              <a:rPr lang="en-US" altLang="zh-CN" sz="2000" b="1" dirty="0">
                <a:solidFill>
                  <a:srgbClr val="800000"/>
                </a:solidFill>
              </a:rPr>
              <a:t>Recursion principle:</a:t>
            </a:r>
            <a:r>
              <a:rPr lang="en-US" altLang="zh-CN" sz="2000" dirty="0">
                <a:solidFill>
                  <a:srgbClr val="800000"/>
                </a:solidFill>
              </a:rPr>
              <a:t> if you we have the minimum of the 1</a:t>
            </a:r>
            <a:r>
              <a:rPr lang="en-US" altLang="zh-CN" sz="2000" baseline="30000" dirty="0">
                <a:solidFill>
                  <a:srgbClr val="800000"/>
                </a:solidFill>
              </a:rPr>
              <a:t>st</a:t>
            </a:r>
            <a:r>
              <a:rPr lang="en-US" altLang="zh-CN" sz="2000" dirty="0">
                <a:solidFill>
                  <a:srgbClr val="800000"/>
                </a:solidFill>
              </a:rPr>
              <a:t> </a:t>
            </a:r>
            <a:endParaRPr lang="en-US" altLang="zh-CN" sz="2000" dirty="0">
              <a:solidFill>
                <a:srgbClr val="8000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800000"/>
                </a:solidFill>
              </a:rPr>
              <a:t>// half of x and the minimum of the 2</a:t>
            </a:r>
            <a:r>
              <a:rPr lang="en-US" altLang="zh-CN" sz="2000" baseline="30000" dirty="0">
                <a:solidFill>
                  <a:srgbClr val="800000"/>
                </a:solidFill>
              </a:rPr>
              <a:t>nd</a:t>
            </a:r>
            <a:r>
              <a:rPr lang="en-US" altLang="zh-CN" sz="2000" dirty="0">
                <a:solidFill>
                  <a:srgbClr val="800000"/>
                </a:solidFill>
              </a:rPr>
              <a:t> half of x, then the </a:t>
            </a:r>
            <a:endParaRPr lang="en-US" altLang="zh-CN" sz="2000" dirty="0">
              <a:solidFill>
                <a:srgbClr val="8000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800000"/>
                </a:solidFill>
              </a:rPr>
              <a:t>// global minimum is the smaller of those two minimums</a:t>
            </a:r>
            <a:endParaRPr lang="en-US" altLang="zh-CN" sz="2000" dirty="0">
              <a:solidFill>
                <a:srgbClr val="8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68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68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68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68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68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68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0668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3600" b="1" dirty="0"/>
              <a:t>The Minimum Example (Contd.)</a:t>
            </a:r>
            <a:endParaRPr lang="en-US" altLang="zh-CN" sz="3600" b="1" dirty="0"/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685800" y="19050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zh-CN" altLang="zh-CN" dirty="0"/>
          </a:p>
        </p:txBody>
      </p:sp>
      <p:sp>
        <p:nvSpPr>
          <p:cNvPr id="77828" name="Rectangle 4"/>
          <p:cNvSpPr/>
          <p:nvPr/>
        </p:nvSpPr>
        <p:spPr>
          <a:xfrm>
            <a:off x="152400" y="1600200"/>
            <a:ext cx="8686800" cy="44196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double</a:t>
            </a:r>
            <a:r>
              <a:rPr lang="en-US" altLang="zh-CN" sz="2400" dirty="0"/>
              <a:t> min(</a:t>
            </a:r>
            <a:r>
              <a:rPr lang="en-US" altLang="zh-CN" sz="2400" b="1" dirty="0">
                <a:solidFill>
                  <a:schemeClr val="accent2"/>
                </a:solidFill>
              </a:rPr>
              <a:t>double</a:t>
            </a:r>
            <a:r>
              <a:rPr lang="en-US" altLang="zh-CN" sz="2400" dirty="0"/>
              <a:t> x[ ], </a:t>
            </a:r>
            <a:r>
              <a:rPr lang="en-US" altLang="zh-CN" sz="2400" b="1" dirty="0">
                <a:solidFill>
                  <a:schemeClr val="accent2"/>
                </a:solidFill>
              </a:rPr>
              <a:t>int</a:t>
            </a:r>
            <a:r>
              <a:rPr lang="en-US" altLang="zh-CN" sz="2400" dirty="0"/>
              <a:t> </a:t>
            </a:r>
            <a:r>
              <a:rPr lang="en-US" altLang="zh-CN" sz="2400" i="1" dirty="0"/>
              <a:t>start</a:t>
            </a:r>
            <a:r>
              <a:rPr lang="en-US" altLang="zh-CN" sz="2400" dirty="0"/>
              <a:t>, </a:t>
            </a:r>
            <a:r>
              <a:rPr lang="en-US" altLang="zh-CN" sz="2400" b="1" dirty="0">
                <a:solidFill>
                  <a:schemeClr val="accent2"/>
                </a:solidFill>
              </a:rPr>
              <a:t>int</a:t>
            </a:r>
            <a:r>
              <a:rPr lang="en-US" altLang="zh-CN" sz="2400" dirty="0"/>
              <a:t> </a:t>
            </a:r>
            <a:r>
              <a:rPr lang="en-US" altLang="zh-CN" sz="2400" i="1" dirty="0"/>
              <a:t>end</a:t>
            </a:r>
            <a:r>
              <a:rPr lang="en-US" altLang="zh-CN" sz="2400" dirty="0"/>
              <a:t>){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assert(</a:t>
            </a:r>
            <a:r>
              <a:rPr lang="en-US" altLang="zh-CN" sz="2400" i="1" dirty="0"/>
              <a:t>end</a:t>
            </a:r>
            <a:r>
              <a:rPr lang="en-US" altLang="zh-CN" sz="2400" dirty="0"/>
              <a:t> &gt;= </a:t>
            </a:r>
            <a:r>
              <a:rPr lang="en-US" altLang="zh-CN" sz="2400" i="1" dirty="0"/>
              <a:t>start</a:t>
            </a:r>
            <a:r>
              <a:rPr lang="en-US" altLang="zh-CN" sz="2400" dirty="0"/>
              <a:t> &amp;&amp; </a:t>
            </a:r>
            <a:r>
              <a:rPr lang="en-US" altLang="zh-CN" sz="2400" i="1" dirty="0"/>
              <a:t>start</a:t>
            </a:r>
            <a:r>
              <a:rPr lang="en-US" altLang="zh-CN" sz="2400" dirty="0"/>
              <a:t> &gt;=0);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b="1" dirty="0">
                <a:solidFill>
                  <a:schemeClr val="accent2"/>
                </a:solidFill>
              </a:rPr>
              <a:t>if</a:t>
            </a:r>
            <a:r>
              <a:rPr lang="en-US" altLang="zh-CN" sz="2400" dirty="0"/>
              <a:t> (</a:t>
            </a:r>
            <a:r>
              <a:rPr lang="en-US" altLang="zh-CN" sz="2400" i="1" dirty="0"/>
              <a:t>end</a:t>
            </a:r>
            <a:r>
              <a:rPr lang="en-US" altLang="zh-CN" sz="2400" dirty="0"/>
              <a:t> == </a:t>
            </a:r>
            <a:r>
              <a:rPr lang="en-US" altLang="zh-CN" sz="2400" i="1" dirty="0"/>
              <a:t>start</a:t>
            </a:r>
            <a:r>
              <a:rPr lang="en-US" altLang="zh-CN" sz="2400" dirty="0"/>
              <a:t>)          </a:t>
            </a:r>
            <a:r>
              <a:rPr lang="en-US" altLang="zh-CN" sz="2400" dirty="0">
                <a:solidFill>
                  <a:srgbClr val="000099"/>
                </a:solidFill>
              </a:rPr>
              <a:t>// one number to minimize over</a:t>
            </a:r>
            <a:endParaRPr lang="en-US" altLang="zh-CN" sz="2400" dirty="0">
              <a:solidFill>
                <a:srgbClr val="000099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	</a:t>
            </a:r>
            <a:r>
              <a:rPr lang="en-US" altLang="zh-CN" sz="2400" b="1" dirty="0">
                <a:solidFill>
                  <a:schemeClr val="accent2"/>
                </a:solidFill>
              </a:rPr>
              <a:t>return</a:t>
            </a:r>
            <a:r>
              <a:rPr lang="en-US" altLang="zh-CN" sz="2400" dirty="0"/>
              <a:t> x[</a:t>
            </a:r>
            <a:r>
              <a:rPr lang="en-US" altLang="zh-CN" sz="2400" i="1" dirty="0"/>
              <a:t>start</a:t>
            </a:r>
            <a:r>
              <a:rPr lang="en-US" altLang="zh-CN" sz="2400" dirty="0"/>
              <a:t>];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 </a:t>
            </a:r>
            <a:r>
              <a:rPr lang="en-US" altLang="zh-CN" sz="2400" b="1" dirty="0">
                <a:solidFill>
                  <a:schemeClr val="accent2"/>
                </a:solidFill>
              </a:rPr>
              <a:t>int</a:t>
            </a:r>
            <a:r>
              <a:rPr lang="en-US" altLang="zh-CN" sz="2400" dirty="0"/>
              <a:t> mid=(</a:t>
            </a:r>
            <a:r>
              <a:rPr lang="en-US" altLang="zh-CN" sz="2400" i="1" dirty="0"/>
              <a:t>start</a:t>
            </a:r>
            <a:r>
              <a:rPr lang="en-US" altLang="zh-CN" sz="2400" dirty="0"/>
              <a:t>+</a:t>
            </a:r>
            <a:r>
              <a:rPr lang="en-US" altLang="zh-CN" sz="2400" i="1" dirty="0"/>
              <a:t>end</a:t>
            </a:r>
            <a:r>
              <a:rPr lang="en-US" altLang="zh-CN" sz="2400" dirty="0"/>
              <a:t>)/2;   	          </a:t>
            </a:r>
            <a:r>
              <a:rPr lang="en-US" altLang="zh-CN" sz="2400" dirty="0">
                <a:solidFill>
                  <a:srgbClr val="000099"/>
                </a:solidFill>
              </a:rPr>
              <a:t>// mid-point index</a:t>
            </a:r>
            <a:endParaRPr lang="en-US" altLang="zh-CN" sz="2400" dirty="0">
              <a:solidFill>
                <a:srgbClr val="000099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 </a:t>
            </a:r>
            <a:r>
              <a:rPr lang="en-US" altLang="zh-CN" sz="2400" b="1" dirty="0">
                <a:solidFill>
                  <a:schemeClr val="accent2"/>
                </a:solidFill>
              </a:rPr>
              <a:t>double</a:t>
            </a:r>
            <a:r>
              <a:rPr lang="en-US" altLang="zh-CN" sz="2400" dirty="0"/>
              <a:t> min1=min(x, </a:t>
            </a:r>
            <a:r>
              <a:rPr lang="en-US" altLang="zh-CN" sz="2400" i="1" dirty="0"/>
              <a:t>start</a:t>
            </a:r>
            <a:r>
              <a:rPr lang="en-US" altLang="zh-CN" sz="2400" dirty="0"/>
              <a:t>, mid);    </a:t>
            </a:r>
            <a:r>
              <a:rPr lang="en-US" altLang="zh-CN" sz="2400" dirty="0">
                <a:solidFill>
                  <a:srgbClr val="000099"/>
                </a:solidFill>
              </a:rPr>
              <a:t>// 1</a:t>
            </a:r>
            <a:r>
              <a:rPr lang="en-US" altLang="zh-CN" sz="2400" baseline="30000" dirty="0">
                <a:solidFill>
                  <a:srgbClr val="000099"/>
                </a:solidFill>
              </a:rPr>
              <a:t>st</a:t>
            </a:r>
            <a:r>
              <a:rPr lang="en-US" altLang="zh-CN" sz="2400" dirty="0">
                <a:solidFill>
                  <a:srgbClr val="000099"/>
                </a:solidFill>
              </a:rPr>
              <a:t> recursive call</a:t>
            </a:r>
            <a:endParaRPr lang="en-US" altLang="zh-CN" sz="2400" dirty="0">
              <a:solidFill>
                <a:srgbClr val="000099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 </a:t>
            </a:r>
            <a:r>
              <a:rPr lang="en-US" altLang="zh-CN" sz="2400" b="1" dirty="0">
                <a:solidFill>
                  <a:schemeClr val="accent2"/>
                </a:solidFill>
              </a:rPr>
              <a:t>double</a:t>
            </a:r>
            <a:r>
              <a:rPr lang="en-US" altLang="zh-CN" sz="2400" dirty="0"/>
              <a:t> min2=min(x, mid+1, </a:t>
            </a:r>
            <a:r>
              <a:rPr lang="en-US" altLang="zh-CN" sz="2400" i="1" dirty="0"/>
              <a:t>end</a:t>
            </a:r>
            <a:r>
              <a:rPr lang="en-US" altLang="zh-CN" sz="2400" dirty="0"/>
              <a:t>); </a:t>
            </a:r>
            <a:r>
              <a:rPr lang="en-US" altLang="zh-CN" sz="2400" dirty="0">
                <a:solidFill>
                  <a:srgbClr val="000099"/>
                </a:solidFill>
              </a:rPr>
              <a:t>// 2</a:t>
            </a:r>
            <a:r>
              <a:rPr lang="en-US" altLang="zh-CN" sz="2400" baseline="30000" dirty="0">
                <a:solidFill>
                  <a:srgbClr val="000099"/>
                </a:solidFill>
              </a:rPr>
              <a:t>nd</a:t>
            </a:r>
            <a:r>
              <a:rPr lang="en-US" altLang="zh-CN" sz="2400" dirty="0">
                <a:solidFill>
                  <a:srgbClr val="000099"/>
                </a:solidFill>
              </a:rPr>
              <a:t> recursive call</a:t>
            </a:r>
            <a:endParaRPr lang="en-US" altLang="zh-CN" sz="2400" dirty="0">
              <a:solidFill>
                <a:srgbClr val="000099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 </a:t>
            </a:r>
            <a:r>
              <a:rPr lang="en-US" altLang="zh-CN" sz="2400" b="1" dirty="0">
                <a:solidFill>
                  <a:schemeClr val="accent2"/>
                </a:solidFill>
              </a:rPr>
              <a:t>if</a:t>
            </a:r>
            <a:r>
              <a:rPr lang="en-US" altLang="zh-CN" sz="2400" dirty="0"/>
              <a:t> (min1 &lt;= min2) 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	 </a:t>
            </a:r>
            <a:r>
              <a:rPr lang="en-US" altLang="zh-CN" sz="2400" b="1" dirty="0">
                <a:solidFill>
                  <a:schemeClr val="accent2"/>
                </a:solidFill>
              </a:rPr>
              <a:t>return</a:t>
            </a:r>
            <a:r>
              <a:rPr lang="en-US" altLang="zh-CN" sz="2400" dirty="0"/>
              <a:t> min1;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b="1" dirty="0">
                <a:solidFill>
                  <a:schemeClr val="accent2"/>
                </a:solidFill>
              </a:rPr>
              <a:t>else</a:t>
            </a:r>
            <a:endParaRPr lang="en-US" altLang="zh-CN" sz="2400" b="1" dirty="0">
              <a:solidFill>
                <a:schemeClr val="accent2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		 </a:t>
            </a:r>
            <a:r>
              <a:rPr lang="en-US" altLang="zh-CN" sz="2400" b="1" dirty="0">
                <a:solidFill>
                  <a:schemeClr val="accent2"/>
                </a:solidFill>
              </a:rPr>
              <a:t>return</a:t>
            </a:r>
            <a:r>
              <a:rPr lang="en-US" altLang="zh-CN" sz="2400" dirty="0"/>
              <a:t> min2;	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}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78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78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78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78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78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762000" y="457200"/>
            <a:ext cx="7772400" cy="6096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b="1" dirty="0"/>
              <a:t>Illustration of the Conditions</a:t>
            </a:r>
            <a:endParaRPr lang="en-US" altLang="zh-CN" sz="4000" b="1" dirty="0"/>
          </a:p>
        </p:txBody>
      </p:sp>
      <p:sp>
        <p:nvSpPr>
          <p:cNvPr id="79878" name="Rectangle 6"/>
          <p:cNvSpPr/>
          <p:nvPr/>
        </p:nvSpPr>
        <p:spPr>
          <a:xfrm>
            <a:off x="685800" y="1285875"/>
            <a:ext cx="8077200" cy="4357688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</a:rPr>
              <a:t>double</a:t>
            </a:r>
            <a:r>
              <a:rPr lang="en-US" altLang="zh-CN" sz="2000" dirty="0"/>
              <a:t> min(</a:t>
            </a:r>
            <a:r>
              <a:rPr lang="en-US" altLang="zh-CN" sz="2000" b="1" dirty="0">
                <a:solidFill>
                  <a:schemeClr val="accent2"/>
                </a:solidFill>
              </a:rPr>
              <a:t>double</a:t>
            </a:r>
            <a:r>
              <a:rPr lang="en-US" altLang="zh-CN" sz="2000" dirty="0"/>
              <a:t> x[ ], </a:t>
            </a: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, </a:t>
            </a: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</a:t>
            </a:r>
            <a:r>
              <a:rPr lang="en-US" altLang="zh-CN" sz="2000" i="1" dirty="0"/>
              <a:t>end</a:t>
            </a:r>
            <a:r>
              <a:rPr lang="en-US" altLang="zh-CN" sz="2000" dirty="0"/>
              <a:t>){</a:t>
            </a:r>
            <a:endParaRPr lang="en-US" altLang="zh-CN" sz="20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assert(</a:t>
            </a:r>
            <a:r>
              <a:rPr lang="en-US" altLang="zh-CN" sz="2000" i="1" dirty="0"/>
              <a:t>end</a:t>
            </a:r>
            <a:r>
              <a:rPr lang="en-US" altLang="zh-CN" sz="2000" dirty="0"/>
              <a:t> &gt;= 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 &amp;&amp; 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 &gt;=0);</a:t>
            </a:r>
            <a:endParaRPr lang="en-US" altLang="zh-CN" sz="20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if</a:t>
            </a:r>
            <a:r>
              <a:rPr lang="en-US" altLang="zh-CN" sz="2000" dirty="0"/>
              <a:t> (</a:t>
            </a:r>
            <a:r>
              <a:rPr lang="en-US" altLang="zh-CN" sz="2000" i="1" dirty="0"/>
              <a:t>end</a:t>
            </a:r>
            <a:r>
              <a:rPr lang="en-US" altLang="zh-CN" sz="2000" dirty="0"/>
              <a:t> == 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)          </a:t>
            </a:r>
            <a:r>
              <a:rPr lang="en-US" altLang="zh-CN" sz="2000" dirty="0">
                <a:solidFill>
                  <a:srgbClr val="CC0000"/>
                </a:solidFill>
              </a:rPr>
              <a:t>// Base case. Input </a:t>
            </a:r>
            <a:r>
              <a:rPr lang="en-US" altLang="zh-CN" sz="2000" b="1" dirty="0">
                <a:solidFill>
                  <a:srgbClr val="00CC00"/>
                </a:solidFill>
              </a:rPr>
              <a:t>size</a:t>
            </a:r>
            <a:r>
              <a:rPr lang="en-US" altLang="zh-CN" sz="2000" dirty="0">
                <a:solidFill>
                  <a:srgbClr val="CC0000"/>
                </a:solidFill>
              </a:rPr>
              <a:t> is minimum = 1.</a:t>
            </a:r>
            <a:endParaRPr lang="en-US" altLang="zh-CN" sz="2000" dirty="0">
              <a:solidFill>
                <a:srgbClr val="CC000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	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x[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];  </a:t>
            </a:r>
            <a:r>
              <a:rPr lang="en-US" altLang="zh-CN" sz="2000" dirty="0">
                <a:solidFill>
                  <a:srgbClr val="CC0000"/>
                </a:solidFill>
              </a:rPr>
              <a:t>// No recursion</a:t>
            </a:r>
            <a:endParaRPr lang="en-US" altLang="zh-CN" sz="2000" dirty="0">
              <a:solidFill>
                <a:srgbClr val="CC000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mid=(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+</a:t>
            </a:r>
            <a:r>
              <a:rPr lang="en-US" altLang="zh-CN" sz="2000" i="1" dirty="0"/>
              <a:t>end</a:t>
            </a:r>
            <a:r>
              <a:rPr lang="en-US" altLang="zh-CN" sz="2000" dirty="0"/>
              <a:t>)/2;   	          // mid-point index</a:t>
            </a:r>
            <a:endParaRPr lang="en-US" altLang="zh-CN" sz="20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double</a:t>
            </a:r>
            <a:r>
              <a:rPr lang="en-US" altLang="zh-CN" sz="2000" dirty="0"/>
              <a:t> min1=min(x, 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, mid);    </a:t>
            </a:r>
            <a:r>
              <a:rPr lang="en-US" altLang="zh-CN" sz="2000" dirty="0">
                <a:solidFill>
                  <a:srgbClr val="663300"/>
                </a:solidFill>
              </a:rPr>
              <a:t>// 1st recursive call</a:t>
            </a:r>
            <a:endParaRPr lang="en-US" altLang="zh-CN" sz="2000" dirty="0">
              <a:solidFill>
                <a:srgbClr val="66330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double</a:t>
            </a:r>
            <a:r>
              <a:rPr lang="en-US" altLang="zh-CN" sz="2000" dirty="0"/>
              <a:t> min2=min(x, mid+1, </a:t>
            </a:r>
            <a:r>
              <a:rPr lang="en-US" altLang="zh-CN" sz="2000" i="1" dirty="0"/>
              <a:t>end</a:t>
            </a:r>
            <a:r>
              <a:rPr lang="en-US" altLang="zh-CN" sz="2000" dirty="0"/>
              <a:t>); </a:t>
            </a:r>
            <a:r>
              <a:rPr lang="en-US" altLang="zh-CN" sz="2000" dirty="0">
                <a:solidFill>
                  <a:srgbClr val="663300"/>
                </a:solidFill>
              </a:rPr>
              <a:t>// 2nd recursive call</a:t>
            </a:r>
            <a:endParaRPr lang="en-US" altLang="zh-CN" sz="2000" dirty="0">
              <a:solidFill>
                <a:srgbClr val="66330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CC0000"/>
                </a:solidFill>
              </a:rPr>
              <a:t>// In both recursive calls, the input size is half the original, and so less.</a:t>
            </a:r>
            <a:r>
              <a:rPr lang="en-US" altLang="zh-CN" sz="2000" dirty="0"/>
              <a:t>  </a:t>
            </a:r>
            <a:endParaRPr lang="en-US" altLang="zh-CN" sz="20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</a:rPr>
              <a:t>	if</a:t>
            </a:r>
            <a:r>
              <a:rPr lang="en-US" altLang="zh-CN" sz="2000" dirty="0"/>
              <a:t> (min1 &lt;= min2) </a:t>
            </a:r>
            <a:endParaRPr lang="en-US" altLang="zh-CN" sz="20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	 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min1;</a:t>
            </a:r>
            <a:endParaRPr lang="en-US" altLang="zh-CN" sz="20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else</a:t>
            </a:r>
            <a:endParaRPr lang="en-US" altLang="zh-CN" sz="2000" b="1" dirty="0">
              <a:solidFill>
                <a:schemeClr val="accent2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	 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min2;	</a:t>
            </a:r>
            <a:endParaRPr lang="en-US" altLang="zh-CN" sz="20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</p:txBody>
      </p:sp>
      <p:sp>
        <p:nvSpPr>
          <p:cNvPr id="79879" name="Rectangle 7"/>
          <p:cNvSpPr/>
          <p:nvPr/>
        </p:nvSpPr>
        <p:spPr>
          <a:xfrm>
            <a:off x="1066800" y="1865313"/>
            <a:ext cx="7523163" cy="606425"/>
          </a:xfrm>
          <a:prstGeom prst="rect">
            <a:avLst/>
          </a:prstGeom>
          <a:solidFill>
            <a:srgbClr val="FF6600">
              <a:alpha val="43921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9880" name="Rectangle 8"/>
          <p:cNvSpPr/>
          <p:nvPr/>
        </p:nvSpPr>
        <p:spPr>
          <a:xfrm>
            <a:off x="1066800" y="2809875"/>
            <a:ext cx="7523163" cy="1143000"/>
          </a:xfrm>
          <a:prstGeom prst="rect">
            <a:avLst/>
          </a:prstGeom>
          <a:solidFill>
            <a:srgbClr val="CC0000">
              <a:alpha val="43921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8" grpId="0" animBg="1"/>
      <p:bldP spid="79879" grpId="0" animBg="1"/>
      <p:bldP spid="7988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762000" y="762000"/>
            <a:ext cx="7772400" cy="6096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b="1" dirty="0"/>
              <a:t>Design rule: Assume all the recursive calls work</a:t>
            </a:r>
            <a:endParaRPr lang="en-US" altLang="zh-CN" sz="4000" b="1" dirty="0"/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>
          <a:xfrm>
            <a:off x="609600" y="1447800"/>
            <a:ext cx="7772400" cy="47244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When coding, do </a:t>
            </a:r>
            <a:r>
              <a:rPr lang="en-US" altLang="zh-CN" sz="2800" b="1" dirty="0">
                <a:solidFill>
                  <a:srgbClr val="FF0066"/>
                </a:solidFill>
              </a:rPr>
              <a:t>not</a:t>
            </a:r>
            <a:r>
              <a:rPr lang="en-US" altLang="zh-CN" sz="2800" dirty="0"/>
              <a:t> concern yourself how recursion is unfolding during execution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Rather, think of yourself as a </a:t>
            </a:r>
            <a:r>
              <a:rPr lang="en-US" altLang="zh-CN" sz="2800" b="1" dirty="0">
                <a:solidFill>
                  <a:srgbClr val="FF0066"/>
                </a:solidFill>
              </a:rPr>
              <a:t>boss</a:t>
            </a:r>
            <a:r>
              <a:rPr lang="en-US" altLang="zh-CN" sz="2800" dirty="0"/>
              <a:t>, and treat each recursive call as an order to one of your trusted subordinates to do something.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As a boss, you need not worry how the subordinates do their work. Instead, take the outcome of their work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Finally, take the outcome of the subordinate</a:t>
            </a:r>
            <a:r>
              <a:rPr lang="en-US" altLang="zh-CN" sz="2800" dirty="0">
                <a:latin typeface="Times New Roman" panose="02020603050405020304" pitchFamily="18" charset="0"/>
              </a:rPr>
              <a:t>’</a:t>
            </a:r>
            <a:r>
              <a:rPr lang="en-US" altLang="zh-CN" sz="2800" dirty="0"/>
              <a:t>s work, and use it to compute by yourself the final result.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685800" y="441325"/>
            <a:ext cx="6870700" cy="85407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3600" b="1" dirty="0"/>
              <a:t>Illustration of Recursive Thinking</a:t>
            </a:r>
            <a:endParaRPr lang="en-US" altLang="zh-CN" sz="3600" b="1" dirty="0"/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76200" y="1447800"/>
            <a:ext cx="8915400" cy="4648200"/>
          </a:xfrm>
          <a:solidFill>
            <a:srgbClr val="CCFFCC">
              <a:alpha val="100000"/>
            </a:srgbClr>
          </a:solidFill>
          <a:ln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</a:rPr>
              <a:t>double</a:t>
            </a:r>
            <a:r>
              <a:rPr lang="en-US" altLang="zh-CN" sz="2000" dirty="0"/>
              <a:t> min(</a:t>
            </a:r>
            <a:r>
              <a:rPr lang="en-US" altLang="zh-CN" sz="2000" b="1" dirty="0">
                <a:solidFill>
                  <a:schemeClr val="accent2"/>
                </a:solidFill>
              </a:rPr>
              <a:t>double</a:t>
            </a:r>
            <a:r>
              <a:rPr lang="en-US" altLang="zh-CN" sz="2000" dirty="0"/>
              <a:t> x[ ], </a:t>
            </a: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, </a:t>
            </a: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</a:t>
            </a:r>
            <a:r>
              <a:rPr lang="en-US" altLang="zh-CN" sz="2000" i="1" dirty="0"/>
              <a:t>end</a:t>
            </a:r>
            <a:r>
              <a:rPr lang="en-US" altLang="zh-CN" sz="2000" dirty="0"/>
              <a:t>){</a:t>
            </a:r>
            <a:endParaRPr lang="en-US" altLang="zh-CN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	assert(</a:t>
            </a:r>
            <a:r>
              <a:rPr lang="en-US" altLang="zh-CN" sz="2000" i="1" dirty="0"/>
              <a:t>end</a:t>
            </a:r>
            <a:r>
              <a:rPr lang="en-US" altLang="zh-CN" sz="2000" dirty="0"/>
              <a:t> &gt;= 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 &amp;&amp; 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 &gt;=0);</a:t>
            </a:r>
            <a:endParaRPr lang="en-US" altLang="zh-CN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if</a:t>
            </a:r>
            <a:r>
              <a:rPr lang="en-US" altLang="zh-CN" sz="2000" dirty="0"/>
              <a:t> (</a:t>
            </a:r>
            <a:r>
              <a:rPr lang="en-US" altLang="zh-CN" sz="2000" i="1" dirty="0"/>
              <a:t>end</a:t>
            </a:r>
            <a:r>
              <a:rPr lang="en-US" altLang="zh-CN" sz="2000" dirty="0"/>
              <a:t> == 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)                // Basis step. </a:t>
            </a:r>
            <a:endParaRPr lang="en-US" altLang="zh-CN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		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x[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];  </a:t>
            </a:r>
            <a:r>
              <a:rPr lang="en-US" altLang="zh-CN" sz="2000" dirty="0">
                <a:solidFill>
                  <a:srgbClr val="CC0000"/>
                </a:solidFill>
              </a:rPr>
              <a:t>// The boss does the basis step</a:t>
            </a:r>
            <a:endParaRPr lang="en-US" altLang="zh-CN" sz="2000" dirty="0">
              <a:solidFill>
                <a:srgbClr val="CC0000"/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mid=(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+</a:t>
            </a:r>
            <a:r>
              <a:rPr lang="en-US" altLang="zh-CN" sz="2000" i="1" dirty="0"/>
              <a:t>end</a:t>
            </a:r>
            <a:r>
              <a:rPr lang="en-US" altLang="zh-CN" sz="2000" dirty="0"/>
              <a:t>)/2;   	          // mid-point index</a:t>
            </a:r>
            <a:endParaRPr lang="en-US" altLang="zh-CN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double</a:t>
            </a:r>
            <a:r>
              <a:rPr lang="en-US" altLang="zh-CN" sz="2000" dirty="0"/>
              <a:t> min1=min(x, </a:t>
            </a:r>
            <a:r>
              <a:rPr lang="en-US" altLang="zh-CN" sz="2000" i="1" dirty="0"/>
              <a:t>start</a:t>
            </a:r>
            <a:r>
              <a:rPr lang="en-US" altLang="zh-CN" sz="2000" dirty="0"/>
              <a:t>, mid);    </a:t>
            </a:r>
            <a:r>
              <a:rPr lang="en-US" altLang="zh-CN" sz="2000" dirty="0">
                <a:solidFill>
                  <a:srgbClr val="663300"/>
                </a:solidFill>
              </a:rPr>
              <a:t>// subordinate produces min1</a:t>
            </a:r>
            <a:endParaRPr lang="en-US" altLang="zh-CN" sz="2000" dirty="0">
              <a:solidFill>
                <a:srgbClr val="663300"/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double</a:t>
            </a:r>
            <a:r>
              <a:rPr lang="en-US" altLang="zh-CN" sz="2000" dirty="0"/>
              <a:t> min2=min(x, mid+1, </a:t>
            </a:r>
            <a:r>
              <a:rPr lang="en-US" altLang="zh-CN" sz="2000" i="1" dirty="0"/>
              <a:t>end</a:t>
            </a:r>
            <a:r>
              <a:rPr lang="en-US" altLang="zh-CN" sz="2000" dirty="0"/>
              <a:t>); </a:t>
            </a:r>
            <a:r>
              <a:rPr lang="en-US" altLang="zh-CN" sz="2000" dirty="0">
                <a:solidFill>
                  <a:srgbClr val="663300"/>
                </a:solidFill>
              </a:rPr>
              <a:t>// subordinate produces min2</a:t>
            </a:r>
            <a:endParaRPr lang="en-US" altLang="zh-CN" sz="2000" dirty="0">
              <a:solidFill>
                <a:srgbClr val="663300"/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CC0000"/>
                </a:solidFill>
              </a:rPr>
              <a:t>// The two recursive calls are the work of  </a:t>
            </a: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000" dirty="0">
                <a:solidFill>
                  <a:srgbClr val="CC0000"/>
                </a:solidFill>
              </a:rPr>
              <a:t>subordinates</a:t>
            </a: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”</a:t>
            </a:r>
            <a:r>
              <a:rPr lang="en-US" altLang="zh-CN" sz="2000" dirty="0">
                <a:solidFill>
                  <a:srgbClr val="CC0000"/>
                </a:solidFill>
              </a:rPr>
              <a:t>. Don</a:t>
            </a: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</a:rPr>
              <a:t>’</a:t>
            </a:r>
            <a:r>
              <a:rPr lang="en-US" altLang="zh-CN" sz="2000" dirty="0">
                <a:solidFill>
                  <a:srgbClr val="CC0000"/>
                </a:solidFill>
              </a:rPr>
              <a:t>t</a:t>
            </a:r>
            <a:endParaRPr lang="en-US" altLang="zh-CN" sz="2000" dirty="0">
              <a:solidFill>
                <a:srgbClr val="CC0000"/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CC0000"/>
                </a:solidFill>
              </a:rPr>
              <a:t>	// worry how the subordinates do their work.</a:t>
            </a:r>
            <a:endParaRPr lang="en-US" altLang="zh-CN" sz="2000" dirty="0">
              <a:solidFill>
                <a:srgbClr val="CC0000"/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</a:rPr>
              <a:t>	if</a:t>
            </a:r>
            <a:r>
              <a:rPr lang="en-US" altLang="zh-CN" sz="2000" dirty="0"/>
              <a:t> (min1 &lt;= min2) </a:t>
            </a:r>
            <a:endParaRPr lang="en-US" altLang="zh-CN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		 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min1;</a:t>
            </a:r>
            <a:endParaRPr lang="en-US" altLang="zh-CN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else</a:t>
            </a:r>
            <a:endParaRPr lang="en-US" altLang="zh-CN" sz="2000" b="1" dirty="0">
              <a:solidFill>
                <a:schemeClr val="accent2"/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		 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min2;	</a:t>
            </a:r>
            <a:endParaRPr lang="en-US" altLang="zh-CN" sz="2000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zh-CN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</p:txBody>
      </p:sp>
      <p:sp>
        <p:nvSpPr>
          <p:cNvPr id="81924" name="Rectangle 4"/>
          <p:cNvSpPr/>
          <p:nvPr/>
        </p:nvSpPr>
        <p:spPr>
          <a:xfrm>
            <a:off x="1066800" y="2057400"/>
            <a:ext cx="7620000" cy="609600"/>
          </a:xfrm>
          <a:prstGeom prst="rect">
            <a:avLst/>
          </a:prstGeom>
          <a:solidFill>
            <a:srgbClr val="FF6600">
              <a:alpha val="43921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1925" name="Rectangle 5"/>
          <p:cNvSpPr/>
          <p:nvPr/>
        </p:nvSpPr>
        <p:spPr>
          <a:xfrm>
            <a:off x="1066800" y="2971800"/>
            <a:ext cx="7696200" cy="1219200"/>
          </a:xfrm>
          <a:prstGeom prst="rect">
            <a:avLst/>
          </a:prstGeom>
          <a:solidFill>
            <a:srgbClr val="CC0000">
              <a:alpha val="43921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1926" name="Rectangle 6"/>
          <p:cNvSpPr/>
          <p:nvPr/>
        </p:nvSpPr>
        <p:spPr>
          <a:xfrm>
            <a:off x="1066800" y="4191000"/>
            <a:ext cx="3124200" cy="1447800"/>
          </a:xfrm>
          <a:prstGeom prst="rect">
            <a:avLst/>
          </a:prstGeom>
          <a:solidFill>
            <a:srgbClr val="FF6600">
              <a:alpha val="43921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1927" name="Rectangle 7"/>
          <p:cNvSpPr/>
          <p:nvPr/>
        </p:nvSpPr>
        <p:spPr>
          <a:xfrm>
            <a:off x="4572000" y="4267200"/>
            <a:ext cx="3810000" cy="1447800"/>
          </a:xfrm>
          <a:prstGeom prst="rect">
            <a:avLst/>
          </a:prstGeom>
          <a:solidFill>
            <a:srgbClr val="FF6600">
              <a:alpha val="43921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// You, the boss, take the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// outcome min1 and min2 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// from subordinates, and use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// them to get the final result.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8" name="Line 8"/>
          <p:cNvSpPr/>
          <p:nvPr/>
        </p:nvSpPr>
        <p:spPr>
          <a:xfrm flipH="1">
            <a:off x="4191000" y="49530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animBg="1"/>
      <p:bldP spid="81925" grpId="0" animBg="1"/>
      <p:bldP spid="81926" grpId="0" animBg="1"/>
      <p:bldP spid="819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Towers Of Hanoi/Brahma</a:t>
            </a:r>
            <a:endParaRPr lang="zh-CN" altLang="en-US" dirty="0"/>
          </a:p>
        </p:txBody>
      </p:sp>
      <p:pic>
        <p:nvPicPr>
          <p:cNvPr id="4608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62125"/>
            <a:ext cx="7467600" cy="4867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817563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Towers Of Hanoi/Brahma</a:t>
            </a:r>
            <a:endParaRPr lang="en-US" altLang="zh-CN" dirty="0"/>
          </a:p>
        </p:txBody>
      </p:sp>
      <p:grpSp>
        <p:nvGrpSpPr>
          <p:cNvPr id="47107" name="Group 7"/>
          <p:cNvGrpSpPr/>
          <p:nvPr/>
        </p:nvGrpSpPr>
        <p:grpSpPr>
          <a:xfrm>
            <a:off x="692150" y="1073150"/>
            <a:ext cx="1816100" cy="4475163"/>
            <a:chOff x="436" y="676"/>
            <a:chExt cx="1144" cy="2819"/>
          </a:xfrm>
        </p:grpSpPr>
        <p:grpSp>
          <p:nvGrpSpPr>
            <p:cNvPr id="47139" name="Group 5"/>
            <p:cNvGrpSpPr/>
            <p:nvPr/>
          </p:nvGrpSpPr>
          <p:grpSpPr>
            <a:xfrm>
              <a:off x="436" y="676"/>
              <a:ext cx="1144" cy="2536"/>
              <a:chOff x="436" y="676"/>
              <a:chExt cx="1144" cy="2536"/>
            </a:xfrm>
          </p:grpSpPr>
          <p:sp>
            <p:nvSpPr>
              <p:cNvPr id="47141" name="Rectangle 3"/>
              <p:cNvSpPr/>
              <p:nvPr/>
            </p:nvSpPr>
            <p:spPr>
              <a:xfrm>
                <a:off x="436" y="3076"/>
                <a:ext cx="1144" cy="1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zh-CN" dirty="0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42" name="Rectangle 4"/>
              <p:cNvSpPr/>
              <p:nvPr/>
            </p:nvSpPr>
            <p:spPr>
              <a:xfrm>
                <a:off x="916" y="676"/>
                <a:ext cx="136" cy="239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zh-CN" dirty="0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7140" name="Rectangle 6"/>
            <p:cNvSpPr/>
            <p:nvPr/>
          </p:nvSpPr>
          <p:spPr>
            <a:xfrm>
              <a:off x="864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08" name="Group 11"/>
          <p:cNvGrpSpPr/>
          <p:nvPr/>
        </p:nvGrpSpPr>
        <p:grpSpPr>
          <a:xfrm>
            <a:off x="3282950" y="1073150"/>
            <a:ext cx="1816100" cy="4475163"/>
            <a:chOff x="2068" y="676"/>
            <a:chExt cx="1144" cy="2819"/>
          </a:xfrm>
        </p:grpSpPr>
        <p:sp>
          <p:nvSpPr>
            <p:cNvPr id="47136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7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8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09" name="Group 15"/>
          <p:cNvGrpSpPr/>
          <p:nvPr/>
        </p:nvGrpSpPr>
        <p:grpSpPr>
          <a:xfrm>
            <a:off x="5873750" y="1073150"/>
            <a:ext cx="1816100" cy="4475163"/>
            <a:chOff x="3700" y="676"/>
            <a:chExt cx="1144" cy="2819"/>
          </a:xfrm>
        </p:grpSpPr>
        <p:sp>
          <p:nvSpPr>
            <p:cNvPr id="47133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4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5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0" name="Group 18"/>
          <p:cNvGrpSpPr/>
          <p:nvPr/>
        </p:nvGrpSpPr>
        <p:grpSpPr>
          <a:xfrm>
            <a:off x="768350" y="4572000"/>
            <a:ext cx="1663700" cy="396875"/>
            <a:chOff x="484" y="2880"/>
            <a:chExt cx="1048" cy="250"/>
          </a:xfrm>
        </p:grpSpPr>
        <p:sp>
          <p:nvSpPr>
            <p:cNvPr id="47131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2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1" name="Group 21"/>
          <p:cNvGrpSpPr/>
          <p:nvPr/>
        </p:nvGrpSpPr>
        <p:grpSpPr>
          <a:xfrm>
            <a:off x="844550" y="4343400"/>
            <a:ext cx="1511300" cy="396875"/>
            <a:chOff x="532" y="2736"/>
            <a:chExt cx="952" cy="250"/>
          </a:xfrm>
        </p:grpSpPr>
        <p:sp>
          <p:nvSpPr>
            <p:cNvPr id="47129" name="AutoShape 19"/>
            <p:cNvSpPr/>
            <p:nvPr/>
          </p:nvSpPr>
          <p:spPr>
            <a:xfrm>
              <a:off x="532" y="2788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0" name="Rectangle 20"/>
            <p:cNvSpPr/>
            <p:nvPr/>
          </p:nvSpPr>
          <p:spPr>
            <a:xfrm>
              <a:off x="912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2" name="Group 24"/>
          <p:cNvGrpSpPr/>
          <p:nvPr/>
        </p:nvGrpSpPr>
        <p:grpSpPr>
          <a:xfrm>
            <a:off x="920750" y="4114800"/>
            <a:ext cx="1358900" cy="396875"/>
            <a:chOff x="580" y="2592"/>
            <a:chExt cx="856" cy="250"/>
          </a:xfrm>
        </p:grpSpPr>
        <p:sp>
          <p:nvSpPr>
            <p:cNvPr id="47127" name="AutoShape 22"/>
            <p:cNvSpPr/>
            <p:nvPr/>
          </p:nvSpPr>
          <p:spPr>
            <a:xfrm>
              <a:off x="580" y="2644"/>
              <a:ext cx="856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8" name="Rectangle 23"/>
            <p:cNvSpPr/>
            <p:nvPr/>
          </p:nvSpPr>
          <p:spPr>
            <a:xfrm>
              <a:off x="912" y="2592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3" name="Group 27"/>
          <p:cNvGrpSpPr/>
          <p:nvPr/>
        </p:nvGrpSpPr>
        <p:grpSpPr>
          <a:xfrm>
            <a:off x="996950" y="3886200"/>
            <a:ext cx="1206500" cy="396875"/>
            <a:chOff x="628" y="2448"/>
            <a:chExt cx="760" cy="250"/>
          </a:xfrm>
        </p:grpSpPr>
        <p:sp>
          <p:nvSpPr>
            <p:cNvPr id="47125" name="AutoShape 25"/>
            <p:cNvSpPr/>
            <p:nvPr/>
          </p:nvSpPr>
          <p:spPr>
            <a:xfrm>
              <a:off x="628" y="2500"/>
              <a:ext cx="760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6" name="Rectangle 26"/>
            <p:cNvSpPr/>
            <p:nvPr/>
          </p:nvSpPr>
          <p:spPr>
            <a:xfrm>
              <a:off x="912" y="2448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7114" name="AutoShape 28"/>
          <p:cNvSpPr/>
          <p:nvPr/>
        </p:nvSpPr>
        <p:spPr>
          <a:xfrm>
            <a:off x="996950" y="1149350"/>
            <a:ext cx="1206500" cy="2806700"/>
          </a:xfrm>
          <a:prstGeom prst="triangle">
            <a:avLst>
              <a:gd name="adj" fmla="val 49995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5" name="Rectangle 29"/>
          <p:cNvSpPr>
            <a:spLocks noGrp="1"/>
          </p:cNvSpPr>
          <p:nvPr>
            <p:ph type="body" idx="4294967295"/>
          </p:nvPr>
        </p:nvSpPr>
        <p:spPr>
          <a:xfrm>
            <a:off x="0" y="5410200"/>
            <a:ext cx="9372600" cy="1447800"/>
          </a:xfrm>
        </p:spPr>
        <p:txBody>
          <a:bodyPr vert="horz" wrap="square" lIns="92075" tIns="46038" rIns="92075" bIns="46038" anchor="t" anchorCtr="0"/>
          <a:lstStyle/>
          <a:p>
            <a:r>
              <a:rPr lang="en-US" altLang="zh-CN" dirty="0"/>
              <a:t>N disks to be moved from tower A to tower C</a:t>
            </a:r>
            <a:endParaRPr lang="en-US" altLang="zh-CN" dirty="0"/>
          </a:p>
          <a:p>
            <a:r>
              <a:rPr lang="en-US" altLang="zh-CN" dirty="0"/>
              <a:t>Cannot place big disk on top of a smaller one</a:t>
            </a:r>
            <a:endParaRPr lang="en-US" altLang="zh-CN" dirty="0"/>
          </a:p>
        </p:txBody>
      </p:sp>
      <p:sp>
        <p:nvSpPr>
          <p:cNvPr id="47116" name="Line 30"/>
          <p:cNvSpPr/>
          <p:nvPr/>
        </p:nvSpPr>
        <p:spPr>
          <a:xfrm>
            <a:off x="1042988" y="3716338"/>
            <a:ext cx="11303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7" name="Line 31"/>
          <p:cNvSpPr/>
          <p:nvPr/>
        </p:nvSpPr>
        <p:spPr>
          <a:xfrm>
            <a:off x="1087438" y="3500438"/>
            <a:ext cx="100806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8" name="Oval 32"/>
          <p:cNvSpPr/>
          <p:nvPr/>
        </p:nvSpPr>
        <p:spPr>
          <a:xfrm>
            <a:off x="1536700" y="2936875"/>
            <a:ext cx="71438" cy="71438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7119" name="Oval 33"/>
          <p:cNvSpPr/>
          <p:nvPr/>
        </p:nvSpPr>
        <p:spPr>
          <a:xfrm>
            <a:off x="1536700" y="2792413"/>
            <a:ext cx="71438" cy="71437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7120" name="Oval 34"/>
          <p:cNvSpPr/>
          <p:nvPr/>
        </p:nvSpPr>
        <p:spPr>
          <a:xfrm>
            <a:off x="1536700" y="2636838"/>
            <a:ext cx="71438" cy="71437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7121" name="Line 35"/>
          <p:cNvSpPr/>
          <p:nvPr/>
        </p:nvSpPr>
        <p:spPr>
          <a:xfrm>
            <a:off x="1414463" y="2022475"/>
            <a:ext cx="36036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22" name="Text Box 36"/>
          <p:cNvSpPr txBox="1"/>
          <p:nvPr/>
        </p:nvSpPr>
        <p:spPr>
          <a:xfrm>
            <a:off x="1474788" y="3644900"/>
            <a:ext cx="57626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5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47123" name="Text Box 37"/>
          <p:cNvSpPr txBox="1"/>
          <p:nvPr/>
        </p:nvSpPr>
        <p:spPr>
          <a:xfrm>
            <a:off x="1476375" y="3417888"/>
            <a:ext cx="57626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6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47124" name="Text Box 38"/>
          <p:cNvSpPr txBox="1"/>
          <p:nvPr/>
        </p:nvSpPr>
        <p:spPr>
          <a:xfrm>
            <a:off x="1474788" y="1628775"/>
            <a:ext cx="57626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n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N=1</a:t>
            </a:r>
            <a:endParaRPr lang="en-US" altLang="zh-CN" dirty="0"/>
          </a:p>
        </p:txBody>
      </p:sp>
      <p:grpSp>
        <p:nvGrpSpPr>
          <p:cNvPr id="49155" name="Group 6"/>
          <p:cNvGrpSpPr/>
          <p:nvPr/>
        </p:nvGrpSpPr>
        <p:grpSpPr>
          <a:xfrm>
            <a:off x="692150" y="1690688"/>
            <a:ext cx="1816100" cy="4025900"/>
            <a:chOff x="436" y="676"/>
            <a:chExt cx="1144" cy="2536"/>
          </a:xfrm>
        </p:grpSpPr>
        <p:sp>
          <p:nvSpPr>
            <p:cNvPr id="49168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69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9156" name="Rectangle 7"/>
          <p:cNvSpPr/>
          <p:nvPr/>
        </p:nvSpPr>
        <p:spPr>
          <a:xfrm>
            <a:off x="1371600" y="564673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49157" name="Group 11"/>
          <p:cNvGrpSpPr/>
          <p:nvPr/>
        </p:nvGrpSpPr>
        <p:grpSpPr>
          <a:xfrm>
            <a:off x="3282950" y="1690688"/>
            <a:ext cx="1816100" cy="4475162"/>
            <a:chOff x="2068" y="676"/>
            <a:chExt cx="1144" cy="2819"/>
          </a:xfrm>
        </p:grpSpPr>
        <p:sp>
          <p:nvSpPr>
            <p:cNvPr id="49165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66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67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158" name="Group 15"/>
          <p:cNvGrpSpPr/>
          <p:nvPr/>
        </p:nvGrpSpPr>
        <p:grpSpPr>
          <a:xfrm>
            <a:off x="5873750" y="1690688"/>
            <a:ext cx="1816100" cy="4475162"/>
            <a:chOff x="3700" y="676"/>
            <a:chExt cx="1144" cy="2819"/>
          </a:xfrm>
        </p:grpSpPr>
        <p:sp>
          <p:nvSpPr>
            <p:cNvPr id="49162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63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64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159" name="Group 18"/>
          <p:cNvGrpSpPr/>
          <p:nvPr/>
        </p:nvGrpSpPr>
        <p:grpSpPr>
          <a:xfrm>
            <a:off x="768350" y="5189538"/>
            <a:ext cx="1663700" cy="396875"/>
            <a:chOff x="484" y="2880"/>
            <a:chExt cx="1048" cy="250"/>
          </a:xfrm>
        </p:grpSpPr>
        <p:sp>
          <p:nvSpPr>
            <p:cNvPr id="49160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61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37160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N=1</a:t>
            </a:r>
            <a:endParaRPr lang="en-US" altLang="zh-CN" dirty="0"/>
          </a:p>
        </p:txBody>
      </p:sp>
      <p:grpSp>
        <p:nvGrpSpPr>
          <p:cNvPr id="50179" name="Group 6"/>
          <p:cNvGrpSpPr/>
          <p:nvPr/>
        </p:nvGrpSpPr>
        <p:grpSpPr>
          <a:xfrm>
            <a:off x="692150" y="1690688"/>
            <a:ext cx="1816100" cy="4025900"/>
            <a:chOff x="436" y="676"/>
            <a:chExt cx="1144" cy="2536"/>
          </a:xfrm>
        </p:grpSpPr>
        <p:sp>
          <p:nvSpPr>
            <p:cNvPr id="50192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93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0180" name="Rectangle 7"/>
          <p:cNvSpPr/>
          <p:nvPr/>
        </p:nvSpPr>
        <p:spPr>
          <a:xfrm>
            <a:off x="1371600" y="564673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0181" name="Group 11"/>
          <p:cNvGrpSpPr/>
          <p:nvPr/>
        </p:nvGrpSpPr>
        <p:grpSpPr>
          <a:xfrm>
            <a:off x="3282950" y="1690688"/>
            <a:ext cx="1816100" cy="4475162"/>
            <a:chOff x="2068" y="676"/>
            <a:chExt cx="1144" cy="2819"/>
          </a:xfrm>
        </p:grpSpPr>
        <p:sp>
          <p:nvSpPr>
            <p:cNvPr id="50189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90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91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182" name="Group 15"/>
          <p:cNvGrpSpPr/>
          <p:nvPr/>
        </p:nvGrpSpPr>
        <p:grpSpPr>
          <a:xfrm>
            <a:off x="5873750" y="1690688"/>
            <a:ext cx="1816100" cy="4475162"/>
            <a:chOff x="3700" y="676"/>
            <a:chExt cx="1144" cy="2819"/>
          </a:xfrm>
        </p:grpSpPr>
        <p:sp>
          <p:nvSpPr>
            <p:cNvPr id="50186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87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88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183" name="Group 18"/>
          <p:cNvGrpSpPr/>
          <p:nvPr/>
        </p:nvGrpSpPr>
        <p:grpSpPr>
          <a:xfrm>
            <a:off x="5948363" y="5189538"/>
            <a:ext cx="1663700" cy="396875"/>
            <a:chOff x="484" y="2880"/>
            <a:chExt cx="1048" cy="250"/>
          </a:xfrm>
        </p:grpSpPr>
        <p:sp>
          <p:nvSpPr>
            <p:cNvPr id="50184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85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14300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N=2</a:t>
            </a:r>
            <a:endParaRPr lang="en-US" altLang="zh-CN" dirty="0"/>
          </a:p>
        </p:txBody>
      </p:sp>
      <p:grpSp>
        <p:nvGrpSpPr>
          <p:cNvPr id="51203" name="Group 6"/>
          <p:cNvGrpSpPr/>
          <p:nvPr/>
        </p:nvGrpSpPr>
        <p:grpSpPr>
          <a:xfrm>
            <a:off x="692150" y="1546225"/>
            <a:ext cx="1816100" cy="4025900"/>
            <a:chOff x="436" y="676"/>
            <a:chExt cx="1144" cy="2536"/>
          </a:xfrm>
        </p:grpSpPr>
        <p:sp>
          <p:nvSpPr>
            <p:cNvPr id="51219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0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204" name="Rectangle 7"/>
          <p:cNvSpPr/>
          <p:nvPr/>
        </p:nvSpPr>
        <p:spPr>
          <a:xfrm>
            <a:off x="1371600" y="550227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1205" name="Group 11"/>
          <p:cNvGrpSpPr/>
          <p:nvPr/>
        </p:nvGrpSpPr>
        <p:grpSpPr>
          <a:xfrm>
            <a:off x="3282950" y="1546225"/>
            <a:ext cx="1816100" cy="4475163"/>
            <a:chOff x="2068" y="676"/>
            <a:chExt cx="1144" cy="2819"/>
          </a:xfrm>
        </p:grpSpPr>
        <p:sp>
          <p:nvSpPr>
            <p:cNvPr id="51216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7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8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206" name="Group 15"/>
          <p:cNvGrpSpPr/>
          <p:nvPr/>
        </p:nvGrpSpPr>
        <p:grpSpPr>
          <a:xfrm>
            <a:off x="5873750" y="1546225"/>
            <a:ext cx="1816100" cy="4475163"/>
            <a:chOff x="3700" y="676"/>
            <a:chExt cx="1144" cy="2819"/>
          </a:xfrm>
        </p:grpSpPr>
        <p:sp>
          <p:nvSpPr>
            <p:cNvPr id="51213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4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5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207" name="Group 18"/>
          <p:cNvGrpSpPr/>
          <p:nvPr/>
        </p:nvGrpSpPr>
        <p:grpSpPr>
          <a:xfrm>
            <a:off x="768350" y="5045075"/>
            <a:ext cx="1663700" cy="396875"/>
            <a:chOff x="484" y="2880"/>
            <a:chExt cx="1048" cy="250"/>
          </a:xfrm>
        </p:grpSpPr>
        <p:sp>
          <p:nvSpPr>
            <p:cNvPr id="51211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2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208" name="Group 21"/>
          <p:cNvGrpSpPr/>
          <p:nvPr/>
        </p:nvGrpSpPr>
        <p:grpSpPr>
          <a:xfrm>
            <a:off x="844550" y="4816475"/>
            <a:ext cx="1511300" cy="396875"/>
            <a:chOff x="532" y="2736"/>
            <a:chExt cx="952" cy="250"/>
          </a:xfrm>
        </p:grpSpPr>
        <p:sp>
          <p:nvSpPr>
            <p:cNvPr id="51209" name="AutoShape 19"/>
            <p:cNvSpPr/>
            <p:nvPr/>
          </p:nvSpPr>
          <p:spPr>
            <a:xfrm>
              <a:off x="532" y="2788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0" name="Rectangle 20"/>
            <p:cNvSpPr/>
            <p:nvPr/>
          </p:nvSpPr>
          <p:spPr>
            <a:xfrm>
              <a:off x="912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179513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N=2</a:t>
            </a:r>
            <a:endParaRPr lang="en-US" altLang="zh-CN" dirty="0"/>
          </a:p>
        </p:txBody>
      </p:sp>
      <p:grpSp>
        <p:nvGrpSpPr>
          <p:cNvPr id="52227" name="Group 6"/>
          <p:cNvGrpSpPr/>
          <p:nvPr/>
        </p:nvGrpSpPr>
        <p:grpSpPr>
          <a:xfrm>
            <a:off x="692150" y="1546225"/>
            <a:ext cx="1816100" cy="4025900"/>
            <a:chOff x="436" y="676"/>
            <a:chExt cx="1144" cy="2536"/>
          </a:xfrm>
        </p:grpSpPr>
        <p:sp>
          <p:nvSpPr>
            <p:cNvPr id="52243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44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2228" name="Rectangle 7"/>
          <p:cNvSpPr/>
          <p:nvPr/>
        </p:nvSpPr>
        <p:spPr>
          <a:xfrm>
            <a:off x="1371600" y="550227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2229" name="Group 11"/>
          <p:cNvGrpSpPr/>
          <p:nvPr/>
        </p:nvGrpSpPr>
        <p:grpSpPr>
          <a:xfrm>
            <a:off x="3282950" y="1546225"/>
            <a:ext cx="1816100" cy="4475163"/>
            <a:chOff x="2068" y="676"/>
            <a:chExt cx="1144" cy="2819"/>
          </a:xfrm>
        </p:grpSpPr>
        <p:sp>
          <p:nvSpPr>
            <p:cNvPr id="52240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41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42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230" name="Group 15"/>
          <p:cNvGrpSpPr/>
          <p:nvPr/>
        </p:nvGrpSpPr>
        <p:grpSpPr>
          <a:xfrm>
            <a:off x="5873750" y="1546225"/>
            <a:ext cx="1816100" cy="4475163"/>
            <a:chOff x="3700" y="676"/>
            <a:chExt cx="1144" cy="2819"/>
          </a:xfrm>
        </p:grpSpPr>
        <p:sp>
          <p:nvSpPr>
            <p:cNvPr id="52237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38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39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231" name="Group 18"/>
          <p:cNvGrpSpPr/>
          <p:nvPr/>
        </p:nvGrpSpPr>
        <p:grpSpPr>
          <a:xfrm>
            <a:off x="768350" y="5045075"/>
            <a:ext cx="1663700" cy="396875"/>
            <a:chOff x="484" y="2880"/>
            <a:chExt cx="1048" cy="250"/>
          </a:xfrm>
        </p:grpSpPr>
        <p:sp>
          <p:nvSpPr>
            <p:cNvPr id="52235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36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232" name="Group 21"/>
          <p:cNvGrpSpPr/>
          <p:nvPr/>
        </p:nvGrpSpPr>
        <p:grpSpPr>
          <a:xfrm>
            <a:off x="3421063" y="5059363"/>
            <a:ext cx="1511300" cy="396875"/>
            <a:chOff x="532" y="2736"/>
            <a:chExt cx="952" cy="250"/>
          </a:xfrm>
        </p:grpSpPr>
        <p:sp>
          <p:nvSpPr>
            <p:cNvPr id="52233" name="AutoShape 19"/>
            <p:cNvSpPr/>
            <p:nvPr/>
          </p:nvSpPr>
          <p:spPr>
            <a:xfrm>
              <a:off x="532" y="2788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34" name="Rectangle 20"/>
            <p:cNvSpPr/>
            <p:nvPr/>
          </p:nvSpPr>
          <p:spPr>
            <a:xfrm>
              <a:off x="912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179513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N=2</a:t>
            </a:r>
            <a:endParaRPr lang="en-US" altLang="zh-CN" dirty="0"/>
          </a:p>
        </p:txBody>
      </p:sp>
      <p:grpSp>
        <p:nvGrpSpPr>
          <p:cNvPr id="53251" name="Group 6"/>
          <p:cNvGrpSpPr/>
          <p:nvPr/>
        </p:nvGrpSpPr>
        <p:grpSpPr>
          <a:xfrm>
            <a:off x="692150" y="1546225"/>
            <a:ext cx="1816100" cy="4025900"/>
            <a:chOff x="436" y="676"/>
            <a:chExt cx="1144" cy="2536"/>
          </a:xfrm>
        </p:grpSpPr>
        <p:sp>
          <p:nvSpPr>
            <p:cNvPr id="53267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68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3252" name="Rectangle 7"/>
          <p:cNvSpPr/>
          <p:nvPr/>
        </p:nvSpPr>
        <p:spPr>
          <a:xfrm>
            <a:off x="1371600" y="550227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3253" name="Group 11"/>
          <p:cNvGrpSpPr/>
          <p:nvPr/>
        </p:nvGrpSpPr>
        <p:grpSpPr>
          <a:xfrm>
            <a:off x="3282950" y="1546225"/>
            <a:ext cx="1816100" cy="4475163"/>
            <a:chOff x="2068" y="676"/>
            <a:chExt cx="1144" cy="2819"/>
          </a:xfrm>
        </p:grpSpPr>
        <p:sp>
          <p:nvSpPr>
            <p:cNvPr id="53264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65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66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254" name="Group 15"/>
          <p:cNvGrpSpPr/>
          <p:nvPr/>
        </p:nvGrpSpPr>
        <p:grpSpPr>
          <a:xfrm>
            <a:off x="5873750" y="1546225"/>
            <a:ext cx="1816100" cy="4475163"/>
            <a:chOff x="3700" y="676"/>
            <a:chExt cx="1144" cy="2819"/>
          </a:xfrm>
        </p:grpSpPr>
        <p:sp>
          <p:nvSpPr>
            <p:cNvPr id="53261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62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63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255" name="Group 18"/>
          <p:cNvGrpSpPr/>
          <p:nvPr/>
        </p:nvGrpSpPr>
        <p:grpSpPr>
          <a:xfrm>
            <a:off x="5937250" y="5045075"/>
            <a:ext cx="1663700" cy="396875"/>
            <a:chOff x="484" y="2880"/>
            <a:chExt cx="1048" cy="250"/>
          </a:xfrm>
        </p:grpSpPr>
        <p:sp>
          <p:nvSpPr>
            <p:cNvPr id="53259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60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256" name="Group 21"/>
          <p:cNvGrpSpPr/>
          <p:nvPr/>
        </p:nvGrpSpPr>
        <p:grpSpPr>
          <a:xfrm>
            <a:off x="3421063" y="5059363"/>
            <a:ext cx="1511300" cy="396875"/>
            <a:chOff x="532" y="2736"/>
            <a:chExt cx="952" cy="250"/>
          </a:xfrm>
        </p:grpSpPr>
        <p:sp>
          <p:nvSpPr>
            <p:cNvPr id="53257" name="AutoShape 19"/>
            <p:cNvSpPr/>
            <p:nvPr/>
          </p:nvSpPr>
          <p:spPr>
            <a:xfrm>
              <a:off x="532" y="2788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58" name="Rectangle 20"/>
            <p:cNvSpPr/>
            <p:nvPr/>
          </p:nvSpPr>
          <p:spPr>
            <a:xfrm>
              <a:off x="912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179513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N=2</a:t>
            </a:r>
            <a:endParaRPr lang="en-US" altLang="zh-CN" dirty="0"/>
          </a:p>
        </p:txBody>
      </p:sp>
      <p:grpSp>
        <p:nvGrpSpPr>
          <p:cNvPr id="54275" name="Group 6"/>
          <p:cNvGrpSpPr/>
          <p:nvPr/>
        </p:nvGrpSpPr>
        <p:grpSpPr>
          <a:xfrm>
            <a:off x="692150" y="1546225"/>
            <a:ext cx="1816100" cy="4025900"/>
            <a:chOff x="436" y="676"/>
            <a:chExt cx="1144" cy="2536"/>
          </a:xfrm>
        </p:grpSpPr>
        <p:sp>
          <p:nvSpPr>
            <p:cNvPr id="54292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93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276" name="Rectangle 7"/>
          <p:cNvSpPr/>
          <p:nvPr/>
        </p:nvSpPr>
        <p:spPr>
          <a:xfrm>
            <a:off x="1371600" y="550227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4277" name="Group 11"/>
          <p:cNvGrpSpPr/>
          <p:nvPr/>
        </p:nvGrpSpPr>
        <p:grpSpPr>
          <a:xfrm>
            <a:off x="3282950" y="1546225"/>
            <a:ext cx="1816100" cy="4475163"/>
            <a:chOff x="2068" y="676"/>
            <a:chExt cx="1144" cy="2819"/>
          </a:xfrm>
        </p:grpSpPr>
        <p:sp>
          <p:nvSpPr>
            <p:cNvPr id="54289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90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91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278" name="Group 15"/>
          <p:cNvGrpSpPr/>
          <p:nvPr/>
        </p:nvGrpSpPr>
        <p:grpSpPr>
          <a:xfrm>
            <a:off x="5873750" y="1546225"/>
            <a:ext cx="1816100" cy="4475163"/>
            <a:chOff x="3700" y="676"/>
            <a:chExt cx="1144" cy="2819"/>
          </a:xfrm>
        </p:grpSpPr>
        <p:sp>
          <p:nvSpPr>
            <p:cNvPr id="54286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87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88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279" name="Group 18"/>
          <p:cNvGrpSpPr/>
          <p:nvPr/>
        </p:nvGrpSpPr>
        <p:grpSpPr>
          <a:xfrm>
            <a:off x="5937250" y="5045075"/>
            <a:ext cx="1663700" cy="396875"/>
            <a:chOff x="484" y="2880"/>
            <a:chExt cx="1048" cy="250"/>
          </a:xfrm>
        </p:grpSpPr>
        <p:sp>
          <p:nvSpPr>
            <p:cNvPr id="54284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85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280" name="Group 21"/>
          <p:cNvGrpSpPr/>
          <p:nvPr/>
        </p:nvGrpSpPr>
        <p:grpSpPr>
          <a:xfrm>
            <a:off x="6013450" y="4830763"/>
            <a:ext cx="1511300" cy="396875"/>
            <a:chOff x="532" y="2736"/>
            <a:chExt cx="952" cy="250"/>
          </a:xfrm>
        </p:grpSpPr>
        <p:sp>
          <p:nvSpPr>
            <p:cNvPr id="54282" name="AutoShape 19"/>
            <p:cNvSpPr/>
            <p:nvPr/>
          </p:nvSpPr>
          <p:spPr>
            <a:xfrm>
              <a:off x="532" y="2788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83" name="Rectangle 20"/>
            <p:cNvSpPr/>
            <p:nvPr/>
          </p:nvSpPr>
          <p:spPr>
            <a:xfrm>
              <a:off x="912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308725" y="573088"/>
            <a:ext cx="25844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3 movements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06680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N=3</a:t>
            </a:r>
            <a:endParaRPr lang="en-US" altLang="zh-CN" dirty="0"/>
          </a:p>
        </p:txBody>
      </p:sp>
      <p:grpSp>
        <p:nvGrpSpPr>
          <p:cNvPr id="55299" name="Group 6"/>
          <p:cNvGrpSpPr/>
          <p:nvPr/>
        </p:nvGrpSpPr>
        <p:grpSpPr>
          <a:xfrm>
            <a:off x="692150" y="1474788"/>
            <a:ext cx="1816100" cy="4025900"/>
            <a:chOff x="436" y="676"/>
            <a:chExt cx="1144" cy="2536"/>
          </a:xfrm>
        </p:grpSpPr>
        <p:sp>
          <p:nvSpPr>
            <p:cNvPr id="55318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9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5300" name="Rectangle 7"/>
          <p:cNvSpPr/>
          <p:nvPr/>
        </p:nvSpPr>
        <p:spPr>
          <a:xfrm>
            <a:off x="1371600" y="543083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5301" name="Group 11"/>
          <p:cNvGrpSpPr/>
          <p:nvPr/>
        </p:nvGrpSpPr>
        <p:grpSpPr>
          <a:xfrm>
            <a:off x="3282950" y="1474788"/>
            <a:ext cx="1816100" cy="4475162"/>
            <a:chOff x="2068" y="676"/>
            <a:chExt cx="1144" cy="2819"/>
          </a:xfrm>
        </p:grpSpPr>
        <p:sp>
          <p:nvSpPr>
            <p:cNvPr id="55315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6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7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5302" name="Group 15"/>
          <p:cNvGrpSpPr/>
          <p:nvPr/>
        </p:nvGrpSpPr>
        <p:grpSpPr>
          <a:xfrm>
            <a:off x="5873750" y="1474788"/>
            <a:ext cx="1816100" cy="4475162"/>
            <a:chOff x="3700" y="676"/>
            <a:chExt cx="1144" cy="2819"/>
          </a:xfrm>
        </p:grpSpPr>
        <p:sp>
          <p:nvSpPr>
            <p:cNvPr id="55312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3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4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5303" name="Group 18"/>
          <p:cNvGrpSpPr/>
          <p:nvPr/>
        </p:nvGrpSpPr>
        <p:grpSpPr>
          <a:xfrm>
            <a:off x="768350" y="4973638"/>
            <a:ext cx="1663700" cy="396875"/>
            <a:chOff x="484" y="2880"/>
            <a:chExt cx="1048" cy="250"/>
          </a:xfrm>
        </p:grpSpPr>
        <p:sp>
          <p:nvSpPr>
            <p:cNvPr id="55310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1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5304" name="Group 21"/>
          <p:cNvGrpSpPr/>
          <p:nvPr/>
        </p:nvGrpSpPr>
        <p:grpSpPr>
          <a:xfrm>
            <a:off x="844550" y="4745038"/>
            <a:ext cx="1511300" cy="396875"/>
            <a:chOff x="532" y="2736"/>
            <a:chExt cx="952" cy="250"/>
          </a:xfrm>
        </p:grpSpPr>
        <p:sp>
          <p:nvSpPr>
            <p:cNvPr id="55308" name="AutoShape 19"/>
            <p:cNvSpPr/>
            <p:nvPr/>
          </p:nvSpPr>
          <p:spPr>
            <a:xfrm>
              <a:off x="532" y="2788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09" name="Rectangle 20"/>
            <p:cNvSpPr/>
            <p:nvPr/>
          </p:nvSpPr>
          <p:spPr>
            <a:xfrm>
              <a:off x="912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5305" name="Group 24"/>
          <p:cNvGrpSpPr/>
          <p:nvPr/>
        </p:nvGrpSpPr>
        <p:grpSpPr>
          <a:xfrm>
            <a:off x="920750" y="4516438"/>
            <a:ext cx="1358900" cy="396875"/>
            <a:chOff x="580" y="2592"/>
            <a:chExt cx="856" cy="250"/>
          </a:xfrm>
        </p:grpSpPr>
        <p:sp>
          <p:nvSpPr>
            <p:cNvPr id="55306" name="AutoShape 22"/>
            <p:cNvSpPr/>
            <p:nvPr/>
          </p:nvSpPr>
          <p:spPr>
            <a:xfrm>
              <a:off x="580" y="2644"/>
              <a:ext cx="856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07" name="Rectangle 23"/>
            <p:cNvSpPr/>
            <p:nvPr/>
          </p:nvSpPr>
          <p:spPr>
            <a:xfrm>
              <a:off x="912" y="2592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14300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N=3</a:t>
            </a:r>
            <a:endParaRPr lang="en-US" altLang="zh-CN" dirty="0"/>
          </a:p>
        </p:txBody>
      </p:sp>
      <p:grpSp>
        <p:nvGrpSpPr>
          <p:cNvPr id="56323" name="Group 6"/>
          <p:cNvGrpSpPr/>
          <p:nvPr/>
        </p:nvGrpSpPr>
        <p:grpSpPr>
          <a:xfrm>
            <a:off x="692150" y="1546225"/>
            <a:ext cx="1816100" cy="4025900"/>
            <a:chOff x="436" y="676"/>
            <a:chExt cx="1144" cy="2536"/>
          </a:xfrm>
        </p:grpSpPr>
        <p:sp>
          <p:nvSpPr>
            <p:cNvPr id="56342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43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6324" name="Rectangle 7"/>
          <p:cNvSpPr/>
          <p:nvPr/>
        </p:nvSpPr>
        <p:spPr>
          <a:xfrm>
            <a:off x="1371600" y="550227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6325" name="Group 11"/>
          <p:cNvGrpSpPr/>
          <p:nvPr/>
        </p:nvGrpSpPr>
        <p:grpSpPr>
          <a:xfrm>
            <a:off x="3282950" y="1546225"/>
            <a:ext cx="1816100" cy="4475163"/>
            <a:chOff x="2068" y="676"/>
            <a:chExt cx="1144" cy="2819"/>
          </a:xfrm>
        </p:grpSpPr>
        <p:sp>
          <p:nvSpPr>
            <p:cNvPr id="56339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40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41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26" name="Group 15"/>
          <p:cNvGrpSpPr/>
          <p:nvPr/>
        </p:nvGrpSpPr>
        <p:grpSpPr>
          <a:xfrm>
            <a:off x="5873750" y="1546225"/>
            <a:ext cx="1816100" cy="4475163"/>
            <a:chOff x="3700" y="676"/>
            <a:chExt cx="1144" cy="2819"/>
          </a:xfrm>
        </p:grpSpPr>
        <p:sp>
          <p:nvSpPr>
            <p:cNvPr id="56336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37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38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27" name="Group 18"/>
          <p:cNvGrpSpPr/>
          <p:nvPr/>
        </p:nvGrpSpPr>
        <p:grpSpPr>
          <a:xfrm>
            <a:off x="768350" y="5045075"/>
            <a:ext cx="1663700" cy="396875"/>
            <a:chOff x="484" y="2880"/>
            <a:chExt cx="1048" cy="250"/>
          </a:xfrm>
        </p:grpSpPr>
        <p:sp>
          <p:nvSpPr>
            <p:cNvPr id="56334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35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28" name="Group 21"/>
          <p:cNvGrpSpPr/>
          <p:nvPr/>
        </p:nvGrpSpPr>
        <p:grpSpPr>
          <a:xfrm>
            <a:off x="844550" y="4816475"/>
            <a:ext cx="1511300" cy="396875"/>
            <a:chOff x="532" y="2736"/>
            <a:chExt cx="952" cy="250"/>
          </a:xfrm>
        </p:grpSpPr>
        <p:sp>
          <p:nvSpPr>
            <p:cNvPr id="56332" name="AutoShape 19"/>
            <p:cNvSpPr/>
            <p:nvPr/>
          </p:nvSpPr>
          <p:spPr>
            <a:xfrm>
              <a:off x="532" y="2788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33" name="Rectangle 20"/>
            <p:cNvSpPr/>
            <p:nvPr/>
          </p:nvSpPr>
          <p:spPr>
            <a:xfrm>
              <a:off x="912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29" name="Group 24"/>
          <p:cNvGrpSpPr/>
          <p:nvPr/>
        </p:nvGrpSpPr>
        <p:grpSpPr>
          <a:xfrm>
            <a:off x="6102350" y="5045075"/>
            <a:ext cx="1358900" cy="396875"/>
            <a:chOff x="3844" y="2880"/>
            <a:chExt cx="856" cy="250"/>
          </a:xfrm>
        </p:grpSpPr>
        <p:sp>
          <p:nvSpPr>
            <p:cNvPr id="56330" name="AutoShape 22"/>
            <p:cNvSpPr/>
            <p:nvPr/>
          </p:nvSpPr>
          <p:spPr>
            <a:xfrm>
              <a:off x="3844" y="2932"/>
              <a:ext cx="856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31" name="Rectangle 23"/>
            <p:cNvSpPr/>
            <p:nvPr/>
          </p:nvSpPr>
          <p:spPr>
            <a:xfrm>
              <a:off x="4176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N=3</a:t>
            </a:r>
            <a:endParaRPr lang="en-US" altLang="zh-CN" dirty="0"/>
          </a:p>
        </p:txBody>
      </p:sp>
      <p:grpSp>
        <p:nvGrpSpPr>
          <p:cNvPr id="57347" name="Group 6"/>
          <p:cNvGrpSpPr/>
          <p:nvPr/>
        </p:nvGrpSpPr>
        <p:grpSpPr>
          <a:xfrm>
            <a:off x="692150" y="1546225"/>
            <a:ext cx="1816100" cy="4025900"/>
            <a:chOff x="436" y="676"/>
            <a:chExt cx="1144" cy="2536"/>
          </a:xfrm>
        </p:grpSpPr>
        <p:sp>
          <p:nvSpPr>
            <p:cNvPr id="57366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7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7348" name="Rectangle 7"/>
          <p:cNvSpPr/>
          <p:nvPr/>
        </p:nvSpPr>
        <p:spPr>
          <a:xfrm>
            <a:off x="1371600" y="550227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7349" name="Group 11"/>
          <p:cNvGrpSpPr/>
          <p:nvPr/>
        </p:nvGrpSpPr>
        <p:grpSpPr>
          <a:xfrm>
            <a:off x="3282950" y="1546225"/>
            <a:ext cx="1816100" cy="4475163"/>
            <a:chOff x="2068" y="676"/>
            <a:chExt cx="1144" cy="2819"/>
          </a:xfrm>
        </p:grpSpPr>
        <p:sp>
          <p:nvSpPr>
            <p:cNvPr id="57363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4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5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350" name="Group 15"/>
          <p:cNvGrpSpPr/>
          <p:nvPr/>
        </p:nvGrpSpPr>
        <p:grpSpPr>
          <a:xfrm>
            <a:off x="5873750" y="1546225"/>
            <a:ext cx="1816100" cy="4475163"/>
            <a:chOff x="3700" y="676"/>
            <a:chExt cx="1144" cy="2819"/>
          </a:xfrm>
        </p:grpSpPr>
        <p:sp>
          <p:nvSpPr>
            <p:cNvPr id="57360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1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2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351" name="Group 18"/>
          <p:cNvGrpSpPr/>
          <p:nvPr/>
        </p:nvGrpSpPr>
        <p:grpSpPr>
          <a:xfrm>
            <a:off x="768350" y="5045075"/>
            <a:ext cx="1663700" cy="396875"/>
            <a:chOff x="484" y="2880"/>
            <a:chExt cx="1048" cy="250"/>
          </a:xfrm>
        </p:grpSpPr>
        <p:sp>
          <p:nvSpPr>
            <p:cNvPr id="57358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9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352" name="Group 21"/>
          <p:cNvGrpSpPr/>
          <p:nvPr/>
        </p:nvGrpSpPr>
        <p:grpSpPr>
          <a:xfrm>
            <a:off x="3435350" y="5045075"/>
            <a:ext cx="1511300" cy="396875"/>
            <a:chOff x="2164" y="2880"/>
            <a:chExt cx="952" cy="250"/>
          </a:xfrm>
        </p:grpSpPr>
        <p:sp>
          <p:nvSpPr>
            <p:cNvPr id="57356" name="AutoShape 19"/>
            <p:cNvSpPr/>
            <p:nvPr/>
          </p:nvSpPr>
          <p:spPr>
            <a:xfrm>
              <a:off x="2164" y="2932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7" name="Rectangle 20"/>
            <p:cNvSpPr/>
            <p:nvPr/>
          </p:nvSpPr>
          <p:spPr>
            <a:xfrm>
              <a:off x="2544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353" name="Group 24"/>
          <p:cNvGrpSpPr/>
          <p:nvPr/>
        </p:nvGrpSpPr>
        <p:grpSpPr>
          <a:xfrm>
            <a:off x="6102350" y="5045075"/>
            <a:ext cx="1358900" cy="396875"/>
            <a:chOff x="3844" y="2880"/>
            <a:chExt cx="856" cy="250"/>
          </a:xfrm>
        </p:grpSpPr>
        <p:sp>
          <p:nvSpPr>
            <p:cNvPr id="57354" name="AutoShape 22"/>
            <p:cNvSpPr/>
            <p:nvPr/>
          </p:nvSpPr>
          <p:spPr>
            <a:xfrm>
              <a:off x="3844" y="2932"/>
              <a:ext cx="856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5" name="Rectangle 23"/>
            <p:cNvSpPr/>
            <p:nvPr/>
          </p:nvSpPr>
          <p:spPr>
            <a:xfrm>
              <a:off x="4176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29540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N=3</a:t>
            </a:r>
            <a:endParaRPr lang="en-US" altLang="zh-CN" dirty="0"/>
          </a:p>
        </p:txBody>
      </p:sp>
      <p:grpSp>
        <p:nvGrpSpPr>
          <p:cNvPr id="58371" name="Group 6"/>
          <p:cNvGrpSpPr/>
          <p:nvPr/>
        </p:nvGrpSpPr>
        <p:grpSpPr>
          <a:xfrm>
            <a:off x="692150" y="1617663"/>
            <a:ext cx="1816100" cy="4025900"/>
            <a:chOff x="436" y="676"/>
            <a:chExt cx="1144" cy="2536"/>
          </a:xfrm>
        </p:grpSpPr>
        <p:sp>
          <p:nvSpPr>
            <p:cNvPr id="58390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91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8372" name="Rectangle 7"/>
          <p:cNvSpPr/>
          <p:nvPr/>
        </p:nvSpPr>
        <p:spPr>
          <a:xfrm>
            <a:off x="1371600" y="5573713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8373" name="Group 11"/>
          <p:cNvGrpSpPr/>
          <p:nvPr/>
        </p:nvGrpSpPr>
        <p:grpSpPr>
          <a:xfrm>
            <a:off x="3282950" y="1617663"/>
            <a:ext cx="1816100" cy="4475162"/>
            <a:chOff x="2068" y="676"/>
            <a:chExt cx="1144" cy="2819"/>
          </a:xfrm>
        </p:grpSpPr>
        <p:sp>
          <p:nvSpPr>
            <p:cNvPr id="58387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88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89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374" name="Group 15"/>
          <p:cNvGrpSpPr/>
          <p:nvPr/>
        </p:nvGrpSpPr>
        <p:grpSpPr>
          <a:xfrm>
            <a:off x="5873750" y="1617663"/>
            <a:ext cx="1816100" cy="4475162"/>
            <a:chOff x="3700" y="676"/>
            <a:chExt cx="1144" cy="2819"/>
          </a:xfrm>
        </p:grpSpPr>
        <p:sp>
          <p:nvSpPr>
            <p:cNvPr id="58384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85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86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375" name="Group 18"/>
          <p:cNvGrpSpPr/>
          <p:nvPr/>
        </p:nvGrpSpPr>
        <p:grpSpPr>
          <a:xfrm>
            <a:off x="768350" y="5116513"/>
            <a:ext cx="1663700" cy="396875"/>
            <a:chOff x="484" y="2880"/>
            <a:chExt cx="1048" cy="250"/>
          </a:xfrm>
        </p:grpSpPr>
        <p:sp>
          <p:nvSpPr>
            <p:cNvPr id="58382" name="AutoShape 16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83" name="Rectangle 17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376" name="Group 21"/>
          <p:cNvGrpSpPr/>
          <p:nvPr/>
        </p:nvGrpSpPr>
        <p:grpSpPr>
          <a:xfrm>
            <a:off x="3435350" y="5116513"/>
            <a:ext cx="1511300" cy="396875"/>
            <a:chOff x="2164" y="2880"/>
            <a:chExt cx="952" cy="250"/>
          </a:xfrm>
        </p:grpSpPr>
        <p:sp>
          <p:nvSpPr>
            <p:cNvPr id="58380" name="AutoShape 19"/>
            <p:cNvSpPr/>
            <p:nvPr/>
          </p:nvSpPr>
          <p:spPr>
            <a:xfrm>
              <a:off x="2164" y="2932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81" name="Rectangle 20"/>
            <p:cNvSpPr/>
            <p:nvPr/>
          </p:nvSpPr>
          <p:spPr>
            <a:xfrm>
              <a:off x="2544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377" name="Group 24"/>
          <p:cNvGrpSpPr/>
          <p:nvPr/>
        </p:nvGrpSpPr>
        <p:grpSpPr>
          <a:xfrm>
            <a:off x="3511550" y="4887913"/>
            <a:ext cx="1358900" cy="396875"/>
            <a:chOff x="2212" y="2736"/>
            <a:chExt cx="856" cy="250"/>
          </a:xfrm>
        </p:grpSpPr>
        <p:sp>
          <p:nvSpPr>
            <p:cNvPr id="58378" name="AutoShape 22"/>
            <p:cNvSpPr/>
            <p:nvPr/>
          </p:nvSpPr>
          <p:spPr>
            <a:xfrm>
              <a:off x="2212" y="2788"/>
              <a:ext cx="856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79" name="Rectangle 23"/>
            <p:cNvSpPr/>
            <p:nvPr/>
          </p:nvSpPr>
          <p:spPr>
            <a:xfrm>
              <a:off x="2544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192213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N=3</a:t>
            </a:r>
            <a:endParaRPr lang="en-US" altLang="zh-CN" dirty="0"/>
          </a:p>
        </p:txBody>
      </p:sp>
      <p:grpSp>
        <p:nvGrpSpPr>
          <p:cNvPr id="59395" name="Group 6"/>
          <p:cNvGrpSpPr/>
          <p:nvPr/>
        </p:nvGrpSpPr>
        <p:grpSpPr>
          <a:xfrm>
            <a:off x="692150" y="1474788"/>
            <a:ext cx="1816100" cy="4025900"/>
            <a:chOff x="436" y="676"/>
            <a:chExt cx="1144" cy="2536"/>
          </a:xfrm>
        </p:grpSpPr>
        <p:sp>
          <p:nvSpPr>
            <p:cNvPr id="59414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5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396" name="Rectangle 7"/>
          <p:cNvSpPr/>
          <p:nvPr/>
        </p:nvSpPr>
        <p:spPr>
          <a:xfrm>
            <a:off x="1371600" y="543083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9397" name="Group 11"/>
          <p:cNvGrpSpPr/>
          <p:nvPr/>
        </p:nvGrpSpPr>
        <p:grpSpPr>
          <a:xfrm>
            <a:off x="3282950" y="1474788"/>
            <a:ext cx="1816100" cy="4475162"/>
            <a:chOff x="2068" y="676"/>
            <a:chExt cx="1144" cy="2819"/>
          </a:xfrm>
        </p:grpSpPr>
        <p:sp>
          <p:nvSpPr>
            <p:cNvPr id="59411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2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3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398" name="Group 15"/>
          <p:cNvGrpSpPr/>
          <p:nvPr/>
        </p:nvGrpSpPr>
        <p:grpSpPr>
          <a:xfrm>
            <a:off x="5873750" y="1474788"/>
            <a:ext cx="1816100" cy="4475162"/>
            <a:chOff x="3700" y="676"/>
            <a:chExt cx="1144" cy="2819"/>
          </a:xfrm>
        </p:grpSpPr>
        <p:sp>
          <p:nvSpPr>
            <p:cNvPr id="59408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09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0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399" name="Group 18"/>
          <p:cNvGrpSpPr/>
          <p:nvPr/>
        </p:nvGrpSpPr>
        <p:grpSpPr>
          <a:xfrm>
            <a:off x="5949950" y="4973638"/>
            <a:ext cx="1663700" cy="396875"/>
            <a:chOff x="3748" y="2880"/>
            <a:chExt cx="1048" cy="250"/>
          </a:xfrm>
        </p:grpSpPr>
        <p:sp>
          <p:nvSpPr>
            <p:cNvPr id="59406" name="AutoShape 16"/>
            <p:cNvSpPr/>
            <p:nvPr/>
          </p:nvSpPr>
          <p:spPr>
            <a:xfrm>
              <a:off x="3748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07" name="Rectangle 17"/>
            <p:cNvSpPr/>
            <p:nvPr/>
          </p:nvSpPr>
          <p:spPr>
            <a:xfrm>
              <a:off x="4176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0" name="Group 21"/>
          <p:cNvGrpSpPr/>
          <p:nvPr/>
        </p:nvGrpSpPr>
        <p:grpSpPr>
          <a:xfrm>
            <a:off x="3435350" y="4973638"/>
            <a:ext cx="1511300" cy="396875"/>
            <a:chOff x="2164" y="2880"/>
            <a:chExt cx="952" cy="250"/>
          </a:xfrm>
        </p:grpSpPr>
        <p:sp>
          <p:nvSpPr>
            <p:cNvPr id="59404" name="AutoShape 19"/>
            <p:cNvSpPr/>
            <p:nvPr/>
          </p:nvSpPr>
          <p:spPr>
            <a:xfrm>
              <a:off x="2164" y="2932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05" name="Rectangle 20"/>
            <p:cNvSpPr/>
            <p:nvPr/>
          </p:nvSpPr>
          <p:spPr>
            <a:xfrm>
              <a:off x="2544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1" name="Group 24"/>
          <p:cNvGrpSpPr/>
          <p:nvPr/>
        </p:nvGrpSpPr>
        <p:grpSpPr>
          <a:xfrm>
            <a:off x="3511550" y="4745038"/>
            <a:ext cx="1358900" cy="396875"/>
            <a:chOff x="2212" y="2736"/>
            <a:chExt cx="856" cy="250"/>
          </a:xfrm>
        </p:grpSpPr>
        <p:sp>
          <p:nvSpPr>
            <p:cNvPr id="59402" name="AutoShape 22"/>
            <p:cNvSpPr/>
            <p:nvPr/>
          </p:nvSpPr>
          <p:spPr>
            <a:xfrm>
              <a:off x="2212" y="2788"/>
              <a:ext cx="856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03" name="Rectangle 23"/>
            <p:cNvSpPr/>
            <p:nvPr/>
          </p:nvSpPr>
          <p:spPr>
            <a:xfrm>
              <a:off x="2544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29540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N=3</a:t>
            </a:r>
            <a:endParaRPr lang="en-US" altLang="zh-CN" dirty="0"/>
          </a:p>
        </p:txBody>
      </p:sp>
      <p:grpSp>
        <p:nvGrpSpPr>
          <p:cNvPr id="60419" name="Group 6"/>
          <p:cNvGrpSpPr/>
          <p:nvPr/>
        </p:nvGrpSpPr>
        <p:grpSpPr>
          <a:xfrm>
            <a:off x="692150" y="1617663"/>
            <a:ext cx="1816100" cy="4025900"/>
            <a:chOff x="436" y="676"/>
            <a:chExt cx="1144" cy="2536"/>
          </a:xfrm>
        </p:grpSpPr>
        <p:sp>
          <p:nvSpPr>
            <p:cNvPr id="60438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39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0420" name="Rectangle 7"/>
          <p:cNvSpPr/>
          <p:nvPr/>
        </p:nvSpPr>
        <p:spPr>
          <a:xfrm>
            <a:off x="1371600" y="5573713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60421" name="Group 11"/>
          <p:cNvGrpSpPr/>
          <p:nvPr/>
        </p:nvGrpSpPr>
        <p:grpSpPr>
          <a:xfrm>
            <a:off x="3282950" y="1617663"/>
            <a:ext cx="1816100" cy="4475162"/>
            <a:chOff x="2068" y="676"/>
            <a:chExt cx="1144" cy="2819"/>
          </a:xfrm>
        </p:grpSpPr>
        <p:sp>
          <p:nvSpPr>
            <p:cNvPr id="60435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36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37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422" name="Group 15"/>
          <p:cNvGrpSpPr/>
          <p:nvPr/>
        </p:nvGrpSpPr>
        <p:grpSpPr>
          <a:xfrm>
            <a:off x="5873750" y="1617663"/>
            <a:ext cx="1816100" cy="4475162"/>
            <a:chOff x="3700" y="676"/>
            <a:chExt cx="1144" cy="2819"/>
          </a:xfrm>
        </p:grpSpPr>
        <p:sp>
          <p:nvSpPr>
            <p:cNvPr id="60432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33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34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423" name="Group 18"/>
          <p:cNvGrpSpPr/>
          <p:nvPr/>
        </p:nvGrpSpPr>
        <p:grpSpPr>
          <a:xfrm>
            <a:off x="5949950" y="5116513"/>
            <a:ext cx="1663700" cy="396875"/>
            <a:chOff x="3748" y="2880"/>
            <a:chExt cx="1048" cy="250"/>
          </a:xfrm>
        </p:grpSpPr>
        <p:sp>
          <p:nvSpPr>
            <p:cNvPr id="60430" name="AutoShape 16"/>
            <p:cNvSpPr/>
            <p:nvPr/>
          </p:nvSpPr>
          <p:spPr>
            <a:xfrm>
              <a:off x="3748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31" name="Rectangle 17"/>
            <p:cNvSpPr/>
            <p:nvPr/>
          </p:nvSpPr>
          <p:spPr>
            <a:xfrm>
              <a:off x="4176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424" name="Group 21"/>
          <p:cNvGrpSpPr/>
          <p:nvPr/>
        </p:nvGrpSpPr>
        <p:grpSpPr>
          <a:xfrm>
            <a:off x="3435350" y="5116513"/>
            <a:ext cx="1511300" cy="396875"/>
            <a:chOff x="2164" y="2880"/>
            <a:chExt cx="952" cy="250"/>
          </a:xfrm>
        </p:grpSpPr>
        <p:sp>
          <p:nvSpPr>
            <p:cNvPr id="60428" name="AutoShape 19"/>
            <p:cNvSpPr/>
            <p:nvPr/>
          </p:nvSpPr>
          <p:spPr>
            <a:xfrm>
              <a:off x="2164" y="2932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29" name="Rectangle 20"/>
            <p:cNvSpPr/>
            <p:nvPr/>
          </p:nvSpPr>
          <p:spPr>
            <a:xfrm>
              <a:off x="2544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425" name="Group 24"/>
          <p:cNvGrpSpPr/>
          <p:nvPr/>
        </p:nvGrpSpPr>
        <p:grpSpPr>
          <a:xfrm>
            <a:off x="920750" y="5116513"/>
            <a:ext cx="1358900" cy="396875"/>
            <a:chOff x="580" y="2880"/>
            <a:chExt cx="856" cy="250"/>
          </a:xfrm>
        </p:grpSpPr>
        <p:sp>
          <p:nvSpPr>
            <p:cNvPr id="60426" name="AutoShape 22"/>
            <p:cNvSpPr/>
            <p:nvPr/>
          </p:nvSpPr>
          <p:spPr>
            <a:xfrm>
              <a:off x="580" y="2932"/>
              <a:ext cx="856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27" name="Rectangle 23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26365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N=3</a:t>
            </a:r>
            <a:endParaRPr lang="en-US" altLang="zh-CN" dirty="0"/>
          </a:p>
        </p:txBody>
      </p:sp>
      <p:grpSp>
        <p:nvGrpSpPr>
          <p:cNvPr id="61443" name="Group 6"/>
          <p:cNvGrpSpPr/>
          <p:nvPr/>
        </p:nvGrpSpPr>
        <p:grpSpPr>
          <a:xfrm>
            <a:off x="692150" y="1546225"/>
            <a:ext cx="1816100" cy="4025900"/>
            <a:chOff x="436" y="676"/>
            <a:chExt cx="1144" cy="2536"/>
          </a:xfrm>
        </p:grpSpPr>
        <p:sp>
          <p:nvSpPr>
            <p:cNvPr id="61462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63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1444" name="Rectangle 7"/>
          <p:cNvSpPr/>
          <p:nvPr/>
        </p:nvSpPr>
        <p:spPr>
          <a:xfrm>
            <a:off x="1371600" y="550227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61445" name="Group 11"/>
          <p:cNvGrpSpPr/>
          <p:nvPr/>
        </p:nvGrpSpPr>
        <p:grpSpPr>
          <a:xfrm>
            <a:off x="3282950" y="1546225"/>
            <a:ext cx="1816100" cy="4475163"/>
            <a:chOff x="2068" y="676"/>
            <a:chExt cx="1144" cy="2819"/>
          </a:xfrm>
        </p:grpSpPr>
        <p:sp>
          <p:nvSpPr>
            <p:cNvPr id="61459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60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61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446" name="Group 15"/>
          <p:cNvGrpSpPr/>
          <p:nvPr/>
        </p:nvGrpSpPr>
        <p:grpSpPr>
          <a:xfrm>
            <a:off x="5873750" y="1546225"/>
            <a:ext cx="1816100" cy="4475163"/>
            <a:chOff x="3700" y="676"/>
            <a:chExt cx="1144" cy="2819"/>
          </a:xfrm>
        </p:grpSpPr>
        <p:sp>
          <p:nvSpPr>
            <p:cNvPr id="61456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57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58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447" name="Group 18"/>
          <p:cNvGrpSpPr/>
          <p:nvPr/>
        </p:nvGrpSpPr>
        <p:grpSpPr>
          <a:xfrm>
            <a:off x="5949950" y="5045075"/>
            <a:ext cx="1663700" cy="396875"/>
            <a:chOff x="3748" y="2880"/>
            <a:chExt cx="1048" cy="250"/>
          </a:xfrm>
        </p:grpSpPr>
        <p:sp>
          <p:nvSpPr>
            <p:cNvPr id="61454" name="AutoShape 16"/>
            <p:cNvSpPr/>
            <p:nvPr/>
          </p:nvSpPr>
          <p:spPr>
            <a:xfrm>
              <a:off x="3748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55" name="Rectangle 17"/>
            <p:cNvSpPr/>
            <p:nvPr/>
          </p:nvSpPr>
          <p:spPr>
            <a:xfrm>
              <a:off x="4176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448" name="Group 21"/>
          <p:cNvGrpSpPr/>
          <p:nvPr/>
        </p:nvGrpSpPr>
        <p:grpSpPr>
          <a:xfrm>
            <a:off x="6026150" y="4816475"/>
            <a:ext cx="1511300" cy="396875"/>
            <a:chOff x="3796" y="2736"/>
            <a:chExt cx="952" cy="250"/>
          </a:xfrm>
        </p:grpSpPr>
        <p:sp>
          <p:nvSpPr>
            <p:cNvPr id="61452" name="AutoShape 19"/>
            <p:cNvSpPr/>
            <p:nvPr/>
          </p:nvSpPr>
          <p:spPr>
            <a:xfrm>
              <a:off x="3796" y="2788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53" name="Rectangle 20"/>
            <p:cNvSpPr/>
            <p:nvPr/>
          </p:nvSpPr>
          <p:spPr>
            <a:xfrm>
              <a:off x="4176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449" name="Group 24"/>
          <p:cNvGrpSpPr/>
          <p:nvPr/>
        </p:nvGrpSpPr>
        <p:grpSpPr>
          <a:xfrm>
            <a:off x="920750" y="5045075"/>
            <a:ext cx="1358900" cy="396875"/>
            <a:chOff x="580" y="2880"/>
            <a:chExt cx="856" cy="250"/>
          </a:xfrm>
        </p:grpSpPr>
        <p:sp>
          <p:nvSpPr>
            <p:cNvPr id="61450" name="AutoShape 22"/>
            <p:cNvSpPr/>
            <p:nvPr/>
          </p:nvSpPr>
          <p:spPr>
            <a:xfrm>
              <a:off x="580" y="2932"/>
              <a:ext cx="856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51" name="Rectangle 23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125538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N=3</a:t>
            </a:r>
            <a:endParaRPr lang="en-US" altLang="zh-CN" dirty="0"/>
          </a:p>
        </p:txBody>
      </p:sp>
      <p:grpSp>
        <p:nvGrpSpPr>
          <p:cNvPr id="62467" name="Group 6"/>
          <p:cNvGrpSpPr/>
          <p:nvPr/>
        </p:nvGrpSpPr>
        <p:grpSpPr>
          <a:xfrm>
            <a:off x="692150" y="1474788"/>
            <a:ext cx="1816100" cy="4025900"/>
            <a:chOff x="436" y="676"/>
            <a:chExt cx="1144" cy="2536"/>
          </a:xfrm>
        </p:grpSpPr>
        <p:sp>
          <p:nvSpPr>
            <p:cNvPr id="62487" name="Rectangle 4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8" name="Rectangle 5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2468" name="Rectangle 7"/>
          <p:cNvSpPr/>
          <p:nvPr/>
        </p:nvSpPr>
        <p:spPr>
          <a:xfrm>
            <a:off x="1371600" y="543083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62469" name="Group 11"/>
          <p:cNvGrpSpPr/>
          <p:nvPr/>
        </p:nvGrpSpPr>
        <p:grpSpPr>
          <a:xfrm>
            <a:off x="3282950" y="1474788"/>
            <a:ext cx="1816100" cy="4475162"/>
            <a:chOff x="2068" y="676"/>
            <a:chExt cx="1144" cy="2819"/>
          </a:xfrm>
        </p:grpSpPr>
        <p:sp>
          <p:nvSpPr>
            <p:cNvPr id="62484" name="Rectangle 8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5" name="Rectangle 9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6" name="Rectangle 10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470" name="Group 15"/>
          <p:cNvGrpSpPr/>
          <p:nvPr/>
        </p:nvGrpSpPr>
        <p:grpSpPr>
          <a:xfrm>
            <a:off x="5873750" y="1474788"/>
            <a:ext cx="1816100" cy="4475162"/>
            <a:chOff x="3700" y="676"/>
            <a:chExt cx="1144" cy="2819"/>
          </a:xfrm>
        </p:grpSpPr>
        <p:sp>
          <p:nvSpPr>
            <p:cNvPr id="62481" name="Rectangle 12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2" name="Rectangle 13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3" name="Rectangle 14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471" name="Group 18"/>
          <p:cNvGrpSpPr/>
          <p:nvPr/>
        </p:nvGrpSpPr>
        <p:grpSpPr>
          <a:xfrm>
            <a:off x="5949950" y="4973638"/>
            <a:ext cx="1663700" cy="396875"/>
            <a:chOff x="3748" y="2880"/>
            <a:chExt cx="1048" cy="250"/>
          </a:xfrm>
        </p:grpSpPr>
        <p:sp>
          <p:nvSpPr>
            <p:cNvPr id="62479" name="AutoShape 16"/>
            <p:cNvSpPr/>
            <p:nvPr/>
          </p:nvSpPr>
          <p:spPr>
            <a:xfrm>
              <a:off x="3748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0" name="Rectangle 17"/>
            <p:cNvSpPr/>
            <p:nvPr/>
          </p:nvSpPr>
          <p:spPr>
            <a:xfrm>
              <a:off x="4176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472" name="Group 21"/>
          <p:cNvGrpSpPr/>
          <p:nvPr/>
        </p:nvGrpSpPr>
        <p:grpSpPr>
          <a:xfrm>
            <a:off x="6026150" y="4745038"/>
            <a:ext cx="1511300" cy="396875"/>
            <a:chOff x="3796" y="2736"/>
            <a:chExt cx="952" cy="250"/>
          </a:xfrm>
        </p:grpSpPr>
        <p:sp>
          <p:nvSpPr>
            <p:cNvPr id="62477" name="AutoShape 19"/>
            <p:cNvSpPr/>
            <p:nvPr/>
          </p:nvSpPr>
          <p:spPr>
            <a:xfrm>
              <a:off x="3796" y="2788"/>
              <a:ext cx="952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78" name="Rectangle 20"/>
            <p:cNvSpPr/>
            <p:nvPr/>
          </p:nvSpPr>
          <p:spPr>
            <a:xfrm>
              <a:off x="4176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473" name="Group 24"/>
          <p:cNvGrpSpPr/>
          <p:nvPr/>
        </p:nvGrpSpPr>
        <p:grpSpPr>
          <a:xfrm>
            <a:off x="6102350" y="4516438"/>
            <a:ext cx="1358900" cy="396875"/>
            <a:chOff x="3844" y="2592"/>
            <a:chExt cx="856" cy="250"/>
          </a:xfrm>
        </p:grpSpPr>
        <p:sp>
          <p:nvSpPr>
            <p:cNvPr id="62475" name="AutoShape 22"/>
            <p:cNvSpPr/>
            <p:nvPr/>
          </p:nvSpPr>
          <p:spPr>
            <a:xfrm>
              <a:off x="3844" y="2644"/>
              <a:ext cx="856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76" name="Rectangle 23"/>
            <p:cNvSpPr/>
            <p:nvPr/>
          </p:nvSpPr>
          <p:spPr>
            <a:xfrm>
              <a:off x="4176" y="2592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08725" y="573088"/>
            <a:ext cx="25844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7 movements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76200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Recursive Solution</a:t>
            </a:r>
            <a:endParaRPr lang="en-US" altLang="zh-CN" dirty="0"/>
          </a:p>
        </p:txBody>
      </p:sp>
      <p:grpSp>
        <p:nvGrpSpPr>
          <p:cNvPr id="63491" name="Group 5"/>
          <p:cNvGrpSpPr/>
          <p:nvPr/>
        </p:nvGrpSpPr>
        <p:grpSpPr>
          <a:xfrm>
            <a:off x="692150" y="1073150"/>
            <a:ext cx="1816100" cy="4025900"/>
            <a:chOff x="436" y="676"/>
            <a:chExt cx="1144" cy="2536"/>
          </a:xfrm>
        </p:grpSpPr>
        <p:sp>
          <p:nvSpPr>
            <p:cNvPr id="63506" name="Rectangle 3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07" name="Rectangle 4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3492" name="Rectangle 6"/>
          <p:cNvSpPr/>
          <p:nvPr/>
        </p:nvSpPr>
        <p:spPr>
          <a:xfrm>
            <a:off x="1371600" y="502920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63493" name="Group 10"/>
          <p:cNvGrpSpPr/>
          <p:nvPr/>
        </p:nvGrpSpPr>
        <p:grpSpPr>
          <a:xfrm>
            <a:off x="3282950" y="1073150"/>
            <a:ext cx="1816100" cy="4475163"/>
            <a:chOff x="2068" y="676"/>
            <a:chExt cx="1144" cy="2819"/>
          </a:xfrm>
        </p:grpSpPr>
        <p:sp>
          <p:nvSpPr>
            <p:cNvPr id="63503" name="Rectangle 7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04" name="Rectangle 8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05" name="Rectangle 9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3494" name="Group 14"/>
          <p:cNvGrpSpPr/>
          <p:nvPr/>
        </p:nvGrpSpPr>
        <p:grpSpPr>
          <a:xfrm>
            <a:off x="5873750" y="1073150"/>
            <a:ext cx="1816100" cy="4475163"/>
            <a:chOff x="3700" y="676"/>
            <a:chExt cx="1144" cy="2819"/>
          </a:xfrm>
        </p:grpSpPr>
        <p:sp>
          <p:nvSpPr>
            <p:cNvPr id="63500" name="Rectangle 11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01" name="Rectangle 12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02" name="Rectangle 13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3495" name="AutoShape 15"/>
          <p:cNvSpPr/>
          <p:nvPr/>
        </p:nvSpPr>
        <p:spPr>
          <a:xfrm>
            <a:off x="768350" y="4654550"/>
            <a:ext cx="1663700" cy="215900"/>
          </a:xfrm>
          <a:prstGeom prst="roundRect">
            <a:avLst>
              <a:gd name="adj" fmla="val 12495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6" name="Rectangle 16"/>
          <p:cNvSpPr/>
          <p:nvPr/>
        </p:nvSpPr>
        <p:spPr>
          <a:xfrm>
            <a:off x="1447800" y="4572000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497" name="AutoShape 18"/>
          <p:cNvSpPr/>
          <p:nvPr/>
        </p:nvSpPr>
        <p:spPr>
          <a:xfrm>
            <a:off x="768350" y="1835150"/>
            <a:ext cx="1663700" cy="2806700"/>
          </a:xfrm>
          <a:prstGeom prst="triangle">
            <a:avLst>
              <a:gd name="adj" fmla="val 49995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6" name="Rectangle 20"/>
          <p:cNvSpPr>
            <a:spLocks noGrp="1"/>
          </p:cNvSpPr>
          <p:nvPr>
            <p:ph type="body" idx="4294967295"/>
          </p:nvPr>
        </p:nvSpPr>
        <p:spPr>
          <a:xfrm>
            <a:off x="0" y="5613400"/>
            <a:ext cx="9067800" cy="558800"/>
          </a:xfrm>
        </p:spPr>
        <p:txBody>
          <a:bodyPr vert="horz" wrap="square" lIns="92075" tIns="46038" rIns="92075" bIns="46038" anchor="t" anchorCtr="0"/>
          <a:lstStyle/>
          <a:p>
            <a:r>
              <a:rPr lang="en-US" altLang="zh-CN" dirty="0">
                <a:solidFill>
                  <a:schemeClr val="hlink"/>
                </a:solidFill>
              </a:rPr>
              <a:t>n &gt; 1</a:t>
            </a:r>
            <a:r>
              <a:rPr lang="en-US" altLang="zh-CN" dirty="0"/>
              <a:t> disks to be moved from A to C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using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</a:rPr>
              <a:t>B</a:t>
            </a:r>
            <a:endParaRPr lang="en-US" altLang="zh-CN" dirty="0">
              <a:solidFill>
                <a:schemeClr val="hlink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move top </a:t>
            </a:r>
            <a:r>
              <a:rPr lang="en-US" altLang="zh-CN" dirty="0">
                <a:solidFill>
                  <a:schemeClr val="hlink"/>
                </a:solidFill>
              </a:rPr>
              <a:t>n-1 </a:t>
            </a:r>
            <a:r>
              <a:rPr lang="en-US" altLang="zh-CN" dirty="0">
                <a:solidFill>
                  <a:schemeClr val="bg2"/>
                </a:solidFill>
              </a:rPr>
              <a:t>disks from </a:t>
            </a:r>
            <a:r>
              <a:rPr lang="en-US" altLang="zh-CN" dirty="0"/>
              <a:t>A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to </a:t>
            </a:r>
            <a:r>
              <a:rPr lang="en-US" altLang="zh-CN" dirty="0"/>
              <a:t>B</a:t>
            </a:r>
            <a:r>
              <a:rPr lang="en-US" altLang="zh-CN" dirty="0">
                <a:solidFill>
                  <a:schemeClr val="bg2"/>
                </a:solidFill>
              </a:rPr>
              <a:t> using </a:t>
            </a:r>
            <a:r>
              <a:rPr lang="en-US" altLang="zh-CN" dirty="0">
                <a:solidFill>
                  <a:srgbClr val="FF9900"/>
                </a:solidFill>
              </a:rPr>
              <a:t>C</a:t>
            </a:r>
            <a:endParaRPr lang="en-US" altLang="zh-CN" dirty="0">
              <a:solidFill>
                <a:srgbClr val="FF9900"/>
              </a:solidFill>
            </a:endParaRPr>
          </a:p>
        </p:txBody>
      </p:sp>
      <p:sp>
        <p:nvSpPr>
          <p:cNvPr id="63499" name="Rectangle 16"/>
          <p:cNvSpPr/>
          <p:nvPr/>
        </p:nvSpPr>
        <p:spPr>
          <a:xfrm>
            <a:off x="1331913" y="3644900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n-1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855663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Recursive Solution</a:t>
            </a:r>
            <a:endParaRPr lang="en-US" altLang="zh-CN" dirty="0"/>
          </a:p>
        </p:txBody>
      </p:sp>
      <p:grpSp>
        <p:nvGrpSpPr>
          <p:cNvPr id="64515" name="Group 5"/>
          <p:cNvGrpSpPr/>
          <p:nvPr/>
        </p:nvGrpSpPr>
        <p:grpSpPr>
          <a:xfrm>
            <a:off x="692150" y="1073150"/>
            <a:ext cx="1816100" cy="4025900"/>
            <a:chOff x="436" y="676"/>
            <a:chExt cx="1144" cy="2536"/>
          </a:xfrm>
        </p:grpSpPr>
        <p:sp>
          <p:nvSpPr>
            <p:cNvPr id="64530" name="Rectangle 3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31" name="Rectangle 4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4516" name="Rectangle 6"/>
          <p:cNvSpPr/>
          <p:nvPr/>
        </p:nvSpPr>
        <p:spPr>
          <a:xfrm>
            <a:off x="1371600" y="502920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64517" name="Group 10"/>
          <p:cNvGrpSpPr/>
          <p:nvPr/>
        </p:nvGrpSpPr>
        <p:grpSpPr>
          <a:xfrm>
            <a:off x="3282950" y="1073150"/>
            <a:ext cx="1816100" cy="4475163"/>
            <a:chOff x="2068" y="676"/>
            <a:chExt cx="1144" cy="2819"/>
          </a:xfrm>
        </p:grpSpPr>
        <p:sp>
          <p:nvSpPr>
            <p:cNvPr id="64527" name="Rectangle 7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28" name="Rectangle 8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29" name="Rectangle 9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518" name="Group 14"/>
          <p:cNvGrpSpPr/>
          <p:nvPr/>
        </p:nvGrpSpPr>
        <p:grpSpPr>
          <a:xfrm>
            <a:off x="5873750" y="1073150"/>
            <a:ext cx="1816100" cy="4475163"/>
            <a:chOff x="3700" y="676"/>
            <a:chExt cx="1144" cy="2819"/>
          </a:xfrm>
        </p:grpSpPr>
        <p:sp>
          <p:nvSpPr>
            <p:cNvPr id="64524" name="Rectangle 11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25" name="Rectangle 12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26" name="Rectangle 13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519" name="Group 17"/>
          <p:cNvGrpSpPr/>
          <p:nvPr/>
        </p:nvGrpSpPr>
        <p:grpSpPr>
          <a:xfrm>
            <a:off x="768350" y="4572000"/>
            <a:ext cx="1663700" cy="396875"/>
            <a:chOff x="484" y="2880"/>
            <a:chExt cx="1048" cy="250"/>
          </a:xfrm>
        </p:grpSpPr>
        <p:sp>
          <p:nvSpPr>
            <p:cNvPr id="64522" name="AutoShape 15"/>
            <p:cNvSpPr/>
            <p:nvPr/>
          </p:nvSpPr>
          <p:spPr>
            <a:xfrm>
              <a:off x="484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23" name="Rectangle 16"/>
            <p:cNvSpPr/>
            <p:nvPr/>
          </p:nvSpPr>
          <p:spPr>
            <a:xfrm>
              <a:off x="912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4520" name="AutoShape 18"/>
          <p:cNvSpPr/>
          <p:nvPr/>
        </p:nvSpPr>
        <p:spPr>
          <a:xfrm>
            <a:off x="3505200" y="2063750"/>
            <a:ext cx="1377950" cy="2806700"/>
          </a:xfrm>
          <a:prstGeom prst="triangle">
            <a:avLst>
              <a:gd name="adj" fmla="val 49995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9" name="Rectangle 19"/>
          <p:cNvSpPr>
            <a:spLocks noGrp="1"/>
          </p:cNvSpPr>
          <p:nvPr>
            <p:ph type="body" idx="4294967295"/>
          </p:nvPr>
        </p:nvSpPr>
        <p:spPr>
          <a:xfrm>
            <a:off x="0" y="5613400"/>
            <a:ext cx="9067800" cy="558800"/>
          </a:xfrm>
        </p:spPr>
        <p:txBody>
          <a:bodyPr vert="horz" wrap="square" lIns="92075" tIns="46038" rIns="92075" bIns="46038" anchor="t" anchorCtr="0"/>
          <a:lstStyle/>
          <a:p>
            <a:r>
              <a:rPr lang="en-US" altLang="zh-CN" dirty="0">
                <a:solidFill>
                  <a:schemeClr val="bg2"/>
                </a:solidFill>
              </a:rPr>
              <a:t>move disk 1 from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en-US" altLang="zh-CN" dirty="0"/>
              <a:t>A </a:t>
            </a:r>
            <a:r>
              <a:rPr lang="en-US" altLang="zh-CN" dirty="0">
                <a:solidFill>
                  <a:schemeClr val="bg2"/>
                </a:solidFill>
              </a:rPr>
              <a:t>to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en-US" altLang="zh-CN" dirty="0"/>
              <a:t>C using B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9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92075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Recursive Solution</a:t>
            </a:r>
            <a:endParaRPr lang="en-US" altLang="zh-CN" dirty="0"/>
          </a:p>
        </p:txBody>
      </p:sp>
      <p:grpSp>
        <p:nvGrpSpPr>
          <p:cNvPr id="65539" name="Group 5"/>
          <p:cNvGrpSpPr/>
          <p:nvPr/>
        </p:nvGrpSpPr>
        <p:grpSpPr>
          <a:xfrm>
            <a:off x="692150" y="1073150"/>
            <a:ext cx="1816100" cy="4025900"/>
            <a:chOff x="436" y="676"/>
            <a:chExt cx="1144" cy="2536"/>
          </a:xfrm>
        </p:grpSpPr>
        <p:sp>
          <p:nvSpPr>
            <p:cNvPr id="65554" name="Rectangle 3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5" name="Rectangle 4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5540" name="Rectangle 6"/>
          <p:cNvSpPr/>
          <p:nvPr/>
        </p:nvSpPr>
        <p:spPr>
          <a:xfrm>
            <a:off x="1371600" y="502920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65541" name="Group 10"/>
          <p:cNvGrpSpPr/>
          <p:nvPr/>
        </p:nvGrpSpPr>
        <p:grpSpPr>
          <a:xfrm>
            <a:off x="3282950" y="1073150"/>
            <a:ext cx="1816100" cy="4475163"/>
            <a:chOff x="2068" y="676"/>
            <a:chExt cx="1144" cy="2819"/>
          </a:xfrm>
        </p:grpSpPr>
        <p:sp>
          <p:nvSpPr>
            <p:cNvPr id="65551" name="Rectangle 7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2" name="Rectangle 8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3" name="Rectangle 9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542" name="Group 14"/>
          <p:cNvGrpSpPr/>
          <p:nvPr/>
        </p:nvGrpSpPr>
        <p:grpSpPr>
          <a:xfrm>
            <a:off x="5873750" y="1073150"/>
            <a:ext cx="1816100" cy="4475163"/>
            <a:chOff x="3700" y="676"/>
            <a:chExt cx="1144" cy="2819"/>
          </a:xfrm>
        </p:grpSpPr>
        <p:sp>
          <p:nvSpPr>
            <p:cNvPr id="65548" name="Rectangle 11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49" name="Rectangle 12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0" name="Rectangle 13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543" name="Group 17"/>
          <p:cNvGrpSpPr/>
          <p:nvPr/>
        </p:nvGrpSpPr>
        <p:grpSpPr>
          <a:xfrm>
            <a:off x="5949950" y="4572000"/>
            <a:ext cx="1663700" cy="396875"/>
            <a:chOff x="3748" y="2880"/>
            <a:chExt cx="1048" cy="250"/>
          </a:xfrm>
        </p:grpSpPr>
        <p:sp>
          <p:nvSpPr>
            <p:cNvPr id="65546" name="AutoShape 15"/>
            <p:cNvSpPr/>
            <p:nvPr/>
          </p:nvSpPr>
          <p:spPr>
            <a:xfrm>
              <a:off x="3748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47" name="Rectangle 16"/>
            <p:cNvSpPr/>
            <p:nvPr/>
          </p:nvSpPr>
          <p:spPr>
            <a:xfrm>
              <a:off x="4176" y="28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5544" name="AutoShape 18"/>
          <p:cNvSpPr/>
          <p:nvPr/>
        </p:nvSpPr>
        <p:spPr>
          <a:xfrm>
            <a:off x="3587750" y="2063750"/>
            <a:ext cx="1206500" cy="2806700"/>
          </a:xfrm>
          <a:prstGeom prst="triangle">
            <a:avLst>
              <a:gd name="adj" fmla="val 49995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3" name="Rectangle 19"/>
          <p:cNvSpPr>
            <a:spLocks noGrp="1"/>
          </p:cNvSpPr>
          <p:nvPr>
            <p:ph type="body" idx="4294967295"/>
          </p:nvPr>
        </p:nvSpPr>
        <p:spPr>
          <a:xfrm>
            <a:off x="0" y="5613400"/>
            <a:ext cx="9067800" cy="558800"/>
          </a:xfrm>
        </p:spPr>
        <p:txBody>
          <a:bodyPr vert="horz" wrap="square" lIns="92075" tIns="46038" rIns="92075" bIns="46038" anchor="t" anchorCtr="0"/>
          <a:lstStyle/>
          <a:p>
            <a:r>
              <a:rPr lang="en-US" altLang="zh-CN" dirty="0">
                <a:solidFill>
                  <a:schemeClr val="bg2"/>
                </a:solidFill>
              </a:rPr>
              <a:t>move top </a:t>
            </a:r>
            <a:r>
              <a:rPr lang="en-US" altLang="zh-CN" dirty="0">
                <a:solidFill>
                  <a:schemeClr val="hlink"/>
                </a:solidFill>
              </a:rPr>
              <a:t>n-1 </a:t>
            </a:r>
            <a:r>
              <a:rPr lang="en-US" altLang="zh-CN" dirty="0">
                <a:solidFill>
                  <a:schemeClr val="bg2"/>
                </a:solidFill>
              </a:rPr>
              <a:t>disks from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en-US" altLang="zh-CN" dirty="0"/>
              <a:t>B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to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en-US" altLang="zh-CN" dirty="0"/>
              <a:t>C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en-US" altLang="zh-CN" dirty="0"/>
              <a:t>using A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920750"/>
          </a:xfrm>
        </p:spPr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Recursive Solution</a:t>
            </a:r>
            <a:endParaRPr lang="en-US" altLang="zh-CN" dirty="0"/>
          </a:p>
        </p:txBody>
      </p:sp>
      <p:grpSp>
        <p:nvGrpSpPr>
          <p:cNvPr id="66563" name="Group 5"/>
          <p:cNvGrpSpPr/>
          <p:nvPr/>
        </p:nvGrpSpPr>
        <p:grpSpPr>
          <a:xfrm>
            <a:off x="692150" y="1447800"/>
            <a:ext cx="1816100" cy="2819400"/>
            <a:chOff x="436" y="676"/>
            <a:chExt cx="1144" cy="2536"/>
          </a:xfrm>
        </p:grpSpPr>
        <p:sp>
          <p:nvSpPr>
            <p:cNvPr id="66578" name="Rectangle 3"/>
            <p:cNvSpPr/>
            <p:nvPr/>
          </p:nvSpPr>
          <p:spPr>
            <a:xfrm>
              <a:off x="436" y="3076"/>
              <a:ext cx="1144" cy="13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79" name="Rectangle 4"/>
            <p:cNvSpPr/>
            <p:nvPr/>
          </p:nvSpPr>
          <p:spPr>
            <a:xfrm>
              <a:off x="916" y="676"/>
              <a:ext cx="136" cy="239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6564" name="Rectangle 6"/>
          <p:cNvSpPr/>
          <p:nvPr/>
        </p:nvSpPr>
        <p:spPr>
          <a:xfrm>
            <a:off x="1371600" y="4278313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66565" name="Group 10"/>
          <p:cNvGrpSpPr/>
          <p:nvPr/>
        </p:nvGrpSpPr>
        <p:grpSpPr>
          <a:xfrm>
            <a:off x="3282950" y="1447800"/>
            <a:ext cx="1816100" cy="3206750"/>
            <a:chOff x="2068" y="676"/>
            <a:chExt cx="1144" cy="2819"/>
          </a:xfrm>
        </p:grpSpPr>
        <p:sp>
          <p:nvSpPr>
            <p:cNvPr id="66575" name="Rectangle 7"/>
            <p:cNvSpPr/>
            <p:nvPr/>
          </p:nvSpPr>
          <p:spPr>
            <a:xfrm>
              <a:off x="2068" y="3076"/>
              <a:ext cx="1144" cy="13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76" name="Rectangle 8"/>
            <p:cNvSpPr/>
            <p:nvPr/>
          </p:nvSpPr>
          <p:spPr>
            <a:xfrm>
              <a:off x="2548" y="676"/>
              <a:ext cx="136" cy="2392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77" name="Rectangle 9"/>
            <p:cNvSpPr/>
            <p:nvPr/>
          </p:nvSpPr>
          <p:spPr>
            <a:xfrm>
              <a:off x="2496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6566" name="Group 14"/>
          <p:cNvGrpSpPr/>
          <p:nvPr/>
        </p:nvGrpSpPr>
        <p:grpSpPr>
          <a:xfrm>
            <a:off x="5873750" y="1447800"/>
            <a:ext cx="1816100" cy="3206750"/>
            <a:chOff x="3700" y="676"/>
            <a:chExt cx="1144" cy="2819"/>
          </a:xfrm>
        </p:grpSpPr>
        <p:sp>
          <p:nvSpPr>
            <p:cNvPr id="66572" name="Rectangle 11"/>
            <p:cNvSpPr/>
            <p:nvPr/>
          </p:nvSpPr>
          <p:spPr>
            <a:xfrm>
              <a:off x="3700" y="3076"/>
              <a:ext cx="1144" cy="136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73" name="Rectangle 12"/>
            <p:cNvSpPr/>
            <p:nvPr/>
          </p:nvSpPr>
          <p:spPr>
            <a:xfrm>
              <a:off x="4180" y="676"/>
              <a:ext cx="136" cy="239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74" name="Rectangle 13"/>
            <p:cNvSpPr/>
            <p:nvPr/>
          </p:nvSpPr>
          <p:spPr>
            <a:xfrm>
              <a:off x="4128" y="316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6567" name="Group 17"/>
          <p:cNvGrpSpPr/>
          <p:nvPr/>
        </p:nvGrpSpPr>
        <p:grpSpPr>
          <a:xfrm>
            <a:off x="6019800" y="3810000"/>
            <a:ext cx="1454150" cy="414338"/>
            <a:chOff x="3748" y="2846"/>
            <a:chExt cx="1048" cy="250"/>
          </a:xfrm>
        </p:grpSpPr>
        <p:sp>
          <p:nvSpPr>
            <p:cNvPr id="66570" name="AutoShape 15"/>
            <p:cNvSpPr/>
            <p:nvPr/>
          </p:nvSpPr>
          <p:spPr>
            <a:xfrm>
              <a:off x="3748" y="2932"/>
              <a:ext cx="1048" cy="136"/>
            </a:xfrm>
            <a:prstGeom prst="roundRect">
              <a:avLst>
                <a:gd name="adj" fmla="val 12495"/>
              </a:avLst>
            </a:pr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71" name="Rectangle 16"/>
            <p:cNvSpPr/>
            <p:nvPr/>
          </p:nvSpPr>
          <p:spPr>
            <a:xfrm>
              <a:off x="4204" y="284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6568" name="AutoShape 18"/>
          <p:cNvSpPr/>
          <p:nvPr/>
        </p:nvSpPr>
        <p:spPr>
          <a:xfrm>
            <a:off x="6019800" y="1741488"/>
            <a:ext cx="1447800" cy="2201862"/>
          </a:xfrm>
          <a:prstGeom prst="triangle">
            <a:avLst>
              <a:gd name="adj" fmla="val 49995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7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0" y="5029200"/>
            <a:ext cx="9144000" cy="623888"/>
          </a:xfrm>
        </p:spPr>
        <p:txBody>
          <a:bodyPr vert="horz" wrap="square" lIns="92075" tIns="46038" rIns="92075" bIns="46038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Hanoi(n) = 1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= 1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Hanoi(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n,A,B,C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Hanoi(n-1,A,C,B)+Hanoi(1,A,B,C)+Hanoi(n-1,B,A,C), n&gt;1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7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2075" tIns="46038" rIns="92075" bIns="46038" anchor="b" anchorCtr="0"/>
          <a:lstStyle/>
          <a:p>
            <a:r>
              <a:rPr lang="en-US" altLang="zh-CN" dirty="0"/>
              <a:t>Towers Of Hanoi/Brahma</a:t>
            </a:r>
            <a:endParaRPr lang="en-US" altLang="zh-CN" dirty="0"/>
          </a:p>
        </p:txBody>
      </p:sp>
      <p:sp>
        <p:nvSpPr>
          <p:cNvPr id="60435" name="Rectangle 19"/>
          <p:cNvSpPr>
            <a:spLocks noGrp="1"/>
          </p:cNvSpPr>
          <p:nvPr>
            <p:ph type="body" idx="4294967295"/>
          </p:nvPr>
        </p:nvSpPr>
        <p:spPr>
          <a:xfrm>
            <a:off x="76200" y="1905000"/>
            <a:ext cx="9067800" cy="2316163"/>
          </a:xfrm>
        </p:spPr>
        <p:txBody>
          <a:bodyPr vert="horz" wrap="square" lIns="92075" tIns="46038" rIns="92075" bIns="46038" anchor="t" anchorCtr="0"/>
          <a:lstStyle/>
          <a:p>
            <a:r>
              <a:rPr lang="en-US" altLang="zh-CN" dirty="0"/>
              <a:t>H(n) = 2*H(n-1)+1</a:t>
            </a:r>
            <a:endParaRPr lang="en-US" altLang="zh-CN" dirty="0"/>
          </a:p>
          <a:p>
            <a:endParaRPr lang="en-US" altLang="zh-CN" dirty="0">
              <a:solidFill>
                <a:schemeClr val="hlink"/>
              </a:solidFill>
            </a:endParaRPr>
          </a:p>
          <a:p>
            <a:r>
              <a:rPr lang="en-US" altLang="zh-CN" dirty="0">
                <a:solidFill>
                  <a:schemeClr val="hlink"/>
                </a:solidFill>
              </a:rPr>
              <a:t>H(64) = 2</a:t>
            </a:r>
            <a:r>
              <a:rPr lang="en-US" altLang="zh-CN" baseline="30000" dirty="0">
                <a:solidFill>
                  <a:schemeClr val="hlink"/>
                </a:solidFill>
              </a:rPr>
              <a:t>64</a:t>
            </a:r>
            <a:r>
              <a:rPr lang="en-US" altLang="zh-CN" dirty="0">
                <a:solidFill>
                  <a:schemeClr val="hlink"/>
                </a:solidFill>
              </a:rPr>
              <a:t>-1 </a:t>
            </a:r>
            <a:r>
              <a:rPr lang="en-US" altLang="zh-CN" dirty="0"/>
              <a:t>moves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endParaRPr lang="en-US" altLang="zh-CN" dirty="0">
              <a:solidFill>
                <a:schemeClr val="hlink"/>
              </a:solidFill>
            </a:endParaRPr>
          </a:p>
          <a:p>
            <a:endParaRPr lang="en-US" altLang="zh-CN" dirty="0">
              <a:solidFill>
                <a:schemeClr val="hlink"/>
              </a:solidFill>
            </a:endParaRPr>
          </a:p>
          <a:p>
            <a:r>
              <a:rPr lang="en-US" altLang="zh-CN" dirty="0"/>
              <a:t>Performing</a:t>
            </a:r>
            <a:r>
              <a:rPr lang="en-US" altLang="zh-CN" dirty="0">
                <a:solidFill>
                  <a:schemeClr val="hlink"/>
                </a:solidFill>
              </a:rPr>
              <a:t> 1</a:t>
            </a:r>
            <a:r>
              <a:rPr lang="en-US" altLang="zh-CN" baseline="30000" dirty="0">
                <a:solidFill>
                  <a:schemeClr val="hlink"/>
                </a:solidFill>
              </a:rPr>
              <a:t> </a:t>
            </a:r>
            <a:r>
              <a:rPr lang="en-US" altLang="zh-CN" dirty="0"/>
              <a:t>move/second, would take about</a:t>
            </a:r>
            <a:r>
              <a:rPr lang="en-US" altLang="zh-CN" dirty="0">
                <a:solidFill>
                  <a:schemeClr val="hlink"/>
                </a:solidFill>
              </a:rPr>
              <a:t> 585 billion years </a:t>
            </a:r>
            <a:r>
              <a:rPr lang="en-US" altLang="zh-CN" dirty="0"/>
              <a:t>to complete.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5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960438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b="1" dirty="0"/>
              <a:t>Binary Search</a:t>
            </a:r>
            <a:endParaRPr lang="en-US" altLang="zh-CN" sz="4000" b="1" dirty="0"/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Input: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 sorted array X[ ] of size n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 value b to be searched for in X[ ]</a:t>
            </a:r>
            <a:endParaRPr lang="en-US" altLang="zh-CN" dirty="0"/>
          </a:p>
          <a:p>
            <a:pPr eaLnBrk="1" hangingPunct="1"/>
            <a:r>
              <a:rPr lang="en-US" altLang="zh-CN" dirty="0"/>
              <a:t>Output: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If b is found, the index k where X[k]=b is returned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If b is not found, return -1</a:t>
            </a:r>
            <a:endParaRPr lang="en-US" altLang="zh-CN" dirty="0"/>
          </a:p>
          <a:p>
            <a:pPr eaLnBrk="1" hangingPunct="1"/>
            <a:r>
              <a:rPr lang="en-US" altLang="zh-CN" dirty="0"/>
              <a:t>Definition: </a:t>
            </a:r>
            <a:r>
              <a:rPr lang="en-US" altLang="zh-CN" sz="2800" dirty="0"/>
              <a:t>An X[ ] is said to be </a:t>
            </a:r>
            <a:r>
              <a:rPr lang="en-US" altLang="zh-CN" sz="2800" i="1" dirty="0"/>
              <a:t>sorted</a:t>
            </a:r>
            <a:r>
              <a:rPr lang="en-US" altLang="zh-CN" sz="2800" dirty="0"/>
              <a:t> if: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2800" dirty="0"/>
              <a:t>	X[0] ≤ X[1] ≤ X[2] ≤ 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/>
              <a:t> ≤ X[n-1] 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85407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b="1" dirty="0"/>
              <a:t>Binary Search: Method</a:t>
            </a:r>
            <a:endParaRPr lang="en-US" altLang="zh-CN" sz="4000" b="1" dirty="0"/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7244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The method is recursive: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Compare b with the middle value X[</a:t>
            </a:r>
            <a:r>
              <a:rPr lang="en-US" altLang="zh-CN" sz="2800" i="1" dirty="0"/>
              <a:t>mid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If b = X[</a:t>
            </a:r>
            <a:r>
              <a:rPr lang="en-US" altLang="zh-CN" sz="2800" i="1" dirty="0"/>
              <a:t>mid</a:t>
            </a:r>
            <a:r>
              <a:rPr lang="en-US" altLang="zh-CN" sz="2800" dirty="0"/>
              <a:t>], return </a:t>
            </a:r>
            <a:r>
              <a:rPr lang="en-US" altLang="zh-CN" sz="2800" i="1" dirty="0"/>
              <a:t>mid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If b &lt; X[</a:t>
            </a:r>
            <a:r>
              <a:rPr lang="en-US" altLang="zh-CN" sz="2800" i="1" dirty="0"/>
              <a:t>mid</a:t>
            </a:r>
            <a:r>
              <a:rPr lang="en-US" altLang="zh-CN" sz="2800" dirty="0"/>
              <a:t>], then b can only be in the left half of X[</a:t>
            </a:r>
            <a:r>
              <a:rPr lang="en-US" altLang="zh-CN" sz="2800" dirty="0">
                <a:solidFill>
                  <a:srgbClr val="FF0000"/>
                </a:solidFill>
              </a:rPr>
              <a:t>left..mid</a:t>
            </a:r>
            <a:r>
              <a:rPr lang="en-US" altLang="zh-CN" sz="2800" dirty="0"/>
              <a:t>], because X[ ] is sorted. So call the function recursively on the left half.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If b &gt; X[</a:t>
            </a:r>
            <a:r>
              <a:rPr lang="en-US" altLang="zh-CN" sz="2800" i="1" dirty="0"/>
              <a:t>mid</a:t>
            </a:r>
            <a:r>
              <a:rPr lang="en-US" altLang="zh-CN" sz="2800" dirty="0"/>
              <a:t>], then b can only be in the right half of X[</a:t>
            </a:r>
            <a:r>
              <a:rPr lang="en-US" altLang="zh-CN" sz="2800" dirty="0">
                <a:solidFill>
                  <a:srgbClr val="FF0000"/>
                </a:solidFill>
              </a:rPr>
              <a:t>mid+1..right</a:t>
            </a:r>
            <a:r>
              <a:rPr lang="en-US" altLang="zh-CN" sz="2800" dirty="0"/>
              <a:t>], because X[ ] is sorted. So call the function recursively on the right half.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b="1" dirty="0"/>
              <a:t>Illustration of Binary search</a:t>
            </a:r>
            <a:endParaRPr lang="en-US" altLang="zh-CN" sz="4000" b="1" dirty="0"/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4953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/>
              <a:t>X[12]: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Search for b=12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i="1" dirty="0"/>
              <a:t>mid</a:t>
            </a:r>
            <a:r>
              <a:rPr lang="en-US" altLang="zh-CN" sz="2400" dirty="0"/>
              <a:t> = (0+11)/2 = 5. Compare b with X[5]: 12&lt;20.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So search in left half X[0..5]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endParaRPr lang="en-US" altLang="zh-CN" sz="2400" i="1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i="1" dirty="0"/>
              <a:t>mid</a:t>
            </a:r>
            <a:r>
              <a:rPr lang="en-US" altLang="zh-CN" sz="2400" dirty="0"/>
              <a:t> = (0+5)/2 = 2. Compare b with X[2]: 12 &gt; 7.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So search right half X[3..5]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i="1" dirty="0"/>
              <a:t>mid</a:t>
            </a:r>
            <a:r>
              <a:rPr lang="en-US" altLang="zh-CN" sz="2400" dirty="0"/>
              <a:t> = (3+5)/2 = 4.Compare b with X[4]: 12&lt;15.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So search left half X[3..4]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i="1" dirty="0"/>
              <a:t>mid</a:t>
            </a:r>
            <a:r>
              <a:rPr lang="en-US" altLang="zh-CN" sz="2400" dirty="0"/>
              <a:t> = (3+4)/2 = 3.Compare b with X[3]: b=X[3]=12.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Return 3.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/>
          </a:p>
        </p:txBody>
      </p:sp>
      <p:grpSp>
        <p:nvGrpSpPr>
          <p:cNvPr id="72708" name="Group 4"/>
          <p:cNvGrpSpPr/>
          <p:nvPr/>
        </p:nvGrpSpPr>
        <p:grpSpPr>
          <a:xfrm>
            <a:off x="2514600" y="1143000"/>
            <a:ext cx="6629400" cy="762000"/>
            <a:chOff x="1056" y="1248"/>
            <a:chExt cx="4128" cy="480"/>
          </a:xfrm>
        </p:grpSpPr>
        <p:sp>
          <p:nvSpPr>
            <p:cNvPr id="72769" name="Text Box 5"/>
            <p:cNvSpPr txBox="1"/>
            <p:nvPr/>
          </p:nvSpPr>
          <p:spPr>
            <a:xfrm>
              <a:off x="115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0" name="Text Box 6"/>
            <p:cNvSpPr txBox="1"/>
            <p:nvPr/>
          </p:nvSpPr>
          <p:spPr>
            <a:xfrm>
              <a:off x="211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2771" name="Group 7"/>
            <p:cNvGrpSpPr/>
            <p:nvPr/>
          </p:nvGrpSpPr>
          <p:grpSpPr>
            <a:xfrm>
              <a:off x="1056" y="1248"/>
              <a:ext cx="3984" cy="480"/>
              <a:chOff x="1056" y="1248"/>
              <a:chExt cx="3984" cy="480"/>
            </a:xfrm>
          </p:grpSpPr>
          <p:grpSp>
            <p:nvGrpSpPr>
              <p:cNvPr id="72781" name="Group 8"/>
              <p:cNvGrpSpPr/>
              <p:nvPr/>
            </p:nvGrpSpPr>
            <p:grpSpPr>
              <a:xfrm>
                <a:off x="2400" y="1248"/>
                <a:ext cx="2640" cy="240"/>
                <a:chOff x="2400" y="1248"/>
                <a:chExt cx="2640" cy="240"/>
              </a:xfrm>
            </p:grpSpPr>
            <p:sp>
              <p:nvSpPr>
                <p:cNvPr id="72788" name="Rectangle 9"/>
                <p:cNvSpPr/>
                <p:nvPr/>
              </p:nvSpPr>
              <p:spPr>
                <a:xfrm>
                  <a:off x="2400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89" name="Rectangle 10"/>
                <p:cNvSpPr/>
                <p:nvPr/>
              </p:nvSpPr>
              <p:spPr>
                <a:xfrm>
                  <a:off x="2736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0" name="Rectangle 11"/>
                <p:cNvSpPr/>
                <p:nvPr/>
              </p:nvSpPr>
              <p:spPr>
                <a:xfrm>
                  <a:off x="3072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1" name="Rectangle 12"/>
                <p:cNvSpPr/>
                <p:nvPr/>
              </p:nvSpPr>
              <p:spPr>
                <a:xfrm>
                  <a:off x="3408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2" name="Rectangle 13"/>
                <p:cNvSpPr/>
                <p:nvPr/>
              </p:nvSpPr>
              <p:spPr>
                <a:xfrm>
                  <a:off x="3744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35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3" name="Rectangle 14"/>
                <p:cNvSpPr/>
                <p:nvPr/>
              </p:nvSpPr>
              <p:spPr>
                <a:xfrm>
                  <a:off x="4080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4" name="Rectangle 15"/>
                <p:cNvSpPr/>
                <p:nvPr/>
              </p:nvSpPr>
              <p:spPr>
                <a:xfrm>
                  <a:off x="4416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5" name="Rectangle 16"/>
                <p:cNvSpPr/>
                <p:nvPr/>
              </p:nvSpPr>
              <p:spPr>
                <a:xfrm>
                  <a:off x="4704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60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82" name="Group 17"/>
              <p:cNvGrpSpPr/>
              <p:nvPr/>
            </p:nvGrpSpPr>
            <p:grpSpPr>
              <a:xfrm>
                <a:off x="1056" y="1248"/>
                <a:ext cx="1344" cy="480"/>
                <a:chOff x="1056" y="1248"/>
                <a:chExt cx="1344" cy="480"/>
              </a:xfrm>
            </p:grpSpPr>
            <p:sp>
              <p:nvSpPr>
                <p:cNvPr id="72783" name="Rectangle 18"/>
                <p:cNvSpPr/>
                <p:nvPr/>
              </p:nvSpPr>
              <p:spPr>
                <a:xfrm>
                  <a:off x="1056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84" name="Rectangle 19"/>
                <p:cNvSpPr/>
                <p:nvPr/>
              </p:nvSpPr>
              <p:spPr>
                <a:xfrm>
                  <a:off x="1392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85" name="Rectangle 20"/>
                <p:cNvSpPr/>
                <p:nvPr/>
              </p:nvSpPr>
              <p:spPr>
                <a:xfrm>
                  <a:off x="1728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86" name="Rectangle 21"/>
                <p:cNvSpPr/>
                <p:nvPr/>
              </p:nvSpPr>
              <p:spPr>
                <a:xfrm>
                  <a:off x="2064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12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87" name="Text Box 22"/>
                <p:cNvSpPr txBox="1"/>
                <p:nvPr/>
              </p:nvSpPr>
              <p:spPr>
                <a:xfrm>
                  <a:off x="1488" y="1440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2772" name="Text Box 23"/>
            <p:cNvSpPr txBox="1"/>
            <p:nvPr/>
          </p:nvSpPr>
          <p:spPr>
            <a:xfrm>
              <a:off x="249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3" name="Text Box 24"/>
            <p:cNvSpPr txBox="1"/>
            <p:nvPr/>
          </p:nvSpPr>
          <p:spPr>
            <a:xfrm>
              <a:off x="177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4" name="Text Box 25"/>
            <p:cNvSpPr txBox="1"/>
            <p:nvPr/>
          </p:nvSpPr>
          <p:spPr>
            <a:xfrm>
              <a:off x="3120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5" name="Text Box 26"/>
            <p:cNvSpPr txBox="1"/>
            <p:nvPr/>
          </p:nvSpPr>
          <p:spPr>
            <a:xfrm>
              <a:off x="283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6" name="Text Box 27"/>
            <p:cNvSpPr txBox="1"/>
            <p:nvPr/>
          </p:nvSpPr>
          <p:spPr>
            <a:xfrm>
              <a:off x="379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7" name="Text Box 28"/>
            <p:cNvSpPr txBox="1"/>
            <p:nvPr/>
          </p:nvSpPr>
          <p:spPr>
            <a:xfrm>
              <a:off x="345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8" name="Text Box 29"/>
            <p:cNvSpPr txBox="1"/>
            <p:nvPr/>
          </p:nvSpPr>
          <p:spPr>
            <a:xfrm>
              <a:off x="4416" y="144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9" name="Text Box 30"/>
            <p:cNvSpPr txBox="1"/>
            <p:nvPr/>
          </p:nvSpPr>
          <p:spPr>
            <a:xfrm>
              <a:off x="4128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80" name="Text Box 31"/>
            <p:cNvSpPr txBox="1"/>
            <p:nvPr/>
          </p:nvSpPr>
          <p:spPr>
            <a:xfrm>
              <a:off x="4752" y="1440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32"/>
          <p:cNvGrpSpPr/>
          <p:nvPr/>
        </p:nvGrpSpPr>
        <p:grpSpPr>
          <a:xfrm>
            <a:off x="2286000" y="2971800"/>
            <a:ext cx="6553200" cy="762000"/>
            <a:chOff x="1056" y="1248"/>
            <a:chExt cx="4128" cy="480"/>
          </a:xfrm>
        </p:grpSpPr>
        <p:sp>
          <p:nvSpPr>
            <p:cNvPr id="72742" name="Text Box 33"/>
            <p:cNvSpPr txBox="1"/>
            <p:nvPr/>
          </p:nvSpPr>
          <p:spPr>
            <a:xfrm>
              <a:off x="115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43" name="Text Box 34"/>
            <p:cNvSpPr txBox="1"/>
            <p:nvPr/>
          </p:nvSpPr>
          <p:spPr>
            <a:xfrm>
              <a:off x="211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2744" name="Group 35"/>
            <p:cNvGrpSpPr/>
            <p:nvPr/>
          </p:nvGrpSpPr>
          <p:grpSpPr>
            <a:xfrm>
              <a:off x="1056" y="1248"/>
              <a:ext cx="4028" cy="480"/>
              <a:chOff x="1056" y="1248"/>
              <a:chExt cx="4028" cy="480"/>
            </a:xfrm>
          </p:grpSpPr>
          <p:grpSp>
            <p:nvGrpSpPr>
              <p:cNvPr id="72754" name="Group 36"/>
              <p:cNvGrpSpPr/>
              <p:nvPr/>
            </p:nvGrpSpPr>
            <p:grpSpPr>
              <a:xfrm>
                <a:off x="2400" y="1248"/>
                <a:ext cx="2684" cy="240"/>
                <a:chOff x="2400" y="1248"/>
                <a:chExt cx="2684" cy="240"/>
              </a:xfrm>
            </p:grpSpPr>
            <p:sp>
              <p:nvSpPr>
                <p:cNvPr id="72761" name="Rectangle 37"/>
                <p:cNvSpPr/>
                <p:nvPr/>
              </p:nvSpPr>
              <p:spPr>
                <a:xfrm>
                  <a:off x="2400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306" name="Rectangle 38"/>
                <p:cNvSpPr>
                  <a:spLocks noChangeArrowheads="1"/>
                </p:cNvSpPr>
                <p:nvPr/>
              </p:nvSpPr>
              <p:spPr bwMode="auto">
                <a:xfrm>
                  <a:off x="2736" y="1248"/>
                  <a:ext cx="336" cy="2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20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763" name="Rectangle 39"/>
                <p:cNvSpPr/>
                <p:nvPr/>
              </p:nvSpPr>
              <p:spPr>
                <a:xfrm>
                  <a:off x="3072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4" name="Rectangle 40"/>
                <p:cNvSpPr/>
                <p:nvPr/>
              </p:nvSpPr>
              <p:spPr>
                <a:xfrm>
                  <a:off x="3408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5" name="Rectangle 41"/>
                <p:cNvSpPr/>
                <p:nvPr/>
              </p:nvSpPr>
              <p:spPr>
                <a:xfrm>
                  <a:off x="3744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35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6" name="Rectangle 42"/>
                <p:cNvSpPr/>
                <p:nvPr/>
              </p:nvSpPr>
              <p:spPr>
                <a:xfrm>
                  <a:off x="4080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7" name="Rectangle 43"/>
                <p:cNvSpPr/>
                <p:nvPr/>
              </p:nvSpPr>
              <p:spPr>
                <a:xfrm>
                  <a:off x="4416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8" name="Rectangle 44"/>
                <p:cNvSpPr/>
                <p:nvPr/>
              </p:nvSpPr>
              <p:spPr>
                <a:xfrm>
                  <a:off x="4748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60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55" name="Group 45"/>
              <p:cNvGrpSpPr/>
              <p:nvPr/>
            </p:nvGrpSpPr>
            <p:grpSpPr>
              <a:xfrm>
                <a:off x="1056" y="1248"/>
                <a:ext cx="1344" cy="480"/>
                <a:chOff x="1056" y="1248"/>
                <a:chExt cx="1344" cy="480"/>
              </a:xfrm>
            </p:grpSpPr>
            <p:sp>
              <p:nvSpPr>
                <p:cNvPr id="72756" name="Rectangle 46"/>
                <p:cNvSpPr/>
                <p:nvPr/>
              </p:nvSpPr>
              <p:spPr>
                <a:xfrm>
                  <a:off x="1056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57" name="Rectangle 47"/>
                <p:cNvSpPr/>
                <p:nvPr/>
              </p:nvSpPr>
              <p:spPr>
                <a:xfrm>
                  <a:off x="1392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58" name="Rectangle 48"/>
                <p:cNvSpPr/>
                <p:nvPr/>
              </p:nvSpPr>
              <p:spPr>
                <a:xfrm>
                  <a:off x="1728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59" name="Rectangle 49"/>
                <p:cNvSpPr/>
                <p:nvPr/>
              </p:nvSpPr>
              <p:spPr>
                <a:xfrm>
                  <a:off x="2064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12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0" name="Text Box 50"/>
                <p:cNvSpPr txBox="1"/>
                <p:nvPr/>
              </p:nvSpPr>
              <p:spPr>
                <a:xfrm>
                  <a:off x="1488" y="1440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2745" name="Text Box 51"/>
            <p:cNvSpPr txBox="1"/>
            <p:nvPr/>
          </p:nvSpPr>
          <p:spPr>
            <a:xfrm>
              <a:off x="249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46" name="Text Box 52"/>
            <p:cNvSpPr txBox="1"/>
            <p:nvPr/>
          </p:nvSpPr>
          <p:spPr>
            <a:xfrm>
              <a:off x="177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47" name="Text Box 53"/>
            <p:cNvSpPr txBox="1"/>
            <p:nvPr/>
          </p:nvSpPr>
          <p:spPr>
            <a:xfrm>
              <a:off x="3120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48" name="Text Box 54"/>
            <p:cNvSpPr txBox="1"/>
            <p:nvPr/>
          </p:nvSpPr>
          <p:spPr>
            <a:xfrm>
              <a:off x="283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49" name="Text Box 55"/>
            <p:cNvSpPr txBox="1"/>
            <p:nvPr/>
          </p:nvSpPr>
          <p:spPr>
            <a:xfrm>
              <a:off x="379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50" name="Text Box 56"/>
            <p:cNvSpPr txBox="1"/>
            <p:nvPr/>
          </p:nvSpPr>
          <p:spPr>
            <a:xfrm>
              <a:off x="345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51" name="Text Box 57"/>
            <p:cNvSpPr txBox="1"/>
            <p:nvPr/>
          </p:nvSpPr>
          <p:spPr>
            <a:xfrm>
              <a:off x="4416" y="144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52" name="Text Box 58"/>
            <p:cNvSpPr txBox="1"/>
            <p:nvPr/>
          </p:nvSpPr>
          <p:spPr>
            <a:xfrm>
              <a:off x="4128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53" name="Text Box 59"/>
            <p:cNvSpPr txBox="1"/>
            <p:nvPr/>
          </p:nvSpPr>
          <p:spPr>
            <a:xfrm>
              <a:off x="4752" y="1440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60"/>
          <p:cNvGrpSpPr/>
          <p:nvPr/>
        </p:nvGrpSpPr>
        <p:grpSpPr>
          <a:xfrm>
            <a:off x="2362200" y="4419600"/>
            <a:ext cx="6553200" cy="762000"/>
            <a:chOff x="1056" y="1248"/>
            <a:chExt cx="4128" cy="480"/>
          </a:xfrm>
        </p:grpSpPr>
        <p:sp>
          <p:nvSpPr>
            <p:cNvPr id="72715" name="Text Box 61"/>
            <p:cNvSpPr txBox="1"/>
            <p:nvPr/>
          </p:nvSpPr>
          <p:spPr>
            <a:xfrm>
              <a:off x="115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16" name="Text Box 62"/>
            <p:cNvSpPr txBox="1"/>
            <p:nvPr/>
          </p:nvSpPr>
          <p:spPr>
            <a:xfrm>
              <a:off x="211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2717" name="Group 63"/>
            <p:cNvGrpSpPr/>
            <p:nvPr/>
          </p:nvGrpSpPr>
          <p:grpSpPr>
            <a:xfrm>
              <a:off x="1056" y="1248"/>
              <a:ext cx="4030" cy="480"/>
              <a:chOff x="1056" y="1248"/>
              <a:chExt cx="4030" cy="480"/>
            </a:xfrm>
          </p:grpSpPr>
          <p:grpSp>
            <p:nvGrpSpPr>
              <p:cNvPr id="72727" name="Group 64"/>
              <p:cNvGrpSpPr/>
              <p:nvPr/>
            </p:nvGrpSpPr>
            <p:grpSpPr>
              <a:xfrm>
                <a:off x="2400" y="1248"/>
                <a:ext cx="2686" cy="240"/>
                <a:chOff x="2400" y="1248"/>
                <a:chExt cx="2686" cy="240"/>
              </a:xfrm>
            </p:grpSpPr>
            <p:sp>
              <p:nvSpPr>
                <p:cNvPr id="72734" name="Rectangle 65"/>
                <p:cNvSpPr/>
                <p:nvPr/>
              </p:nvSpPr>
              <p:spPr>
                <a:xfrm>
                  <a:off x="2400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5" name="Rectangle 66"/>
                <p:cNvSpPr/>
                <p:nvPr/>
              </p:nvSpPr>
              <p:spPr>
                <a:xfrm>
                  <a:off x="2736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6" name="Rectangle 67"/>
                <p:cNvSpPr/>
                <p:nvPr/>
              </p:nvSpPr>
              <p:spPr>
                <a:xfrm>
                  <a:off x="3072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7" name="Rectangle 68"/>
                <p:cNvSpPr/>
                <p:nvPr/>
              </p:nvSpPr>
              <p:spPr>
                <a:xfrm>
                  <a:off x="3408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8" name="Rectangle 69"/>
                <p:cNvSpPr/>
                <p:nvPr/>
              </p:nvSpPr>
              <p:spPr>
                <a:xfrm>
                  <a:off x="3744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35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9" name="Rectangle 70"/>
                <p:cNvSpPr/>
                <p:nvPr/>
              </p:nvSpPr>
              <p:spPr>
                <a:xfrm>
                  <a:off x="4080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40" name="Rectangle 71"/>
                <p:cNvSpPr/>
                <p:nvPr/>
              </p:nvSpPr>
              <p:spPr>
                <a:xfrm>
                  <a:off x="4416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41" name="Rectangle 72"/>
                <p:cNvSpPr/>
                <p:nvPr/>
              </p:nvSpPr>
              <p:spPr>
                <a:xfrm>
                  <a:off x="4750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60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28" name="Group 73"/>
              <p:cNvGrpSpPr/>
              <p:nvPr/>
            </p:nvGrpSpPr>
            <p:grpSpPr>
              <a:xfrm>
                <a:off x="1056" y="1248"/>
                <a:ext cx="1344" cy="480"/>
                <a:chOff x="1056" y="1248"/>
                <a:chExt cx="1344" cy="480"/>
              </a:xfrm>
            </p:grpSpPr>
            <p:sp>
              <p:nvSpPr>
                <p:cNvPr id="72729" name="Rectangle 74"/>
                <p:cNvSpPr/>
                <p:nvPr/>
              </p:nvSpPr>
              <p:spPr>
                <a:xfrm>
                  <a:off x="1056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0" name="Rectangle 75"/>
                <p:cNvSpPr/>
                <p:nvPr/>
              </p:nvSpPr>
              <p:spPr>
                <a:xfrm>
                  <a:off x="1392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75" name="Rectangle 76"/>
                <p:cNvSpPr>
                  <a:spLocks noChangeArrowheads="1"/>
                </p:cNvSpPr>
                <p:nvPr/>
              </p:nvSpPr>
              <p:spPr bwMode="auto">
                <a:xfrm>
                  <a:off x="1728" y="1248"/>
                  <a:ext cx="336" cy="2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7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2732" name="Rectangle 77"/>
                <p:cNvSpPr/>
                <p:nvPr/>
              </p:nvSpPr>
              <p:spPr>
                <a:xfrm>
                  <a:off x="2064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12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3" name="Text Box 78"/>
                <p:cNvSpPr txBox="1"/>
                <p:nvPr/>
              </p:nvSpPr>
              <p:spPr>
                <a:xfrm>
                  <a:off x="1488" y="1440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2718" name="Text Box 79"/>
            <p:cNvSpPr txBox="1"/>
            <p:nvPr/>
          </p:nvSpPr>
          <p:spPr>
            <a:xfrm>
              <a:off x="249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19" name="Text Box 80"/>
            <p:cNvSpPr txBox="1"/>
            <p:nvPr/>
          </p:nvSpPr>
          <p:spPr>
            <a:xfrm>
              <a:off x="177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0" name="Text Box 81"/>
            <p:cNvSpPr txBox="1"/>
            <p:nvPr/>
          </p:nvSpPr>
          <p:spPr>
            <a:xfrm>
              <a:off x="3120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1" name="Text Box 82"/>
            <p:cNvSpPr txBox="1"/>
            <p:nvPr/>
          </p:nvSpPr>
          <p:spPr>
            <a:xfrm>
              <a:off x="283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2" name="Text Box 83"/>
            <p:cNvSpPr txBox="1"/>
            <p:nvPr/>
          </p:nvSpPr>
          <p:spPr>
            <a:xfrm>
              <a:off x="379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3" name="Text Box 84"/>
            <p:cNvSpPr txBox="1"/>
            <p:nvPr/>
          </p:nvSpPr>
          <p:spPr>
            <a:xfrm>
              <a:off x="345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4" name="Text Box 85"/>
            <p:cNvSpPr txBox="1"/>
            <p:nvPr/>
          </p:nvSpPr>
          <p:spPr>
            <a:xfrm>
              <a:off x="4416" y="144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5" name="Text Box 86"/>
            <p:cNvSpPr txBox="1"/>
            <p:nvPr/>
          </p:nvSpPr>
          <p:spPr>
            <a:xfrm>
              <a:off x="4128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6" name="Text Box 87"/>
            <p:cNvSpPr txBox="1"/>
            <p:nvPr/>
          </p:nvSpPr>
          <p:spPr>
            <a:xfrm>
              <a:off x="4752" y="1440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2711" name="Line 88"/>
          <p:cNvSpPr/>
          <p:nvPr/>
        </p:nvSpPr>
        <p:spPr>
          <a:xfrm>
            <a:off x="609600" y="2514600"/>
            <a:ext cx="853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12" name="Line 89"/>
          <p:cNvSpPr/>
          <p:nvPr/>
        </p:nvSpPr>
        <p:spPr>
          <a:xfrm>
            <a:off x="609600" y="3962400"/>
            <a:ext cx="853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13" name="Line 90"/>
          <p:cNvSpPr/>
          <p:nvPr/>
        </p:nvSpPr>
        <p:spPr>
          <a:xfrm>
            <a:off x="609600" y="5410200"/>
            <a:ext cx="853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14" name="Line 91"/>
          <p:cNvSpPr/>
          <p:nvPr/>
        </p:nvSpPr>
        <p:spPr>
          <a:xfrm>
            <a:off x="609600" y="5791200"/>
            <a:ext cx="853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/>
          </p:cNvSpPr>
          <p:nvPr>
            <p:ph type="title"/>
          </p:nvPr>
        </p:nvSpPr>
        <p:spPr>
          <a:xfrm>
            <a:off x="685800" y="625475"/>
            <a:ext cx="8001000" cy="74612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3600" b="1" dirty="0"/>
              <a:t>The Recursive Code of Binary Search</a:t>
            </a:r>
            <a:endParaRPr lang="en-US" altLang="zh-CN" sz="3600" b="1" dirty="0"/>
          </a:p>
        </p:txBody>
      </p:sp>
      <p:sp>
        <p:nvSpPr>
          <p:cNvPr id="86019" name="Rectangle 3"/>
          <p:cNvSpPr>
            <a:spLocks noGrp="1"/>
          </p:cNvSpPr>
          <p:nvPr>
            <p:ph idx="1"/>
          </p:nvPr>
        </p:nvSpPr>
        <p:spPr>
          <a:xfrm>
            <a:off x="685800" y="1419225"/>
            <a:ext cx="7958138" cy="47244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binarySearch(</a:t>
            </a:r>
            <a:r>
              <a:rPr lang="en-US" altLang="zh-CN" sz="2000" b="1" dirty="0">
                <a:solidFill>
                  <a:schemeClr val="accent2"/>
                </a:solidFill>
              </a:rPr>
              <a:t>double</a:t>
            </a:r>
            <a:r>
              <a:rPr lang="en-US" altLang="zh-CN" sz="2000" dirty="0"/>
              <a:t> b, </a:t>
            </a:r>
            <a:r>
              <a:rPr lang="en-US" altLang="zh-CN" sz="2000" b="1" dirty="0">
                <a:solidFill>
                  <a:schemeClr val="accent2"/>
                </a:solidFill>
              </a:rPr>
              <a:t>double </a:t>
            </a:r>
            <a:r>
              <a:rPr lang="en-US" altLang="zh-CN" sz="2000" dirty="0"/>
              <a:t>X[], </a:t>
            </a: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</a:t>
            </a:r>
            <a:r>
              <a:rPr lang="en-US" altLang="zh-CN" sz="2000" i="1" dirty="0"/>
              <a:t>left</a:t>
            </a:r>
            <a:r>
              <a:rPr lang="en-US" altLang="zh-CN" sz="2000" dirty="0"/>
              <a:t>, </a:t>
            </a: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</a:t>
            </a:r>
            <a:r>
              <a:rPr lang="en-US" altLang="zh-CN" sz="2000" i="1" dirty="0"/>
              <a:t>right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{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if</a:t>
            </a:r>
            <a:r>
              <a:rPr lang="en-US" altLang="zh-CN" sz="2000" dirty="0"/>
              <a:t> (</a:t>
            </a:r>
            <a:r>
              <a:rPr lang="en-US" altLang="zh-CN" sz="2000" i="1" dirty="0"/>
              <a:t>left</a:t>
            </a:r>
            <a:r>
              <a:rPr lang="en-US" altLang="zh-CN" sz="2000" dirty="0"/>
              <a:t> == </a:t>
            </a:r>
            <a:r>
              <a:rPr lang="en-US" altLang="zh-CN" sz="2000" i="1" dirty="0"/>
              <a:t>right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		</a:t>
            </a:r>
            <a:r>
              <a:rPr lang="en-US" altLang="zh-CN" sz="2000" b="1" dirty="0">
                <a:solidFill>
                  <a:schemeClr val="accent2"/>
                </a:solidFill>
              </a:rPr>
              <a:t>if</a:t>
            </a:r>
            <a:r>
              <a:rPr lang="en-US" altLang="zh-CN" sz="2000" dirty="0"/>
              <a:t> (b==X[</a:t>
            </a:r>
            <a:r>
              <a:rPr lang="en-US" altLang="zh-CN" sz="2000" i="1" dirty="0"/>
              <a:t>left</a:t>
            </a:r>
            <a:r>
              <a:rPr lang="en-US" altLang="zh-CN" sz="2000" dirty="0"/>
              <a:t>]) 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</a:t>
            </a:r>
            <a:r>
              <a:rPr lang="en-US" altLang="zh-CN" sz="2000" i="1" dirty="0"/>
              <a:t>left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		</a:t>
            </a:r>
            <a:r>
              <a:rPr lang="en-US" altLang="zh-CN" sz="2000" b="1" dirty="0">
                <a:solidFill>
                  <a:schemeClr val="accent2"/>
                </a:solidFill>
              </a:rPr>
              <a:t>else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-1;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int</a:t>
            </a:r>
            <a:r>
              <a:rPr lang="en-US" altLang="zh-CN" sz="2000" dirty="0"/>
              <a:t> </a:t>
            </a:r>
            <a:r>
              <a:rPr lang="en-US" altLang="zh-CN" sz="2000" i="1" dirty="0"/>
              <a:t>mid</a:t>
            </a:r>
            <a:r>
              <a:rPr lang="en-US" altLang="zh-CN" sz="2000" dirty="0"/>
              <a:t> = (</a:t>
            </a:r>
            <a:r>
              <a:rPr lang="en-US" altLang="zh-CN" sz="2000" i="1" dirty="0"/>
              <a:t>left+right</a:t>
            </a:r>
            <a:r>
              <a:rPr lang="en-US" altLang="zh-CN" sz="2000" dirty="0"/>
              <a:t>)/2;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if</a:t>
            </a:r>
            <a:r>
              <a:rPr lang="en-US" altLang="zh-CN" sz="2000" dirty="0"/>
              <a:t> (b==X[</a:t>
            </a:r>
            <a:r>
              <a:rPr lang="en-US" altLang="zh-CN" sz="2000" i="1" dirty="0"/>
              <a:t>mid</a:t>
            </a:r>
            <a:r>
              <a:rPr lang="en-US" altLang="zh-CN" sz="2000" dirty="0"/>
              <a:t>]) 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</a:t>
            </a:r>
            <a:r>
              <a:rPr lang="en-US" altLang="zh-CN" sz="2000" i="1" dirty="0"/>
              <a:t>mid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if</a:t>
            </a:r>
            <a:r>
              <a:rPr lang="en-US" altLang="zh-CN" sz="2000" dirty="0"/>
              <a:t> (b &lt; X[</a:t>
            </a:r>
            <a:r>
              <a:rPr lang="en-US" altLang="zh-CN" sz="2000" i="1" dirty="0"/>
              <a:t>mid</a:t>
            </a:r>
            <a:r>
              <a:rPr lang="en-US" altLang="zh-CN" sz="2000" dirty="0"/>
              <a:t>]) 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binarySearch (b, X, </a:t>
            </a:r>
            <a:r>
              <a:rPr lang="en-US" altLang="zh-CN" sz="2000" i="1" dirty="0"/>
              <a:t>left</a:t>
            </a:r>
            <a:r>
              <a:rPr lang="en-US" altLang="zh-CN" sz="2000" dirty="0"/>
              <a:t>, </a:t>
            </a:r>
            <a:r>
              <a:rPr lang="en-US" altLang="zh-CN" sz="2000" b="1" i="1" dirty="0">
                <a:solidFill>
                  <a:srgbClr val="FF0000"/>
                </a:solidFill>
              </a:rPr>
              <a:t>mid</a:t>
            </a:r>
            <a:r>
              <a:rPr lang="en-US" altLang="zh-CN" sz="2000" dirty="0"/>
              <a:t>);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b="1" dirty="0">
                <a:solidFill>
                  <a:schemeClr val="accent2"/>
                </a:solidFill>
              </a:rPr>
              <a:t>if</a:t>
            </a:r>
            <a:r>
              <a:rPr lang="en-US" altLang="zh-CN" sz="2000" dirty="0"/>
              <a:t> (b &gt; X[</a:t>
            </a:r>
            <a:r>
              <a:rPr lang="en-US" altLang="zh-CN" sz="2000" i="1" dirty="0"/>
              <a:t>mid</a:t>
            </a:r>
            <a:r>
              <a:rPr lang="en-US" altLang="zh-CN" sz="2000" dirty="0"/>
              <a:t>]) </a:t>
            </a:r>
            <a:r>
              <a:rPr lang="en-US" altLang="zh-CN" sz="2000" b="1" dirty="0">
                <a:solidFill>
                  <a:schemeClr val="accent2"/>
                </a:solidFill>
              </a:rPr>
              <a:t>return</a:t>
            </a:r>
            <a:r>
              <a:rPr lang="en-US" altLang="zh-CN" sz="2000" dirty="0"/>
              <a:t> binarySearch(b, X, </a:t>
            </a:r>
            <a:r>
              <a:rPr lang="en-US" altLang="zh-CN" sz="2000" b="1" i="1" dirty="0">
                <a:solidFill>
                  <a:srgbClr val="FF0000"/>
                </a:solidFill>
              </a:rPr>
              <a:t>mid+1</a:t>
            </a:r>
            <a:r>
              <a:rPr lang="en-US" altLang="zh-CN" sz="2000" dirty="0"/>
              <a:t>, </a:t>
            </a:r>
            <a:r>
              <a:rPr lang="en-US" altLang="zh-CN" sz="2000" i="1" dirty="0"/>
              <a:t>right</a:t>
            </a:r>
            <a:r>
              <a:rPr lang="en-US" altLang="zh-CN" sz="2000" dirty="0"/>
              <a:t>);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60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_INSTRUCTOR VIEW19C14C36-AC8E-43BC-9DB6-C2AAF774C7DC|PANE__TAG" val="_"/>
</p:tagLst>
</file>

<file path=ppt/tags/tag2.xml><?xml version="1.0" encoding="utf-8"?>
<p:tagLst xmlns:p="http://schemas.openxmlformats.org/presentationml/2006/main">
  <p:tag name="_INSTRUCTOR VIEW19C14C36-AC8E-43BC-9DB6-C2AAF774C7DC|PANE__TAG" val="_"/>
</p:tagLst>
</file>

<file path=ppt/tags/tag3.xml><?xml version="1.0" encoding="utf-8"?>
<p:tagLst xmlns:p="http://schemas.openxmlformats.org/presentationml/2006/main">
  <p:tag name="_INSTRUCTOR VIEW19C14C36-AC8E-43BC-9DB6-C2AAF774C7DC|PANE__TAG" val="_"/>
</p:tagLst>
</file>

<file path=ppt/tags/tag4.xml><?xml version="1.0" encoding="utf-8"?>
<p:tagLst xmlns:p="http://schemas.openxmlformats.org/presentationml/2006/main">
  <p:tag name="_INSTRUCTOR VIEW19C14C36-AC8E-43BC-9DB6-C2AAF774C7DC|PANE__TAG" val="_"/>
</p:tagLst>
</file>

<file path=ppt/tags/tag5.xml><?xml version="1.0" encoding="utf-8"?>
<p:tagLst xmlns:p="http://schemas.openxmlformats.org/presentationml/2006/main">
  <p:tag name="_INSTRUCTOR VIEW19C14C36-AC8E-43BC-9DB6-C2AAF774C7DC|PANE__TAG" val="_"/>
</p:tagLst>
</file>

<file path=ppt/tags/tag6.xml><?xml version="1.0" encoding="utf-8"?>
<p:tagLst xmlns:p="http://schemas.openxmlformats.org/presentationml/2006/main">
  <p:tag name="_INSTRUCTOR VIEW19C14C36-AC8E-43BC-9DB6-C2AAF774C7DC|PANE__TAG" val="_"/>
</p:tagLst>
</file>

<file path=ppt/tags/tag7.xml><?xml version="1.0" encoding="utf-8"?>
<p:tagLst xmlns:p="http://schemas.openxmlformats.org/presentationml/2006/main">
  <p:tag name="RAINPROBLEM" val="ProblemBody"/>
</p:tagLst>
</file>

<file path=ppt/tags/tag8.xml><?xml version="1.0" encoding="utf-8"?>
<p:tagLst xmlns:p="http://schemas.openxmlformats.org/presentationml/2006/main">
  <p:tag name="RAINPROBLEM" val="ProblemSubmit"/>
  <p:tag name="RAINPROBLEMTYPE" val="ShortAnswer"/>
</p:tagLst>
</file>

<file path=ppt/tags/tag9.xml><?xml version="1.0" encoding="utf-8"?>
<p:tagLst xmlns:p="http://schemas.openxmlformats.org/presentationml/2006/main">
  <p:tag name="PRODUCTVERSIONTIP" val="PRODUCTVERSIONTIP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" val="ProblemSetting"/>
  <p:tag name="RAINPROBLEMTYPE" val="ShortAnswer"/>
</p:tagLst>
</file>

<file path=ppt/tags/tag16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11271</Words>
  <Application>WPS 演示</Application>
  <PresentationFormat>全屏显示(4:3)</PresentationFormat>
  <Paragraphs>833</Paragraphs>
  <Slides>51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5" baseType="lpstr">
      <vt:lpstr>Arial</vt:lpstr>
      <vt:lpstr>宋体</vt:lpstr>
      <vt:lpstr>Wingdings</vt:lpstr>
      <vt:lpstr>Comic Sans MS</vt:lpstr>
      <vt:lpstr>黑体</vt:lpstr>
      <vt:lpstr>PMingLiU</vt:lpstr>
      <vt:lpstr>MingLiU-ExtB</vt:lpstr>
      <vt:lpstr>Times New Roman</vt:lpstr>
      <vt:lpstr>MS PGothic</vt:lpstr>
      <vt:lpstr>微软雅黑</vt:lpstr>
      <vt:lpstr>Arial Unicode MS</vt:lpstr>
      <vt:lpstr>楷体_GB2312</vt:lpstr>
      <vt:lpstr>新宋体</vt:lpstr>
      <vt:lpstr>Crayons</vt:lpstr>
      <vt:lpstr>Data Structure Using C</vt:lpstr>
      <vt:lpstr>Textbook</vt:lpstr>
      <vt:lpstr>PowerPoint 演示文稿</vt:lpstr>
      <vt:lpstr>What is Data</vt:lpstr>
      <vt:lpstr>Basic Concepts about Data</vt:lpstr>
      <vt:lpstr>What Is a Data Structure?</vt:lpstr>
      <vt:lpstr>PowerPoint 演示文稿</vt:lpstr>
      <vt:lpstr>PowerPoint 演示文稿</vt:lpstr>
      <vt:lpstr>Why So Many Data Structures?</vt:lpstr>
      <vt:lpstr>Why do we need to learn data structures?</vt:lpstr>
      <vt:lpstr>Class Overview</vt:lpstr>
      <vt:lpstr>Class Overview</vt:lpstr>
      <vt:lpstr>Recursion（递归） </vt:lpstr>
      <vt:lpstr>Definition of Recursion</vt:lpstr>
      <vt:lpstr>PowerPoint 演示文稿</vt:lpstr>
      <vt:lpstr>Conditions for Valid Recursion</vt:lpstr>
      <vt:lpstr>Illustration of the Conditions</vt:lpstr>
      <vt:lpstr>Example 1 </vt:lpstr>
      <vt:lpstr>Example 2: Investment Accounts</vt:lpstr>
      <vt:lpstr>PowerPoint 演示文稿</vt:lpstr>
      <vt:lpstr>Investment Example (contd.)</vt:lpstr>
      <vt:lpstr>Example 3: Finding the Minimum in an Array</vt:lpstr>
      <vt:lpstr>The Minimum Example (Contd.)</vt:lpstr>
      <vt:lpstr>Illustration of the Conditions</vt:lpstr>
      <vt:lpstr>Design rule: Assume all the recursive calls work</vt:lpstr>
      <vt:lpstr>Illustration of Recursive Thinking</vt:lpstr>
      <vt:lpstr>Towers Of Hanoi/Brahma</vt:lpstr>
      <vt:lpstr>Towers Of Hanoi/Brahma</vt:lpstr>
      <vt:lpstr>N=1</vt:lpstr>
      <vt:lpstr>N=1</vt:lpstr>
      <vt:lpstr>N=2</vt:lpstr>
      <vt:lpstr>N=2</vt:lpstr>
      <vt:lpstr>N=2</vt:lpstr>
      <vt:lpstr>N=2</vt:lpstr>
      <vt:lpstr>N=3</vt:lpstr>
      <vt:lpstr>N=3</vt:lpstr>
      <vt:lpstr>N=3</vt:lpstr>
      <vt:lpstr>N=3</vt:lpstr>
      <vt:lpstr>N=3</vt:lpstr>
      <vt:lpstr>N=3</vt:lpstr>
      <vt:lpstr>N=3</vt:lpstr>
      <vt:lpstr>N=3</vt:lpstr>
      <vt:lpstr>Recursive Solution</vt:lpstr>
      <vt:lpstr>Recursive Solution</vt:lpstr>
      <vt:lpstr>Recursive Solution</vt:lpstr>
      <vt:lpstr>Recursive Solution</vt:lpstr>
      <vt:lpstr>Towers Of Hanoi/Brahma</vt:lpstr>
      <vt:lpstr>Binary Search</vt:lpstr>
      <vt:lpstr>Binary Search: Method</vt:lpstr>
      <vt:lpstr>Illustration of Binary search</vt:lpstr>
      <vt:lpstr>The Recursive Code of Binary Search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Using C</dc:title>
  <dc:creator>127593@cnmicrosoft.net</dc:creator>
  <cp:lastModifiedBy>Yan</cp:lastModifiedBy>
  <cp:revision>26</cp:revision>
  <dcterms:created xsi:type="dcterms:W3CDTF">2019-08-25T12:09:00Z</dcterms:created>
  <dcterms:modified xsi:type="dcterms:W3CDTF">2025-09-07T13:41:23Z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  <property fmtid="{D5CDD505-2E9C-101B-9397-08002B2CF9AE}" pid="3" name="ICV">
    <vt:lpwstr>520D55D21FE749908E34AC2BDC6C79C7_12</vt:lpwstr>
  </property>
  <property fmtid="{D5CDD505-2E9C-101B-9397-08002B2CF9AE}" pid="4" name="KSOProductBuildVer">
    <vt:lpwstr>2052-12.1.0.22529</vt:lpwstr>
  </property>
</Properties>
</file>