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wmf" ContentType="image/x-wmf"/>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257" r:id="rId6"/>
    <p:sldId id="258" r:id="rId7"/>
    <p:sldId id="269" r:id="rId8"/>
    <p:sldId id="270" r:id="rId9"/>
    <p:sldId id="271" r:id="rId10"/>
    <p:sldId id="295" r:id="rId11"/>
    <p:sldId id="296" r:id="rId12"/>
    <p:sldId id="297" r:id="rId13"/>
    <p:sldId id="300" r:id="rId14"/>
    <p:sldId id="299" r:id="rId15"/>
    <p:sldId id="347" r:id="rId16"/>
    <p:sldId id="336" r:id="rId17"/>
    <p:sldId id="337" r:id="rId18"/>
    <p:sldId id="338" r:id="rId19"/>
    <p:sldId id="339" r:id="rId20"/>
    <p:sldId id="401" r:id="rId21"/>
    <p:sldId id="340" r:id="rId22"/>
    <p:sldId id="341" r:id="rId23"/>
    <p:sldId id="343" r:id="rId24"/>
    <p:sldId id="312" r:id="rId25"/>
    <p:sldId id="273" r:id="rId26"/>
    <p:sldId id="313" r:id="rId27"/>
    <p:sldId id="302" r:id="rId28"/>
    <p:sldId id="402" r:id="rId29"/>
    <p:sldId id="406" r:id="rId30"/>
    <p:sldId id="314" r:id="rId31"/>
    <p:sldId id="281" r:id="rId32"/>
    <p:sldId id="280" r:id="rId33"/>
    <p:sldId id="293" r:id="rId34"/>
    <p:sldId id="294" r:id="rId35"/>
    <p:sldId id="404" r:id="rId36"/>
    <p:sldId id="409" r:id="rId37"/>
    <p:sldId id="411" r:id="rId38"/>
    <p:sldId id="410" r:id="rId39"/>
    <p:sldId id="348" r:id="rId40"/>
    <p:sldId id="349" r:id="rId41"/>
    <p:sldId id="284" r:id="rId42"/>
    <p:sldId id="285" r:id="rId43"/>
    <p:sldId id="286" r:id="rId44"/>
    <p:sldId id="287" r:id="rId45"/>
    <p:sldId id="304" r:id="rId46"/>
    <p:sldId id="305" r:id="rId47"/>
    <p:sldId id="291" r:id="rId48"/>
    <p:sldId id="290" r:id="rId49"/>
    <p:sldId id="306" r:id="rId50"/>
    <p:sldId id="308" r:id="rId51"/>
    <p:sldId id="350" r:id="rId52"/>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790"/>
    <p:restoredTop sz="89258"/>
  </p:normalViewPr>
  <p:slideViewPr>
    <p:cSldViewPr showGuides="1">
      <p:cViewPr varScale="1">
        <p:scale>
          <a:sx n="98" d="100"/>
          <a:sy n="98" d="100"/>
        </p:scale>
        <p:origin x="1710" y="90"/>
      </p:cViewPr>
      <p:guideLst>
        <p:guide orient="horz" pos="2160"/>
        <p:guide pos="2904"/>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652"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7653" name="Rectangle 5"/>
          <p:cNvSpPr>
            <a:spLocks noGrp="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p:nvPr>
        </p:nvSpPr>
        <p:spPr/>
        <p:txBody>
          <a:bodyPr wrap="square" lIns="91440" tIns="45720" rIns="91440" bIns="45720" anchor="t" anchorCtr="0"/>
          <a:p>
            <a:pPr lvl="0"/>
            <a:r>
              <a:rPr lang="en-US" altLang="zh-CN" dirty="0"/>
              <a:t>To solve a specific problem there are many different algorithms. Each algorithm can solve the problem, but which one is better? How can we tell an algorithm is good or not? We need to predict the performance of an algorithm.</a:t>
            </a:r>
            <a:endParaRPr lang="zh-CN" altLang="en-US" dirty="0"/>
          </a:p>
        </p:txBody>
      </p:sp>
      <p:sp>
        <p:nvSpPr>
          <p:cNvPr id="29700"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34819"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Times New Roman" panose="02020603050405020304" pitchFamily="18" charset="0"/>
                <a:ea typeface="PMingLiU" pitchFamily="18" charset="-120"/>
              </a:rPr>
            </a:fld>
            <a:endParaRPr lang="en-US" altLang="zh-CN" sz="1200" dirty="0">
              <a:latin typeface="Times New Roman" panose="02020603050405020304" pitchFamily="18" charset="0"/>
              <a:ea typeface="PMingLiU" pitchFamily="18" charset="-120"/>
            </a:endParaRPr>
          </a:p>
        </p:txBody>
      </p:sp>
      <p:sp>
        <p:nvSpPr>
          <p:cNvPr id="34820" name="Rectangle 2"/>
          <p:cNvSpPr>
            <a:spLocks noGrp="1" noRot="1" noChangeAspect="1" noTextEdit="1"/>
          </p:cNvSpPr>
          <p:nvPr>
            <p:ph type="sldImg"/>
          </p:nvPr>
        </p:nvSpPr>
        <p:spPr/>
      </p:sp>
      <p:sp>
        <p:nvSpPr>
          <p:cNvPr id="34821" name="Rectangle 3"/>
          <p:cNvSpPr>
            <a:spLocks noGrp="1"/>
          </p:cNvSpPr>
          <p:nvPr>
            <p:ph type="body"/>
          </p:nvPr>
        </p:nvSpPr>
        <p:spPr/>
        <p:txBody>
          <a:bodyPr wrap="square" lIns="91440" tIns="45720" rIns="91440" bIns="45720" anchor="t" anchorCtr="0"/>
          <a:p>
            <a:pPr lvl="0" eaLnBrk="1" hangingPunct="1">
              <a:lnSpc>
                <a:spcPct val="80000"/>
              </a:lnSpc>
            </a:pPr>
            <a:r>
              <a:rPr lang="zh-CN" altLang="en-US" sz="800" dirty="0"/>
              <a:t>时间复杂度量度的单位是语法意义上的一个程序步。规定：</a:t>
            </a:r>
            <a:br>
              <a:rPr lang="zh-CN" altLang="en-US" sz="800" dirty="0"/>
            </a:br>
            <a:r>
              <a:rPr lang="zh-CN" altLang="en-US" sz="800" dirty="0"/>
              <a:t>     注释语句：程序步数为</a:t>
            </a:r>
            <a:r>
              <a:rPr lang="en-US" altLang="zh-CN" sz="800" dirty="0"/>
              <a:t>0</a:t>
            </a:r>
            <a:r>
              <a:rPr lang="zh-CN" altLang="en-US" sz="800" dirty="0"/>
              <a:t>；</a:t>
            </a:r>
            <a:br>
              <a:rPr lang="zh-CN" altLang="en-US" sz="800" dirty="0"/>
            </a:br>
            <a:r>
              <a:rPr lang="zh-CN" altLang="en-US" sz="800" dirty="0"/>
              <a:t>     声明语句：程序步数为</a:t>
            </a:r>
            <a:r>
              <a:rPr lang="en-US" altLang="zh-CN" sz="800" dirty="0"/>
              <a:t>0</a:t>
            </a:r>
            <a:r>
              <a:rPr lang="zh-CN" altLang="en-US" sz="800" dirty="0"/>
              <a:t>；（包括：定义常量变量，结构定义，函数特征声明，权限声明等）</a:t>
            </a:r>
            <a:br>
              <a:rPr lang="zh-CN" altLang="en-US" sz="800" dirty="0"/>
            </a:br>
            <a:r>
              <a:rPr lang="zh-CN" altLang="en-US" sz="800" dirty="0"/>
              <a:t>     不含函数的表达式：程序步数为</a:t>
            </a:r>
            <a:r>
              <a:rPr lang="en-US" altLang="zh-CN" sz="800" dirty="0"/>
              <a:t>1</a:t>
            </a:r>
            <a:r>
              <a:rPr lang="zh-CN" altLang="en-US" sz="800" dirty="0"/>
              <a:t>；</a:t>
            </a:r>
            <a:br>
              <a:rPr lang="zh-CN" altLang="en-US" sz="800" dirty="0"/>
            </a:br>
            <a:r>
              <a:rPr lang="zh-CN" altLang="en-US" sz="800" dirty="0"/>
              <a:t>     赋值语句：</a:t>
            </a:r>
            <a:r>
              <a:rPr lang="en-US" altLang="zh-CN" sz="800" dirty="0"/>
              <a:t>&lt;</a:t>
            </a:r>
            <a:r>
              <a:rPr lang="zh-CN" altLang="en-US" sz="800" dirty="0"/>
              <a:t>变量</a:t>
            </a:r>
            <a:r>
              <a:rPr lang="en-US" altLang="zh-CN" sz="800" dirty="0"/>
              <a:t>&gt;=&lt;</a:t>
            </a:r>
            <a:r>
              <a:rPr lang="zh-CN" altLang="en-US" sz="800" dirty="0"/>
              <a:t>表达式</a:t>
            </a:r>
            <a:r>
              <a:rPr lang="en-US" altLang="zh-CN" sz="800" dirty="0"/>
              <a:t>&gt;</a:t>
            </a:r>
            <a:r>
              <a:rPr lang="zh-CN" altLang="en-US" sz="800" dirty="0"/>
              <a:t>；赋值语句的步数取决于表达式的步数，如果表达式不包含函数调用，则步数为</a:t>
            </a:r>
            <a:r>
              <a:rPr lang="en-US" altLang="zh-CN" sz="800" dirty="0"/>
              <a:t>1</a:t>
            </a:r>
            <a:r>
              <a:rPr lang="zh-CN" altLang="en-US" sz="800" dirty="0"/>
              <a:t>，如果包含函数，则为函数调用的总步数。如果赋值语句的变量为数组，则赋值语句的步数为变量的大小</a:t>
            </a:r>
            <a:r>
              <a:rPr lang="en-US" altLang="zh-CN" sz="800" dirty="0"/>
              <a:t>+</a:t>
            </a:r>
            <a:r>
              <a:rPr lang="zh-CN" altLang="en-US" sz="800" dirty="0"/>
              <a:t>表达式步数；</a:t>
            </a:r>
            <a:br>
              <a:rPr lang="zh-CN" altLang="en-US" sz="800" dirty="0"/>
            </a:br>
            <a:r>
              <a:rPr lang="zh-CN" altLang="en-US" sz="800" dirty="0"/>
              <a:t>     循环语句：仅考虑循环控制语句的步数。对于“</a:t>
            </a:r>
            <a:r>
              <a:rPr lang="en-US" altLang="zh-CN" sz="800" dirty="0"/>
              <a:t>while&lt;</a:t>
            </a:r>
            <a:r>
              <a:rPr lang="zh-CN" altLang="en-US" sz="800" dirty="0"/>
              <a:t>表达式</a:t>
            </a:r>
            <a:r>
              <a:rPr lang="en-US" altLang="zh-CN" sz="800" dirty="0"/>
              <a:t>&gt;{...}”</a:t>
            </a:r>
            <a:r>
              <a:rPr lang="zh-CN" altLang="en-US" sz="800" dirty="0"/>
              <a:t>语句，循环控制步数为表达式步数；对于“</a:t>
            </a:r>
            <a:r>
              <a:rPr lang="en-US" altLang="zh-CN" sz="800" dirty="0"/>
              <a:t>for(&lt;</a:t>
            </a:r>
            <a:r>
              <a:rPr lang="zh-CN" altLang="en-US" sz="800" dirty="0"/>
              <a:t>初始化语句</a:t>
            </a:r>
            <a:r>
              <a:rPr lang="en-US" altLang="zh-CN" sz="800" dirty="0"/>
              <a:t>&gt;;&lt;</a:t>
            </a:r>
            <a:r>
              <a:rPr lang="zh-CN" altLang="en-US" sz="800" dirty="0"/>
              <a:t>表达式</a:t>
            </a:r>
            <a:r>
              <a:rPr lang="en-US" altLang="zh-CN" sz="800" dirty="0"/>
              <a:t>1&gt;;&lt;</a:t>
            </a:r>
            <a:r>
              <a:rPr lang="zh-CN" altLang="en-US" sz="800" dirty="0"/>
              <a:t>表达式</a:t>
            </a:r>
            <a:r>
              <a:rPr lang="en-US" altLang="zh-CN" sz="800" dirty="0"/>
              <a:t>2&gt;){...}”</a:t>
            </a:r>
            <a:r>
              <a:rPr lang="zh-CN" altLang="en-US" sz="800" dirty="0"/>
              <a:t>，第一次程序步数等于</a:t>
            </a:r>
            <a:r>
              <a:rPr lang="en-US" altLang="zh-CN" sz="800" dirty="0"/>
              <a:t>&lt;</a:t>
            </a:r>
            <a:r>
              <a:rPr lang="zh-CN" altLang="en-US" sz="800" dirty="0"/>
              <a:t>初始化语句</a:t>
            </a:r>
            <a:r>
              <a:rPr lang="en-US" altLang="zh-CN" sz="800" dirty="0"/>
              <a:t>&gt;+&lt;</a:t>
            </a:r>
            <a:r>
              <a:rPr lang="zh-CN" altLang="en-US" sz="800" dirty="0"/>
              <a:t>表达式</a:t>
            </a:r>
            <a:r>
              <a:rPr lang="en-US" altLang="zh-CN" sz="800" dirty="0"/>
              <a:t>1&gt;</a:t>
            </a:r>
            <a:r>
              <a:rPr lang="zh-CN" altLang="en-US" sz="800" dirty="0"/>
              <a:t>的步数之和，第二次及以后之后程序步数等于</a:t>
            </a:r>
            <a:r>
              <a:rPr lang="en-US" altLang="zh-CN" sz="800" dirty="0"/>
              <a:t>&lt;</a:t>
            </a:r>
            <a:r>
              <a:rPr lang="zh-CN" altLang="en-US" sz="800" dirty="0"/>
              <a:t>表达式</a:t>
            </a:r>
            <a:r>
              <a:rPr lang="en-US" altLang="zh-CN" sz="800" dirty="0"/>
              <a:t>1&gt;+&lt;</a:t>
            </a:r>
            <a:r>
              <a:rPr lang="zh-CN" altLang="en-US" sz="800" dirty="0"/>
              <a:t>表达式</a:t>
            </a:r>
            <a:r>
              <a:rPr lang="en-US" altLang="zh-CN" sz="800" dirty="0"/>
              <a:t>2&gt;</a:t>
            </a:r>
            <a:r>
              <a:rPr lang="zh-CN" altLang="en-US" sz="800" dirty="0"/>
              <a:t>的步数之和；</a:t>
            </a:r>
            <a:br>
              <a:rPr lang="zh-CN" altLang="en-US" sz="800" dirty="0"/>
            </a:br>
            <a:r>
              <a:rPr lang="zh-CN" altLang="en-US" sz="800" dirty="0"/>
              <a:t>     </a:t>
            </a:r>
            <a:r>
              <a:rPr lang="en-US" altLang="zh-CN" sz="800" dirty="0"/>
              <a:t>switch</a:t>
            </a:r>
            <a:r>
              <a:rPr lang="zh-CN" altLang="en-US" sz="800" dirty="0"/>
              <a:t>语句：执行步数等于</a:t>
            </a:r>
            <a:r>
              <a:rPr lang="en-US" altLang="zh-CN" sz="800" dirty="0"/>
              <a:t>switch</a:t>
            </a:r>
            <a:r>
              <a:rPr lang="zh-CN" altLang="en-US" sz="800" dirty="0"/>
              <a:t>条件中表达式的步数</a:t>
            </a:r>
            <a:r>
              <a:rPr lang="en-US" altLang="zh-CN" sz="800" dirty="0"/>
              <a:t>+</a:t>
            </a:r>
            <a:r>
              <a:rPr lang="zh-CN" altLang="en-US" sz="800" dirty="0"/>
              <a:t>某个条件满足的程序步数；</a:t>
            </a:r>
            <a:br>
              <a:rPr lang="zh-CN" altLang="en-US" sz="800" dirty="0"/>
            </a:br>
            <a:r>
              <a:rPr lang="zh-CN" altLang="en-US" sz="800" dirty="0"/>
              <a:t>     </a:t>
            </a:r>
            <a:r>
              <a:rPr lang="en-US" altLang="zh-CN" sz="800" dirty="0"/>
              <a:t>if</a:t>
            </a:r>
            <a:r>
              <a:rPr lang="zh-CN" altLang="en-US" sz="800" dirty="0"/>
              <a:t>语句：取决于满足条件部分语句的步数</a:t>
            </a:r>
            <a:r>
              <a:rPr lang="en-US" altLang="zh-CN" sz="800" dirty="0"/>
              <a:t>+</a:t>
            </a:r>
            <a:r>
              <a:rPr lang="zh-CN" altLang="en-US" sz="800" dirty="0"/>
              <a:t>辨别表达式的步数；</a:t>
            </a:r>
            <a:br>
              <a:rPr lang="zh-CN" altLang="en-US" sz="800" dirty="0"/>
            </a:br>
            <a:r>
              <a:rPr lang="zh-CN" altLang="en-US" sz="800" dirty="0"/>
              <a:t>     函数执行语句：一般步数为</a:t>
            </a:r>
            <a:r>
              <a:rPr lang="en-US" altLang="zh-CN" sz="800" dirty="0"/>
              <a:t>1</a:t>
            </a:r>
            <a:r>
              <a:rPr lang="zh-CN" altLang="en-US" sz="800" dirty="0"/>
              <a:t>；如果函数为递归调用，还要考虑函数中的局部变量；</a:t>
            </a:r>
            <a:br>
              <a:rPr lang="zh-CN" altLang="en-US" sz="800" dirty="0"/>
            </a:br>
            <a:r>
              <a:rPr lang="zh-CN" altLang="en-US" sz="800" dirty="0"/>
              <a:t>     </a:t>
            </a:r>
            <a:r>
              <a:rPr lang="en-US" altLang="zh-CN" sz="800" dirty="0"/>
              <a:t>new/delete/sizeof</a:t>
            </a:r>
            <a:r>
              <a:rPr lang="zh-CN" altLang="en-US" sz="800" dirty="0"/>
              <a:t>语句：步数为</a:t>
            </a:r>
            <a:r>
              <a:rPr lang="en-US" altLang="zh-CN" sz="800" dirty="0"/>
              <a:t>1</a:t>
            </a:r>
            <a:r>
              <a:rPr lang="zh-CN" altLang="en-US" sz="800" dirty="0"/>
              <a:t>；还要分析构造函数和析构函数的步数；</a:t>
            </a:r>
            <a:br>
              <a:rPr lang="zh-CN" altLang="en-US" sz="800" dirty="0"/>
            </a:br>
            <a:r>
              <a:rPr lang="zh-CN" altLang="en-US" sz="800" dirty="0"/>
              <a:t>     转移语句</a:t>
            </a:r>
            <a:r>
              <a:rPr lang="en-US" altLang="zh-CN" sz="800" dirty="0"/>
              <a:t>return,continue,break,goto</a:t>
            </a:r>
            <a:r>
              <a:rPr lang="zh-CN" altLang="en-US" sz="800" dirty="0"/>
              <a:t>：步数为</a:t>
            </a:r>
            <a:r>
              <a:rPr lang="en-US" altLang="zh-CN" sz="800" dirty="0"/>
              <a:t>1</a:t>
            </a:r>
            <a:br>
              <a:rPr lang="en-US" altLang="zh-CN" sz="800" dirty="0"/>
            </a:br>
            <a:r>
              <a:rPr lang="en-US" altLang="zh-CN" sz="800" dirty="0"/>
              <a:t>  *. </a:t>
            </a:r>
            <a:r>
              <a:rPr lang="zh-CN" altLang="en-US" sz="800" dirty="0"/>
              <a:t>确定程序步数有两种方法：</a:t>
            </a:r>
            <a:br>
              <a:rPr lang="zh-CN" altLang="en-US" sz="800" dirty="0"/>
            </a:br>
            <a:r>
              <a:rPr lang="zh-CN" altLang="en-US" sz="800" dirty="0"/>
              <a:t>     一是可以设置一个全局的</a:t>
            </a:r>
            <a:r>
              <a:rPr lang="en-US" altLang="zh-CN" sz="800" dirty="0"/>
              <a:t>count</a:t>
            </a:r>
            <a:r>
              <a:rPr lang="zh-CN" altLang="en-US" sz="800" dirty="0"/>
              <a:t>变量，在每一个执行语句的附近改变</a:t>
            </a:r>
            <a:r>
              <a:rPr lang="en-US" altLang="zh-CN" sz="800" dirty="0"/>
              <a:t>count</a:t>
            </a:r>
            <a:r>
              <a:rPr lang="zh-CN" altLang="en-US" sz="800" dirty="0"/>
              <a:t>的值；</a:t>
            </a:r>
            <a:br>
              <a:rPr lang="zh-CN" altLang="en-US" sz="800" dirty="0"/>
            </a:br>
            <a:r>
              <a:rPr lang="zh-CN" altLang="en-US" sz="800" dirty="0"/>
              <a:t>     二是可以建立一个表，先列出每个语句执行一次的步数，再列出每个语句执行的次数，最后相乘得到各个语句的步数，加总即为总的程序步数。</a:t>
            </a:r>
            <a:br>
              <a:rPr lang="zh-CN" altLang="en-US" sz="800" dirty="0"/>
            </a:br>
            <a:r>
              <a:rPr lang="zh-CN" altLang="en-US" sz="800" dirty="0"/>
              <a:t>  *</a:t>
            </a:r>
            <a:r>
              <a:rPr lang="en-US" altLang="zh-CN" sz="800" dirty="0"/>
              <a:t>. </a:t>
            </a:r>
            <a:r>
              <a:rPr lang="zh-CN" altLang="en-US" sz="800" dirty="0"/>
              <a:t>要确定一个程序的精确程序步数非常困难且不必要，因为程序步数本身就不是一个精确的概念（例如，</a:t>
            </a:r>
            <a:r>
              <a:rPr lang="en-US" altLang="zh-CN" sz="800" dirty="0"/>
              <a:t>x=a</a:t>
            </a:r>
            <a:r>
              <a:rPr lang="zh-CN" altLang="en-US" sz="800" dirty="0"/>
              <a:t>与</a:t>
            </a:r>
            <a:r>
              <a:rPr lang="en-US" altLang="zh-CN" sz="800" dirty="0"/>
              <a:t>x=a+b*c/d-e</a:t>
            </a:r>
            <a:r>
              <a:rPr lang="zh-CN" altLang="en-US" sz="800" dirty="0"/>
              <a:t>具有相同的程序步数），并不能确切反映运行时间，所以用准确的程序步数来判别算法的优劣并不是很有价值。因此，我们只需要得到一个数量级的估计值就可以了，也就是需要一个时间复杂度的渐进度量值，我们使用大</a:t>
            </a:r>
            <a:r>
              <a:rPr lang="en-US" altLang="zh-CN" sz="800" dirty="0"/>
              <a:t>O</a:t>
            </a:r>
            <a:r>
              <a:rPr lang="zh-CN" altLang="en-US" sz="800" dirty="0"/>
              <a:t>表示法：</a:t>
            </a:r>
            <a:br>
              <a:rPr lang="zh-CN" altLang="en-US" sz="800" dirty="0"/>
            </a:br>
            <a:r>
              <a:rPr lang="zh-CN" altLang="en-US" sz="800" dirty="0"/>
              <a:t>     </a:t>
            </a:r>
            <a:r>
              <a:rPr lang="en-US" altLang="zh-CN" sz="800" dirty="0"/>
              <a:t>T(n)=f(n)=O(n)</a:t>
            </a:r>
            <a:br>
              <a:rPr lang="en-US" altLang="zh-CN" sz="800" dirty="0"/>
            </a:br>
            <a:r>
              <a:rPr lang="en-US" altLang="zh-CN" sz="800" dirty="0"/>
              <a:t>    </a:t>
            </a:r>
            <a:r>
              <a:rPr lang="zh-CN" altLang="en-US" sz="800" dirty="0"/>
              <a:t>其中</a:t>
            </a:r>
            <a:r>
              <a:rPr lang="en-US" altLang="zh-CN" sz="800" dirty="0"/>
              <a:t>,T(n)</a:t>
            </a:r>
            <a:r>
              <a:rPr lang="zh-CN" altLang="en-US" sz="800" dirty="0"/>
              <a:t>为算法的时间复杂度，可以由一个函数</a:t>
            </a:r>
            <a:r>
              <a:rPr lang="en-US" altLang="zh-CN" sz="800" dirty="0"/>
              <a:t>f(n)</a:t>
            </a:r>
            <a:r>
              <a:rPr lang="zh-CN" altLang="en-US" sz="800" dirty="0"/>
              <a:t>来估计，而</a:t>
            </a:r>
            <a:r>
              <a:rPr lang="en-US" altLang="zh-CN" sz="800" dirty="0"/>
              <a:t>O()</a:t>
            </a:r>
            <a:r>
              <a:rPr lang="zh-CN" altLang="en-US" sz="800" dirty="0"/>
              <a:t>用来取</a:t>
            </a:r>
            <a:r>
              <a:rPr lang="en-US" altLang="zh-CN" sz="800" dirty="0"/>
              <a:t>f(n)</a:t>
            </a:r>
            <a:r>
              <a:rPr lang="zh-CN" altLang="en-US" sz="800" dirty="0"/>
              <a:t>的量级。大</a:t>
            </a:r>
            <a:r>
              <a:rPr lang="en-US" altLang="zh-CN" sz="800" dirty="0"/>
              <a:t>O</a:t>
            </a:r>
            <a:r>
              <a:rPr lang="zh-CN" altLang="en-US" sz="800" dirty="0"/>
              <a:t>表示法常用来分析算法在最坏情况下的时间代价，就是说当</a:t>
            </a:r>
            <a:r>
              <a:rPr lang="en-US" altLang="zh-CN" sz="800" dirty="0"/>
              <a:t>n</a:t>
            </a:r>
            <a:r>
              <a:rPr lang="zh-CN" altLang="en-US" sz="800" dirty="0"/>
              <a:t>充分大的时候，用大</a:t>
            </a:r>
            <a:r>
              <a:rPr lang="en-US" altLang="zh-CN" sz="800" dirty="0"/>
              <a:t>O</a:t>
            </a:r>
            <a:r>
              <a:rPr lang="zh-CN" altLang="en-US" sz="800" dirty="0"/>
              <a:t>方法来估计时间复杂度。大</a:t>
            </a:r>
            <a:r>
              <a:rPr lang="en-US" altLang="zh-CN" sz="800" dirty="0"/>
              <a:t>O</a:t>
            </a:r>
            <a:r>
              <a:rPr lang="zh-CN" altLang="en-US" sz="800" dirty="0"/>
              <a:t>方法主要关注关键操作，大部分的关键操作都存在于循环和递归中。</a:t>
            </a:r>
            <a:br>
              <a:rPr lang="zh-CN" altLang="en-US" sz="800" dirty="0"/>
            </a:br>
            <a:r>
              <a:rPr lang="zh-CN" altLang="en-US" sz="800" dirty="0"/>
              <a:t>  *</a:t>
            </a:r>
            <a:r>
              <a:rPr lang="en-US" altLang="zh-CN" sz="800" dirty="0"/>
              <a:t>. </a:t>
            </a:r>
            <a:r>
              <a:rPr lang="zh-CN" altLang="en-US" sz="800" dirty="0"/>
              <a:t>大</a:t>
            </a:r>
            <a:r>
              <a:rPr lang="en-US" altLang="zh-CN" sz="800" dirty="0"/>
              <a:t>O</a:t>
            </a:r>
            <a:r>
              <a:rPr lang="zh-CN" altLang="en-US" sz="800" dirty="0"/>
              <a:t>表示法的规则：</a:t>
            </a:r>
            <a:br>
              <a:rPr lang="zh-CN" altLang="en-US" sz="800" dirty="0"/>
            </a:br>
            <a:r>
              <a:rPr lang="zh-CN" altLang="en-US" sz="800" dirty="0"/>
              <a:t>    </a:t>
            </a:r>
            <a:r>
              <a:rPr lang="en-US" altLang="zh-CN" sz="800" dirty="0"/>
              <a:t>1. </a:t>
            </a:r>
            <a:r>
              <a:rPr lang="zh-CN" altLang="en-US" sz="800" dirty="0"/>
              <a:t>假设</a:t>
            </a:r>
            <a:r>
              <a:rPr lang="en-US" altLang="zh-CN" sz="800" dirty="0"/>
              <a:t>n</a:t>
            </a:r>
            <a:r>
              <a:rPr lang="zh-CN" altLang="en-US" sz="800" dirty="0"/>
              <a:t>充分大的时候，取最高次幂，</a:t>
            </a:r>
            <a:r>
              <a:rPr lang="en-US" altLang="zh-CN" sz="800" dirty="0"/>
              <a:t>eg. f(n)=2nE3+3nE2+4n+1</a:t>
            </a:r>
            <a:r>
              <a:rPr lang="zh-CN" altLang="en-US" sz="800" dirty="0"/>
              <a:t>，则</a:t>
            </a:r>
            <a:r>
              <a:rPr lang="en-US" altLang="zh-CN" sz="800" dirty="0"/>
              <a:t>T(n)=O(nE3)</a:t>
            </a:r>
            <a:r>
              <a:rPr lang="zh-CN" altLang="en-US" sz="800" dirty="0"/>
              <a:t>；</a:t>
            </a:r>
            <a:br>
              <a:rPr lang="zh-CN" altLang="en-US" sz="800" dirty="0"/>
            </a:br>
            <a:r>
              <a:rPr lang="zh-CN" altLang="en-US" sz="800" dirty="0"/>
              <a:t>    </a:t>
            </a:r>
            <a:r>
              <a:rPr lang="en-US" altLang="zh-CN" sz="800" dirty="0"/>
              <a:t>2. </a:t>
            </a:r>
            <a:r>
              <a:rPr lang="zh-CN" altLang="en-US" sz="800" dirty="0"/>
              <a:t>加法规则：是针对几个并列的程序段，比如两个并列的循环，</a:t>
            </a:r>
            <a:r>
              <a:rPr lang="en-US" altLang="zh-CN" sz="800" dirty="0"/>
              <a:t>T1(n)=O(f(n)),T2(m)=O(g(m)),</a:t>
            </a:r>
            <a:r>
              <a:rPr lang="zh-CN" altLang="en-US" sz="800" dirty="0"/>
              <a:t>则整个程序段的时间代价为</a:t>
            </a:r>
            <a:br>
              <a:rPr lang="zh-CN" altLang="en-US" sz="800" dirty="0"/>
            </a:br>
            <a:r>
              <a:rPr lang="zh-CN" altLang="en-US" sz="800" dirty="0"/>
              <a:t>     </a:t>
            </a:r>
            <a:r>
              <a:rPr lang="en-US" altLang="zh-CN" sz="800" dirty="0"/>
              <a:t>T(n,m) = T1(n)+T2(m) = O(max{f(n),g(m)})</a:t>
            </a:r>
            <a:br>
              <a:rPr lang="en-US" altLang="zh-CN" sz="800" dirty="0"/>
            </a:br>
            <a:r>
              <a:rPr lang="en-US" altLang="zh-CN" sz="800" dirty="0"/>
              <a:t>     </a:t>
            </a:r>
            <a:r>
              <a:rPr lang="zh-CN" altLang="en-US" sz="800" dirty="0"/>
              <a:t>所谓</a:t>
            </a:r>
            <a:r>
              <a:rPr lang="en-US" altLang="zh-CN" sz="800" dirty="0"/>
              <a:t>max{f(n),g(n)}</a:t>
            </a:r>
            <a:r>
              <a:rPr lang="zh-CN" altLang="en-US" sz="800" dirty="0"/>
              <a:t>指的是，当</a:t>
            </a:r>
            <a:r>
              <a:rPr lang="en-US" altLang="zh-CN" sz="800" dirty="0"/>
              <a:t>n,m</a:t>
            </a:r>
            <a:r>
              <a:rPr lang="zh-CN" altLang="en-US" sz="800" dirty="0"/>
              <a:t>充分大的时候，</a:t>
            </a:r>
            <a:r>
              <a:rPr lang="en-US" altLang="zh-CN" sz="800" dirty="0"/>
              <a:t>f(n),g(m)</a:t>
            </a:r>
            <a:r>
              <a:rPr lang="zh-CN" altLang="en-US" sz="800" dirty="0"/>
              <a:t>的最大值，参考如下关系：</a:t>
            </a:r>
            <a:br>
              <a:rPr lang="zh-CN" altLang="en-US" sz="800" dirty="0"/>
            </a:br>
            <a:r>
              <a:rPr lang="zh-CN" altLang="en-US" sz="800" dirty="0"/>
              <a:t>     </a:t>
            </a:r>
            <a:r>
              <a:rPr lang="en-US" altLang="zh-CN" sz="800" dirty="0"/>
              <a:t>c &lt; log2n &lt; n &lt; nlog2n &lt; nE2 &lt; nE3 &lt; 2En &lt; 3En &lt; n!</a:t>
            </a:r>
            <a:br>
              <a:rPr lang="en-US" altLang="zh-CN" sz="800" dirty="0"/>
            </a:br>
            <a:r>
              <a:rPr lang="en-US" altLang="zh-CN" sz="800" dirty="0"/>
              <a:t>     -----------------------  ---------  ----------------</a:t>
            </a:r>
            <a:br>
              <a:rPr lang="en-US" altLang="zh-CN" sz="800" dirty="0"/>
            </a:br>
            <a:r>
              <a:rPr lang="en-US" altLang="zh-CN" sz="800" dirty="0"/>
              <a:t>       good efficiency         ok effe    very complicate</a:t>
            </a:r>
            <a:br>
              <a:rPr lang="en-US" altLang="zh-CN" sz="800" dirty="0"/>
            </a:br>
            <a:r>
              <a:rPr lang="en-US" altLang="zh-CN" sz="800" dirty="0"/>
              <a:t>    3. </a:t>
            </a:r>
            <a:r>
              <a:rPr lang="zh-CN" altLang="en-US" sz="800" dirty="0"/>
              <a:t>乘法规则：针对多层嵌套的循环，关键操作应该在最内层循环中，应该自外向内层层分析每层循环的渐进时间复杂度，然后利用大</a:t>
            </a:r>
            <a:r>
              <a:rPr lang="en-US" altLang="zh-CN" sz="800" dirty="0"/>
              <a:t>O</a:t>
            </a:r>
            <a:r>
              <a:rPr lang="zh-CN" altLang="en-US" sz="800" dirty="0"/>
              <a:t>表示法的乘法规则来计算其渐进式间复杂度。比如，两个嵌套的循环，</a:t>
            </a:r>
            <a:r>
              <a:rPr lang="en-US" altLang="zh-CN" sz="800" dirty="0"/>
              <a:t>T1(n)=O(f(n)),T2(m)=O(g(m))</a:t>
            </a:r>
            <a:r>
              <a:rPr lang="zh-CN" altLang="en-US" sz="800" dirty="0"/>
              <a:t>，则整个程序段的时间代价为</a:t>
            </a:r>
            <a:br>
              <a:rPr lang="zh-CN" altLang="en-US" sz="800" dirty="0"/>
            </a:br>
            <a:r>
              <a:rPr lang="zh-CN" altLang="en-US" sz="800" dirty="0"/>
              <a:t>     </a:t>
            </a:r>
            <a:r>
              <a:rPr lang="en-US" altLang="zh-CN" sz="800" dirty="0"/>
              <a:t>T(n,m) = T1(n)*T2(m) = O(f(n)*g(m))</a:t>
            </a:r>
            <a:br>
              <a:rPr lang="en-US" altLang="zh-CN" sz="800" dirty="0"/>
            </a:br>
            <a:r>
              <a:rPr lang="en-US" altLang="zh-CN" sz="800" dirty="0"/>
              <a:t>     </a:t>
            </a:r>
            <a:r>
              <a:rPr lang="zh-CN" altLang="en-US" sz="800" dirty="0"/>
              <a:t>一个特例，如果</a:t>
            </a:r>
            <a:r>
              <a:rPr lang="en-US" altLang="zh-CN" sz="800" dirty="0"/>
              <a:t>T1(n)=O(c),T2(m)=O(g(m)),</a:t>
            </a:r>
            <a:r>
              <a:rPr lang="zh-CN" altLang="en-US" sz="800" dirty="0"/>
              <a:t>那么：</a:t>
            </a:r>
            <a:br>
              <a:rPr lang="zh-CN" altLang="en-US" sz="800" dirty="0"/>
            </a:br>
            <a:r>
              <a:rPr lang="zh-CN" altLang="en-US" sz="800" dirty="0"/>
              <a:t>     </a:t>
            </a:r>
            <a:r>
              <a:rPr lang="en-US" altLang="zh-CN" sz="800" dirty="0"/>
              <a:t>T(n,m) = T1(n)*T2(m) = O(c*g(m)) = O(g(m))</a:t>
            </a:r>
            <a:br>
              <a:rPr lang="en-US" altLang="zh-CN" sz="800" dirty="0"/>
            </a:br>
            <a:r>
              <a:rPr lang="en-US" altLang="zh-CN" sz="800" dirty="0"/>
              <a:t>     </a:t>
            </a:r>
            <a:r>
              <a:rPr lang="zh-CN" altLang="en-US" sz="800" dirty="0"/>
              <a:t>这说明</a:t>
            </a:r>
            <a:r>
              <a:rPr lang="en-US" altLang="zh-CN" sz="800" dirty="0"/>
              <a:t>,</a:t>
            </a:r>
            <a:r>
              <a:rPr lang="zh-CN" altLang="en-US" sz="800" dirty="0"/>
              <a:t>对任何正常数都属于一个数量级，</a:t>
            </a:r>
            <a:r>
              <a:rPr lang="en-US" altLang="zh-CN" sz="800" dirty="0"/>
              <a:t>O(1)</a:t>
            </a:r>
            <a:r>
              <a:rPr lang="zh-CN" altLang="en-US" sz="800" dirty="0"/>
              <a:t>。</a:t>
            </a:r>
            <a:br>
              <a:rPr lang="zh-CN" altLang="en-US" sz="800" dirty="0"/>
            </a:br>
            <a:endParaRPr lang="zh-CN" altLang="en-US" sz="800" dirty="0"/>
          </a:p>
          <a:p>
            <a:pPr lvl="0" eaLnBrk="1" hangingPunct="1">
              <a:lnSpc>
                <a:spcPct val="80000"/>
              </a:lnSpc>
            </a:pPr>
            <a:endParaRPr lang="en-US" altLang="zh-CN" sz="8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p:txBody>
          <a:bodyPr wrap="square" lIns="91440" tIns="45720" rIns="91440" bIns="45720" anchor="t" anchorCtr="0"/>
          <a:p>
            <a:pPr lvl="0"/>
            <a:endParaRPr lang="zh-CN" altLang="en-US" dirty="0"/>
          </a:p>
        </p:txBody>
      </p:sp>
      <p:sp>
        <p:nvSpPr>
          <p:cNvPr id="378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
        <p:nvSpPr>
          <p:cNvPr id="51203" name="Rectangle 2"/>
          <p:cNvSpPr>
            <a:spLocks noRot="1" noTextEdit="1"/>
          </p:cNvSpPr>
          <p:nvPr>
            <p:ph type="sldImg"/>
          </p:nvPr>
        </p:nvSpPr>
        <p:spPr/>
      </p:sp>
      <p:sp>
        <p:nvSpPr>
          <p:cNvPr id="51204" name="Rectangle 3"/>
          <p:cNvSpPr>
            <a:spLocks noGrp="1"/>
          </p:cNvSpPr>
          <p:nvPr>
            <p:ph type="body"/>
          </p:nvPr>
        </p:nvSpPr>
        <p:spPr/>
        <p:txBody>
          <a:bodyPr wrap="square" lIns="91440" tIns="45720" rIns="91440" bIns="45720" anchor="t" anchorCtr="0"/>
          <a:p>
            <a:pPr lvl="0" eaLnBrk="1" hangingPunct="1"/>
            <a:r>
              <a:rPr lang="en-US" altLang="zh-CN" dirty="0"/>
              <a:t>K is independent of n</a:t>
            </a: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p:nvPr>
        </p:nvSpPr>
        <p:spPr/>
        <p:txBody>
          <a:bodyPr wrap="square" lIns="91440" tIns="45720" rIns="91440" bIns="45720" anchor="t" anchorCtr="0"/>
          <a:p>
            <a:pPr lvl="0"/>
            <a:endParaRPr lang="zh-CN" altLang="en-US" dirty="0"/>
          </a:p>
        </p:txBody>
      </p:sp>
      <p:sp>
        <p:nvSpPr>
          <p:cNvPr id="78852"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Arial" panose="020B0604020202020204" pitchFamily="34" charset="0"/>
              </a:rPr>
            </a:fld>
            <a:endParaRPr lang="en-US" altLang="zh-CN" sz="120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3074" name="Freeform 2"/>
          <p:cNvSpPr/>
          <p:nvPr/>
        </p:nvSpPr>
        <p:spPr>
          <a:xfrm>
            <a:off x="20638" y="12700"/>
            <a:ext cx="8896350" cy="6780213"/>
          </a:xfrm>
          <a:custGeom>
            <a:avLst/>
            <a:gdLst/>
            <a:ahLst/>
            <a:cxnLst>
              <a:cxn ang="0">
                <a:pos x="2147483646" y="0"/>
              </a:cxn>
              <a:cxn ang="0">
                <a:pos x="0" y="2147483646"/>
              </a:cxn>
              <a:cxn ang="0">
                <a:pos x="2147483646" y="2147483646"/>
              </a:cxn>
              <a:cxn ang="0">
                <a:pos x="2147483646" y="2147483646"/>
              </a:cxn>
              <a:cxn ang="0">
                <a:pos x="2147483646" y="0"/>
              </a:cxn>
            </a:cxnLst>
            <a:pathLst>
              <a:path w="3985" h="3619">
                <a:moveTo>
                  <a:pt x="2822" y="0"/>
                </a:moveTo>
                <a:lnTo>
                  <a:pt x="0" y="975"/>
                </a:lnTo>
                <a:lnTo>
                  <a:pt x="2169" y="3619"/>
                </a:lnTo>
                <a:lnTo>
                  <a:pt x="3985" y="1125"/>
                </a:lnTo>
                <a:lnTo>
                  <a:pt x="2822" y="0"/>
                </a:lnTo>
                <a:close/>
              </a:path>
            </a:pathLst>
          </a:custGeom>
          <a:solidFill>
            <a:schemeClr val="accent1">
              <a:alpha val="100000"/>
            </a:schemeClr>
          </a:solidFill>
          <a:ln w="9525">
            <a:noFill/>
          </a:ln>
        </p:spPr>
        <p:txBody>
          <a:bodyPr/>
          <a:p>
            <a:endParaRPr lang="zh-CN" altLang="en-US"/>
          </a:p>
        </p:txBody>
      </p:sp>
      <p:grpSp>
        <p:nvGrpSpPr>
          <p:cNvPr id="3075" name="Group 8"/>
          <p:cNvGrpSpPr/>
          <p:nvPr/>
        </p:nvGrpSpPr>
        <p:grpSpPr>
          <a:xfrm>
            <a:off x="195263" y="234950"/>
            <a:ext cx="3787775" cy="1778000"/>
            <a:chOff x="123" y="148"/>
            <a:chExt cx="2386" cy="1120"/>
          </a:xfrm>
        </p:grpSpPr>
        <p:sp>
          <p:nvSpPr>
            <p:cNvPr id="3093" name="Freeform 9"/>
            <p:cNvSpPr/>
            <p:nvPr userDrawn="1"/>
          </p:nvSpPr>
          <p:spPr>
            <a:xfrm>
              <a:off x="177" y="177"/>
              <a:ext cx="2250" cy="1017"/>
            </a:xfrm>
            <a:custGeom>
              <a:avLst/>
              <a:gdLst/>
              <a:ahLst/>
              <a:cxnLst>
                <a:cxn ang="0">
                  <a:pos x="1709583146" y="115072248"/>
                </a:cxn>
                <a:cxn ang="0">
                  <a:pos x="1528876213" y="92666539"/>
                </a:cxn>
                <a:cxn ang="0">
                  <a:pos x="1197511090" y="61231109"/>
                </a:cxn>
                <a:cxn ang="0">
                  <a:pos x="152827569" y="0"/>
                </a:cxn>
                <a:cxn ang="0">
                  <a:pos x="49289971" y="5801295"/>
                </a:cxn>
                <a:cxn ang="0">
                  <a:pos x="0" y="24200972"/>
                </a:cxn>
                <a:cxn ang="0">
                  <a:pos x="60067782" y="45194728"/>
                </a:cxn>
                <a:cxn ang="0">
                  <a:pos x="1227229359" y="119225010"/>
                </a:cxn>
                <a:cxn ang="0">
                  <a:pos x="1482956490" y="114484439"/>
                </a:cxn>
                <a:cxn ang="0">
                  <a:pos x="1689715221" y="120616028"/>
                </a:cxn>
                <a:cxn ang="0">
                  <a:pos x="1709583146" y="115072248"/>
                </a:cxn>
              </a:cxnLst>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alpha val="100000"/>
              </a:srgbClr>
            </a:solidFill>
            <a:ln w="9525">
              <a:noFill/>
            </a:ln>
          </p:spPr>
          <p:txBody>
            <a:bodyPr/>
            <a:p>
              <a:endParaRPr lang="zh-CN" altLang="en-US"/>
            </a:p>
          </p:txBody>
        </p:sp>
        <p:sp>
          <p:nvSpPr>
            <p:cNvPr id="3094" name="Freeform 10"/>
            <p:cNvSpPr/>
            <p:nvPr userDrawn="1"/>
          </p:nvSpPr>
          <p:spPr>
            <a:xfrm>
              <a:off x="166" y="261"/>
              <a:ext cx="2244" cy="1007"/>
            </a:xfrm>
            <a:custGeom>
              <a:avLst/>
              <a:gdLst/>
              <a:ahLst/>
              <a:cxnLst>
                <a:cxn ang="0">
                  <a:pos x="17655" y="0"/>
                </a:cxn>
                <a:cxn ang="0">
                  <a:pos x="171483" y="9051"/>
                </a:cxn>
                <a:cxn ang="0">
                  <a:pos x="183970" y="11127"/>
                </a:cxn>
                <a:cxn ang="0">
                  <a:pos x="204354" y="13811"/>
                </a:cxn>
                <a:cxn ang="0">
                  <a:pos x="201650" y="14319"/>
                </a:cxn>
                <a:cxn ang="0">
                  <a:pos x="173900" y="13724"/>
                </a:cxn>
                <a:cxn ang="0">
                  <a:pos x="147498" y="14145"/>
                </a:cxn>
                <a:cxn ang="0">
                  <a:pos x="5333" y="5212"/>
                </a:cxn>
                <a:cxn ang="0">
                  <a:pos x="0" y="2617"/>
                </a:cxn>
                <a:cxn ang="0">
                  <a:pos x="5914" y="552"/>
                </a:cxn>
                <a:cxn ang="0">
                  <a:pos x="17655" y="0"/>
                </a:cxn>
              </a:cxnLst>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alpha val="100000"/>
              </a:schemeClr>
            </a:solidFill>
            <a:ln w="9525">
              <a:noFill/>
            </a:ln>
          </p:spPr>
          <p:txBody>
            <a:bodyPr/>
            <a:p>
              <a:endParaRPr lang="zh-CN" altLang="en-US"/>
            </a:p>
          </p:txBody>
        </p:sp>
        <p:sp>
          <p:nvSpPr>
            <p:cNvPr id="3095" name="Freeform 11"/>
            <p:cNvSpPr/>
            <p:nvPr userDrawn="1"/>
          </p:nvSpPr>
          <p:spPr>
            <a:xfrm>
              <a:off x="474" y="344"/>
              <a:ext cx="1488" cy="919"/>
            </a:xfrm>
            <a:custGeom>
              <a:avLst/>
              <a:gdLst/>
              <a:ahLst/>
              <a:cxnLst>
                <a:cxn ang="0">
                  <a:pos x="0" y="5909"/>
                </a:cxn>
                <a:cxn ang="0">
                  <a:pos x="123098" y="13593"/>
                </a:cxn>
                <a:cxn ang="0">
                  <a:pos x="125388" y="9718"/>
                </a:cxn>
                <a:cxn ang="0">
                  <a:pos x="140072" y="7683"/>
                </a:cxn>
                <a:cxn ang="0">
                  <a:pos x="10413" y="0"/>
                </a:cxn>
                <a:cxn ang="0">
                  <a:pos x="0" y="2302"/>
                </a:cxn>
                <a:cxn ang="0">
                  <a:pos x="0" y="5909"/>
                </a:cxn>
              </a:cxnLst>
              <a:pathLst>
                <a:path w="1049" h="747">
                  <a:moveTo>
                    <a:pt x="0" y="325"/>
                  </a:moveTo>
                  <a:lnTo>
                    <a:pt x="922" y="747"/>
                  </a:lnTo>
                  <a:lnTo>
                    <a:pt x="939" y="534"/>
                  </a:lnTo>
                  <a:lnTo>
                    <a:pt x="1049" y="422"/>
                  </a:lnTo>
                  <a:lnTo>
                    <a:pt x="78" y="0"/>
                  </a:lnTo>
                  <a:lnTo>
                    <a:pt x="0" y="127"/>
                  </a:lnTo>
                  <a:lnTo>
                    <a:pt x="0" y="325"/>
                  </a:lnTo>
                  <a:close/>
                </a:path>
              </a:pathLst>
            </a:custGeom>
            <a:solidFill>
              <a:schemeClr val="bg2">
                <a:alpha val="100000"/>
              </a:schemeClr>
            </a:solidFill>
            <a:ln w="9525">
              <a:noFill/>
            </a:ln>
          </p:spPr>
          <p:txBody>
            <a:bodyPr/>
            <a:p>
              <a:endParaRPr lang="zh-CN" altLang="en-US"/>
            </a:p>
          </p:txBody>
        </p:sp>
        <p:grpSp>
          <p:nvGrpSpPr>
            <p:cNvPr id="3096" name="Group 12"/>
            <p:cNvGrpSpPr/>
            <p:nvPr userDrawn="1"/>
          </p:nvGrpSpPr>
          <p:grpSpPr>
            <a:xfrm>
              <a:off x="123" y="148"/>
              <a:ext cx="2386" cy="1081"/>
              <a:chOff x="123" y="148"/>
              <a:chExt cx="2386" cy="1081"/>
            </a:xfrm>
          </p:grpSpPr>
          <p:sp>
            <p:nvSpPr>
              <p:cNvPr id="3097" name="Freeform 13"/>
              <p:cNvSpPr/>
              <p:nvPr userDrawn="1"/>
            </p:nvSpPr>
            <p:spPr>
              <a:xfrm>
                <a:off x="2005" y="934"/>
                <a:ext cx="212" cy="214"/>
              </a:xfrm>
              <a:custGeom>
                <a:avLst/>
                <a:gdLst/>
                <a:ahLst/>
                <a:cxnLst>
                  <a:cxn ang="0">
                    <a:pos x="13933" y="0"/>
                  </a:cxn>
                  <a:cxn ang="0">
                    <a:pos x="5128" y="1304"/>
                  </a:cxn>
                  <a:cxn ang="0">
                    <a:pos x="0" y="3402"/>
                  </a:cxn>
                  <a:cxn ang="0">
                    <a:pos x="10138" y="3144"/>
                  </a:cxn>
                  <a:cxn ang="0">
                    <a:pos x="13059" y="1661"/>
                  </a:cxn>
                  <a:cxn ang="0">
                    <a:pos x="19056" y="527"/>
                  </a:cxn>
                  <a:cxn ang="0">
                    <a:pos x="13933" y="0"/>
                  </a:cxn>
                </a:cxnLst>
                <a:pathLst>
                  <a:path w="150" h="173">
                    <a:moveTo>
                      <a:pt x="110" y="0"/>
                    </a:moveTo>
                    <a:lnTo>
                      <a:pt x="40" y="66"/>
                    </a:lnTo>
                    <a:lnTo>
                      <a:pt x="0" y="173"/>
                    </a:lnTo>
                    <a:lnTo>
                      <a:pt x="80" y="160"/>
                    </a:lnTo>
                    <a:lnTo>
                      <a:pt x="103" y="84"/>
                    </a:lnTo>
                    <a:lnTo>
                      <a:pt x="150" y="27"/>
                    </a:lnTo>
                    <a:lnTo>
                      <a:pt x="110" y="0"/>
                    </a:lnTo>
                    <a:close/>
                  </a:path>
                </a:pathLst>
              </a:custGeom>
              <a:solidFill>
                <a:schemeClr val="accent2">
                  <a:alpha val="100000"/>
                </a:schemeClr>
              </a:solidFill>
              <a:ln w="9525">
                <a:noFill/>
              </a:ln>
            </p:spPr>
            <p:txBody>
              <a:bodyPr/>
              <a:p>
                <a:endParaRPr lang="zh-CN" altLang="en-US"/>
              </a:p>
            </p:txBody>
          </p:sp>
          <p:sp>
            <p:nvSpPr>
              <p:cNvPr id="3098" name="Freeform 14"/>
              <p:cNvSpPr/>
              <p:nvPr userDrawn="1"/>
            </p:nvSpPr>
            <p:spPr>
              <a:xfrm>
                <a:off x="123" y="148"/>
                <a:ext cx="2386" cy="1081"/>
              </a:xfrm>
              <a:custGeom>
                <a:avLst/>
                <a:gdLst/>
                <a:ahLst/>
                <a:cxnLst>
                  <a:cxn ang="0">
                    <a:pos x="20489" y="0"/>
                  </a:cxn>
                  <a:cxn ang="0">
                    <a:pos x="8284" y="927"/>
                  </a:cxn>
                  <a:cxn ang="0">
                    <a:pos x="0" y="3707"/>
                  </a:cxn>
                  <a:cxn ang="0">
                    <a:pos x="8836" y="6394"/>
                  </a:cxn>
                  <a:cxn ang="0">
                    <a:pos x="155303" y="15445"/>
                  </a:cxn>
                  <a:cxn ang="0">
                    <a:pos x="186855" y="14882"/>
                  </a:cxn>
                  <a:cxn ang="0">
                    <a:pos x="212422" y="15679"/>
                  </a:cxn>
                  <a:cxn ang="0">
                    <a:pos x="221293" y="14413"/>
                  </a:cxn>
                  <a:cxn ang="0">
                    <a:pos x="197354" y="11826"/>
                  </a:cxn>
                  <a:cxn ang="0">
                    <a:pos x="187627" y="9132"/>
                  </a:cxn>
                  <a:cxn ang="0">
                    <a:pos x="179950" y="9390"/>
                  </a:cxn>
                  <a:cxn ang="0">
                    <a:pos x="189071" y="11826"/>
                  </a:cxn>
                  <a:cxn ang="0">
                    <a:pos x="207357" y="14423"/>
                  </a:cxn>
                  <a:cxn ang="0">
                    <a:pos x="185696" y="14024"/>
                  </a:cxn>
                  <a:cxn ang="0">
                    <a:pos x="160155" y="14488"/>
                  </a:cxn>
                  <a:cxn ang="0">
                    <a:pos x="164882" y="11573"/>
                  </a:cxn>
                  <a:cxn ang="0">
                    <a:pos x="175833" y="9587"/>
                  </a:cxn>
                  <a:cxn ang="0">
                    <a:pos x="163013" y="9835"/>
                  </a:cxn>
                  <a:cxn ang="0">
                    <a:pos x="153074" y="11733"/>
                  </a:cxn>
                  <a:cxn ang="0">
                    <a:pos x="149696" y="14098"/>
                  </a:cxn>
                  <a:cxn ang="0">
                    <a:pos x="14077" y="5522"/>
                  </a:cxn>
                  <a:cxn ang="0">
                    <a:pos x="10481" y="3825"/>
                  </a:cxn>
                  <a:cxn ang="0">
                    <a:pos x="13528" y="1703"/>
                  </a:cxn>
                  <a:cxn ang="0">
                    <a:pos x="28469" y="0"/>
                  </a:cxn>
                  <a:cxn ang="0">
                    <a:pos x="20489" y="0"/>
                  </a:cxn>
                </a:cxnLst>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alpha val="100000"/>
                </a:schemeClr>
              </a:solidFill>
              <a:ln w="9525">
                <a:noFill/>
              </a:ln>
            </p:spPr>
            <p:txBody>
              <a:bodyPr/>
              <a:p>
                <a:endParaRPr lang="zh-CN" altLang="en-US"/>
              </a:p>
            </p:txBody>
          </p:sp>
          <p:sp>
            <p:nvSpPr>
              <p:cNvPr id="3099" name="Freeform 15"/>
              <p:cNvSpPr/>
              <p:nvPr userDrawn="1"/>
            </p:nvSpPr>
            <p:spPr>
              <a:xfrm>
                <a:off x="324" y="158"/>
                <a:ext cx="1686" cy="614"/>
              </a:xfrm>
              <a:custGeom>
                <a:avLst/>
                <a:gdLst/>
                <a:ahLst/>
                <a:cxnLst>
                  <a:cxn ang="0">
                    <a:pos x="13151" y="0"/>
                  </a:cxn>
                  <a:cxn ang="0">
                    <a:pos x="156309" y="8688"/>
                  </a:cxn>
                  <a:cxn ang="0">
                    <a:pos x="141239" y="8864"/>
                  </a:cxn>
                  <a:cxn ang="0">
                    <a:pos x="0" y="478"/>
                  </a:cxn>
                  <a:cxn ang="0">
                    <a:pos x="13151" y="0"/>
                  </a:cxn>
                </a:cxnLst>
                <a:pathLst>
                  <a:path w="1190" h="500">
                    <a:moveTo>
                      <a:pt x="100" y="0"/>
                    </a:moveTo>
                    <a:lnTo>
                      <a:pt x="1190" y="490"/>
                    </a:lnTo>
                    <a:lnTo>
                      <a:pt x="1076" y="500"/>
                    </a:lnTo>
                    <a:lnTo>
                      <a:pt x="0" y="27"/>
                    </a:lnTo>
                    <a:lnTo>
                      <a:pt x="100" y="0"/>
                    </a:lnTo>
                    <a:close/>
                  </a:path>
                </a:pathLst>
              </a:custGeom>
              <a:solidFill>
                <a:schemeClr val="accent2">
                  <a:alpha val="100000"/>
                </a:schemeClr>
              </a:solidFill>
              <a:ln w="9525">
                <a:noFill/>
              </a:ln>
            </p:spPr>
            <p:txBody>
              <a:bodyPr/>
              <a:p>
                <a:endParaRPr lang="zh-CN" altLang="en-US"/>
              </a:p>
            </p:txBody>
          </p:sp>
          <p:sp>
            <p:nvSpPr>
              <p:cNvPr id="3100" name="Freeform 16"/>
              <p:cNvSpPr/>
              <p:nvPr userDrawn="1"/>
            </p:nvSpPr>
            <p:spPr>
              <a:xfrm>
                <a:off x="409" y="251"/>
                <a:ext cx="227" cy="410"/>
              </a:xfrm>
              <a:custGeom>
                <a:avLst/>
                <a:gdLst/>
                <a:ahLst/>
                <a:cxnLst>
                  <a:cxn ang="0">
                    <a:pos x="15561" y="0"/>
                  </a:cxn>
                  <a:cxn ang="0">
                    <a:pos x="2548" y="1804"/>
                  </a:cxn>
                  <a:cxn ang="0">
                    <a:pos x="0" y="3885"/>
                  </a:cxn>
                  <a:cxn ang="0">
                    <a:pos x="4465" y="5312"/>
                  </a:cxn>
                  <a:cxn ang="0">
                    <a:pos x="12547" y="5663"/>
                  </a:cxn>
                  <a:cxn ang="0">
                    <a:pos x="10187" y="2593"/>
                  </a:cxn>
                  <a:cxn ang="0">
                    <a:pos x="21405" y="296"/>
                  </a:cxn>
                  <a:cxn ang="0">
                    <a:pos x="15561" y="0"/>
                  </a:cxn>
                </a:cxnLst>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alpha val="100000"/>
                </a:schemeClr>
              </a:solidFill>
              <a:ln w="9525">
                <a:noFill/>
              </a:ln>
            </p:spPr>
            <p:txBody>
              <a:bodyPr/>
              <a:p>
                <a:endParaRPr lang="zh-CN" altLang="en-US"/>
              </a:p>
            </p:txBody>
          </p:sp>
          <p:sp>
            <p:nvSpPr>
              <p:cNvPr id="3101" name="Freeform 17"/>
              <p:cNvSpPr/>
              <p:nvPr userDrawn="1"/>
            </p:nvSpPr>
            <p:spPr>
              <a:xfrm>
                <a:off x="846" y="536"/>
                <a:ext cx="691" cy="364"/>
              </a:xfrm>
              <a:custGeom>
                <a:avLst/>
                <a:gdLst/>
                <a:ahLst/>
                <a:cxnLst>
                  <a:cxn ang="0">
                    <a:pos x="1814" y="621"/>
                  </a:cxn>
                  <a:cxn ang="0">
                    <a:pos x="20214" y="1200"/>
                  </a:cxn>
                  <a:cxn ang="0">
                    <a:pos x="41016" y="2483"/>
                  </a:cxn>
                  <a:cxn ang="0">
                    <a:pos x="55704" y="4402"/>
                  </a:cxn>
                  <a:cxn ang="0">
                    <a:pos x="41264" y="4163"/>
                  </a:cxn>
                  <a:cxn ang="0">
                    <a:pos x="17546" y="2645"/>
                  </a:cxn>
                  <a:cxn ang="0">
                    <a:pos x="6314" y="1447"/>
                  </a:cxn>
                  <a:cxn ang="0">
                    <a:pos x="13505" y="2949"/>
                  </a:cxn>
                  <a:cxn ang="0">
                    <a:pos x="34421" y="4880"/>
                  </a:cxn>
                  <a:cxn ang="0">
                    <a:pos x="58958" y="5369"/>
                  </a:cxn>
                  <a:cxn ang="0">
                    <a:pos x="61882" y="4053"/>
                  </a:cxn>
                  <a:cxn ang="0">
                    <a:pos x="49876" y="2179"/>
                  </a:cxn>
                  <a:cxn ang="0">
                    <a:pos x="21492" y="314"/>
                  </a:cxn>
                  <a:cxn ang="0">
                    <a:pos x="0" y="0"/>
                  </a:cxn>
                  <a:cxn ang="0">
                    <a:pos x="1814" y="621"/>
                  </a:cxn>
                </a:cxnLst>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alpha val="100000"/>
                </a:schemeClr>
              </a:solidFill>
              <a:ln w="9525">
                <a:noFill/>
              </a:ln>
            </p:spPr>
            <p:txBody>
              <a:bodyPr/>
              <a:p>
                <a:endParaRPr lang="zh-CN" altLang="en-US"/>
              </a:p>
            </p:txBody>
          </p:sp>
        </p:grpSp>
      </p:grpSp>
      <p:grpSp>
        <p:nvGrpSpPr>
          <p:cNvPr id="3076" name="Group 18"/>
          <p:cNvGrpSpPr/>
          <p:nvPr/>
        </p:nvGrpSpPr>
        <p:grpSpPr>
          <a:xfrm>
            <a:off x="7915275" y="4368800"/>
            <a:ext cx="742950" cy="1058863"/>
            <a:chOff x="4986" y="2752"/>
            <a:chExt cx="468" cy="667"/>
          </a:xfrm>
        </p:grpSpPr>
        <p:sp>
          <p:nvSpPr>
            <p:cNvPr id="3084" name="Freeform 19"/>
            <p:cNvSpPr/>
            <p:nvPr userDrawn="1"/>
          </p:nvSpPr>
          <p:spPr>
            <a:xfrm rot="7320404">
              <a:off x="4907" y="2934"/>
              <a:ext cx="629" cy="293"/>
            </a:xfrm>
            <a:custGeom>
              <a:avLst/>
              <a:gdLst/>
              <a:ahLst/>
              <a:cxnLst>
                <a:cxn ang="0">
                  <a:pos x="30" y="3"/>
                </a:cxn>
                <a:cxn ang="0">
                  <a:pos x="28" y="3"/>
                </a:cxn>
                <a:cxn ang="0">
                  <a:pos x="21" y="1"/>
                </a:cxn>
                <a:cxn ang="0">
                  <a:pos x="2" y="0"/>
                </a:cxn>
                <a:cxn ang="0">
                  <a:pos x="2" y="1"/>
                </a:cxn>
                <a:cxn ang="0">
                  <a:pos x="0" y="1"/>
                </a:cxn>
                <a:cxn ang="0">
                  <a:pos x="2" y="1"/>
                </a:cxn>
                <a:cxn ang="0">
                  <a:pos x="22" y="3"/>
                </a:cxn>
                <a:cxn ang="0">
                  <a:pos x="26" y="3"/>
                </a:cxn>
                <a:cxn ang="0">
                  <a:pos x="30" y="3"/>
                </a:cxn>
                <a:cxn ang="0">
                  <a:pos x="30" y="3"/>
                </a:cxn>
              </a:cxnLst>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alpha val="100000"/>
              </a:srgbClr>
            </a:solidFill>
            <a:ln w="9525">
              <a:noFill/>
            </a:ln>
          </p:spPr>
          <p:txBody>
            <a:bodyPr/>
            <a:p>
              <a:endParaRPr lang="zh-CN" altLang="en-US"/>
            </a:p>
          </p:txBody>
        </p:sp>
        <p:sp>
          <p:nvSpPr>
            <p:cNvPr id="3085" name="Freeform 20"/>
            <p:cNvSpPr/>
            <p:nvPr userDrawn="1"/>
          </p:nvSpPr>
          <p:spPr>
            <a:xfrm rot="7320404">
              <a:off x="4891" y="2920"/>
              <a:ext cx="627" cy="29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alpha val="100000"/>
              </a:schemeClr>
            </a:solidFill>
            <a:ln w="9525">
              <a:noFill/>
            </a:ln>
          </p:spPr>
          <p:txBody>
            <a:bodyPr/>
            <a:p>
              <a:endParaRPr lang="zh-CN" altLang="en-US"/>
            </a:p>
          </p:txBody>
        </p:sp>
        <p:sp>
          <p:nvSpPr>
            <p:cNvPr id="3086" name="Freeform 21"/>
            <p:cNvSpPr/>
            <p:nvPr userDrawn="1"/>
          </p:nvSpPr>
          <p:spPr>
            <a:xfrm rot="7320404">
              <a:off x="4997" y="2911"/>
              <a:ext cx="416" cy="265"/>
            </a:xfrm>
            <a:custGeom>
              <a:avLst/>
              <a:gdLst/>
              <a:ahLst/>
              <a:cxnLst>
                <a:cxn ang="0">
                  <a:pos x="0" y="0"/>
                </a:cxn>
                <a:cxn ang="0">
                  <a:pos x="0" y="0"/>
                </a:cxn>
                <a:cxn ang="0">
                  <a:pos x="0" y="0"/>
                </a:cxn>
                <a:cxn ang="0">
                  <a:pos x="0" y="0"/>
                </a:cxn>
                <a:cxn ang="0">
                  <a:pos x="0" y="0"/>
                </a:cxn>
                <a:cxn ang="0">
                  <a:pos x="0" y="0"/>
                </a:cxn>
                <a:cxn ang="0">
                  <a:pos x="0" y="0"/>
                </a:cxn>
              </a:cxnLst>
              <a:pathLst>
                <a:path w="1049" h="747">
                  <a:moveTo>
                    <a:pt x="0" y="325"/>
                  </a:moveTo>
                  <a:lnTo>
                    <a:pt x="922" y="747"/>
                  </a:lnTo>
                  <a:lnTo>
                    <a:pt x="939" y="534"/>
                  </a:lnTo>
                  <a:lnTo>
                    <a:pt x="1049" y="422"/>
                  </a:lnTo>
                  <a:lnTo>
                    <a:pt x="78" y="0"/>
                  </a:lnTo>
                  <a:lnTo>
                    <a:pt x="0" y="127"/>
                  </a:lnTo>
                  <a:lnTo>
                    <a:pt x="0" y="325"/>
                  </a:lnTo>
                  <a:close/>
                </a:path>
              </a:pathLst>
            </a:custGeom>
            <a:solidFill>
              <a:schemeClr val="bg2">
                <a:alpha val="100000"/>
              </a:schemeClr>
            </a:solidFill>
            <a:ln w="9525">
              <a:noFill/>
            </a:ln>
          </p:spPr>
          <p:txBody>
            <a:bodyPr/>
            <a:p>
              <a:endParaRPr lang="zh-CN" altLang="en-US"/>
            </a:p>
          </p:txBody>
        </p:sp>
        <p:grpSp>
          <p:nvGrpSpPr>
            <p:cNvPr id="3087" name="Group 22"/>
            <p:cNvGrpSpPr/>
            <p:nvPr userDrawn="1"/>
          </p:nvGrpSpPr>
          <p:grpSpPr>
            <a:xfrm>
              <a:off x="4986" y="2752"/>
              <a:ext cx="469" cy="667"/>
              <a:chOff x="4986" y="2752"/>
              <a:chExt cx="469" cy="667"/>
            </a:xfrm>
          </p:grpSpPr>
          <p:sp>
            <p:nvSpPr>
              <p:cNvPr id="3088" name="Freeform 23"/>
              <p:cNvSpPr/>
              <p:nvPr userDrawn="1"/>
            </p:nvSpPr>
            <p:spPr>
              <a:xfrm rot="7320404">
                <a:off x="4985" y="3188"/>
                <a:ext cx="59" cy="61"/>
              </a:xfrm>
              <a:custGeom>
                <a:avLst/>
                <a:gdLst/>
                <a:ahLst/>
                <a:cxnLst>
                  <a:cxn ang="0">
                    <a:pos x="0" y="0"/>
                  </a:cxn>
                  <a:cxn ang="0">
                    <a:pos x="0" y="0"/>
                  </a:cxn>
                  <a:cxn ang="0">
                    <a:pos x="0" y="0"/>
                  </a:cxn>
                  <a:cxn ang="0">
                    <a:pos x="0" y="0"/>
                  </a:cxn>
                  <a:cxn ang="0">
                    <a:pos x="0" y="0"/>
                  </a:cxn>
                  <a:cxn ang="0">
                    <a:pos x="0" y="0"/>
                  </a:cxn>
                  <a:cxn ang="0">
                    <a:pos x="0" y="0"/>
                  </a:cxn>
                </a:cxnLst>
                <a:pathLst>
                  <a:path w="150" h="173">
                    <a:moveTo>
                      <a:pt x="110" y="0"/>
                    </a:moveTo>
                    <a:lnTo>
                      <a:pt x="40" y="66"/>
                    </a:lnTo>
                    <a:lnTo>
                      <a:pt x="0" y="173"/>
                    </a:lnTo>
                    <a:lnTo>
                      <a:pt x="80" y="160"/>
                    </a:lnTo>
                    <a:lnTo>
                      <a:pt x="103" y="84"/>
                    </a:lnTo>
                    <a:lnTo>
                      <a:pt x="150" y="27"/>
                    </a:lnTo>
                    <a:lnTo>
                      <a:pt x="110" y="0"/>
                    </a:lnTo>
                    <a:close/>
                  </a:path>
                </a:pathLst>
              </a:custGeom>
              <a:solidFill>
                <a:schemeClr val="accent2">
                  <a:alpha val="100000"/>
                </a:schemeClr>
              </a:solidFill>
              <a:ln w="9525">
                <a:noFill/>
              </a:ln>
            </p:spPr>
            <p:txBody>
              <a:bodyPr/>
              <a:p>
                <a:endParaRPr lang="zh-CN" altLang="en-US"/>
              </a:p>
            </p:txBody>
          </p:sp>
          <p:sp>
            <p:nvSpPr>
              <p:cNvPr id="3089" name="Freeform 24"/>
              <p:cNvSpPr/>
              <p:nvPr userDrawn="1"/>
            </p:nvSpPr>
            <p:spPr>
              <a:xfrm rot="7320404">
                <a:off x="4885" y="2928"/>
                <a:ext cx="667" cy="3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alpha val="100000"/>
                </a:schemeClr>
              </a:solidFill>
              <a:ln w="9525">
                <a:noFill/>
              </a:ln>
            </p:spPr>
            <p:txBody>
              <a:bodyPr/>
              <a:p>
                <a:endParaRPr lang="zh-CN" altLang="en-US"/>
              </a:p>
            </p:txBody>
          </p:sp>
          <p:sp>
            <p:nvSpPr>
              <p:cNvPr id="3090" name="Freeform 25"/>
              <p:cNvSpPr/>
              <p:nvPr userDrawn="1"/>
            </p:nvSpPr>
            <p:spPr>
              <a:xfrm rot="7320404">
                <a:off x="5062" y="2997"/>
                <a:ext cx="472" cy="176"/>
              </a:xfrm>
              <a:custGeom>
                <a:avLst/>
                <a:gdLst/>
                <a:ahLst/>
                <a:cxnLst>
                  <a:cxn ang="0">
                    <a:pos x="0" y="0"/>
                  </a:cxn>
                  <a:cxn ang="0">
                    <a:pos x="0" y="0"/>
                  </a:cxn>
                  <a:cxn ang="0">
                    <a:pos x="0" y="0"/>
                  </a:cxn>
                  <a:cxn ang="0">
                    <a:pos x="0" y="0"/>
                  </a:cxn>
                  <a:cxn ang="0">
                    <a:pos x="0" y="0"/>
                  </a:cxn>
                </a:cxnLst>
                <a:pathLst>
                  <a:path w="1190" h="500">
                    <a:moveTo>
                      <a:pt x="100" y="0"/>
                    </a:moveTo>
                    <a:lnTo>
                      <a:pt x="1190" y="490"/>
                    </a:lnTo>
                    <a:lnTo>
                      <a:pt x="1076" y="500"/>
                    </a:lnTo>
                    <a:lnTo>
                      <a:pt x="0" y="27"/>
                    </a:lnTo>
                    <a:lnTo>
                      <a:pt x="100" y="0"/>
                    </a:lnTo>
                    <a:close/>
                  </a:path>
                </a:pathLst>
              </a:custGeom>
              <a:solidFill>
                <a:schemeClr val="accent2">
                  <a:alpha val="100000"/>
                </a:schemeClr>
              </a:solidFill>
              <a:ln w="9525">
                <a:noFill/>
              </a:ln>
            </p:spPr>
            <p:txBody>
              <a:bodyPr/>
              <a:p>
                <a:endParaRPr lang="zh-CN" altLang="en-US"/>
              </a:p>
            </p:txBody>
          </p:sp>
          <p:sp>
            <p:nvSpPr>
              <p:cNvPr id="3091" name="Freeform 26"/>
              <p:cNvSpPr/>
              <p:nvPr userDrawn="1"/>
            </p:nvSpPr>
            <p:spPr>
              <a:xfrm rot="7320404">
                <a:off x="5362" y="2870"/>
                <a:ext cx="63" cy="118"/>
              </a:xfrm>
              <a:custGeom>
                <a:avLst/>
                <a:gdLst/>
                <a:ahLst/>
                <a:cxnLst>
                  <a:cxn ang="0">
                    <a:pos x="0" y="0"/>
                  </a:cxn>
                  <a:cxn ang="0">
                    <a:pos x="0" y="0"/>
                  </a:cxn>
                  <a:cxn ang="0">
                    <a:pos x="0" y="0"/>
                  </a:cxn>
                  <a:cxn ang="0">
                    <a:pos x="0" y="0"/>
                  </a:cxn>
                  <a:cxn ang="0">
                    <a:pos x="0" y="0"/>
                  </a:cxn>
                  <a:cxn ang="0">
                    <a:pos x="0" y="0"/>
                  </a:cxn>
                  <a:cxn ang="0">
                    <a:pos x="0" y="0"/>
                  </a:cxn>
                  <a:cxn ang="0">
                    <a:pos x="0" y="0"/>
                  </a:cxn>
                </a:cxnLst>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alpha val="100000"/>
                </a:schemeClr>
              </a:solidFill>
              <a:ln w="9525">
                <a:noFill/>
              </a:ln>
            </p:spPr>
            <p:txBody>
              <a:bodyPr/>
              <a:p>
                <a:endParaRPr lang="zh-CN" altLang="en-US"/>
              </a:p>
            </p:txBody>
          </p:sp>
          <p:sp>
            <p:nvSpPr>
              <p:cNvPr id="3092" name="Freeform 27"/>
              <p:cNvSpPr/>
              <p:nvPr userDrawn="1"/>
            </p:nvSpPr>
            <p:spPr>
              <a:xfrm rot="7320404">
                <a:off x="5135" y="2997"/>
                <a:ext cx="193"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alpha val="100000"/>
                </a:schemeClr>
              </a:solidFill>
              <a:ln w="9525">
                <a:noFill/>
              </a:ln>
            </p:spPr>
            <p:txBody>
              <a:bodyPr/>
              <a:p>
                <a:endParaRPr lang="zh-CN" altLang="en-US"/>
              </a:p>
            </p:txBody>
          </p:sp>
        </p:grpSp>
      </p:grpSp>
      <p:sp>
        <p:nvSpPr>
          <p:cNvPr id="3077" name="Freeform 28"/>
          <p:cNvSpPr/>
          <p:nvPr/>
        </p:nvSpPr>
        <p:spPr>
          <a:xfrm>
            <a:off x="901700" y="5054600"/>
            <a:ext cx="6807200" cy="728663"/>
          </a:xfrm>
          <a:custGeom>
            <a:avLst/>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p>
            <a:endParaRPr lang="zh-CN" altLang="en-US"/>
          </a:p>
        </p:txBody>
      </p:sp>
      <p:sp>
        <p:nvSpPr>
          <p:cNvPr id="3078" name="Freeform 29"/>
          <p:cNvSpPr/>
          <p:nvPr/>
        </p:nvSpPr>
        <p:spPr>
          <a:xfrm>
            <a:off x="4076700" y="1930400"/>
            <a:ext cx="889000" cy="381000"/>
          </a:xfrm>
          <a:custGeom>
            <a:avLst/>
            <a:gdLst/>
            <a:ahLst/>
            <a:cxnLst>
              <a:cxn ang="0">
                <a:pos x="0" y="2147483646"/>
              </a:cxn>
              <a:cxn ang="0">
                <a:pos x="2147483646" y="2147483646"/>
              </a:cxn>
              <a:cxn ang="0">
                <a:pos x="2147483646" y="2147483646"/>
              </a:cxn>
              <a:cxn ang="0">
                <a:pos x="2147483646" y="2147483646"/>
              </a:cxn>
            </a:cxnLst>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p>
            <a:endParaRPr lang="zh-CN" altLang="en-US"/>
          </a:p>
        </p:txBody>
      </p:sp>
      <p:sp>
        <p:nvSpPr>
          <p:cNvPr id="7171"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7172"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25" name="Rectangle 5"/>
          <p:cNvSpPr>
            <a:spLocks noGrp="1" noChangeArrowheads="1"/>
          </p:cNvSpPr>
          <p:nvPr>
            <p:ph type="dt" sz="half" idx="2"/>
          </p:nvPr>
        </p:nvSpPr>
        <p:spPr bwMode="auto">
          <a:xfrm>
            <a:off x="6858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26" name="Rectangle 6"/>
          <p:cNvSpPr>
            <a:spLocks noGrp="1" noChangeArrowheads="1"/>
          </p:cNvSpPr>
          <p:nvPr>
            <p:ph type="ftr" sz="quarter" idx="3"/>
          </p:nvPr>
        </p:nvSpPr>
        <p:spPr bwMode="auto">
          <a:xfrm>
            <a:off x="31242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27" name="Rectangle 7"/>
          <p:cNvSpPr>
            <a:spLocks noGrp="1" noChangeArrowheads="1"/>
          </p:cNvSpPr>
          <p:nvPr>
            <p:ph type="sldNum" sz="quarter" idx="4"/>
          </p:nvPr>
        </p:nvSpPr>
        <p:spPr bwMode="auto">
          <a:xfrm>
            <a:off x="65532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828800"/>
            <a:ext cx="37719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828800"/>
            <a:ext cx="37719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Rectangle 6"/>
          <p:cNvSpPr>
            <a:spLocks noGrp="1" noChangeArrowheads="1"/>
          </p:cNvSpPr>
          <p:nvPr>
            <p:ph type="ftr" sz="quarter" idx="1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Rectangle 7"/>
          <p:cNvSpPr>
            <a:spLocks noGrp="1" noChangeArrowheads="1"/>
          </p:cNvSpPr>
          <p:nvPr>
            <p:ph type="sldNum" sz="quarter" idx="1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
        <p:nvSpPr>
          <p:cNvPr id="2"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85800" y="1828800"/>
            <a:ext cx="3771900" cy="36576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828800"/>
            <a:ext cx="3771900" cy="36576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5362" name="Freeform 2"/>
          <p:cNvSpPr/>
          <p:nvPr/>
        </p:nvSpPr>
        <p:spPr>
          <a:xfrm>
            <a:off x="20638" y="12700"/>
            <a:ext cx="8896350" cy="6780213"/>
          </a:xfrm>
          <a:custGeom>
            <a:avLst/>
            <a:gdLst/>
            <a:ahLst/>
            <a:cxnLst>
              <a:cxn ang="0">
                <a:pos x="2147483646" y="0"/>
              </a:cxn>
              <a:cxn ang="0">
                <a:pos x="0" y="2147483646"/>
              </a:cxn>
              <a:cxn ang="0">
                <a:pos x="2147483646" y="2147483646"/>
              </a:cxn>
              <a:cxn ang="0">
                <a:pos x="2147483646" y="2147483646"/>
              </a:cxn>
              <a:cxn ang="0">
                <a:pos x="2147483646" y="0"/>
              </a:cxn>
            </a:cxnLst>
            <a:pathLst>
              <a:path w="3985" h="3619">
                <a:moveTo>
                  <a:pt x="2822" y="0"/>
                </a:moveTo>
                <a:lnTo>
                  <a:pt x="0" y="975"/>
                </a:lnTo>
                <a:lnTo>
                  <a:pt x="2169" y="3619"/>
                </a:lnTo>
                <a:lnTo>
                  <a:pt x="3985" y="1125"/>
                </a:lnTo>
                <a:lnTo>
                  <a:pt x="2822" y="0"/>
                </a:lnTo>
                <a:close/>
              </a:path>
            </a:pathLst>
          </a:custGeom>
          <a:solidFill>
            <a:schemeClr val="accent1">
              <a:alpha val="100000"/>
            </a:schemeClr>
          </a:solidFill>
          <a:ln w="9525">
            <a:noFill/>
          </a:ln>
        </p:spPr>
        <p:txBody>
          <a:bodyPr/>
          <a:p>
            <a:endParaRPr lang="zh-CN" altLang="en-US"/>
          </a:p>
        </p:txBody>
      </p:sp>
      <p:grpSp>
        <p:nvGrpSpPr>
          <p:cNvPr id="15363" name="Group 8"/>
          <p:cNvGrpSpPr/>
          <p:nvPr/>
        </p:nvGrpSpPr>
        <p:grpSpPr>
          <a:xfrm>
            <a:off x="195263" y="234950"/>
            <a:ext cx="3787775" cy="1778000"/>
            <a:chOff x="123" y="148"/>
            <a:chExt cx="2386" cy="1120"/>
          </a:xfrm>
        </p:grpSpPr>
        <p:sp>
          <p:nvSpPr>
            <p:cNvPr id="15381" name="Freeform 9"/>
            <p:cNvSpPr/>
            <p:nvPr userDrawn="1"/>
          </p:nvSpPr>
          <p:spPr>
            <a:xfrm>
              <a:off x="177" y="177"/>
              <a:ext cx="2250" cy="1017"/>
            </a:xfrm>
            <a:custGeom>
              <a:avLst/>
              <a:gdLst/>
              <a:ahLst/>
              <a:cxnLst>
                <a:cxn ang="0">
                  <a:pos x="1709583146" y="115072248"/>
                </a:cxn>
                <a:cxn ang="0">
                  <a:pos x="1528876213" y="92666539"/>
                </a:cxn>
                <a:cxn ang="0">
                  <a:pos x="1197511090" y="61231109"/>
                </a:cxn>
                <a:cxn ang="0">
                  <a:pos x="152827569" y="0"/>
                </a:cxn>
                <a:cxn ang="0">
                  <a:pos x="49289971" y="5801295"/>
                </a:cxn>
                <a:cxn ang="0">
                  <a:pos x="0" y="24200972"/>
                </a:cxn>
                <a:cxn ang="0">
                  <a:pos x="60067782" y="45194728"/>
                </a:cxn>
                <a:cxn ang="0">
                  <a:pos x="1227229359" y="119225010"/>
                </a:cxn>
                <a:cxn ang="0">
                  <a:pos x="1482956490" y="114484439"/>
                </a:cxn>
                <a:cxn ang="0">
                  <a:pos x="1689715221" y="120616028"/>
                </a:cxn>
                <a:cxn ang="0">
                  <a:pos x="1709583146" y="115072248"/>
                </a:cxn>
              </a:cxnLst>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alpha val="100000"/>
              </a:srgbClr>
            </a:solidFill>
            <a:ln w="9525">
              <a:noFill/>
            </a:ln>
          </p:spPr>
          <p:txBody>
            <a:bodyPr/>
            <a:p>
              <a:endParaRPr lang="zh-CN" altLang="en-US"/>
            </a:p>
          </p:txBody>
        </p:sp>
        <p:sp>
          <p:nvSpPr>
            <p:cNvPr id="15382" name="Freeform 10"/>
            <p:cNvSpPr/>
            <p:nvPr userDrawn="1"/>
          </p:nvSpPr>
          <p:spPr>
            <a:xfrm>
              <a:off x="166" y="261"/>
              <a:ext cx="2244" cy="1007"/>
            </a:xfrm>
            <a:custGeom>
              <a:avLst/>
              <a:gdLst/>
              <a:ahLst/>
              <a:cxnLst>
                <a:cxn ang="0">
                  <a:pos x="17655" y="0"/>
                </a:cxn>
                <a:cxn ang="0">
                  <a:pos x="171483" y="9051"/>
                </a:cxn>
                <a:cxn ang="0">
                  <a:pos x="183970" y="11127"/>
                </a:cxn>
                <a:cxn ang="0">
                  <a:pos x="204354" y="13811"/>
                </a:cxn>
                <a:cxn ang="0">
                  <a:pos x="201650" y="14319"/>
                </a:cxn>
                <a:cxn ang="0">
                  <a:pos x="173900" y="13724"/>
                </a:cxn>
                <a:cxn ang="0">
                  <a:pos x="147498" y="14145"/>
                </a:cxn>
                <a:cxn ang="0">
                  <a:pos x="5333" y="5212"/>
                </a:cxn>
                <a:cxn ang="0">
                  <a:pos x="0" y="2617"/>
                </a:cxn>
                <a:cxn ang="0">
                  <a:pos x="5914" y="552"/>
                </a:cxn>
                <a:cxn ang="0">
                  <a:pos x="17655" y="0"/>
                </a:cxn>
              </a:cxnLst>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alpha val="100000"/>
              </a:schemeClr>
            </a:solidFill>
            <a:ln w="9525">
              <a:noFill/>
            </a:ln>
          </p:spPr>
          <p:txBody>
            <a:bodyPr/>
            <a:p>
              <a:endParaRPr lang="zh-CN" altLang="en-US"/>
            </a:p>
          </p:txBody>
        </p:sp>
        <p:sp>
          <p:nvSpPr>
            <p:cNvPr id="15383" name="Freeform 11"/>
            <p:cNvSpPr/>
            <p:nvPr userDrawn="1"/>
          </p:nvSpPr>
          <p:spPr>
            <a:xfrm>
              <a:off x="474" y="344"/>
              <a:ext cx="1488" cy="919"/>
            </a:xfrm>
            <a:custGeom>
              <a:avLst/>
              <a:gdLst/>
              <a:ahLst/>
              <a:cxnLst>
                <a:cxn ang="0">
                  <a:pos x="0" y="5909"/>
                </a:cxn>
                <a:cxn ang="0">
                  <a:pos x="123098" y="13593"/>
                </a:cxn>
                <a:cxn ang="0">
                  <a:pos x="125388" y="9718"/>
                </a:cxn>
                <a:cxn ang="0">
                  <a:pos x="140072" y="7683"/>
                </a:cxn>
                <a:cxn ang="0">
                  <a:pos x="10413" y="0"/>
                </a:cxn>
                <a:cxn ang="0">
                  <a:pos x="0" y="2302"/>
                </a:cxn>
                <a:cxn ang="0">
                  <a:pos x="0" y="5909"/>
                </a:cxn>
              </a:cxnLst>
              <a:pathLst>
                <a:path w="1049" h="747">
                  <a:moveTo>
                    <a:pt x="0" y="325"/>
                  </a:moveTo>
                  <a:lnTo>
                    <a:pt x="922" y="747"/>
                  </a:lnTo>
                  <a:lnTo>
                    <a:pt x="939" y="534"/>
                  </a:lnTo>
                  <a:lnTo>
                    <a:pt x="1049" y="422"/>
                  </a:lnTo>
                  <a:lnTo>
                    <a:pt x="78" y="0"/>
                  </a:lnTo>
                  <a:lnTo>
                    <a:pt x="0" y="127"/>
                  </a:lnTo>
                  <a:lnTo>
                    <a:pt x="0" y="325"/>
                  </a:lnTo>
                  <a:close/>
                </a:path>
              </a:pathLst>
            </a:custGeom>
            <a:solidFill>
              <a:schemeClr val="bg2">
                <a:alpha val="100000"/>
              </a:schemeClr>
            </a:solidFill>
            <a:ln w="9525">
              <a:noFill/>
            </a:ln>
          </p:spPr>
          <p:txBody>
            <a:bodyPr/>
            <a:p>
              <a:endParaRPr lang="zh-CN" altLang="en-US"/>
            </a:p>
          </p:txBody>
        </p:sp>
        <p:grpSp>
          <p:nvGrpSpPr>
            <p:cNvPr id="15384" name="Group 12"/>
            <p:cNvGrpSpPr/>
            <p:nvPr userDrawn="1"/>
          </p:nvGrpSpPr>
          <p:grpSpPr>
            <a:xfrm>
              <a:off x="123" y="148"/>
              <a:ext cx="2386" cy="1081"/>
              <a:chOff x="123" y="148"/>
              <a:chExt cx="2386" cy="1081"/>
            </a:xfrm>
          </p:grpSpPr>
          <p:sp>
            <p:nvSpPr>
              <p:cNvPr id="15385" name="Freeform 13"/>
              <p:cNvSpPr/>
              <p:nvPr userDrawn="1"/>
            </p:nvSpPr>
            <p:spPr>
              <a:xfrm>
                <a:off x="2005" y="934"/>
                <a:ext cx="212" cy="214"/>
              </a:xfrm>
              <a:custGeom>
                <a:avLst/>
                <a:gdLst/>
                <a:ahLst/>
                <a:cxnLst>
                  <a:cxn ang="0">
                    <a:pos x="13933" y="0"/>
                  </a:cxn>
                  <a:cxn ang="0">
                    <a:pos x="5128" y="1304"/>
                  </a:cxn>
                  <a:cxn ang="0">
                    <a:pos x="0" y="3402"/>
                  </a:cxn>
                  <a:cxn ang="0">
                    <a:pos x="10138" y="3144"/>
                  </a:cxn>
                  <a:cxn ang="0">
                    <a:pos x="13059" y="1661"/>
                  </a:cxn>
                  <a:cxn ang="0">
                    <a:pos x="19056" y="527"/>
                  </a:cxn>
                  <a:cxn ang="0">
                    <a:pos x="13933" y="0"/>
                  </a:cxn>
                </a:cxnLst>
                <a:pathLst>
                  <a:path w="150" h="173">
                    <a:moveTo>
                      <a:pt x="110" y="0"/>
                    </a:moveTo>
                    <a:lnTo>
                      <a:pt x="40" y="66"/>
                    </a:lnTo>
                    <a:lnTo>
                      <a:pt x="0" y="173"/>
                    </a:lnTo>
                    <a:lnTo>
                      <a:pt x="80" y="160"/>
                    </a:lnTo>
                    <a:lnTo>
                      <a:pt x="103" y="84"/>
                    </a:lnTo>
                    <a:lnTo>
                      <a:pt x="150" y="27"/>
                    </a:lnTo>
                    <a:lnTo>
                      <a:pt x="110" y="0"/>
                    </a:lnTo>
                    <a:close/>
                  </a:path>
                </a:pathLst>
              </a:custGeom>
              <a:solidFill>
                <a:schemeClr val="accent2">
                  <a:alpha val="100000"/>
                </a:schemeClr>
              </a:solidFill>
              <a:ln w="9525">
                <a:noFill/>
              </a:ln>
            </p:spPr>
            <p:txBody>
              <a:bodyPr/>
              <a:p>
                <a:endParaRPr lang="zh-CN" altLang="en-US"/>
              </a:p>
            </p:txBody>
          </p:sp>
          <p:sp>
            <p:nvSpPr>
              <p:cNvPr id="15386" name="Freeform 14"/>
              <p:cNvSpPr/>
              <p:nvPr userDrawn="1"/>
            </p:nvSpPr>
            <p:spPr>
              <a:xfrm>
                <a:off x="123" y="148"/>
                <a:ext cx="2386" cy="1081"/>
              </a:xfrm>
              <a:custGeom>
                <a:avLst/>
                <a:gdLst/>
                <a:ahLst/>
                <a:cxnLst>
                  <a:cxn ang="0">
                    <a:pos x="20489" y="0"/>
                  </a:cxn>
                  <a:cxn ang="0">
                    <a:pos x="8284" y="927"/>
                  </a:cxn>
                  <a:cxn ang="0">
                    <a:pos x="0" y="3707"/>
                  </a:cxn>
                  <a:cxn ang="0">
                    <a:pos x="8836" y="6394"/>
                  </a:cxn>
                  <a:cxn ang="0">
                    <a:pos x="155303" y="15445"/>
                  </a:cxn>
                  <a:cxn ang="0">
                    <a:pos x="186855" y="14882"/>
                  </a:cxn>
                  <a:cxn ang="0">
                    <a:pos x="212422" y="15679"/>
                  </a:cxn>
                  <a:cxn ang="0">
                    <a:pos x="221293" y="14413"/>
                  </a:cxn>
                  <a:cxn ang="0">
                    <a:pos x="197354" y="11826"/>
                  </a:cxn>
                  <a:cxn ang="0">
                    <a:pos x="187627" y="9132"/>
                  </a:cxn>
                  <a:cxn ang="0">
                    <a:pos x="179950" y="9390"/>
                  </a:cxn>
                  <a:cxn ang="0">
                    <a:pos x="189071" y="11826"/>
                  </a:cxn>
                  <a:cxn ang="0">
                    <a:pos x="207357" y="14423"/>
                  </a:cxn>
                  <a:cxn ang="0">
                    <a:pos x="185696" y="14024"/>
                  </a:cxn>
                  <a:cxn ang="0">
                    <a:pos x="160155" y="14488"/>
                  </a:cxn>
                  <a:cxn ang="0">
                    <a:pos x="164882" y="11573"/>
                  </a:cxn>
                  <a:cxn ang="0">
                    <a:pos x="175833" y="9587"/>
                  </a:cxn>
                  <a:cxn ang="0">
                    <a:pos x="163013" y="9835"/>
                  </a:cxn>
                  <a:cxn ang="0">
                    <a:pos x="153074" y="11733"/>
                  </a:cxn>
                  <a:cxn ang="0">
                    <a:pos x="149696" y="14098"/>
                  </a:cxn>
                  <a:cxn ang="0">
                    <a:pos x="14077" y="5522"/>
                  </a:cxn>
                  <a:cxn ang="0">
                    <a:pos x="10481" y="3825"/>
                  </a:cxn>
                  <a:cxn ang="0">
                    <a:pos x="13528" y="1703"/>
                  </a:cxn>
                  <a:cxn ang="0">
                    <a:pos x="28469" y="0"/>
                  </a:cxn>
                  <a:cxn ang="0">
                    <a:pos x="20489" y="0"/>
                  </a:cxn>
                </a:cxnLst>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alpha val="100000"/>
                </a:schemeClr>
              </a:solidFill>
              <a:ln w="9525">
                <a:noFill/>
              </a:ln>
            </p:spPr>
            <p:txBody>
              <a:bodyPr/>
              <a:p>
                <a:endParaRPr lang="zh-CN" altLang="en-US"/>
              </a:p>
            </p:txBody>
          </p:sp>
          <p:sp>
            <p:nvSpPr>
              <p:cNvPr id="15387" name="Freeform 15"/>
              <p:cNvSpPr/>
              <p:nvPr userDrawn="1"/>
            </p:nvSpPr>
            <p:spPr>
              <a:xfrm>
                <a:off x="324" y="158"/>
                <a:ext cx="1686" cy="614"/>
              </a:xfrm>
              <a:custGeom>
                <a:avLst/>
                <a:gdLst/>
                <a:ahLst/>
                <a:cxnLst>
                  <a:cxn ang="0">
                    <a:pos x="13151" y="0"/>
                  </a:cxn>
                  <a:cxn ang="0">
                    <a:pos x="156309" y="8688"/>
                  </a:cxn>
                  <a:cxn ang="0">
                    <a:pos x="141239" y="8864"/>
                  </a:cxn>
                  <a:cxn ang="0">
                    <a:pos x="0" y="478"/>
                  </a:cxn>
                  <a:cxn ang="0">
                    <a:pos x="13151" y="0"/>
                  </a:cxn>
                </a:cxnLst>
                <a:pathLst>
                  <a:path w="1190" h="500">
                    <a:moveTo>
                      <a:pt x="100" y="0"/>
                    </a:moveTo>
                    <a:lnTo>
                      <a:pt x="1190" y="490"/>
                    </a:lnTo>
                    <a:lnTo>
                      <a:pt x="1076" y="500"/>
                    </a:lnTo>
                    <a:lnTo>
                      <a:pt x="0" y="27"/>
                    </a:lnTo>
                    <a:lnTo>
                      <a:pt x="100" y="0"/>
                    </a:lnTo>
                    <a:close/>
                  </a:path>
                </a:pathLst>
              </a:custGeom>
              <a:solidFill>
                <a:schemeClr val="accent2">
                  <a:alpha val="100000"/>
                </a:schemeClr>
              </a:solidFill>
              <a:ln w="9525">
                <a:noFill/>
              </a:ln>
            </p:spPr>
            <p:txBody>
              <a:bodyPr/>
              <a:p>
                <a:endParaRPr lang="zh-CN" altLang="en-US"/>
              </a:p>
            </p:txBody>
          </p:sp>
          <p:sp>
            <p:nvSpPr>
              <p:cNvPr id="15388" name="Freeform 16"/>
              <p:cNvSpPr/>
              <p:nvPr userDrawn="1"/>
            </p:nvSpPr>
            <p:spPr>
              <a:xfrm>
                <a:off x="409" y="251"/>
                <a:ext cx="227" cy="410"/>
              </a:xfrm>
              <a:custGeom>
                <a:avLst/>
                <a:gdLst/>
                <a:ahLst/>
                <a:cxnLst>
                  <a:cxn ang="0">
                    <a:pos x="15561" y="0"/>
                  </a:cxn>
                  <a:cxn ang="0">
                    <a:pos x="2548" y="1804"/>
                  </a:cxn>
                  <a:cxn ang="0">
                    <a:pos x="0" y="3885"/>
                  </a:cxn>
                  <a:cxn ang="0">
                    <a:pos x="4465" y="5312"/>
                  </a:cxn>
                  <a:cxn ang="0">
                    <a:pos x="12547" y="5663"/>
                  </a:cxn>
                  <a:cxn ang="0">
                    <a:pos x="10187" y="2593"/>
                  </a:cxn>
                  <a:cxn ang="0">
                    <a:pos x="21405" y="296"/>
                  </a:cxn>
                  <a:cxn ang="0">
                    <a:pos x="15561" y="0"/>
                  </a:cxn>
                </a:cxnLst>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alpha val="100000"/>
                </a:schemeClr>
              </a:solidFill>
              <a:ln w="9525">
                <a:noFill/>
              </a:ln>
            </p:spPr>
            <p:txBody>
              <a:bodyPr/>
              <a:p>
                <a:endParaRPr lang="zh-CN" altLang="en-US"/>
              </a:p>
            </p:txBody>
          </p:sp>
          <p:sp>
            <p:nvSpPr>
              <p:cNvPr id="15389" name="Freeform 17"/>
              <p:cNvSpPr/>
              <p:nvPr userDrawn="1"/>
            </p:nvSpPr>
            <p:spPr>
              <a:xfrm>
                <a:off x="846" y="536"/>
                <a:ext cx="691" cy="364"/>
              </a:xfrm>
              <a:custGeom>
                <a:avLst/>
                <a:gdLst/>
                <a:ahLst/>
                <a:cxnLst>
                  <a:cxn ang="0">
                    <a:pos x="1814" y="621"/>
                  </a:cxn>
                  <a:cxn ang="0">
                    <a:pos x="20214" y="1200"/>
                  </a:cxn>
                  <a:cxn ang="0">
                    <a:pos x="41016" y="2483"/>
                  </a:cxn>
                  <a:cxn ang="0">
                    <a:pos x="55704" y="4402"/>
                  </a:cxn>
                  <a:cxn ang="0">
                    <a:pos x="41264" y="4163"/>
                  </a:cxn>
                  <a:cxn ang="0">
                    <a:pos x="17546" y="2645"/>
                  </a:cxn>
                  <a:cxn ang="0">
                    <a:pos x="6314" y="1447"/>
                  </a:cxn>
                  <a:cxn ang="0">
                    <a:pos x="13505" y="2949"/>
                  </a:cxn>
                  <a:cxn ang="0">
                    <a:pos x="34421" y="4880"/>
                  </a:cxn>
                  <a:cxn ang="0">
                    <a:pos x="58958" y="5369"/>
                  </a:cxn>
                  <a:cxn ang="0">
                    <a:pos x="61882" y="4053"/>
                  </a:cxn>
                  <a:cxn ang="0">
                    <a:pos x="49876" y="2179"/>
                  </a:cxn>
                  <a:cxn ang="0">
                    <a:pos x="21492" y="314"/>
                  </a:cxn>
                  <a:cxn ang="0">
                    <a:pos x="0" y="0"/>
                  </a:cxn>
                  <a:cxn ang="0">
                    <a:pos x="1814" y="621"/>
                  </a:cxn>
                </a:cxnLst>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alpha val="100000"/>
                </a:schemeClr>
              </a:solidFill>
              <a:ln w="9525">
                <a:noFill/>
              </a:ln>
            </p:spPr>
            <p:txBody>
              <a:bodyPr/>
              <a:p>
                <a:endParaRPr lang="zh-CN" altLang="en-US"/>
              </a:p>
            </p:txBody>
          </p:sp>
        </p:grpSp>
      </p:grpSp>
      <p:grpSp>
        <p:nvGrpSpPr>
          <p:cNvPr id="15364" name="Group 18"/>
          <p:cNvGrpSpPr/>
          <p:nvPr/>
        </p:nvGrpSpPr>
        <p:grpSpPr>
          <a:xfrm>
            <a:off x="7915275" y="4368800"/>
            <a:ext cx="742950" cy="1058863"/>
            <a:chOff x="4986" y="2752"/>
            <a:chExt cx="468" cy="667"/>
          </a:xfrm>
        </p:grpSpPr>
        <p:sp>
          <p:nvSpPr>
            <p:cNvPr id="15372" name="Freeform 19"/>
            <p:cNvSpPr/>
            <p:nvPr userDrawn="1"/>
          </p:nvSpPr>
          <p:spPr>
            <a:xfrm rot="7320404">
              <a:off x="4907" y="2934"/>
              <a:ext cx="629" cy="293"/>
            </a:xfrm>
            <a:custGeom>
              <a:avLst/>
              <a:gdLst/>
              <a:ahLst/>
              <a:cxnLst>
                <a:cxn ang="0">
                  <a:pos x="30" y="3"/>
                </a:cxn>
                <a:cxn ang="0">
                  <a:pos x="28" y="3"/>
                </a:cxn>
                <a:cxn ang="0">
                  <a:pos x="21" y="1"/>
                </a:cxn>
                <a:cxn ang="0">
                  <a:pos x="2" y="0"/>
                </a:cxn>
                <a:cxn ang="0">
                  <a:pos x="2" y="1"/>
                </a:cxn>
                <a:cxn ang="0">
                  <a:pos x="0" y="1"/>
                </a:cxn>
                <a:cxn ang="0">
                  <a:pos x="2" y="1"/>
                </a:cxn>
                <a:cxn ang="0">
                  <a:pos x="22" y="3"/>
                </a:cxn>
                <a:cxn ang="0">
                  <a:pos x="26" y="3"/>
                </a:cxn>
                <a:cxn ang="0">
                  <a:pos x="30" y="3"/>
                </a:cxn>
                <a:cxn ang="0">
                  <a:pos x="30" y="3"/>
                </a:cxn>
              </a:cxnLst>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alpha val="100000"/>
              </a:srgbClr>
            </a:solidFill>
            <a:ln w="9525">
              <a:noFill/>
            </a:ln>
          </p:spPr>
          <p:txBody>
            <a:bodyPr/>
            <a:p>
              <a:endParaRPr lang="zh-CN" altLang="en-US"/>
            </a:p>
          </p:txBody>
        </p:sp>
        <p:sp>
          <p:nvSpPr>
            <p:cNvPr id="15373" name="Freeform 20"/>
            <p:cNvSpPr/>
            <p:nvPr userDrawn="1"/>
          </p:nvSpPr>
          <p:spPr>
            <a:xfrm rot="7320404">
              <a:off x="4891" y="2920"/>
              <a:ext cx="627" cy="29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alpha val="100000"/>
              </a:schemeClr>
            </a:solidFill>
            <a:ln w="9525">
              <a:noFill/>
            </a:ln>
          </p:spPr>
          <p:txBody>
            <a:bodyPr/>
            <a:p>
              <a:endParaRPr lang="zh-CN" altLang="en-US"/>
            </a:p>
          </p:txBody>
        </p:sp>
        <p:sp>
          <p:nvSpPr>
            <p:cNvPr id="15374" name="Freeform 21"/>
            <p:cNvSpPr/>
            <p:nvPr userDrawn="1"/>
          </p:nvSpPr>
          <p:spPr>
            <a:xfrm rot="7320404">
              <a:off x="4997" y="2911"/>
              <a:ext cx="416" cy="265"/>
            </a:xfrm>
            <a:custGeom>
              <a:avLst/>
              <a:gdLst/>
              <a:ahLst/>
              <a:cxnLst>
                <a:cxn ang="0">
                  <a:pos x="0" y="0"/>
                </a:cxn>
                <a:cxn ang="0">
                  <a:pos x="0" y="0"/>
                </a:cxn>
                <a:cxn ang="0">
                  <a:pos x="0" y="0"/>
                </a:cxn>
                <a:cxn ang="0">
                  <a:pos x="0" y="0"/>
                </a:cxn>
                <a:cxn ang="0">
                  <a:pos x="0" y="0"/>
                </a:cxn>
                <a:cxn ang="0">
                  <a:pos x="0" y="0"/>
                </a:cxn>
                <a:cxn ang="0">
                  <a:pos x="0" y="0"/>
                </a:cxn>
              </a:cxnLst>
              <a:pathLst>
                <a:path w="1049" h="747">
                  <a:moveTo>
                    <a:pt x="0" y="325"/>
                  </a:moveTo>
                  <a:lnTo>
                    <a:pt x="922" y="747"/>
                  </a:lnTo>
                  <a:lnTo>
                    <a:pt x="939" y="534"/>
                  </a:lnTo>
                  <a:lnTo>
                    <a:pt x="1049" y="422"/>
                  </a:lnTo>
                  <a:lnTo>
                    <a:pt x="78" y="0"/>
                  </a:lnTo>
                  <a:lnTo>
                    <a:pt x="0" y="127"/>
                  </a:lnTo>
                  <a:lnTo>
                    <a:pt x="0" y="325"/>
                  </a:lnTo>
                  <a:close/>
                </a:path>
              </a:pathLst>
            </a:custGeom>
            <a:solidFill>
              <a:schemeClr val="bg2">
                <a:alpha val="100000"/>
              </a:schemeClr>
            </a:solidFill>
            <a:ln w="9525">
              <a:noFill/>
            </a:ln>
          </p:spPr>
          <p:txBody>
            <a:bodyPr/>
            <a:p>
              <a:endParaRPr lang="zh-CN" altLang="en-US"/>
            </a:p>
          </p:txBody>
        </p:sp>
        <p:grpSp>
          <p:nvGrpSpPr>
            <p:cNvPr id="15375" name="Group 22"/>
            <p:cNvGrpSpPr/>
            <p:nvPr userDrawn="1"/>
          </p:nvGrpSpPr>
          <p:grpSpPr>
            <a:xfrm>
              <a:off x="4986" y="2752"/>
              <a:ext cx="469" cy="667"/>
              <a:chOff x="4986" y="2752"/>
              <a:chExt cx="469" cy="667"/>
            </a:xfrm>
          </p:grpSpPr>
          <p:sp>
            <p:nvSpPr>
              <p:cNvPr id="15376" name="Freeform 23"/>
              <p:cNvSpPr/>
              <p:nvPr userDrawn="1"/>
            </p:nvSpPr>
            <p:spPr>
              <a:xfrm rot="7320404">
                <a:off x="4985" y="3188"/>
                <a:ext cx="59" cy="61"/>
              </a:xfrm>
              <a:custGeom>
                <a:avLst/>
                <a:gdLst/>
                <a:ahLst/>
                <a:cxnLst>
                  <a:cxn ang="0">
                    <a:pos x="0" y="0"/>
                  </a:cxn>
                  <a:cxn ang="0">
                    <a:pos x="0" y="0"/>
                  </a:cxn>
                  <a:cxn ang="0">
                    <a:pos x="0" y="0"/>
                  </a:cxn>
                  <a:cxn ang="0">
                    <a:pos x="0" y="0"/>
                  </a:cxn>
                  <a:cxn ang="0">
                    <a:pos x="0" y="0"/>
                  </a:cxn>
                  <a:cxn ang="0">
                    <a:pos x="0" y="0"/>
                  </a:cxn>
                  <a:cxn ang="0">
                    <a:pos x="0" y="0"/>
                  </a:cxn>
                </a:cxnLst>
                <a:pathLst>
                  <a:path w="150" h="173">
                    <a:moveTo>
                      <a:pt x="110" y="0"/>
                    </a:moveTo>
                    <a:lnTo>
                      <a:pt x="40" y="66"/>
                    </a:lnTo>
                    <a:lnTo>
                      <a:pt x="0" y="173"/>
                    </a:lnTo>
                    <a:lnTo>
                      <a:pt x="80" y="160"/>
                    </a:lnTo>
                    <a:lnTo>
                      <a:pt x="103" y="84"/>
                    </a:lnTo>
                    <a:lnTo>
                      <a:pt x="150" y="27"/>
                    </a:lnTo>
                    <a:lnTo>
                      <a:pt x="110" y="0"/>
                    </a:lnTo>
                    <a:close/>
                  </a:path>
                </a:pathLst>
              </a:custGeom>
              <a:solidFill>
                <a:schemeClr val="accent2">
                  <a:alpha val="100000"/>
                </a:schemeClr>
              </a:solidFill>
              <a:ln w="9525">
                <a:noFill/>
              </a:ln>
            </p:spPr>
            <p:txBody>
              <a:bodyPr/>
              <a:p>
                <a:endParaRPr lang="zh-CN" altLang="en-US"/>
              </a:p>
            </p:txBody>
          </p:sp>
          <p:sp>
            <p:nvSpPr>
              <p:cNvPr id="15377" name="Freeform 24"/>
              <p:cNvSpPr/>
              <p:nvPr userDrawn="1"/>
            </p:nvSpPr>
            <p:spPr>
              <a:xfrm rot="7320404">
                <a:off x="4885" y="2928"/>
                <a:ext cx="667" cy="31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alpha val="100000"/>
                </a:schemeClr>
              </a:solidFill>
              <a:ln w="9525">
                <a:noFill/>
              </a:ln>
            </p:spPr>
            <p:txBody>
              <a:bodyPr/>
              <a:p>
                <a:endParaRPr lang="zh-CN" altLang="en-US"/>
              </a:p>
            </p:txBody>
          </p:sp>
          <p:sp>
            <p:nvSpPr>
              <p:cNvPr id="15378" name="Freeform 25"/>
              <p:cNvSpPr/>
              <p:nvPr userDrawn="1"/>
            </p:nvSpPr>
            <p:spPr>
              <a:xfrm rot="7320404">
                <a:off x="5062" y="2997"/>
                <a:ext cx="472" cy="176"/>
              </a:xfrm>
              <a:custGeom>
                <a:avLst/>
                <a:gdLst/>
                <a:ahLst/>
                <a:cxnLst>
                  <a:cxn ang="0">
                    <a:pos x="0" y="0"/>
                  </a:cxn>
                  <a:cxn ang="0">
                    <a:pos x="0" y="0"/>
                  </a:cxn>
                  <a:cxn ang="0">
                    <a:pos x="0" y="0"/>
                  </a:cxn>
                  <a:cxn ang="0">
                    <a:pos x="0" y="0"/>
                  </a:cxn>
                  <a:cxn ang="0">
                    <a:pos x="0" y="0"/>
                  </a:cxn>
                </a:cxnLst>
                <a:pathLst>
                  <a:path w="1190" h="500">
                    <a:moveTo>
                      <a:pt x="100" y="0"/>
                    </a:moveTo>
                    <a:lnTo>
                      <a:pt x="1190" y="490"/>
                    </a:lnTo>
                    <a:lnTo>
                      <a:pt x="1076" y="500"/>
                    </a:lnTo>
                    <a:lnTo>
                      <a:pt x="0" y="27"/>
                    </a:lnTo>
                    <a:lnTo>
                      <a:pt x="100" y="0"/>
                    </a:lnTo>
                    <a:close/>
                  </a:path>
                </a:pathLst>
              </a:custGeom>
              <a:solidFill>
                <a:schemeClr val="accent2">
                  <a:alpha val="100000"/>
                </a:schemeClr>
              </a:solidFill>
              <a:ln w="9525">
                <a:noFill/>
              </a:ln>
            </p:spPr>
            <p:txBody>
              <a:bodyPr/>
              <a:p>
                <a:endParaRPr lang="zh-CN" altLang="en-US"/>
              </a:p>
            </p:txBody>
          </p:sp>
          <p:sp>
            <p:nvSpPr>
              <p:cNvPr id="15379" name="Freeform 26"/>
              <p:cNvSpPr/>
              <p:nvPr userDrawn="1"/>
            </p:nvSpPr>
            <p:spPr>
              <a:xfrm rot="7320404">
                <a:off x="5362" y="2870"/>
                <a:ext cx="63" cy="118"/>
              </a:xfrm>
              <a:custGeom>
                <a:avLst/>
                <a:gdLst/>
                <a:ahLst/>
                <a:cxnLst>
                  <a:cxn ang="0">
                    <a:pos x="0" y="0"/>
                  </a:cxn>
                  <a:cxn ang="0">
                    <a:pos x="0" y="0"/>
                  </a:cxn>
                  <a:cxn ang="0">
                    <a:pos x="0" y="0"/>
                  </a:cxn>
                  <a:cxn ang="0">
                    <a:pos x="0" y="0"/>
                  </a:cxn>
                  <a:cxn ang="0">
                    <a:pos x="0" y="0"/>
                  </a:cxn>
                  <a:cxn ang="0">
                    <a:pos x="0" y="0"/>
                  </a:cxn>
                  <a:cxn ang="0">
                    <a:pos x="0" y="0"/>
                  </a:cxn>
                  <a:cxn ang="0">
                    <a:pos x="0" y="0"/>
                  </a:cxn>
                </a:cxnLst>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alpha val="100000"/>
                </a:schemeClr>
              </a:solidFill>
              <a:ln w="9525">
                <a:noFill/>
              </a:ln>
            </p:spPr>
            <p:txBody>
              <a:bodyPr/>
              <a:p>
                <a:endParaRPr lang="zh-CN" altLang="en-US"/>
              </a:p>
            </p:txBody>
          </p:sp>
          <p:sp>
            <p:nvSpPr>
              <p:cNvPr id="15380" name="Freeform 27"/>
              <p:cNvSpPr/>
              <p:nvPr userDrawn="1"/>
            </p:nvSpPr>
            <p:spPr>
              <a:xfrm rot="7320404">
                <a:off x="5135" y="2997"/>
                <a:ext cx="193" cy="10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alpha val="100000"/>
                </a:schemeClr>
              </a:solidFill>
              <a:ln w="9525">
                <a:noFill/>
              </a:ln>
            </p:spPr>
            <p:txBody>
              <a:bodyPr/>
              <a:p>
                <a:endParaRPr lang="zh-CN" altLang="en-US"/>
              </a:p>
            </p:txBody>
          </p:sp>
        </p:grpSp>
      </p:grpSp>
      <p:sp>
        <p:nvSpPr>
          <p:cNvPr id="15365" name="Freeform 28"/>
          <p:cNvSpPr/>
          <p:nvPr/>
        </p:nvSpPr>
        <p:spPr>
          <a:xfrm>
            <a:off x="901700" y="5054600"/>
            <a:ext cx="6807200" cy="728663"/>
          </a:xfrm>
          <a:custGeom>
            <a:avLst/>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p>
            <a:endParaRPr lang="zh-CN" altLang="en-US"/>
          </a:p>
        </p:txBody>
      </p:sp>
      <p:sp>
        <p:nvSpPr>
          <p:cNvPr id="15366" name="Freeform 29"/>
          <p:cNvSpPr/>
          <p:nvPr/>
        </p:nvSpPr>
        <p:spPr>
          <a:xfrm>
            <a:off x="4076700" y="1930400"/>
            <a:ext cx="889000" cy="381000"/>
          </a:xfrm>
          <a:custGeom>
            <a:avLst/>
            <a:gdLst/>
            <a:ahLst/>
            <a:cxnLst>
              <a:cxn ang="0">
                <a:pos x="0" y="2147483646"/>
              </a:cxn>
              <a:cxn ang="0">
                <a:pos x="2147483646" y="2147483646"/>
              </a:cxn>
              <a:cxn ang="0">
                <a:pos x="2147483646" y="2147483646"/>
              </a:cxn>
              <a:cxn ang="0">
                <a:pos x="2147483646" y="2147483646"/>
              </a:cxn>
            </a:cxnLst>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p>
            <a:endParaRPr lang="zh-CN" altLang="en-US"/>
          </a:p>
        </p:txBody>
      </p:sp>
      <p:sp>
        <p:nvSpPr>
          <p:cNvPr id="7171"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7172"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25" name="Rectangle 5"/>
          <p:cNvSpPr>
            <a:spLocks noGrp="1" noChangeArrowheads="1"/>
          </p:cNvSpPr>
          <p:nvPr>
            <p:ph type="dt" sz="half" idx="2"/>
          </p:nvPr>
        </p:nvSpPr>
        <p:spPr bwMode="auto">
          <a:xfrm>
            <a:off x="6858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26" name="Rectangle 6"/>
          <p:cNvSpPr>
            <a:spLocks noGrp="1" noChangeArrowheads="1"/>
          </p:cNvSpPr>
          <p:nvPr>
            <p:ph type="ftr" sz="quarter" idx="3"/>
          </p:nvPr>
        </p:nvSpPr>
        <p:spPr bwMode="auto">
          <a:xfrm>
            <a:off x="31242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27" name="Rectangle 7"/>
          <p:cNvSpPr>
            <a:spLocks noGrp="1" noChangeArrowheads="1"/>
          </p:cNvSpPr>
          <p:nvPr>
            <p:ph type="sldNum" sz="quarter" idx="4"/>
          </p:nvPr>
        </p:nvSpPr>
        <p:spPr bwMode="auto">
          <a:xfrm>
            <a:off x="65532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828800"/>
            <a:ext cx="37719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828800"/>
            <a:ext cx="37719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Rectangle 6"/>
          <p:cNvSpPr>
            <a:spLocks noGrp="1" noChangeArrowheads="1"/>
          </p:cNvSpPr>
          <p:nvPr>
            <p:ph type="ftr" sz="quarter" idx="1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Rectangle 7"/>
          <p:cNvSpPr>
            <a:spLocks noGrp="1" noChangeArrowheads="1"/>
          </p:cNvSpPr>
          <p:nvPr>
            <p:ph type="sldNum" sz="quarter" idx="1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
        <p:nvSpPr>
          <p:cNvPr id="2"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5"/>
          <p:cNvSpPr>
            <a:spLocks noGrp="1" noChangeArrowheads="1"/>
          </p:cNvSpPr>
          <p:nvPr>
            <p:ph type="dt" sz="half" idx="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85800" y="1828800"/>
            <a:ext cx="3771900" cy="36576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828800"/>
            <a:ext cx="3771900" cy="36576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5"/>
          <p:cNvSpPr>
            <a:spLocks noGrp="1" noChangeArrowheads="1"/>
          </p:cNvSpPr>
          <p:nvPr>
            <p:ph type="dt" sz="half" idx="12"/>
          </p:nvPr>
        </p:nvSpPr>
        <p:spPr bwMode="auto">
          <a:xfrm>
            <a:off x="1371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Rectangle 6"/>
          <p:cNvSpPr>
            <a:spLocks noGrp="1" noChangeArrowheads="1"/>
          </p:cNvSpPr>
          <p:nvPr>
            <p:ph type="ftr" sz="quarter" idx="3"/>
          </p:nvPr>
        </p:nvSpPr>
        <p:spPr bwMode="auto">
          <a:xfrm>
            <a:off x="35560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Rectangle 7"/>
          <p:cNvSpPr>
            <a:spLocks noGrp="1" noChangeArrowheads="1"/>
          </p:cNvSpPr>
          <p:nvPr>
            <p:ph type="sldNum" sz="quarter" idx="4"/>
          </p:nvPr>
        </p:nvSpPr>
        <p:spPr bwMode="auto">
          <a:xfrm>
            <a:off x="67183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Freeform 2"/>
          <p:cNvSpPr/>
          <p:nvPr/>
        </p:nvSpPr>
        <p:spPr>
          <a:xfrm rot="-3172564">
            <a:off x="7777163" y="-14287"/>
            <a:ext cx="1162050" cy="2082800"/>
          </a:xfrm>
          <a:custGeom>
            <a:avLst/>
            <a:gdLst/>
            <a:ahLst/>
            <a:cxnLst>
              <a:cxn ang="0">
                <a:pos x="2147483646" y="2147483646"/>
              </a:cxn>
              <a:cxn ang="0">
                <a:pos x="2147483646" y="2147483646"/>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Lst>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alpha val="100000"/>
            </a:srgbClr>
          </a:solidFill>
          <a:ln w="9525">
            <a:noFill/>
          </a:ln>
        </p:spPr>
        <p:txBody>
          <a:bodyPr/>
          <a:p>
            <a:endParaRPr lang="zh-CN" altLang="en-US"/>
          </a:p>
        </p:txBody>
      </p:sp>
      <p:sp>
        <p:nvSpPr>
          <p:cNvPr id="1027" name="Rectangle 3"/>
          <p:cNvSpPr>
            <a:spLocks noGrp="1"/>
          </p:cNvSpPr>
          <p:nvPr>
            <p:ph type="title"/>
          </p:nvPr>
        </p:nvSpPr>
        <p:spPr>
          <a:xfrm>
            <a:off x="685800" y="152400"/>
            <a:ext cx="6870700" cy="16002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8" name="Rectangle 4"/>
          <p:cNvSpPr>
            <a:spLocks noGrp="1"/>
          </p:cNvSpPr>
          <p:nvPr>
            <p:ph type="body"/>
          </p:nvPr>
        </p:nvSpPr>
        <p:spPr>
          <a:xfrm>
            <a:off x="685800" y="1828800"/>
            <a:ext cx="7696200" cy="3657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149" name="Rectangle 5"/>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lstStyle>
            <a:lvl1pPr eaLnBrk="1" hangingPunct="1">
              <a:defRPr sz="1400">
                <a:latin typeface="Comic Sans MS" panose="030F0702030302020204" pitchFamily="66"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150" name="Rectangle 6"/>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lstStyle>
            <a:lvl1pPr algn="ctr" eaLnBrk="1" hangingPunct="1">
              <a:defRPr sz="1400">
                <a:latin typeface="Comic Sans MS" panose="030F0702030302020204" pitchFamily="66"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151" name="Rectangle 7"/>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Comic Sans MS" panose="030F0702030302020204" pitchFamily="66" charset="0"/>
              </a:rPr>
            </a:fld>
            <a:endParaRPr lang="en-US" altLang="zh-CN" dirty="0">
              <a:latin typeface="Comic Sans MS" panose="030F0702030302020204" pitchFamily="66" charset="0"/>
            </a:endParaRPr>
          </a:p>
        </p:txBody>
      </p:sp>
      <p:sp>
        <p:nvSpPr>
          <p:cNvPr id="1032" name="Freeform 8"/>
          <p:cNvSpPr/>
          <p:nvPr/>
        </p:nvSpPr>
        <p:spPr>
          <a:xfrm rot="-3172564">
            <a:off x="7862888" y="20638"/>
            <a:ext cx="1165225" cy="2098675"/>
          </a:xfrm>
          <a:custGeom>
            <a:avLst/>
            <a:gdLst/>
            <a:ahLst/>
            <a:cxnLst>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alpha val="100000"/>
            </a:schemeClr>
          </a:solidFill>
          <a:ln w="9525">
            <a:noFill/>
          </a:ln>
        </p:spPr>
        <p:txBody>
          <a:bodyPr/>
          <a:p>
            <a:endParaRPr lang="zh-CN" altLang="en-US"/>
          </a:p>
        </p:txBody>
      </p:sp>
      <p:sp>
        <p:nvSpPr>
          <p:cNvPr id="1033" name="Freeform 9"/>
          <p:cNvSpPr/>
          <p:nvPr/>
        </p:nvSpPr>
        <p:spPr>
          <a:xfrm rot="-3172564">
            <a:off x="7831138" y="192088"/>
            <a:ext cx="1025525" cy="1571625"/>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0"/>
              </a:cxn>
              <a:cxn ang="0">
                <a:pos x="0" y="2147483646"/>
              </a:cxn>
            </a:cxnLst>
            <a:pathLst>
              <a:path w="2561" h="2777">
                <a:moveTo>
                  <a:pt x="0" y="2485"/>
                </a:moveTo>
                <a:lnTo>
                  <a:pt x="432" y="2553"/>
                </a:lnTo>
                <a:lnTo>
                  <a:pt x="736" y="2777"/>
                </a:lnTo>
                <a:lnTo>
                  <a:pt x="2561" y="399"/>
                </a:lnTo>
                <a:lnTo>
                  <a:pt x="2118" y="82"/>
                </a:lnTo>
                <a:lnTo>
                  <a:pt x="1898" y="0"/>
                </a:lnTo>
                <a:lnTo>
                  <a:pt x="0" y="2485"/>
                </a:lnTo>
                <a:close/>
              </a:path>
            </a:pathLst>
          </a:custGeom>
          <a:solidFill>
            <a:schemeClr val="bg2">
              <a:alpha val="100000"/>
            </a:schemeClr>
          </a:solidFill>
          <a:ln w="9525">
            <a:noFill/>
          </a:ln>
        </p:spPr>
        <p:txBody>
          <a:bodyPr/>
          <a:p>
            <a:endParaRPr lang="zh-CN" altLang="en-US"/>
          </a:p>
        </p:txBody>
      </p:sp>
      <p:grpSp>
        <p:nvGrpSpPr>
          <p:cNvPr id="1034" name="Group 10"/>
          <p:cNvGrpSpPr/>
          <p:nvPr/>
        </p:nvGrpSpPr>
        <p:grpSpPr>
          <a:xfrm>
            <a:off x="7938" y="5540375"/>
            <a:ext cx="1784350" cy="1246188"/>
            <a:chOff x="5" y="3490"/>
            <a:chExt cx="1124" cy="785"/>
          </a:xfrm>
        </p:grpSpPr>
        <p:sp>
          <p:nvSpPr>
            <p:cNvPr id="1051" name="Freeform 11"/>
            <p:cNvSpPr/>
            <p:nvPr userDrawn="1"/>
          </p:nvSpPr>
          <p:spPr>
            <a:xfrm>
              <a:off x="24" y="3505"/>
              <a:ext cx="1089" cy="649"/>
            </a:xfrm>
            <a:custGeom>
              <a:avLst/>
              <a:gdLst/>
              <a:ahLst/>
              <a:cxnLst>
                <a:cxn ang="0">
                  <a:pos x="1" y="1"/>
                </a:cxn>
                <a:cxn ang="0">
                  <a:pos x="1" y="1"/>
                </a:cxn>
                <a:cxn ang="0">
                  <a:pos x="1" y="1"/>
                </a:cxn>
                <a:cxn ang="0">
                  <a:pos x="1" y="1"/>
                </a:cxn>
                <a:cxn ang="0">
                  <a:pos x="1" y="1"/>
                </a:cxn>
                <a:cxn ang="0">
                  <a:pos x="1" y="1"/>
                </a:cxn>
                <a:cxn ang="0">
                  <a:pos x="1"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 ang="0">
                  <a:pos x="1" y="1"/>
                </a:cxn>
                <a:cxn ang="0">
                  <a:pos x="1" y="1"/>
                </a:cxn>
                <a:cxn ang="0">
                  <a:pos x="1" y="1"/>
                </a:cxn>
              </a:cxnLst>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alpha val="100000"/>
              </a:srgbClr>
            </a:solidFill>
            <a:ln w="9525">
              <a:noFill/>
            </a:ln>
          </p:spPr>
          <p:txBody>
            <a:bodyPr/>
            <a:p>
              <a:endParaRPr lang="zh-CN" altLang="en-US"/>
            </a:p>
          </p:txBody>
        </p:sp>
        <p:sp>
          <p:nvSpPr>
            <p:cNvPr id="1052" name="Freeform 12"/>
            <p:cNvSpPr/>
            <p:nvPr userDrawn="1"/>
          </p:nvSpPr>
          <p:spPr>
            <a:xfrm>
              <a:off x="1022" y="3582"/>
              <a:ext cx="71" cy="129"/>
            </a:xfrm>
            <a:custGeom>
              <a:avLst/>
              <a:gdLst/>
              <a:ahLst/>
              <a:cxnLst>
                <a:cxn ang="0">
                  <a:pos x="0" y="1"/>
                </a:cxn>
                <a:cxn ang="0">
                  <a:pos x="0" y="0"/>
                </a:cxn>
                <a:cxn ang="0">
                  <a:pos x="0" y="1"/>
                </a:cxn>
                <a:cxn ang="0">
                  <a:pos x="0" y="1"/>
                </a:cxn>
                <a:cxn ang="0">
                  <a:pos x="0" y="1"/>
                </a:cxn>
              </a:cxnLst>
              <a:pathLst>
                <a:path w="143" h="258">
                  <a:moveTo>
                    <a:pt x="0" y="7"/>
                  </a:moveTo>
                  <a:lnTo>
                    <a:pt x="120" y="0"/>
                  </a:lnTo>
                  <a:lnTo>
                    <a:pt x="143" y="233"/>
                  </a:lnTo>
                  <a:lnTo>
                    <a:pt x="8" y="258"/>
                  </a:lnTo>
                  <a:lnTo>
                    <a:pt x="0" y="7"/>
                  </a:lnTo>
                  <a:close/>
                </a:path>
              </a:pathLst>
            </a:custGeom>
            <a:solidFill>
              <a:schemeClr val="accent1">
                <a:alpha val="100000"/>
              </a:schemeClr>
            </a:solidFill>
            <a:ln w="9525">
              <a:noFill/>
            </a:ln>
          </p:spPr>
          <p:txBody>
            <a:bodyPr/>
            <a:p>
              <a:endParaRPr lang="zh-CN" altLang="en-US"/>
            </a:p>
          </p:txBody>
        </p:sp>
        <p:sp>
          <p:nvSpPr>
            <p:cNvPr id="1053" name="Freeform 13"/>
            <p:cNvSpPr/>
            <p:nvPr userDrawn="1"/>
          </p:nvSpPr>
          <p:spPr>
            <a:xfrm>
              <a:off x="20" y="3774"/>
              <a:ext cx="792" cy="41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alpha val="100000"/>
              </a:schemeClr>
            </a:solidFill>
            <a:ln w="9525">
              <a:noFill/>
            </a:ln>
          </p:spPr>
          <p:txBody>
            <a:bodyPr/>
            <a:p>
              <a:endParaRPr lang="zh-CN" altLang="en-US"/>
            </a:p>
          </p:txBody>
        </p:sp>
        <p:sp>
          <p:nvSpPr>
            <p:cNvPr id="1054" name="Freeform 14"/>
            <p:cNvSpPr/>
            <p:nvPr userDrawn="1"/>
          </p:nvSpPr>
          <p:spPr>
            <a:xfrm>
              <a:off x="129" y="3808"/>
              <a:ext cx="525" cy="374"/>
            </a:xfrm>
            <a:custGeom>
              <a:avLst/>
              <a:gdLst/>
              <a:ahLst/>
              <a:cxnLst>
                <a:cxn ang="0">
                  <a:pos x="0" y="1"/>
                </a:cxn>
                <a:cxn ang="0">
                  <a:pos x="1" y="1"/>
                </a:cxn>
                <a:cxn ang="0">
                  <a:pos x="1" y="1"/>
                </a:cxn>
                <a:cxn ang="0">
                  <a:pos x="1" y="1"/>
                </a:cxn>
                <a:cxn ang="0">
                  <a:pos x="1" y="0"/>
                </a:cxn>
                <a:cxn ang="0">
                  <a:pos x="0" y="1"/>
                </a:cxn>
                <a:cxn ang="0">
                  <a:pos x="0" y="1"/>
                </a:cxn>
              </a:cxnLst>
              <a:pathLst>
                <a:path w="1049" h="747">
                  <a:moveTo>
                    <a:pt x="0" y="325"/>
                  </a:moveTo>
                  <a:lnTo>
                    <a:pt x="922" y="747"/>
                  </a:lnTo>
                  <a:lnTo>
                    <a:pt x="939" y="534"/>
                  </a:lnTo>
                  <a:lnTo>
                    <a:pt x="1049" y="422"/>
                  </a:lnTo>
                  <a:lnTo>
                    <a:pt x="78" y="0"/>
                  </a:lnTo>
                  <a:lnTo>
                    <a:pt x="0" y="127"/>
                  </a:lnTo>
                  <a:lnTo>
                    <a:pt x="0" y="325"/>
                  </a:lnTo>
                  <a:close/>
                </a:path>
              </a:pathLst>
            </a:custGeom>
            <a:solidFill>
              <a:schemeClr val="bg2">
                <a:alpha val="100000"/>
              </a:schemeClr>
            </a:solidFill>
            <a:ln w="9525">
              <a:noFill/>
            </a:ln>
          </p:spPr>
          <p:txBody>
            <a:bodyPr/>
            <a:p>
              <a:endParaRPr lang="zh-CN" altLang="en-US"/>
            </a:p>
          </p:txBody>
        </p:sp>
        <p:sp>
          <p:nvSpPr>
            <p:cNvPr id="1055" name="Freeform 15"/>
            <p:cNvSpPr/>
            <p:nvPr userDrawn="1"/>
          </p:nvSpPr>
          <p:spPr>
            <a:xfrm>
              <a:off x="485" y="3532"/>
              <a:ext cx="135" cy="121"/>
            </a:xfrm>
            <a:custGeom>
              <a:avLst/>
              <a:gdLst/>
              <a:ahLst/>
              <a:cxnLst>
                <a:cxn ang="0">
                  <a:pos x="0" y="1"/>
                </a:cxn>
                <a:cxn ang="0">
                  <a:pos x="0" y="0"/>
                </a:cxn>
                <a:cxn ang="0">
                  <a:pos x="0" y="1"/>
                </a:cxn>
                <a:cxn ang="0">
                  <a:pos x="0" y="1"/>
                </a:cxn>
                <a:cxn ang="0">
                  <a:pos x="0" y="1"/>
                </a:cxn>
                <a:cxn ang="0">
                  <a:pos x="0" y="1"/>
                </a:cxn>
                <a:cxn ang="0">
                  <a:pos x="0" y="1"/>
                </a:cxn>
              </a:cxnLst>
              <a:pathLst>
                <a:path w="272" h="241">
                  <a:moveTo>
                    <a:pt x="0" y="28"/>
                  </a:moveTo>
                  <a:lnTo>
                    <a:pt x="160" y="0"/>
                  </a:lnTo>
                  <a:lnTo>
                    <a:pt x="251" y="36"/>
                  </a:lnTo>
                  <a:lnTo>
                    <a:pt x="272" y="139"/>
                  </a:lnTo>
                  <a:lnTo>
                    <a:pt x="164" y="146"/>
                  </a:lnTo>
                  <a:lnTo>
                    <a:pt x="32" y="241"/>
                  </a:lnTo>
                  <a:lnTo>
                    <a:pt x="0" y="28"/>
                  </a:lnTo>
                  <a:close/>
                </a:path>
              </a:pathLst>
            </a:custGeom>
            <a:solidFill>
              <a:schemeClr val="hlink">
                <a:alpha val="100000"/>
              </a:schemeClr>
            </a:solidFill>
            <a:ln w="9525">
              <a:noFill/>
            </a:ln>
          </p:spPr>
          <p:txBody>
            <a:bodyPr/>
            <a:p>
              <a:endParaRPr lang="zh-CN" altLang="en-US"/>
            </a:p>
          </p:txBody>
        </p:sp>
        <p:sp>
          <p:nvSpPr>
            <p:cNvPr id="1056" name="Freeform 16"/>
            <p:cNvSpPr/>
            <p:nvPr userDrawn="1"/>
          </p:nvSpPr>
          <p:spPr>
            <a:xfrm>
              <a:off x="641" y="4163"/>
              <a:ext cx="76" cy="112"/>
            </a:xfrm>
            <a:custGeom>
              <a:avLst/>
              <a:gdLst/>
              <a:ahLst/>
              <a:cxnLst>
                <a:cxn ang="0">
                  <a:pos x="1" y="1"/>
                </a:cxn>
                <a:cxn ang="0">
                  <a:pos x="1" y="1"/>
                </a:cxn>
                <a:cxn ang="0">
                  <a:pos x="0" y="1"/>
                </a:cxn>
                <a:cxn ang="0">
                  <a:pos x="1" y="0"/>
                </a:cxn>
                <a:cxn ang="0">
                  <a:pos x="1" y="1"/>
                </a:cxn>
              </a:cxnLst>
              <a:pathLst>
                <a:path w="152" h="224">
                  <a:moveTo>
                    <a:pt x="152" y="4"/>
                  </a:moveTo>
                  <a:lnTo>
                    <a:pt x="152" y="224"/>
                  </a:lnTo>
                  <a:lnTo>
                    <a:pt x="0" y="8"/>
                  </a:lnTo>
                  <a:lnTo>
                    <a:pt x="72" y="0"/>
                  </a:lnTo>
                  <a:lnTo>
                    <a:pt x="152" y="4"/>
                  </a:lnTo>
                  <a:close/>
                </a:path>
              </a:pathLst>
            </a:custGeom>
            <a:solidFill>
              <a:schemeClr val="hlink">
                <a:alpha val="100000"/>
              </a:schemeClr>
            </a:solidFill>
            <a:ln w="9525">
              <a:noFill/>
            </a:ln>
          </p:spPr>
          <p:txBody>
            <a:bodyPr/>
            <a:p>
              <a:endParaRPr lang="zh-CN" altLang="en-US"/>
            </a:p>
          </p:txBody>
        </p:sp>
        <p:sp>
          <p:nvSpPr>
            <p:cNvPr id="1057" name="Freeform 17"/>
            <p:cNvSpPr/>
            <p:nvPr userDrawn="1"/>
          </p:nvSpPr>
          <p:spPr>
            <a:xfrm>
              <a:off x="504" y="3607"/>
              <a:ext cx="193" cy="383"/>
            </a:xfrm>
            <a:custGeom>
              <a:avLst/>
              <a:gdLst/>
              <a:ahLst/>
              <a:cxnLst>
                <a:cxn ang="0">
                  <a:pos x="0" y="1"/>
                </a:cxn>
                <a:cxn ang="0">
                  <a:pos x="1" y="0"/>
                </a:cxn>
                <a:cxn ang="0">
                  <a:pos x="1" y="1"/>
                </a:cxn>
                <a:cxn ang="0">
                  <a:pos x="1" y="1"/>
                </a:cxn>
                <a:cxn ang="0">
                  <a:pos x="1" y="1"/>
                </a:cxn>
                <a:cxn ang="0">
                  <a:pos x="1" y="1"/>
                </a:cxn>
                <a:cxn ang="0">
                  <a:pos x="0" y="1"/>
                </a:cxn>
              </a:cxnLst>
              <a:pathLst>
                <a:path w="386" h="764">
                  <a:moveTo>
                    <a:pt x="0" y="80"/>
                  </a:moveTo>
                  <a:lnTo>
                    <a:pt x="87" y="0"/>
                  </a:lnTo>
                  <a:lnTo>
                    <a:pt x="232" y="6"/>
                  </a:lnTo>
                  <a:lnTo>
                    <a:pt x="386" y="764"/>
                  </a:lnTo>
                  <a:lnTo>
                    <a:pt x="279" y="720"/>
                  </a:lnTo>
                  <a:lnTo>
                    <a:pt x="152" y="677"/>
                  </a:lnTo>
                  <a:lnTo>
                    <a:pt x="0" y="80"/>
                  </a:lnTo>
                  <a:close/>
                </a:path>
              </a:pathLst>
            </a:custGeom>
            <a:solidFill>
              <a:schemeClr val="bg2">
                <a:alpha val="100000"/>
              </a:schemeClr>
            </a:solidFill>
            <a:ln w="9525">
              <a:noFill/>
            </a:ln>
          </p:spPr>
          <p:txBody>
            <a:bodyPr/>
            <a:p>
              <a:endParaRPr lang="zh-CN" altLang="en-US"/>
            </a:p>
          </p:txBody>
        </p:sp>
        <p:sp>
          <p:nvSpPr>
            <p:cNvPr id="1058" name="Freeform 18"/>
            <p:cNvSpPr/>
            <p:nvPr userDrawn="1"/>
          </p:nvSpPr>
          <p:spPr>
            <a:xfrm>
              <a:off x="668" y="3590"/>
              <a:ext cx="364" cy="174"/>
            </a:xfrm>
            <a:custGeom>
              <a:avLst/>
              <a:gdLst/>
              <a:ahLst/>
              <a:cxnLst>
                <a:cxn ang="0">
                  <a:pos x="1" y="0"/>
                </a:cxn>
                <a:cxn ang="0">
                  <a:pos x="0" y="1"/>
                </a:cxn>
                <a:cxn ang="0">
                  <a:pos x="1" y="1"/>
                </a:cxn>
                <a:cxn ang="0">
                  <a:pos x="1" y="1"/>
                </a:cxn>
                <a:cxn ang="0">
                  <a:pos x="1" y="1"/>
                </a:cxn>
                <a:cxn ang="0">
                  <a:pos x="1" y="0"/>
                </a:cxn>
              </a:cxnLst>
              <a:pathLst>
                <a:path w="728" h="348">
                  <a:moveTo>
                    <a:pt x="692" y="0"/>
                  </a:moveTo>
                  <a:lnTo>
                    <a:pt x="0" y="106"/>
                  </a:lnTo>
                  <a:lnTo>
                    <a:pt x="28" y="348"/>
                  </a:lnTo>
                  <a:lnTo>
                    <a:pt x="715" y="237"/>
                  </a:lnTo>
                  <a:lnTo>
                    <a:pt x="728" y="43"/>
                  </a:lnTo>
                  <a:lnTo>
                    <a:pt x="692" y="0"/>
                  </a:lnTo>
                  <a:close/>
                </a:path>
              </a:pathLst>
            </a:custGeom>
            <a:solidFill>
              <a:schemeClr val="bg2">
                <a:alpha val="100000"/>
              </a:schemeClr>
            </a:solidFill>
            <a:ln w="9525">
              <a:noFill/>
            </a:ln>
          </p:spPr>
          <p:txBody>
            <a:bodyPr/>
            <a:p>
              <a:endParaRPr lang="zh-CN" altLang="en-US"/>
            </a:p>
          </p:txBody>
        </p:sp>
        <p:sp>
          <p:nvSpPr>
            <p:cNvPr id="1059" name="Freeform 19"/>
            <p:cNvSpPr/>
            <p:nvPr userDrawn="1"/>
          </p:nvSpPr>
          <p:spPr>
            <a:xfrm>
              <a:off x="347" y="3693"/>
              <a:ext cx="156" cy="67"/>
            </a:xfrm>
            <a:custGeom>
              <a:avLst/>
              <a:gdLst/>
              <a:ahLst/>
              <a:cxnLst>
                <a:cxn ang="0">
                  <a:pos x="1" y="0"/>
                </a:cxn>
                <a:cxn ang="0">
                  <a:pos x="0" y="0"/>
                </a:cxn>
                <a:cxn ang="0">
                  <a:pos x="1" y="0"/>
                </a:cxn>
                <a:cxn ang="0">
                  <a:pos x="1" y="0"/>
                </a:cxn>
              </a:cxnLst>
              <a:pathLst>
                <a:path w="312" h="135">
                  <a:moveTo>
                    <a:pt x="272" y="0"/>
                  </a:moveTo>
                  <a:lnTo>
                    <a:pt x="0" y="78"/>
                  </a:lnTo>
                  <a:lnTo>
                    <a:pt x="312" y="135"/>
                  </a:lnTo>
                  <a:lnTo>
                    <a:pt x="272" y="0"/>
                  </a:lnTo>
                  <a:close/>
                </a:path>
              </a:pathLst>
            </a:custGeom>
            <a:solidFill>
              <a:schemeClr val="accent1">
                <a:alpha val="100000"/>
              </a:schemeClr>
            </a:solidFill>
            <a:ln w="9525">
              <a:noFill/>
            </a:ln>
          </p:spPr>
          <p:txBody>
            <a:bodyPr/>
            <a:p>
              <a:endParaRPr lang="zh-CN" altLang="en-US"/>
            </a:p>
          </p:txBody>
        </p:sp>
        <p:grpSp>
          <p:nvGrpSpPr>
            <p:cNvPr id="1060" name="Group 20"/>
            <p:cNvGrpSpPr/>
            <p:nvPr userDrawn="1"/>
          </p:nvGrpSpPr>
          <p:grpSpPr>
            <a:xfrm>
              <a:off x="5" y="3490"/>
              <a:ext cx="1124" cy="780"/>
              <a:chOff x="5" y="3490"/>
              <a:chExt cx="1124" cy="780"/>
            </a:xfrm>
          </p:grpSpPr>
          <p:grpSp>
            <p:nvGrpSpPr>
              <p:cNvPr id="1061" name="Group 21"/>
              <p:cNvGrpSpPr/>
              <p:nvPr userDrawn="1"/>
            </p:nvGrpSpPr>
            <p:grpSpPr>
              <a:xfrm>
                <a:off x="499" y="3562"/>
                <a:ext cx="548" cy="708"/>
                <a:chOff x="499" y="3562"/>
                <a:chExt cx="548" cy="708"/>
              </a:xfrm>
            </p:grpSpPr>
            <p:sp>
              <p:nvSpPr>
                <p:cNvPr id="1074" name="Freeform 22"/>
                <p:cNvSpPr/>
                <p:nvPr userDrawn="1"/>
              </p:nvSpPr>
              <p:spPr>
                <a:xfrm>
                  <a:off x="499" y="3587"/>
                  <a:ext cx="157" cy="87"/>
                </a:xfrm>
                <a:custGeom>
                  <a:avLst/>
                  <a:gdLst/>
                  <a:ahLst/>
                  <a:cxnLst>
                    <a:cxn ang="0">
                      <a:pos x="0" y="0"/>
                    </a:cxn>
                    <a:cxn ang="0">
                      <a:pos x="1" y="0"/>
                    </a:cxn>
                    <a:cxn ang="0">
                      <a:pos x="1" y="0"/>
                    </a:cxn>
                    <a:cxn ang="0">
                      <a:pos x="1" y="0"/>
                    </a:cxn>
                    <a:cxn ang="0">
                      <a:pos x="1" y="0"/>
                    </a:cxn>
                    <a:cxn ang="0">
                      <a:pos x="1" y="0"/>
                    </a:cxn>
                    <a:cxn ang="0">
                      <a:pos x="1" y="0"/>
                    </a:cxn>
                    <a:cxn ang="0">
                      <a:pos x="1" y="0"/>
                    </a:cxn>
                    <a:cxn ang="0">
                      <a:pos x="0" y="0"/>
                    </a:cxn>
                  </a:cxnLst>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alpha val="100000"/>
                  </a:schemeClr>
                </a:solidFill>
                <a:ln w="9525">
                  <a:noFill/>
                </a:ln>
              </p:spPr>
              <p:txBody>
                <a:bodyPr/>
                <a:p>
                  <a:endParaRPr lang="zh-CN" altLang="en-US"/>
                </a:p>
              </p:txBody>
            </p:sp>
            <p:sp>
              <p:nvSpPr>
                <p:cNvPr id="1075" name="Freeform 23"/>
                <p:cNvSpPr/>
                <p:nvPr userDrawn="1"/>
              </p:nvSpPr>
              <p:spPr>
                <a:xfrm>
                  <a:off x="636" y="4137"/>
                  <a:ext cx="115" cy="133"/>
                </a:xfrm>
                <a:custGeom>
                  <a:avLst/>
                  <a:gdLst/>
                  <a:ahLst/>
                  <a:cxnLst>
                    <a:cxn ang="0">
                      <a:pos x="0" y="1"/>
                    </a:cxn>
                    <a:cxn ang="0">
                      <a:pos x="1" y="1"/>
                    </a:cxn>
                    <a:cxn ang="0">
                      <a:pos x="1" y="1"/>
                    </a:cxn>
                    <a:cxn ang="0">
                      <a:pos x="1" y="1"/>
                    </a:cxn>
                    <a:cxn ang="0">
                      <a:pos x="1" y="0"/>
                    </a:cxn>
                    <a:cxn ang="0">
                      <a:pos x="1" y="1"/>
                    </a:cxn>
                    <a:cxn ang="0">
                      <a:pos x="1" y="1"/>
                    </a:cxn>
                    <a:cxn ang="0">
                      <a:pos x="0" y="1"/>
                    </a:cxn>
                  </a:cxnLst>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alpha val="100000"/>
                  </a:schemeClr>
                </a:solidFill>
                <a:ln w="9525">
                  <a:noFill/>
                </a:ln>
              </p:spPr>
              <p:txBody>
                <a:bodyPr/>
                <a:p>
                  <a:endParaRPr lang="zh-CN" altLang="en-US"/>
                </a:p>
              </p:txBody>
            </p:sp>
            <p:sp>
              <p:nvSpPr>
                <p:cNvPr id="1076" name="Freeform 24"/>
                <p:cNvSpPr/>
                <p:nvPr userDrawn="1"/>
              </p:nvSpPr>
              <p:spPr>
                <a:xfrm>
                  <a:off x="1004" y="3562"/>
                  <a:ext cx="43" cy="117"/>
                </a:xfrm>
                <a:custGeom>
                  <a:avLst/>
                  <a:gdLst/>
                  <a:ahLst/>
                  <a:cxnLst>
                    <a:cxn ang="0">
                      <a:pos x="0" y="1"/>
                    </a:cxn>
                    <a:cxn ang="0">
                      <a:pos x="0" y="1"/>
                    </a:cxn>
                    <a:cxn ang="0">
                      <a:pos x="0" y="1"/>
                    </a:cxn>
                    <a:cxn ang="0">
                      <a:pos x="0" y="1"/>
                    </a:cxn>
                    <a:cxn ang="0">
                      <a:pos x="0" y="1"/>
                    </a:cxn>
                    <a:cxn ang="0">
                      <a:pos x="0" y="1"/>
                    </a:cxn>
                    <a:cxn ang="0">
                      <a:pos x="0" y="0"/>
                    </a:cxn>
                    <a:cxn ang="0">
                      <a:pos x="0" y="1"/>
                    </a:cxn>
                  </a:cxnLst>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alpha val="100000"/>
                  </a:schemeClr>
                </a:solidFill>
                <a:ln w="9525">
                  <a:noFill/>
                </a:ln>
              </p:spPr>
              <p:txBody>
                <a:bodyPr/>
                <a:p>
                  <a:endParaRPr lang="zh-CN" altLang="en-US"/>
                </a:p>
              </p:txBody>
            </p:sp>
          </p:grpSp>
          <p:sp>
            <p:nvSpPr>
              <p:cNvPr id="1062" name="Freeform 25"/>
              <p:cNvSpPr/>
              <p:nvPr userDrawn="1"/>
            </p:nvSpPr>
            <p:spPr>
              <a:xfrm>
                <a:off x="76" y="3732"/>
                <a:ext cx="595" cy="250"/>
              </a:xfrm>
              <a:custGeom>
                <a:avLst/>
                <a:gdLst/>
                <a:ahLst/>
                <a:cxnLst>
                  <a:cxn ang="0">
                    <a:pos x="1" y="0"/>
                  </a:cxn>
                  <a:cxn ang="0">
                    <a:pos x="1" y="1"/>
                  </a:cxn>
                  <a:cxn ang="0">
                    <a:pos x="1" y="1"/>
                  </a:cxn>
                  <a:cxn ang="0">
                    <a:pos x="0" y="1"/>
                  </a:cxn>
                  <a:cxn ang="0">
                    <a:pos x="1" y="0"/>
                  </a:cxn>
                </a:cxnLst>
                <a:pathLst>
                  <a:path w="1190" h="500">
                    <a:moveTo>
                      <a:pt x="100" y="0"/>
                    </a:moveTo>
                    <a:lnTo>
                      <a:pt x="1190" y="490"/>
                    </a:lnTo>
                    <a:lnTo>
                      <a:pt x="1076" y="500"/>
                    </a:lnTo>
                    <a:lnTo>
                      <a:pt x="0" y="27"/>
                    </a:lnTo>
                    <a:lnTo>
                      <a:pt x="100" y="0"/>
                    </a:lnTo>
                    <a:close/>
                  </a:path>
                </a:pathLst>
              </a:custGeom>
              <a:solidFill>
                <a:schemeClr val="accent2">
                  <a:alpha val="100000"/>
                </a:schemeClr>
              </a:solidFill>
              <a:ln w="9525">
                <a:noFill/>
              </a:ln>
            </p:spPr>
            <p:txBody>
              <a:bodyPr/>
              <a:p>
                <a:endParaRPr lang="zh-CN" altLang="en-US"/>
              </a:p>
            </p:txBody>
          </p:sp>
          <p:sp>
            <p:nvSpPr>
              <p:cNvPr id="1063" name="Freeform 26"/>
              <p:cNvSpPr/>
              <p:nvPr userDrawn="1"/>
            </p:nvSpPr>
            <p:spPr>
              <a:xfrm>
                <a:off x="260" y="3886"/>
                <a:ext cx="244" cy="148"/>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1"/>
                  </a:cxn>
                </a:cxnLst>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alpha val="100000"/>
                </a:schemeClr>
              </a:solidFill>
              <a:ln w="9525">
                <a:noFill/>
              </a:ln>
            </p:spPr>
            <p:txBody>
              <a:bodyPr/>
              <a:p>
                <a:endParaRPr lang="zh-CN" altLang="en-US"/>
              </a:p>
            </p:txBody>
          </p:sp>
          <p:sp>
            <p:nvSpPr>
              <p:cNvPr id="1064" name="Freeform 27"/>
              <p:cNvSpPr/>
              <p:nvPr userDrawn="1"/>
            </p:nvSpPr>
            <p:spPr>
              <a:xfrm>
                <a:off x="565" y="3680"/>
                <a:ext cx="107" cy="238"/>
              </a:xfrm>
              <a:custGeom>
                <a:avLst/>
                <a:gdLst/>
                <a:ahLst/>
                <a:cxnLst>
                  <a:cxn ang="0">
                    <a:pos x="1" y="0"/>
                  </a:cxn>
                  <a:cxn ang="0">
                    <a:pos x="1" y="0"/>
                  </a:cxn>
                  <a:cxn ang="0">
                    <a:pos x="1" y="0"/>
                  </a:cxn>
                  <a:cxn ang="0">
                    <a:pos x="1" y="0"/>
                  </a:cxn>
                  <a:cxn ang="0">
                    <a:pos x="1" y="0"/>
                  </a:cxn>
                  <a:cxn ang="0">
                    <a:pos x="1" y="0"/>
                  </a:cxn>
                  <a:cxn ang="0">
                    <a:pos x="1" y="0"/>
                  </a:cxn>
                  <a:cxn ang="0">
                    <a:pos x="0" y="0"/>
                  </a:cxn>
                  <a:cxn ang="0">
                    <a:pos x="1" y="0"/>
                  </a:cxn>
                </a:cxnLst>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alpha val="100000"/>
                </a:schemeClr>
              </a:solidFill>
              <a:ln w="9525">
                <a:noFill/>
              </a:ln>
            </p:spPr>
            <p:txBody>
              <a:bodyPr/>
              <a:p>
                <a:endParaRPr lang="zh-CN" altLang="en-US"/>
              </a:p>
            </p:txBody>
          </p:sp>
          <p:grpSp>
            <p:nvGrpSpPr>
              <p:cNvPr id="1065" name="Group 28"/>
              <p:cNvGrpSpPr/>
              <p:nvPr userDrawn="1"/>
            </p:nvGrpSpPr>
            <p:grpSpPr>
              <a:xfrm>
                <a:off x="5" y="3490"/>
                <a:ext cx="1124" cy="678"/>
                <a:chOff x="5" y="3490"/>
                <a:chExt cx="1124" cy="678"/>
              </a:xfrm>
            </p:grpSpPr>
            <p:sp>
              <p:nvSpPr>
                <p:cNvPr id="1066" name="Freeform 29"/>
                <p:cNvSpPr/>
                <p:nvPr userDrawn="1"/>
              </p:nvSpPr>
              <p:spPr>
                <a:xfrm>
                  <a:off x="669" y="4048"/>
                  <a:ext cx="75" cy="87"/>
                </a:xfrm>
                <a:custGeom>
                  <a:avLst/>
                  <a:gdLst/>
                  <a:ahLst/>
                  <a:cxnLst>
                    <a:cxn ang="0">
                      <a:pos x="1" y="0"/>
                    </a:cxn>
                    <a:cxn ang="0">
                      <a:pos x="1" y="1"/>
                    </a:cxn>
                    <a:cxn ang="0">
                      <a:pos x="0" y="1"/>
                    </a:cxn>
                    <a:cxn ang="0">
                      <a:pos x="1" y="1"/>
                    </a:cxn>
                    <a:cxn ang="0">
                      <a:pos x="1" y="1"/>
                    </a:cxn>
                    <a:cxn ang="0">
                      <a:pos x="1" y="1"/>
                    </a:cxn>
                    <a:cxn ang="0">
                      <a:pos x="1" y="0"/>
                    </a:cxn>
                  </a:cxnLst>
                  <a:pathLst>
                    <a:path w="150" h="173">
                      <a:moveTo>
                        <a:pt x="110" y="0"/>
                      </a:moveTo>
                      <a:lnTo>
                        <a:pt x="40" y="66"/>
                      </a:lnTo>
                      <a:lnTo>
                        <a:pt x="0" y="173"/>
                      </a:lnTo>
                      <a:lnTo>
                        <a:pt x="80" y="160"/>
                      </a:lnTo>
                      <a:lnTo>
                        <a:pt x="103" y="84"/>
                      </a:lnTo>
                      <a:lnTo>
                        <a:pt x="150" y="27"/>
                      </a:lnTo>
                      <a:lnTo>
                        <a:pt x="110" y="0"/>
                      </a:lnTo>
                      <a:close/>
                    </a:path>
                  </a:pathLst>
                </a:custGeom>
                <a:solidFill>
                  <a:schemeClr val="accent2">
                    <a:alpha val="100000"/>
                  </a:schemeClr>
                </a:solidFill>
                <a:ln w="9525">
                  <a:noFill/>
                </a:ln>
              </p:spPr>
              <p:txBody>
                <a:bodyPr/>
                <a:p>
                  <a:endParaRPr lang="zh-CN" altLang="en-US"/>
                </a:p>
              </p:txBody>
            </p:sp>
            <p:sp>
              <p:nvSpPr>
                <p:cNvPr id="1067" name="Freeform 30"/>
                <p:cNvSpPr/>
                <p:nvPr userDrawn="1"/>
              </p:nvSpPr>
              <p:spPr>
                <a:xfrm>
                  <a:off x="5" y="3728"/>
                  <a:ext cx="842" cy="440"/>
                </a:xfrm>
                <a:custGeom>
                  <a:avLst/>
                  <a:gdLst/>
                  <a:ahLst/>
                  <a:cxnLst>
                    <a:cxn ang="0">
                      <a:pos x="1" y="0"/>
                    </a:cxn>
                    <a:cxn ang="0">
                      <a:pos x="1"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Lst>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alpha val="100000"/>
                  </a:schemeClr>
                </a:solidFill>
                <a:ln w="9525">
                  <a:noFill/>
                </a:ln>
              </p:spPr>
              <p:txBody>
                <a:bodyPr/>
                <a:p>
                  <a:endParaRPr lang="zh-CN" altLang="en-US"/>
                </a:p>
              </p:txBody>
            </p:sp>
            <p:sp>
              <p:nvSpPr>
                <p:cNvPr id="1068" name="Freeform 31"/>
                <p:cNvSpPr/>
                <p:nvPr userDrawn="1"/>
              </p:nvSpPr>
              <p:spPr>
                <a:xfrm>
                  <a:off x="106" y="3770"/>
                  <a:ext cx="80" cy="167"/>
                </a:xfrm>
                <a:custGeom>
                  <a:avLst/>
                  <a:gdLst/>
                  <a:ahLst/>
                  <a:cxnLst>
                    <a:cxn ang="0">
                      <a:pos x="1" y="0"/>
                    </a:cxn>
                    <a:cxn ang="0">
                      <a:pos x="1" y="0"/>
                    </a:cxn>
                    <a:cxn ang="0">
                      <a:pos x="0" y="0"/>
                    </a:cxn>
                    <a:cxn ang="0">
                      <a:pos x="1" y="0"/>
                    </a:cxn>
                    <a:cxn ang="0">
                      <a:pos x="1" y="0"/>
                    </a:cxn>
                    <a:cxn ang="0">
                      <a:pos x="1" y="0"/>
                    </a:cxn>
                    <a:cxn ang="0">
                      <a:pos x="1" y="0"/>
                    </a:cxn>
                    <a:cxn ang="0">
                      <a:pos x="1" y="0"/>
                    </a:cxn>
                  </a:cxnLst>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alpha val="100000"/>
                  </a:schemeClr>
                </a:solidFill>
                <a:ln w="9525">
                  <a:noFill/>
                </a:ln>
              </p:spPr>
              <p:txBody>
                <a:bodyPr/>
                <a:p>
                  <a:endParaRPr lang="zh-CN" altLang="en-US"/>
                </a:p>
              </p:txBody>
            </p:sp>
            <p:sp>
              <p:nvSpPr>
                <p:cNvPr id="1069" name="Freeform 32"/>
                <p:cNvSpPr/>
                <p:nvPr userDrawn="1"/>
              </p:nvSpPr>
              <p:spPr>
                <a:xfrm>
                  <a:off x="449" y="3490"/>
                  <a:ext cx="322" cy="594"/>
                </a:xfrm>
                <a:custGeom>
                  <a:avLst/>
                  <a:gdLst/>
                  <a:ahLst/>
                  <a:cxnLst>
                    <a:cxn ang="0">
                      <a:pos x="1" y="1"/>
                    </a:cxn>
                    <a:cxn ang="0">
                      <a:pos x="0"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1" y="1"/>
                    </a:cxn>
                  </a:cxnLst>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alpha val="100000"/>
                  </a:schemeClr>
                </a:solidFill>
                <a:ln w="9525">
                  <a:noFill/>
                </a:ln>
              </p:spPr>
              <p:txBody>
                <a:bodyPr/>
                <a:p>
                  <a:endParaRPr lang="zh-CN" altLang="en-US"/>
                </a:p>
              </p:txBody>
            </p:sp>
            <p:sp>
              <p:nvSpPr>
                <p:cNvPr id="1070" name="Freeform 33"/>
                <p:cNvSpPr/>
                <p:nvPr userDrawn="1"/>
              </p:nvSpPr>
              <p:spPr>
                <a:xfrm>
                  <a:off x="578" y="3650"/>
                  <a:ext cx="96" cy="252"/>
                </a:xfrm>
                <a:custGeom>
                  <a:avLst/>
                  <a:gdLst/>
                  <a:ahLst/>
                  <a:cxnLst>
                    <a:cxn ang="0">
                      <a:pos x="0" y="1"/>
                    </a:cxn>
                    <a:cxn ang="0">
                      <a:pos x="1" y="1"/>
                    </a:cxn>
                    <a:cxn ang="0">
                      <a:pos x="1" y="1"/>
                    </a:cxn>
                    <a:cxn ang="0">
                      <a:pos x="1" y="1"/>
                    </a:cxn>
                    <a:cxn ang="0">
                      <a:pos x="1" y="1"/>
                    </a:cxn>
                    <a:cxn ang="0">
                      <a:pos x="1" y="1"/>
                    </a:cxn>
                    <a:cxn ang="0">
                      <a:pos x="1" y="1"/>
                    </a:cxn>
                    <a:cxn ang="0">
                      <a:pos x="1" y="1"/>
                    </a:cxn>
                    <a:cxn ang="0">
                      <a:pos x="1" y="0"/>
                    </a:cxn>
                    <a:cxn ang="0">
                      <a:pos x="0" y="1"/>
                    </a:cxn>
                  </a:cxnLst>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alpha val="100000"/>
                  </a:schemeClr>
                </a:solidFill>
                <a:ln w="9525">
                  <a:noFill/>
                </a:ln>
              </p:spPr>
              <p:txBody>
                <a:bodyPr/>
                <a:p>
                  <a:endParaRPr lang="zh-CN" altLang="en-US"/>
                </a:p>
              </p:txBody>
            </p:sp>
            <p:sp>
              <p:nvSpPr>
                <p:cNvPr id="1071" name="Freeform 34"/>
                <p:cNvSpPr/>
                <p:nvPr userDrawn="1"/>
              </p:nvSpPr>
              <p:spPr>
                <a:xfrm>
                  <a:off x="328" y="3630"/>
                  <a:ext cx="195" cy="135"/>
                </a:xfrm>
                <a:custGeom>
                  <a:avLst/>
                  <a:gdLst/>
                  <a:ahLst/>
                  <a:cxnLst>
                    <a:cxn ang="0">
                      <a:pos x="1" y="0"/>
                    </a:cxn>
                    <a:cxn ang="0">
                      <a:pos x="1" y="1"/>
                    </a:cxn>
                    <a:cxn ang="0">
                      <a:pos x="1" y="1"/>
                    </a:cxn>
                    <a:cxn ang="0">
                      <a:pos x="0" y="1"/>
                    </a:cxn>
                    <a:cxn ang="0">
                      <a:pos x="0" y="1"/>
                    </a:cxn>
                    <a:cxn ang="0">
                      <a:pos x="1" y="1"/>
                    </a:cxn>
                    <a:cxn ang="0">
                      <a:pos x="1" y="1"/>
                    </a:cxn>
                    <a:cxn ang="0">
                      <a:pos x="1" y="1"/>
                    </a:cxn>
                    <a:cxn ang="0">
                      <a:pos x="1" y="1"/>
                    </a:cxn>
                    <a:cxn ang="0">
                      <a:pos x="1" y="1"/>
                    </a:cxn>
                    <a:cxn ang="0">
                      <a:pos x="1" y="1"/>
                    </a:cxn>
                    <a:cxn ang="0">
                      <a:pos x="1" y="0"/>
                    </a:cxn>
                  </a:cxnLst>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alpha val="100000"/>
                  </a:schemeClr>
                </a:solidFill>
                <a:ln w="9525">
                  <a:noFill/>
                </a:ln>
              </p:spPr>
              <p:txBody>
                <a:bodyPr/>
                <a:p>
                  <a:endParaRPr lang="zh-CN" altLang="en-US"/>
                </a:p>
              </p:txBody>
            </p:sp>
            <p:sp>
              <p:nvSpPr>
                <p:cNvPr id="1072" name="Freeform 35"/>
                <p:cNvSpPr/>
                <p:nvPr userDrawn="1"/>
              </p:nvSpPr>
              <p:spPr>
                <a:xfrm>
                  <a:off x="658" y="3538"/>
                  <a:ext cx="471" cy="212"/>
                </a:xfrm>
                <a:custGeom>
                  <a:avLst/>
                  <a:gdLst/>
                  <a:ahLst/>
                  <a:cxnLst>
                    <a:cxn ang="0">
                      <a:pos x="0" y="1"/>
                    </a:cxn>
                    <a:cxn ang="0">
                      <a:pos x="1" y="0"/>
                    </a:cxn>
                    <a:cxn ang="0">
                      <a:pos x="1" y="1"/>
                    </a:cxn>
                    <a:cxn ang="0">
                      <a:pos x="1" y="1"/>
                    </a:cxn>
                    <a:cxn ang="0">
                      <a:pos x="1" y="1"/>
                    </a:cxn>
                    <a:cxn ang="0">
                      <a:pos x="1" y="1"/>
                    </a:cxn>
                    <a:cxn ang="0">
                      <a:pos x="1" y="1"/>
                    </a:cxn>
                    <a:cxn ang="0">
                      <a:pos x="1" y="1"/>
                    </a:cxn>
                    <a:cxn ang="0">
                      <a:pos x="1" y="1"/>
                    </a:cxn>
                    <a:cxn ang="0">
                      <a:pos x="1" y="1"/>
                    </a:cxn>
                    <a:cxn ang="0">
                      <a:pos x="0" y="1"/>
                    </a:cxn>
                    <a:cxn ang="0">
                      <a:pos x="0" y="1"/>
                    </a:cxn>
                  </a:cxnLst>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alpha val="100000"/>
                  </a:schemeClr>
                </a:solidFill>
                <a:ln w="9525">
                  <a:noFill/>
                </a:ln>
              </p:spPr>
              <p:txBody>
                <a:bodyPr/>
                <a:p>
                  <a:endParaRPr lang="zh-CN" altLang="en-US"/>
                </a:p>
              </p:txBody>
            </p:sp>
            <p:sp>
              <p:nvSpPr>
                <p:cNvPr id="1073" name="Freeform 36"/>
                <p:cNvSpPr/>
                <p:nvPr userDrawn="1"/>
              </p:nvSpPr>
              <p:spPr>
                <a:xfrm>
                  <a:off x="717" y="3606"/>
                  <a:ext cx="245" cy="86"/>
                </a:xfrm>
                <a:custGeom>
                  <a:avLst/>
                  <a:gdLst/>
                  <a:ahLst/>
                  <a:cxnLst>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Lst>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alpha val="100000"/>
                  </a:schemeClr>
                </a:solidFill>
                <a:ln w="9525">
                  <a:noFill/>
                </a:ln>
              </p:spPr>
              <p:txBody>
                <a:bodyPr/>
                <a:p>
                  <a:endParaRPr lang="zh-CN" altLang="en-US"/>
                </a:p>
              </p:txBody>
            </p:sp>
          </p:grpSp>
        </p:grpSp>
      </p:grpSp>
      <p:grpSp>
        <p:nvGrpSpPr>
          <p:cNvPr id="1035" name="Group 37"/>
          <p:cNvGrpSpPr/>
          <p:nvPr/>
        </p:nvGrpSpPr>
        <p:grpSpPr>
          <a:xfrm>
            <a:off x="8680450" y="2116138"/>
            <a:ext cx="385763" cy="4308475"/>
            <a:chOff x="5468" y="1333"/>
            <a:chExt cx="243" cy="2714"/>
          </a:xfrm>
        </p:grpSpPr>
        <p:sp>
          <p:nvSpPr>
            <p:cNvPr id="1049" name="Freeform 38"/>
            <p:cNvSpPr/>
            <p:nvPr userDrawn="1"/>
          </p:nvSpPr>
          <p:spPr>
            <a:xfrm flipH="1">
              <a:off x="5468" y="2620"/>
              <a:ext cx="205" cy="142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alpha val="100000"/>
              </a:schemeClr>
            </a:solidFill>
            <a:ln w="9525">
              <a:noFill/>
            </a:ln>
          </p:spPr>
          <p:txBody>
            <a:bodyPr/>
            <a:p>
              <a:endParaRPr lang="zh-CN" altLang="en-US"/>
            </a:p>
          </p:txBody>
        </p:sp>
        <p:sp>
          <p:nvSpPr>
            <p:cNvPr id="1050" name="Freeform 39"/>
            <p:cNvSpPr/>
            <p:nvPr userDrawn="1"/>
          </p:nvSpPr>
          <p:spPr>
            <a:xfrm flipH="1">
              <a:off x="5506" y="1333"/>
              <a:ext cx="205" cy="1633"/>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alpha val="100000"/>
              </a:schemeClr>
            </a:solidFill>
            <a:ln w="9525">
              <a:noFill/>
            </a:ln>
          </p:spPr>
          <p:txBody>
            <a:bodyPr/>
            <a:p>
              <a:endParaRPr lang="zh-CN" altLang="en-US"/>
            </a:p>
          </p:txBody>
        </p:sp>
      </p:grpSp>
      <p:grpSp>
        <p:nvGrpSpPr>
          <p:cNvPr id="1036" name="Group 40"/>
          <p:cNvGrpSpPr/>
          <p:nvPr/>
        </p:nvGrpSpPr>
        <p:grpSpPr>
          <a:xfrm>
            <a:off x="7318375" y="90488"/>
            <a:ext cx="2133600" cy="1911350"/>
            <a:chOff x="4610" y="57"/>
            <a:chExt cx="1344" cy="1204"/>
          </a:xfrm>
        </p:grpSpPr>
        <p:grpSp>
          <p:nvGrpSpPr>
            <p:cNvPr id="1037" name="Group 41"/>
            <p:cNvGrpSpPr/>
            <p:nvPr userDrawn="1"/>
          </p:nvGrpSpPr>
          <p:grpSpPr>
            <a:xfrm>
              <a:off x="4610" y="57"/>
              <a:ext cx="1344" cy="1204"/>
              <a:chOff x="4610" y="57"/>
              <a:chExt cx="1344" cy="1204"/>
            </a:xfrm>
          </p:grpSpPr>
          <p:sp>
            <p:nvSpPr>
              <p:cNvPr id="1039" name="Freeform 42"/>
              <p:cNvSpPr/>
              <p:nvPr userDrawn="1"/>
            </p:nvSpPr>
            <p:spPr>
              <a:xfrm rot="-3172564">
                <a:off x="5430" y="1086"/>
                <a:ext cx="62" cy="288"/>
              </a:xfrm>
              <a:custGeom>
                <a:avLst/>
                <a:gdLst/>
                <a:ahLst/>
                <a:cxnLst>
                  <a:cxn ang="0">
                    <a:pos x="0" y="0"/>
                  </a:cxn>
                  <a:cxn ang="0">
                    <a:pos x="0" y="0"/>
                  </a:cxn>
                  <a:cxn ang="0">
                    <a:pos x="0" y="0"/>
                  </a:cxn>
                  <a:cxn ang="0">
                    <a:pos x="0" y="0"/>
                  </a:cxn>
                  <a:cxn ang="0">
                    <a:pos x="0" y="0"/>
                  </a:cxn>
                  <a:cxn ang="0">
                    <a:pos x="0" y="0"/>
                  </a:cxn>
                  <a:cxn ang="0">
                    <a:pos x="0" y="0"/>
                  </a:cxn>
                </a:cxnLst>
                <a:pathLst>
                  <a:path w="245" h="806">
                    <a:moveTo>
                      <a:pt x="123" y="9"/>
                    </a:moveTo>
                    <a:lnTo>
                      <a:pt x="131" y="342"/>
                    </a:lnTo>
                    <a:lnTo>
                      <a:pt x="0" y="806"/>
                    </a:lnTo>
                    <a:lnTo>
                      <a:pt x="79" y="789"/>
                    </a:lnTo>
                    <a:lnTo>
                      <a:pt x="218" y="376"/>
                    </a:lnTo>
                    <a:lnTo>
                      <a:pt x="245" y="0"/>
                    </a:lnTo>
                    <a:lnTo>
                      <a:pt x="123" y="9"/>
                    </a:lnTo>
                    <a:close/>
                  </a:path>
                </a:pathLst>
              </a:custGeom>
              <a:solidFill>
                <a:schemeClr val="accent2">
                  <a:alpha val="100000"/>
                </a:schemeClr>
              </a:solidFill>
              <a:ln w="9525">
                <a:noFill/>
              </a:ln>
            </p:spPr>
            <p:txBody>
              <a:bodyPr/>
              <a:p>
                <a:endParaRPr lang="zh-CN" altLang="en-US"/>
              </a:p>
            </p:txBody>
          </p:sp>
          <p:grpSp>
            <p:nvGrpSpPr>
              <p:cNvPr id="1040" name="Group 43"/>
              <p:cNvGrpSpPr/>
              <p:nvPr userDrawn="1"/>
            </p:nvGrpSpPr>
            <p:grpSpPr>
              <a:xfrm>
                <a:off x="4610" y="57"/>
                <a:ext cx="1344" cy="985"/>
                <a:chOff x="4610" y="57"/>
                <a:chExt cx="1344" cy="985"/>
              </a:xfrm>
            </p:grpSpPr>
            <p:sp>
              <p:nvSpPr>
                <p:cNvPr id="1041" name="Freeform 44"/>
                <p:cNvSpPr/>
                <p:nvPr userDrawn="1"/>
              </p:nvSpPr>
              <p:spPr>
                <a:xfrm rot="-3172564">
                  <a:off x="4964" y="69"/>
                  <a:ext cx="153" cy="125"/>
                </a:xfrm>
                <a:custGeom>
                  <a:avLst/>
                  <a:gdLst/>
                  <a:ahLst/>
                  <a:cxnLst>
                    <a:cxn ang="0">
                      <a:pos x="0" y="0"/>
                    </a:cxn>
                    <a:cxn ang="0">
                      <a:pos x="0" y="0"/>
                    </a:cxn>
                    <a:cxn ang="0">
                      <a:pos x="0" y="0"/>
                    </a:cxn>
                    <a:cxn ang="0">
                      <a:pos x="0" y="0"/>
                    </a:cxn>
                    <a:cxn ang="0">
                      <a:pos x="0" y="0"/>
                    </a:cxn>
                    <a:cxn ang="0">
                      <a:pos x="0" y="0"/>
                    </a:cxn>
                    <a:cxn ang="0">
                      <a:pos x="0" y="0"/>
                    </a:cxn>
                    <a:cxn ang="0">
                      <a:pos x="0" y="0"/>
                    </a:cxn>
                  </a:cxnLst>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alpha val="100000"/>
                  </a:schemeClr>
                </a:solidFill>
                <a:ln w="9525">
                  <a:noFill/>
                </a:ln>
              </p:spPr>
              <p:txBody>
                <a:bodyPr/>
                <a:p>
                  <a:endParaRPr lang="zh-CN" altLang="en-US"/>
                </a:p>
              </p:txBody>
            </p:sp>
            <p:sp>
              <p:nvSpPr>
                <p:cNvPr id="1042" name="Freeform 45"/>
                <p:cNvSpPr/>
                <p:nvPr userDrawn="1"/>
              </p:nvSpPr>
              <p:spPr>
                <a:xfrm rot="-3172564">
                  <a:off x="5053" y="322"/>
                  <a:ext cx="269" cy="4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alpha val="100000"/>
                  </a:schemeClr>
                </a:solidFill>
                <a:ln w="9525">
                  <a:noFill/>
                </a:ln>
              </p:spPr>
              <p:txBody>
                <a:bodyPr/>
                <a:p>
                  <a:endParaRPr lang="zh-CN" altLang="en-US"/>
                </a:p>
              </p:txBody>
            </p:sp>
            <p:sp>
              <p:nvSpPr>
                <p:cNvPr id="1043" name="Freeform 46"/>
                <p:cNvSpPr/>
                <p:nvPr userDrawn="1"/>
              </p:nvSpPr>
              <p:spPr>
                <a:xfrm rot="-3172564">
                  <a:off x="4863" y="172"/>
                  <a:ext cx="505" cy="898"/>
                </a:xfrm>
                <a:custGeom>
                  <a:avLst/>
                  <a:gdLst/>
                  <a:ahLst/>
                  <a:cxnLst>
                    <a:cxn ang="0">
                      <a:pos x="0" y="0"/>
                    </a:cxn>
                    <a:cxn ang="0">
                      <a:pos x="0" y="0"/>
                    </a:cxn>
                    <a:cxn ang="0">
                      <a:pos x="0" y="0"/>
                    </a:cxn>
                    <a:cxn ang="0">
                      <a:pos x="0" y="0"/>
                    </a:cxn>
                    <a:cxn ang="0">
                      <a:pos x="0" y="0"/>
                    </a:cxn>
                  </a:cxnLst>
                  <a:pathLst>
                    <a:path w="2002" h="2521">
                      <a:moveTo>
                        <a:pt x="1941" y="0"/>
                      </a:moveTo>
                      <a:lnTo>
                        <a:pt x="0" y="2521"/>
                      </a:lnTo>
                      <a:lnTo>
                        <a:pt x="192" y="2450"/>
                      </a:lnTo>
                      <a:lnTo>
                        <a:pt x="2002" y="61"/>
                      </a:lnTo>
                      <a:lnTo>
                        <a:pt x="1941" y="0"/>
                      </a:lnTo>
                      <a:close/>
                    </a:path>
                  </a:pathLst>
                </a:custGeom>
                <a:solidFill>
                  <a:schemeClr val="accent2">
                    <a:alpha val="100000"/>
                  </a:schemeClr>
                </a:solidFill>
                <a:ln w="9525">
                  <a:noFill/>
                </a:ln>
              </p:spPr>
              <p:txBody>
                <a:bodyPr/>
                <a:p>
                  <a:endParaRPr lang="zh-CN" altLang="en-US"/>
                </a:p>
              </p:txBody>
            </p:sp>
            <p:sp>
              <p:nvSpPr>
                <p:cNvPr id="1044" name="Freeform 47"/>
                <p:cNvSpPr/>
                <p:nvPr userDrawn="1"/>
              </p:nvSpPr>
              <p:spPr>
                <a:xfrm rot="-3172564">
                  <a:off x="4903" y="-19"/>
                  <a:ext cx="758" cy="134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alpha val="100000"/>
                  </a:schemeClr>
                </a:solidFill>
                <a:ln w="9525">
                  <a:noFill/>
                </a:ln>
              </p:spPr>
              <p:txBody>
                <a:bodyPr/>
                <a:p>
                  <a:endParaRPr lang="zh-CN" altLang="en-US"/>
                </a:p>
              </p:txBody>
            </p:sp>
            <p:sp>
              <p:nvSpPr>
                <p:cNvPr id="1045" name="Freeform 48"/>
                <p:cNvSpPr/>
                <p:nvPr userDrawn="1"/>
              </p:nvSpPr>
              <p:spPr>
                <a:xfrm rot="-3172564">
                  <a:off x="5302" y="887"/>
                  <a:ext cx="169" cy="122"/>
                </a:xfrm>
                <a:custGeom>
                  <a:avLst/>
                  <a:gdLst/>
                  <a:ahLst/>
                  <a:cxnLst>
                    <a:cxn ang="0">
                      <a:pos x="0" y="0"/>
                    </a:cxn>
                    <a:cxn ang="0">
                      <a:pos x="0" y="0"/>
                    </a:cxn>
                    <a:cxn ang="0">
                      <a:pos x="0" y="0"/>
                    </a:cxn>
                    <a:cxn ang="0">
                      <a:pos x="0" y="0"/>
                    </a:cxn>
                    <a:cxn ang="0">
                      <a:pos x="0" y="0"/>
                    </a:cxn>
                    <a:cxn ang="0">
                      <a:pos x="0" y="0"/>
                    </a:cxn>
                    <a:cxn ang="0">
                      <a:pos x="0" y="0"/>
                    </a:cxn>
                  </a:cxnLst>
                  <a:pathLst>
                    <a:path w="673" h="342">
                      <a:moveTo>
                        <a:pt x="0" y="80"/>
                      </a:moveTo>
                      <a:lnTo>
                        <a:pt x="255" y="106"/>
                      </a:lnTo>
                      <a:lnTo>
                        <a:pt x="639" y="342"/>
                      </a:lnTo>
                      <a:lnTo>
                        <a:pt x="673" y="289"/>
                      </a:lnTo>
                      <a:lnTo>
                        <a:pt x="447" y="114"/>
                      </a:lnTo>
                      <a:lnTo>
                        <a:pt x="26" y="0"/>
                      </a:lnTo>
                      <a:lnTo>
                        <a:pt x="0" y="80"/>
                      </a:lnTo>
                      <a:close/>
                    </a:path>
                  </a:pathLst>
                </a:custGeom>
                <a:solidFill>
                  <a:schemeClr val="accent2">
                    <a:alpha val="100000"/>
                  </a:schemeClr>
                </a:solidFill>
                <a:ln w="9525">
                  <a:noFill/>
                </a:ln>
              </p:spPr>
              <p:txBody>
                <a:bodyPr/>
                <a:p>
                  <a:endParaRPr lang="zh-CN" altLang="en-US"/>
                </a:p>
              </p:txBody>
            </p:sp>
            <p:sp>
              <p:nvSpPr>
                <p:cNvPr id="1046" name="Freeform 49"/>
                <p:cNvSpPr/>
                <p:nvPr userDrawn="1"/>
              </p:nvSpPr>
              <p:spPr>
                <a:xfrm rot="-3172564">
                  <a:off x="5251" y="796"/>
                  <a:ext cx="181" cy="144"/>
                </a:xfrm>
                <a:custGeom>
                  <a:avLst/>
                  <a:gdLst/>
                  <a:ahLst/>
                  <a:cxnLst>
                    <a:cxn ang="0">
                      <a:pos x="0" y="0"/>
                    </a:cxn>
                    <a:cxn ang="0">
                      <a:pos x="0" y="0"/>
                    </a:cxn>
                    <a:cxn ang="0">
                      <a:pos x="0" y="0"/>
                    </a:cxn>
                    <a:cxn ang="0">
                      <a:pos x="0" y="0"/>
                    </a:cxn>
                    <a:cxn ang="0">
                      <a:pos x="0" y="0"/>
                    </a:cxn>
                    <a:cxn ang="0">
                      <a:pos x="0" y="0"/>
                    </a:cxn>
                    <a:cxn ang="0">
                      <a:pos x="0" y="0"/>
                    </a:cxn>
                  </a:cxnLst>
                  <a:pathLst>
                    <a:path w="716" h="403">
                      <a:moveTo>
                        <a:pt x="0" y="78"/>
                      </a:moveTo>
                      <a:lnTo>
                        <a:pt x="340" y="148"/>
                      </a:lnTo>
                      <a:lnTo>
                        <a:pt x="638" y="403"/>
                      </a:lnTo>
                      <a:lnTo>
                        <a:pt x="716" y="296"/>
                      </a:lnTo>
                      <a:lnTo>
                        <a:pt x="420" y="114"/>
                      </a:lnTo>
                      <a:lnTo>
                        <a:pt x="70" y="0"/>
                      </a:lnTo>
                      <a:lnTo>
                        <a:pt x="0" y="78"/>
                      </a:lnTo>
                      <a:close/>
                    </a:path>
                  </a:pathLst>
                </a:custGeom>
                <a:solidFill>
                  <a:schemeClr val="accent2">
                    <a:alpha val="100000"/>
                  </a:schemeClr>
                </a:solidFill>
                <a:ln w="9525">
                  <a:noFill/>
                </a:ln>
              </p:spPr>
              <p:txBody>
                <a:bodyPr/>
                <a:p>
                  <a:endParaRPr lang="zh-CN" altLang="en-US"/>
                </a:p>
              </p:txBody>
            </p:sp>
            <p:sp>
              <p:nvSpPr>
                <p:cNvPr id="1047" name="Freeform 50"/>
                <p:cNvSpPr/>
                <p:nvPr userDrawn="1"/>
              </p:nvSpPr>
              <p:spPr>
                <a:xfrm rot="-3172564">
                  <a:off x="4983" y="208"/>
                  <a:ext cx="181" cy="147"/>
                </a:xfrm>
                <a:custGeom>
                  <a:avLst/>
                  <a:gdLst/>
                  <a:ahLst/>
                  <a:cxnLst>
                    <a:cxn ang="0">
                      <a:pos x="0" y="0"/>
                    </a:cxn>
                    <a:cxn ang="0">
                      <a:pos x="0" y="0"/>
                    </a:cxn>
                    <a:cxn ang="0">
                      <a:pos x="0" y="0"/>
                    </a:cxn>
                    <a:cxn ang="0">
                      <a:pos x="0" y="0"/>
                    </a:cxn>
                    <a:cxn ang="0">
                      <a:pos x="0" y="0"/>
                    </a:cxn>
                    <a:cxn ang="0">
                      <a:pos x="0" y="0"/>
                    </a:cxn>
                    <a:cxn ang="0">
                      <a:pos x="0" y="0"/>
                    </a:cxn>
                  </a:cxnLst>
                  <a:pathLst>
                    <a:path w="717" h="411">
                      <a:moveTo>
                        <a:pt x="0" y="78"/>
                      </a:moveTo>
                      <a:lnTo>
                        <a:pt x="316" y="139"/>
                      </a:lnTo>
                      <a:lnTo>
                        <a:pt x="649" y="411"/>
                      </a:lnTo>
                      <a:lnTo>
                        <a:pt x="717" y="314"/>
                      </a:lnTo>
                      <a:lnTo>
                        <a:pt x="394" y="87"/>
                      </a:lnTo>
                      <a:lnTo>
                        <a:pt x="54" y="0"/>
                      </a:lnTo>
                      <a:lnTo>
                        <a:pt x="0" y="78"/>
                      </a:lnTo>
                      <a:close/>
                    </a:path>
                  </a:pathLst>
                </a:custGeom>
                <a:solidFill>
                  <a:schemeClr val="accent2">
                    <a:alpha val="100000"/>
                  </a:schemeClr>
                </a:solidFill>
                <a:ln w="9525">
                  <a:noFill/>
                </a:ln>
              </p:spPr>
              <p:txBody>
                <a:bodyPr/>
                <a:p>
                  <a:endParaRPr lang="zh-CN" altLang="en-US"/>
                </a:p>
              </p:txBody>
            </p:sp>
            <p:sp>
              <p:nvSpPr>
                <p:cNvPr id="1048" name="Freeform 51"/>
                <p:cNvSpPr/>
                <p:nvPr userDrawn="1"/>
              </p:nvSpPr>
              <p:spPr>
                <a:xfrm rot="-3172564">
                  <a:off x="4952" y="132"/>
                  <a:ext cx="179" cy="138"/>
                </a:xfrm>
                <a:custGeom>
                  <a:avLst/>
                  <a:gdLst/>
                  <a:ahLst/>
                  <a:cxnLst>
                    <a:cxn ang="0">
                      <a:pos x="0" y="0"/>
                    </a:cxn>
                    <a:cxn ang="0">
                      <a:pos x="0" y="0"/>
                    </a:cxn>
                    <a:cxn ang="0">
                      <a:pos x="0" y="0"/>
                    </a:cxn>
                    <a:cxn ang="0">
                      <a:pos x="0" y="0"/>
                    </a:cxn>
                    <a:cxn ang="0">
                      <a:pos x="0" y="0"/>
                    </a:cxn>
                    <a:cxn ang="0">
                      <a:pos x="0" y="0"/>
                    </a:cxn>
                    <a:cxn ang="0">
                      <a:pos x="0" y="0"/>
                    </a:cxn>
                  </a:cxnLst>
                  <a:pathLst>
                    <a:path w="709" h="386">
                      <a:moveTo>
                        <a:pt x="0" y="88"/>
                      </a:moveTo>
                      <a:lnTo>
                        <a:pt x="272" y="131"/>
                      </a:lnTo>
                      <a:lnTo>
                        <a:pt x="665" y="386"/>
                      </a:lnTo>
                      <a:lnTo>
                        <a:pt x="709" y="308"/>
                      </a:lnTo>
                      <a:lnTo>
                        <a:pt x="306" y="53"/>
                      </a:lnTo>
                      <a:lnTo>
                        <a:pt x="43" y="0"/>
                      </a:lnTo>
                      <a:lnTo>
                        <a:pt x="0" y="88"/>
                      </a:lnTo>
                      <a:close/>
                    </a:path>
                  </a:pathLst>
                </a:custGeom>
                <a:solidFill>
                  <a:schemeClr val="accent2">
                    <a:alpha val="100000"/>
                  </a:schemeClr>
                </a:solidFill>
                <a:ln w="9525">
                  <a:noFill/>
                </a:ln>
              </p:spPr>
              <p:txBody>
                <a:bodyPr/>
                <a:p>
                  <a:endParaRPr lang="zh-CN" altLang="en-US"/>
                </a:p>
              </p:txBody>
            </p:sp>
          </p:grpSp>
        </p:grpSp>
        <p:sp>
          <p:nvSpPr>
            <p:cNvPr id="1038"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Freeform 2"/>
          <p:cNvSpPr/>
          <p:nvPr/>
        </p:nvSpPr>
        <p:spPr>
          <a:xfrm rot="-3172564">
            <a:off x="7777163" y="-14287"/>
            <a:ext cx="1162050" cy="2082800"/>
          </a:xfrm>
          <a:custGeom>
            <a:avLst/>
            <a:gdLst/>
            <a:ahLst/>
            <a:cxnLst>
              <a:cxn ang="0">
                <a:pos x="2147483646" y="2147483646"/>
              </a:cxn>
              <a:cxn ang="0">
                <a:pos x="2147483646" y="2147483646"/>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Lst>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alpha val="100000"/>
            </a:srgbClr>
          </a:solidFill>
          <a:ln w="9525">
            <a:noFill/>
          </a:ln>
        </p:spPr>
        <p:txBody>
          <a:bodyPr/>
          <a:p>
            <a:endParaRPr lang="zh-CN" altLang="en-US"/>
          </a:p>
        </p:txBody>
      </p:sp>
      <p:sp>
        <p:nvSpPr>
          <p:cNvPr id="2051" name="Rectangle 3"/>
          <p:cNvSpPr>
            <a:spLocks noGrp="1"/>
          </p:cNvSpPr>
          <p:nvPr>
            <p:ph type="title"/>
          </p:nvPr>
        </p:nvSpPr>
        <p:spPr>
          <a:xfrm>
            <a:off x="685800" y="152400"/>
            <a:ext cx="6870700" cy="16002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2052" name="Rectangle 4"/>
          <p:cNvSpPr>
            <a:spLocks noGrp="1"/>
          </p:cNvSpPr>
          <p:nvPr>
            <p:ph type="body"/>
          </p:nvPr>
        </p:nvSpPr>
        <p:spPr>
          <a:xfrm>
            <a:off x="685800" y="1828800"/>
            <a:ext cx="7696200" cy="3657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149" name="Rectangle 5"/>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lstStyle>
            <a:lvl1pPr eaLnBrk="1" hangingPunct="1">
              <a:defRPr sz="1400">
                <a:latin typeface="Comic Sans MS" panose="030F0702030302020204" pitchFamily="66"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150" name="Rectangle 6"/>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lstStyle>
            <a:lvl1pPr algn="ctr" eaLnBrk="1" hangingPunct="1">
              <a:defRPr sz="1400">
                <a:latin typeface="Comic Sans MS" panose="030F0702030302020204" pitchFamily="66"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151" name="Rectangle 7"/>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Comic Sans MS" panose="030F0702030302020204" pitchFamily="66" charset="0"/>
              </a:rPr>
            </a:fld>
            <a:endParaRPr lang="en-US" altLang="zh-CN" dirty="0">
              <a:latin typeface="Comic Sans MS" panose="030F0702030302020204" pitchFamily="66" charset="0"/>
            </a:endParaRPr>
          </a:p>
        </p:txBody>
      </p:sp>
      <p:sp>
        <p:nvSpPr>
          <p:cNvPr id="2056" name="Freeform 8"/>
          <p:cNvSpPr/>
          <p:nvPr/>
        </p:nvSpPr>
        <p:spPr>
          <a:xfrm rot="-3172564">
            <a:off x="7862888" y="20638"/>
            <a:ext cx="1165225" cy="2098675"/>
          </a:xfrm>
          <a:custGeom>
            <a:avLst/>
            <a:gdLst/>
            <a:ahLst/>
            <a:cxnLst>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alpha val="100000"/>
            </a:schemeClr>
          </a:solidFill>
          <a:ln w="9525">
            <a:noFill/>
          </a:ln>
        </p:spPr>
        <p:txBody>
          <a:bodyPr/>
          <a:p>
            <a:endParaRPr lang="zh-CN" altLang="en-US"/>
          </a:p>
        </p:txBody>
      </p:sp>
      <p:sp>
        <p:nvSpPr>
          <p:cNvPr id="2057" name="Freeform 9"/>
          <p:cNvSpPr/>
          <p:nvPr/>
        </p:nvSpPr>
        <p:spPr>
          <a:xfrm rot="-3172564">
            <a:off x="7831138" y="192088"/>
            <a:ext cx="1025525" cy="1571625"/>
          </a:xfrm>
          <a:custGeom>
            <a:avLst/>
            <a:gdLst/>
            <a:ahLst/>
            <a:cxnLst>
              <a:cxn ang="0">
                <a:pos x="0" y="2147483646"/>
              </a:cxn>
              <a:cxn ang="0">
                <a:pos x="2147483646" y="2147483646"/>
              </a:cxn>
              <a:cxn ang="0">
                <a:pos x="2147483646" y="2147483646"/>
              </a:cxn>
              <a:cxn ang="0">
                <a:pos x="2147483646" y="2147483646"/>
              </a:cxn>
              <a:cxn ang="0">
                <a:pos x="2147483646" y="2147483646"/>
              </a:cxn>
              <a:cxn ang="0">
                <a:pos x="2147483646" y="0"/>
              </a:cxn>
              <a:cxn ang="0">
                <a:pos x="0" y="2147483646"/>
              </a:cxn>
            </a:cxnLst>
            <a:pathLst>
              <a:path w="2561" h="2777">
                <a:moveTo>
                  <a:pt x="0" y="2485"/>
                </a:moveTo>
                <a:lnTo>
                  <a:pt x="432" y="2553"/>
                </a:lnTo>
                <a:lnTo>
                  <a:pt x="736" y="2777"/>
                </a:lnTo>
                <a:lnTo>
                  <a:pt x="2561" y="399"/>
                </a:lnTo>
                <a:lnTo>
                  <a:pt x="2118" y="82"/>
                </a:lnTo>
                <a:lnTo>
                  <a:pt x="1898" y="0"/>
                </a:lnTo>
                <a:lnTo>
                  <a:pt x="0" y="2485"/>
                </a:lnTo>
                <a:close/>
              </a:path>
            </a:pathLst>
          </a:custGeom>
          <a:solidFill>
            <a:schemeClr val="bg2">
              <a:alpha val="100000"/>
            </a:schemeClr>
          </a:solidFill>
          <a:ln w="9525">
            <a:noFill/>
          </a:ln>
        </p:spPr>
        <p:txBody>
          <a:bodyPr/>
          <a:p>
            <a:endParaRPr lang="zh-CN" altLang="en-US"/>
          </a:p>
        </p:txBody>
      </p:sp>
      <p:grpSp>
        <p:nvGrpSpPr>
          <p:cNvPr id="2058" name="Group 10"/>
          <p:cNvGrpSpPr/>
          <p:nvPr/>
        </p:nvGrpSpPr>
        <p:grpSpPr>
          <a:xfrm>
            <a:off x="7938" y="5540375"/>
            <a:ext cx="1784350" cy="1246188"/>
            <a:chOff x="5" y="3490"/>
            <a:chExt cx="1124" cy="785"/>
          </a:xfrm>
        </p:grpSpPr>
        <p:sp>
          <p:nvSpPr>
            <p:cNvPr id="2075" name="Freeform 11"/>
            <p:cNvSpPr/>
            <p:nvPr userDrawn="1"/>
          </p:nvSpPr>
          <p:spPr>
            <a:xfrm>
              <a:off x="24" y="3505"/>
              <a:ext cx="1089" cy="649"/>
            </a:xfrm>
            <a:custGeom>
              <a:avLst/>
              <a:gdLst/>
              <a:ahLst/>
              <a:cxnLst>
                <a:cxn ang="0">
                  <a:pos x="1" y="1"/>
                </a:cxn>
                <a:cxn ang="0">
                  <a:pos x="1" y="1"/>
                </a:cxn>
                <a:cxn ang="0">
                  <a:pos x="1" y="1"/>
                </a:cxn>
                <a:cxn ang="0">
                  <a:pos x="1" y="1"/>
                </a:cxn>
                <a:cxn ang="0">
                  <a:pos x="1" y="1"/>
                </a:cxn>
                <a:cxn ang="0">
                  <a:pos x="1" y="1"/>
                </a:cxn>
                <a:cxn ang="0">
                  <a:pos x="1"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 ang="0">
                  <a:pos x="1" y="1"/>
                </a:cxn>
                <a:cxn ang="0">
                  <a:pos x="1" y="1"/>
                </a:cxn>
                <a:cxn ang="0">
                  <a:pos x="1" y="1"/>
                </a:cxn>
              </a:cxnLst>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alpha val="100000"/>
              </a:srgbClr>
            </a:solidFill>
            <a:ln w="9525">
              <a:noFill/>
            </a:ln>
          </p:spPr>
          <p:txBody>
            <a:bodyPr/>
            <a:p>
              <a:endParaRPr lang="zh-CN" altLang="en-US"/>
            </a:p>
          </p:txBody>
        </p:sp>
        <p:sp>
          <p:nvSpPr>
            <p:cNvPr id="2076" name="Freeform 12"/>
            <p:cNvSpPr/>
            <p:nvPr userDrawn="1"/>
          </p:nvSpPr>
          <p:spPr>
            <a:xfrm>
              <a:off x="1022" y="3582"/>
              <a:ext cx="71" cy="129"/>
            </a:xfrm>
            <a:custGeom>
              <a:avLst/>
              <a:gdLst/>
              <a:ahLst/>
              <a:cxnLst>
                <a:cxn ang="0">
                  <a:pos x="0" y="1"/>
                </a:cxn>
                <a:cxn ang="0">
                  <a:pos x="0" y="0"/>
                </a:cxn>
                <a:cxn ang="0">
                  <a:pos x="0" y="1"/>
                </a:cxn>
                <a:cxn ang="0">
                  <a:pos x="0" y="1"/>
                </a:cxn>
                <a:cxn ang="0">
                  <a:pos x="0" y="1"/>
                </a:cxn>
              </a:cxnLst>
              <a:pathLst>
                <a:path w="143" h="258">
                  <a:moveTo>
                    <a:pt x="0" y="7"/>
                  </a:moveTo>
                  <a:lnTo>
                    <a:pt x="120" y="0"/>
                  </a:lnTo>
                  <a:lnTo>
                    <a:pt x="143" y="233"/>
                  </a:lnTo>
                  <a:lnTo>
                    <a:pt x="8" y="258"/>
                  </a:lnTo>
                  <a:lnTo>
                    <a:pt x="0" y="7"/>
                  </a:lnTo>
                  <a:close/>
                </a:path>
              </a:pathLst>
            </a:custGeom>
            <a:solidFill>
              <a:schemeClr val="accent1">
                <a:alpha val="100000"/>
              </a:schemeClr>
            </a:solidFill>
            <a:ln w="9525">
              <a:noFill/>
            </a:ln>
          </p:spPr>
          <p:txBody>
            <a:bodyPr/>
            <a:p>
              <a:endParaRPr lang="zh-CN" altLang="en-US"/>
            </a:p>
          </p:txBody>
        </p:sp>
        <p:sp>
          <p:nvSpPr>
            <p:cNvPr id="2077" name="Freeform 13"/>
            <p:cNvSpPr/>
            <p:nvPr userDrawn="1"/>
          </p:nvSpPr>
          <p:spPr>
            <a:xfrm>
              <a:off x="20" y="3774"/>
              <a:ext cx="792" cy="41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alpha val="100000"/>
              </a:schemeClr>
            </a:solidFill>
            <a:ln w="9525">
              <a:noFill/>
            </a:ln>
          </p:spPr>
          <p:txBody>
            <a:bodyPr/>
            <a:p>
              <a:endParaRPr lang="zh-CN" altLang="en-US"/>
            </a:p>
          </p:txBody>
        </p:sp>
        <p:sp>
          <p:nvSpPr>
            <p:cNvPr id="2078" name="Freeform 14"/>
            <p:cNvSpPr/>
            <p:nvPr userDrawn="1"/>
          </p:nvSpPr>
          <p:spPr>
            <a:xfrm>
              <a:off x="129" y="3808"/>
              <a:ext cx="525" cy="374"/>
            </a:xfrm>
            <a:custGeom>
              <a:avLst/>
              <a:gdLst/>
              <a:ahLst/>
              <a:cxnLst>
                <a:cxn ang="0">
                  <a:pos x="0" y="1"/>
                </a:cxn>
                <a:cxn ang="0">
                  <a:pos x="1" y="1"/>
                </a:cxn>
                <a:cxn ang="0">
                  <a:pos x="1" y="1"/>
                </a:cxn>
                <a:cxn ang="0">
                  <a:pos x="1" y="1"/>
                </a:cxn>
                <a:cxn ang="0">
                  <a:pos x="1" y="0"/>
                </a:cxn>
                <a:cxn ang="0">
                  <a:pos x="0" y="1"/>
                </a:cxn>
                <a:cxn ang="0">
                  <a:pos x="0" y="1"/>
                </a:cxn>
              </a:cxnLst>
              <a:pathLst>
                <a:path w="1049" h="747">
                  <a:moveTo>
                    <a:pt x="0" y="325"/>
                  </a:moveTo>
                  <a:lnTo>
                    <a:pt x="922" y="747"/>
                  </a:lnTo>
                  <a:lnTo>
                    <a:pt x="939" y="534"/>
                  </a:lnTo>
                  <a:lnTo>
                    <a:pt x="1049" y="422"/>
                  </a:lnTo>
                  <a:lnTo>
                    <a:pt x="78" y="0"/>
                  </a:lnTo>
                  <a:lnTo>
                    <a:pt x="0" y="127"/>
                  </a:lnTo>
                  <a:lnTo>
                    <a:pt x="0" y="325"/>
                  </a:lnTo>
                  <a:close/>
                </a:path>
              </a:pathLst>
            </a:custGeom>
            <a:solidFill>
              <a:schemeClr val="bg2">
                <a:alpha val="100000"/>
              </a:schemeClr>
            </a:solidFill>
            <a:ln w="9525">
              <a:noFill/>
            </a:ln>
          </p:spPr>
          <p:txBody>
            <a:bodyPr/>
            <a:p>
              <a:endParaRPr lang="zh-CN" altLang="en-US"/>
            </a:p>
          </p:txBody>
        </p:sp>
        <p:sp>
          <p:nvSpPr>
            <p:cNvPr id="2079" name="Freeform 15"/>
            <p:cNvSpPr/>
            <p:nvPr userDrawn="1"/>
          </p:nvSpPr>
          <p:spPr>
            <a:xfrm>
              <a:off x="485" y="3532"/>
              <a:ext cx="135" cy="121"/>
            </a:xfrm>
            <a:custGeom>
              <a:avLst/>
              <a:gdLst/>
              <a:ahLst/>
              <a:cxnLst>
                <a:cxn ang="0">
                  <a:pos x="0" y="1"/>
                </a:cxn>
                <a:cxn ang="0">
                  <a:pos x="0" y="0"/>
                </a:cxn>
                <a:cxn ang="0">
                  <a:pos x="0" y="1"/>
                </a:cxn>
                <a:cxn ang="0">
                  <a:pos x="0" y="1"/>
                </a:cxn>
                <a:cxn ang="0">
                  <a:pos x="0" y="1"/>
                </a:cxn>
                <a:cxn ang="0">
                  <a:pos x="0" y="1"/>
                </a:cxn>
                <a:cxn ang="0">
                  <a:pos x="0" y="1"/>
                </a:cxn>
              </a:cxnLst>
              <a:pathLst>
                <a:path w="272" h="241">
                  <a:moveTo>
                    <a:pt x="0" y="28"/>
                  </a:moveTo>
                  <a:lnTo>
                    <a:pt x="160" y="0"/>
                  </a:lnTo>
                  <a:lnTo>
                    <a:pt x="251" y="36"/>
                  </a:lnTo>
                  <a:lnTo>
                    <a:pt x="272" y="139"/>
                  </a:lnTo>
                  <a:lnTo>
                    <a:pt x="164" y="146"/>
                  </a:lnTo>
                  <a:lnTo>
                    <a:pt x="32" y="241"/>
                  </a:lnTo>
                  <a:lnTo>
                    <a:pt x="0" y="28"/>
                  </a:lnTo>
                  <a:close/>
                </a:path>
              </a:pathLst>
            </a:custGeom>
            <a:solidFill>
              <a:schemeClr val="hlink">
                <a:alpha val="100000"/>
              </a:schemeClr>
            </a:solidFill>
            <a:ln w="9525">
              <a:noFill/>
            </a:ln>
          </p:spPr>
          <p:txBody>
            <a:bodyPr/>
            <a:p>
              <a:endParaRPr lang="zh-CN" altLang="en-US"/>
            </a:p>
          </p:txBody>
        </p:sp>
        <p:sp>
          <p:nvSpPr>
            <p:cNvPr id="2080" name="Freeform 16"/>
            <p:cNvSpPr/>
            <p:nvPr userDrawn="1"/>
          </p:nvSpPr>
          <p:spPr>
            <a:xfrm>
              <a:off x="641" y="4163"/>
              <a:ext cx="76" cy="112"/>
            </a:xfrm>
            <a:custGeom>
              <a:avLst/>
              <a:gdLst/>
              <a:ahLst/>
              <a:cxnLst>
                <a:cxn ang="0">
                  <a:pos x="1" y="1"/>
                </a:cxn>
                <a:cxn ang="0">
                  <a:pos x="1" y="1"/>
                </a:cxn>
                <a:cxn ang="0">
                  <a:pos x="0" y="1"/>
                </a:cxn>
                <a:cxn ang="0">
                  <a:pos x="1" y="0"/>
                </a:cxn>
                <a:cxn ang="0">
                  <a:pos x="1" y="1"/>
                </a:cxn>
              </a:cxnLst>
              <a:pathLst>
                <a:path w="152" h="224">
                  <a:moveTo>
                    <a:pt x="152" y="4"/>
                  </a:moveTo>
                  <a:lnTo>
                    <a:pt x="152" y="224"/>
                  </a:lnTo>
                  <a:lnTo>
                    <a:pt x="0" y="8"/>
                  </a:lnTo>
                  <a:lnTo>
                    <a:pt x="72" y="0"/>
                  </a:lnTo>
                  <a:lnTo>
                    <a:pt x="152" y="4"/>
                  </a:lnTo>
                  <a:close/>
                </a:path>
              </a:pathLst>
            </a:custGeom>
            <a:solidFill>
              <a:schemeClr val="hlink">
                <a:alpha val="100000"/>
              </a:schemeClr>
            </a:solidFill>
            <a:ln w="9525">
              <a:noFill/>
            </a:ln>
          </p:spPr>
          <p:txBody>
            <a:bodyPr/>
            <a:p>
              <a:endParaRPr lang="zh-CN" altLang="en-US"/>
            </a:p>
          </p:txBody>
        </p:sp>
        <p:sp>
          <p:nvSpPr>
            <p:cNvPr id="2081" name="Freeform 17"/>
            <p:cNvSpPr/>
            <p:nvPr userDrawn="1"/>
          </p:nvSpPr>
          <p:spPr>
            <a:xfrm>
              <a:off x="504" y="3607"/>
              <a:ext cx="193" cy="383"/>
            </a:xfrm>
            <a:custGeom>
              <a:avLst/>
              <a:gdLst/>
              <a:ahLst/>
              <a:cxnLst>
                <a:cxn ang="0">
                  <a:pos x="0" y="1"/>
                </a:cxn>
                <a:cxn ang="0">
                  <a:pos x="1" y="0"/>
                </a:cxn>
                <a:cxn ang="0">
                  <a:pos x="1" y="1"/>
                </a:cxn>
                <a:cxn ang="0">
                  <a:pos x="1" y="1"/>
                </a:cxn>
                <a:cxn ang="0">
                  <a:pos x="1" y="1"/>
                </a:cxn>
                <a:cxn ang="0">
                  <a:pos x="1" y="1"/>
                </a:cxn>
                <a:cxn ang="0">
                  <a:pos x="0" y="1"/>
                </a:cxn>
              </a:cxnLst>
              <a:pathLst>
                <a:path w="386" h="764">
                  <a:moveTo>
                    <a:pt x="0" y="80"/>
                  </a:moveTo>
                  <a:lnTo>
                    <a:pt x="87" y="0"/>
                  </a:lnTo>
                  <a:lnTo>
                    <a:pt x="232" y="6"/>
                  </a:lnTo>
                  <a:lnTo>
                    <a:pt x="386" y="764"/>
                  </a:lnTo>
                  <a:lnTo>
                    <a:pt x="279" y="720"/>
                  </a:lnTo>
                  <a:lnTo>
                    <a:pt x="152" y="677"/>
                  </a:lnTo>
                  <a:lnTo>
                    <a:pt x="0" y="80"/>
                  </a:lnTo>
                  <a:close/>
                </a:path>
              </a:pathLst>
            </a:custGeom>
            <a:solidFill>
              <a:schemeClr val="bg2">
                <a:alpha val="100000"/>
              </a:schemeClr>
            </a:solidFill>
            <a:ln w="9525">
              <a:noFill/>
            </a:ln>
          </p:spPr>
          <p:txBody>
            <a:bodyPr/>
            <a:p>
              <a:endParaRPr lang="zh-CN" altLang="en-US"/>
            </a:p>
          </p:txBody>
        </p:sp>
        <p:sp>
          <p:nvSpPr>
            <p:cNvPr id="2082" name="Freeform 18"/>
            <p:cNvSpPr/>
            <p:nvPr userDrawn="1"/>
          </p:nvSpPr>
          <p:spPr>
            <a:xfrm>
              <a:off x="668" y="3590"/>
              <a:ext cx="364" cy="174"/>
            </a:xfrm>
            <a:custGeom>
              <a:avLst/>
              <a:gdLst/>
              <a:ahLst/>
              <a:cxnLst>
                <a:cxn ang="0">
                  <a:pos x="1" y="0"/>
                </a:cxn>
                <a:cxn ang="0">
                  <a:pos x="0" y="1"/>
                </a:cxn>
                <a:cxn ang="0">
                  <a:pos x="1" y="1"/>
                </a:cxn>
                <a:cxn ang="0">
                  <a:pos x="1" y="1"/>
                </a:cxn>
                <a:cxn ang="0">
                  <a:pos x="1" y="1"/>
                </a:cxn>
                <a:cxn ang="0">
                  <a:pos x="1" y="0"/>
                </a:cxn>
              </a:cxnLst>
              <a:pathLst>
                <a:path w="728" h="348">
                  <a:moveTo>
                    <a:pt x="692" y="0"/>
                  </a:moveTo>
                  <a:lnTo>
                    <a:pt x="0" y="106"/>
                  </a:lnTo>
                  <a:lnTo>
                    <a:pt x="28" y="348"/>
                  </a:lnTo>
                  <a:lnTo>
                    <a:pt x="715" y="237"/>
                  </a:lnTo>
                  <a:lnTo>
                    <a:pt x="728" y="43"/>
                  </a:lnTo>
                  <a:lnTo>
                    <a:pt x="692" y="0"/>
                  </a:lnTo>
                  <a:close/>
                </a:path>
              </a:pathLst>
            </a:custGeom>
            <a:solidFill>
              <a:schemeClr val="bg2">
                <a:alpha val="100000"/>
              </a:schemeClr>
            </a:solidFill>
            <a:ln w="9525">
              <a:noFill/>
            </a:ln>
          </p:spPr>
          <p:txBody>
            <a:bodyPr/>
            <a:p>
              <a:endParaRPr lang="zh-CN" altLang="en-US"/>
            </a:p>
          </p:txBody>
        </p:sp>
        <p:sp>
          <p:nvSpPr>
            <p:cNvPr id="2083" name="Freeform 19"/>
            <p:cNvSpPr/>
            <p:nvPr userDrawn="1"/>
          </p:nvSpPr>
          <p:spPr>
            <a:xfrm>
              <a:off x="347" y="3693"/>
              <a:ext cx="156" cy="67"/>
            </a:xfrm>
            <a:custGeom>
              <a:avLst/>
              <a:gdLst/>
              <a:ahLst/>
              <a:cxnLst>
                <a:cxn ang="0">
                  <a:pos x="1" y="0"/>
                </a:cxn>
                <a:cxn ang="0">
                  <a:pos x="0" y="0"/>
                </a:cxn>
                <a:cxn ang="0">
                  <a:pos x="1" y="0"/>
                </a:cxn>
                <a:cxn ang="0">
                  <a:pos x="1" y="0"/>
                </a:cxn>
              </a:cxnLst>
              <a:pathLst>
                <a:path w="312" h="135">
                  <a:moveTo>
                    <a:pt x="272" y="0"/>
                  </a:moveTo>
                  <a:lnTo>
                    <a:pt x="0" y="78"/>
                  </a:lnTo>
                  <a:lnTo>
                    <a:pt x="312" y="135"/>
                  </a:lnTo>
                  <a:lnTo>
                    <a:pt x="272" y="0"/>
                  </a:lnTo>
                  <a:close/>
                </a:path>
              </a:pathLst>
            </a:custGeom>
            <a:solidFill>
              <a:schemeClr val="accent1">
                <a:alpha val="100000"/>
              </a:schemeClr>
            </a:solidFill>
            <a:ln w="9525">
              <a:noFill/>
            </a:ln>
          </p:spPr>
          <p:txBody>
            <a:bodyPr/>
            <a:p>
              <a:endParaRPr lang="zh-CN" altLang="en-US"/>
            </a:p>
          </p:txBody>
        </p:sp>
        <p:grpSp>
          <p:nvGrpSpPr>
            <p:cNvPr id="2084" name="Group 20"/>
            <p:cNvGrpSpPr/>
            <p:nvPr userDrawn="1"/>
          </p:nvGrpSpPr>
          <p:grpSpPr>
            <a:xfrm>
              <a:off x="5" y="3490"/>
              <a:ext cx="1124" cy="780"/>
              <a:chOff x="5" y="3490"/>
              <a:chExt cx="1124" cy="780"/>
            </a:xfrm>
          </p:grpSpPr>
          <p:grpSp>
            <p:nvGrpSpPr>
              <p:cNvPr id="2085" name="Group 21"/>
              <p:cNvGrpSpPr/>
              <p:nvPr userDrawn="1"/>
            </p:nvGrpSpPr>
            <p:grpSpPr>
              <a:xfrm>
                <a:off x="499" y="3562"/>
                <a:ext cx="548" cy="708"/>
                <a:chOff x="499" y="3562"/>
                <a:chExt cx="548" cy="708"/>
              </a:xfrm>
            </p:grpSpPr>
            <p:sp>
              <p:nvSpPr>
                <p:cNvPr id="2098" name="Freeform 22"/>
                <p:cNvSpPr/>
                <p:nvPr userDrawn="1"/>
              </p:nvSpPr>
              <p:spPr>
                <a:xfrm>
                  <a:off x="499" y="3587"/>
                  <a:ext cx="157" cy="87"/>
                </a:xfrm>
                <a:custGeom>
                  <a:avLst/>
                  <a:gdLst/>
                  <a:ahLst/>
                  <a:cxnLst>
                    <a:cxn ang="0">
                      <a:pos x="0" y="0"/>
                    </a:cxn>
                    <a:cxn ang="0">
                      <a:pos x="1" y="0"/>
                    </a:cxn>
                    <a:cxn ang="0">
                      <a:pos x="1" y="0"/>
                    </a:cxn>
                    <a:cxn ang="0">
                      <a:pos x="1" y="0"/>
                    </a:cxn>
                    <a:cxn ang="0">
                      <a:pos x="1" y="0"/>
                    </a:cxn>
                    <a:cxn ang="0">
                      <a:pos x="1" y="0"/>
                    </a:cxn>
                    <a:cxn ang="0">
                      <a:pos x="1" y="0"/>
                    </a:cxn>
                    <a:cxn ang="0">
                      <a:pos x="1" y="0"/>
                    </a:cxn>
                    <a:cxn ang="0">
                      <a:pos x="0" y="0"/>
                    </a:cxn>
                  </a:cxnLst>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alpha val="100000"/>
                  </a:schemeClr>
                </a:solidFill>
                <a:ln w="9525">
                  <a:noFill/>
                </a:ln>
              </p:spPr>
              <p:txBody>
                <a:bodyPr/>
                <a:p>
                  <a:endParaRPr lang="zh-CN" altLang="en-US"/>
                </a:p>
              </p:txBody>
            </p:sp>
            <p:sp>
              <p:nvSpPr>
                <p:cNvPr id="2099" name="Freeform 23"/>
                <p:cNvSpPr/>
                <p:nvPr userDrawn="1"/>
              </p:nvSpPr>
              <p:spPr>
                <a:xfrm>
                  <a:off x="636" y="4137"/>
                  <a:ext cx="115" cy="133"/>
                </a:xfrm>
                <a:custGeom>
                  <a:avLst/>
                  <a:gdLst/>
                  <a:ahLst/>
                  <a:cxnLst>
                    <a:cxn ang="0">
                      <a:pos x="0" y="1"/>
                    </a:cxn>
                    <a:cxn ang="0">
                      <a:pos x="1" y="1"/>
                    </a:cxn>
                    <a:cxn ang="0">
                      <a:pos x="1" y="1"/>
                    </a:cxn>
                    <a:cxn ang="0">
                      <a:pos x="1" y="1"/>
                    </a:cxn>
                    <a:cxn ang="0">
                      <a:pos x="1" y="0"/>
                    </a:cxn>
                    <a:cxn ang="0">
                      <a:pos x="1" y="1"/>
                    </a:cxn>
                    <a:cxn ang="0">
                      <a:pos x="1" y="1"/>
                    </a:cxn>
                    <a:cxn ang="0">
                      <a:pos x="0" y="1"/>
                    </a:cxn>
                  </a:cxnLst>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alpha val="100000"/>
                  </a:schemeClr>
                </a:solidFill>
                <a:ln w="9525">
                  <a:noFill/>
                </a:ln>
              </p:spPr>
              <p:txBody>
                <a:bodyPr/>
                <a:p>
                  <a:endParaRPr lang="zh-CN" altLang="en-US"/>
                </a:p>
              </p:txBody>
            </p:sp>
            <p:sp>
              <p:nvSpPr>
                <p:cNvPr id="2100" name="Freeform 24"/>
                <p:cNvSpPr/>
                <p:nvPr userDrawn="1"/>
              </p:nvSpPr>
              <p:spPr>
                <a:xfrm>
                  <a:off x="1004" y="3562"/>
                  <a:ext cx="43" cy="117"/>
                </a:xfrm>
                <a:custGeom>
                  <a:avLst/>
                  <a:gdLst/>
                  <a:ahLst/>
                  <a:cxnLst>
                    <a:cxn ang="0">
                      <a:pos x="0" y="1"/>
                    </a:cxn>
                    <a:cxn ang="0">
                      <a:pos x="0" y="1"/>
                    </a:cxn>
                    <a:cxn ang="0">
                      <a:pos x="0" y="1"/>
                    </a:cxn>
                    <a:cxn ang="0">
                      <a:pos x="0" y="1"/>
                    </a:cxn>
                    <a:cxn ang="0">
                      <a:pos x="0" y="1"/>
                    </a:cxn>
                    <a:cxn ang="0">
                      <a:pos x="0" y="1"/>
                    </a:cxn>
                    <a:cxn ang="0">
                      <a:pos x="0" y="0"/>
                    </a:cxn>
                    <a:cxn ang="0">
                      <a:pos x="0" y="1"/>
                    </a:cxn>
                  </a:cxnLst>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alpha val="100000"/>
                  </a:schemeClr>
                </a:solidFill>
                <a:ln w="9525">
                  <a:noFill/>
                </a:ln>
              </p:spPr>
              <p:txBody>
                <a:bodyPr/>
                <a:p>
                  <a:endParaRPr lang="zh-CN" altLang="en-US"/>
                </a:p>
              </p:txBody>
            </p:sp>
          </p:grpSp>
          <p:sp>
            <p:nvSpPr>
              <p:cNvPr id="2086" name="Freeform 25"/>
              <p:cNvSpPr/>
              <p:nvPr userDrawn="1"/>
            </p:nvSpPr>
            <p:spPr>
              <a:xfrm>
                <a:off x="76" y="3732"/>
                <a:ext cx="595" cy="250"/>
              </a:xfrm>
              <a:custGeom>
                <a:avLst/>
                <a:gdLst/>
                <a:ahLst/>
                <a:cxnLst>
                  <a:cxn ang="0">
                    <a:pos x="1" y="0"/>
                  </a:cxn>
                  <a:cxn ang="0">
                    <a:pos x="1" y="1"/>
                  </a:cxn>
                  <a:cxn ang="0">
                    <a:pos x="1" y="1"/>
                  </a:cxn>
                  <a:cxn ang="0">
                    <a:pos x="0" y="1"/>
                  </a:cxn>
                  <a:cxn ang="0">
                    <a:pos x="1" y="0"/>
                  </a:cxn>
                </a:cxnLst>
                <a:pathLst>
                  <a:path w="1190" h="500">
                    <a:moveTo>
                      <a:pt x="100" y="0"/>
                    </a:moveTo>
                    <a:lnTo>
                      <a:pt x="1190" y="490"/>
                    </a:lnTo>
                    <a:lnTo>
                      <a:pt x="1076" y="500"/>
                    </a:lnTo>
                    <a:lnTo>
                      <a:pt x="0" y="27"/>
                    </a:lnTo>
                    <a:lnTo>
                      <a:pt x="100" y="0"/>
                    </a:lnTo>
                    <a:close/>
                  </a:path>
                </a:pathLst>
              </a:custGeom>
              <a:solidFill>
                <a:schemeClr val="accent2">
                  <a:alpha val="100000"/>
                </a:schemeClr>
              </a:solidFill>
              <a:ln w="9525">
                <a:noFill/>
              </a:ln>
            </p:spPr>
            <p:txBody>
              <a:bodyPr/>
              <a:p>
                <a:endParaRPr lang="zh-CN" altLang="en-US"/>
              </a:p>
            </p:txBody>
          </p:sp>
          <p:sp>
            <p:nvSpPr>
              <p:cNvPr id="2087" name="Freeform 26"/>
              <p:cNvSpPr/>
              <p:nvPr userDrawn="1"/>
            </p:nvSpPr>
            <p:spPr>
              <a:xfrm>
                <a:off x="260" y="3886"/>
                <a:ext cx="244" cy="148"/>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1"/>
                  </a:cxn>
                </a:cxnLst>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alpha val="100000"/>
                </a:schemeClr>
              </a:solidFill>
              <a:ln w="9525">
                <a:noFill/>
              </a:ln>
            </p:spPr>
            <p:txBody>
              <a:bodyPr/>
              <a:p>
                <a:endParaRPr lang="zh-CN" altLang="en-US"/>
              </a:p>
            </p:txBody>
          </p:sp>
          <p:sp>
            <p:nvSpPr>
              <p:cNvPr id="2088" name="Freeform 27"/>
              <p:cNvSpPr/>
              <p:nvPr userDrawn="1"/>
            </p:nvSpPr>
            <p:spPr>
              <a:xfrm>
                <a:off x="565" y="3680"/>
                <a:ext cx="107" cy="238"/>
              </a:xfrm>
              <a:custGeom>
                <a:avLst/>
                <a:gdLst/>
                <a:ahLst/>
                <a:cxnLst>
                  <a:cxn ang="0">
                    <a:pos x="1" y="0"/>
                  </a:cxn>
                  <a:cxn ang="0">
                    <a:pos x="1" y="0"/>
                  </a:cxn>
                  <a:cxn ang="0">
                    <a:pos x="1" y="0"/>
                  </a:cxn>
                  <a:cxn ang="0">
                    <a:pos x="1" y="0"/>
                  </a:cxn>
                  <a:cxn ang="0">
                    <a:pos x="1" y="0"/>
                  </a:cxn>
                  <a:cxn ang="0">
                    <a:pos x="1" y="0"/>
                  </a:cxn>
                  <a:cxn ang="0">
                    <a:pos x="1" y="0"/>
                  </a:cxn>
                  <a:cxn ang="0">
                    <a:pos x="0" y="0"/>
                  </a:cxn>
                  <a:cxn ang="0">
                    <a:pos x="1" y="0"/>
                  </a:cxn>
                </a:cxnLst>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alpha val="100000"/>
                </a:schemeClr>
              </a:solidFill>
              <a:ln w="9525">
                <a:noFill/>
              </a:ln>
            </p:spPr>
            <p:txBody>
              <a:bodyPr/>
              <a:p>
                <a:endParaRPr lang="zh-CN" altLang="en-US"/>
              </a:p>
            </p:txBody>
          </p:sp>
          <p:grpSp>
            <p:nvGrpSpPr>
              <p:cNvPr id="2089" name="Group 28"/>
              <p:cNvGrpSpPr/>
              <p:nvPr userDrawn="1"/>
            </p:nvGrpSpPr>
            <p:grpSpPr>
              <a:xfrm>
                <a:off x="5" y="3490"/>
                <a:ext cx="1124" cy="678"/>
                <a:chOff x="5" y="3490"/>
                <a:chExt cx="1124" cy="678"/>
              </a:xfrm>
            </p:grpSpPr>
            <p:sp>
              <p:nvSpPr>
                <p:cNvPr id="2090" name="Freeform 29"/>
                <p:cNvSpPr/>
                <p:nvPr userDrawn="1"/>
              </p:nvSpPr>
              <p:spPr>
                <a:xfrm>
                  <a:off x="669" y="4048"/>
                  <a:ext cx="75" cy="87"/>
                </a:xfrm>
                <a:custGeom>
                  <a:avLst/>
                  <a:gdLst/>
                  <a:ahLst/>
                  <a:cxnLst>
                    <a:cxn ang="0">
                      <a:pos x="1" y="0"/>
                    </a:cxn>
                    <a:cxn ang="0">
                      <a:pos x="1" y="1"/>
                    </a:cxn>
                    <a:cxn ang="0">
                      <a:pos x="0" y="1"/>
                    </a:cxn>
                    <a:cxn ang="0">
                      <a:pos x="1" y="1"/>
                    </a:cxn>
                    <a:cxn ang="0">
                      <a:pos x="1" y="1"/>
                    </a:cxn>
                    <a:cxn ang="0">
                      <a:pos x="1" y="1"/>
                    </a:cxn>
                    <a:cxn ang="0">
                      <a:pos x="1" y="0"/>
                    </a:cxn>
                  </a:cxnLst>
                  <a:pathLst>
                    <a:path w="150" h="173">
                      <a:moveTo>
                        <a:pt x="110" y="0"/>
                      </a:moveTo>
                      <a:lnTo>
                        <a:pt x="40" y="66"/>
                      </a:lnTo>
                      <a:lnTo>
                        <a:pt x="0" y="173"/>
                      </a:lnTo>
                      <a:lnTo>
                        <a:pt x="80" y="160"/>
                      </a:lnTo>
                      <a:lnTo>
                        <a:pt x="103" y="84"/>
                      </a:lnTo>
                      <a:lnTo>
                        <a:pt x="150" y="27"/>
                      </a:lnTo>
                      <a:lnTo>
                        <a:pt x="110" y="0"/>
                      </a:lnTo>
                      <a:close/>
                    </a:path>
                  </a:pathLst>
                </a:custGeom>
                <a:solidFill>
                  <a:schemeClr val="accent2">
                    <a:alpha val="100000"/>
                  </a:schemeClr>
                </a:solidFill>
                <a:ln w="9525">
                  <a:noFill/>
                </a:ln>
              </p:spPr>
              <p:txBody>
                <a:bodyPr/>
                <a:p>
                  <a:endParaRPr lang="zh-CN" altLang="en-US"/>
                </a:p>
              </p:txBody>
            </p:sp>
            <p:sp>
              <p:nvSpPr>
                <p:cNvPr id="2091" name="Freeform 30"/>
                <p:cNvSpPr/>
                <p:nvPr userDrawn="1"/>
              </p:nvSpPr>
              <p:spPr>
                <a:xfrm>
                  <a:off x="5" y="3728"/>
                  <a:ext cx="842" cy="440"/>
                </a:xfrm>
                <a:custGeom>
                  <a:avLst/>
                  <a:gdLst/>
                  <a:ahLst/>
                  <a:cxnLst>
                    <a:cxn ang="0">
                      <a:pos x="1" y="0"/>
                    </a:cxn>
                    <a:cxn ang="0">
                      <a:pos x="1"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Lst>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alpha val="100000"/>
                  </a:schemeClr>
                </a:solidFill>
                <a:ln w="9525">
                  <a:noFill/>
                </a:ln>
              </p:spPr>
              <p:txBody>
                <a:bodyPr/>
                <a:p>
                  <a:endParaRPr lang="zh-CN" altLang="en-US"/>
                </a:p>
              </p:txBody>
            </p:sp>
            <p:sp>
              <p:nvSpPr>
                <p:cNvPr id="2092" name="Freeform 31"/>
                <p:cNvSpPr/>
                <p:nvPr userDrawn="1"/>
              </p:nvSpPr>
              <p:spPr>
                <a:xfrm>
                  <a:off x="106" y="3770"/>
                  <a:ext cx="80" cy="167"/>
                </a:xfrm>
                <a:custGeom>
                  <a:avLst/>
                  <a:gdLst/>
                  <a:ahLst/>
                  <a:cxnLst>
                    <a:cxn ang="0">
                      <a:pos x="1" y="0"/>
                    </a:cxn>
                    <a:cxn ang="0">
                      <a:pos x="1" y="0"/>
                    </a:cxn>
                    <a:cxn ang="0">
                      <a:pos x="0" y="0"/>
                    </a:cxn>
                    <a:cxn ang="0">
                      <a:pos x="1" y="0"/>
                    </a:cxn>
                    <a:cxn ang="0">
                      <a:pos x="1" y="0"/>
                    </a:cxn>
                    <a:cxn ang="0">
                      <a:pos x="1" y="0"/>
                    </a:cxn>
                    <a:cxn ang="0">
                      <a:pos x="1" y="0"/>
                    </a:cxn>
                    <a:cxn ang="0">
                      <a:pos x="1" y="0"/>
                    </a:cxn>
                  </a:cxnLst>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alpha val="100000"/>
                  </a:schemeClr>
                </a:solidFill>
                <a:ln w="9525">
                  <a:noFill/>
                </a:ln>
              </p:spPr>
              <p:txBody>
                <a:bodyPr/>
                <a:p>
                  <a:endParaRPr lang="zh-CN" altLang="en-US"/>
                </a:p>
              </p:txBody>
            </p:sp>
            <p:sp>
              <p:nvSpPr>
                <p:cNvPr id="2093" name="Freeform 32"/>
                <p:cNvSpPr/>
                <p:nvPr userDrawn="1"/>
              </p:nvSpPr>
              <p:spPr>
                <a:xfrm>
                  <a:off x="449" y="3490"/>
                  <a:ext cx="322" cy="594"/>
                </a:xfrm>
                <a:custGeom>
                  <a:avLst/>
                  <a:gdLst/>
                  <a:ahLst/>
                  <a:cxnLst>
                    <a:cxn ang="0">
                      <a:pos x="1" y="1"/>
                    </a:cxn>
                    <a:cxn ang="0">
                      <a:pos x="0"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1" y="1"/>
                    </a:cxn>
                  </a:cxnLst>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alpha val="100000"/>
                  </a:schemeClr>
                </a:solidFill>
                <a:ln w="9525">
                  <a:noFill/>
                </a:ln>
              </p:spPr>
              <p:txBody>
                <a:bodyPr/>
                <a:p>
                  <a:endParaRPr lang="zh-CN" altLang="en-US"/>
                </a:p>
              </p:txBody>
            </p:sp>
            <p:sp>
              <p:nvSpPr>
                <p:cNvPr id="2094" name="Freeform 33"/>
                <p:cNvSpPr/>
                <p:nvPr userDrawn="1"/>
              </p:nvSpPr>
              <p:spPr>
                <a:xfrm>
                  <a:off x="578" y="3650"/>
                  <a:ext cx="96" cy="252"/>
                </a:xfrm>
                <a:custGeom>
                  <a:avLst/>
                  <a:gdLst/>
                  <a:ahLst/>
                  <a:cxnLst>
                    <a:cxn ang="0">
                      <a:pos x="0" y="1"/>
                    </a:cxn>
                    <a:cxn ang="0">
                      <a:pos x="1" y="1"/>
                    </a:cxn>
                    <a:cxn ang="0">
                      <a:pos x="1" y="1"/>
                    </a:cxn>
                    <a:cxn ang="0">
                      <a:pos x="1" y="1"/>
                    </a:cxn>
                    <a:cxn ang="0">
                      <a:pos x="1" y="1"/>
                    </a:cxn>
                    <a:cxn ang="0">
                      <a:pos x="1" y="1"/>
                    </a:cxn>
                    <a:cxn ang="0">
                      <a:pos x="1" y="1"/>
                    </a:cxn>
                    <a:cxn ang="0">
                      <a:pos x="1" y="1"/>
                    </a:cxn>
                    <a:cxn ang="0">
                      <a:pos x="1" y="0"/>
                    </a:cxn>
                    <a:cxn ang="0">
                      <a:pos x="0" y="1"/>
                    </a:cxn>
                  </a:cxnLst>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alpha val="100000"/>
                  </a:schemeClr>
                </a:solidFill>
                <a:ln w="9525">
                  <a:noFill/>
                </a:ln>
              </p:spPr>
              <p:txBody>
                <a:bodyPr/>
                <a:p>
                  <a:endParaRPr lang="zh-CN" altLang="en-US"/>
                </a:p>
              </p:txBody>
            </p:sp>
            <p:sp>
              <p:nvSpPr>
                <p:cNvPr id="2095" name="Freeform 34"/>
                <p:cNvSpPr/>
                <p:nvPr userDrawn="1"/>
              </p:nvSpPr>
              <p:spPr>
                <a:xfrm>
                  <a:off x="328" y="3630"/>
                  <a:ext cx="195" cy="135"/>
                </a:xfrm>
                <a:custGeom>
                  <a:avLst/>
                  <a:gdLst/>
                  <a:ahLst/>
                  <a:cxnLst>
                    <a:cxn ang="0">
                      <a:pos x="1" y="0"/>
                    </a:cxn>
                    <a:cxn ang="0">
                      <a:pos x="1" y="1"/>
                    </a:cxn>
                    <a:cxn ang="0">
                      <a:pos x="1" y="1"/>
                    </a:cxn>
                    <a:cxn ang="0">
                      <a:pos x="0" y="1"/>
                    </a:cxn>
                    <a:cxn ang="0">
                      <a:pos x="0" y="1"/>
                    </a:cxn>
                    <a:cxn ang="0">
                      <a:pos x="1" y="1"/>
                    </a:cxn>
                    <a:cxn ang="0">
                      <a:pos x="1" y="1"/>
                    </a:cxn>
                    <a:cxn ang="0">
                      <a:pos x="1" y="1"/>
                    </a:cxn>
                    <a:cxn ang="0">
                      <a:pos x="1" y="1"/>
                    </a:cxn>
                    <a:cxn ang="0">
                      <a:pos x="1" y="1"/>
                    </a:cxn>
                    <a:cxn ang="0">
                      <a:pos x="1" y="1"/>
                    </a:cxn>
                    <a:cxn ang="0">
                      <a:pos x="1" y="0"/>
                    </a:cxn>
                  </a:cxnLst>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alpha val="100000"/>
                  </a:schemeClr>
                </a:solidFill>
                <a:ln w="9525">
                  <a:noFill/>
                </a:ln>
              </p:spPr>
              <p:txBody>
                <a:bodyPr/>
                <a:p>
                  <a:endParaRPr lang="zh-CN" altLang="en-US"/>
                </a:p>
              </p:txBody>
            </p:sp>
            <p:sp>
              <p:nvSpPr>
                <p:cNvPr id="2096" name="Freeform 35"/>
                <p:cNvSpPr/>
                <p:nvPr userDrawn="1"/>
              </p:nvSpPr>
              <p:spPr>
                <a:xfrm>
                  <a:off x="658" y="3538"/>
                  <a:ext cx="471" cy="212"/>
                </a:xfrm>
                <a:custGeom>
                  <a:avLst/>
                  <a:gdLst/>
                  <a:ahLst/>
                  <a:cxnLst>
                    <a:cxn ang="0">
                      <a:pos x="0" y="1"/>
                    </a:cxn>
                    <a:cxn ang="0">
                      <a:pos x="1" y="0"/>
                    </a:cxn>
                    <a:cxn ang="0">
                      <a:pos x="1" y="1"/>
                    </a:cxn>
                    <a:cxn ang="0">
                      <a:pos x="1" y="1"/>
                    </a:cxn>
                    <a:cxn ang="0">
                      <a:pos x="1" y="1"/>
                    </a:cxn>
                    <a:cxn ang="0">
                      <a:pos x="1" y="1"/>
                    </a:cxn>
                    <a:cxn ang="0">
                      <a:pos x="1" y="1"/>
                    </a:cxn>
                    <a:cxn ang="0">
                      <a:pos x="1" y="1"/>
                    </a:cxn>
                    <a:cxn ang="0">
                      <a:pos x="1" y="1"/>
                    </a:cxn>
                    <a:cxn ang="0">
                      <a:pos x="1" y="1"/>
                    </a:cxn>
                    <a:cxn ang="0">
                      <a:pos x="0" y="1"/>
                    </a:cxn>
                    <a:cxn ang="0">
                      <a:pos x="0" y="1"/>
                    </a:cxn>
                  </a:cxnLst>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alpha val="100000"/>
                  </a:schemeClr>
                </a:solidFill>
                <a:ln w="9525">
                  <a:noFill/>
                </a:ln>
              </p:spPr>
              <p:txBody>
                <a:bodyPr/>
                <a:p>
                  <a:endParaRPr lang="zh-CN" altLang="en-US"/>
                </a:p>
              </p:txBody>
            </p:sp>
            <p:sp>
              <p:nvSpPr>
                <p:cNvPr id="2097" name="Freeform 36"/>
                <p:cNvSpPr/>
                <p:nvPr userDrawn="1"/>
              </p:nvSpPr>
              <p:spPr>
                <a:xfrm>
                  <a:off x="717" y="3606"/>
                  <a:ext cx="245" cy="86"/>
                </a:xfrm>
                <a:custGeom>
                  <a:avLst/>
                  <a:gdLst/>
                  <a:ahLst/>
                  <a:cxnLst>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Lst>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alpha val="100000"/>
                  </a:schemeClr>
                </a:solidFill>
                <a:ln w="9525">
                  <a:noFill/>
                </a:ln>
              </p:spPr>
              <p:txBody>
                <a:bodyPr/>
                <a:p>
                  <a:endParaRPr lang="zh-CN" altLang="en-US"/>
                </a:p>
              </p:txBody>
            </p:sp>
          </p:grpSp>
        </p:grpSp>
      </p:grpSp>
      <p:grpSp>
        <p:nvGrpSpPr>
          <p:cNvPr id="2059" name="Group 37"/>
          <p:cNvGrpSpPr/>
          <p:nvPr/>
        </p:nvGrpSpPr>
        <p:grpSpPr>
          <a:xfrm>
            <a:off x="8680450" y="2116138"/>
            <a:ext cx="385763" cy="4308475"/>
            <a:chOff x="5468" y="1333"/>
            <a:chExt cx="243" cy="2714"/>
          </a:xfrm>
        </p:grpSpPr>
        <p:sp>
          <p:nvSpPr>
            <p:cNvPr id="2073" name="Freeform 38"/>
            <p:cNvSpPr/>
            <p:nvPr userDrawn="1"/>
          </p:nvSpPr>
          <p:spPr>
            <a:xfrm flipH="1">
              <a:off x="5468" y="2620"/>
              <a:ext cx="205" cy="1427"/>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alpha val="100000"/>
              </a:schemeClr>
            </a:solidFill>
            <a:ln w="9525">
              <a:noFill/>
            </a:ln>
          </p:spPr>
          <p:txBody>
            <a:bodyPr/>
            <a:p>
              <a:endParaRPr lang="zh-CN" altLang="en-US"/>
            </a:p>
          </p:txBody>
        </p:sp>
        <p:sp>
          <p:nvSpPr>
            <p:cNvPr id="2074" name="Freeform 39"/>
            <p:cNvSpPr/>
            <p:nvPr userDrawn="1"/>
          </p:nvSpPr>
          <p:spPr>
            <a:xfrm flipH="1">
              <a:off x="5506" y="1333"/>
              <a:ext cx="205" cy="1633"/>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alpha val="100000"/>
              </a:schemeClr>
            </a:solidFill>
            <a:ln w="9525">
              <a:noFill/>
            </a:ln>
          </p:spPr>
          <p:txBody>
            <a:bodyPr/>
            <a:p>
              <a:endParaRPr lang="zh-CN" altLang="en-US"/>
            </a:p>
          </p:txBody>
        </p:sp>
      </p:grpSp>
      <p:grpSp>
        <p:nvGrpSpPr>
          <p:cNvPr id="2060" name="Group 40"/>
          <p:cNvGrpSpPr/>
          <p:nvPr/>
        </p:nvGrpSpPr>
        <p:grpSpPr>
          <a:xfrm>
            <a:off x="7318375" y="90488"/>
            <a:ext cx="2133600" cy="1911350"/>
            <a:chOff x="4610" y="57"/>
            <a:chExt cx="1344" cy="1204"/>
          </a:xfrm>
        </p:grpSpPr>
        <p:grpSp>
          <p:nvGrpSpPr>
            <p:cNvPr id="2061" name="Group 41"/>
            <p:cNvGrpSpPr/>
            <p:nvPr userDrawn="1"/>
          </p:nvGrpSpPr>
          <p:grpSpPr>
            <a:xfrm>
              <a:off x="4610" y="57"/>
              <a:ext cx="1344" cy="1204"/>
              <a:chOff x="4610" y="57"/>
              <a:chExt cx="1344" cy="1204"/>
            </a:xfrm>
          </p:grpSpPr>
          <p:sp>
            <p:nvSpPr>
              <p:cNvPr id="2063" name="Freeform 42"/>
              <p:cNvSpPr/>
              <p:nvPr userDrawn="1"/>
            </p:nvSpPr>
            <p:spPr>
              <a:xfrm rot="-3172564">
                <a:off x="5430" y="1086"/>
                <a:ext cx="62" cy="288"/>
              </a:xfrm>
              <a:custGeom>
                <a:avLst/>
                <a:gdLst/>
                <a:ahLst/>
                <a:cxnLst>
                  <a:cxn ang="0">
                    <a:pos x="0" y="0"/>
                  </a:cxn>
                  <a:cxn ang="0">
                    <a:pos x="0" y="0"/>
                  </a:cxn>
                  <a:cxn ang="0">
                    <a:pos x="0" y="0"/>
                  </a:cxn>
                  <a:cxn ang="0">
                    <a:pos x="0" y="0"/>
                  </a:cxn>
                  <a:cxn ang="0">
                    <a:pos x="0" y="0"/>
                  </a:cxn>
                  <a:cxn ang="0">
                    <a:pos x="0" y="0"/>
                  </a:cxn>
                  <a:cxn ang="0">
                    <a:pos x="0" y="0"/>
                  </a:cxn>
                </a:cxnLst>
                <a:pathLst>
                  <a:path w="245" h="806">
                    <a:moveTo>
                      <a:pt x="123" y="9"/>
                    </a:moveTo>
                    <a:lnTo>
                      <a:pt x="131" y="342"/>
                    </a:lnTo>
                    <a:lnTo>
                      <a:pt x="0" y="806"/>
                    </a:lnTo>
                    <a:lnTo>
                      <a:pt x="79" y="789"/>
                    </a:lnTo>
                    <a:lnTo>
                      <a:pt x="218" y="376"/>
                    </a:lnTo>
                    <a:lnTo>
                      <a:pt x="245" y="0"/>
                    </a:lnTo>
                    <a:lnTo>
                      <a:pt x="123" y="9"/>
                    </a:lnTo>
                    <a:close/>
                  </a:path>
                </a:pathLst>
              </a:custGeom>
              <a:solidFill>
                <a:schemeClr val="accent2">
                  <a:alpha val="100000"/>
                </a:schemeClr>
              </a:solidFill>
              <a:ln w="9525">
                <a:noFill/>
              </a:ln>
            </p:spPr>
            <p:txBody>
              <a:bodyPr/>
              <a:p>
                <a:endParaRPr lang="zh-CN" altLang="en-US"/>
              </a:p>
            </p:txBody>
          </p:sp>
          <p:grpSp>
            <p:nvGrpSpPr>
              <p:cNvPr id="2064" name="Group 43"/>
              <p:cNvGrpSpPr/>
              <p:nvPr userDrawn="1"/>
            </p:nvGrpSpPr>
            <p:grpSpPr>
              <a:xfrm>
                <a:off x="4610" y="57"/>
                <a:ext cx="1344" cy="985"/>
                <a:chOff x="4610" y="57"/>
                <a:chExt cx="1344" cy="985"/>
              </a:xfrm>
            </p:grpSpPr>
            <p:sp>
              <p:nvSpPr>
                <p:cNvPr id="2065" name="Freeform 44"/>
                <p:cNvSpPr/>
                <p:nvPr userDrawn="1"/>
              </p:nvSpPr>
              <p:spPr>
                <a:xfrm rot="-3172564">
                  <a:off x="4964" y="69"/>
                  <a:ext cx="153" cy="125"/>
                </a:xfrm>
                <a:custGeom>
                  <a:avLst/>
                  <a:gdLst/>
                  <a:ahLst/>
                  <a:cxnLst>
                    <a:cxn ang="0">
                      <a:pos x="0" y="0"/>
                    </a:cxn>
                    <a:cxn ang="0">
                      <a:pos x="0" y="0"/>
                    </a:cxn>
                    <a:cxn ang="0">
                      <a:pos x="0" y="0"/>
                    </a:cxn>
                    <a:cxn ang="0">
                      <a:pos x="0" y="0"/>
                    </a:cxn>
                    <a:cxn ang="0">
                      <a:pos x="0" y="0"/>
                    </a:cxn>
                    <a:cxn ang="0">
                      <a:pos x="0" y="0"/>
                    </a:cxn>
                    <a:cxn ang="0">
                      <a:pos x="0" y="0"/>
                    </a:cxn>
                    <a:cxn ang="0">
                      <a:pos x="0" y="0"/>
                    </a:cxn>
                  </a:cxnLst>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alpha val="100000"/>
                  </a:schemeClr>
                </a:solidFill>
                <a:ln w="9525">
                  <a:noFill/>
                </a:ln>
              </p:spPr>
              <p:txBody>
                <a:bodyPr/>
                <a:p>
                  <a:endParaRPr lang="zh-CN" altLang="en-US"/>
                </a:p>
              </p:txBody>
            </p:sp>
            <p:sp>
              <p:nvSpPr>
                <p:cNvPr id="2066" name="Freeform 45"/>
                <p:cNvSpPr/>
                <p:nvPr userDrawn="1"/>
              </p:nvSpPr>
              <p:spPr>
                <a:xfrm rot="-3172564">
                  <a:off x="5053" y="322"/>
                  <a:ext cx="269" cy="43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alpha val="100000"/>
                  </a:schemeClr>
                </a:solidFill>
                <a:ln w="9525">
                  <a:noFill/>
                </a:ln>
              </p:spPr>
              <p:txBody>
                <a:bodyPr/>
                <a:p>
                  <a:endParaRPr lang="zh-CN" altLang="en-US"/>
                </a:p>
              </p:txBody>
            </p:sp>
            <p:sp>
              <p:nvSpPr>
                <p:cNvPr id="2067" name="Freeform 46"/>
                <p:cNvSpPr/>
                <p:nvPr userDrawn="1"/>
              </p:nvSpPr>
              <p:spPr>
                <a:xfrm rot="-3172564">
                  <a:off x="4863" y="172"/>
                  <a:ext cx="505" cy="898"/>
                </a:xfrm>
                <a:custGeom>
                  <a:avLst/>
                  <a:gdLst/>
                  <a:ahLst/>
                  <a:cxnLst>
                    <a:cxn ang="0">
                      <a:pos x="0" y="0"/>
                    </a:cxn>
                    <a:cxn ang="0">
                      <a:pos x="0" y="0"/>
                    </a:cxn>
                    <a:cxn ang="0">
                      <a:pos x="0" y="0"/>
                    </a:cxn>
                    <a:cxn ang="0">
                      <a:pos x="0" y="0"/>
                    </a:cxn>
                    <a:cxn ang="0">
                      <a:pos x="0" y="0"/>
                    </a:cxn>
                  </a:cxnLst>
                  <a:pathLst>
                    <a:path w="2002" h="2521">
                      <a:moveTo>
                        <a:pt x="1941" y="0"/>
                      </a:moveTo>
                      <a:lnTo>
                        <a:pt x="0" y="2521"/>
                      </a:lnTo>
                      <a:lnTo>
                        <a:pt x="192" y="2450"/>
                      </a:lnTo>
                      <a:lnTo>
                        <a:pt x="2002" y="61"/>
                      </a:lnTo>
                      <a:lnTo>
                        <a:pt x="1941" y="0"/>
                      </a:lnTo>
                      <a:close/>
                    </a:path>
                  </a:pathLst>
                </a:custGeom>
                <a:solidFill>
                  <a:schemeClr val="accent2">
                    <a:alpha val="100000"/>
                  </a:schemeClr>
                </a:solidFill>
                <a:ln w="9525">
                  <a:noFill/>
                </a:ln>
              </p:spPr>
              <p:txBody>
                <a:bodyPr/>
                <a:p>
                  <a:endParaRPr lang="zh-CN" altLang="en-US"/>
                </a:p>
              </p:txBody>
            </p:sp>
            <p:sp>
              <p:nvSpPr>
                <p:cNvPr id="2068" name="Freeform 47"/>
                <p:cNvSpPr/>
                <p:nvPr userDrawn="1"/>
              </p:nvSpPr>
              <p:spPr>
                <a:xfrm rot="-3172564">
                  <a:off x="4903" y="-19"/>
                  <a:ext cx="758" cy="1344"/>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alpha val="100000"/>
                  </a:schemeClr>
                </a:solidFill>
                <a:ln w="9525">
                  <a:noFill/>
                </a:ln>
              </p:spPr>
              <p:txBody>
                <a:bodyPr/>
                <a:p>
                  <a:endParaRPr lang="zh-CN" altLang="en-US"/>
                </a:p>
              </p:txBody>
            </p:sp>
            <p:sp>
              <p:nvSpPr>
                <p:cNvPr id="2069" name="Freeform 48"/>
                <p:cNvSpPr/>
                <p:nvPr userDrawn="1"/>
              </p:nvSpPr>
              <p:spPr>
                <a:xfrm rot="-3172564">
                  <a:off x="5302" y="887"/>
                  <a:ext cx="169" cy="122"/>
                </a:xfrm>
                <a:custGeom>
                  <a:avLst/>
                  <a:gdLst/>
                  <a:ahLst/>
                  <a:cxnLst>
                    <a:cxn ang="0">
                      <a:pos x="0" y="0"/>
                    </a:cxn>
                    <a:cxn ang="0">
                      <a:pos x="0" y="0"/>
                    </a:cxn>
                    <a:cxn ang="0">
                      <a:pos x="0" y="0"/>
                    </a:cxn>
                    <a:cxn ang="0">
                      <a:pos x="0" y="0"/>
                    </a:cxn>
                    <a:cxn ang="0">
                      <a:pos x="0" y="0"/>
                    </a:cxn>
                    <a:cxn ang="0">
                      <a:pos x="0" y="0"/>
                    </a:cxn>
                    <a:cxn ang="0">
                      <a:pos x="0" y="0"/>
                    </a:cxn>
                  </a:cxnLst>
                  <a:pathLst>
                    <a:path w="673" h="342">
                      <a:moveTo>
                        <a:pt x="0" y="80"/>
                      </a:moveTo>
                      <a:lnTo>
                        <a:pt x="255" y="106"/>
                      </a:lnTo>
                      <a:lnTo>
                        <a:pt x="639" y="342"/>
                      </a:lnTo>
                      <a:lnTo>
                        <a:pt x="673" y="289"/>
                      </a:lnTo>
                      <a:lnTo>
                        <a:pt x="447" y="114"/>
                      </a:lnTo>
                      <a:lnTo>
                        <a:pt x="26" y="0"/>
                      </a:lnTo>
                      <a:lnTo>
                        <a:pt x="0" y="80"/>
                      </a:lnTo>
                      <a:close/>
                    </a:path>
                  </a:pathLst>
                </a:custGeom>
                <a:solidFill>
                  <a:schemeClr val="accent2">
                    <a:alpha val="100000"/>
                  </a:schemeClr>
                </a:solidFill>
                <a:ln w="9525">
                  <a:noFill/>
                </a:ln>
              </p:spPr>
              <p:txBody>
                <a:bodyPr/>
                <a:p>
                  <a:endParaRPr lang="zh-CN" altLang="en-US"/>
                </a:p>
              </p:txBody>
            </p:sp>
            <p:sp>
              <p:nvSpPr>
                <p:cNvPr id="2070" name="Freeform 49"/>
                <p:cNvSpPr/>
                <p:nvPr userDrawn="1"/>
              </p:nvSpPr>
              <p:spPr>
                <a:xfrm rot="-3172564">
                  <a:off x="5251" y="796"/>
                  <a:ext cx="181" cy="144"/>
                </a:xfrm>
                <a:custGeom>
                  <a:avLst/>
                  <a:gdLst/>
                  <a:ahLst/>
                  <a:cxnLst>
                    <a:cxn ang="0">
                      <a:pos x="0" y="0"/>
                    </a:cxn>
                    <a:cxn ang="0">
                      <a:pos x="0" y="0"/>
                    </a:cxn>
                    <a:cxn ang="0">
                      <a:pos x="0" y="0"/>
                    </a:cxn>
                    <a:cxn ang="0">
                      <a:pos x="0" y="0"/>
                    </a:cxn>
                    <a:cxn ang="0">
                      <a:pos x="0" y="0"/>
                    </a:cxn>
                    <a:cxn ang="0">
                      <a:pos x="0" y="0"/>
                    </a:cxn>
                    <a:cxn ang="0">
                      <a:pos x="0" y="0"/>
                    </a:cxn>
                  </a:cxnLst>
                  <a:pathLst>
                    <a:path w="716" h="403">
                      <a:moveTo>
                        <a:pt x="0" y="78"/>
                      </a:moveTo>
                      <a:lnTo>
                        <a:pt x="340" y="148"/>
                      </a:lnTo>
                      <a:lnTo>
                        <a:pt x="638" y="403"/>
                      </a:lnTo>
                      <a:lnTo>
                        <a:pt x="716" y="296"/>
                      </a:lnTo>
                      <a:lnTo>
                        <a:pt x="420" y="114"/>
                      </a:lnTo>
                      <a:lnTo>
                        <a:pt x="70" y="0"/>
                      </a:lnTo>
                      <a:lnTo>
                        <a:pt x="0" y="78"/>
                      </a:lnTo>
                      <a:close/>
                    </a:path>
                  </a:pathLst>
                </a:custGeom>
                <a:solidFill>
                  <a:schemeClr val="accent2">
                    <a:alpha val="100000"/>
                  </a:schemeClr>
                </a:solidFill>
                <a:ln w="9525">
                  <a:noFill/>
                </a:ln>
              </p:spPr>
              <p:txBody>
                <a:bodyPr/>
                <a:p>
                  <a:endParaRPr lang="zh-CN" altLang="en-US"/>
                </a:p>
              </p:txBody>
            </p:sp>
            <p:sp>
              <p:nvSpPr>
                <p:cNvPr id="2071" name="Freeform 50"/>
                <p:cNvSpPr/>
                <p:nvPr userDrawn="1"/>
              </p:nvSpPr>
              <p:spPr>
                <a:xfrm rot="-3172564">
                  <a:off x="4983" y="208"/>
                  <a:ext cx="181" cy="147"/>
                </a:xfrm>
                <a:custGeom>
                  <a:avLst/>
                  <a:gdLst/>
                  <a:ahLst/>
                  <a:cxnLst>
                    <a:cxn ang="0">
                      <a:pos x="0" y="0"/>
                    </a:cxn>
                    <a:cxn ang="0">
                      <a:pos x="0" y="0"/>
                    </a:cxn>
                    <a:cxn ang="0">
                      <a:pos x="0" y="0"/>
                    </a:cxn>
                    <a:cxn ang="0">
                      <a:pos x="0" y="0"/>
                    </a:cxn>
                    <a:cxn ang="0">
                      <a:pos x="0" y="0"/>
                    </a:cxn>
                    <a:cxn ang="0">
                      <a:pos x="0" y="0"/>
                    </a:cxn>
                    <a:cxn ang="0">
                      <a:pos x="0" y="0"/>
                    </a:cxn>
                  </a:cxnLst>
                  <a:pathLst>
                    <a:path w="717" h="411">
                      <a:moveTo>
                        <a:pt x="0" y="78"/>
                      </a:moveTo>
                      <a:lnTo>
                        <a:pt x="316" y="139"/>
                      </a:lnTo>
                      <a:lnTo>
                        <a:pt x="649" y="411"/>
                      </a:lnTo>
                      <a:lnTo>
                        <a:pt x="717" y="314"/>
                      </a:lnTo>
                      <a:lnTo>
                        <a:pt x="394" y="87"/>
                      </a:lnTo>
                      <a:lnTo>
                        <a:pt x="54" y="0"/>
                      </a:lnTo>
                      <a:lnTo>
                        <a:pt x="0" y="78"/>
                      </a:lnTo>
                      <a:close/>
                    </a:path>
                  </a:pathLst>
                </a:custGeom>
                <a:solidFill>
                  <a:schemeClr val="accent2">
                    <a:alpha val="100000"/>
                  </a:schemeClr>
                </a:solidFill>
                <a:ln w="9525">
                  <a:noFill/>
                </a:ln>
              </p:spPr>
              <p:txBody>
                <a:bodyPr/>
                <a:p>
                  <a:endParaRPr lang="zh-CN" altLang="en-US"/>
                </a:p>
              </p:txBody>
            </p:sp>
            <p:sp>
              <p:nvSpPr>
                <p:cNvPr id="2072" name="Freeform 51"/>
                <p:cNvSpPr/>
                <p:nvPr userDrawn="1"/>
              </p:nvSpPr>
              <p:spPr>
                <a:xfrm rot="-3172564">
                  <a:off x="4952" y="132"/>
                  <a:ext cx="179" cy="138"/>
                </a:xfrm>
                <a:custGeom>
                  <a:avLst/>
                  <a:gdLst/>
                  <a:ahLst/>
                  <a:cxnLst>
                    <a:cxn ang="0">
                      <a:pos x="0" y="0"/>
                    </a:cxn>
                    <a:cxn ang="0">
                      <a:pos x="0" y="0"/>
                    </a:cxn>
                    <a:cxn ang="0">
                      <a:pos x="0" y="0"/>
                    </a:cxn>
                    <a:cxn ang="0">
                      <a:pos x="0" y="0"/>
                    </a:cxn>
                    <a:cxn ang="0">
                      <a:pos x="0" y="0"/>
                    </a:cxn>
                    <a:cxn ang="0">
                      <a:pos x="0" y="0"/>
                    </a:cxn>
                    <a:cxn ang="0">
                      <a:pos x="0" y="0"/>
                    </a:cxn>
                  </a:cxnLst>
                  <a:pathLst>
                    <a:path w="709" h="386">
                      <a:moveTo>
                        <a:pt x="0" y="88"/>
                      </a:moveTo>
                      <a:lnTo>
                        <a:pt x="272" y="131"/>
                      </a:lnTo>
                      <a:lnTo>
                        <a:pt x="665" y="386"/>
                      </a:lnTo>
                      <a:lnTo>
                        <a:pt x="709" y="308"/>
                      </a:lnTo>
                      <a:lnTo>
                        <a:pt x="306" y="53"/>
                      </a:lnTo>
                      <a:lnTo>
                        <a:pt x="43" y="0"/>
                      </a:lnTo>
                      <a:lnTo>
                        <a:pt x="0" y="88"/>
                      </a:lnTo>
                      <a:close/>
                    </a:path>
                  </a:pathLst>
                </a:custGeom>
                <a:solidFill>
                  <a:schemeClr val="accent2">
                    <a:alpha val="100000"/>
                  </a:schemeClr>
                </a:solidFill>
                <a:ln w="9525">
                  <a:noFill/>
                </a:ln>
              </p:spPr>
              <p:txBody>
                <a:bodyPr/>
                <a:p>
                  <a:endParaRPr lang="zh-CN" altLang="en-US"/>
                </a:p>
              </p:txBody>
            </p:sp>
          </p:grpSp>
        </p:grpSp>
        <p:sp>
          <p:nvSpPr>
            <p:cNvPr id="2062"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audio" Target="../media/audio3.wav"/><Relationship Id="rId2" Type="http://schemas.openxmlformats.org/officeDocument/2006/relationships/audio" Target="../media/audio2.wav"/><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4.wav"/><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audio" Target="../media/audio7.wav"/><Relationship Id="rId5" Type="http://schemas.openxmlformats.org/officeDocument/2006/relationships/audio" Target="../media/audio6.wav"/><Relationship Id="rId4" Type="http://schemas.openxmlformats.org/officeDocument/2006/relationships/audio" Target="../media/audio5.wav"/><Relationship Id="rId3" Type="http://schemas.openxmlformats.org/officeDocument/2006/relationships/audio" Target="../media/audio2.wav"/><Relationship Id="rId2" Type="http://schemas.openxmlformats.org/officeDocument/2006/relationships/image" Target="../media/image1.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7.xml"/><Relationship Id="rId17" Type="http://schemas.openxmlformats.org/officeDocument/2006/relationships/tags" Target="../tags/tag16.xml"/><Relationship Id="rId16" Type="http://schemas.openxmlformats.org/officeDocument/2006/relationships/image" Target="../media/image4.png"/><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8" Type="http://schemas.openxmlformats.org/officeDocument/2006/relationships/slideLayout" Target="../slideLayouts/slideLayout7.xml"/><Relationship Id="rId17" Type="http://schemas.openxmlformats.org/officeDocument/2006/relationships/tags" Target="../tags/tag32.xml"/><Relationship Id="rId16" Type="http://schemas.openxmlformats.org/officeDocument/2006/relationships/image" Target="../media/image4.png"/><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35.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slideLayout" Target="../slideLayouts/slideLayout7.xml"/><Relationship Id="rId17" Type="http://schemas.openxmlformats.org/officeDocument/2006/relationships/tags" Target="../tags/tag48.xml"/><Relationship Id="rId16" Type="http://schemas.openxmlformats.org/officeDocument/2006/relationships/image" Target="../media/image4.png"/><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audio" Target="../media/audio1.wav"/><Relationship Id="rId2" Type="http://schemas.openxmlformats.org/officeDocument/2006/relationships/image" Target="../media/image5.wmf"/><Relationship Id="rId1"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2.xml"/><Relationship Id="rId2" Type="http://schemas.openxmlformats.org/officeDocument/2006/relationships/image" Target="../media/image8.wmf"/><Relationship Id="rId1"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9" Type="http://schemas.openxmlformats.org/officeDocument/2006/relationships/image" Target="../media/image11.wmf"/><Relationship Id="rId8" Type="http://schemas.openxmlformats.org/officeDocument/2006/relationships/oleObject" Target="../embeddings/oleObject11.bin"/><Relationship Id="rId7" Type="http://schemas.openxmlformats.org/officeDocument/2006/relationships/oleObject" Target="../embeddings/oleObject10.bin"/><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image" Target="../media/image10.wmf"/><Relationship Id="rId3" Type="http://schemas.openxmlformats.org/officeDocument/2006/relationships/oleObject" Target="../embeddings/oleObject7.bin"/><Relationship Id="rId2" Type="http://schemas.openxmlformats.org/officeDocument/2006/relationships/image" Target="../media/image9.wmf"/><Relationship Id="rId13" Type="http://schemas.openxmlformats.org/officeDocument/2006/relationships/vmlDrawing" Target="../drawings/vmlDrawing6.vml"/><Relationship Id="rId12" Type="http://schemas.openxmlformats.org/officeDocument/2006/relationships/slideLayout" Target="../slideLayouts/slideLayout2.xml"/><Relationship Id="rId11" Type="http://schemas.openxmlformats.org/officeDocument/2006/relationships/image" Target="../media/image12.wmf"/><Relationship Id="rId10" Type="http://schemas.openxmlformats.org/officeDocument/2006/relationships/oleObject" Target="../embeddings/oleObject12.bin"/><Relationship Id="rId1" Type="http://schemas.openxmlformats.org/officeDocument/2006/relationships/oleObject" Target="../embeddings/oleObject6.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audio" Target="../media/audio8.wav"/><Relationship Id="rId4" Type="http://schemas.openxmlformats.org/officeDocument/2006/relationships/audio" Target="../media/audio1.wav"/><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oleObject" Target="../embeddings/oleObject13.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673" name="Rectangle 2"/>
          <p:cNvSpPr>
            <a:spLocks noGrp="1"/>
          </p:cNvSpPr>
          <p:nvPr>
            <p:ph type="ctrTitle"/>
          </p:nvPr>
        </p:nvSpPr>
        <p:spPr>
          <a:xfrm>
            <a:off x="1371600" y="1511300"/>
            <a:ext cx="7086600" cy="2273300"/>
          </a:xfrm>
          <a:effectLst>
            <a:outerShdw dist="45791" dir="2021404" algn="ctr" rotWithShape="0">
              <a:schemeClr val="bg2">
                <a:alpha val="100000"/>
              </a:schemeClr>
            </a:outerShdw>
          </a:effectLst>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1">
                <a:ln>
                  <a:noFill/>
                </a:ln>
                <a:solidFill>
                  <a:schemeClr val="tx2"/>
                </a:solidFill>
                <a:effectLst>
                  <a:outerShdw blurRad="38100" dist="38100" dir="2700000">
                    <a:srgbClr val="C0C0C0"/>
                  </a:outerShdw>
                </a:effectLst>
                <a:uLnTx/>
                <a:uFillTx/>
                <a:latin typeface="+mj-lt"/>
                <a:ea typeface="+mj-ea"/>
                <a:cs typeface="+mj-cs"/>
              </a:rPr>
              <a:t>Lecture 2</a:t>
            </a:r>
            <a:br>
              <a:rPr kumimoji="0" lang="en-US" altLang="zh-CN" sz="4400" b="0" i="0" u="none" strike="noStrike" kern="0" cap="none" spc="0" normalizeH="0" baseline="0" noProof="0">
                <a:ln>
                  <a:noFill/>
                </a:ln>
                <a:solidFill>
                  <a:schemeClr val="tx2"/>
                </a:solidFill>
                <a:effectLst>
                  <a:outerShdw blurRad="38100" dist="38100" dir="2700000">
                    <a:srgbClr val="C0C0C0"/>
                  </a:outerShdw>
                </a:effectLst>
                <a:uLnTx/>
                <a:uFillTx/>
                <a:latin typeface="+mj-lt"/>
                <a:ea typeface="+mj-ea"/>
                <a:cs typeface="+mj-cs"/>
              </a:rPr>
            </a:br>
            <a:r>
              <a:rPr kumimoji="0" lang="en-US" altLang="zh-CN" sz="4400" b="0" i="0" u="none" strike="noStrike" kern="0" cap="none" spc="0" normalizeH="0" baseline="0" noProof="1">
                <a:ln>
                  <a:noFill/>
                </a:ln>
                <a:solidFill>
                  <a:schemeClr val="tx2"/>
                </a:solidFill>
                <a:effectLst>
                  <a:outerShdw blurRad="38100" dist="38100" dir="2700000">
                    <a:srgbClr val="C0C0C0"/>
                  </a:outerShdw>
                </a:effectLst>
                <a:uLnTx/>
                <a:uFillTx/>
                <a:latin typeface="+mj-lt"/>
                <a:ea typeface="+mj-ea"/>
                <a:cs typeface="+mj-cs"/>
              </a:rPr>
              <a:t>Algorithm Analysis</a:t>
            </a:r>
            <a:endParaRPr kumimoji="0" lang="en-US" altLang="zh-CN" sz="4400" b="0" i="0" u="none" strike="noStrike" kern="0" cap="none" spc="0" normalizeH="0" baseline="0" noProof="1">
              <a:ln>
                <a:noFill/>
              </a:ln>
              <a:solidFill>
                <a:schemeClr val="tx2"/>
              </a:solidFill>
              <a:effectLst>
                <a:outerShdw blurRad="38100" dist="38100" dir="2700000">
                  <a:srgbClr val="C0C0C0"/>
                </a:outerShdw>
              </a:effectLst>
              <a:uLnTx/>
              <a:uFillTx/>
              <a:latin typeface="+mj-lt"/>
              <a:ea typeface="+mj-ea"/>
              <a:cs typeface="+mj-cs"/>
            </a:endParaRPr>
          </a:p>
        </p:txBody>
      </p:sp>
      <p:sp>
        <p:nvSpPr>
          <p:cNvPr id="4099" name="Rectangle 3"/>
          <p:cNvSpPr>
            <a:spLocks noGrp="1" noChangeArrowheads="1"/>
          </p:cNvSpPr>
          <p:nvPr>
            <p:ph type="subTitle" idx="1"/>
          </p:nvPr>
        </p:nvSpPr>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How to predict an algorithm’s performance</a:t>
            </a:r>
            <a:endParaRPr kumimoji="0" lang="en-US" altLang="zh-CN"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22" name="Rectangle 2"/>
          <p:cNvSpPr>
            <a:spLocks noGrp="1"/>
          </p:cNvSpPr>
          <p:nvPr>
            <p:ph type="title"/>
          </p:nvPr>
        </p:nvSpPr>
        <p:spPr/>
        <p:txBody>
          <a:bodyPr vert="horz" wrap="square" lIns="91440" tIns="45720" rIns="91440" bIns="45720" anchor="b" anchorCtr="0"/>
          <a:p>
            <a:pPr eaLnBrk="1" hangingPunct="1"/>
            <a:r>
              <a:rPr lang="en-US" altLang="zh-CN" dirty="0"/>
              <a:t>Algorithm</a:t>
            </a:r>
            <a:endParaRPr lang="en-US" altLang="zh-CN" dirty="0"/>
          </a:p>
        </p:txBody>
      </p:sp>
      <p:sp>
        <p:nvSpPr>
          <p:cNvPr id="23555" name="Rectangle 3"/>
          <p:cNvSpPr>
            <a:spLocks noGrp="1"/>
          </p:cNvSpPr>
          <p:nvPr>
            <p:ph idx="1"/>
          </p:nvPr>
        </p:nvSpPr>
        <p:spPr/>
        <p:txBody>
          <a:bodyPr vert="horz" wrap="square" lIns="91440" tIns="45720" rIns="91440" bIns="45720" anchor="t" anchorCtr="0"/>
          <a:p>
            <a:pPr eaLnBrk="1" hangingPunct="1">
              <a:lnSpc>
                <a:spcPct val="140000"/>
              </a:lnSpc>
              <a:spcBef>
                <a:spcPct val="0"/>
              </a:spcBef>
            </a:pPr>
            <a:r>
              <a:rPr lang="en-US" altLang="zh-CN" sz="2800" dirty="0"/>
              <a:t>Algorithm: a limit sequence of instructions used to solve some problems. </a:t>
            </a:r>
            <a:endParaRPr lang="en-US" altLang="zh-CN" sz="2800" dirty="0"/>
          </a:p>
          <a:p>
            <a:pPr eaLnBrk="1" hangingPunct="1"/>
            <a:r>
              <a:rPr lang="en-US" altLang="zh-CN" sz="2800" dirty="0"/>
              <a:t>Program VS.  Algorithm</a:t>
            </a:r>
            <a:endParaRPr lang="en-US" altLang="zh-CN" sz="2800" dirty="0"/>
          </a:p>
          <a:p>
            <a:pPr lvl="1" eaLnBrk="1" hangingPunct="1"/>
            <a:r>
              <a:rPr lang="en-US" altLang="zh-CN" dirty="0"/>
              <a:t> A computer program is an </a:t>
            </a:r>
            <a:r>
              <a:rPr lang="en-US" altLang="zh-CN" dirty="0">
                <a:solidFill>
                  <a:srgbClr val="FF0000"/>
                </a:solidFill>
              </a:rPr>
              <a:t>instance</a:t>
            </a:r>
            <a:r>
              <a:rPr lang="en-US" altLang="zh-CN" dirty="0"/>
              <a:t>, or </a:t>
            </a:r>
            <a:r>
              <a:rPr lang="en-US" altLang="zh-CN" dirty="0">
                <a:solidFill>
                  <a:srgbClr val="FF0000"/>
                </a:solidFill>
              </a:rPr>
              <a:t>concrete representation</a:t>
            </a:r>
            <a:r>
              <a:rPr lang="en-US" altLang="zh-CN" dirty="0"/>
              <a:t> for an algorithm in some </a:t>
            </a:r>
            <a:r>
              <a:rPr lang="en-US" altLang="zh-CN" dirty="0">
                <a:solidFill>
                  <a:srgbClr val="FF0000"/>
                </a:solidFill>
              </a:rPr>
              <a:t>programming language</a:t>
            </a:r>
            <a:r>
              <a:rPr lang="en-US" altLang="zh-CN" dirty="0"/>
              <a:t>.</a:t>
            </a:r>
            <a:endParaRPr lang="en-US" altLang="zh-CN" sz="2400" dirty="0"/>
          </a:p>
          <a:p>
            <a:pPr eaLnBrk="1" hangingPunct="1"/>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charRg st="0" end="74"/>
                                            </p:txEl>
                                          </p:spTgt>
                                        </p:tgtEl>
                                        <p:attrNameLst>
                                          <p:attrName>style.visibility</p:attrName>
                                        </p:attrNameLst>
                                      </p:cBhvr>
                                      <p:to>
                                        <p:strVal val="visible"/>
                                      </p:to>
                                    </p:set>
                                    <p:animEffect transition="in" filter="blinds(horizontal)">
                                      <p:cBhvr>
                                        <p:cTn id="7" dur="500"/>
                                        <p:tgtEl>
                                          <p:spTgt spid="23555">
                                            <p:txEl>
                                              <p:charRg st="0" end="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55">
                                            <p:txEl>
                                              <p:charRg st="74" end="97"/>
                                            </p:txEl>
                                          </p:spTgt>
                                        </p:tgtEl>
                                        <p:attrNameLst>
                                          <p:attrName>style.visibility</p:attrName>
                                        </p:attrNameLst>
                                      </p:cBhvr>
                                      <p:to>
                                        <p:strVal val="visible"/>
                                      </p:to>
                                    </p:set>
                                    <p:animEffect transition="in" filter="blinds(horizontal)">
                                      <p:cBhvr>
                                        <p:cTn id="12" dur="500"/>
                                        <p:tgtEl>
                                          <p:spTgt spid="23555">
                                            <p:txEl>
                                              <p:charRg st="74" end="9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555">
                                            <p:txEl>
                                              <p:charRg st="97" end="207"/>
                                            </p:txEl>
                                          </p:spTgt>
                                        </p:tgtEl>
                                        <p:attrNameLst>
                                          <p:attrName>style.visibility</p:attrName>
                                        </p:attrNameLst>
                                      </p:cBhvr>
                                      <p:to>
                                        <p:strVal val="visible"/>
                                      </p:to>
                                    </p:set>
                                    <p:animEffect transition="in" filter="blinds(horizontal)">
                                      <p:cBhvr>
                                        <p:cTn id="17" dur="500"/>
                                        <p:tgtEl>
                                          <p:spTgt spid="23555">
                                            <p:txEl>
                                              <p:charRg st="97" end="20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746" name="Rectangle 2"/>
          <p:cNvSpPr>
            <a:spLocks noGrp="1"/>
          </p:cNvSpPr>
          <p:nvPr>
            <p:ph type="title"/>
          </p:nvPr>
        </p:nvSpPr>
        <p:spPr/>
        <p:txBody>
          <a:bodyPr vert="horz" wrap="square" lIns="91440" tIns="45720" rIns="91440" bIns="45720" anchor="b" anchorCtr="0"/>
          <a:p>
            <a:pPr eaLnBrk="1" hangingPunct="1"/>
            <a:r>
              <a:rPr lang="en-US" altLang="zh-CN" dirty="0"/>
              <a:t>Algorithm Analysis</a:t>
            </a:r>
            <a:endParaRPr lang="en-US" altLang="zh-CN" dirty="0"/>
          </a:p>
        </p:txBody>
      </p:sp>
      <p:sp>
        <p:nvSpPr>
          <p:cNvPr id="31747" name="Rectangle 3"/>
          <p:cNvSpPr>
            <a:spLocks noGrp="1"/>
          </p:cNvSpPr>
          <p:nvPr>
            <p:ph idx="1"/>
          </p:nvPr>
        </p:nvSpPr>
        <p:spPr>
          <a:xfrm>
            <a:off x="685800" y="1828800"/>
            <a:ext cx="8153400" cy="3657600"/>
          </a:xfrm>
        </p:spPr>
        <p:txBody>
          <a:bodyPr vert="horz" wrap="square" lIns="91440" tIns="45720" rIns="91440" bIns="45720" anchor="t" anchorCtr="0"/>
          <a:p>
            <a:pPr eaLnBrk="1" hangingPunct="1"/>
            <a:r>
              <a:rPr lang="en-US" altLang="zh-CN" dirty="0"/>
              <a:t> Metrics should be used to judge algorithms</a:t>
            </a:r>
            <a:endParaRPr lang="en-US" altLang="zh-CN" dirty="0"/>
          </a:p>
          <a:p>
            <a:pPr lvl="1" eaLnBrk="1" hangingPunct="1"/>
            <a:r>
              <a:rPr lang="en-US" altLang="zh-CN" dirty="0"/>
              <a:t>Length of the program (lines of code)</a:t>
            </a:r>
            <a:endParaRPr lang="en-US" altLang="zh-CN" dirty="0"/>
          </a:p>
          <a:p>
            <a:pPr lvl="1" eaLnBrk="1" hangingPunct="1"/>
            <a:r>
              <a:rPr lang="en-US" altLang="zh-CN" dirty="0"/>
              <a:t>Ease of programming (bugs, maintenance)</a:t>
            </a:r>
            <a:endParaRPr lang="en-US" altLang="zh-CN" dirty="0"/>
          </a:p>
          <a:p>
            <a:pPr lvl="1" eaLnBrk="1" hangingPunct="1"/>
            <a:r>
              <a:rPr lang="en-US" altLang="zh-CN" dirty="0">
                <a:solidFill>
                  <a:schemeClr val="tx2"/>
                </a:solidFill>
              </a:rPr>
              <a:t>Memory required</a:t>
            </a:r>
            <a:r>
              <a:rPr lang="en-US" altLang="zh-CN" dirty="0"/>
              <a:t> </a:t>
            </a:r>
            <a:endParaRPr lang="en-US" altLang="zh-CN" dirty="0"/>
          </a:p>
          <a:p>
            <a:pPr lvl="1" eaLnBrk="1" hangingPunct="1"/>
            <a:r>
              <a:rPr lang="en-US" altLang="zh-CN" dirty="0">
                <a:solidFill>
                  <a:schemeClr val="tx2"/>
                </a:solidFill>
              </a:rPr>
              <a:t>Running time </a:t>
            </a:r>
            <a:endParaRPr lang="en-US" altLang="zh-CN" dirty="0">
              <a:solidFill>
                <a:schemeClr val="tx2"/>
              </a:solidFill>
            </a:endParaRPr>
          </a:p>
          <a:p>
            <a:pPr eaLnBrk="1" hangingPunct="1"/>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23" name="Rectangle 3"/>
          <p:cNvSpPr>
            <a:spLocks noGrp="1"/>
          </p:cNvSpPr>
          <p:nvPr>
            <p:ph idx="1"/>
          </p:nvPr>
        </p:nvSpPr>
        <p:spPr>
          <a:xfrm>
            <a:off x="609600" y="228600"/>
            <a:ext cx="7924800" cy="5867400"/>
          </a:xfrm>
        </p:spPr>
        <p:txBody>
          <a:bodyPr vert="horz" wrap="square" lIns="91440" tIns="45720" rIns="91440" bIns="45720" anchor="t" anchorCtr="0"/>
          <a:p>
            <a:pPr eaLnBrk="1" hangingPunct="1">
              <a:lnSpc>
                <a:spcPct val="80000"/>
              </a:lnSpc>
            </a:pPr>
            <a:r>
              <a:rPr lang="en-US" altLang="zh-CN" sz="2400" dirty="0"/>
              <a:t>An algorithm may run differently depending on:</a:t>
            </a:r>
            <a:endParaRPr lang="en-US" altLang="zh-CN" sz="2400" dirty="0"/>
          </a:p>
          <a:p>
            <a:pPr lvl="1" eaLnBrk="1" hangingPunct="1">
              <a:lnSpc>
                <a:spcPct val="80000"/>
              </a:lnSpc>
            </a:pPr>
            <a:r>
              <a:rPr lang="en-US" altLang="zh-CN" sz="2400" dirty="0"/>
              <a:t>the hardware platform (PC, Cray, Sun)</a:t>
            </a:r>
            <a:endParaRPr lang="en-US" altLang="zh-CN" sz="2400" dirty="0"/>
          </a:p>
          <a:p>
            <a:pPr lvl="1" eaLnBrk="1" hangingPunct="1">
              <a:lnSpc>
                <a:spcPct val="80000"/>
              </a:lnSpc>
            </a:pPr>
            <a:r>
              <a:rPr lang="en-US" altLang="zh-CN" sz="2400" dirty="0"/>
              <a:t>the programming language (C, Java, C++)</a:t>
            </a:r>
            <a:endParaRPr lang="en-US" altLang="zh-CN" sz="2400" dirty="0"/>
          </a:p>
          <a:p>
            <a:pPr lvl="1" eaLnBrk="1" hangingPunct="1">
              <a:lnSpc>
                <a:spcPct val="80000"/>
              </a:lnSpc>
            </a:pPr>
            <a:r>
              <a:rPr lang="en-US" altLang="zh-CN" sz="2400" dirty="0"/>
              <a:t>The scale of the problem</a:t>
            </a:r>
            <a:endParaRPr lang="en-US" altLang="zh-CN" sz="2400" dirty="0"/>
          </a:p>
          <a:p>
            <a:pPr lvl="1" eaLnBrk="1" hangingPunct="1">
              <a:lnSpc>
                <a:spcPct val="80000"/>
              </a:lnSpc>
            </a:pPr>
            <a:endParaRPr lang="en-US" altLang="zh-CN" sz="2400" dirty="0"/>
          </a:p>
          <a:p>
            <a:pPr eaLnBrk="1" hangingPunct="1">
              <a:lnSpc>
                <a:spcPct val="80000"/>
              </a:lnSpc>
            </a:pPr>
            <a:r>
              <a:rPr lang="en-US" altLang="zh-CN" sz="2400" dirty="0"/>
              <a:t>We want to compare algorithms in terms of just what they are. </a:t>
            </a:r>
            <a:endParaRPr lang="en-US" altLang="zh-CN" sz="2400" dirty="0"/>
          </a:p>
          <a:p>
            <a:pPr eaLnBrk="1" hangingPunct="1">
              <a:lnSpc>
                <a:spcPct val="80000"/>
              </a:lnSpc>
            </a:pPr>
            <a:endParaRPr lang="en-US" altLang="zh-CN" sz="2800" dirty="0"/>
          </a:p>
          <a:p>
            <a:pPr eaLnBrk="1" hangingPunct="1">
              <a:lnSpc>
                <a:spcPct val="80000"/>
              </a:lnSpc>
            </a:pPr>
            <a:r>
              <a:rPr lang="en-US" altLang="zh-CN" sz="2400" dirty="0"/>
              <a:t>Crude but valuable measure of algorithm’s performance </a:t>
            </a:r>
            <a:r>
              <a:rPr lang="en-US" altLang="zh-CN" sz="2400" i="1" dirty="0">
                <a:solidFill>
                  <a:schemeClr val="tx2"/>
                </a:solidFill>
              </a:rPr>
              <a:t>as a function of input size t(n) </a:t>
            </a:r>
            <a:r>
              <a:rPr lang="en-US" altLang="zh-CN" sz="2400" dirty="0">
                <a:solidFill>
                  <a:schemeClr val="tx2"/>
                </a:solidFill>
              </a:rPr>
              <a:t>– time complexity</a:t>
            </a:r>
            <a:endParaRPr lang="en-US" altLang="zh-CN" sz="2400" dirty="0">
              <a:solidFill>
                <a:schemeClr val="tx2"/>
              </a:solidFill>
            </a:endParaRPr>
          </a:p>
          <a:p>
            <a:pPr eaLnBrk="1" hangingPunct="1">
              <a:lnSpc>
                <a:spcPct val="80000"/>
              </a:lnSpc>
            </a:pPr>
            <a:endParaRPr lang="en-US" altLang="zh-CN" sz="2400" dirty="0">
              <a:solidFill>
                <a:srgbClr val="FF3300"/>
              </a:solidFill>
            </a:endParaRPr>
          </a:p>
          <a:p>
            <a:pPr eaLnBrk="1" hangingPunct="1">
              <a:lnSpc>
                <a:spcPct val="80000"/>
              </a:lnSpc>
            </a:pPr>
            <a:r>
              <a:rPr lang="en-US" altLang="zh-CN" sz="2400" dirty="0"/>
              <a:t>Analysis now defaults to time complexity analysis</a:t>
            </a:r>
            <a:endParaRPr lang="en-US" altLang="zh-CN" sz="2400" dirty="0"/>
          </a:p>
          <a:p>
            <a:pPr lvl="1" eaLnBrk="1" hangingPunct="1">
              <a:lnSpc>
                <a:spcPct val="80000"/>
              </a:lnSpc>
            </a:pPr>
            <a:r>
              <a:rPr lang="en-US" altLang="zh-CN" sz="2400" dirty="0"/>
              <a:t>Quantifiable and easy to compare</a:t>
            </a:r>
            <a:endParaRPr lang="en-US" altLang="zh-CN" sz="2400" dirty="0"/>
          </a:p>
          <a:p>
            <a:pPr lvl="1" eaLnBrk="1" hangingPunct="1">
              <a:lnSpc>
                <a:spcPct val="80000"/>
              </a:lnSpc>
            </a:pPr>
            <a:r>
              <a:rPr lang="en-US" altLang="zh-CN" sz="2400" dirty="0"/>
              <a:t>Time is “expensive” and often the critical bottleneck</a:t>
            </a:r>
            <a:endParaRPr lang="en-US" altLang="zh-CN" sz="2400" dirty="0"/>
          </a:p>
          <a:p>
            <a:pPr eaLnBrk="1" hangingPunct="1">
              <a:lnSpc>
                <a:spcPct val="80000"/>
              </a:lnSpc>
            </a:pPr>
            <a:endParaRPr lang="en-US" altLang="zh-CN" sz="2800" dirty="0">
              <a:solidFill>
                <a:srgbClr val="FF3300"/>
              </a:solidFill>
            </a:endParaRPr>
          </a:p>
          <a:p>
            <a:pPr lvl="1" eaLnBrk="1" hangingPunct="1">
              <a:lnSpc>
                <a:spcPct val="80000"/>
              </a:lnSpc>
              <a:buNone/>
            </a:pPr>
            <a:endParaRPr lang="en-US" altLang="zh-CN" dirty="0"/>
          </a:p>
        </p:txBody>
      </p:sp>
      <p:sp>
        <p:nvSpPr>
          <p:cNvPr id="30729" name="AutoShape 9"/>
          <p:cNvSpPr/>
          <p:nvPr/>
        </p:nvSpPr>
        <p:spPr>
          <a:xfrm>
            <a:off x="5410200" y="228600"/>
            <a:ext cx="3581400" cy="838200"/>
          </a:xfrm>
          <a:prstGeom prst="wedgeEllipseCallout">
            <a:avLst>
              <a:gd name="adj1" fmla="val -60894"/>
              <a:gd name="adj2" fmla="val 37611"/>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sym typeface="Wingdings" panose="05000000000000000000" pitchFamily="2" charset="2"/>
              </a:rPr>
              <a:t>Machine &amp; compiler-dependent</a:t>
            </a:r>
            <a:endParaRPr lang="en-US" altLang="zh-CN" sz="1800" b="1" dirty="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9"/>
                                        </p:tgtEl>
                                        <p:attrNameLst>
                                          <p:attrName>style.visibility</p:attrName>
                                        </p:attrNameLst>
                                      </p:cBhvr>
                                      <p:to>
                                        <p:strVal val="visible"/>
                                      </p:to>
                                    </p:set>
                                    <p:animEffect transition="in" filter="blinds(horizontal)">
                                      <p:cBhvr>
                                        <p:cTn id="7" dur="500"/>
                                        <p:tgtEl>
                                          <p:spTgt spid="307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mph" presetSubtype="2" fill="hold" nodeType="clickEffect">
                                  <p:stCondLst>
                                    <p:cond delay="0"/>
                                  </p:stCondLst>
                                  <p:childTnLst>
                                    <p:animClr clrSpc="rgb" dir="cw">
                                      <p:cBhvr override="childStyle">
                                        <p:cTn id="11" dur="2000" fill="hold"/>
                                        <p:tgtEl>
                                          <p:spTgt spid="30723">
                                            <p:txEl>
                                              <p:charRg st="125" end="150"/>
                                            </p:txEl>
                                          </p:spTgt>
                                        </p:tgtEl>
                                        <p:attrNameLst>
                                          <p:attrName>style.color</p:attrName>
                                        </p:attrNameLst>
                                      </p:cBhvr>
                                      <p:to>
                                        <a:schemeClr val="tx2"/>
                                      </p:to>
                                    </p:animClr>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0723">
                                            <p:txEl>
                                              <p:charRg st="151" end="214"/>
                                            </p:txEl>
                                          </p:spTgt>
                                        </p:tgtEl>
                                        <p:attrNameLst>
                                          <p:attrName>style.visibility</p:attrName>
                                        </p:attrNameLst>
                                      </p:cBhvr>
                                      <p:to>
                                        <p:strVal val="visible"/>
                                      </p:to>
                                    </p:set>
                                    <p:animEffect transition="in" filter="blinds(horizontal)">
                                      <p:cBhvr>
                                        <p:cTn id="16" dur="500"/>
                                        <p:tgtEl>
                                          <p:spTgt spid="30723">
                                            <p:txEl>
                                              <p:charRg st="151" end="21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0723">
                                            <p:txEl>
                                              <p:charRg st="215" end="320"/>
                                            </p:txEl>
                                          </p:spTgt>
                                        </p:tgtEl>
                                        <p:attrNameLst>
                                          <p:attrName>style.visibility</p:attrName>
                                        </p:attrNameLst>
                                      </p:cBhvr>
                                      <p:to>
                                        <p:strVal val="visible"/>
                                      </p:to>
                                    </p:set>
                                    <p:animEffect transition="in" filter="blinds(horizontal)">
                                      <p:cBhvr>
                                        <p:cTn id="21" dur="500"/>
                                        <p:tgtEl>
                                          <p:spTgt spid="30723">
                                            <p:txEl>
                                              <p:charRg st="215" end="32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0723">
                                            <p:txEl>
                                              <p:charRg st="321" end="371"/>
                                            </p:txEl>
                                          </p:spTgt>
                                        </p:tgtEl>
                                        <p:attrNameLst>
                                          <p:attrName>style.visibility</p:attrName>
                                        </p:attrNameLst>
                                      </p:cBhvr>
                                      <p:to>
                                        <p:strVal val="visible"/>
                                      </p:to>
                                    </p:set>
                                    <p:animEffect transition="in" filter="blinds(horizontal)">
                                      <p:cBhvr>
                                        <p:cTn id="26" dur="500"/>
                                        <p:tgtEl>
                                          <p:spTgt spid="30723">
                                            <p:txEl>
                                              <p:charRg st="321" end="37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0723">
                                            <p:txEl>
                                              <p:charRg st="371" end="404"/>
                                            </p:txEl>
                                          </p:spTgt>
                                        </p:tgtEl>
                                        <p:attrNameLst>
                                          <p:attrName>style.visibility</p:attrName>
                                        </p:attrNameLst>
                                      </p:cBhvr>
                                      <p:to>
                                        <p:strVal val="visible"/>
                                      </p:to>
                                    </p:set>
                                    <p:animEffect transition="in" filter="blinds(horizontal)">
                                      <p:cBhvr>
                                        <p:cTn id="31" dur="500"/>
                                        <p:tgtEl>
                                          <p:spTgt spid="30723">
                                            <p:txEl>
                                              <p:charRg st="371" end="40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0723">
                                            <p:txEl>
                                              <p:charRg st="404" end="458"/>
                                            </p:txEl>
                                          </p:spTgt>
                                        </p:tgtEl>
                                        <p:attrNameLst>
                                          <p:attrName>style.visibility</p:attrName>
                                        </p:attrNameLst>
                                      </p:cBhvr>
                                      <p:to>
                                        <p:strVal val="visible"/>
                                      </p:to>
                                    </p:set>
                                    <p:animEffect transition="in" filter="blinds(horizontal)">
                                      <p:cBhvr>
                                        <p:cTn id="36" dur="500"/>
                                        <p:tgtEl>
                                          <p:spTgt spid="30723">
                                            <p:txEl>
                                              <p:charRg st="404" end="4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84002" name="Rectangle 2"/>
          <p:cNvSpPr>
            <a:spLocks noGrp="1" noChangeArrowheads="1"/>
          </p:cNvSpPr>
          <p:nvPr>
            <p:ph type="title" idx="4294967295"/>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Run Time Analysis</a:t>
            </a:r>
            <a:endParaRPr kumimoji="0" lang="en-US" altLang="zh-CN" sz="4400" b="0"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33795" name="Rectangle 3"/>
          <p:cNvSpPr>
            <a:spLocks noGrp="1"/>
          </p:cNvSpPr>
          <p:nvPr>
            <p:ph type="body"/>
          </p:nvPr>
        </p:nvSpPr>
        <p:spPr>
          <a:xfrm>
            <a:off x="685800" y="1828800"/>
            <a:ext cx="7772400" cy="4114800"/>
          </a:xfrm>
        </p:spPr>
        <p:txBody>
          <a:bodyPr vert="horz" wrap="square" lIns="91440" tIns="45720" rIns="91440" bIns="45720" anchor="t" anchorCtr="0"/>
          <a:p>
            <a:pPr eaLnBrk="1" hangingPunct="1">
              <a:lnSpc>
                <a:spcPct val="140000"/>
              </a:lnSpc>
              <a:spcBef>
                <a:spcPct val="0"/>
              </a:spcBef>
            </a:pPr>
            <a:r>
              <a:rPr lang="en-US" altLang="zh-CN" sz="2800" dirty="0"/>
              <a:t>For most algorithms, running time depends on </a:t>
            </a:r>
            <a:r>
              <a:rPr lang="en-US" altLang="zh-CN" sz="2800" dirty="0">
                <a:latin typeface="Tahoma" panose="020B0604030504040204" pitchFamily="34" charset="0"/>
              </a:rPr>
              <a:t>“</a:t>
            </a:r>
            <a:r>
              <a:rPr lang="en-US" altLang="zh-CN" sz="2800" dirty="0">
                <a:solidFill>
                  <a:schemeClr val="tx2"/>
                </a:solidFill>
              </a:rPr>
              <a:t>size</a:t>
            </a:r>
            <a:r>
              <a:rPr lang="en-US" altLang="zh-CN" sz="2800" dirty="0">
                <a:latin typeface="Tahoma" panose="020B0604030504040204" pitchFamily="34" charset="0"/>
              </a:rPr>
              <a:t>”</a:t>
            </a:r>
            <a:r>
              <a:rPr lang="en-US" altLang="zh-CN" sz="2800" dirty="0"/>
              <a:t> of the input. </a:t>
            </a:r>
            <a:endParaRPr lang="en-US" altLang="zh-CN" sz="2800" dirty="0"/>
          </a:p>
          <a:p>
            <a:pPr eaLnBrk="1" hangingPunct="1">
              <a:lnSpc>
                <a:spcPct val="140000"/>
              </a:lnSpc>
              <a:spcBef>
                <a:spcPct val="0"/>
              </a:spcBef>
            </a:pPr>
            <a:r>
              <a:rPr lang="en-US" altLang="zh-CN" sz="2800" dirty="0"/>
              <a:t>Running time is expressed as </a:t>
            </a:r>
            <a:r>
              <a:rPr lang="en-US" altLang="zh-CN" sz="2800" dirty="0">
                <a:solidFill>
                  <a:schemeClr val="tx2"/>
                </a:solidFill>
              </a:rPr>
              <a:t>T(n): </a:t>
            </a:r>
            <a:r>
              <a:rPr lang="en-US" altLang="zh-CN" sz="2800" dirty="0"/>
              <a:t>function </a:t>
            </a:r>
            <a:r>
              <a:rPr lang="en-US" altLang="zh-CN" sz="2800" dirty="0">
                <a:solidFill>
                  <a:schemeClr val="tx2"/>
                </a:solidFill>
              </a:rPr>
              <a:t>T</a:t>
            </a:r>
            <a:r>
              <a:rPr lang="en-US" altLang="zh-CN" sz="2800" dirty="0">
                <a:solidFill>
                  <a:schemeClr val="hlink"/>
                </a:solidFill>
              </a:rPr>
              <a:t> </a:t>
            </a:r>
            <a:r>
              <a:rPr lang="en-US" altLang="zh-CN" sz="2800" dirty="0"/>
              <a:t>on input size </a:t>
            </a:r>
            <a:r>
              <a:rPr lang="en-US" altLang="zh-CN" sz="2800" dirty="0">
                <a:solidFill>
                  <a:schemeClr val="tx2"/>
                </a:solidFill>
              </a:rPr>
              <a:t>n</a:t>
            </a:r>
            <a:r>
              <a:rPr lang="en-US" altLang="zh-CN" sz="2800" i="1" dirty="0"/>
              <a:t> </a:t>
            </a:r>
            <a:r>
              <a:rPr lang="en-US" altLang="zh-CN" sz="2800" dirty="0">
                <a:latin typeface="Helvetica" pitchFamily="34" charset="0"/>
              </a:rPr>
              <a:t>——</a:t>
            </a:r>
            <a:r>
              <a:rPr lang="en-US" altLang="zh-CN" sz="2800" dirty="0">
                <a:solidFill>
                  <a:schemeClr val="folHlink"/>
                </a:solidFill>
                <a:latin typeface="Helvetica" pitchFamily="34" charset="0"/>
              </a:rPr>
              <a:t> </a:t>
            </a:r>
            <a:r>
              <a:rPr lang="en-US" altLang="zh-CN" sz="2800" dirty="0">
                <a:solidFill>
                  <a:schemeClr val="tx2"/>
                </a:solidFill>
              </a:rPr>
              <a:t>Time Complexity</a:t>
            </a:r>
            <a:endParaRPr lang="en-US" altLang="zh-CN" sz="2800" dirty="0">
              <a:solidFill>
                <a:schemeClr val="tx2"/>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2" name="Rectangle 2"/>
          <p:cNvSpPr>
            <a:spLocks noGrp="1"/>
          </p:cNvSpPr>
          <p:nvPr>
            <p:ph type="title"/>
          </p:nvPr>
        </p:nvSpPr>
        <p:spPr>
          <a:xfrm>
            <a:off x="685800" y="-76200"/>
            <a:ext cx="6870700" cy="1600200"/>
          </a:xfrm>
        </p:spPr>
        <p:txBody>
          <a:bodyPr vert="horz" wrap="square" lIns="91440" tIns="45720" rIns="91440" bIns="45720" anchor="b" anchorCtr="0"/>
          <a:p>
            <a:pPr eaLnBrk="1" hangingPunct="1"/>
            <a:r>
              <a:rPr lang="en-US" altLang="zh-CN" dirty="0"/>
              <a:t>What to Analyze</a:t>
            </a:r>
            <a:endParaRPr lang="en-US" altLang="zh-CN" dirty="0"/>
          </a:p>
        </p:txBody>
      </p:sp>
      <p:sp>
        <p:nvSpPr>
          <p:cNvPr id="35843" name="Rectangle 3"/>
          <p:cNvSpPr>
            <a:spLocks noGrp="1"/>
          </p:cNvSpPr>
          <p:nvPr>
            <p:ph idx="1"/>
          </p:nvPr>
        </p:nvSpPr>
        <p:spPr>
          <a:xfrm>
            <a:off x="685800" y="1447800"/>
            <a:ext cx="7696200" cy="4572000"/>
          </a:xfrm>
        </p:spPr>
        <p:txBody>
          <a:bodyPr vert="horz" wrap="square" lIns="91440" tIns="45720" rIns="91440" bIns="45720" anchor="t" anchorCtr="0"/>
          <a:p>
            <a:pPr eaLnBrk="1" hangingPunct="1">
              <a:lnSpc>
                <a:spcPct val="80000"/>
              </a:lnSpc>
            </a:pPr>
            <a:endParaRPr lang="en-US" altLang="zh-CN" sz="2800" dirty="0"/>
          </a:p>
          <a:p>
            <a:pPr eaLnBrk="1" hangingPunct="1">
              <a:lnSpc>
                <a:spcPct val="80000"/>
              </a:lnSpc>
            </a:pPr>
            <a:r>
              <a:rPr lang="en-US" altLang="zh-CN" sz="2800" dirty="0"/>
              <a:t>On which input instances should the algorithm’s performance be judged?</a:t>
            </a:r>
            <a:endParaRPr lang="en-US" altLang="zh-CN" sz="2800" dirty="0"/>
          </a:p>
          <a:p>
            <a:pPr lvl="1" eaLnBrk="1" hangingPunct="1">
              <a:lnSpc>
                <a:spcPct val="80000"/>
              </a:lnSpc>
            </a:pPr>
            <a:endParaRPr lang="en-US" altLang="zh-CN" sz="2400" dirty="0"/>
          </a:p>
          <a:p>
            <a:pPr lvl="1" eaLnBrk="1" hangingPunct="1">
              <a:lnSpc>
                <a:spcPct val="80000"/>
              </a:lnSpc>
            </a:pPr>
            <a:r>
              <a:rPr lang="en-US" altLang="zh-CN" sz="2400" dirty="0"/>
              <a:t>Best case:</a:t>
            </a:r>
            <a:endParaRPr lang="en-US" altLang="zh-CN" sz="2400" dirty="0"/>
          </a:p>
          <a:p>
            <a:pPr lvl="2" eaLnBrk="1" hangingPunct="1">
              <a:lnSpc>
                <a:spcPct val="80000"/>
              </a:lnSpc>
            </a:pPr>
            <a:r>
              <a:rPr lang="en-US" altLang="zh-CN" sz="2000" dirty="0"/>
              <a:t>Seems unrealistic</a:t>
            </a:r>
            <a:endParaRPr lang="en-US" altLang="zh-CN" sz="2000" dirty="0"/>
          </a:p>
          <a:p>
            <a:pPr lvl="1" eaLnBrk="1" hangingPunct="1">
              <a:lnSpc>
                <a:spcPct val="80000"/>
              </a:lnSpc>
            </a:pPr>
            <a:r>
              <a:rPr lang="en-US" altLang="zh-CN" sz="2400" dirty="0"/>
              <a:t>Average case </a:t>
            </a:r>
            <a:r>
              <a:rPr lang="en-US" altLang="zh-CN" sz="2400" b="1" i="1" dirty="0">
                <a:latin typeface="Times New Roman" panose="02020603050405020304" pitchFamily="18" charset="0"/>
              </a:rPr>
              <a:t>T</a:t>
            </a:r>
            <a:r>
              <a:rPr lang="en-US" altLang="zh-CN" sz="2400" b="1" baseline="-25000" dirty="0">
                <a:latin typeface="Times New Roman" panose="02020603050405020304" pitchFamily="18" charset="0"/>
              </a:rPr>
              <a:t>avg</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a:t>
            </a:r>
            <a:r>
              <a:rPr lang="en-US" altLang="zh-CN" sz="2400" dirty="0"/>
              <a:t> :</a:t>
            </a:r>
            <a:endParaRPr lang="en-US" altLang="zh-CN" sz="2400" dirty="0"/>
          </a:p>
          <a:p>
            <a:pPr lvl="2" eaLnBrk="1" hangingPunct="1">
              <a:lnSpc>
                <a:spcPct val="80000"/>
              </a:lnSpc>
            </a:pPr>
            <a:r>
              <a:rPr lang="en-US" altLang="zh-CN" sz="2000" dirty="0"/>
              <a:t>Real world distributions difficult to predict</a:t>
            </a:r>
            <a:endParaRPr lang="en-US" altLang="zh-CN" sz="2000" dirty="0"/>
          </a:p>
          <a:p>
            <a:pPr lvl="1" eaLnBrk="1" hangingPunct="1">
              <a:lnSpc>
                <a:spcPct val="80000"/>
              </a:lnSpc>
            </a:pPr>
            <a:r>
              <a:rPr lang="en-US" altLang="zh-CN" sz="2400" dirty="0"/>
              <a:t> </a:t>
            </a:r>
            <a:r>
              <a:rPr lang="en-US" altLang="zh-CN" sz="2400" dirty="0">
                <a:solidFill>
                  <a:srgbClr val="FF3300"/>
                </a:solidFill>
              </a:rPr>
              <a:t>Worst case </a:t>
            </a:r>
            <a:r>
              <a:rPr lang="en-US" altLang="zh-CN" sz="2400" b="1" i="1" dirty="0">
                <a:latin typeface="Times New Roman" panose="02020603050405020304" pitchFamily="18" charset="0"/>
              </a:rPr>
              <a:t>T</a:t>
            </a:r>
            <a:r>
              <a:rPr lang="en-US" altLang="zh-CN" sz="2400" b="1" baseline="-25000" dirty="0">
                <a:latin typeface="Times New Roman" panose="02020603050405020304" pitchFamily="18" charset="0"/>
              </a:rPr>
              <a:t>worst</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a:t>
            </a:r>
            <a:r>
              <a:rPr lang="en-US" altLang="zh-CN" sz="2400" dirty="0"/>
              <a:t> </a:t>
            </a:r>
            <a:r>
              <a:rPr lang="en-US" altLang="zh-CN" sz="2400" dirty="0">
                <a:solidFill>
                  <a:srgbClr val="FF3300"/>
                </a:solidFill>
              </a:rPr>
              <a:t>:</a:t>
            </a:r>
            <a:endParaRPr lang="en-US" altLang="zh-CN" sz="2400" dirty="0">
              <a:solidFill>
                <a:srgbClr val="FF3300"/>
              </a:solidFill>
            </a:endParaRPr>
          </a:p>
          <a:p>
            <a:pPr lvl="2" eaLnBrk="1" hangingPunct="1">
              <a:lnSpc>
                <a:spcPct val="80000"/>
              </a:lnSpc>
            </a:pPr>
            <a:r>
              <a:rPr lang="en-US" altLang="zh-CN" sz="2000" dirty="0"/>
              <a:t>Gives an absolute guarantee</a:t>
            </a:r>
            <a:endParaRPr lang="en-US" altLang="zh-CN" sz="2000" dirty="0"/>
          </a:p>
          <a:p>
            <a:pPr lvl="2" eaLnBrk="1" hangingPunct="1">
              <a:lnSpc>
                <a:spcPct val="80000"/>
              </a:lnSpc>
            </a:pPr>
            <a:r>
              <a:rPr lang="en-US" altLang="zh-CN" sz="2000" b="1" dirty="0"/>
              <a:t>We will use the worst-case measure.</a:t>
            </a:r>
            <a:endParaRPr lang="en-US" altLang="zh-CN" sz="2000" b="1" dirty="0"/>
          </a:p>
          <a:p>
            <a:pPr lvl="1" eaLnBrk="1" hangingPunct="1">
              <a:lnSpc>
                <a:spcPct val="80000"/>
              </a:lnSpc>
              <a:buNone/>
            </a:pPr>
            <a:endParaRPr lang="en-US" altLang="zh-C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6866" name="Rectangle 2"/>
          <p:cNvSpPr>
            <a:spLocks noGrp="1"/>
          </p:cNvSpPr>
          <p:nvPr>
            <p:ph type="title"/>
          </p:nvPr>
        </p:nvSpPr>
        <p:spPr/>
        <p:txBody>
          <a:bodyPr vert="horz" wrap="square" lIns="91440" tIns="45720" rIns="91440" bIns="45720" anchor="b" anchorCtr="0"/>
          <a:p>
            <a:pPr eaLnBrk="1" hangingPunct="1"/>
            <a:r>
              <a:rPr lang="en-US" altLang="zh-CN" dirty="0"/>
              <a:t>Assumptions:</a:t>
            </a:r>
            <a:endParaRPr lang="en-US" altLang="zh-CN" dirty="0"/>
          </a:p>
        </p:txBody>
      </p:sp>
      <p:sp>
        <p:nvSpPr>
          <p:cNvPr id="36867" name="Rectangle 3"/>
          <p:cNvSpPr>
            <a:spLocks noGrp="1"/>
          </p:cNvSpPr>
          <p:nvPr>
            <p:ph idx="1"/>
          </p:nvPr>
        </p:nvSpPr>
        <p:spPr>
          <a:xfrm>
            <a:off x="685800" y="1828800"/>
            <a:ext cx="7924800" cy="3657600"/>
          </a:xfrm>
        </p:spPr>
        <p:txBody>
          <a:bodyPr vert="horz" wrap="square" lIns="91440" tIns="45720" rIns="91440" bIns="45720" anchor="t" anchorCtr="0"/>
          <a:p>
            <a:pPr eaLnBrk="1" hangingPunct="1"/>
            <a:r>
              <a:rPr lang="en-US" altLang="zh-CN" dirty="0">
                <a:sym typeface="Wingdings" panose="05000000000000000000" pitchFamily="2" charset="2"/>
              </a:rPr>
              <a:t>instructions are executed sequentially</a:t>
            </a:r>
            <a:endParaRPr lang="en-US" altLang="zh-CN" dirty="0">
              <a:sym typeface="Wingdings" panose="05000000000000000000" pitchFamily="2" charset="2"/>
            </a:endParaRPr>
          </a:p>
          <a:p>
            <a:pPr eaLnBrk="1" hangingPunct="1"/>
            <a:r>
              <a:rPr lang="en-US" altLang="zh-CN" dirty="0">
                <a:sym typeface="Wingdings" panose="05000000000000000000" pitchFamily="2" charset="2"/>
              </a:rPr>
              <a:t>each instruction is </a:t>
            </a:r>
            <a:r>
              <a:rPr lang="en-US" altLang="zh-CN" dirty="0">
                <a:solidFill>
                  <a:srgbClr val="FF3300"/>
                </a:solidFill>
                <a:sym typeface="Wingdings" panose="05000000000000000000" pitchFamily="2" charset="2"/>
              </a:rPr>
              <a:t>simple</a:t>
            </a:r>
            <a:r>
              <a:rPr lang="en-US" altLang="zh-CN" dirty="0">
                <a:sym typeface="Wingdings" panose="05000000000000000000" pitchFamily="2" charset="2"/>
              </a:rPr>
              <a:t>, and takes exactly </a:t>
            </a:r>
            <a:r>
              <a:rPr lang="en-US" altLang="zh-CN" dirty="0">
                <a:solidFill>
                  <a:srgbClr val="FF3300"/>
                </a:solidFill>
                <a:sym typeface="Wingdings" panose="05000000000000000000" pitchFamily="2" charset="2"/>
              </a:rPr>
              <a:t>one time unit</a:t>
            </a:r>
            <a:endParaRPr lang="en-US" altLang="zh-CN" dirty="0">
              <a:solidFill>
                <a:srgbClr val="FF3300"/>
              </a:solidFill>
              <a:sym typeface="Wingdings" panose="05000000000000000000" pitchFamily="2" charset="2"/>
            </a:endParaRPr>
          </a:p>
          <a:p>
            <a:pPr eaLnBrk="1" hangingPunct="1"/>
            <a:r>
              <a:rPr lang="en-US" altLang="zh-CN" dirty="0">
                <a:sym typeface="Wingdings" panose="05000000000000000000" pitchFamily="2" charset="2"/>
              </a:rPr>
              <a:t>integer size is fixed and we have infinite memory</a:t>
            </a:r>
            <a:endParaRPr lang="en-US" altLang="zh-CN" dirty="0"/>
          </a:p>
          <a:p>
            <a:pPr eaLnBrk="1" hangingPunct="1"/>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9395" name="Text Box 3"/>
          <p:cNvSpPr txBox="1"/>
          <p:nvPr/>
        </p:nvSpPr>
        <p:spPr>
          <a:xfrm>
            <a:off x="412750" y="533400"/>
            <a:ext cx="48450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292100" lvl="0" indent="-292100" eaLnBrk="1" hangingPunct="1">
              <a:spcBef>
                <a:spcPct val="50000"/>
              </a:spcBef>
              <a:buNone/>
            </a:pPr>
            <a:r>
              <a:rPr lang="en-US" altLang="zh-CN" sz="2400" b="1" dirty="0">
                <a:ea typeface="MS Hei" pitchFamily="49" charset="-122"/>
              </a:rPr>
              <a:t>Example1. Matrix addition</a:t>
            </a:r>
            <a:endParaRPr lang="en-US" altLang="zh-CN" sz="2000" b="1" dirty="0">
              <a:ea typeface="MS Hei" pitchFamily="49" charset="-122"/>
            </a:endParaRPr>
          </a:p>
        </p:txBody>
      </p:sp>
      <p:sp>
        <p:nvSpPr>
          <p:cNvPr id="38915" name="AutoShape 5"/>
          <p:cNvSpPr/>
          <p:nvPr/>
        </p:nvSpPr>
        <p:spPr>
          <a:xfrm>
            <a:off x="609600" y="1219200"/>
            <a:ext cx="7848600" cy="3886200"/>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8916" name="Text Box 6"/>
          <p:cNvSpPr txBox="1"/>
          <p:nvPr/>
        </p:nvSpPr>
        <p:spPr>
          <a:xfrm>
            <a:off x="762000" y="1360488"/>
            <a:ext cx="5486400" cy="3251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dirty="0">
                <a:solidFill>
                  <a:schemeClr val="hlink"/>
                </a:solidFill>
              </a:rPr>
              <a:t>void</a:t>
            </a:r>
            <a:r>
              <a:rPr lang="en-US" altLang="zh-CN" sz="1800" b="1" dirty="0"/>
              <a:t>  add ( </a:t>
            </a:r>
            <a:r>
              <a:rPr lang="en-US" altLang="zh-CN" sz="1800" b="1" dirty="0">
                <a:solidFill>
                  <a:schemeClr val="hlink"/>
                </a:solidFill>
              </a:rPr>
              <a:t>int</a:t>
            </a:r>
            <a:r>
              <a:rPr lang="en-US" altLang="zh-CN" sz="1800" b="1" dirty="0"/>
              <a:t>  a[ ][ MAX_SIZE ], </a:t>
            </a:r>
            <a:endParaRPr lang="en-US" altLang="zh-CN" sz="1800" b="1" dirty="0"/>
          </a:p>
          <a:p>
            <a:pPr marL="0" lvl="0" indent="0" eaLnBrk="1" hangingPunct="1">
              <a:spcBef>
                <a:spcPct val="0"/>
              </a:spcBef>
              <a:buNone/>
            </a:pPr>
            <a:r>
              <a:rPr lang="en-US" altLang="zh-CN" sz="1800" b="1" dirty="0"/>
              <a:t>                   </a:t>
            </a:r>
            <a:r>
              <a:rPr lang="en-US" altLang="zh-CN" sz="1800" b="1" dirty="0">
                <a:solidFill>
                  <a:schemeClr val="hlink"/>
                </a:solidFill>
              </a:rPr>
              <a:t>int</a:t>
            </a:r>
            <a:r>
              <a:rPr lang="en-US" altLang="zh-CN" sz="1800" b="1" dirty="0"/>
              <a:t>  b[ ][ MAX_SIZE ], </a:t>
            </a:r>
            <a:endParaRPr lang="en-US" altLang="zh-CN" sz="1800" b="1" dirty="0"/>
          </a:p>
          <a:p>
            <a:pPr marL="0" lvl="0" indent="0" eaLnBrk="1" hangingPunct="1">
              <a:spcBef>
                <a:spcPct val="0"/>
              </a:spcBef>
              <a:buNone/>
            </a:pPr>
            <a:r>
              <a:rPr lang="en-US" altLang="zh-CN" sz="1800" b="1" dirty="0"/>
              <a:t>                   </a:t>
            </a:r>
            <a:r>
              <a:rPr lang="en-US" altLang="zh-CN" sz="1800" b="1" dirty="0">
                <a:solidFill>
                  <a:schemeClr val="hlink"/>
                </a:solidFill>
              </a:rPr>
              <a:t>int</a:t>
            </a:r>
            <a:r>
              <a:rPr lang="en-US" altLang="zh-CN" sz="1800" b="1" dirty="0"/>
              <a:t>  c[ ][ MAX_SIZE ],</a:t>
            </a:r>
            <a:endParaRPr lang="en-US" altLang="zh-CN" sz="1800" b="1" dirty="0"/>
          </a:p>
          <a:p>
            <a:pPr marL="0" lvl="0" indent="0" eaLnBrk="1" hangingPunct="1">
              <a:spcBef>
                <a:spcPct val="0"/>
              </a:spcBef>
              <a:buNone/>
            </a:pPr>
            <a:r>
              <a:rPr lang="en-US" altLang="zh-CN" sz="1800" b="1" dirty="0"/>
              <a:t>                   </a:t>
            </a:r>
            <a:r>
              <a:rPr lang="en-US" altLang="zh-CN" sz="1800" b="1" dirty="0">
                <a:solidFill>
                  <a:schemeClr val="hlink"/>
                </a:solidFill>
              </a:rPr>
              <a:t>int</a:t>
            </a:r>
            <a:r>
              <a:rPr lang="en-US" altLang="zh-CN" sz="1800" b="1" dirty="0"/>
              <a:t>  rows,  </a:t>
            </a:r>
            <a:r>
              <a:rPr lang="en-US" altLang="zh-CN" sz="1800" b="1" dirty="0">
                <a:solidFill>
                  <a:schemeClr val="hlink"/>
                </a:solidFill>
              </a:rPr>
              <a:t>int</a:t>
            </a:r>
            <a:r>
              <a:rPr lang="en-US" altLang="zh-CN" sz="1800" b="1" dirty="0"/>
              <a:t>  cols )</a:t>
            </a:r>
            <a:endParaRPr lang="en-US" altLang="zh-CN" sz="1800" b="1" dirty="0"/>
          </a:p>
          <a:p>
            <a:pPr marL="0" lvl="0" indent="0" eaLnBrk="1" hangingPunct="1">
              <a:spcBef>
                <a:spcPct val="0"/>
              </a:spcBef>
              <a:spcAft>
                <a:spcPct val="30000"/>
              </a:spcAft>
              <a:buNone/>
            </a:pPr>
            <a:r>
              <a:rPr lang="en-US" altLang="zh-CN" sz="1800" b="1" dirty="0"/>
              <a:t>{</a:t>
            </a:r>
            <a:endParaRPr lang="en-US" altLang="zh-CN" sz="1800" b="1" dirty="0"/>
          </a:p>
          <a:p>
            <a:pPr marL="0" lvl="0" indent="0" eaLnBrk="1" hangingPunct="1">
              <a:spcBef>
                <a:spcPct val="0"/>
              </a:spcBef>
              <a:spcAft>
                <a:spcPct val="30000"/>
              </a:spcAft>
              <a:buNone/>
            </a:pPr>
            <a:r>
              <a:rPr lang="en-US" altLang="zh-CN" sz="1800" b="1" dirty="0"/>
              <a:t>   </a:t>
            </a:r>
            <a:r>
              <a:rPr lang="en-US" altLang="zh-CN" sz="1800" b="1" dirty="0">
                <a:solidFill>
                  <a:schemeClr val="hlink"/>
                </a:solidFill>
              </a:rPr>
              <a:t> int</a:t>
            </a:r>
            <a:r>
              <a:rPr lang="en-US" altLang="zh-CN" sz="1800" b="1" dirty="0"/>
              <a:t>  i,  j ;</a:t>
            </a:r>
            <a:endParaRPr lang="en-US" altLang="zh-CN" sz="1800" b="1" dirty="0"/>
          </a:p>
          <a:p>
            <a:pPr marL="0" lvl="0" indent="0" eaLnBrk="1" hangingPunct="1">
              <a:spcBef>
                <a:spcPct val="0"/>
              </a:spcBef>
              <a:spcAft>
                <a:spcPct val="30000"/>
              </a:spcAft>
              <a:buNone/>
            </a:pPr>
            <a:r>
              <a:rPr lang="en-US" altLang="zh-CN" sz="1800" b="1" dirty="0"/>
              <a:t>    </a:t>
            </a:r>
            <a:r>
              <a:rPr lang="en-US" altLang="zh-CN" sz="1800" b="1" dirty="0">
                <a:solidFill>
                  <a:schemeClr val="hlink"/>
                </a:solidFill>
              </a:rPr>
              <a:t>for</a:t>
            </a:r>
            <a:r>
              <a:rPr lang="en-US" altLang="zh-CN" sz="1800" b="1" dirty="0"/>
              <a:t> ( i = 0; i &lt; rows; i++ )</a:t>
            </a:r>
            <a:endParaRPr lang="en-US" altLang="zh-CN" sz="1800" b="1" dirty="0"/>
          </a:p>
          <a:p>
            <a:pPr marL="0" lvl="0" indent="0" eaLnBrk="1" hangingPunct="1">
              <a:spcBef>
                <a:spcPct val="0"/>
              </a:spcBef>
              <a:spcAft>
                <a:spcPct val="30000"/>
              </a:spcAft>
              <a:buNone/>
            </a:pPr>
            <a:r>
              <a:rPr lang="en-US" altLang="zh-CN" sz="1800" b="1" dirty="0"/>
              <a:t>          </a:t>
            </a:r>
            <a:r>
              <a:rPr lang="en-US" altLang="zh-CN" sz="1800" b="1" dirty="0">
                <a:solidFill>
                  <a:schemeClr val="hlink"/>
                </a:solidFill>
              </a:rPr>
              <a:t>for</a:t>
            </a:r>
            <a:r>
              <a:rPr lang="en-US" altLang="zh-CN" sz="1800" b="1" dirty="0"/>
              <a:t> ( j = 0; j &lt; cols; j++ )</a:t>
            </a:r>
            <a:endParaRPr lang="en-US" altLang="zh-CN" sz="1800" b="1" dirty="0"/>
          </a:p>
          <a:p>
            <a:pPr marL="0" lvl="0" indent="0" eaLnBrk="1" hangingPunct="1">
              <a:spcBef>
                <a:spcPct val="0"/>
              </a:spcBef>
              <a:spcAft>
                <a:spcPct val="30000"/>
              </a:spcAft>
              <a:buNone/>
            </a:pPr>
            <a:r>
              <a:rPr lang="en-US" altLang="zh-CN" sz="1800" b="1" dirty="0"/>
              <a:t>                c[ i ][ j ] = a[ i ][ j ] +b[ i ][ j ];</a:t>
            </a:r>
            <a:endParaRPr lang="en-US" altLang="zh-CN" sz="1800" b="1" dirty="0"/>
          </a:p>
          <a:p>
            <a:pPr marL="0" lvl="0" indent="0" eaLnBrk="1" hangingPunct="1">
              <a:spcBef>
                <a:spcPct val="0"/>
              </a:spcBef>
              <a:spcAft>
                <a:spcPct val="30000"/>
              </a:spcAft>
              <a:buNone/>
            </a:pPr>
            <a:r>
              <a:rPr lang="en-US" altLang="zh-CN" sz="1800" b="1" dirty="0"/>
              <a:t>}</a:t>
            </a:r>
            <a:endParaRPr lang="en-US" altLang="zh-CN" sz="1800" b="1" dirty="0"/>
          </a:p>
        </p:txBody>
      </p:sp>
      <p:sp>
        <p:nvSpPr>
          <p:cNvPr id="59399" name="Text Box 7"/>
          <p:cNvSpPr txBox="1"/>
          <p:nvPr/>
        </p:nvSpPr>
        <p:spPr>
          <a:xfrm>
            <a:off x="5029200" y="3168650"/>
            <a:ext cx="3200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dirty="0">
                <a:solidFill>
                  <a:srgbClr val="008000"/>
                </a:solidFill>
                <a:latin typeface="Arial" panose="020B0604020202020204" pitchFamily="34" charset="0"/>
              </a:rPr>
              <a:t>/*1+ rows+1 + rows */</a:t>
            </a:r>
            <a:endParaRPr lang="en-US" altLang="zh-CN" sz="2000" b="1" dirty="0">
              <a:solidFill>
                <a:srgbClr val="008000"/>
              </a:solidFill>
              <a:latin typeface="Arial" panose="020B0604020202020204" pitchFamily="34" charset="0"/>
            </a:endParaRPr>
          </a:p>
        </p:txBody>
      </p:sp>
      <p:sp>
        <p:nvSpPr>
          <p:cNvPr id="59400" name="Rectangle 8"/>
          <p:cNvSpPr/>
          <p:nvPr/>
        </p:nvSpPr>
        <p:spPr>
          <a:xfrm>
            <a:off x="5410200" y="3549650"/>
            <a:ext cx="38100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dirty="0">
                <a:solidFill>
                  <a:srgbClr val="008000"/>
                </a:solidFill>
                <a:latin typeface="Arial" panose="020B0604020202020204" pitchFamily="34" charset="0"/>
              </a:rPr>
              <a:t>/* rows(1+cols+1+cols) */ </a:t>
            </a:r>
            <a:endParaRPr lang="en-US" altLang="zh-CN" sz="2000" b="1" dirty="0">
              <a:solidFill>
                <a:srgbClr val="008000"/>
              </a:solidFill>
              <a:latin typeface="Arial" panose="020B0604020202020204" pitchFamily="34" charset="0"/>
            </a:endParaRPr>
          </a:p>
        </p:txBody>
      </p:sp>
      <p:sp>
        <p:nvSpPr>
          <p:cNvPr id="59401" name="Rectangle 9"/>
          <p:cNvSpPr/>
          <p:nvPr/>
        </p:nvSpPr>
        <p:spPr>
          <a:xfrm>
            <a:off x="6096000" y="3946525"/>
            <a:ext cx="2743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dirty="0">
                <a:solidFill>
                  <a:srgbClr val="008000"/>
                </a:solidFill>
                <a:latin typeface="Arial" panose="020B0604020202020204" pitchFamily="34" charset="0"/>
              </a:rPr>
              <a:t>/* 2</a:t>
            </a:r>
            <a:r>
              <a:rPr lang="en-US" altLang="zh-CN" sz="1800" dirty="0"/>
              <a:t> </a:t>
            </a:r>
            <a:r>
              <a:rPr lang="en-US" altLang="zh-CN" sz="1800" b="1" dirty="0">
                <a:solidFill>
                  <a:srgbClr val="008000"/>
                </a:solidFill>
                <a:sym typeface="Symbol" panose="05050102010706020507" pitchFamily="18" charset="2"/>
              </a:rPr>
              <a:t></a:t>
            </a:r>
            <a:r>
              <a:rPr lang="en-US" altLang="zh-CN" sz="1800" dirty="0">
                <a:sym typeface="Symbol" panose="05050102010706020507" pitchFamily="18" charset="2"/>
              </a:rPr>
              <a:t> </a:t>
            </a:r>
            <a:r>
              <a:rPr lang="en-US" altLang="zh-CN" sz="2000" b="1" dirty="0">
                <a:solidFill>
                  <a:srgbClr val="008000"/>
                </a:solidFill>
                <a:latin typeface="Arial" panose="020B0604020202020204" pitchFamily="34" charset="0"/>
              </a:rPr>
              <a:t>rows </a:t>
            </a:r>
            <a:r>
              <a:rPr lang="en-US" altLang="zh-CN" sz="2000" b="1" dirty="0">
                <a:solidFill>
                  <a:srgbClr val="008000"/>
                </a:solidFill>
                <a:latin typeface="Arial" panose="020B0604020202020204" pitchFamily="34" charset="0"/>
                <a:sym typeface="Symbol" panose="05050102010706020507" pitchFamily="18" charset="2"/>
              </a:rPr>
              <a:t> </a:t>
            </a:r>
            <a:r>
              <a:rPr lang="en-US" altLang="zh-CN" sz="2000" b="1" dirty="0">
                <a:solidFill>
                  <a:srgbClr val="008000"/>
                </a:solidFill>
                <a:latin typeface="Arial" panose="020B0604020202020204" pitchFamily="34" charset="0"/>
              </a:rPr>
              <a:t>cols */  </a:t>
            </a:r>
            <a:endParaRPr lang="en-US" altLang="zh-CN" sz="2000" b="1" dirty="0">
              <a:solidFill>
                <a:srgbClr val="008000"/>
              </a:solidFill>
              <a:latin typeface="Arial" panose="020B0604020202020204" pitchFamily="34" charset="0"/>
            </a:endParaRPr>
          </a:p>
        </p:txBody>
      </p:sp>
      <p:sp>
        <p:nvSpPr>
          <p:cNvPr id="59402" name="Rectangle 10"/>
          <p:cNvSpPr/>
          <p:nvPr/>
        </p:nvSpPr>
        <p:spPr>
          <a:xfrm>
            <a:off x="1524000" y="5867400"/>
            <a:ext cx="5410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a:t>
            </a:r>
            <a:r>
              <a:rPr lang="en-US" altLang="zh-CN" sz="2000" b="1" dirty="0">
                <a:latin typeface="Arial" panose="020B0604020202020204" pitchFamily="34" charset="0"/>
              </a:rPr>
              <a:t>rows, cols</a:t>
            </a:r>
            <a:r>
              <a:rPr lang="en-US" altLang="zh-CN" sz="2000" b="1" dirty="0">
                <a:latin typeface="Times New Roman" panose="02020603050405020304" pitchFamily="18" charset="0"/>
              </a:rPr>
              <a:t> ) =  4 </a:t>
            </a:r>
            <a:r>
              <a:rPr lang="en-US" altLang="zh-CN" sz="2000" b="1" dirty="0">
                <a:latin typeface="Arial" panose="020B0604020202020204" pitchFamily="34" charset="0"/>
              </a:rPr>
              <a:t>rows </a:t>
            </a:r>
            <a:r>
              <a:rPr lang="en-US" altLang="zh-CN" sz="2000" b="1" dirty="0">
                <a:latin typeface="Arial" panose="020B0604020202020204" pitchFamily="34" charset="0"/>
                <a:sym typeface="Symbol" panose="05050102010706020507" pitchFamily="18" charset="2"/>
              </a:rPr>
              <a:t></a:t>
            </a:r>
            <a:r>
              <a:rPr lang="en-US" altLang="zh-CN" sz="2000" b="1" dirty="0">
                <a:latin typeface="Arial" panose="020B0604020202020204" pitchFamily="34" charset="0"/>
              </a:rPr>
              <a:t> cols</a:t>
            </a:r>
            <a:r>
              <a:rPr lang="en-US" altLang="zh-CN" sz="2000" b="1" dirty="0">
                <a:latin typeface="Times New Roman" panose="02020603050405020304" pitchFamily="18" charset="0"/>
              </a:rPr>
              <a:t> </a:t>
            </a:r>
            <a:r>
              <a:rPr lang="en-US" altLang="zh-CN" sz="2000" b="1" dirty="0">
                <a:latin typeface="Arial" panose="020B0604020202020204" pitchFamily="34" charset="0"/>
              </a:rPr>
              <a:t>+</a:t>
            </a:r>
            <a:r>
              <a:rPr lang="en-US" altLang="zh-CN" sz="2000" b="1" dirty="0">
                <a:latin typeface="Times New Roman" panose="02020603050405020304" pitchFamily="18" charset="0"/>
              </a:rPr>
              <a:t> 4</a:t>
            </a:r>
            <a:r>
              <a:rPr lang="en-US" altLang="zh-CN" sz="2000" b="1" dirty="0">
                <a:latin typeface="Arial" panose="020B0604020202020204" pitchFamily="34" charset="0"/>
              </a:rPr>
              <a:t>rows</a:t>
            </a:r>
            <a:r>
              <a:rPr lang="en-US" altLang="zh-CN" sz="2000" b="1" dirty="0">
                <a:latin typeface="Times New Roman" panose="02020603050405020304" pitchFamily="18" charset="0"/>
              </a:rPr>
              <a:t> </a:t>
            </a:r>
            <a:r>
              <a:rPr lang="en-US" altLang="zh-CN" sz="2000" b="1" dirty="0">
                <a:latin typeface="Arial" panose="020B0604020202020204" pitchFamily="34" charset="0"/>
              </a:rPr>
              <a:t>+</a:t>
            </a:r>
            <a:r>
              <a:rPr lang="en-US" altLang="zh-CN" sz="2000" b="1" dirty="0">
                <a:latin typeface="Times New Roman" panose="02020603050405020304" pitchFamily="18" charset="0"/>
              </a:rPr>
              <a:t> 2</a:t>
            </a:r>
            <a:endParaRPr lang="en-US" altLang="zh-CN" sz="2000" b="1" dirty="0">
              <a:latin typeface="Times New Roman" panose="02020603050405020304" pitchFamily="18" charset="0"/>
            </a:endParaRPr>
          </a:p>
        </p:txBody>
      </p:sp>
      <p:sp>
        <p:nvSpPr>
          <p:cNvPr id="59403" name="Oval 11"/>
          <p:cNvSpPr/>
          <p:nvPr/>
        </p:nvSpPr>
        <p:spPr>
          <a:xfrm>
            <a:off x="5105400" y="1447800"/>
            <a:ext cx="3200400" cy="1600200"/>
          </a:xfrm>
          <a:prstGeom prst="ellipse">
            <a:avLst/>
          </a:prstGeom>
          <a:gradFill rotWithShape="0">
            <a:gsLst>
              <a:gs pos="0">
                <a:srgbClr val="CCFFCC"/>
              </a:gs>
              <a:gs pos="100000">
                <a:srgbClr val="AAD5AA"/>
              </a:gs>
            </a:gsLst>
            <a:path path="shape">
              <a:fillToRect l="50000" t="50000" r="50000" b="50000"/>
            </a:path>
            <a:tileRect/>
          </a:gradFill>
          <a:ln w="9525" cap="flat" cmpd="sng">
            <a:solidFill>
              <a:srgbClr val="CCFF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Q: What shall we do</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 if </a:t>
            </a:r>
            <a:r>
              <a:rPr lang="en-US" altLang="zh-CN" sz="2000" b="1" dirty="0">
                <a:latin typeface="Arial" panose="020B0604020202020204" pitchFamily="34" charset="0"/>
              </a:rPr>
              <a:t>rows &gt;&gt; cols</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59404" name="Oval 12"/>
          <p:cNvSpPr/>
          <p:nvPr/>
        </p:nvSpPr>
        <p:spPr>
          <a:xfrm>
            <a:off x="5334000" y="1600200"/>
            <a:ext cx="2819400" cy="1295400"/>
          </a:xfrm>
          <a:prstGeom prst="ellipse">
            <a:avLst/>
          </a:prstGeom>
          <a:gradFill rotWithShape="0">
            <a:gsLst>
              <a:gs pos="0">
                <a:srgbClr val="CCFFFF"/>
              </a:gs>
              <a:gs pos="100000">
                <a:srgbClr val="AAD5D5"/>
              </a:gs>
            </a:gsLst>
            <a:path path="shape">
              <a:fillToRect l="50000" t="50000" r="50000" b="50000"/>
            </a:path>
            <a:tileRect/>
          </a:gradFill>
          <a:ln w="9525" cap="flat" cmpd="sng">
            <a:solidFill>
              <a:srgbClr val="CCFF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A: Exchange </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000" b="1" dirty="0">
                <a:latin typeface="Arial" panose="020B0604020202020204" pitchFamily="34" charset="0"/>
              </a:rPr>
              <a:t>rows </a:t>
            </a:r>
            <a:r>
              <a:rPr lang="en-US" altLang="zh-CN" sz="2400" b="1" dirty="0">
                <a:latin typeface="Times New Roman" panose="02020603050405020304" pitchFamily="18" charset="0"/>
              </a:rPr>
              <a:t>and</a:t>
            </a:r>
            <a:r>
              <a:rPr lang="en-US" altLang="zh-CN" sz="2000" b="1" dirty="0">
                <a:latin typeface="Arial" panose="020B0604020202020204" pitchFamily="34" charset="0"/>
              </a:rPr>
              <a:t> cols.</a:t>
            </a:r>
            <a:endParaRPr lang="en-US" altLang="zh-CN" sz="2400" b="1" dirty="0">
              <a:latin typeface="Times New Roman" panose="02020603050405020304" pitchFamily="18" charset="0"/>
            </a:endParaRPr>
          </a:p>
        </p:txBody>
      </p:sp>
      <p:grpSp>
        <p:nvGrpSpPr>
          <p:cNvPr id="2" name="Group 13"/>
          <p:cNvGrpSpPr/>
          <p:nvPr/>
        </p:nvGrpSpPr>
        <p:grpSpPr>
          <a:xfrm>
            <a:off x="5486400" y="3048000"/>
            <a:ext cx="1219200" cy="3276600"/>
            <a:chOff x="3600" y="1632"/>
            <a:chExt cx="768" cy="1968"/>
          </a:xfrm>
        </p:grpSpPr>
        <p:sp>
          <p:nvSpPr>
            <p:cNvPr id="38924" name="Oval 14"/>
            <p:cNvSpPr/>
            <p:nvPr/>
          </p:nvSpPr>
          <p:spPr>
            <a:xfrm>
              <a:off x="3600" y="3216"/>
              <a:ext cx="528" cy="384"/>
            </a:xfrm>
            <a:prstGeom prst="ellipse">
              <a:avLst/>
            </a:prstGeom>
            <a:noFill/>
            <a:ln w="38100"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8925" name="Line 15"/>
            <p:cNvSpPr/>
            <p:nvPr/>
          </p:nvSpPr>
          <p:spPr>
            <a:xfrm flipV="1">
              <a:off x="3840" y="1632"/>
              <a:ext cx="528" cy="1584"/>
            </a:xfrm>
            <a:prstGeom prst="line">
              <a:avLst/>
            </a:prstGeom>
            <a:ln w="38100" cap="flat" cmpd="sng">
              <a:solidFill>
                <a:schemeClr val="hlink"/>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wipe(left)">
                                      <p:cBhvr>
                                        <p:cTn id="7" dur="500"/>
                                        <p:tgtEl>
                                          <p:spTgt spid="59395"/>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399"/>
                                        </p:tgtEl>
                                        <p:attrNameLst>
                                          <p:attrName>style.visibility</p:attrName>
                                        </p:attrNameLst>
                                      </p:cBhvr>
                                      <p:to>
                                        <p:strVal val="visible"/>
                                      </p:to>
                                    </p:set>
                                    <p:animEffect transition="in" filter="wipe(left)">
                                      <p:cBhvr>
                                        <p:cTn id="12" dur="500"/>
                                        <p:tgtEl>
                                          <p:spTgt spid="593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400"/>
                                        </p:tgtEl>
                                        <p:attrNameLst>
                                          <p:attrName>style.visibility</p:attrName>
                                        </p:attrNameLst>
                                      </p:cBhvr>
                                      <p:to>
                                        <p:strVal val="visible"/>
                                      </p:to>
                                    </p:set>
                                    <p:animEffect transition="in" filter="wipe(left)">
                                      <p:cBhvr>
                                        <p:cTn id="17" dur="500"/>
                                        <p:tgtEl>
                                          <p:spTgt spid="59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401"/>
                                        </p:tgtEl>
                                        <p:attrNameLst>
                                          <p:attrName>style.visibility</p:attrName>
                                        </p:attrNameLst>
                                      </p:cBhvr>
                                      <p:to>
                                        <p:strVal val="visible"/>
                                      </p:to>
                                    </p:set>
                                    <p:animEffect transition="in" filter="wipe(left)">
                                      <p:cBhvr>
                                        <p:cTn id="22" dur="500"/>
                                        <p:tgtEl>
                                          <p:spTgt spid="5940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59402"/>
                                        </p:tgtEl>
                                        <p:attrNameLst>
                                          <p:attrName>style.visibility</p:attrName>
                                        </p:attrNameLst>
                                      </p:cBhvr>
                                      <p:to>
                                        <p:strVal val="visible"/>
                                      </p:to>
                                    </p:set>
                                    <p:animEffect transition="in" filter="barn(outVertical)">
                                      <p:cBhvr>
                                        <p:cTn id="27" dur="500"/>
                                        <p:tgtEl>
                                          <p:spTgt spid="5940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9403"/>
                                        </p:tgtEl>
                                        <p:attrNameLst>
                                          <p:attrName>style.visibility</p:attrName>
                                        </p:attrNameLst>
                                      </p:cBhvr>
                                      <p:to>
                                        <p:strVal val="visible"/>
                                      </p:to>
                                    </p:set>
                                    <p:animEffect transition="in" filter="box(out)">
                                      <p:cBhvr>
                                        <p:cTn id="32" dur="500"/>
                                        <p:tgtEl>
                                          <p:spTgt spid="59403"/>
                                        </p:tgtEl>
                                      </p:cBhvr>
                                    </p:animEffect>
                                  </p:childTnLst>
                                  <p:subTnLst>
                                    <p:set>
                                      <p:cBhvr override="childStyle">
                                        <p:cTn dur="1" fill="hold" display="0" masterRel="nextClick" afterEffect="1"/>
                                        <p:tgtEl>
                                          <p:spTgt spid="59403"/>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2" name="CHIMES.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upRight)">
                                      <p:cBhvr>
                                        <p:cTn id="37" dur="500"/>
                                        <p:tgtEl>
                                          <p:spTgt spid="2"/>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59404"/>
                                        </p:tgtEl>
                                        <p:attrNameLst>
                                          <p:attrName>style.visibility</p:attrName>
                                        </p:attrNameLst>
                                      </p:cBhvr>
                                      <p:to>
                                        <p:strVal val="visible"/>
                                      </p:to>
                                    </p:set>
                                    <p:animEffect transition="in" filter="wipe(down)">
                                      <p:cBhvr>
                                        <p:cTn id="41" dur="500"/>
                                        <p:tgtEl>
                                          <p:spTgt spid="59404"/>
                                        </p:tgtEl>
                                      </p:cBhvr>
                                    </p:animEffect>
                                  </p:childTnLst>
                                  <p:subTnLst>
                                    <p:audio>
                                      <p:cMediaNode>
                                        <p:cTn display="0" masterRel="sameClick">
                                          <p:stCondLst>
                                            <p:cond evt="begin" delay="0">
                                              <p:tn val="39"/>
                                            </p:cond>
                                          </p:stCondLst>
                                          <p:endCondLst>
                                            <p:cond evt="onStopAudio" delay="0">
                                              <p:tgtEl>
                                                <p:sldTgt/>
                                              </p:tgtEl>
                                            </p:cond>
                                          </p:endCondLst>
                                        </p:cTn>
                                        <p:tgtEl>
                                          <p:sndTgt r:embed="rId3" name="TAD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p:bldP spid="59399" grpId="0"/>
      <p:bldP spid="59400" grpId="0"/>
      <p:bldP spid="59401" grpId="0"/>
      <p:bldP spid="59402" grpId="0"/>
      <p:bldP spid="59403" grpId="0" animBg="1"/>
      <p:bldP spid="59404"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0418" name="Text Box 2"/>
          <p:cNvSpPr txBox="1"/>
          <p:nvPr/>
        </p:nvSpPr>
        <p:spPr>
          <a:xfrm>
            <a:off x="260350" y="955675"/>
            <a:ext cx="827405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292100" lvl="0" indent="-292100" eaLnBrk="1" hangingPunct="1">
              <a:spcBef>
                <a:spcPct val="50000"/>
              </a:spcBef>
              <a:buNone/>
            </a:pPr>
            <a:r>
              <a:rPr lang="en-US" altLang="zh-CN" sz="2400" b="1" dirty="0">
                <a:ea typeface="MS Hei" pitchFamily="49" charset="-122"/>
              </a:rPr>
              <a:t>Example2. Iterative function for summing a list of numbers</a:t>
            </a:r>
            <a:endParaRPr lang="en-US" altLang="zh-CN" sz="2000" b="1" dirty="0">
              <a:ea typeface="MS Hei" pitchFamily="49" charset="-122"/>
            </a:endParaRPr>
          </a:p>
        </p:txBody>
      </p:sp>
      <p:grpSp>
        <p:nvGrpSpPr>
          <p:cNvPr id="2" name="Group 3"/>
          <p:cNvGrpSpPr/>
          <p:nvPr/>
        </p:nvGrpSpPr>
        <p:grpSpPr>
          <a:xfrm>
            <a:off x="1600200" y="2133600"/>
            <a:ext cx="5181600" cy="3276600"/>
            <a:chOff x="2208" y="288"/>
            <a:chExt cx="3264" cy="2064"/>
          </a:xfrm>
        </p:grpSpPr>
        <p:sp>
          <p:nvSpPr>
            <p:cNvPr id="39945" name="AutoShape 4"/>
            <p:cNvSpPr/>
            <p:nvPr/>
          </p:nvSpPr>
          <p:spPr>
            <a:xfrm>
              <a:off x="2208" y="288"/>
              <a:ext cx="3160" cy="2064"/>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9946" name="Text Box 5"/>
            <p:cNvSpPr txBox="1"/>
            <p:nvPr/>
          </p:nvSpPr>
          <p:spPr>
            <a:xfrm>
              <a:off x="2208" y="288"/>
              <a:ext cx="3264" cy="197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dirty="0">
                  <a:solidFill>
                    <a:schemeClr val="hlink"/>
                  </a:solidFill>
                  <a:latin typeface="Arial" panose="020B0604020202020204" pitchFamily="34" charset="0"/>
                </a:rPr>
                <a:t>float</a:t>
              </a:r>
              <a:r>
                <a:rPr lang="en-US" altLang="zh-CN" sz="2000" b="1" dirty="0">
                  <a:latin typeface="Arial" panose="020B0604020202020204" pitchFamily="34" charset="0"/>
                </a:rPr>
                <a:t>  sum ( </a:t>
              </a:r>
              <a:r>
                <a:rPr lang="en-US" altLang="zh-CN" sz="2000" b="1" dirty="0">
                  <a:solidFill>
                    <a:schemeClr val="hlink"/>
                  </a:solidFill>
                  <a:latin typeface="Arial" panose="020B0604020202020204" pitchFamily="34" charset="0"/>
                </a:rPr>
                <a:t>float</a:t>
              </a:r>
              <a:r>
                <a:rPr lang="en-US" altLang="zh-CN" sz="2000" b="1" dirty="0">
                  <a:latin typeface="Arial" panose="020B0604020202020204" pitchFamily="34" charset="0"/>
                </a:rPr>
                <a:t>  list[ ],  </a:t>
              </a:r>
              <a:r>
                <a:rPr lang="en-US" altLang="zh-CN" sz="2000" b="1" dirty="0">
                  <a:solidFill>
                    <a:schemeClr val="hlink"/>
                  </a:solidFill>
                  <a:latin typeface="Arial" panose="020B0604020202020204" pitchFamily="34" charset="0"/>
                </a:rPr>
                <a:t>int</a:t>
              </a:r>
              <a:r>
                <a:rPr lang="en-US" altLang="zh-CN" sz="2000" b="1" dirty="0">
                  <a:latin typeface="Arial" panose="020B0604020202020204" pitchFamily="34" charset="0"/>
                </a:rPr>
                <a:t>  n )</a:t>
              </a:r>
              <a:endParaRPr lang="en-US" altLang="zh-CN" sz="2000" b="1" dirty="0">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  </a:t>
              </a:r>
              <a:r>
                <a:rPr lang="en-US" altLang="zh-CN" sz="2000" b="1" dirty="0">
                  <a:solidFill>
                    <a:srgbClr val="008000"/>
                  </a:solidFill>
                  <a:latin typeface="Arial" panose="020B0604020202020204" pitchFamily="34" charset="0"/>
                </a:rPr>
                <a:t>/* add a list of numbers */</a:t>
              </a:r>
              <a:endParaRPr lang="en-US" altLang="zh-CN" sz="2000" b="1" dirty="0">
                <a:solidFill>
                  <a:srgbClr val="008000"/>
                </a:solidFill>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   </a:t>
              </a:r>
              <a:r>
                <a:rPr lang="en-US" altLang="zh-CN" sz="2000" b="1" dirty="0">
                  <a:solidFill>
                    <a:schemeClr val="hlink"/>
                  </a:solidFill>
                  <a:latin typeface="Arial" panose="020B0604020202020204" pitchFamily="34" charset="0"/>
                </a:rPr>
                <a:t>float</a:t>
              </a:r>
              <a:r>
                <a:rPr lang="en-US" altLang="zh-CN" sz="2000" b="1" dirty="0">
                  <a:latin typeface="Arial" panose="020B0604020202020204" pitchFamily="34" charset="0"/>
                </a:rPr>
                <a:t>  tempsum = 0; </a:t>
              </a:r>
              <a:endParaRPr lang="en-US" altLang="zh-CN" sz="2000" b="1" dirty="0">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   </a:t>
              </a:r>
              <a:r>
                <a:rPr lang="en-US" altLang="zh-CN" sz="2000" b="1" dirty="0">
                  <a:solidFill>
                    <a:schemeClr val="hlink"/>
                  </a:solidFill>
                  <a:latin typeface="Arial" panose="020B0604020202020204" pitchFamily="34" charset="0"/>
                </a:rPr>
                <a:t>int</a:t>
              </a:r>
              <a:r>
                <a:rPr lang="en-US" altLang="zh-CN" sz="2000" b="1" dirty="0">
                  <a:latin typeface="Arial" panose="020B0604020202020204" pitchFamily="34" charset="0"/>
                </a:rPr>
                <a:t>  i ; </a:t>
              </a:r>
              <a:endParaRPr lang="en-US" altLang="zh-CN" sz="2000" b="1" dirty="0">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   </a:t>
              </a:r>
              <a:r>
                <a:rPr lang="en-US" altLang="zh-CN" sz="2000" b="1" dirty="0">
                  <a:solidFill>
                    <a:schemeClr val="hlink"/>
                  </a:solidFill>
                  <a:latin typeface="Arial" panose="020B0604020202020204" pitchFamily="34" charset="0"/>
                </a:rPr>
                <a:t>for</a:t>
              </a:r>
              <a:r>
                <a:rPr lang="en-US" altLang="zh-CN" sz="2000" b="1" dirty="0">
                  <a:latin typeface="Arial" panose="020B0604020202020204" pitchFamily="34" charset="0"/>
                </a:rPr>
                <a:t> ( i = 0; i &lt; n; i++ ) </a:t>
              </a:r>
              <a:endParaRPr lang="en-US" altLang="zh-CN" sz="2000" b="1" dirty="0">
                <a:latin typeface="Arial" panose="020B0604020202020204" pitchFamily="34" charset="0"/>
              </a:endParaRPr>
            </a:p>
            <a:p>
              <a:pPr marL="0" lvl="0" indent="0" eaLnBrk="1" hangingPunct="1">
                <a:spcBef>
                  <a:spcPct val="0"/>
                </a:spcBef>
                <a:buNone/>
              </a:pPr>
              <a:endParaRPr lang="en-US" altLang="zh-CN" sz="2000" b="1" dirty="0">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       tempsum  += list [ i ] ;</a:t>
              </a:r>
              <a:endParaRPr lang="en-US" altLang="zh-CN" sz="2000" b="1" dirty="0">
                <a:latin typeface="Arial" panose="020B0604020202020204" pitchFamily="34" charset="0"/>
              </a:endParaRPr>
            </a:p>
            <a:p>
              <a:pPr marL="0" lvl="0" indent="0" eaLnBrk="1" hangingPunct="1">
                <a:spcBef>
                  <a:spcPct val="0"/>
                </a:spcBef>
                <a:buNone/>
              </a:pPr>
              <a:endParaRPr lang="en-US" altLang="zh-CN" sz="2000" b="1" dirty="0">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   </a:t>
              </a:r>
              <a:r>
                <a:rPr lang="en-US" altLang="zh-CN" sz="2000" b="1" dirty="0">
                  <a:solidFill>
                    <a:schemeClr val="hlink"/>
                  </a:solidFill>
                  <a:latin typeface="Arial" panose="020B0604020202020204" pitchFamily="34" charset="0"/>
                </a:rPr>
                <a:t>return</a:t>
              </a:r>
              <a:r>
                <a:rPr lang="en-US" altLang="zh-CN" sz="2000" b="1" dirty="0">
                  <a:latin typeface="Arial" panose="020B0604020202020204" pitchFamily="34" charset="0"/>
                </a:rPr>
                <a:t>  tempsum;</a:t>
              </a:r>
              <a:endParaRPr lang="en-US" altLang="zh-CN" sz="2000" b="1" dirty="0">
                <a:latin typeface="Arial" panose="020B0604020202020204" pitchFamily="34" charset="0"/>
              </a:endParaRPr>
            </a:p>
            <a:p>
              <a:pPr marL="0" lvl="0" indent="0" eaLnBrk="1" hangingPunct="1">
                <a:spcBef>
                  <a:spcPct val="0"/>
                </a:spcBef>
                <a:buNone/>
              </a:pPr>
              <a:r>
                <a:rPr lang="en-US" altLang="zh-CN" sz="2000" b="1" dirty="0">
                  <a:latin typeface="Arial" panose="020B0604020202020204" pitchFamily="34" charset="0"/>
                </a:rPr>
                <a:t>}</a:t>
              </a:r>
              <a:endParaRPr lang="en-US" altLang="zh-CN" sz="2000" b="1" dirty="0">
                <a:latin typeface="Arial" panose="020B0604020202020204" pitchFamily="34" charset="0"/>
              </a:endParaRPr>
            </a:p>
          </p:txBody>
        </p:sp>
      </p:grpSp>
      <p:sp>
        <p:nvSpPr>
          <p:cNvPr id="60422" name="Text Box 6"/>
          <p:cNvSpPr txBox="1"/>
          <p:nvPr/>
        </p:nvSpPr>
        <p:spPr>
          <a:xfrm>
            <a:off x="4343400" y="2784475"/>
            <a:ext cx="1676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dirty="0">
                <a:solidFill>
                  <a:srgbClr val="0000FF"/>
                </a:solidFill>
                <a:latin typeface="Arial" panose="020B0604020202020204" pitchFamily="34" charset="0"/>
              </a:rPr>
              <a:t>/* 1 */</a:t>
            </a:r>
            <a:endParaRPr lang="en-US" altLang="zh-CN" sz="1800" b="1" dirty="0">
              <a:solidFill>
                <a:srgbClr val="0000FF"/>
              </a:solidFill>
              <a:latin typeface="Arial" panose="020B0604020202020204" pitchFamily="34" charset="0"/>
            </a:endParaRPr>
          </a:p>
        </p:txBody>
      </p:sp>
      <p:sp>
        <p:nvSpPr>
          <p:cNvPr id="60423" name="Text Box 7"/>
          <p:cNvSpPr txBox="1"/>
          <p:nvPr/>
        </p:nvSpPr>
        <p:spPr>
          <a:xfrm>
            <a:off x="4876800" y="4003675"/>
            <a:ext cx="1676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dirty="0">
                <a:solidFill>
                  <a:srgbClr val="0000FF"/>
                </a:solidFill>
                <a:latin typeface="Arial" panose="020B0604020202020204" pitchFamily="34" charset="0"/>
              </a:rPr>
              <a:t>/* 2n */</a:t>
            </a:r>
            <a:endParaRPr lang="en-US" altLang="zh-CN" sz="1800" b="1" dirty="0">
              <a:solidFill>
                <a:srgbClr val="0000FF"/>
              </a:solidFill>
              <a:latin typeface="Arial" panose="020B0604020202020204" pitchFamily="34" charset="0"/>
            </a:endParaRPr>
          </a:p>
        </p:txBody>
      </p:sp>
      <p:sp>
        <p:nvSpPr>
          <p:cNvPr id="60425" name="Text Box 9"/>
          <p:cNvSpPr txBox="1"/>
          <p:nvPr/>
        </p:nvSpPr>
        <p:spPr>
          <a:xfrm>
            <a:off x="4191000" y="4613275"/>
            <a:ext cx="1676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dirty="0">
                <a:solidFill>
                  <a:srgbClr val="0000FF"/>
                </a:solidFill>
                <a:latin typeface="Arial" panose="020B0604020202020204" pitchFamily="34" charset="0"/>
              </a:rPr>
              <a:t>/* 1 */</a:t>
            </a:r>
            <a:endParaRPr lang="en-US" altLang="zh-CN" sz="1800" b="1" dirty="0">
              <a:solidFill>
                <a:srgbClr val="0000FF"/>
              </a:solidFill>
              <a:latin typeface="Arial" panose="020B0604020202020204" pitchFamily="34" charset="0"/>
            </a:endParaRPr>
          </a:p>
        </p:txBody>
      </p:sp>
      <p:sp>
        <p:nvSpPr>
          <p:cNvPr id="60426" name="Text Box 10"/>
          <p:cNvSpPr txBox="1"/>
          <p:nvPr/>
        </p:nvSpPr>
        <p:spPr>
          <a:xfrm>
            <a:off x="2438400" y="3698875"/>
            <a:ext cx="1676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1800" b="1" dirty="0">
                <a:solidFill>
                  <a:srgbClr val="0000FF"/>
                </a:solidFill>
                <a:latin typeface="Arial" panose="020B0604020202020204" pitchFamily="34" charset="0"/>
              </a:rPr>
              <a:t>/* 2n+2 */</a:t>
            </a:r>
            <a:endParaRPr lang="en-US" altLang="zh-CN" sz="1800" b="1" dirty="0">
              <a:solidFill>
                <a:srgbClr val="0000FF"/>
              </a:solidFill>
              <a:latin typeface="Arial" panose="020B0604020202020204" pitchFamily="34" charset="0"/>
            </a:endParaRPr>
          </a:p>
        </p:txBody>
      </p:sp>
      <p:sp>
        <p:nvSpPr>
          <p:cNvPr id="60427" name="Text Box 11"/>
          <p:cNvSpPr txBox="1"/>
          <p:nvPr/>
        </p:nvSpPr>
        <p:spPr>
          <a:xfrm>
            <a:off x="1295400" y="5715000"/>
            <a:ext cx="2895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400" b="1" i="1" dirty="0">
                <a:latin typeface="Times New Roman" panose="02020603050405020304" pitchFamily="18" charset="0"/>
              </a:rPr>
              <a:t>T</a:t>
            </a:r>
            <a:r>
              <a:rPr lang="en-US" altLang="zh-CN" sz="2400" b="1" i="1" baseline="-25000" dirty="0">
                <a:latin typeface="Times New Roman" panose="02020603050405020304" pitchFamily="18" charset="0"/>
              </a:rPr>
              <a:t>sum</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 n</a:t>
            </a:r>
            <a:r>
              <a:rPr lang="en-US" altLang="zh-CN" sz="2400" b="1" dirty="0">
                <a:latin typeface="Times New Roman" panose="02020603050405020304" pitchFamily="18" charset="0"/>
              </a:rPr>
              <a:t> ) = 4</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 + 4</a:t>
            </a:r>
            <a:endParaRPr lang="en-US" altLang="zh-CN"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0422"/>
                                        </p:tgtEl>
                                        <p:attrNameLst>
                                          <p:attrName>style.visibility</p:attrName>
                                        </p:attrNameLst>
                                      </p:cBhvr>
                                      <p:to>
                                        <p:strVal val="visible"/>
                                      </p:to>
                                    </p:set>
                                    <p:animEffect transition="in" filter="wipe(left)">
                                      <p:cBhvr>
                                        <p:cTn id="17" dur="500"/>
                                        <p:tgtEl>
                                          <p:spTgt spid="60422"/>
                                        </p:tgtEl>
                                      </p:cBhvr>
                                    </p:animEffect>
                                  </p:childTnLst>
                                  <p:subTnLst>
                                    <p:audio>
                                      <p:cMediaNode>
                                        <p:cTn display="0" masterRel="sameClick">
                                          <p:stCondLst>
                                            <p:cond evt="begin" delay="0">
                                              <p:tn val="15"/>
                                            </p:cond>
                                          </p:stCondLst>
                                          <p:endCondLst>
                                            <p:cond evt="onStopAudio" delay="0">
                                              <p:tgtEl>
                                                <p:sldTgt/>
                                              </p:tgtEl>
                                            </p:cond>
                                          </p:endCondLst>
                                        </p:cTn>
                                        <p:tgtEl>
                                          <p:sndTgt r:embed="rId1" name="TYPE.WAV"/>
                                        </p:tgtEl>
                                      </p:cMediaNode>
                                    </p:audio>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426"/>
                                        </p:tgtEl>
                                        <p:attrNameLst>
                                          <p:attrName>style.visibility</p:attrName>
                                        </p:attrNameLst>
                                      </p:cBhvr>
                                      <p:to>
                                        <p:strVal val="visible"/>
                                      </p:to>
                                    </p:set>
                                    <p:animEffect transition="in" filter="wipe(left)">
                                      <p:cBhvr>
                                        <p:cTn id="22" dur="500"/>
                                        <p:tgtEl>
                                          <p:spTgt spid="60426"/>
                                        </p:tgtEl>
                                      </p:cBhvr>
                                    </p:animEffect>
                                  </p:childTnLst>
                                  <p:subTnLst>
                                    <p:audio>
                                      <p:cMediaNode>
                                        <p:cTn display="0" masterRel="sameClick">
                                          <p:stCondLst>
                                            <p:cond evt="begin" delay="0">
                                              <p:tn val="20"/>
                                            </p:cond>
                                          </p:stCondLst>
                                          <p:endCondLst>
                                            <p:cond evt="onStopAudio" delay="0">
                                              <p:tgtEl>
                                                <p:sldTgt/>
                                              </p:tgtEl>
                                            </p:cond>
                                          </p:endCondLst>
                                        </p:cTn>
                                        <p:tgtEl>
                                          <p:sndTgt r:embed="rId1" name="TYPE.WAV"/>
                                        </p:tgtEl>
                                      </p:cMediaNode>
                                    </p:audio>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0423"/>
                                        </p:tgtEl>
                                        <p:attrNameLst>
                                          <p:attrName>style.visibility</p:attrName>
                                        </p:attrNameLst>
                                      </p:cBhvr>
                                      <p:to>
                                        <p:strVal val="visible"/>
                                      </p:to>
                                    </p:set>
                                    <p:animEffect transition="in" filter="wipe(left)">
                                      <p:cBhvr>
                                        <p:cTn id="27" dur="500"/>
                                        <p:tgtEl>
                                          <p:spTgt spid="60423"/>
                                        </p:tgtEl>
                                      </p:cBhvr>
                                    </p:animEffect>
                                  </p:childTnLst>
                                  <p:subTnLst>
                                    <p:audio>
                                      <p:cMediaNode>
                                        <p:cTn display="0" masterRel="sameClick">
                                          <p:stCondLst>
                                            <p:cond evt="begin" delay="0">
                                              <p:tn val="25"/>
                                            </p:cond>
                                          </p:stCondLst>
                                          <p:endCondLst>
                                            <p:cond evt="onStopAudio" delay="0">
                                              <p:tgtEl>
                                                <p:sldTgt/>
                                              </p:tgtEl>
                                            </p:cond>
                                          </p:endCondLst>
                                        </p:cTn>
                                        <p:tgtEl>
                                          <p:sndTgt r:embed="rId1" name="TYPE.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0425"/>
                                        </p:tgtEl>
                                        <p:attrNameLst>
                                          <p:attrName>style.visibility</p:attrName>
                                        </p:attrNameLst>
                                      </p:cBhvr>
                                      <p:to>
                                        <p:strVal val="visible"/>
                                      </p:to>
                                    </p:set>
                                    <p:animEffect transition="in" filter="wipe(left)">
                                      <p:cBhvr>
                                        <p:cTn id="32" dur="500"/>
                                        <p:tgtEl>
                                          <p:spTgt spid="60425"/>
                                        </p:tgtEl>
                                      </p:cBhvr>
                                    </p:animEffect>
                                  </p:childTnLst>
                                  <p:subTnLst>
                                    <p:audio>
                                      <p:cMediaNode>
                                        <p:cTn display="0" masterRel="sameClick">
                                          <p:stCondLst>
                                            <p:cond evt="begin" delay="0">
                                              <p:tn val="30"/>
                                            </p:cond>
                                          </p:stCondLst>
                                          <p:endCondLst>
                                            <p:cond evt="onStopAudio" delay="0">
                                              <p:tgtEl>
                                                <p:sldTgt/>
                                              </p:tgtEl>
                                            </p:cond>
                                          </p:endCondLst>
                                        </p:cTn>
                                        <p:tgtEl>
                                          <p:sndTgt r:embed="rId1" name="TYPE.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60427"/>
                                        </p:tgtEl>
                                        <p:attrNameLst>
                                          <p:attrName>style.visibility</p:attrName>
                                        </p:attrNameLst>
                                      </p:cBhvr>
                                      <p:to>
                                        <p:strVal val="visible"/>
                                      </p:to>
                                    </p:set>
                                    <p:animEffect transition="in" filter="box(out)">
                                      <p:cBhvr>
                                        <p:cTn id="37" dur="500"/>
                                        <p:tgtEl>
                                          <p:spTgt spid="60427"/>
                                        </p:tgtEl>
                                      </p:cBhvr>
                                    </p:animEffect>
                                  </p:childTnLst>
                                  <p:subTnLst>
                                    <p:audio>
                                      <p:cMediaNode>
                                        <p:cTn display="0" masterRel="sameClick">
                                          <p:stCondLst>
                                            <p:cond evt="begin" delay="0">
                                              <p:tn val="35"/>
                                            </p:cond>
                                          </p:stCondLst>
                                          <p:endCondLst>
                                            <p:cond evt="onStopAudio" delay="0">
                                              <p:tgtEl>
                                                <p:sldTgt/>
                                              </p:tgtEl>
                                            </p:cond>
                                          </p:endCondLst>
                                        </p:cTn>
                                        <p:tgtEl>
                                          <p:sndTgt r:embed="rId2"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22" grpId="0"/>
      <p:bldP spid="60423" grpId="0"/>
      <p:bldP spid="60425" grpId="0"/>
      <p:bldP spid="60426" grpId="0"/>
      <p:bldP spid="60427"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 name="Group 3"/>
          <p:cNvGrpSpPr/>
          <p:nvPr/>
        </p:nvGrpSpPr>
        <p:grpSpPr>
          <a:xfrm>
            <a:off x="381000" y="3581400"/>
            <a:ext cx="8291513" cy="1754188"/>
            <a:chOff x="240" y="3024"/>
            <a:chExt cx="5223" cy="1105"/>
          </a:xfrm>
        </p:grpSpPr>
        <p:grpSp>
          <p:nvGrpSpPr>
            <p:cNvPr id="40971" name="Group 4"/>
            <p:cNvGrpSpPr/>
            <p:nvPr/>
          </p:nvGrpSpPr>
          <p:grpSpPr>
            <a:xfrm>
              <a:off x="240" y="3024"/>
              <a:ext cx="864" cy="1008"/>
              <a:chOff x="624" y="2647"/>
              <a:chExt cx="1242" cy="1289"/>
            </a:xfrm>
          </p:grpSpPr>
          <p:grpSp>
            <p:nvGrpSpPr>
              <p:cNvPr id="40973" name="Group 5"/>
              <p:cNvGrpSpPr/>
              <p:nvPr/>
            </p:nvGrpSpPr>
            <p:grpSpPr>
              <a:xfrm>
                <a:off x="624" y="3312"/>
                <a:ext cx="528" cy="624"/>
                <a:chOff x="2016" y="3024"/>
                <a:chExt cx="528" cy="624"/>
              </a:xfrm>
            </p:grpSpPr>
            <p:sp>
              <p:nvSpPr>
                <p:cNvPr id="41036" name="AutoShape 6"/>
                <p:cNvSpPr/>
                <p:nvPr/>
              </p:nvSpPr>
              <p:spPr>
                <a:xfrm flipH="1">
                  <a:off x="2016" y="3072"/>
                  <a:ext cx="480" cy="576"/>
                </a:xfrm>
                <a:prstGeom prst="rtTriangle">
                  <a:avLst/>
                </a:prstGeom>
                <a:solidFill>
                  <a:srgbClr val="00FFFF"/>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nvGrpSpPr>
                <p:cNvPr id="41037" name="Group 7"/>
                <p:cNvGrpSpPr/>
                <p:nvPr/>
              </p:nvGrpSpPr>
              <p:grpSpPr>
                <a:xfrm>
                  <a:off x="2016" y="3024"/>
                  <a:ext cx="528" cy="624"/>
                  <a:chOff x="576" y="3312"/>
                  <a:chExt cx="528" cy="624"/>
                </a:xfrm>
              </p:grpSpPr>
              <p:sp>
                <p:nvSpPr>
                  <p:cNvPr id="41038" name="Freeform 8"/>
                  <p:cNvSpPr/>
                  <p:nvPr/>
                </p:nvSpPr>
                <p:spPr>
                  <a:xfrm>
                    <a:off x="576" y="3312"/>
                    <a:ext cx="528" cy="624"/>
                  </a:xfrm>
                  <a:custGeom>
                    <a:avLst/>
                    <a:gdLst/>
                    <a:ahLst/>
                    <a:cxnLst>
                      <a:cxn ang="0">
                        <a:pos x="528" y="0"/>
                      </a:cxn>
                      <a:cxn ang="0">
                        <a:pos x="384" y="96"/>
                      </a:cxn>
                      <a:cxn ang="0">
                        <a:pos x="192" y="336"/>
                      </a:cxn>
                      <a:cxn ang="0">
                        <a:pos x="0" y="624"/>
                      </a:cxn>
                    </a:cxnLst>
                    <a:pathLst>
                      <a:path w="528" h="624">
                        <a:moveTo>
                          <a:pt x="528" y="0"/>
                        </a:moveTo>
                        <a:cubicBezTo>
                          <a:pt x="484" y="20"/>
                          <a:pt x="440" y="40"/>
                          <a:pt x="384" y="96"/>
                        </a:cubicBezTo>
                        <a:cubicBezTo>
                          <a:pt x="328" y="152"/>
                          <a:pt x="256" y="248"/>
                          <a:pt x="192" y="336"/>
                        </a:cubicBezTo>
                        <a:cubicBezTo>
                          <a:pt x="128" y="424"/>
                          <a:pt x="64" y="524"/>
                          <a:pt x="0" y="624"/>
                        </a:cubicBezTo>
                      </a:path>
                    </a:pathLst>
                  </a:custGeom>
                  <a:solidFill>
                    <a:srgbClr val="00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39" name="Freeform 9"/>
                  <p:cNvSpPr/>
                  <p:nvPr/>
                </p:nvSpPr>
                <p:spPr>
                  <a:xfrm>
                    <a:off x="672" y="3696"/>
                    <a:ext cx="192" cy="240"/>
                  </a:xfrm>
                  <a:custGeom>
                    <a:avLst/>
                    <a:gdLst/>
                    <a:ahLst/>
                    <a:cxnLst>
                      <a:cxn ang="0">
                        <a:pos x="192" y="0"/>
                      </a:cxn>
                      <a:cxn ang="0">
                        <a:pos x="96" y="48"/>
                      </a:cxn>
                      <a:cxn ang="0">
                        <a:pos x="48" y="144"/>
                      </a:cxn>
                      <a:cxn ang="0">
                        <a:pos x="0" y="240"/>
                      </a:cxn>
                    </a:cxnLst>
                    <a:pathLst>
                      <a:path w="192" h="240">
                        <a:moveTo>
                          <a:pt x="192" y="0"/>
                        </a:moveTo>
                        <a:cubicBezTo>
                          <a:pt x="156" y="12"/>
                          <a:pt x="120" y="24"/>
                          <a:pt x="96" y="48"/>
                        </a:cubicBezTo>
                        <a:cubicBezTo>
                          <a:pt x="72" y="72"/>
                          <a:pt x="64" y="112"/>
                          <a:pt x="48" y="144"/>
                        </a:cubicBezTo>
                        <a:cubicBezTo>
                          <a:pt x="32" y="176"/>
                          <a:pt x="16" y="208"/>
                          <a:pt x="0" y="240"/>
                        </a:cubicBezTo>
                      </a:path>
                    </a:pathLst>
                  </a:custGeom>
                  <a:solidFill>
                    <a:srgbClr val="00FFF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1040" name="Line 10"/>
                  <p:cNvSpPr/>
                  <p:nvPr/>
                </p:nvSpPr>
                <p:spPr>
                  <a:xfrm>
                    <a:off x="576" y="3936"/>
                    <a:ext cx="288" cy="0"/>
                  </a:xfrm>
                  <a:prstGeom prst="line">
                    <a:avLst/>
                  </a:prstGeom>
                  <a:ln w="9525" cap="flat" cmpd="sng">
                    <a:solidFill>
                      <a:schemeClr val="tx1"/>
                    </a:solidFill>
                    <a:prstDash val="solid"/>
                    <a:headEnd type="none" w="med" len="med"/>
                    <a:tailEnd type="none" w="med" len="med"/>
                  </a:ln>
                </p:spPr>
              </p:sp>
            </p:grpSp>
          </p:grpSp>
          <p:grpSp>
            <p:nvGrpSpPr>
              <p:cNvPr id="40974" name="Group 11"/>
              <p:cNvGrpSpPr/>
              <p:nvPr/>
            </p:nvGrpSpPr>
            <p:grpSpPr>
              <a:xfrm>
                <a:off x="1134" y="2647"/>
                <a:ext cx="732" cy="823"/>
                <a:chOff x="1134" y="2647"/>
                <a:chExt cx="732" cy="823"/>
              </a:xfrm>
            </p:grpSpPr>
            <p:grpSp>
              <p:nvGrpSpPr>
                <p:cNvPr id="41001" name="Group 12"/>
                <p:cNvGrpSpPr/>
                <p:nvPr/>
              </p:nvGrpSpPr>
              <p:grpSpPr>
                <a:xfrm>
                  <a:off x="1134" y="2647"/>
                  <a:ext cx="732" cy="823"/>
                  <a:chOff x="1134" y="2647"/>
                  <a:chExt cx="732" cy="823"/>
                </a:xfrm>
              </p:grpSpPr>
              <p:grpSp>
                <p:nvGrpSpPr>
                  <p:cNvPr id="41008" name="Group 13"/>
                  <p:cNvGrpSpPr/>
                  <p:nvPr/>
                </p:nvGrpSpPr>
                <p:grpSpPr>
                  <a:xfrm>
                    <a:off x="1134" y="2647"/>
                    <a:ext cx="721" cy="823"/>
                    <a:chOff x="1134" y="2647"/>
                    <a:chExt cx="721" cy="823"/>
                  </a:xfrm>
                </p:grpSpPr>
                <p:grpSp>
                  <p:nvGrpSpPr>
                    <p:cNvPr id="41013" name="Group 14"/>
                    <p:cNvGrpSpPr/>
                    <p:nvPr/>
                  </p:nvGrpSpPr>
                  <p:grpSpPr>
                    <a:xfrm>
                      <a:off x="1134" y="2647"/>
                      <a:ext cx="721" cy="823"/>
                      <a:chOff x="1134" y="2647"/>
                      <a:chExt cx="721" cy="823"/>
                    </a:xfrm>
                  </p:grpSpPr>
                  <p:sp>
                    <p:nvSpPr>
                      <p:cNvPr id="41034" name="Freeform 15"/>
                      <p:cNvSpPr/>
                      <p:nvPr/>
                    </p:nvSpPr>
                    <p:spPr>
                      <a:xfrm>
                        <a:off x="1134" y="2647"/>
                        <a:ext cx="721" cy="823"/>
                      </a:xfrm>
                      <a:custGeom>
                        <a:avLst/>
                        <a:gdLst/>
                        <a:ahLst/>
                        <a:cxnLst>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Lst>
                        <a:pathLst>
                          <a:path w="1442" h="1645">
                            <a:moveTo>
                              <a:pt x="0" y="1375"/>
                            </a:moveTo>
                            <a:lnTo>
                              <a:pt x="140" y="1196"/>
                            </a:lnTo>
                            <a:lnTo>
                              <a:pt x="238" y="1089"/>
                            </a:lnTo>
                            <a:lnTo>
                              <a:pt x="300" y="1011"/>
                            </a:lnTo>
                            <a:lnTo>
                              <a:pt x="305" y="918"/>
                            </a:lnTo>
                            <a:lnTo>
                              <a:pt x="276" y="840"/>
                            </a:lnTo>
                            <a:lnTo>
                              <a:pt x="233" y="773"/>
                            </a:lnTo>
                            <a:lnTo>
                              <a:pt x="213" y="710"/>
                            </a:lnTo>
                            <a:lnTo>
                              <a:pt x="191" y="663"/>
                            </a:lnTo>
                            <a:lnTo>
                              <a:pt x="170" y="554"/>
                            </a:lnTo>
                            <a:lnTo>
                              <a:pt x="172" y="485"/>
                            </a:lnTo>
                            <a:lnTo>
                              <a:pt x="182" y="387"/>
                            </a:lnTo>
                            <a:lnTo>
                              <a:pt x="211" y="304"/>
                            </a:lnTo>
                            <a:lnTo>
                              <a:pt x="257" y="216"/>
                            </a:lnTo>
                            <a:lnTo>
                              <a:pt x="305" y="165"/>
                            </a:lnTo>
                            <a:lnTo>
                              <a:pt x="379" y="97"/>
                            </a:lnTo>
                            <a:lnTo>
                              <a:pt x="484" y="48"/>
                            </a:lnTo>
                            <a:lnTo>
                              <a:pt x="577" y="22"/>
                            </a:lnTo>
                            <a:lnTo>
                              <a:pt x="689" y="1"/>
                            </a:lnTo>
                            <a:lnTo>
                              <a:pt x="801" y="0"/>
                            </a:lnTo>
                            <a:lnTo>
                              <a:pt x="891" y="8"/>
                            </a:lnTo>
                            <a:lnTo>
                              <a:pt x="1003" y="34"/>
                            </a:lnTo>
                            <a:lnTo>
                              <a:pt x="1108" y="71"/>
                            </a:lnTo>
                            <a:lnTo>
                              <a:pt x="1183" y="112"/>
                            </a:lnTo>
                            <a:lnTo>
                              <a:pt x="1271" y="182"/>
                            </a:lnTo>
                            <a:lnTo>
                              <a:pt x="1344" y="273"/>
                            </a:lnTo>
                            <a:lnTo>
                              <a:pt x="1393" y="366"/>
                            </a:lnTo>
                            <a:lnTo>
                              <a:pt x="1425" y="433"/>
                            </a:lnTo>
                            <a:lnTo>
                              <a:pt x="1442" y="551"/>
                            </a:lnTo>
                            <a:lnTo>
                              <a:pt x="1437" y="674"/>
                            </a:lnTo>
                            <a:lnTo>
                              <a:pt x="1426" y="768"/>
                            </a:lnTo>
                            <a:lnTo>
                              <a:pt x="1393" y="891"/>
                            </a:lnTo>
                            <a:lnTo>
                              <a:pt x="1350" y="1015"/>
                            </a:lnTo>
                            <a:lnTo>
                              <a:pt x="1297" y="1109"/>
                            </a:lnTo>
                            <a:lnTo>
                              <a:pt x="1226" y="1210"/>
                            </a:lnTo>
                            <a:lnTo>
                              <a:pt x="1141" y="1272"/>
                            </a:lnTo>
                            <a:lnTo>
                              <a:pt x="1056" y="1304"/>
                            </a:lnTo>
                            <a:lnTo>
                              <a:pt x="962" y="1324"/>
                            </a:lnTo>
                            <a:lnTo>
                              <a:pt x="879" y="1323"/>
                            </a:lnTo>
                            <a:lnTo>
                              <a:pt x="811" y="1298"/>
                            </a:lnTo>
                            <a:lnTo>
                              <a:pt x="752" y="1265"/>
                            </a:lnTo>
                            <a:lnTo>
                              <a:pt x="724" y="1254"/>
                            </a:lnTo>
                            <a:lnTo>
                              <a:pt x="748" y="1319"/>
                            </a:lnTo>
                            <a:lnTo>
                              <a:pt x="791" y="1381"/>
                            </a:lnTo>
                            <a:lnTo>
                              <a:pt x="811" y="1469"/>
                            </a:lnTo>
                            <a:lnTo>
                              <a:pt x="811" y="1645"/>
                            </a:lnTo>
                            <a:lnTo>
                              <a:pt x="625" y="1631"/>
                            </a:lnTo>
                            <a:lnTo>
                              <a:pt x="441" y="1557"/>
                            </a:lnTo>
                            <a:lnTo>
                              <a:pt x="305" y="1474"/>
                            </a:lnTo>
                            <a:lnTo>
                              <a:pt x="0" y="1375"/>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35" name="Freeform 16"/>
                      <p:cNvSpPr/>
                      <p:nvPr/>
                    </p:nvSpPr>
                    <p:spPr>
                      <a:xfrm>
                        <a:off x="1533" y="2952"/>
                        <a:ext cx="43" cy="139"/>
                      </a:xfrm>
                      <a:custGeom>
                        <a:avLst/>
                        <a:gdLst/>
                        <a:ahLst/>
                        <a:cxnLst>
                          <a:cxn ang="0">
                            <a:pos x="1" y="1"/>
                          </a:cxn>
                          <a:cxn ang="0">
                            <a:pos x="1" y="1"/>
                          </a:cxn>
                          <a:cxn ang="0">
                            <a:pos x="1" y="1"/>
                          </a:cxn>
                          <a:cxn ang="0">
                            <a:pos x="1" y="1"/>
                          </a:cxn>
                          <a:cxn ang="0">
                            <a:pos x="0" y="1"/>
                          </a:cxn>
                          <a:cxn ang="0">
                            <a:pos x="1" y="1"/>
                          </a:cxn>
                          <a:cxn ang="0">
                            <a:pos x="1" y="1"/>
                          </a:cxn>
                          <a:cxn ang="0">
                            <a:pos x="1" y="1"/>
                          </a:cxn>
                          <a:cxn ang="0">
                            <a:pos x="1" y="0"/>
                          </a:cxn>
                        </a:cxnLst>
                        <a:pathLst>
                          <a:path w="86" h="277">
                            <a:moveTo>
                              <a:pt x="86" y="277"/>
                            </a:moveTo>
                            <a:lnTo>
                              <a:pt x="46" y="265"/>
                            </a:lnTo>
                            <a:lnTo>
                              <a:pt x="24" y="241"/>
                            </a:lnTo>
                            <a:lnTo>
                              <a:pt x="7" y="202"/>
                            </a:lnTo>
                            <a:lnTo>
                              <a:pt x="0" y="153"/>
                            </a:lnTo>
                            <a:lnTo>
                              <a:pt x="3" y="96"/>
                            </a:lnTo>
                            <a:lnTo>
                              <a:pt x="16" y="60"/>
                            </a:lnTo>
                            <a:lnTo>
                              <a:pt x="39" y="24"/>
                            </a:lnTo>
                            <a:lnTo>
                              <a:pt x="65" y="0"/>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grpSp>
                <p:grpSp>
                  <p:nvGrpSpPr>
                    <p:cNvPr id="41014" name="Group 17"/>
                    <p:cNvGrpSpPr/>
                    <p:nvPr/>
                  </p:nvGrpSpPr>
                  <p:grpSpPr>
                    <a:xfrm>
                      <a:off x="1159" y="2649"/>
                      <a:ext cx="630" cy="526"/>
                      <a:chOff x="1159" y="2649"/>
                      <a:chExt cx="630" cy="526"/>
                    </a:xfrm>
                  </p:grpSpPr>
                  <p:grpSp>
                    <p:nvGrpSpPr>
                      <p:cNvPr id="41015" name="Group 18"/>
                      <p:cNvGrpSpPr/>
                      <p:nvPr/>
                    </p:nvGrpSpPr>
                    <p:grpSpPr>
                      <a:xfrm>
                        <a:off x="1314" y="2649"/>
                        <a:ext cx="414" cy="152"/>
                        <a:chOff x="1314" y="2649"/>
                        <a:chExt cx="414" cy="152"/>
                      </a:xfrm>
                    </p:grpSpPr>
                    <p:sp>
                      <p:nvSpPr>
                        <p:cNvPr id="41032" name="Freeform 19"/>
                        <p:cNvSpPr/>
                        <p:nvPr/>
                      </p:nvSpPr>
                      <p:spPr>
                        <a:xfrm>
                          <a:off x="1344" y="2671"/>
                          <a:ext cx="384" cy="130"/>
                        </a:xfrm>
                        <a:custGeom>
                          <a:avLst/>
                          <a:gdLst/>
                          <a:ahLst/>
                          <a:cxnLst>
                            <a:cxn ang="0">
                              <a:pos x="0" y="1"/>
                            </a:cxn>
                            <a:cxn ang="0">
                              <a:pos x="1" y="1"/>
                            </a:cxn>
                            <a:cxn ang="0">
                              <a:pos x="1" y="1"/>
                            </a:cxn>
                            <a:cxn ang="0">
                              <a:pos x="1" y="1"/>
                            </a:cxn>
                            <a:cxn ang="0">
                              <a:pos x="1" y="1"/>
                            </a:cxn>
                            <a:cxn ang="0">
                              <a:pos x="1" y="1"/>
                            </a:cxn>
                            <a:cxn ang="0">
                              <a:pos x="1" y="0"/>
                            </a:cxn>
                            <a:cxn ang="0">
                              <a:pos x="1" y="1"/>
                            </a:cxn>
                            <a:cxn ang="0">
                              <a:pos x="1" y="1"/>
                            </a:cxn>
                          </a:cxnLst>
                          <a:pathLst>
                            <a:path w="768" h="259">
                              <a:moveTo>
                                <a:pt x="0" y="259"/>
                              </a:moveTo>
                              <a:lnTo>
                                <a:pt x="64" y="176"/>
                              </a:lnTo>
                              <a:lnTo>
                                <a:pt x="140" y="115"/>
                              </a:lnTo>
                              <a:lnTo>
                                <a:pt x="229" y="64"/>
                              </a:lnTo>
                              <a:lnTo>
                                <a:pt x="321" y="29"/>
                              </a:lnTo>
                              <a:lnTo>
                                <a:pt x="427" y="11"/>
                              </a:lnTo>
                              <a:lnTo>
                                <a:pt x="556" y="0"/>
                              </a:lnTo>
                              <a:lnTo>
                                <a:pt x="649" y="16"/>
                              </a:lnTo>
                              <a:lnTo>
                                <a:pt x="768" y="56"/>
                              </a:lnTo>
                            </a:path>
                          </a:pathLst>
                        </a:custGeom>
                        <a:noFill/>
                        <a:ln w="6350" cap="flat" cmpd="sng">
                          <a:solidFill>
                            <a:srgbClr val="804000">
                              <a:alpha val="100000"/>
                            </a:srgbClr>
                          </a:solidFill>
                          <a:prstDash val="solid"/>
                          <a:round/>
                          <a:headEnd type="none" w="med" len="med"/>
                          <a:tailEnd type="none" w="med" len="med"/>
                        </a:ln>
                      </p:spPr>
                      <p:txBody>
                        <a:bodyPr/>
                        <a:p>
                          <a:endParaRPr lang="zh-CN" altLang="en-US"/>
                        </a:p>
                      </p:txBody>
                    </p:sp>
                    <p:sp>
                      <p:nvSpPr>
                        <p:cNvPr id="41033" name="Freeform 20"/>
                        <p:cNvSpPr/>
                        <p:nvPr/>
                      </p:nvSpPr>
                      <p:spPr>
                        <a:xfrm>
                          <a:off x="1314" y="2649"/>
                          <a:ext cx="389" cy="142"/>
                        </a:xfrm>
                        <a:custGeom>
                          <a:avLst/>
                          <a:gdLst/>
                          <a:ahLst/>
                          <a:cxnLst>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Lst>
                          <a:pathLst>
                            <a:path w="776" h="285">
                              <a:moveTo>
                                <a:pt x="0" y="285"/>
                              </a:moveTo>
                              <a:lnTo>
                                <a:pt x="40" y="205"/>
                              </a:lnTo>
                              <a:lnTo>
                                <a:pt x="88" y="141"/>
                              </a:lnTo>
                              <a:lnTo>
                                <a:pt x="147" y="84"/>
                              </a:lnTo>
                              <a:lnTo>
                                <a:pt x="227" y="35"/>
                              </a:lnTo>
                              <a:lnTo>
                                <a:pt x="341" y="5"/>
                              </a:lnTo>
                              <a:lnTo>
                                <a:pt x="450" y="0"/>
                              </a:lnTo>
                              <a:lnTo>
                                <a:pt x="568" y="14"/>
                              </a:lnTo>
                              <a:lnTo>
                                <a:pt x="668" y="38"/>
                              </a:lnTo>
                              <a:lnTo>
                                <a:pt x="726" y="62"/>
                              </a:lnTo>
                              <a:lnTo>
                                <a:pt x="776" y="86"/>
                              </a:lnTo>
                            </a:path>
                          </a:pathLst>
                        </a:custGeom>
                        <a:noFill/>
                        <a:ln w="6350" cap="flat" cmpd="sng">
                          <a:solidFill>
                            <a:srgbClr val="804000">
                              <a:alpha val="100000"/>
                            </a:srgbClr>
                          </a:solidFill>
                          <a:prstDash val="solid"/>
                          <a:round/>
                          <a:headEnd type="none" w="med" len="med"/>
                          <a:tailEnd type="none" w="med" len="med"/>
                        </a:ln>
                      </p:spPr>
                      <p:txBody>
                        <a:bodyPr/>
                        <a:p>
                          <a:endParaRPr lang="zh-CN" altLang="en-US"/>
                        </a:p>
                      </p:txBody>
                    </p:sp>
                  </p:grpSp>
                  <p:grpSp>
                    <p:nvGrpSpPr>
                      <p:cNvPr id="41016" name="Group 21"/>
                      <p:cNvGrpSpPr/>
                      <p:nvPr/>
                    </p:nvGrpSpPr>
                    <p:grpSpPr>
                      <a:xfrm>
                        <a:off x="1159" y="2743"/>
                        <a:ext cx="630" cy="432"/>
                        <a:chOff x="1159" y="2743"/>
                        <a:chExt cx="630" cy="432"/>
                      </a:xfrm>
                    </p:grpSpPr>
                    <p:grpSp>
                      <p:nvGrpSpPr>
                        <p:cNvPr id="41017" name="Group 22"/>
                        <p:cNvGrpSpPr/>
                        <p:nvPr/>
                      </p:nvGrpSpPr>
                      <p:grpSpPr>
                        <a:xfrm>
                          <a:off x="1159" y="2743"/>
                          <a:ext cx="225" cy="249"/>
                          <a:chOff x="1159" y="2743"/>
                          <a:chExt cx="225" cy="249"/>
                        </a:xfrm>
                      </p:grpSpPr>
                      <p:sp>
                        <p:nvSpPr>
                          <p:cNvPr id="41025" name="Freeform 23"/>
                          <p:cNvSpPr/>
                          <p:nvPr/>
                        </p:nvSpPr>
                        <p:spPr>
                          <a:xfrm>
                            <a:off x="1159" y="2743"/>
                            <a:ext cx="225" cy="249"/>
                          </a:xfrm>
                          <a:custGeom>
                            <a:avLst/>
                            <a:gdLst/>
                            <a:ahLst/>
                            <a:cxnLst>
                              <a:cxn ang="0">
                                <a:pos x="1" y="1"/>
                              </a:cxn>
                              <a:cxn ang="0">
                                <a:pos x="1" y="1"/>
                              </a:cxn>
                              <a:cxn ang="0">
                                <a:pos x="1"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Lst>
                            <a:pathLst>
                              <a:path w="449" h="498">
                                <a:moveTo>
                                  <a:pt x="83" y="472"/>
                                </a:moveTo>
                                <a:lnTo>
                                  <a:pt x="24" y="408"/>
                                </a:lnTo>
                                <a:lnTo>
                                  <a:pt x="0" y="323"/>
                                </a:lnTo>
                                <a:lnTo>
                                  <a:pt x="16" y="215"/>
                                </a:lnTo>
                                <a:lnTo>
                                  <a:pt x="49" y="134"/>
                                </a:lnTo>
                                <a:lnTo>
                                  <a:pt x="75" y="93"/>
                                </a:lnTo>
                                <a:lnTo>
                                  <a:pt x="104" y="40"/>
                                </a:lnTo>
                                <a:lnTo>
                                  <a:pt x="119" y="23"/>
                                </a:lnTo>
                                <a:lnTo>
                                  <a:pt x="140" y="1"/>
                                </a:lnTo>
                                <a:lnTo>
                                  <a:pt x="162" y="0"/>
                                </a:lnTo>
                                <a:lnTo>
                                  <a:pt x="174" y="19"/>
                                </a:lnTo>
                                <a:lnTo>
                                  <a:pt x="185" y="44"/>
                                </a:lnTo>
                                <a:lnTo>
                                  <a:pt x="195" y="28"/>
                                </a:lnTo>
                                <a:lnTo>
                                  <a:pt x="220" y="25"/>
                                </a:lnTo>
                                <a:lnTo>
                                  <a:pt x="235" y="44"/>
                                </a:lnTo>
                                <a:lnTo>
                                  <a:pt x="242" y="70"/>
                                </a:lnTo>
                                <a:lnTo>
                                  <a:pt x="248" y="110"/>
                                </a:lnTo>
                                <a:lnTo>
                                  <a:pt x="265" y="99"/>
                                </a:lnTo>
                                <a:lnTo>
                                  <a:pt x="286" y="113"/>
                                </a:lnTo>
                                <a:lnTo>
                                  <a:pt x="291" y="126"/>
                                </a:lnTo>
                                <a:lnTo>
                                  <a:pt x="290" y="149"/>
                                </a:lnTo>
                                <a:lnTo>
                                  <a:pt x="286" y="168"/>
                                </a:lnTo>
                                <a:lnTo>
                                  <a:pt x="300" y="152"/>
                                </a:lnTo>
                                <a:lnTo>
                                  <a:pt x="319" y="142"/>
                                </a:lnTo>
                                <a:lnTo>
                                  <a:pt x="348" y="149"/>
                                </a:lnTo>
                                <a:lnTo>
                                  <a:pt x="351" y="166"/>
                                </a:lnTo>
                                <a:lnTo>
                                  <a:pt x="354" y="181"/>
                                </a:lnTo>
                                <a:lnTo>
                                  <a:pt x="354" y="200"/>
                                </a:lnTo>
                                <a:lnTo>
                                  <a:pt x="371" y="194"/>
                                </a:lnTo>
                                <a:lnTo>
                                  <a:pt x="391" y="205"/>
                                </a:lnTo>
                                <a:lnTo>
                                  <a:pt x="399" y="220"/>
                                </a:lnTo>
                                <a:lnTo>
                                  <a:pt x="404" y="245"/>
                                </a:lnTo>
                                <a:lnTo>
                                  <a:pt x="423" y="253"/>
                                </a:lnTo>
                                <a:lnTo>
                                  <a:pt x="433" y="283"/>
                                </a:lnTo>
                                <a:lnTo>
                                  <a:pt x="429" y="312"/>
                                </a:lnTo>
                                <a:lnTo>
                                  <a:pt x="423" y="366"/>
                                </a:lnTo>
                                <a:lnTo>
                                  <a:pt x="427" y="398"/>
                                </a:lnTo>
                                <a:lnTo>
                                  <a:pt x="438" y="422"/>
                                </a:lnTo>
                                <a:lnTo>
                                  <a:pt x="449" y="445"/>
                                </a:lnTo>
                                <a:lnTo>
                                  <a:pt x="446" y="471"/>
                                </a:lnTo>
                                <a:lnTo>
                                  <a:pt x="433" y="491"/>
                                </a:lnTo>
                                <a:lnTo>
                                  <a:pt x="417" y="498"/>
                                </a:lnTo>
                                <a:lnTo>
                                  <a:pt x="398" y="498"/>
                                </a:lnTo>
                                <a:lnTo>
                                  <a:pt x="381" y="492"/>
                                </a:lnTo>
                                <a:lnTo>
                                  <a:pt x="360" y="472"/>
                                </a:lnTo>
                                <a:lnTo>
                                  <a:pt x="351" y="455"/>
                                </a:lnTo>
                                <a:lnTo>
                                  <a:pt x="348" y="445"/>
                                </a:lnTo>
                                <a:lnTo>
                                  <a:pt x="328" y="450"/>
                                </a:lnTo>
                                <a:lnTo>
                                  <a:pt x="306" y="449"/>
                                </a:lnTo>
                                <a:lnTo>
                                  <a:pt x="290" y="440"/>
                                </a:lnTo>
                                <a:lnTo>
                                  <a:pt x="284" y="433"/>
                                </a:lnTo>
                                <a:lnTo>
                                  <a:pt x="265" y="433"/>
                                </a:lnTo>
                                <a:lnTo>
                                  <a:pt x="254" y="428"/>
                                </a:lnTo>
                                <a:lnTo>
                                  <a:pt x="248" y="423"/>
                                </a:lnTo>
                                <a:lnTo>
                                  <a:pt x="233" y="423"/>
                                </a:lnTo>
                                <a:lnTo>
                                  <a:pt x="220" y="417"/>
                                </a:lnTo>
                                <a:lnTo>
                                  <a:pt x="210" y="398"/>
                                </a:lnTo>
                                <a:lnTo>
                                  <a:pt x="200" y="385"/>
                                </a:lnTo>
                                <a:lnTo>
                                  <a:pt x="195" y="398"/>
                                </a:lnTo>
                                <a:lnTo>
                                  <a:pt x="187" y="418"/>
                                </a:lnTo>
                                <a:lnTo>
                                  <a:pt x="172" y="428"/>
                                </a:lnTo>
                                <a:lnTo>
                                  <a:pt x="158" y="429"/>
                                </a:lnTo>
                                <a:lnTo>
                                  <a:pt x="148" y="429"/>
                                </a:lnTo>
                                <a:lnTo>
                                  <a:pt x="144" y="440"/>
                                </a:lnTo>
                                <a:lnTo>
                                  <a:pt x="134" y="455"/>
                                </a:lnTo>
                                <a:lnTo>
                                  <a:pt x="119" y="472"/>
                                </a:lnTo>
                                <a:lnTo>
                                  <a:pt x="83" y="472"/>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nvGrpSpPr>
                          <p:cNvPr id="41026" name="Group 24"/>
                          <p:cNvGrpSpPr/>
                          <p:nvPr/>
                        </p:nvGrpSpPr>
                        <p:grpSpPr>
                          <a:xfrm>
                            <a:off x="1171" y="2756"/>
                            <a:ext cx="169" cy="217"/>
                            <a:chOff x="1171" y="2756"/>
                            <a:chExt cx="169" cy="217"/>
                          </a:xfrm>
                        </p:grpSpPr>
                        <p:sp>
                          <p:nvSpPr>
                            <p:cNvPr id="41027" name="Freeform 25"/>
                            <p:cNvSpPr/>
                            <p:nvPr/>
                          </p:nvSpPr>
                          <p:spPr>
                            <a:xfrm>
                              <a:off x="1306" y="2899"/>
                              <a:ext cx="34" cy="46"/>
                            </a:xfrm>
                            <a:custGeom>
                              <a:avLst/>
                              <a:gdLst/>
                              <a:ahLst/>
                              <a:cxnLst>
                                <a:cxn ang="0">
                                  <a:pos x="1" y="0"/>
                                </a:cxn>
                                <a:cxn ang="0">
                                  <a:pos x="1" y="0"/>
                                </a:cxn>
                                <a:cxn ang="0">
                                  <a:pos x="1" y="0"/>
                                </a:cxn>
                                <a:cxn ang="0">
                                  <a:pos x="1" y="0"/>
                                </a:cxn>
                                <a:cxn ang="0">
                                  <a:pos x="1" y="0"/>
                                </a:cxn>
                                <a:cxn ang="0">
                                  <a:pos x="1" y="0"/>
                                </a:cxn>
                                <a:cxn ang="0">
                                  <a:pos x="0" y="0"/>
                                </a:cxn>
                                <a:cxn ang="0">
                                  <a:pos x="1" y="0"/>
                                </a:cxn>
                              </a:cxnLst>
                              <a:pathLst>
                                <a:path w="66" h="93">
                                  <a:moveTo>
                                    <a:pt x="19" y="93"/>
                                  </a:moveTo>
                                  <a:lnTo>
                                    <a:pt x="14" y="47"/>
                                  </a:lnTo>
                                  <a:lnTo>
                                    <a:pt x="29" y="20"/>
                                  </a:lnTo>
                                  <a:lnTo>
                                    <a:pt x="66" y="0"/>
                                  </a:lnTo>
                                  <a:lnTo>
                                    <a:pt x="43" y="4"/>
                                  </a:lnTo>
                                  <a:lnTo>
                                    <a:pt x="12" y="14"/>
                                  </a:lnTo>
                                  <a:lnTo>
                                    <a:pt x="0" y="38"/>
                                  </a:lnTo>
                                  <a:lnTo>
                                    <a:pt x="19" y="93"/>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28" name="Freeform 26"/>
                            <p:cNvSpPr/>
                            <p:nvPr/>
                          </p:nvSpPr>
                          <p:spPr>
                            <a:xfrm>
                              <a:off x="1243" y="2827"/>
                              <a:ext cx="54" cy="108"/>
                            </a:xfrm>
                            <a:custGeom>
                              <a:avLst/>
                              <a:gdLst/>
                              <a:ahLst/>
                              <a:cxnLst>
                                <a:cxn ang="0">
                                  <a:pos x="1" y="0"/>
                                </a:cxn>
                                <a:cxn ang="0">
                                  <a:pos x="1" y="0"/>
                                </a:cxn>
                                <a:cxn ang="0">
                                  <a:pos x="1" y="0"/>
                                </a:cxn>
                                <a:cxn ang="0">
                                  <a:pos x="1" y="0"/>
                                </a:cxn>
                                <a:cxn ang="0">
                                  <a:pos x="1" y="0"/>
                                </a:cxn>
                                <a:cxn ang="0">
                                  <a:pos x="1" y="0"/>
                                </a:cxn>
                                <a:cxn ang="0">
                                  <a:pos x="1" y="0"/>
                                </a:cxn>
                                <a:cxn ang="0">
                                  <a:pos x="0" y="0"/>
                                </a:cxn>
                                <a:cxn ang="0">
                                  <a:pos x="1" y="0"/>
                                </a:cxn>
                                <a:cxn ang="0">
                                  <a:pos x="1" y="0"/>
                                </a:cxn>
                                <a:cxn ang="0">
                                  <a:pos x="1" y="0"/>
                                </a:cxn>
                                <a:cxn ang="0">
                                  <a:pos x="1" y="0"/>
                                </a:cxn>
                              </a:cxnLst>
                              <a:pathLst>
                                <a:path w="108" h="217">
                                  <a:moveTo>
                                    <a:pt x="43" y="217"/>
                                  </a:moveTo>
                                  <a:lnTo>
                                    <a:pt x="22" y="171"/>
                                  </a:lnTo>
                                  <a:lnTo>
                                    <a:pt x="26" y="104"/>
                                  </a:lnTo>
                                  <a:lnTo>
                                    <a:pt x="60" y="52"/>
                                  </a:lnTo>
                                  <a:lnTo>
                                    <a:pt x="108" y="0"/>
                                  </a:lnTo>
                                  <a:lnTo>
                                    <a:pt x="81" y="30"/>
                                  </a:lnTo>
                                  <a:lnTo>
                                    <a:pt x="32" y="65"/>
                                  </a:lnTo>
                                  <a:lnTo>
                                    <a:pt x="0" y="97"/>
                                  </a:lnTo>
                                  <a:lnTo>
                                    <a:pt x="5" y="121"/>
                                  </a:lnTo>
                                  <a:lnTo>
                                    <a:pt x="4" y="154"/>
                                  </a:lnTo>
                                  <a:lnTo>
                                    <a:pt x="4" y="186"/>
                                  </a:lnTo>
                                  <a:lnTo>
                                    <a:pt x="43" y="217"/>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29" name="Freeform 27"/>
                            <p:cNvSpPr/>
                            <p:nvPr/>
                          </p:nvSpPr>
                          <p:spPr>
                            <a:xfrm>
                              <a:off x="1171" y="2886"/>
                              <a:ext cx="37" cy="87"/>
                            </a:xfrm>
                            <a:custGeom>
                              <a:avLst/>
                              <a:gdLst/>
                              <a:ahLst/>
                              <a:cxnLst>
                                <a:cxn ang="0">
                                  <a:pos x="1" y="1"/>
                                </a:cxn>
                                <a:cxn ang="0">
                                  <a:pos x="0" y="1"/>
                                </a:cxn>
                                <a:cxn ang="0">
                                  <a:pos x="1" y="1"/>
                                </a:cxn>
                                <a:cxn ang="0">
                                  <a:pos x="1" y="0"/>
                                </a:cxn>
                                <a:cxn ang="0">
                                  <a:pos x="1" y="1"/>
                                </a:cxn>
                                <a:cxn ang="0">
                                  <a:pos x="1" y="1"/>
                                </a:cxn>
                                <a:cxn ang="0">
                                  <a:pos x="1" y="1"/>
                                </a:cxn>
                                <a:cxn ang="0">
                                  <a:pos x="1" y="1"/>
                                </a:cxn>
                              </a:cxnLst>
                              <a:pathLst>
                                <a:path w="74" h="174">
                                  <a:moveTo>
                                    <a:pt x="33" y="144"/>
                                  </a:moveTo>
                                  <a:lnTo>
                                    <a:pt x="0" y="90"/>
                                  </a:lnTo>
                                  <a:lnTo>
                                    <a:pt x="12" y="53"/>
                                  </a:lnTo>
                                  <a:lnTo>
                                    <a:pt x="42" y="0"/>
                                  </a:lnTo>
                                  <a:lnTo>
                                    <a:pt x="17" y="92"/>
                                  </a:lnTo>
                                  <a:lnTo>
                                    <a:pt x="36" y="132"/>
                                  </a:lnTo>
                                  <a:lnTo>
                                    <a:pt x="74" y="174"/>
                                  </a:lnTo>
                                  <a:lnTo>
                                    <a:pt x="33" y="144"/>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30" name="Freeform 28"/>
                            <p:cNvSpPr/>
                            <p:nvPr/>
                          </p:nvSpPr>
                          <p:spPr>
                            <a:xfrm>
                              <a:off x="1201" y="2756"/>
                              <a:ext cx="49" cy="86"/>
                            </a:xfrm>
                            <a:custGeom>
                              <a:avLst/>
                              <a:gdLst/>
                              <a:ahLst/>
                              <a:cxnLst>
                                <a:cxn ang="0">
                                  <a:pos x="0" y="0"/>
                                </a:cxn>
                                <a:cxn ang="0">
                                  <a:pos x="0" y="1"/>
                                </a:cxn>
                                <a:cxn ang="0">
                                  <a:pos x="0" y="1"/>
                                </a:cxn>
                                <a:cxn ang="0">
                                  <a:pos x="0" y="1"/>
                                </a:cxn>
                                <a:cxn ang="0">
                                  <a:pos x="0" y="1"/>
                                </a:cxn>
                                <a:cxn ang="0">
                                  <a:pos x="0" y="1"/>
                                </a:cxn>
                                <a:cxn ang="0">
                                  <a:pos x="0" y="1"/>
                                </a:cxn>
                                <a:cxn ang="0">
                                  <a:pos x="0" y="1"/>
                                </a:cxn>
                                <a:cxn ang="0">
                                  <a:pos x="0" y="0"/>
                                </a:cxn>
                              </a:cxnLst>
                              <a:pathLst>
                                <a:path w="99" h="171">
                                  <a:moveTo>
                                    <a:pt x="99" y="0"/>
                                  </a:moveTo>
                                  <a:lnTo>
                                    <a:pt x="52" y="42"/>
                                  </a:lnTo>
                                  <a:lnTo>
                                    <a:pt x="14" y="83"/>
                                  </a:lnTo>
                                  <a:lnTo>
                                    <a:pt x="6" y="122"/>
                                  </a:lnTo>
                                  <a:lnTo>
                                    <a:pt x="0" y="171"/>
                                  </a:lnTo>
                                  <a:lnTo>
                                    <a:pt x="16" y="130"/>
                                  </a:lnTo>
                                  <a:lnTo>
                                    <a:pt x="31" y="87"/>
                                  </a:lnTo>
                                  <a:lnTo>
                                    <a:pt x="72" y="37"/>
                                  </a:lnTo>
                                  <a:lnTo>
                                    <a:pt x="99" y="0"/>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31" name="Freeform 29"/>
                            <p:cNvSpPr/>
                            <p:nvPr/>
                          </p:nvSpPr>
                          <p:spPr>
                            <a:xfrm>
                              <a:off x="1195" y="2917"/>
                              <a:ext cx="28" cy="56"/>
                            </a:xfrm>
                            <a:custGeom>
                              <a:avLst/>
                              <a:gdLst/>
                              <a:ahLst/>
                              <a:cxnLst>
                                <a:cxn ang="0">
                                  <a:pos x="0" y="1"/>
                                </a:cxn>
                                <a:cxn ang="0">
                                  <a:pos x="0" y="1"/>
                                </a:cxn>
                                <a:cxn ang="0">
                                  <a:pos x="0" y="1"/>
                                </a:cxn>
                                <a:cxn ang="0">
                                  <a:pos x="0" y="1"/>
                                </a:cxn>
                                <a:cxn ang="0">
                                  <a:pos x="0" y="0"/>
                                </a:cxn>
                                <a:cxn ang="0">
                                  <a:pos x="0" y="1"/>
                                </a:cxn>
                                <a:cxn ang="0">
                                  <a:pos x="0" y="1"/>
                                </a:cxn>
                                <a:cxn ang="0">
                                  <a:pos x="0" y="1"/>
                                </a:cxn>
                                <a:cxn ang="0">
                                  <a:pos x="0" y="1"/>
                                </a:cxn>
                                <a:cxn ang="0">
                                  <a:pos x="0" y="1"/>
                                </a:cxn>
                                <a:cxn ang="0">
                                  <a:pos x="0" y="1"/>
                                </a:cxn>
                              </a:cxnLst>
                              <a:pathLst>
                                <a:path w="57" h="112">
                                  <a:moveTo>
                                    <a:pt x="21" y="112"/>
                                  </a:moveTo>
                                  <a:lnTo>
                                    <a:pt x="7" y="78"/>
                                  </a:lnTo>
                                  <a:lnTo>
                                    <a:pt x="0" y="53"/>
                                  </a:lnTo>
                                  <a:lnTo>
                                    <a:pt x="16" y="23"/>
                                  </a:lnTo>
                                  <a:lnTo>
                                    <a:pt x="50" y="0"/>
                                  </a:lnTo>
                                  <a:lnTo>
                                    <a:pt x="31" y="32"/>
                                  </a:lnTo>
                                  <a:lnTo>
                                    <a:pt x="18" y="64"/>
                                  </a:lnTo>
                                  <a:lnTo>
                                    <a:pt x="36" y="78"/>
                                  </a:lnTo>
                                  <a:lnTo>
                                    <a:pt x="57" y="47"/>
                                  </a:lnTo>
                                  <a:lnTo>
                                    <a:pt x="47" y="71"/>
                                  </a:lnTo>
                                  <a:lnTo>
                                    <a:pt x="21" y="112"/>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grpSp>
                    <p:grpSp>
                      <p:nvGrpSpPr>
                        <p:cNvPr id="41018" name="Group 30"/>
                        <p:cNvGrpSpPr/>
                        <p:nvPr/>
                      </p:nvGrpSpPr>
                      <p:grpSpPr>
                        <a:xfrm>
                          <a:off x="1549" y="3046"/>
                          <a:ext cx="240" cy="129"/>
                          <a:chOff x="1549" y="3046"/>
                          <a:chExt cx="240" cy="129"/>
                        </a:xfrm>
                      </p:grpSpPr>
                      <p:sp>
                        <p:nvSpPr>
                          <p:cNvPr id="41019" name="Freeform 31"/>
                          <p:cNvSpPr/>
                          <p:nvPr/>
                        </p:nvSpPr>
                        <p:spPr>
                          <a:xfrm>
                            <a:off x="1549" y="3046"/>
                            <a:ext cx="240" cy="129"/>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1" y="0"/>
                              </a:cxn>
                              <a:cxn ang="0">
                                <a:pos x="1" y="0"/>
                              </a:cxn>
                              <a:cxn ang="0">
                                <a:pos x="1" y="0"/>
                              </a:cxn>
                            </a:cxnLst>
                            <a:pathLst>
                              <a:path w="480" h="259">
                                <a:moveTo>
                                  <a:pt x="30" y="63"/>
                                </a:moveTo>
                                <a:lnTo>
                                  <a:pt x="117" y="67"/>
                                </a:lnTo>
                                <a:lnTo>
                                  <a:pt x="176" y="66"/>
                                </a:lnTo>
                                <a:lnTo>
                                  <a:pt x="250" y="31"/>
                                </a:lnTo>
                                <a:lnTo>
                                  <a:pt x="309" y="4"/>
                                </a:lnTo>
                                <a:lnTo>
                                  <a:pt x="363" y="0"/>
                                </a:lnTo>
                                <a:lnTo>
                                  <a:pt x="387" y="25"/>
                                </a:lnTo>
                                <a:lnTo>
                                  <a:pt x="425" y="43"/>
                                </a:lnTo>
                                <a:lnTo>
                                  <a:pt x="469" y="46"/>
                                </a:lnTo>
                                <a:lnTo>
                                  <a:pt x="480" y="67"/>
                                </a:lnTo>
                                <a:lnTo>
                                  <a:pt x="473" y="117"/>
                                </a:lnTo>
                                <a:lnTo>
                                  <a:pt x="465" y="149"/>
                                </a:lnTo>
                                <a:lnTo>
                                  <a:pt x="444" y="175"/>
                                </a:lnTo>
                                <a:lnTo>
                                  <a:pt x="413" y="207"/>
                                </a:lnTo>
                                <a:lnTo>
                                  <a:pt x="397" y="238"/>
                                </a:lnTo>
                                <a:lnTo>
                                  <a:pt x="375" y="256"/>
                                </a:lnTo>
                                <a:lnTo>
                                  <a:pt x="357" y="259"/>
                                </a:lnTo>
                                <a:lnTo>
                                  <a:pt x="330" y="233"/>
                                </a:lnTo>
                                <a:lnTo>
                                  <a:pt x="311" y="243"/>
                                </a:lnTo>
                                <a:lnTo>
                                  <a:pt x="284" y="244"/>
                                </a:lnTo>
                                <a:lnTo>
                                  <a:pt x="264" y="206"/>
                                </a:lnTo>
                                <a:lnTo>
                                  <a:pt x="252" y="212"/>
                                </a:lnTo>
                                <a:lnTo>
                                  <a:pt x="232" y="212"/>
                                </a:lnTo>
                                <a:lnTo>
                                  <a:pt x="224" y="191"/>
                                </a:lnTo>
                                <a:lnTo>
                                  <a:pt x="202" y="206"/>
                                </a:lnTo>
                                <a:lnTo>
                                  <a:pt x="181" y="218"/>
                                </a:lnTo>
                                <a:lnTo>
                                  <a:pt x="158" y="206"/>
                                </a:lnTo>
                                <a:lnTo>
                                  <a:pt x="151" y="186"/>
                                </a:lnTo>
                                <a:lnTo>
                                  <a:pt x="149" y="163"/>
                                </a:lnTo>
                                <a:lnTo>
                                  <a:pt x="110" y="168"/>
                                </a:lnTo>
                                <a:lnTo>
                                  <a:pt x="81" y="175"/>
                                </a:lnTo>
                                <a:lnTo>
                                  <a:pt x="74" y="159"/>
                                </a:lnTo>
                                <a:lnTo>
                                  <a:pt x="50" y="159"/>
                                </a:lnTo>
                                <a:lnTo>
                                  <a:pt x="14" y="134"/>
                                </a:lnTo>
                                <a:lnTo>
                                  <a:pt x="0" y="104"/>
                                </a:lnTo>
                                <a:lnTo>
                                  <a:pt x="7" y="91"/>
                                </a:lnTo>
                                <a:lnTo>
                                  <a:pt x="2" y="66"/>
                                </a:lnTo>
                                <a:lnTo>
                                  <a:pt x="30" y="63"/>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nvGrpSpPr>
                          <p:cNvPr id="41020" name="Group 32"/>
                          <p:cNvGrpSpPr/>
                          <p:nvPr/>
                        </p:nvGrpSpPr>
                        <p:grpSpPr>
                          <a:xfrm>
                            <a:off x="1585" y="3067"/>
                            <a:ext cx="180" cy="98"/>
                            <a:chOff x="1585" y="3067"/>
                            <a:chExt cx="180" cy="98"/>
                          </a:xfrm>
                        </p:grpSpPr>
                        <p:sp>
                          <p:nvSpPr>
                            <p:cNvPr id="41021" name="Freeform 33"/>
                            <p:cNvSpPr/>
                            <p:nvPr/>
                          </p:nvSpPr>
                          <p:spPr>
                            <a:xfrm>
                              <a:off x="1585" y="3097"/>
                              <a:ext cx="55" cy="28"/>
                            </a:xfrm>
                            <a:custGeom>
                              <a:avLst/>
                              <a:gdLst/>
                              <a:ahLst/>
                              <a:cxnLst>
                                <a:cxn ang="0">
                                  <a:pos x="0" y="1"/>
                                </a:cxn>
                                <a:cxn ang="0">
                                  <a:pos x="1" y="1"/>
                                </a:cxn>
                                <a:cxn ang="0">
                                  <a:pos x="1" y="0"/>
                                </a:cxn>
                                <a:cxn ang="0">
                                  <a:pos x="1" y="1"/>
                                </a:cxn>
                                <a:cxn ang="0">
                                  <a:pos x="1" y="1"/>
                                </a:cxn>
                                <a:cxn ang="0">
                                  <a:pos x="0" y="1"/>
                                </a:cxn>
                              </a:cxnLst>
                              <a:pathLst>
                                <a:path w="110" h="55">
                                  <a:moveTo>
                                    <a:pt x="0" y="55"/>
                                  </a:moveTo>
                                  <a:lnTo>
                                    <a:pt x="58" y="40"/>
                                  </a:lnTo>
                                  <a:lnTo>
                                    <a:pt x="110" y="0"/>
                                  </a:lnTo>
                                  <a:lnTo>
                                    <a:pt x="90" y="30"/>
                                  </a:lnTo>
                                  <a:lnTo>
                                    <a:pt x="67" y="50"/>
                                  </a:lnTo>
                                  <a:lnTo>
                                    <a:pt x="0" y="55"/>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22" name="Freeform 34"/>
                            <p:cNvSpPr/>
                            <p:nvPr/>
                          </p:nvSpPr>
                          <p:spPr>
                            <a:xfrm>
                              <a:off x="1659" y="3067"/>
                              <a:ext cx="44" cy="78"/>
                            </a:xfrm>
                            <a:custGeom>
                              <a:avLst/>
                              <a:gdLst/>
                              <a:ahLst/>
                              <a:cxnLst>
                                <a:cxn ang="0">
                                  <a:pos x="0" y="0"/>
                                </a:cxn>
                                <a:cxn ang="0">
                                  <a:pos x="1" y="0"/>
                                </a:cxn>
                                <a:cxn ang="0">
                                  <a:pos x="1" y="0"/>
                                </a:cxn>
                                <a:cxn ang="0">
                                  <a:pos x="1" y="0"/>
                                </a:cxn>
                                <a:cxn ang="0">
                                  <a:pos x="1" y="0"/>
                                </a:cxn>
                                <a:cxn ang="0">
                                  <a:pos x="0" y="0"/>
                                </a:cxn>
                              </a:cxnLst>
                              <a:pathLst>
                                <a:path w="88" h="157">
                                  <a:moveTo>
                                    <a:pt x="0" y="157"/>
                                  </a:moveTo>
                                  <a:lnTo>
                                    <a:pt x="31" y="103"/>
                                  </a:lnTo>
                                  <a:lnTo>
                                    <a:pt x="88" y="0"/>
                                  </a:lnTo>
                                  <a:lnTo>
                                    <a:pt x="71" y="57"/>
                                  </a:lnTo>
                                  <a:lnTo>
                                    <a:pt x="59" y="106"/>
                                  </a:lnTo>
                                  <a:lnTo>
                                    <a:pt x="0" y="157"/>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23" name="Freeform 35"/>
                            <p:cNvSpPr/>
                            <p:nvPr/>
                          </p:nvSpPr>
                          <p:spPr>
                            <a:xfrm>
                              <a:off x="1711" y="3069"/>
                              <a:ext cx="32" cy="96"/>
                            </a:xfrm>
                            <a:custGeom>
                              <a:avLst/>
                              <a:gdLst/>
                              <a:ahLst/>
                              <a:cxnLst>
                                <a:cxn ang="0">
                                  <a:pos x="0" y="1"/>
                                </a:cxn>
                                <a:cxn ang="0">
                                  <a:pos x="0" y="1"/>
                                </a:cxn>
                                <a:cxn ang="0">
                                  <a:pos x="0" y="1"/>
                                </a:cxn>
                                <a:cxn ang="0">
                                  <a:pos x="0" y="0"/>
                                </a:cxn>
                                <a:cxn ang="0">
                                  <a:pos x="0" y="1"/>
                                </a:cxn>
                                <a:cxn ang="0">
                                  <a:pos x="0" y="1"/>
                                </a:cxn>
                                <a:cxn ang="0">
                                  <a:pos x="0" y="1"/>
                                </a:cxn>
                                <a:cxn ang="0">
                                  <a:pos x="0" y="1"/>
                                </a:cxn>
                              </a:cxnLst>
                              <a:pathLst>
                                <a:path w="65" h="192">
                                  <a:moveTo>
                                    <a:pt x="0" y="192"/>
                                  </a:moveTo>
                                  <a:lnTo>
                                    <a:pt x="48" y="150"/>
                                  </a:lnTo>
                                  <a:lnTo>
                                    <a:pt x="46" y="59"/>
                                  </a:lnTo>
                                  <a:lnTo>
                                    <a:pt x="15" y="0"/>
                                  </a:lnTo>
                                  <a:lnTo>
                                    <a:pt x="53" y="57"/>
                                  </a:lnTo>
                                  <a:lnTo>
                                    <a:pt x="65" y="116"/>
                                  </a:lnTo>
                                  <a:lnTo>
                                    <a:pt x="63" y="166"/>
                                  </a:lnTo>
                                  <a:lnTo>
                                    <a:pt x="0" y="192"/>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24" name="Freeform 36"/>
                            <p:cNvSpPr/>
                            <p:nvPr/>
                          </p:nvSpPr>
                          <p:spPr>
                            <a:xfrm>
                              <a:off x="1756" y="3099"/>
                              <a:ext cx="9" cy="37"/>
                            </a:xfrm>
                            <a:custGeom>
                              <a:avLst/>
                              <a:gdLst/>
                              <a:ahLst/>
                              <a:cxnLst>
                                <a:cxn ang="0">
                                  <a:pos x="0" y="0"/>
                                </a:cxn>
                                <a:cxn ang="0">
                                  <a:pos x="0" y="1"/>
                                </a:cxn>
                                <a:cxn ang="0">
                                  <a:pos x="0" y="1"/>
                                </a:cxn>
                              </a:cxnLst>
                              <a:pathLst>
                                <a:path w="19" h="74">
                                  <a:moveTo>
                                    <a:pt x="0" y="0"/>
                                  </a:moveTo>
                                  <a:lnTo>
                                    <a:pt x="19" y="51"/>
                                  </a:lnTo>
                                  <a:lnTo>
                                    <a:pt x="12" y="74"/>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grpSp>
                    </p:grpSp>
                  </p:grpSp>
                </p:grpSp>
              </p:grpSp>
              <p:grpSp>
                <p:nvGrpSpPr>
                  <p:cNvPr id="41009" name="Group 37"/>
                  <p:cNvGrpSpPr/>
                  <p:nvPr/>
                </p:nvGrpSpPr>
                <p:grpSpPr>
                  <a:xfrm>
                    <a:off x="1718" y="2805"/>
                    <a:ext cx="148" cy="215"/>
                    <a:chOff x="1718" y="2805"/>
                    <a:chExt cx="148" cy="215"/>
                  </a:xfrm>
                </p:grpSpPr>
                <p:sp>
                  <p:nvSpPr>
                    <p:cNvPr id="41010" name="Freeform 38"/>
                    <p:cNvSpPr/>
                    <p:nvPr/>
                  </p:nvSpPr>
                  <p:spPr>
                    <a:xfrm>
                      <a:off x="1718" y="2854"/>
                      <a:ext cx="132" cy="166"/>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1" y="0"/>
                        </a:cxn>
                      </a:cxnLst>
                      <a:pathLst>
                        <a:path w="263" h="333">
                          <a:moveTo>
                            <a:pt x="15" y="141"/>
                          </a:moveTo>
                          <a:lnTo>
                            <a:pt x="43" y="77"/>
                          </a:lnTo>
                          <a:lnTo>
                            <a:pt x="64" y="53"/>
                          </a:lnTo>
                          <a:lnTo>
                            <a:pt x="92" y="17"/>
                          </a:lnTo>
                          <a:lnTo>
                            <a:pt x="139" y="0"/>
                          </a:lnTo>
                          <a:lnTo>
                            <a:pt x="180" y="6"/>
                          </a:lnTo>
                          <a:lnTo>
                            <a:pt x="212" y="26"/>
                          </a:lnTo>
                          <a:lnTo>
                            <a:pt x="241" y="63"/>
                          </a:lnTo>
                          <a:lnTo>
                            <a:pt x="262" y="123"/>
                          </a:lnTo>
                          <a:lnTo>
                            <a:pt x="263" y="169"/>
                          </a:lnTo>
                          <a:lnTo>
                            <a:pt x="248" y="214"/>
                          </a:lnTo>
                          <a:lnTo>
                            <a:pt x="221" y="256"/>
                          </a:lnTo>
                          <a:lnTo>
                            <a:pt x="196" y="288"/>
                          </a:lnTo>
                          <a:lnTo>
                            <a:pt x="149" y="324"/>
                          </a:lnTo>
                          <a:lnTo>
                            <a:pt x="96" y="333"/>
                          </a:lnTo>
                          <a:lnTo>
                            <a:pt x="47" y="320"/>
                          </a:lnTo>
                          <a:lnTo>
                            <a:pt x="7" y="281"/>
                          </a:lnTo>
                          <a:lnTo>
                            <a:pt x="0" y="228"/>
                          </a:lnTo>
                          <a:lnTo>
                            <a:pt x="15" y="141"/>
                          </a:lnTo>
                          <a:close/>
                        </a:path>
                      </a:pathLst>
                    </a:custGeom>
                    <a:solidFill>
                      <a:srgbClr val="F0F0F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11" name="Oval 39"/>
                    <p:cNvSpPr/>
                    <p:nvPr/>
                  </p:nvSpPr>
                  <p:spPr>
                    <a:xfrm>
                      <a:off x="1777" y="2902"/>
                      <a:ext cx="37" cy="41"/>
                    </a:xfrm>
                    <a:prstGeom prst="ellipse">
                      <a:avLst/>
                    </a:prstGeom>
                    <a:solidFill>
                      <a:srgbClr val="000080"/>
                    </a:solidFill>
                    <a:ln w="635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1012" name="Freeform 40"/>
                    <p:cNvSpPr/>
                    <p:nvPr/>
                  </p:nvSpPr>
                  <p:spPr>
                    <a:xfrm>
                      <a:off x="1737" y="2805"/>
                      <a:ext cx="129" cy="105"/>
                    </a:xfrm>
                    <a:custGeom>
                      <a:avLst/>
                      <a:gdLst/>
                      <a:ahLst/>
                      <a:cxnLst>
                        <a:cxn ang="0">
                          <a:pos x="1" y="1"/>
                        </a:cxn>
                        <a:cxn ang="0">
                          <a:pos x="1" y="1"/>
                        </a:cxn>
                        <a:cxn ang="0">
                          <a:pos x="1" y="1"/>
                        </a:cxn>
                        <a:cxn ang="0">
                          <a:pos x="1" y="0"/>
                        </a:cxn>
                        <a:cxn ang="0">
                          <a:pos x="1" y="1"/>
                        </a:cxn>
                        <a:cxn ang="0">
                          <a:pos x="1"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Lst>
                      <a:pathLst>
                        <a:path w="258" h="210">
                          <a:moveTo>
                            <a:pt x="256" y="144"/>
                          </a:moveTo>
                          <a:lnTo>
                            <a:pt x="250" y="127"/>
                          </a:lnTo>
                          <a:lnTo>
                            <a:pt x="65" y="1"/>
                          </a:lnTo>
                          <a:lnTo>
                            <a:pt x="48" y="0"/>
                          </a:lnTo>
                          <a:lnTo>
                            <a:pt x="30" y="7"/>
                          </a:lnTo>
                          <a:lnTo>
                            <a:pt x="12" y="21"/>
                          </a:lnTo>
                          <a:lnTo>
                            <a:pt x="0" y="44"/>
                          </a:lnTo>
                          <a:lnTo>
                            <a:pt x="3" y="64"/>
                          </a:lnTo>
                          <a:lnTo>
                            <a:pt x="9" y="85"/>
                          </a:lnTo>
                          <a:lnTo>
                            <a:pt x="20" y="97"/>
                          </a:lnTo>
                          <a:lnTo>
                            <a:pt x="37" y="107"/>
                          </a:lnTo>
                          <a:lnTo>
                            <a:pt x="175" y="202"/>
                          </a:lnTo>
                          <a:lnTo>
                            <a:pt x="187" y="208"/>
                          </a:lnTo>
                          <a:lnTo>
                            <a:pt x="203" y="210"/>
                          </a:lnTo>
                          <a:lnTo>
                            <a:pt x="223" y="208"/>
                          </a:lnTo>
                          <a:lnTo>
                            <a:pt x="240" y="196"/>
                          </a:lnTo>
                          <a:lnTo>
                            <a:pt x="254" y="178"/>
                          </a:lnTo>
                          <a:lnTo>
                            <a:pt x="258" y="159"/>
                          </a:lnTo>
                          <a:lnTo>
                            <a:pt x="256" y="144"/>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grpSp>
            <p:grpSp>
              <p:nvGrpSpPr>
                <p:cNvPr id="41002" name="Group 41"/>
                <p:cNvGrpSpPr/>
                <p:nvPr/>
              </p:nvGrpSpPr>
              <p:grpSpPr>
                <a:xfrm>
                  <a:off x="1559" y="2806"/>
                  <a:ext cx="302" cy="273"/>
                  <a:chOff x="1559" y="2806"/>
                  <a:chExt cx="302" cy="273"/>
                </a:xfrm>
              </p:grpSpPr>
              <p:sp>
                <p:nvSpPr>
                  <p:cNvPr id="41003" name="Freeform 42"/>
                  <p:cNvSpPr/>
                  <p:nvPr/>
                </p:nvSpPr>
                <p:spPr>
                  <a:xfrm>
                    <a:off x="1659" y="2863"/>
                    <a:ext cx="202" cy="216"/>
                  </a:xfrm>
                  <a:custGeom>
                    <a:avLst/>
                    <a:gdLst/>
                    <a:ahLst/>
                    <a:cxnLst>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 ang="0">
                        <a:pos x="1" y="0"/>
                      </a:cxn>
                    </a:cxnLst>
                    <a:pathLst>
                      <a:path w="403" h="432">
                        <a:moveTo>
                          <a:pt x="146" y="0"/>
                        </a:moveTo>
                        <a:lnTo>
                          <a:pt x="215" y="49"/>
                        </a:lnTo>
                        <a:lnTo>
                          <a:pt x="302" y="141"/>
                        </a:lnTo>
                        <a:lnTo>
                          <a:pt x="344" y="194"/>
                        </a:lnTo>
                        <a:lnTo>
                          <a:pt x="373" y="235"/>
                        </a:lnTo>
                        <a:lnTo>
                          <a:pt x="396" y="277"/>
                        </a:lnTo>
                        <a:lnTo>
                          <a:pt x="403" y="323"/>
                        </a:lnTo>
                        <a:lnTo>
                          <a:pt x="403" y="365"/>
                        </a:lnTo>
                        <a:lnTo>
                          <a:pt x="384" y="402"/>
                        </a:lnTo>
                        <a:lnTo>
                          <a:pt x="357" y="424"/>
                        </a:lnTo>
                        <a:lnTo>
                          <a:pt x="294" y="432"/>
                        </a:lnTo>
                        <a:lnTo>
                          <a:pt x="214" y="410"/>
                        </a:lnTo>
                        <a:lnTo>
                          <a:pt x="141" y="386"/>
                        </a:lnTo>
                        <a:lnTo>
                          <a:pt x="103" y="359"/>
                        </a:lnTo>
                        <a:lnTo>
                          <a:pt x="45" y="317"/>
                        </a:lnTo>
                        <a:lnTo>
                          <a:pt x="0" y="242"/>
                        </a:lnTo>
                        <a:lnTo>
                          <a:pt x="34" y="230"/>
                        </a:lnTo>
                        <a:lnTo>
                          <a:pt x="72" y="96"/>
                        </a:lnTo>
                        <a:lnTo>
                          <a:pt x="146" y="0"/>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nvGrpSpPr>
                  <p:cNvPr id="41004" name="Group 43"/>
                  <p:cNvGrpSpPr/>
                  <p:nvPr/>
                </p:nvGrpSpPr>
                <p:grpSpPr>
                  <a:xfrm>
                    <a:off x="1559" y="2806"/>
                    <a:ext cx="187" cy="193"/>
                    <a:chOff x="1559" y="2806"/>
                    <a:chExt cx="187" cy="193"/>
                  </a:xfrm>
                </p:grpSpPr>
                <p:sp>
                  <p:nvSpPr>
                    <p:cNvPr id="41005" name="Freeform 44"/>
                    <p:cNvSpPr/>
                    <p:nvPr/>
                  </p:nvSpPr>
                  <p:spPr>
                    <a:xfrm>
                      <a:off x="1584" y="2846"/>
                      <a:ext cx="132" cy="153"/>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1" y="0"/>
                        </a:cxn>
                        <a:cxn ang="0">
                          <a:pos x="1" y="0"/>
                        </a:cxn>
                      </a:cxnLst>
                      <a:pathLst>
                        <a:path w="264" h="308">
                          <a:moveTo>
                            <a:pt x="18" y="118"/>
                          </a:moveTo>
                          <a:lnTo>
                            <a:pt x="41" y="67"/>
                          </a:lnTo>
                          <a:lnTo>
                            <a:pt x="67" y="37"/>
                          </a:lnTo>
                          <a:lnTo>
                            <a:pt x="103" y="14"/>
                          </a:lnTo>
                          <a:lnTo>
                            <a:pt x="156" y="0"/>
                          </a:lnTo>
                          <a:lnTo>
                            <a:pt x="204" y="4"/>
                          </a:lnTo>
                          <a:lnTo>
                            <a:pt x="233" y="15"/>
                          </a:lnTo>
                          <a:lnTo>
                            <a:pt x="249" y="42"/>
                          </a:lnTo>
                          <a:lnTo>
                            <a:pt x="264" y="83"/>
                          </a:lnTo>
                          <a:lnTo>
                            <a:pt x="261" y="139"/>
                          </a:lnTo>
                          <a:lnTo>
                            <a:pt x="249" y="190"/>
                          </a:lnTo>
                          <a:lnTo>
                            <a:pt x="229" y="235"/>
                          </a:lnTo>
                          <a:lnTo>
                            <a:pt x="195" y="278"/>
                          </a:lnTo>
                          <a:lnTo>
                            <a:pt x="140" y="308"/>
                          </a:lnTo>
                          <a:lnTo>
                            <a:pt x="75" y="302"/>
                          </a:lnTo>
                          <a:lnTo>
                            <a:pt x="32" y="282"/>
                          </a:lnTo>
                          <a:lnTo>
                            <a:pt x="0" y="235"/>
                          </a:lnTo>
                          <a:lnTo>
                            <a:pt x="2" y="175"/>
                          </a:lnTo>
                          <a:lnTo>
                            <a:pt x="18" y="118"/>
                          </a:lnTo>
                          <a:close/>
                        </a:path>
                      </a:pathLst>
                    </a:custGeom>
                    <a:solidFill>
                      <a:srgbClr val="F0F0F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1006" name="Oval 45"/>
                    <p:cNvSpPr/>
                    <p:nvPr/>
                  </p:nvSpPr>
                  <p:spPr>
                    <a:xfrm>
                      <a:off x="1609" y="2932"/>
                      <a:ext cx="37" cy="42"/>
                    </a:xfrm>
                    <a:prstGeom prst="ellipse">
                      <a:avLst/>
                    </a:prstGeom>
                    <a:solidFill>
                      <a:srgbClr val="000080"/>
                    </a:solidFill>
                    <a:ln w="635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41007" name="Freeform 46"/>
                    <p:cNvSpPr/>
                    <p:nvPr/>
                  </p:nvSpPr>
                  <p:spPr>
                    <a:xfrm>
                      <a:off x="1559" y="2806"/>
                      <a:ext cx="187" cy="104"/>
                    </a:xfrm>
                    <a:custGeom>
                      <a:avLst/>
                      <a:gdLst/>
                      <a:ahLst/>
                      <a:cxnLst>
                        <a:cxn ang="0">
                          <a:pos x="1" y="1"/>
                        </a:cxn>
                        <a:cxn ang="0">
                          <a:pos x="1"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Lst>
                      <a:pathLst>
                        <a:path w="373" h="208">
                          <a:moveTo>
                            <a:pt x="11" y="122"/>
                          </a:moveTo>
                          <a:lnTo>
                            <a:pt x="30" y="110"/>
                          </a:lnTo>
                          <a:lnTo>
                            <a:pt x="307" y="1"/>
                          </a:lnTo>
                          <a:lnTo>
                            <a:pt x="325" y="0"/>
                          </a:lnTo>
                          <a:lnTo>
                            <a:pt x="343" y="8"/>
                          </a:lnTo>
                          <a:lnTo>
                            <a:pt x="361" y="21"/>
                          </a:lnTo>
                          <a:lnTo>
                            <a:pt x="373" y="44"/>
                          </a:lnTo>
                          <a:lnTo>
                            <a:pt x="371" y="64"/>
                          </a:lnTo>
                          <a:lnTo>
                            <a:pt x="365" y="85"/>
                          </a:lnTo>
                          <a:lnTo>
                            <a:pt x="354" y="97"/>
                          </a:lnTo>
                          <a:lnTo>
                            <a:pt x="336" y="107"/>
                          </a:lnTo>
                          <a:lnTo>
                            <a:pt x="71" y="207"/>
                          </a:lnTo>
                          <a:lnTo>
                            <a:pt x="55" y="208"/>
                          </a:lnTo>
                          <a:lnTo>
                            <a:pt x="37" y="203"/>
                          </a:lnTo>
                          <a:lnTo>
                            <a:pt x="23" y="195"/>
                          </a:lnTo>
                          <a:lnTo>
                            <a:pt x="8" y="182"/>
                          </a:lnTo>
                          <a:lnTo>
                            <a:pt x="0" y="164"/>
                          </a:lnTo>
                          <a:lnTo>
                            <a:pt x="3" y="140"/>
                          </a:lnTo>
                          <a:lnTo>
                            <a:pt x="11" y="122"/>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grpSp>
          </p:grpSp>
          <p:grpSp>
            <p:nvGrpSpPr>
              <p:cNvPr id="40975" name="Group 47"/>
              <p:cNvGrpSpPr/>
              <p:nvPr/>
            </p:nvGrpSpPr>
            <p:grpSpPr>
              <a:xfrm>
                <a:off x="884" y="3323"/>
                <a:ext cx="824" cy="610"/>
                <a:chOff x="884" y="3323"/>
                <a:chExt cx="824" cy="610"/>
              </a:xfrm>
            </p:grpSpPr>
            <p:sp>
              <p:nvSpPr>
                <p:cNvPr id="40991" name="Freeform 48"/>
                <p:cNvSpPr/>
                <p:nvPr/>
              </p:nvSpPr>
              <p:spPr>
                <a:xfrm>
                  <a:off x="884" y="3323"/>
                  <a:ext cx="824" cy="610"/>
                </a:xfrm>
                <a:custGeom>
                  <a:avLst/>
                  <a:gdLst/>
                  <a:ahLst/>
                  <a:cxnLst>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 ang="0">
                      <a:pos x="1" y="1"/>
                    </a:cxn>
                    <a:cxn ang="0">
                      <a:pos x="1" y="1"/>
                    </a:cxn>
                    <a:cxn ang="0">
                      <a:pos x="1" y="1"/>
                    </a:cxn>
                    <a:cxn ang="0">
                      <a:pos x="1" y="1"/>
                    </a:cxn>
                    <a:cxn ang="0">
                      <a:pos x="1" y="1"/>
                    </a:cxn>
                  </a:cxnLst>
                  <a:pathLst>
                    <a:path w="1648" h="1220">
                      <a:moveTo>
                        <a:pt x="439" y="586"/>
                      </a:moveTo>
                      <a:lnTo>
                        <a:pt x="531" y="627"/>
                      </a:lnTo>
                      <a:lnTo>
                        <a:pt x="568" y="573"/>
                      </a:lnTo>
                      <a:lnTo>
                        <a:pt x="626" y="498"/>
                      </a:lnTo>
                      <a:lnTo>
                        <a:pt x="696" y="422"/>
                      </a:lnTo>
                      <a:lnTo>
                        <a:pt x="788" y="350"/>
                      </a:lnTo>
                      <a:lnTo>
                        <a:pt x="902" y="268"/>
                      </a:lnTo>
                      <a:lnTo>
                        <a:pt x="1039" y="189"/>
                      </a:lnTo>
                      <a:lnTo>
                        <a:pt x="1188" y="101"/>
                      </a:lnTo>
                      <a:lnTo>
                        <a:pt x="1353" y="4"/>
                      </a:lnTo>
                      <a:lnTo>
                        <a:pt x="1416" y="0"/>
                      </a:lnTo>
                      <a:lnTo>
                        <a:pt x="1492" y="34"/>
                      </a:lnTo>
                      <a:lnTo>
                        <a:pt x="1560" y="117"/>
                      </a:lnTo>
                      <a:lnTo>
                        <a:pt x="1608" y="226"/>
                      </a:lnTo>
                      <a:lnTo>
                        <a:pt x="1631" y="350"/>
                      </a:lnTo>
                      <a:lnTo>
                        <a:pt x="1648" y="541"/>
                      </a:lnTo>
                      <a:lnTo>
                        <a:pt x="1642" y="663"/>
                      </a:lnTo>
                      <a:lnTo>
                        <a:pt x="1615" y="818"/>
                      </a:lnTo>
                      <a:lnTo>
                        <a:pt x="1563" y="969"/>
                      </a:lnTo>
                      <a:lnTo>
                        <a:pt x="1498" y="1108"/>
                      </a:lnTo>
                      <a:lnTo>
                        <a:pt x="1424" y="1220"/>
                      </a:lnTo>
                      <a:lnTo>
                        <a:pt x="0" y="1220"/>
                      </a:lnTo>
                      <a:lnTo>
                        <a:pt x="127" y="941"/>
                      </a:lnTo>
                      <a:lnTo>
                        <a:pt x="199" y="974"/>
                      </a:lnTo>
                      <a:lnTo>
                        <a:pt x="271" y="919"/>
                      </a:lnTo>
                      <a:lnTo>
                        <a:pt x="343" y="854"/>
                      </a:lnTo>
                      <a:lnTo>
                        <a:pt x="375" y="814"/>
                      </a:lnTo>
                      <a:lnTo>
                        <a:pt x="415" y="743"/>
                      </a:lnTo>
                      <a:lnTo>
                        <a:pt x="439" y="586"/>
                      </a:lnTo>
                      <a:close/>
                    </a:path>
                  </a:pathLst>
                </a:custGeom>
                <a:solidFill>
                  <a:srgbClr val="00FFFF">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nvGrpSpPr>
                <p:cNvPr id="40992" name="Group 49"/>
                <p:cNvGrpSpPr/>
                <p:nvPr/>
              </p:nvGrpSpPr>
              <p:grpSpPr>
                <a:xfrm>
                  <a:off x="1130" y="3517"/>
                  <a:ext cx="333" cy="320"/>
                  <a:chOff x="1130" y="3517"/>
                  <a:chExt cx="333" cy="320"/>
                </a:xfrm>
              </p:grpSpPr>
              <p:sp>
                <p:nvSpPr>
                  <p:cNvPr id="40999" name="Freeform 50"/>
                  <p:cNvSpPr/>
                  <p:nvPr/>
                </p:nvSpPr>
                <p:spPr>
                  <a:xfrm>
                    <a:off x="1130" y="3521"/>
                    <a:ext cx="333" cy="316"/>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pathLst>
                      <a:path w="667" h="630">
                        <a:moveTo>
                          <a:pt x="0" y="214"/>
                        </a:moveTo>
                        <a:lnTo>
                          <a:pt x="32" y="239"/>
                        </a:lnTo>
                        <a:lnTo>
                          <a:pt x="63" y="258"/>
                        </a:lnTo>
                        <a:lnTo>
                          <a:pt x="131" y="306"/>
                        </a:lnTo>
                        <a:lnTo>
                          <a:pt x="188" y="354"/>
                        </a:lnTo>
                        <a:lnTo>
                          <a:pt x="223" y="394"/>
                        </a:lnTo>
                        <a:lnTo>
                          <a:pt x="260" y="442"/>
                        </a:lnTo>
                        <a:lnTo>
                          <a:pt x="264" y="481"/>
                        </a:lnTo>
                        <a:lnTo>
                          <a:pt x="296" y="476"/>
                        </a:lnTo>
                        <a:lnTo>
                          <a:pt x="304" y="494"/>
                        </a:lnTo>
                        <a:lnTo>
                          <a:pt x="323" y="522"/>
                        </a:lnTo>
                        <a:lnTo>
                          <a:pt x="331" y="538"/>
                        </a:lnTo>
                        <a:lnTo>
                          <a:pt x="323" y="550"/>
                        </a:lnTo>
                        <a:lnTo>
                          <a:pt x="352" y="556"/>
                        </a:lnTo>
                        <a:lnTo>
                          <a:pt x="400" y="590"/>
                        </a:lnTo>
                        <a:lnTo>
                          <a:pt x="404" y="630"/>
                        </a:lnTo>
                        <a:lnTo>
                          <a:pt x="409" y="556"/>
                        </a:lnTo>
                        <a:lnTo>
                          <a:pt x="381" y="534"/>
                        </a:lnTo>
                        <a:lnTo>
                          <a:pt x="388" y="469"/>
                        </a:lnTo>
                        <a:lnTo>
                          <a:pt x="388" y="464"/>
                        </a:lnTo>
                        <a:lnTo>
                          <a:pt x="397" y="433"/>
                        </a:lnTo>
                        <a:lnTo>
                          <a:pt x="415" y="354"/>
                        </a:lnTo>
                        <a:lnTo>
                          <a:pt x="443" y="298"/>
                        </a:lnTo>
                        <a:lnTo>
                          <a:pt x="489" y="267"/>
                        </a:lnTo>
                        <a:lnTo>
                          <a:pt x="543" y="218"/>
                        </a:lnTo>
                        <a:lnTo>
                          <a:pt x="615" y="145"/>
                        </a:lnTo>
                        <a:lnTo>
                          <a:pt x="643" y="84"/>
                        </a:lnTo>
                        <a:lnTo>
                          <a:pt x="659" y="41"/>
                        </a:lnTo>
                        <a:lnTo>
                          <a:pt x="667" y="0"/>
                        </a:lnTo>
                        <a:lnTo>
                          <a:pt x="618" y="92"/>
                        </a:lnTo>
                        <a:lnTo>
                          <a:pt x="571" y="161"/>
                        </a:lnTo>
                        <a:lnTo>
                          <a:pt x="507" y="205"/>
                        </a:lnTo>
                        <a:lnTo>
                          <a:pt x="461" y="230"/>
                        </a:lnTo>
                        <a:lnTo>
                          <a:pt x="415" y="269"/>
                        </a:lnTo>
                        <a:lnTo>
                          <a:pt x="368" y="326"/>
                        </a:lnTo>
                        <a:lnTo>
                          <a:pt x="344" y="369"/>
                        </a:lnTo>
                        <a:lnTo>
                          <a:pt x="340" y="426"/>
                        </a:lnTo>
                        <a:lnTo>
                          <a:pt x="331" y="481"/>
                        </a:lnTo>
                        <a:lnTo>
                          <a:pt x="344" y="497"/>
                        </a:lnTo>
                        <a:lnTo>
                          <a:pt x="319" y="481"/>
                        </a:lnTo>
                        <a:lnTo>
                          <a:pt x="313" y="449"/>
                        </a:lnTo>
                        <a:lnTo>
                          <a:pt x="288" y="454"/>
                        </a:lnTo>
                        <a:lnTo>
                          <a:pt x="285" y="421"/>
                        </a:lnTo>
                        <a:lnTo>
                          <a:pt x="239" y="378"/>
                        </a:lnTo>
                        <a:lnTo>
                          <a:pt x="176" y="322"/>
                        </a:lnTo>
                        <a:lnTo>
                          <a:pt x="96" y="255"/>
                        </a:lnTo>
                        <a:lnTo>
                          <a:pt x="0" y="214"/>
                        </a:lnTo>
                        <a:close/>
                      </a:path>
                    </a:pathLst>
                  </a:custGeom>
                  <a:solidFill>
                    <a:srgbClr val="00C0E0">
                      <a:alpha val="100000"/>
                    </a:srgbClr>
                  </a:solidFill>
                  <a:ln w="6350" cap="flat" cmpd="sng">
                    <a:solidFill>
                      <a:srgbClr val="00C0E0">
                        <a:alpha val="100000"/>
                      </a:srgbClr>
                    </a:solidFill>
                    <a:prstDash val="solid"/>
                    <a:round/>
                    <a:headEnd type="none" w="med" len="med"/>
                    <a:tailEnd type="none" w="med" len="med"/>
                  </a:ln>
                </p:spPr>
                <p:txBody>
                  <a:bodyPr/>
                  <a:p>
                    <a:endParaRPr lang="zh-CN" altLang="en-US"/>
                  </a:p>
                </p:txBody>
              </p:sp>
              <p:sp>
                <p:nvSpPr>
                  <p:cNvPr id="41000" name="Freeform 51"/>
                  <p:cNvSpPr/>
                  <p:nvPr/>
                </p:nvSpPr>
                <p:spPr>
                  <a:xfrm>
                    <a:off x="1132" y="3517"/>
                    <a:ext cx="330" cy="283"/>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661" h="567">
                        <a:moveTo>
                          <a:pt x="0" y="227"/>
                        </a:moveTo>
                        <a:lnTo>
                          <a:pt x="56" y="235"/>
                        </a:lnTo>
                        <a:lnTo>
                          <a:pt x="104" y="272"/>
                        </a:lnTo>
                        <a:lnTo>
                          <a:pt x="195" y="339"/>
                        </a:lnTo>
                        <a:lnTo>
                          <a:pt x="280" y="426"/>
                        </a:lnTo>
                        <a:lnTo>
                          <a:pt x="283" y="457"/>
                        </a:lnTo>
                        <a:lnTo>
                          <a:pt x="310" y="450"/>
                        </a:lnTo>
                        <a:lnTo>
                          <a:pt x="327" y="487"/>
                        </a:lnTo>
                        <a:lnTo>
                          <a:pt x="331" y="511"/>
                        </a:lnTo>
                        <a:lnTo>
                          <a:pt x="390" y="567"/>
                        </a:lnTo>
                        <a:lnTo>
                          <a:pt x="331" y="507"/>
                        </a:lnTo>
                        <a:lnTo>
                          <a:pt x="324" y="474"/>
                        </a:lnTo>
                        <a:lnTo>
                          <a:pt x="336" y="376"/>
                        </a:lnTo>
                        <a:lnTo>
                          <a:pt x="387" y="294"/>
                        </a:lnTo>
                        <a:lnTo>
                          <a:pt x="464" y="230"/>
                        </a:lnTo>
                        <a:lnTo>
                          <a:pt x="539" y="185"/>
                        </a:lnTo>
                        <a:lnTo>
                          <a:pt x="591" y="123"/>
                        </a:lnTo>
                        <a:lnTo>
                          <a:pt x="628" y="74"/>
                        </a:lnTo>
                        <a:lnTo>
                          <a:pt x="661" y="0"/>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grpSp>
            <p:grpSp>
              <p:nvGrpSpPr>
                <p:cNvPr id="40993" name="Group 52"/>
                <p:cNvGrpSpPr/>
                <p:nvPr/>
              </p:nvGrpSpPr>
              <p:grpSpPr>
                <a:xfrm>
                  <a:off x="939" y="3808"/>
                  <a:ext cx="131" cy="125"/>
                  <a:chOff x="939" y="3808"/>
                  <a:chExt cx="131" cy="125"/>
                </a:xfrm>
              </p:grpSpPr>
              <p:sp>
                <p:nvSpPr>
                  <p:cNvPr id="40997" name="Freeform 53"/>
                  <p:cNvSpPr/>
                  <p:nvPr/>
                </p:nvSpPr>
                <p:spPr>
                  <a:xfrm>
                    <a:off x="939" y="3808"/>
                    <a:ext cx="131" cy="123"/>
                  </a:xfrm>
                  <a:custGeom>
                    <a:avLst/>
                    <a:gdLst/>
                    <a:ahLst/>
                    <a:cxnLst>
                      <a:cxn ang="0">
                        <a:pos x="0"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0"/>
                      </a:cxn>
                    </a:cxnLst>
                    <a:pathLst>
                      <a:path w="262" h="245">
                        <a:moveTo>
                          <a:pt x="0" y="0"/>
                        </a:moveTo>
                        <a:lnTo>
                          <a:pt x="128" y="33"/>
                        </a:lnTo>
                        <a:lnTo>
                          <a:pt x="160" y="57"/>
                        </a:lnTo>
                        <a:lnTo>
                          <a:pt x="188" y="133"/>
                        </a:lnTo>
                        <a:lnTo>
                          <a:pt x="192" y="137"/>
                        </a:lnTo>
                        <a:lnTo>
                          <a:pt x="213" y="161"/>
                        </a:lnTo>
                        <a:lnTo>
                          <a:pt x="229" y="184"/>
                        </a:lnTo>
                        <a:lnTo>
                          <a:pt x="251" y="198"/>
                        </a:lnTo>
                        <a:lnTo>
                          <a:pt x="251" y="222"/>
                        </a:lnTo>
                        <a:lnTo>
                          <a:pt x="262" y="245"/>
                        </a:lnTo>
                        <a:lnTo>
                          <a:pt x="241" y="245"/>
                        </a:lnTo>
                        <a:lnTo>
                          <a:pt x="240" y="235"/>
                        </a:lnTo>
                        <a:lnTo>
                          <a:pt x="240" y="206"/>
                        </a:lnTo>
                        <a:lnTo>
                          <a:pt x="204" y="188"/>
                        </a:lnTo>
                        <a:lnTo>
                          <a:pt x="176" y="141"/>
                        </a:lnTo>
                        <a:lnTo>
                          <a:pt x="160" y="109"/>
                        </a:lnTo>
                        <a:lnTo>
                          <a:pt x="135" y="57"/>
                        </a:lnTo>
                        <a:lnTo>
                          <a:pt x="87" y="29"/>
                        </a:lnTo>
                        <a:lnTo>
                          <a:pt x="0" y="0"/>
                        </a:lnTo>
                        <a:close/>
                      </a:path>
                    </a:pathLst>
                  </a:custGeom>
                  <a:solidFill>
                    <a:srgbClr val="00C0E0">
                      <a:alpha val="100000"/>
                    </a:srgbClr>
                  </a:solidFill>
                  <a:ln w="6350" cap="flat" cmpd="sng">
                    <a:solidFill>
                      <a:srgbClr val="00C0E0">
                        <a:alpha val="100000"/>
                      </a:srgbClr>
                    </a:solidFill>
                    <a:prstDash val="solid"/>
                    <a:round/>
                    <a:headEnd type="none" w="med" len="med"/>
                    <a:tailEnd type="none" w="med" len="med"/>
                  </a:ln>
                </p:spPr>
                <p:txBody>
                  <a:bodyPr/>
                  <a:p>
                    <a:endParaRPr lang="zh-CN" altLang="en-US"/>
                  </a:p>
                </p:txBody>
              </p:sp>
              <p:sp>
                <p:nvSpPr>
                  <p:cNvPr id="40998" name="Freeform 54"/>
                  <p:cNvSpPr/>
                  <p:nvPr/>
                </p:nvSpPr>
                <p:spPr>
                  <a:xfrm>
                    <a:off x="946" y="3810"/>
                    <a:ext cx="112" cy="123"/>
                  </a:xfrm>
                  <a:custGeom>
                    <a:avLst/>
                    <a:gdLst/>
                    <a:ahLst/>
                    <a:cxnLst>
                      <a:cxn ang="0">
                        <a:pos x="0" y="0"/>
                      </a:cxn>
                      <a:cxn ang="0">
                        <a:pos x="1" y="1"/>
                      </a:cxn>
                      <a:cxn ang="0">
                        <a:pos x="1" y="1"/>
                      </a:cxn>
                      <a:cxn ang="0">
                        <a:pos x="1" y="1"/>
                      </a:cxn>
                      <a:cxn ang="0">
                        <a:pos x="1" y="1"/>
                      </a:cxn>
                      <a:cxn ang="0">
                        <a:pos x="1" y="1"/>
                      </a:cxn>
                      <a:cxn ang="0">
                        <a:pos x="1" y="1"/>
                      </a:cxn>
                      <a:cxn ang="0">
                        <a:pos x="1" y="1"/>
                      </a:cxn>
                      <a:cxn ang="0">
                        <a:pos x="1" y="1"/>
                      </a:cxn>
                    </a:cxnLst>
                    <a:pathLst>
                      <a:path w="222" h="245">
                        <a:moveTo>
                          <a:pt x="0" y="0"/>
                        </a:moveTo>
                        <a:lnTo>
                          <a:pt x="85" y="36"/>
                        </a:lnTo>
                        <a:lnTo>
                          <a:pt x="122" y="58"/>
                        </a:lnTo>
                        <a:lnTo>
                          <a:pt x="141" y="96"/>
                        </a:lnTo>
                        <a:lnTo>
                          <a:pt x="160" y="147"/>
                        </a:lnTo>
                        <a:lnTo>
                          <a:pt x="178" y="176"/>
                        </a:lnTo>
                        <a:lnTo>
                          <a:pt x="204" y="195"/>
                        </a:lnTo>
                        <a:lnTo>
                          <a:pt x="219" y="210"/>
                        </a:lnTo>
                        <a:lnTo>
                          <a:pt x="222" y="245"/>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grpSp>
            <p:grpSp>
              <p:nvGrpSpPr>
                <p:cNvPr id="40994" name="Group 55"/>
                <p:cNvGrpSpPr/>
                <p:nvPr/>
              </p:nvGrpSpPr>
              <p:grpSpPr>
                <a:xfrm>
                  <a:off x="1512" y="3664"/>
                  <a:ext cx="194" cy="269"/>
                  <a:chOff x="1512" y="3664"/>
                  <a:chExt cx="194" cy="269"/>
                </a:xfrm>
              </p:grpSpPr>
              <p:sp>
                <p:nvSpPr>
                  <p:cNvPr id="40995" name="Freeform 56"/>
                  <p:cNvSpPr/>
                  <p:nvPr/>
                </p:nvSpPr>
                <p:spPr>
                  <a:xfrm>
                    <a:off x="1516" y="3667"/>
                    <a:ext cx="189" cy="264"/>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Lst>
                    <a:pathLst>
                      <a:path w="378" h="530">
                        <a:moveTo>
                          <a:pt x="378" y="0"/>
                        </a:moveTo>
                        <a:lnTo>
                          <a:pt x="366" y="62"/>
                        </a:lnTo>
                        <a:lnTo>
                          <a:pt x="342" y="105"/>
                        </a:lnTo>
                        <a:lnTo>
                          <a:pt x="298" y="144"/>
                        </a:lnTo>
                        <a:lnTo>
                          <a:pt x="245" y="188"/>
                        </a:lnTo>
                        <a:lnTo>
                          <a:pt x="184" y="233"/>
                        </a:lnTo>
                        <a:lnTo>
                          <a:pt x="134" y="272"/>
                        </a:lnTo>
                        <a:lnTo>
                          <a:pt x="95" y="336"/>
                        </a:lnTo>
                        <a:lnTo>
                          <a:pt x="67" y="393"/>
                        </a:lnTo>
                        <a:lnTo>
                          <a:pt x="54" y="445"/>
                        </a:lnTo>
                        <a:lnTo>
                          <a:pt x="38" y="487"/>
                        </a:lnTo>
                        <a:lnTo>
                          <a:pt x="20" y="522"/>
                        </a:lnTo>
                        <a:lnTo>
                          <a:pt x="0" y="530"/>
                        </a:lnTo>
                        <a:lnTo>
                          <a:pt x="27" y="527"/>
                        </a:lnTo>
                        <a:lnTo>
                          <a:pt x="47" y="527"/>
                        </a:lnTo>
                        <a:lnTo>
                          <a:pt x="79" y="482"/>
                        </a:lnTo>
                        <a:lnTo>
                          <a:pt x="91" y="434"/>
                        </a:lnTo>
                        <a:lnTo>
                          <a:pt x="107" y="393"/>
                        </a:lnTo>
                        <a:lnTo>
                          <a:pt x="134" y="341"/>
                        </a:lnTo>
                        <a:lnTo>
                          <a:pt x="171" y="304"/>
                        </a:lnTo>
                        <a:lnTo>
                          <a:pt x="196" y="268"/>
                        </a:lnTo>
                        <a:lnTo>
                          <a:pt x="241" y="237"/>
                        </a:lnTo>
                        <a:lnTo>
                          <a:pt x="286" y="212"/>
                        </a:lnTo>
                        <a:lnTo>
                          <a:pt x="325" y="157"/>
                        </a:lnTo>
                        <a:lnTo>
                          <a:pt x="345" y="117"/>
                        </a:lnTo>
                        <a:lnTo>
                          <a:pt x="363" y="82"/>
                        </a:lnTo>
                        <a:lnTo>
                          <a:pt x="378" y="0"/>
                        </a:lnTo>
                        <a:close/>
                      </a:path>
                    </a:pathLst>
                  </a:custGeom>
                  <a:solidFill>
                    <a:srgbClr val="00C0E0">
                      <a:alpha val="100000"/>
                    </a:srgbClr>
                  </a:solidFill>
                  <a:ln w="6350" cap="flat" cmpd="sng">
                    <a:solidFill>
                      <a:srgbClr val="00C0E0">
                        <a:alpha val="100000"/>
                      </a:srgbClr>
                    </a:solidFill>
                    <a:prstDash val="solid"/>
                    <a:round/>
                    <a:headEnd type="none" w="med" len="med"/>
                    <a:tailEnd type="none" w="med" len="med"/>
                  </a:ln>
                </p:spPr>
                <p:txBody>
                  <a:bodyPr/>
                  <a:p>
                    <a:endParaRPr lang="zh-CN" altLang="en-US"/>
                  </a:p>
                </p:txBody>
              </p:sp>
              <p:sp>
                <p:nvSpPr>
                  <p:cNvPr id="40996" name="Freeform 57"/>
                  <p:cNvSpPr/>
                  <p:nvPr/>
                </p:nvSpPr>
                <p:spPr>
                  <a:xfrm>
                    <a:off x="1512" y="3664"/>
                    <a:ext cx="194" cy="269"/>
                  </a:xfrm>
                  <a:custGeom>
                    <a:avLst/>
                    <a:gdLst/>
                    <a:ahLst/>
                    <a:cxnLst>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Lst>
                    <a:pathLst>
                      <a:path w="386" h="539">
                        <a:moveTo>
                          <a:pt x="0" y="539"/>
                        </a:moveTo>
                        <a:lnTo>
                          <a:pt x="36" y="523"/>
                        </a:lnTo>
                        <a:lnTo>
                          <a:pt x="58" y="491"/>
                        </a:lnTo>
                        <a:lnTo>
                          <a:pt x="70" y="436"/>
                        </a:lnTo>
                        <a:lnTo>
                          <a:pt x="102" y="341"/>
                        </a:lnTo>
                        <a:lnTo>
                          <a:pt x="154" y="267"/>
                        </a:lnTo>
                        <a:lnTo>
                          <a:pt x="255" y="196"/>
                        </a:lnTo>
                        <a:lnTo>
                          <a:pt x="299" y="163"/>
                        </a:lnTo>
                        <a:lnTo>
                          <a:pt x="364" y="93"/>
                        </a:lnTo>
                        <a:lnTo>
                          <a:pt x="380" y="35"/>
                        </a:lnTo>
                        <a:lnTo>
                          <a:pt x="386" y="0"/>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grpSp>
          </p:grpSp>
          <p:grpSp>
            <p:nvGrpSpPr>
              <p:cNvPr id="40976" name="Group 58"/>
              <p:cNvGrpSpPr/>
              <p:nvPr/>
            </p:nvGrpSpPr>
            <p:grpSpPr>
              <a:xfrm>
                <a:off x="1209" y="2947"/>
                <a:ext cx="128" cy="172"/>
                <a:chOff x="1209" y="2947"/>
                <a:chExt cx="128" cy="172"/>
              </a:xfrm>
            </p:grpSpPr>
            <p:sp>
              <p:nvSpPr>
                <p:cNvPr id="40989" name="Freeform 59"/>
                <p:cNvSpPr/>
                <p:nvPr/>
              </p:nvSpPr>
              <p:spPr>
                <a:xfrm>
                  <a:off x="1209" y="2947"/>
                  <a:ext cx="119" cy="1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39" h="346">
                      <a:moveTo>
                        <a:pt x="196" y="57"/>
                      </a:moveTo>
                      <a:lnTo>
                        <a:pt x="166" y="16"/>
                      </a:lnTo>
                      <a:lnTo>
                        <a:pt x="128" y="1"/>
                      </a:lnTo>
                      <a:lnTo>
                        <a:pt x="80" y="0"/>
                      </a:lnTo>
                      <a:lnTo>
                        <a:pt x="38" y="27"/>
                      </a:lnTo>
                      <a:lnTo>
                        <a:pt x="9" y="74"/>
                      </a:lnTo>
                      <a:lnTo>
                        <a:pt x="0" y="129"/>
                      </a:lnTo>
                      <a:lnTo>
                        <a:pt x="5" y="208"/>
                      </a:lnTo>
                      <a:lnTo>
                        <a:pt x="35" y="250"/>
                      </a:lnTo>
                      <a:lnTo>
                        <a:pt x="63" y="275"/>
                      </a:lnTo>
                      <a:lnTo>
                        <a:pt x="104" y="296"/>
                      </a:lnTo>
                      <a:lnTo>
                        <a:pt x="126" y="331"/>
                      </a:lnTo>
                      <a:lnTo>
                        <a:pt x="156" y="346"/>
                      </a:lnTo>
                      <a:lnTo>
                        <a:pt x="195" y="344"/>
                      </a:lnTo>
                      <a:lnTo>
                        <a:pt x="220" y="320"/>
                      </a:lnTo>
                      <a:lnTo>
                        <a:pt x="235" y="288"/>
                      </a:lnTo>
                      <a:lnTo>
                        <a:pt x="239" y="249"/>
                      </a:lnTo>
                      <a:lnTo>
                        <a:pt x="225" y="211"/>
                      </a:lnTo>
                      <a:lnTo>
                        <a:pt x="229" y="159"/>
                      </a:lnTo>
                      <a:lnTo>
                        <a:pt x="218" y="103"/>
                      </a:lnTo>
                      <a:lnTo>
                        <a:pt x="196" y="57"/>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0990" name="Freeform 60"/>
                <p:cNvSpPr/>
                <p:nvPr/>
              </p:nvSpPr>
              <p:spPr>
                <a:xfrm>
                  <a:off x="1239" y="2947"/>
                  <a:ext cx="98" cy="163"/>
                </a:xfrm>
                <a:custGeom>
                  <a:avLst/>
                  <a:gdLst/>
                  <a:ahLst/>
                  <a:cxnLst>
                    <a:cxn ang="0">
                      <a:pos x="0" y="1"/>
                    </a:cxn>
                    <a:cxn ang="0">
                      <a:pos x="0" y="1"/>
                    </a:cxn>
                    <a:cxn ang="0">
                      <a:pos x="0" y="1"/>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pathLst>
                    <a:path w="197" h="326">
                      <a:moveTo>
                        <a:pt x="161" y="53"/>
                      </a:moveTo>
                      <a:lnTo>
                        <a:pt x="137" y="15"/>
                      </a:lnTo>
                      <a:lnTo>
                        <a:pt x="106" y="1"/>
                      </a:lnTo>
                      <a:lnTo>
                        <a:pt x="67" y="0"/>
                      </a:lnTo>
                      <a:lnTo>
                        <a:pt x="32" y="26"/>
                      </a:lnTo>
                      <a:lnTo>
                        <a:pt x="8" y="70"/>
                      </a:lnTo>
                      <a:lnTo>
                        <a:pt x="0" y="122"/>
                      </a:lnTo>
                      <a:lnTo>
                        <a:pt x="4" y="196"/>
                      </a:lnTo>
                      <a:lnTo>
                        <a:pt x="29" y="235"/>
                      </a:lnTo>
                      <a:lnTo>
                        <a:pt x="52" y="259"/>
                      </a:lnTo>
                      <a:lnTo>
                        <a:pt x="85" y="278"/>
                      </a:lnTo>
                      <a:lnTo>
                        <a:pt x="104" y="313"/>
                      </a:lnTo>
                      <a:lnTo>
                        <a:pt x="129" y="326"/>
                      </a:lnTo>
                      <a:lnTo>
                        <a:pt x="160" y="324"/>
                      </a:lnTo>
                      <a:lnTo>
                        <a:pt x="182" y="302"/>
                      </a:lnTo>
                      <a:lnTo>
                        <a:pt x="195" y="272"/>
                      </a:lnTo>
                      <a:lnTo>
                        <a:pt x="197" y="235"/>
                      </a:lnTo>
                      <a:lnTo>
                        <a:pt x="186" y="198"/>
                      </a:lnTo>
                      <a:lnTo>
                        <a:pt x="189" y="150"/>
                      </a:lnTo>
                      <a:lnTo>
                        <a:pt x="180" y="97"/>
                      </a:lnTo>
                      <a:lnTo>
                        <a:pt x="161" y="53"/>
                      </a:lnTo>
                      <a:close/>
                    </a:path>
                  </a:pathLst>
                </a:custGeom>
                <a:solidFill>
                  <a:srgbClr val="E0A080">
                    <a:alpha val="100000"/>
                  </a:srgbClr>
                </a:solidFill>
                <a:ln w="9525">
                  <a:noFill/>
                </a:ln>
              </p:spPr>
              <p:txBody>
                <a:bodyPr/>
                <a:p>
                  <a:endParaRPr lang="zh-CN" altLang="en-US"/>
                </a:p>
              </p:txBody>
            </p:sp>
          </p:grpSp>
          <p:grpSp>
            <p:nvGrpSpPr>
              <p:cNvPr id="40977" name="Group 61"/>
              <p:cNvGrpSpPr/>
              <p:nvPr/>
            </p:nvGrpSpPr>
            <p:grpSpPr>
              <a:xfrm>
                <a:off x="741" y="3199"/>
                <a:ext cx="811" cy="623"/>
                <a:chOff x="741" y="3199"/>
                <a:chExt cx="811" cy="623"/>
              </a:xfrm>
            </p:grpSpPr>
            <p:sp>
              <p:nvSpPr>
                <p:cNvPr id="40978" name="Freeform 62"/>
                <p:cNvSpPr/>
                <p:nvPr/>
              </p:nvSpPr>
              <p:spPr>
                <a:xfrm>
                  <a:off x="1055" y="3199"/>
                  <a:ext cx="497" cy="419"/>
                </a:xfrm>
                <a:custGeom>
                  <a:avLst/>
                  <a:gdLst/>
                  <a:ahLst/>
                  <a:cxnLst>
                    <a:cxn ang="0">
                      <a:pos x="1" y="0"/>
                    </a:cxn>
                    <a:cxn ang="0">
                      <a:pos x="1" y="1"/>
                    </a:cxn>
                    <a:cxn ang="0">
                      <a:pos x="1"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Lst>
                  <a:pathLst>
                    <a:path w="994" h="838">
                      <a:moveTo>
                        <a:pt x="380" y="0"/>
                      </a:moveTo>
                      <a:lnTo>
                        <a:pt x="188" y="165"/>
                      </a:lnTo>
                      <a:lnTo>
                        <a:pt x="71" y="319"/>
                      </a:lnTo>
                      <a:lnTo>
                        <a:pt x="0" y="582"/>
                      </a:lnTo>
                      <a:lnTo>
                        <a:pt x="188" y="443"/>
                      </a:lnTo>
                      <a:lnTo>
                        <a:pt x="292" y="345"/>
                      </a:lnTo>
                      <a:lnTo>
                        <a:pt x="349" y="282"/>
                      </a:lnTo>
                      <a:lnTo>
                        <a:pt x="292" y="441"/>
                      </a:lnTo>
                      <a:lnTo>
                        <a:pt x="278" y="586"/>
                      </a:lnTo>
                      <a:lnTo>
                        <a:pt x="273" y="838"/>
                      </a:lnTo>
                      <a:lnTo>
                        <a:pt x="305" y="766"/>
                      </a:lnTo>
                      <a:lnTo>
                        <a:pt x="369" y="661"/>
                      </a:lnTo>
                      <a:lnTo>
                        <a:pt x="473" y="582"/>
                      </a:lnTo>
                      <a:lnTo>
                        <a:pt x="568" y="541"/>
                      </a:lnTo>
                      <a:lnTo>
                        <a:pt x="799" y="433"/>
                      </a:lnTo>
                      <a:lnTo>
                        <a:pt x="994" y="252"/>
                      </a:lnTo>
                      <a:lnTo>
                        <a:pt x="934" y="209"/>
                      </a:lnTo>
                      <a:lnTo>
                        <a:pt x="879" y="230"/>
                      </a:lnTo>
                      <a:lnTo>
                        <a:pt x="787" y="234"/>
                      </a:lnTo>
                      <a:lnTo>
                        <a:pt x="675" y="221"/>
                      </a:lnTo>
                      <a:lnTo>
                        <a:pt x="577" y="193"/>
                      </a:lnTo>
                      <a:lnTo>
                        <a:pt x="424" y="205"/>
                      </a:lnTo>
                      <a:lnTo>
                        <a:pt x="380" y="0"/>
                      </a:lnTo>
                      <a:close/>
                    </a:path>
                  </a:pathLst>
                </a:custGeom>
                <a:solidFill>
                  <a:srgbClr val="E0E0FF">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0979" name="Freeform 63"/>
                <p:cNvSpPr/>
                <p:nvPr/>
              </p:nvSpPr>
              <p:spPr>
                <a:xfrm>
                  <a:off x="982" y="3334"/>
                  <a:ext cx="268" cy="46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537" h="925">
                      <a:moveTo>
                        <a:pt x="473" y="0"/>
                      </a:moveTo>
                      <a:lnTo>
                        <a:pt x="537" y="48"/>
                      </a:lnTo>
                      <a:lnTo>
                        <a:pt x="531" y="180"/>
                      </a:lnTo>
                      <a:lnTo>
                        <a:pt x="406" y="280"/>
                      </a:lnTo>
                      <a:lnTo>
                        <a:pt x="316" y="606"/>
                      </a:lnTo>
                      <a:lnTo>
                        <a:pt x="0" y="925"/>
                      </a:lnTo>
                      <a:lnTo>
                        <a:pt x="145" y="476"/>
                      </a:lnTo>
                      <a:lnTo>
                        <a:pt x="305" y="231"/>
                      </a:lnTo>
                      <a:lnTo>
                        <a:pt x="330" y="80"/>
                      </a:lnTo>
                      <a:lnTo>
                        <a:pt x="473" y="0"/>
                      </a:lnTo>
                      <a:close/>
                    </a:path>
                  </a:pathLst>
                </a:custGeom>
                <a:solidFill>
                  <a:srgbClr val="FF00A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nvGrpSpPr>
                <p:cNvPr id="40980" name="Group 64"/>
                <p:cNvGrpSpPr/>
                <p:nvPr/>
              </p:nvGrpSpPr>
              <p:grpSpPr>
                <a:xfrm>
                  <a:off x="741" y="3360"/>
                  <a:ext cx="391" cy="462"/>
                  <a:chOff x="741" y="3360"/>
                  <a:chExt cx="391" cy="462"/>
                </a:xfrm>
              </p:grpSpPr>
              <p:grpSp>
                <p:nvGrpSpPr>
                  <p:cNvPr id="40981" name="Group 65"/>
                  <p:cNvGrpSpPr/>
                  <p:nvPr/>
                </p:nvGrpSpPr>
                <p:grpSpPr>
                  <a:xfrm>
                    <a:off x="741" y="3360"/>
                    <a:ext cx="335" cy="372"/>
                    <a:chOff x="741" y="3360"/>
                    <a:chExt cx="335" cy="372"/>
                  </a:xfrm>
                </p:grpSpPr>
                <p:sp>
                  <p:nvSpPr>
                    <p:cNvPr id="40983" name="Freeform 66"/>
                    <p:cNvSpPr/>
                    <p:nvPr/>
                  </p:nvSpPr>
                  <p:spPr>
                    <a:xfrm>
                      <a:off x="741" y="3360"/>
                      <a:ext cx="335" cy="372"/>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Lst>
                      <a:pathLst>
                        <a:path w="669" h="745">
                          <a:moveTo>
                            <a:pt x="571" y="72"/>
                          </a:moveTo>
                          <a:lnTo>
                            <a:pt x="511" y="192"/>
                          </a:lnTo>
                          <a:lnTo>
                            <a:pt x="409" y="169"/>
                          </a:lnTo>
                          <a:lnTo>
                            <a:pt x="314" y="140"/>
                          </a:lnTo>
                          <a:lnTo>
                            <a:pt x="229" y="102"/>
                          </a:lnTo>
                          <a:lnTo>
                            <a:pt x="167" y="75"/>
                          </a:lnTo>
                          <a:lnTo>
                            <a:pt x="52" y="0"/>
                          </a:lnTo>
                          <a:lnTo>
                            <a:pt x="20" y="12"/>
                          </a:lnTo>
                          <a:lnTo>
                            <a:pt x="16" y="85"/>
                          </a:lnTo>
                          <a:lnTo>
                            <a:pt x="64" y="153"/>
                          </a:lnTo>
                          <a:lnTo>
                            <a:pt x="25" y="144"/>
                          </a:lnTo>
                          <a:lnTo>
                            <a:pt x="0" y="176"/>
                          </a:lnTo>
                          <a:lnTo>
                            <a:pt x="7" y="208"/>
                          </a:lnTo>
                          <a:lnTo>
                            <a:pt x="41" y="249"/>
                          </a:lnTo>
                          <a:lnTo>
                            <a:pt x="25" y="265"/>
                          </a:lnTo>
                          <a:lnTo>
                            <a:pt x="7" y="289"/>
                          </a:lnTo>
                          <a:lnTo>
                            <a:pt x="7" y="319"/>
                          </a:lnTo>
                          <a:lnTo>
                            <a:pt x="25" y="368"/>
                          </a:lnTo>
                          <a:lnTo>
                            <a:pt x="80" y="415"/>
                          </a:lnTo>
                          <a:lnTo>
                            <a:pt x="55" y="431"/>
                          </a:lnTo>
                          <a:lnTo>
                            <a:pt x="44" y="472"/>
                          </a:lnTo>
                          <a:lnTo>
                            <a:pt x="59" y="512"/>
                          </a:lnTo>
                          <a:lnTo>
                            <a:pt x="109" y="537"/>
                          </a:lnTo>
                          <a:lnTo>
                            <a:pt x="173" y="561"/>
                          </a:lnTo>
                          <a:lnTo>
                            <a:pt x="225" y="605"/>
                          </a:lnTo>
                          <a:lnTo>
                            <a:pt x="265" y="645"/>
                          </a:lnTo>
                          <a:lnTo>
                            <a:pt x="301" y="685"/>
                          </a:lnTo>
                          <a:lnTo>
                            <a:pt x="343" y="730"/>
                          </a:lnTo>
                          <a:lnTo>
                            <a:pt x="417" y="745"/>
                          </a:lnTo>
                          <a:lnTo>
                            <a:pt x="560" y="561"/>
                          </a:lnTo>
                          <a:lnTo>
                            <a:pt x="584" y="424"/>
                          </a:lnTo>
                          <a:lnTo>
                            <a:pt x="593" y="344"/>
                          </a:lnTo>
                          <a:lnTo>
                            <a:pt x="629" y="303"/>
                          </a:lnTo>
                          <a:lnTo>
                            <a:pt x="656" y="261"/>
                          </a:lnTo>
                          <a:lnTo>
                            <a:pt x="669" y="197"/>
                          </a:lnTo>
                          <a:lnTo>
                            <a:pt x="666" y="154"/>
                          </a:lnTo>
                          <a:lnTo>
                            <a:pt x="652" y="118"/>
                          </a:lnTo>
                          <a:lnTo>
                            <a:pt x="629" y="83"/>
                          </a:lnTo>
                          <a:lnTo>
                            <a:pt x="602" y="68"/>
                          </a:lnTo>
                          <a:lnTo>
                            <a:pt x="571" y="72"/>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nvGrpSpPr>
                    <p:cNvPr id="40984" name="Group 67"/>
                    <p:cNvGrpSpPr/>
                    <p:nvPr/>
                  </p:nvGrpSpPr>
                  <p:grpSpPr>
                    <a:xfrm>
                      <a:off x="762" y="3416"/>
                      <a:ext cx="249" cy="182"/>
                      <a:chOff x="762" y="3416"/>
                      <a:chExt cx="249" cy="182"/>
                    </a:xfrm>
                  </p:grpSpPr>
                  <p:sp>
                    <p:nvSpPr>
                      <p:cNvPr id="40985" name="Freeform 68"/>
                      <p:cNvSpPr/>
                      <p:nvPr/>
                    </p:nvSpPr>
                    <p:spPr>
                      <a:xfrm>
                        <a:off x="769" y="3432"/>
                        <a:ext cx="177" cy="62"/>
                      </a:xfrm>
                      <a:custGeom>
                        <a:avLst/>
                        <a:gdLst/>
                        <a:ahLst/>
                        <a:cxnLst>
                          <a:cxn ang="0">
                            <a:pos x="0" y="0"/>
                          </a:cxn>
                          <a:cxn ang="0">
                            <a:pos x="1" y="1"/>
                          </a:cxn>
                          <a:cxn ang="0">
                            <a:pos x="1" y="1"/>
                          </a:cxn>
                          <a:cxn ang="0">
                            <a:pos x="1" y="1"/>
                          </a:cxn>
                          <a:cxn ang="0">
                            <a:pos x="1" y="1"/>
                          </a:cxn>
                        </a:cxnLst>
                        <a:pathLst>
                          <a:path w="354" h="124">
                            <a:moveTo>
                              <a:pt x="0" y="0"/>
                            </a:moveTo>
                            <a:lnTo>
                              <a:pt x="79" y="59"/>
                            </a:lnTo>
                            <a:lnTo>
                              <a:pt x="175" y="105"/>
                            </a:lnTo>
                            <a:lnTo>
                              <a:pt x="275" y="124"/>
                            </a:lnTo>
                            <a:lnTo>
                              <a:pt x="354" y="124"/>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0986" name="Freeform 69"/>
                      <p:cNvSpPr/>
                      <p:nvPr/>
                    </p:nvSpPr>
                    <p:spPr>
                      <a:xfrm>
                        <a:off x="762" y="3488"/>
                        <a:ext cx="128" cy="57"/>
                      </a:xfrm>
                      <a:custGeom>
                        <a:avLst/>
                        <a:gdLst/>
                        <a:ahLst/>
                        <a:cxnLst>
                          <a:cxn ang="0">
                            <a:pos x="0" y="0"/>
                          </a:cxn>
                          <a:cxn ang="0">
                            <a:pos x="0" y="0"/>
                          </a:cxn>
                          <a:cxn ang="0">
                            <a:pos x="0" y="0"/>
                          </a:cxn>
                          <a:cxn ang="0">
                            <a:pos x="0" y="0"/>
                          </a:cxn>
                        </a:cxnLst>
                        <a:pathLst>
                          <a:path w="257" h="116">
                            <a:moveTo>
                              <a:pt x="0" y="0"/>
                            </a:moveTo>
                            <a:lnTo>
                              <a:pt x="59" y="47"/>
                            </a:lnTo>
                            <a:lnTo>
                              <a:pt x="148" y="91"/>
                            </a:lnTo>
                            <a:lnTo>
                              <a:pt x="257" y="116"/>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0987" name="Freeform 70"/>
                      <p:cNvSpPr/>
                      <p:nvPr/>
                    </p:nvSpPr>
                    <p:spPr>
                      <a:xfrm>
                        <a:off x="781" y="3567"/>
                        <a:ext cx="87" cy="31"/>
                      </a:xfrm>
                      <a:custGeom>
                        <a:avLst/>
                        <a:gdLst/>
                        <a:ahLst/>
                        <a:cxnLst>
                          <a:cxn ang="0">
                            <a:pos x="0" y="0"/>
                          </a:cxn>
                          <a:cxn ang="0">
                            <a:pos x="1" y="1"/>
                          </a:cxn>
                          <a:cxn ang="0">
                            <a:pos x="1" y="1"/>
                          </a:cxn>
                        </a:cxnLst>
                        <a:pathLst>
                          <a:path w="172" h="62">
                            <a:moveTo>
                              <a:pt x="0" y="0"/>
                            </a:moveTo>
                            <a:lnTo>
                              <a:pt x="81" y="41"/>
                            </a:lnTo>
                            <a:lnTo>
                              <a:pt x="172" y="62"/>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sp>
                    <p:nvSpPr>
                      <p:cNvPr id="40988" name="Freeform 71"/>
                      <p:cNvSpPr/>
                      <p:nvPr/>
                    </p:nvSpPr>
                    <p:spPr>
                      <a:xfrm>
                        <a:off x="1005" y="3416"/>
                        <a:ext cx="6" cy="38"/>
                      </a:xfrm>
                      <a:custGeom>
                        <a:avLst/>
                        <a:gdLst/>
                        <a:ahLst/>
                        <a:cxnLst>
                          <a:cxn ang="0">
                            <a:pos x="1" y="1"/>
                          </a:cxn>
                          <a:cxn ang="0">
                            <a:pos x="0" y="1"/>
                          </a:cxn>
                          <a:cxn ang="0">
                            <a:pos x="1" y="1"/>
                          </a:cxn>
                          <a:cxn ang="0">
                            <a:pos x="1" y="0"/>
                          </a:cxn>
                        </a:cxnLst>
                        <a:pathLst>
                          <a:path w="12" h="75">
                            <a:moveTo>
                              <a:pt x="6" y="75"/>
                            </a:moveTo>
                            <a:lnTo>
                              <a:pt x="0" y="43"/>
                            </a:lnTo>
                            <a:lnTo>
                              <a:pt x="1" y="25"/>
                            </a:lnTo>
                            <a:lnTo>
                              <a:pt x="12" y="0"/>
                            </a:lnTo>
                          </a:path>
                        </a:pathLst>
                      </a:custGeom>
                      <a:noFill/>
                      <a:ln w="6350" cap="flat" cmpd="sng">
                        <a:solidFill>
                          <a:srgbClr val="000000">
                            <a:alpha val="100000"/>
                          </a:srgbClr>
                        </a:solidFill>
                        <a:prstDash val="solid"/>
                        <a:round/>
                        <a:headEnd type="none" w="med" len="med"/>
                        <a:tailEnd type="none" w="med" len="med"/>
                      </a:ln>
                    </p:spPr>
                    <p:txBody>
                      <a:bodyPr/>
                      <a:p>
                        <a:endParaRPr lang="zh-CN" altLang="en-US"/>
                      </a:p>
                    </p:txBody>
                  </p:sp>
                </p:grpSp>
              </p:grpSp>
              <p:sp>
                <p:nvSpPr>
                  <p:cNvPr id="40982" name="Freeform 72"/>
                  <p:cNvSpPr/>
                  <p:nvPr/>
                </p:nvSpPr>
                <p:spPr>
                  <a:xfrm>
                    <a:off x="898" y="3547"/>
                    <a:ext cx="234" cy="275"/>
                  </a:xfrm>
                  <a:custGeom>
                    <a:avLst/>
                    <a:gdLst/>
                    <a:ahLst/>
                    <a:cxnLst>
                      <a:cxn ang="0">
                        <a:pos x="1" y="0"/>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1" y="1"/>
                      </a:cxn>
                      <a:cxn ang="0">
                        <a:pos x="1" y="1"/>
                      </a:cxn>
                      <a:cxn ang="0">
                        <a:pos x="1" y="1"/>
                      </a:cxn>
                      <a:cxn ang="0">
                        <a:pos x="1" y="1"/>
                      </a:cxn>
                      <a:cxn ang="0">
                        <a:pos x="1" y="0"/>
                      </a:cxn>
                    </a:cxnLst>
                    <a:pathLst>
                      <a:path w="467" h="549">
                        <a:moveTo>
                          <a:pt x="279" y="0"/>
                        </a:moveTo>
                        <a:lnTo>
                          <a:pt x="375" y="66"/>
                        </a:lnTo>
                        <a:lnTo>
                          <a:pt x="467" y="152"/>
                        </a:lnTo>
                        <a:lnTo>
                          <a:pt x="464" y="203"/>
                        </a:lnTo>
                        <a:lnTo>
                          <a:pt x="443" y="249"/>
                        </a:lnTo>
                        <a:lnTo>
                          <a:pt x="395" y="346"/>
                        </a:lnTo>
                        <a:lnTo>
                          <a:pt x="304" y="465"/>
                        </a:lnTo>
                        <a:lnTo>
                          <a:pt x="203" y="549"/>
                        </a:lnTo>
                        <a:lnTo>
                          <a:pt x="95" y="520"/>
                        </a:lnTo>
                        <a:lnTo>
                          <a:pt x="29" y="474"/>
                        </a:lnTo>
                        <a:lnTo>
                          <a:pt x="0" y="416"/>
                        </a:lnTo>
                        <a:lnTo>
                          <a:pt x="0" y="337"/>
                        </a:lnTo>
                        <a:lnTo>
                          <a:pt x="29" y="346"/>
                        </a:lnTo>
                        <a:lnTo>
                          <a:pt x="95" y="314"/>
                        </a:lnTo>
                        <a:lnTo>
                          <a:pt x="143" y="257"/>
                        </a:lnTo>
                        <a:lnTo>
                          <a:pt x="234" y="149"/>
                        </a:lnTo>
                        <a:lnTo>
                          <a:pt x="279" y="0"/>
                        </a:lnTo>
                        <a:close/>
                      </a:path>
                    </a:pathLst>
                  </a:custGeom>
                  <a:solidFill>
                    <a:srgbClr val="C0E0FF">
                      <a:alpha val="100000"/>
                    </a:srgbClr>
                  </a:solidFill>
                  <a:ln w="6350" cap="flat" cmpd="sng">
                    <a:solidFill>
                      <a:srgbClr val="000000">
                        <a:alpha val="100000"/>
                      </a:srgbClr>
                    </a:solidFill>
                    <a:prstDash val="solid"/>
                    <a:round/>
                    <a:headEnd type="none" w="med" len="med"/>
                    <a:tailEnd type="none" w="med" len="med"/>
                  </a:ln>
                </p:spPr>
                <p:txBody>
                  <a:bodyPr/>
                  <a:p>
                    <a:endParaRPr lang="zh-CN" altLang="en-US"/>
                  </a:p>
                </p:txBody>
              </p:sp>
            </p:grpSp>
          </p:grpSp>
        </p:grpSp>
        <p:graphicFrame>
          <p:nvGraphicFramePr>
            <p:cNvPr id="40972" name="Object 73"/>
            <p:cNvGraphicFramePr>
              <a:graphicFrameLocks noChangeAspect="1"/>
            </p:cNvGraphicFramePr>
            <p:nvPr/>
          </p:nvGraphicFramePr>
          <p:xfrm>
            <a:off x="4416" y="3024"/>
            <a:ext cx="1047" cy="1105"/>
          </p:xfrm>
          <a:graphic>
            <a:graphicData uri="http://schemas.openxmlformats.org/presentationml/2006/ole">
              <mc:AlternateContent xmlns:mc="http://schemas.openxmlformats.org/markup-compatibility/2006">
                <mc:Choice xmlns:v="urn:schemas-microsoft-com:vml" Requires="v">
                  <p:oleObj spid="_x0000_s3076" name="" r:id="rId1" imgW="2166620" imgH="2287270" progId="MS_ClipArt_Gallery.2">
                    <p:embed/>
                  </p:oleObj>
                </mc:Choice>
                <mc:Fallback>
                  <p:oleObj name="" r:id="rId1" imgW="2166620" imgH="2287270" progId="MS_ClipArt_Gallery.2">
                    <p:embed/>
                    <p:pic>
                      <p:nvPicPr>
                        <p:cNvPr id="0" name="图片 3075"/>
                        <p:cNvPicPr/>
                        <p:nvPr/>
                      </p:nvPicPr>
                      <p:blipFill>
                        <a:blip r:embed="rId2"/>
                        <a:stretch>
                          <a:fillRect/>
                        </a:stretch>
                      </p:blipFill>
                      <p:spPr>
                        <a:xfrm>
                          <a:off x="4416" y="3024"/>
                          <a:ext cx="1047" cy="1105"/>
                        </a:xfrm>
                        <a:prstGeom prst="rect">
                          <a:avLst/>
                        </a:prstGeom>
                        <a:noFill/>
                        <a:ln w="38100">
                          <a:noFill/>
                          <a:miter/>
                        </a:ln>
                      </p:spPr>
                    </p:pic>
                  </p:oleObj>
                </mc:Fallback>
              </mc:AlternateContent>
            </a:graphicData>
          </a:graphic>
        </p:graphicFrame>
      </p:grpSp>
      <p:sp>
        <p:nvSpPr>
          <p:cNvPr id="63562" name="AutoShape 74"/>
          <p:cNvSpPr/>
          <p:nvPr/>
        </p:nvSpPr>
        <p:spPr>
          <a:xfrm>
            <a:off x="1752600" y="2743200"/>
            <a:ext cx="4267200" cy="1371600"/>
          </a:xfrm>
          <a:prstGeom prst="cloudCallout">
            <a:avLst>
              <a:gd name="adj1" fmla="val -47546"/>
              <a:gd name="adj2" fmla="val 54861"/>
            </a:avLst>
          </a:prstGeom>
          <a:gradFill rotWithShape="0">
            <a:gsLst>
              <a:gs pos="0">
                <a:srgbClr val="CCFFFF"/>
              </a:gs>
              <a:gs pos="100000">
                <a:srgbClr val="8BAEAE"/>
              </a:gs>
            </a:gsLst>
            <a:lin ang="18900000" scaled="1"/>
            <a:tileRect/>
          </a:gradFill>
          <a:ln w="9525" cap="flat" cmpd="sng">
            <a:solidFill>
              <a:srgbClr val="CCFF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lnSpc>
                <a:spcPct val="90000"/>
              </a:lnSpc>
              <a:spcBef>
                <a:spcPct val="0"/>
              </a:spcBef>
              <a:buNone/>
            </a:pPr>
            <a:r>
              <a:rPr lang="en-US" altLang="zh-CN" sz="2400" b="1" dirty="0">
                <a:latin typeface="Times New Roman" panose="02020603050405020304" pitchFamily="18" charset="0"/>
              </a:rPr>
              <a:t>        Is it really necessary </a:t>
            </a:r>
            <a:endParaRPr lang="en-US" altLang="zh-CN" sz="2400" b="1" dirty="0">
              <a:latin typeface="Times New Roman" panose="02020603050405020304" pitchFamily="18" charset="0"/>
            </a:endParaRPr>
          </a:p>
          <a:p>
            <a:pPr marL="0" lvl="0" indent="0" algn="ctr" eaLnBrk="1" hangingPunct="1">
              <a:lnSpc>
                <a:spcPct val="90000"/>
              </a:lnSpc>
              <a:spcBef>
                <a:spcPct val="0"/>
              </a:spcBef>
              <a:buNone/>
            </a:pPr>
            <a:r>
              <a:rPr lang="en-US" altLang="zh-CN" sz="2400" b="1" dirty="0">
                <a:latin typeface="Times New Roman" panose="02020603050405020304" pitchFamily="18" charset="0"/>
              </a:rPr>
              <a:t>to count the exact </a:t>
            </a:r>
            <a:endParaRPr lang="en-US" altLang="zh-CN" sz="2400" b="1" dirty="0">
              <a:latin typeface="Times New Roman" panose="02020603050405020304" pitchFamily="18" charset="0"/>
            </a:endParaRPr>
          </a:p>
          <a:p>
            <a:pPr marL="0" lvl="0" indent="0" algn="ctr" eaLnBrk="1" hangingPunct="1">
              <a:lnSpc>
                <a:spcPct val="90000"/>
              </a:lnSpc>
              <a:spcBef>
                <a:spcPct val="0"/>
              </a:spcBef>
              <a:buNone/>
            </a:pPr>
            <a:r>
              <a:rPr lang="en-US" altLang="zh-CN" sz="2400" b="1" dirty="0">
                <a:latin typeface="Times New Roman" panose="02020603050405020304" pitchFamily="18" charset="0"/>
              </a:rPr>
              <a:t>number of steps ?</a:t>
            </a:r>
            <a:endParaRPr lang="en-US" altLang="zh-CN" sz="2400" b="1" dirty="0">
              <a:latin typeface="Times New Roman" panose="02020603050405020304" pitchFamily="18" charset="0"/>
            </a:endParaRPr>
          </a:p>
        </p:txBody>
      </p:sp>
      <p:sp>
        <p:nvSpPr>
          <p:cNvPr id="63563" name="AutoShape 75"/>
          <p:cNvSpPr/>
          <p:nvPr/>
        </p:nvSpPr>
        <p:spPr>
          <a:xfrm flipH="1">
            <a:off x="4191000" y="2743200"/>
            <a:ext cx="2819400" cy="1143000"/>
          </a:xfrm>
          <a:prstGeom prst="cloudCallout">
            <a:avLst>
              <a:gd name="adj1" fmla="val -58333"/>
              <a:gd name="adj2" fmla="val 68329"/>
            </a:avLst>
          </a:prstGeom>
          <a:gradFill rotWithShape="0">
            <a:gsLst>
              <a:gs pos="0">
                <a:srgbClr val="91B591"/>
              </a:gs>
              <a:gs pos="100000">
                <a:srgbClr val="CCFFCC"/>
              </a:gs>
            </a:gsLst>
            <a:lin ang="2700000" scaled="1"/>
            <a:tileRect/>
          </a:gradFill>
          <a:ln w="9525" cap="flat" cmpd="sng">
            <a:solidFill>
              <a:srgbClr val="CCFF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Uhhh ...</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 I don’t think so.</a:t>
            </a:r>
            <a:endParaRPr lang="en-US" altLang="zh-CN" sz="2400" b="1" dirty="0">
              <a:latin typeface="Times New Roman" panose="02020603050405020304" pitchFamily="18" charset="0"/>
            </a:endParaRPr>
          </a:p>
        </p:txBody>
      </p:sp>
      <p:sp>
        <p:nvSpPr>
          <p:cNvPr id="63564" name="AutoShape 76"/>
          <p:cNvSpPr/>
          <p:nvPr/>
        </p:nvSpPr>
        <p:spPr>
          <a:xfrm>
            <a:off x="1828800" y="2971800"/>
            <a:ext cx="2133600" cy="838200"/>
          </a:xfrm>
          <a:prstGeom prst="cloudCallout">
            <a:avLst>
              <a:gd name="adj1" fmla="val -49106"/>
              <a:gd name="adj2" fmla="val 83144"/>
            </a:avLst>
          </a:prstGeom>
          <a:gradFill rotWithShape="0">
            <a:gsLst>
              <a:gs pos="0">
                <a:srgbClr val="CCFFFF"/>
              </a:gs>
              <a:gs pos="100000">
                <a:srgbClr val="91B5B5"/>
              </a:gs>
            </a:gsLst>
            <a:lin ang="18900000" scaled="1"/>
            <a:tileRect/>
          </a:gradFill>
          <a:ln w="9525" cap="flat" cmpd="sng">
            <a:solidFill>
              <a:srgbClr val="CCFF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Why?</a:t>
            </a:r>
            <a:endParaRPr lang="en-US" altLang="zh-CN" sz="2400" b="1" dirty="0">
              <a:latin typeface="Times New Roman" panose="02020603050405020304" pitchFamily="18" charset="0"/>
            </a:endParaRPr>
          </a:p>
        </p:txBody>
      </p:sp>
      <p:sp>
        <p:nvSpPr>
          <p:cNvPr id="63565" name="AutoShape 77"/>
          <p:cNvSpPr/>
          <p:nvPr/>
        </p:nvSpPr>
        <p:spPr>
          <a:xfrm flipH="1">
            <a:off x="2971800" y="2819400"/>
            <a:ext cx="3429000" cy="1066800"/>
          </a:xfrm>
          <a:prstGeom prst="cloudCallout">
            <a:avLst>
              <a:gd name="adj1" fmla="val -76250"/>
              <a:gd name="adj2" fmla="val 70236"/>
            </a:avLst>
          </a:prstGeom>
          <a:gradFill rotWithShape="0">
            <a:gsLst>
              <a:gs pos="0">
                <a:srgbClr val="A6CFA6"/>
              </a:gs>
              <a:gs pos="100000">
                <a:srgbClr val="CCFFCC"/>
              </a:gs>
            </a:gsLst>
            <a:lin ang="2700000" scaled="1"/>
            <a:tileRect/>
          </a:gradFill>
          <a:ln w="9525" cap="flat" cmpd="sng">
            <a:solidFill>
              <a:srgbClr val="CCFF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Because</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 it drives me crazy!</a:t>
            </a:r>
            <a:endParaRPr lang="en-US" altLang="zh-CN" sz="2400" b="1" dirty="0">
              <a:latin typeface="Times New Roman" panose="02020603050405020304" pitchFamily="18" charset="0"/>
            </a:endParaRPr>
          </a:p>
        </p:txBody>
      </p:sp>
      <p:sp>
        <p:nvSpPr>
          <p:cNvPr id="63566" name="AutoShape 78"/>
          <p:cNvSpPr/>
          <p:nvPr/>
        </p:nvSpPr>
        <p:spPr>
          <a:xfrm>
            <a:off x="1905000" y="2667000"/>
            <a:ext cx="5334000" cy="1371600"/>
          </a:xfrm>
          <a:prstGeom prst="cloudCallout">
            <a:avLst>
              <a:gd name="adj1" fmla="val -51130"/>
              <a:gd name="adj2" fmla="val 59028"/>
            </a:avLst>
          </a:prstGeom>
          <a:gradFill rotWithShape="0">
            <a:gsLst>
              <a:gs pos="0">
                <a:srgbClr val="CCFFFF"/>
              </a:gs>
              <a:gs pos="100000">
                <a:srgbClr val="91B5B5"/>
              </a:gs>
            </a:gsLst>
            <a:lin ang="18900000" scaled="1"/>
            <a:tileRect/>
          </a:gradFill>
          <a:ln w="9525" cap="flat" cmpd="sng">
            <a:solidFill>
              <a:srgbClr val="CCFF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          So it’s too complicated sometimes.</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But does it worth the effort?</a:t>
            </a:r>
            <a:endParaRPr lang="en-US" altLang="zh-CN" sz="2400" b="1" dirty="0">
              <a:latin typeface="Times New Roman" panose="02020603050405020304" pitchFamily="18" charset="0"/>
            </a:endParaRPr>
          </a:p>
        </p:txBody>
      </p:sp>
      <p:sp>
        <p:nvSpPr>
          <p:cNvPr id="63567" name="AutoShape 79"/>
          <p:cNvSpPr/>
          <p:nvPr/>
        </p:nvSpPr>
        <p:spPr>
          <a:xfrm flipH="1">
            <a:off x="1219200" y="1524000"/>
            <a:ext cx="6324600" cy="2362200"/>
          </a:xfrm>
          <a:prstGeom prst="cloudCallout">
            <a:avLst>
              <a:gd name="adj1" fmla="val -45435"/>
              <a:gd name="adj2" fmla="val 64444"/>
            </a:avLst>
          </a:prstGeom>
          <a:gradFill rotWithShape="0">
            <a:gsLst>
              <a:gs pos="0">
                <a:srgbClr val="91B591"/>
              </a:gs>
              <a:gs pos="100000">
                <a:srgbClr val="CCFFCC"/>
              </a:gs>
            </a:gsLst>
            <a:lin ang="2700000" scaled="1"/>
            <a:tileRect/>
          </a:gradFill>
          <a:ln w="9525" cap="flat" cmpd="sng">
            <a:solidFill>
              <a:srgbClr val="CCFFFF"/>
            </a:solidFill>
            <a:prstDash val="solid"/>
            <a:headEnd type="none" w="med" len="med"/>
            <a:tailEnd type="none" w="med" len="med"/>
          </a:ln>
        </p:spPr>
        <p:txBody>
          <a:bodyPr wrap="none" lIns="0" tIns="10800" rIns="0" bIns="10800"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In fact there are no particular units of time.</a:t>
            </a:r>
            <a:endParaRPr lang="en-US" altLang="zh-CN" sz="2400" b="1" dirty="0">
              <a:latin typeface="Times New Roman" panose="02020603050405020304" pitchFamily="18" charset="0"/>
            </a:endParaRPr>
          </a:p>
        </p:txBody>
      </p:sp>
      <p:sp>
        <p:nvSpPr>
          <p:cNvPr id="63568" name="AutoShape 80"/>
          <p:cNvSpPr/>
          <p:nvPr/>
        </p:nvSpPr>
        <p:spPr>
          <a:xfrm>
            <a:off x="1905000" y="2590800"/>
            <a:ext cx="4724400" cy="1371600"/>
          </a:xfrm>
          <a:prstGeom prst="cloudCallout">
            <a:avLst>
              <a:gd name="adj1" fmla="val -50505"/>
              <a:gd name="adj2" fmla="val 61574"/>
            </a:avLst>
          </a:prstGeom>
          <a:gradFill rotWithShape="0">
            <a:gsLst>
              <a:gs pos="0">
                <a:srgbClr val="CCFFFF"/>
              </a:gs>
              <a:gs pos="100000">
                <a:srgbClr val="91B5B5"/>
              </a:gs>
            </a:gsLst>
            <a:lin ang="18900000" scaled="1"/>
            <a:tileRect/>
          </a:gradFill>
          <a:ln w="9525" cap="flat" cmpd="sng">
            <a:solidFill>
              <a:srgbClr val="CCFF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          I see ...</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Then what’s the point of </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this </a:t>
            </a:r>
            <a:r>
              <a:rPr lang="en-US" altLang="zh-CN" sz="2400" b="1" i="1" dirty="0">
                <a:latin typeface="Times New Roman" panose="02020603050405020304" pitchFamily="18" charset="0"/>
              </a:rPr>
              <a:t>T</a:t>
            </a:r>
            <a:r>
              <a:rPr lang="en-US" altLang="zh-CN" sz="2400" b="1" i="1" baseline="-25000" dirty="0">
                <a:latin typeface="Times New Roman" panose="02020603050405020304" pitchFamily="18" charset="0"/>
              </a:rPr>
              <a:t>p</a:t>
            </a:r>
            <a:r>
              <a:rPr lang="en-US" altLang="zh-CN" sz="2400" b="1" dirty="0">
                <a:latin typeface="Times New Roman" panose="02020603050405020304" pitchFamily="18" charset="0"/>
              </a:rPr>
              <a:t> stuff?</a:t>
            </a:r>
            <a:endParaRPr lang="en-US" altLang="zh-CN" sz="2400" b="1" dirty="0">
              <a:latin typeface="Times New Roman" panose="02020603050405020304" pitchFamily="18" charset="0"/>
            </a:endParaRPr>
          </a:p>
        </p:txBody>
      </p:sp>
      <p:sp>
        <p:nvSpPr>
          <p:cNvPr id="63569" name="AutoShape 81"/>
          <p:cNvSpPr/>
          <p:nvPr/>
        </p:nvSpPr>
        <p:spPr>
          <a:xfrm flipH="1">
            <a:off x="2438400" y="2819400"/>
            <a:ext cx="4191000" cy="1676400"/>
          </a:xfrm>
          <a:prstGeom prst="cloudCallout">
            <a:avLst>
              <a:gd name="adj1" fmla="val -64736"/>
              <a:gd name="adj2" fmla="val 30963"/>
            </a:avLst>
          </a:prstGeom>
          <a:gradFill rotWithShape="0">
            <a:gsLst>
              <a:gs pos="0">
                <a:srgbClr val="91B591"/>
              </a:gs>
              <a:gs pos="100000">
                <a:srgbClr val="CCFFCC"/>
              </a:gs>
            </a:gsLst>
            <a:lin ang="2700000" scaled="1"/>
            <a:tileRect/>
          </a:gradFill>
          <a:ln w="9525" cap="flat" cmpd="sng">
            <a:solidFill>
              <a:srgbClr val="CCFFFF"/>
            </a:solidFill>
            <a:prstDash val="solid"/>
            <a:headEnd type="none" w="med" len="med"/>
            <a:tailEnd type="none" w="med" len="med"/>
          </a:ln>
        </p:spPr>
        <p:txBody>
          <a:bodyPr wrap="none" lIns="0" tIns="10800" rIns="0" bIns="10800"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Good question !</a:t>
            </a:r>
            <a:endParaRPr lang="en-US" altLang="zh-CN" sz="2400" b="1" dirty="0">
              <a:latin typeface="Times New Roman" panose="02020603050405020304" pitchFamily="18" charset="0"/>
            </a:endParaRPr>
          </a:p>
          <a:p>
            <a:pPr marL="0" lvl="0" indent="0" algn="ctr" eaLnBrk="1" hangingPunct="1">
              <a:spcBef>
                <a:spcPct val="0"/>
              </a:spcBef>
              <a:buNone/>
            </a:pPr>
            <a:r>
              <a:rPr lang="en-US" altLang="zh-CN" sz="2400" b="1" dirty="0">
                <a:latin typeface="Times New Roman" panose="02020603050405020304" pitchFamily="18" charset="0"/>
              </a:rPr>
              <a:t>Let’s ask the students ...</a:t>
            </a:r>
            <a:endParaRPr lang="en-US" altLang="zh-CN"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63562"/>
                                        </p:tgtEl>
                                        <p:attrNameLst>
                                          <p:attrName>style.visibility</p:attrName>
                                        </p:attrNameLst>
                                      </p:cBhvr>
                                      <p:to>
                                        <p:strVal val="visible"/>
                                      </p:to>
                                    </p:set>
                                    <p:animEffect transition="in" filter="strips(upRight)">
                                      <p:cBhvr>
                                        <p:cTn id="11" dur="500"/>
                                        <p:tgtEl>
                                          <p:spTgt spid="63562"/>
                                        </p:tgtEl>
                                      </p:cBhvr>
                                    </p:animEffect>
                                  </p:childTnLst>
                                  <p:subTnLst>
                                    <p:set>
                                      <p:cBhvr override="childStyle">
                                        <p:cTn dur="1" fill="hold" display="0" masterRel="nextClick" afterEffect="1"/>
                                        <p:tgtEl>
                                          <p:spTgt spid="63562"/>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8" presetClass="entr" presetSubtype="9" fill="hold" nodeType="clickEffect">
                                  <p:stCondLst>
                                    <p:cond delay="0"/>
                                  </p:stCondLst>
                                  <p:childTnLst>
                                    <p:set>
                                      <p:cBhvr>
                                        <p:cTn id="15" dur="1" fill="hold">
                                          <p:stCondLst>
                                            <p:cond delay="0"/>
                                          </p:stCondLst>
                                        </p:cTn>
                                        <p:tgtEl>
                                          <p:spTgt spid="63563"/>
                                        </p:tgtEl>
                                        <p:attrNameLst>
                                          <p:attrName>style.visibility</p:attrName>
                                        </p:attrNameLst>
                                      </p:cBhvr>
                                      <p:to>
                                        <p:strVal val="visible"/>
                                      </p:to>
                                    </p:set>
                                    <p:animEffect transition="in" filter="strips(upLeft)">
                                      <p:cBhvr>
                                        <p:cTn id="16" dur="500"/>
                                        <p:tgtEl>
                                          <p:spTgt spid="63563"/>
                                        </p:tgtEl>
                                      </p:cBhvr>
                                    </p:animEffect>
                                  </p:childTnLst>
                                  <p:subTnLst>
                                    <p:set>
                                      <p:cBhvr override="childStyle">
                                        <p:cTn dur="1" fill="hold" display="0" masterRel="nextClick" afterEffect="1"/>
                                        <p:tgtEl>
                                          <p:spTgt spid="63563"/>
                                        </p:tgtEl>
                                        <p:attrNameLst>
                                          <p:attrName>style.visibility</p:attrName>
                                        </p:attrNameLst>
                                      </p:cBhvr>
                                      <p:to>
                                        <p:strVal val="hidden"/>
                                      </p:to>
                                    </p:set>
                                    <p:audio>
                                      <p:cMediaNode>
                                        <p:cTn display="0" masterRel="sameClick">
                                          <p:stCondLst>
                                            <p:cond evt="begin" delay="0">
                                              <p:tn val="14"/>
                                            </p:cond>
                                          </p:stCondLst>
                                          <p:endCondLst>
                                            <p:cond evt="onStopAudio" delay="0">
                                              <p:tgtEl>
                                                <p:sldTgt/>
                                              </p:tgtEl>
                                            </p:cond>
                                          </p:endCondLst>
                                        </p:cTn>
                                        <p:tgtEl>
                                          <p:sndTgt r:embed="rId4" name="WHOOSH.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3" fill="hold" nodeType="clickEffect">
                                  <p:stCondLst>
                                    <p:cond delay="0"/>
                                  </p:stCondLst>
                                  <p:childTnLst>
                                    <p:set>
                                      <p:cBhvr>
                                        <p:cTn id="20" dur="1" fill="hold">
                                          <p:stCondLst>
                                            <p:cond delay="0"/>
                                          </p:stCondLst>
                                        </p:cTn>
                                        <p:tgtEl>
                                          <p:spTgt spid="63564"/>
                                        </p:tgtEl>
                                        <p:attrNameLst>
                                          <p:attrName>style.visibility</p:attrName>
                                        </p:attrNameLst>
                                      </p:cBhvr>
                                      <p:to>
                                        <p:strVal val="visible"/>
                                      </p:to>
                                    </p:set>
                                    <p:animEffect transition="in" filter="strips(upRight)">
                                      <p:cBhvr>
                                        <p:cTn id="21" dur="500"/>
                                        <p:tgtEl>
                                          <p:spTgt spid="63564"/>
                                        </p:tgtEl>
                                      </p:cBhvr>
                                    </p:animEffect>
                                  </p:childTnLst>
                                  <p:subTnLst>
                                    <p:set>
                                      <p:cBhvr override="childStyle">
                                        <p:cTn dur="1" fill="hold" display="0" masterRel="nextClick" afterEffect="1"/>
                                        <p:tgtEl>
                                          <p:spTgt spid="63564"/>
                                        </p:tgtEl>
                                        <p:attrNameLst>
                                          <p:attrName>style.visibility</p:attrName>
                                        </p:attrNameLst>
                                      </p:cBhvr>
                                      <p:to>
                                        <p:strVal val="hidden"/>
                                      </p:to>
                                    </p:set>
                                    <p:audio>
                                      <p:cMediaNode>
                                        <p:cTn display="0" masterRel="sameClick">
                                          <p:stCondLst>
                                            <p:cond evt="begin" delay="0">
                                              <p:tn val="19"/>
                                            </p:cond>
                                          </p:stCondLst>
                                          <p:endCondLst>
                                            <p:cond evt="onStopAudio" delay="0">
                                              <p:tgtEl>
                                                <p:sldTgt/>
                                              </p:tgtEl>
                                            </p:cond>
                                          </p:endCondLst>
                                        </p:cTn>
                                        <p:tgtEl>
                                          <p:sndTgt r:embed="rId4" name="WHOOSH.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9" fill="hold" nodeType="clickEffect">
                                  <p:stCondLst>
                                    <p:cond delay="0"/>
                                  </p:stCondLst>
                                  <p:childTnLst>
                                    <p:set>
                                      <p:cBhvr>
                                        <p:cTn id="25" dur="1" fill="hold">
                                          <p:stCondLst>
                                            <p:cond delay="0"/>
                                          </p:stCondLst>
                                        </p:cTn>
                                        <p:tgtEl>
                                          <p:spTgt spid="63565"/>
                                        </p:tgtEl>
                                        <p:attrNameLst>
                                          <p:attrName>style.visibility</p:attrName>
                                        </p:attrNameLst>
                                      </p:cBhvr>
                                      <p:to>
                                        <p:strVal val="visible"/>
                                      </p:to>
                                    </p:set>
                                    <p:animEffect transition="in" filter="strips(upLeft)">
                                      <p:cBhvr>
                                        <p:cTn id="26" dur="500"/>
                                        <p:tgtEl>
                                          <p:spTgt spid="63565"/>
                                        </p:tgtEl>
                                      </p:cBhvr>
                                    </p:animEffect>
                                  </p:childTnLst>
                                  <p:subTnLst>
                                    <p:set>
                                      <p:cBhvr override="childStyle">
                                        <p:cTn dur="1" fill="hold" display="0" masterRel="nextClick" afterEffect="1"/>
                                        <p:tgtEl>
                                          <p:spTgt spid="63565"/>
                                        </p:tgtEl>
                                        <p:attrNameLst>
                                          <p:attrName>style.visibility</p:attrName>
                                        </p:attrNameLst>
                                      </p:cBhvr>
                                      <p:to>
                                        <p:strVal val="hidden"/>
                                      </p:to>
                                    </p:set>
                                    <p:audio>
                                      <p:cMediaNode>
                                        <p:cTn display="0" masterRel="sameClick">
                                          <p:stCondLst>
                                            <p:cond evt="begin" delay="0">
                                              <p:tn val="24"/>
                                            </p:cond>
                                          </p:stCondLst>
                                          <p:endCondLst>
                                            <p:cond evt="onStopAudio" delay="0">
                                              <p:tgtEl>
                                                <p:sldTgt/>
                                              </p:tgtEl>
                                            </p:cond>
                                          </p:endCondLst>
                                        </p:cTn>
                                        <p:tgtEl>
                                          <p:sndTgt r:embed="rId5" name="GLASS.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63566"/>
                                        </p:tgtEl>
                                        <p:attrNameLst>
                                          <p:attrName>style.visibility</p:attrName>
                                        </p:attrNameLst>
                                      </p:cBhvr>
                                      <p:to>
                                        <p:strVal val="visible"/>
                                      </p:to>
                                    </p:set>
                                    <p:animEffect transition="in" filter="strips(upRight)">
                                      <p:cBhvr>
                                        <p:cTn id="31" dur="500"/>
                                        <p:tgtEl>
                                          <p:spTgt spid="63566"/>
                                        </p:tgtEl>
                                      </p:cBhvr>
                                    </p:animEffect>
                                  </p:childTnLst>
                                  <p:subTnLst>
                                    <p:set>
                                      <p:cBhvr override="childStyle">
                                        <p:cTn dur="1" fill="hold" display="0" masterRel="nextClick" afterEffect="1"/>
                                        <p:tgtEl>
                                          <p:spTgt spid="63566"/>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9" fill="hold" nodeType="clickEffect">
                                  <p:stCondLst>
                                    <p:cond delay="0"/>
                                  </p:stCondLst>
                                  <p:childTnLst>
                                    <p:set>
                                      <p:cBhvr>
                                        <p:cTn id="35" dur="1" fill="hold">
                                          <p:stCondLst>
                                            <p:cond delay="0"/>
                                          </p:stCondLst>
                                        </p:cTn>
                                        <p:tgtEl>
                                          <p:spTgt spid="63567"/>
                                        </p:tgtEl>
                                        <p:attrNameLst>
                                          <p:attrName>style.visibility</p:attrName>
                                        </p:attrNameLst>
                                      </p:cBhvr>
                                      <p:to>
                                        <p:strVal val="visible"/>
                                      </p:to>
                                    </p:set>
                                    <p:animEffect transition="in" filter="strips(upLeft)">
                                      <p:cBhvr>
                                        <p:cTn id="36" dur="500"/>
                                        <p:tgtEl>
                                          <p:spTgt spid="63567"/>
                                        </p:tgtEl>
                                      </p:cBhvr>
                                    </p:animEffect>
                                  </p:childTnLst>
                                  <p:subTnLst>
                                    <p:set>
                                      <p:cBhvr override="childStyle">
                                        <p:cTn dur="1" fill="hold" display="0" masterRel="nextClick" afterEffect="1"/>
                                        <p:tgtEl>
                                          <p:spTgt spid="63567"/>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6" name="LASER.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3" fill="hold" nodeType="clickEffect">
                                  <p:stCondLst>
                                    <p:cond delay="0"/>
                                  </p:stCondLst>
                                  <p:childTnLst>
                                    <p:set>
                                      <p:cBhvr>
                                        <p:cTn id="40" dur="1" fill="hold">
                                          <p:stCondLst>
                                            <p:cond delay="0"/>
                                          </p:stCondLst>
                                        </p:cTn>
                                        <p:tgtEl>
                                          <p:spTgt spid="63568"/>
                                        </p:tgtEl>
                                        <p:attrNameLst>
                                          <p:attrName>style.visibility</p:attrName>
                                        </p:attrNameLst>
                                      </p:cBhvr>
                                      <p:to>
                                        <p:strVal val="visible"/>
                                      </p:to>
                                    </p:set>
                                    <p:animEffect transition="in" filter="strips(upRight)">
                                      <p:cBhvr>
                                        <p:cTn id="41" dur="500"/>
                                        <p:tgtEl>
                                          <p:spTgt spid="63568"/>
                                        </p:tgtEl>
                                      </p:cBhvr>
                                    </p:animEffect>
                                  </p:childTnLst>
                                  <p:subTnLst>
                                    <p:set>
                                      <p:cBhvr override="childStyle">
                                        <p:cTn dur="1" fill="hold" display="0" masterRel="nextClick" afterEffect="1"/>
                                        <p:tgtEl>
                                          <p:spTgt spid="63568"/>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4" name="WHOOSH.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9" fill="hold" nodeType="clickEffect">
                                  <p:stCondLst>
                                    <p:cond delay="0"/>
                                  </p:stCondLst>
                                  <p:childTnLst>
                                    <p:set>
                                      <p:cBhvr>
                                        <p:cTn id="45" dur="1" fill="hold">
                                          <p:stCondLst>
                                            <p:cond delay="0"/>
                                          </p:stCondLst>
                                        </p:cTn>
                                        <p:tgtEl>
                                          <p:spTgt spid="63569"/>
                                        </p:tgtEl>
                                        <p:attrNameLst>
                                          <p:attrName>style.visibility</p:attrName>
                                        </p:attrNameLst>
                                      </p:cBhvr>
                                      <p:to>
                                        <p:strVal val="visible"/>
                                      </p:to>
                                    </p:set>
                                    <p:animEffect transition="in" filter="strips(upLeft)">
                                      <p:cBhvr>
                                        <p:cTn id="46" dur="500"/>
                                        <p:tgtEl>
                                          <p:spTgt spid="63569"/>
                                        </p:tgtEl>
                                      </p:cBhvr>
                                    </p:animEffect>
                                  </p:childTnLst>
                                  <p:subTnLst>
                                    <p:audio>
                                      <p:cMediaNode>
                                        <p:cTn display="0" masterRel="sameClick">
                                          <p:stCondLst>
                                            <p:cond evt="begin" delay="0">
                                              <p:tn val="44"/>
                                            </p:cond>
                                          </p:stCondLst>
                                          <p:endCondLst>
                                            <p:cond evt="onStopAudio" delay="0">
                                              <p:tgtEl>
                                                <p:sldTgt/>
                                              </p:tgtEl>
                                            </p:cond>
                                          </p:endCondLst>
                                        </p:cTn>
                                        <p:tgtEl>
                                          <p:sndTgt r:embed="rId6"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62" grpId="0" animBg="1"/>
      <p:bldP spid="63563" grpId="0" animBg="1"/>
      <p:bldP spid="63564" grpId="0" animBg="1"/>
      <p:bldP spid="63565" grpId="0" animBg="1"/>
      <p:bldP spid="63566" grpId="0" animBg="1"/>
      <p:bldP spid="63567" grpId="0" animBg="1"/>
      <p:bldP spid="63568" grpId="0" animBg="1"/>
      <p:bldP spid="63569"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1986" name="Text Box 5"/>
          <p:cNvSpPr txBox="1"/>
          <p:nvPr/>
        </p:nvSpPr>
        <p:spPr>
          <a:xfrm>
            <a:off x="990600" y="930275"/>
            <a:ext cx="7315200" cy="1570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t>The point of counting the steps is to predict</a:t>
            </a:r>
            <a:r>
              <a:rPr lang="en-US" altLang="zh-CN" sz="2400" b="1" dirty="0">
                <a:solidFill>
                  <a:schemeClr val="hlink"/>
                </a:solidFill>
              </a:rPr>
              <a:t> </a:t>
            </a:r>
            <a:r>
              <a:rPr lang="en-US" altLang="zh-CN" sz="2400" b="1" dirty="0">
                <a:solidFill>
                  <a:schemeClr val="tx2"/>
                </a:solidFill>
              </a:rPr>
              <a:t>the growth rate </a:t>
            </a:r>
            <a:r>
              <a:rPr lang="en-US" altLang="zh-CN" sz="2400" b="1" dirty="0"/>
              <a:t>in run time as the </a:t>
            </a:r>
            <a:r>
              <a:rPr lang="en-US" altLang="zh-CN" sz="2400" b="1" i="1" dirty="0"/>
              <a:t>N</a:t>
            </a:r>
            <a:r>
              <a:rPr lang="en-US" altLang="zh-CN" sz="2400" b="1" dirty="0"/>
              <a:t> scales up, and thereby compare </a:t>
            </a:r>
            <a:r>
              <a:rPr lang="en-US" altLang="zh-CN" sz="2400" b="1" dirty="0">
                <a:solidFill>
                  <a:schemeClr val="tx2"/>
                </a:solidFill>
              </a:rPr>
              <a:t>the time complexities </a:t>
            </a:r>
            <a:r>
              <a:rPr lang="en-US" altLang="zh-CN" sz="2400" b="1" dirty="0"/>
              <a:t>of two programs.  </a:t>
            </a:r>
            <a:endParaRPr lang="en-US" altLang="zh-CN" sz="2400" b="1" dirty="0"/>
          </a:p>
        </p:txBody>
      </p:sp>
      <p:sp>
        <p:nvSpPr>
          <p:cNvPr id="62470" name="Text Box 6"/>
          <p:cNvSpPr txBox="1"/>
          <p:nvPr/>
        </p:nvSpPr>
        <p:spPr>
          <a:xfrm>
            <a:off x="723900" y="2841625"/>
            <a:ext cx="78486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563880" eaLnBrk="1" hangingPunct="1">
              <a:spcBef>
                <a:spcPct val="50000"/>
              </a:spcBef>
              <a:buNone/>
            </a:pPr>
            <a:r>
              <a:rPr lang="en-US" altLang="zh-CN" sz="2400" b="1" dirty="0">
                <a:latin typeface="Times New Roman" panose="02020603050405020304" pitchFamily="18" charset="0"/>
              </a:rPr>
              <a:t>Suppose </a:t>
            </a:r>
            <a:r>
              <a:rPr lang="en-US" altLang="zh-CN" sz="2400" b="1" i="1" dirty="0">
                <a:latin typeface="Times New Roman" panose="02020603050405020304" pitchFamily="18" charset="0"/>
              </a:rPr>
              <a:t>T</a:t>
            </a:r>
            <a:r>
              <a:rPr lang="en-US" altLang="zh-CN" sz="2400" b="1" i="1" baseline="-25000" dirty="0">
                <a:latin typeface="Times New Roman" panose="02020603050405020304" pitchFamily="18" charset="0"/>
              </a:rPr>
              <a:t>p1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N </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N</a:t>
            </a:r>
            <a:r>
              <a:rPr lang="en-US" altLang="zh-CN" sz="2400" b="1" baseline="30000" dirty="0">
                <a:latin typeface="Times New Roman" panose="02020603050405020304" pitchFamily="18" charset="0"/>
              </a:rPr>
              <a:t>2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 and </a:t>
            </a:r>
            <a:r>
              <a:rPr lang="en-US" altLang="zh-CN" sz="2400" b="1" i="1" dirty="0">
                <a:latin typeface="Times New Roman" panose="02020603050405020304" pitchFamily="18" charset="0"/>
              </a:rPr>
              <a:t>T</a:t>
            </a:r>
            <a:r>
              <a:rPr lang="en-US" altLang="zh-CN" sz="2400" b="1" i="1" baseline="-25000" dirty="0">
                <a:latin typeface="Times New Roman" panose="02020603050405020304" pitchFamily="18" charset="0"/>
              </a:rPr>
              <a:t>p2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N </a:t>
            </a:r>
            <a:r>
              <a:rPr lang="en-US" altLang="zh-CN" sz="2400" b="1" dirty="0">
                <a:latin typeface="Times New Roman" panose="02020603050405020304" pitchFamily="18" charset="0"/>
              </a:rPr>
              <a:t>) = 10</a:t>
            </a:r>
            <a:r>
              <a:rPr lang="en-US" altLang="zh-CN" sz="2400" b="1" baseline="30000" dirty="0">
                <a:latin typeface="Times New Roman" panose="02020603050405020304" pitchFamily="18" charset="0"/>
              </a:rPr>
              <a:t>6</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  Which one is better?</a:t>
            </a:r>
            <a:endParaRPr lang="en-US" altLang="zh-CN" sz="2400" b="1" dirty="0">
              <a:latin typeface="Times New Roman" panose="02020603050405020304" pitchFamily="18" charset="0"/>
            </a:endParaRPr>
          </a:p>
        </p:txBody>
      </p:sp>
      <p:sp>
        <p:nvSpPr>
          <p:cNvPr id="62471" name="Text Box 7"/>
          <p:cNvSpPr txBox="1"/>
          <p:nvPr/>
        </p:nvSpPr>
        <p:spPr>
          <a:xfrm>
            <a:off x="609600" y="4130675"/>
            <a:ext cx="784860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563880" eaLnBrk="1" hangingPunct="1">
              <a:spcBef>
                <a:spcPct val="50000"/>
              </a:spcBef>
              <a:buNone/>
            </a:pPr>
            <a:r>
              <a:rPr lang="en-US" altLang="zh-CN" sz="2400" b="1" dirty="0">
                <a:latin typeface="Times New Roman" panose="02020603050405020304" pitchFamily="18" charset="0"/>
              </a:rPr>
              <a:t>There will be an </a:t>
            </a:r>
            <a:r>
              <a:rPr lang="en-US" altLang="zh-CN" sz="2400" b="1" i="1" dirty="0">
                <a:latin typeface="Times New Roman" panose="02020603050405020304" pitchFamily="18" charset="0"/>
              </a:rPr>
              <a:t>n</a:t>
            </a:r>
            <a:r>
              <a:rPr lang="en-US" altLang="zh-CN" sz="2400" b="1" baseline="-25000" dirty="0">
                <a:latin typeface="Times New Roman" panose="02020603050405020304" pitchFamily="18" charset="0"/>
              </a:rPr>
              <a:t>0</a:t>
            </a:r>
            <a:r>
              <a:rPr lang="en-US" altLang="zh-CN" sz="2400" b="1" dirty="0">
                <a:latin typeface="Times New Roman" panose="02020603050405020304" pitchFamily="18" charset="0"/>
              </a:rPr>
              <a:t> such that </a:t>
            </a:r>
            <a:r>
              <a:rPr lang="en-US" altLang="zh-CN" sz="2400" b="1" i="1" dirty="0">
                <a:latin typeface="Times New Roman" panose="02020603050405020304" pitchFamily="18" charset="0"/>
              </a:rPr>
              <a:t>T</a:t>
            </a:r>
            <a:r>
              <a:rPr lang="en-US" altLang="zh-CN" sz="2400" b="1" i="1" baseline="-25000" dirty="0">
                <a:latin typeface="Times New Roman" panose="02020603050405020304" pitchFamily="18" charset="0"/>
              </a:rPr>
              <a:t>p1</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 ) &gt; </a:t>
            </a:r>
            <a:r>
              <a:rPr lang="en-US" altLang="zh-CN" sz="2400" b="1" i="1" dirty="0">
                <a:latin typeface="Times New Roman" panose="02020603050405020304" pitchFamily="18" charset="0"/>
              </a:rPr>
              <a:t>T</a:t>
            </a:r>
            <a:r>
              <a:rPr lang="en-US" altLang="zh-CN" sz="2400" b="1" i="1" baseline="-25000" dirty="0">
                <a:latin typeface="Times New Roman" panose="02020603050405020304" pitchFamily="18" charset="0"/>
              </a:rPr>
              <a:t>p2</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 ) for all </a:t>
            </a:r>
            <a:r>
              <a:rPr lang="en-US" altLang="zh-CN" sz="2400" b="1" i="1" dirty="0">
                <a:latin typeface="Times New Roman" panose="02020603050405020304" pitchFamily="18" charset="0"/>
              </a:rPr>
              <a:t>N</a:t>
            </a:r>
            <a:r>
              <a:rPr lang="en-US" altLang="zh-CN" sz="2400" b="1" dirty="0">
                <a:latin typeface="Times New Roman" panose="02020603050405020304" pitchFamily="18" charset="0"/>
              </a:rPr>
              <a:t> &gt; </a:t>
            </a:r>
            <a:r>
              <a:rPr lang="en-US" altLang="zh-CN" sz="2400" b="1" i="1" dirty="0">
                <a:latin typeface="Times New Roman" panose="02020603050405020304" pitchFamily="18" charset="0"/>
              </a:rPr>
              <a:t>n</a:t>
            </a:r>
            <a:r>
              <a:rPr lang="en-US" altLang="zh-CN" sz="2400" b="1" baseline="-25000" dirty="0">
                <a:latin typeface="Times New Roman" panose="02020603050405020304" pitchFamily="18" charset="0"/>
              </a:rPr>
              <a:t>0</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470"/>
                                        </p:tgtEl>
                                        <p:attrNameLst>
                                          <p:attrName>style.visibility</p:attrName>
                                        </p:attrNameLst>
                                      </p:cBhvr>
                                      <p:to>
                                        <p:strVal val="visible"/>
                                      </p:to>
                                    </p:set>
                                    <p:animEffect transition="in" filter="wipe(left)">
                                      <p:cBhvr>
                                        <p:cTn id="7" dur="500"/>
                                        <p:tgtEl>
                                          <p:spTgt spid="62470"/>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2471"/>
                                        </p:tgtEl>
                                        <p:attrNameLst>
                                          <p:attrName>style.visibility</p:attrName>
                                        </p:attrNameLst>
                                      </p:cBhvr>
                                      <p:to>
                                        <p:strVal val="visible"/>
                                      </p:to>
                                    </p:set>
                                    <p:animEffect transition="in" filter="wipe(left)">
                                      <p:cBhvr>
                                        <p:cTn id="12" dur="500"/>
                                        <p:tgtEl>
                                          <p:spTgt spid="62471"/>
                                        </p:tgtEl>
                                      </p:cBhvr>
                                    </p:animEffect>
                                  </p:childTnLst>
                                  <p:subTnLst>
                                    <p:audio>
                                      <p:cMediaNode>
                                        <p:cTn display="0" masterRel="sameClick">
                                          <p:stCondLst>
                                            <p:cond evt="begin" delay="0">
                                              <p:tn val="10"/>
                                            </p:cond>
                                          </p:stCondLst>
                                          <p:endCondLst>
                                            <p:cond evt="onStopAudio" delay="0">
                                              <p:tgtEl>
                                                <p:sldTgt/>
                                              </p:tgtEl>
                                            </p:cond>
                                          </p:endCondLst>
                                        </p:cTn>
                                        <p:tgtEl>
                                          <p:sndTgt r:embed="rId1"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p:bldP spid="6247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838200" y="1295400"/>
            <a:ext cx="7240588" cy="31400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4400" b="1" dirty="0"/>
              <a:t>So what we really want to know is </a:t>
            </a:r>
            <a:r>
              <a:rPr lang="en-US" altLang="zh-CN" sz="4400" b="1" dirty="0">
                <a:solidFill>
                  <a:schemeClr val="tx2"/>
                </a:solidFill>
              </a:rPr>
              <a:t>the growth rate </a:t>
            </a:r>
            <a:r>
              <a:rPr lang="en-US" altLang="zh-CN" sz="4400" b="1" dirty="0"/>
              <a:t>of running time:</a:t>
            </a:r>
            <a:endParaRPr lang="en-US" altLang="zh-CN" sz="4400" b="1" dirty="0"/>
          </a:p>
          <a:p>
            <a:pPr marL="0" lvl="0" indent="0" eaLnBrk="1" hangingPunct="1">
              <a:spcBef>
                <a:spcPct val="50000"/>
              </a:spcBef>
              <a:buNone/>
            </a:pPr>
            <a:r>
              <a:rPr lang="en-US" altLang="zh-CN" sz="4400" b="1" dirty="0">
                <a:solidFill>
                  <a:schemeClr val="tx2"/>
                </a:solidFill>
              </a:rPr>
              <a:t>   </a:t>
            </a:r>
            <a:r>
              <a:rPr lang="en-US" altLang="zh-CN" sz="4400" b="1" dirty="0">
                <a:solidFill>
                  <a:srgbClr val="0000FF"/>
                </a:solidFill>
              </a:rPr>
              <a:t>the big-Oh of T(N)</a:t>
            </a:r>
            <a:endParaRPr lang="en-US" altLang="zh-CN" sz="44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685800" y="152400"/>
            <a:ext cx="7848600" cy="1600200"/>
          </a:xfrm>
        </p:spPr>
        <p:txBody>
          <a:bodyPr vert="horz" wrap="square" lIns="91440" tIns="45720" rIns="91440" bIns="45720" anchor="b" anchorCtr="0"/>
          <a:p>
            <a:pPr eaLnBrk="1" hangingPunct="1"/>
            <a:r>
              <a:rPr lang="en-US" altLang="zh-CN" dirty="0"/>
              <a:t>Asymptotic Notation</a:t>
            </a:r>
            <a:endParaRPr lang="en-US" altLang="zh-CN" dirty="0"/>
          </a:p>
        </p:txBody>
      </p:sp>
      <p:sp>
        <p:nvSpPr>
          <p:cNvPr id="4099" name="Rectangle 3"/>
          <p:cNvSpPr>
            <a:spLocks noGrp="1" noChangeArrowheads="1"/>
          </p:cNvSpPr>
          <p:nvPr>
            <p:ph idx="1"/>
          </p:nvPr>
        </p:nvSpPr>
        <p:spPr>
          <a:xfrm>
            <a:off x="685800" y="1981200"/>
            <a:ext cx="8458200" cy="4724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Big-O, “bounded above by”:   </a:t>
            </a:r>
            <a:r>
              <a:rPr kumimoji="0" lang="en-US" altLang="zh-CN" sz="2400" b="0" i="0" u="none" strike="noStrike" kern="0" cap="none" spc="0" normalizeH="0" baseline="0" noProof="0" dirty="0">
                <a:ln>
                  <a:noFill/>
                </a:ln>
                <a:solidFill>
                  <a:srgbClr val="FF3300"/>
                </a:solidFill>
                <a:effectLst/>
                <a:uLnTx/>
                <a:uFillTx/>
                <a:latin typeface="+mn-lt"/>
                <a:ea typeface="+mn-ea"/>
                <a:cs typeface="+mn-cs"/>
              </a:rPr>
              <a:t>T(n) = O(f(n))</a:t>
            </a:r>
            <a:endParaRPr kumimoji="0" lang="en-US" altLang="zh-CN" sz="2400" b="0" i="0" u="none" strike="noStrike" kern="0" cap="none" spc="0" normalizeH="0" baseline="0" noProof="0" dirty="0">
              <a:ln>
                <a:noFill/>
              </a:ln>
              <a:solidFill>
                <a:srgbClr val="FF3300"/>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rgbClr val="FF3300"/>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For some c and n</a:t>
            </a:r>
            <a:r>
              <a:rPr kumimoji="0" lang="en-US" altLang="zh-CN" sz="2400" b="0" i="0" u="none" strike="noStrike" kern="0" cap="none" spc="0" normalizeH="0" baseline="-25000" noProof="0" dirty="0">
                <a:ln>
                  <a:noFill/>
                </a:ln>
                <a:solidFill>
                  <a:schemeClr val="tx1"/>
                </a:solidFill>
                <a:effectLst/>
                <a:uLnTx/>
                <a:uFillTx/>
                <a:latin typeface="+mn-lt"/>
                <a:ea typeface="+mn-ea"/>
                <a:cs typeface="+mn-cs"/>
              </a:rPr>
              <a:t>0</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a:ln>
                  <a:noFill/>
                </a:ln>
                <a:solidFill>
                  <a:schemeClr val="tx2"/>
                </a:solidFill>
                <a:effectLst/>
                <a:uLnTx/>
                <a:uFillTx/>
                <a:latin typeface="+mn-lt"/>
                <a:ea typeface="+mn-ea"/>
                <a:cs typeface="+mn-cs"/>
              </a:rPr>
              <a:t>T(n) </a:t>
            </a:r>
            <a:r>
              <a:rPr kumimoji="0" lang="en-US" altLang="zh-CN" sz="2400" b="0" i="0" u="none" strike="noStrike" kern="0" cap="none" spc="0" normalizeH="0" baseline="0" noProof="0" dirty="0">
                <a:ln>
                  <a:noFill/>
                </a:ln>
                <a:solidFill>
                  <a:schemeClr val="tx2"/>
                </a:solidFill>
                <a:effectLst/>
                <a:uLnTx/>
                <a:uFillTx/>
                <a:latin typeface="+mn-lt"/>
                <a:ea typeface="+mn-ea"/>
                <a:cs typeface="+mn-cs"/>
                <a:sym typeface="Symbol" panose="05050102010706020507" pitchFamily="18" charset="2"/>
              </a:rPr>
              <a:t></a:t>
            </a:r>
            <a:r>
              <a:rPr kumimoji="0" lang="en-US" altLang="zh-CN" sz="2400" b="0" i="0" u="none" strike="noStrike" kern="0" cap="none" spc="0" normalizeH="0" baseline="0" noProof="0" dirty="0">
                <a:ln>
                  <a:noFill/>
                </a:ln>
                <a:solidFill>
                  <a:schemeClr val="tx2"/>
                </a:solidFill>
                <a:effectLst/>
                <a:uLnTx/>
                <a:uFillTx/>
                <a:latin typeface="+mn-lt"/>
                <a:ea typeface="+mn-ea"/>
                <a:cs typeface="+mn-cs"/>
              </a:rPr>
              <a:t> </a:t>
            </a:r>
            <a:r>
              <a:rPr kumimoji="0" lang="en-US" altLang="zh-CN" sz="2400" b="0" i="0" u="none" strike="noStrike" kern="0" cap="none" spc="0" normalizeH="0" baseline="0" noProof="0" dirty="0" err="1">
                <a:ln>
                  <a:noFill/>
                </a:ln>
                <a:solidFill>
                  <a:schemeClr val="tx2"/>
                </a:solidFill>
                <a:effectLst/>
                <a:uLnTx/>
                <a:uFillTx/>
                <a:latin typeface="+mn-lt"/>
                <a:ea typeface="+mn-ea"/>
                <a:cs typeface="+mn-cs"/>
              </a:rPr>
              <a:t>c·f</a:t>
            </a:r>
            <a:r>
              <a:rPr kumimoji="0" lang="en-US" altLang="zh-CN" sz="2400" b="0" i="0" u="none" strike="noStrike" kern="0" cap="none" spc="0" normalizeH="0" baseline="0" noProof="0" dirty="0">
                <a:ln>
                  <a:noFill/>
                </a:ln>
                <a:solidFill>
                  <a:schemeClr val="tx2"/>
                </a:solidFill>
                <a:effectLst/>
                <a:uLnTx/>
                <a:uFillTx/>
                <a:latin typeface="+mn-lt"/>
                <a:ea typeface="+mn-ea"/>
                <a:cs typeface="+mn-cs"/>
              </a:rPr>
              <a:t>(n) </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whenever n &gt; n</a:t>
            </a:r>
            <a:r>
              <a:rPr kumimoji="0" lang="en-US" altLang="zh-CN" sz="2400" b="0" i="0" u="none" strike="noStrike" kern="0" cap="none" spc="0" normalizeH="0" baseline="-25000" noProof="0" dirty="0">
                <a:ln>
                  <a:noFill/>
                </a:ln>
                <a:solidFill>
                  <a:schemeClr val="tx1"/>
                </a:solidFill>
                <a:effectLst/>
                <a:uLnTx/>
                <a:uFillTx/>
                <a:latin typeface="+mn-lt"/>
                <a:ea typeface="+mn-ea"/>
                <a:cs typeface="+mn-cs"/>
              </a:rPr>
              <a:t>0</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2057400" marR="0" lvl="4" indent="-228600" algn="l" defTabSz="914400" rtl="0" eaLnBrk="1" fontAlgn="base" latinLnBrk="0" hangingPunct="1">
              <a:lnSpc>
                <a:spcPct val="90000"/>
              </a:lnSpc>
              <a:spcBef>
                <a:spcPct val="20000"/>
              </a:spcBef>
              <a:spcAft>
                <a:spcPct val="0"/>
              </a:spcAft>
              <a:buClrTx/>
              <a:buSzTx/>
              <a:buFontTx/>
              <a:buChar char="»"/>
              <a:defRPr/>
            </a:pPr>
            <a:endParaRPr kumimoji="0" lang="en-US" altLang="zh-CN" sz="1800" b="0" i="0" u="none" strike="noStrike" kern="0" cap="none" spc="0" normalizeH="0" baseline="0" noProof="0" dirty="0">
              <a:ln>
                <a:noFill/>
              </a:ln>
              <a:solidFill>
                <a:schemeClr val="tx1"/>
              </a:solidFill>
              <a:effectLst/>
              <a:uLnTx/>
              <a:uFillTx/>
              <a:latin typeface="+mn-lt"/>
              <a:ea typeface="+mn-ea"/>
              <a:cs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Compare their </a:t>
            </a:r>
            <a:r>
              <a:rPr kumimoji="0" lang="en-US" altLang="zh-CN" sz="2400" b="1" i="1" u="none" strike="noStrike" kern="0" cap="none" spc="0" normalizeH="0" baseline="0" noProof="0" dirty="0">
                <a:ln>
                  <a:noFill/>
                </a:ln>
                <a:solidFill>
                  <a:srgbClr val="FF0000"/>
                </a:solidFill>
                <a:effectLst/>
                <a:uLnTx/>
                <a:uFillTx/>
                <a:latin typeface="+mn-lt"/>
                <a:ea typeface="+mn-ea"/>
                <a:cs typeface="+mn-cs"/>
              </a:rPr>
              <a:t>relative rates of growth</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The growth rate of T(n) is </a:t>
            </a:r>
            <a:r>
              <a:rPr kumimoji="0" lang="en-US" altLang="zh-CN" sz="2400" b="0" i="0" u="none" strike="noStrike" kern="0" cap="none" spc="0" normalizeH="0" baseline="0" noProof="0" dirty="0">
                <a:ln>
                  <a:noFill/>
                </a:ln>
                <a:solidFill>
                  <a:srgbClr val="FF0000"/>
                </a:solidFill>
                <a:effectLst/>
                <a:uLnTx/>
                <a:uFillTx/>
                <a:latin typeface="+mn-lt"/>
                <a:ea typeface="+mn-ea"/>
                <a:cs typeface="+mn-cs"/>
              </a:rPr>
              <a:t>less than or equal to </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that of f(n)</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charRg st="97" end="13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charRg st="138" end="20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1440" tIns="45720" rIns="91440" bIns="45720" anchor="b" anchorCtr="0"/>
          <a:p>
            <a:pPr eaLnBrk="1" hangingPunct="1"/>
            <a:br>
              <a:rPr lang="en-US" altLang="zh-CN" sz="4000" b="1" dirty="0"/>
            </a:br>
            <a:r>
              <a:rPr lang="en-US" altLang="zh-CN" dirty="0"/>
              <a:t>Examples</a:t>
            </a:r>
            <a:endParaRPr lang="en-US" altLang="zh-CN" dirty="0"/>
          </a:p>
        </p:txBody>
      </p:sp>
      <p:sp>
        <p:nvSpPr>
          <p:cNvPr id="66563" name="Rectangle 3"/>
          <p:cNvSpPr>
            <a:spLocks noGrp="1"/>
          </p:cNvSpPr>
          <p:nvPr>
            <p:ph idx="1"/>
          </p:nvPr>
        </p:nvSpPr>
        <p:spPr>
          <a:xfrm>
            <a:off x="685800" y="1828800"/>
            <a:ext cx="8305800" cy="4800600"/>
          </a:xfrm>
        </p:spPr>
        <p:txBody>
          <a:bodyPr vert="horz" wrap="square" lIns="91440" tIns="45720" rIns="91440" bIns="45720" anchor="t" anchorCtr="0"/>
          <a:p>
            <a:pPr eaLnBrk="1" hangingPunct="1">
              <a:lnSpc>
                <a:spcPct val="90000"/>
              </a:lnSpc>
            </a:pPr>
            <a:r>
              <a:rPr lang="en-US" altLang="zh-CN" sz="2800" dirty="0"/>
              <a:t>T(n) = 5n+2 = O(?)	</a:t>
            </a:r>
            <a:endParaRPr lang="en-US" altLang="zh-CN" sz="2800" dirty="0"/>
          </a:p>
          <a:p>
            <a:pPr lvl="1" eaLnBrk="1" hangingPunct="1">
              <a:lnSpc>
                <a:spcPct val="90000"/>
              </a:lnSpc>
            </a:pPr>
            <a:r>
              <a:rPr lang="en-US" altLang="zh-CN" sz="2400" dirty="0"/>
              <a:t>   5n+2 </a:t>
            </a:r>
            <a:r>
              <a:rPr lang="en-US" altLang="zh-CN" sz="2400" dirty="0">
                <a:sym typeface="Symbol" panose="05050102010706020507" pitchFamily="18" charset="2"/>
              </a:rPr>
              <a:t></a:t>
            </a:r>
            <a:r>
              <a:rPr lang="en-US" altLang="zh-CN" sz="2400" dirty="0"/>
              <a:t> 6n, for n </a:t>
            </a:r>
            <a:r>
              <a:rPr lang="en-US" altLang="zh-CN" sz="2400" dirty="0">
                <a:sym typeface="Symbol" panose="05050102010706020507" pitchFamily="18" charset="2"/>
              </a:rPr>
              <a:t></a:t>
            </a:r>
            <a:r>
              <a:rPr lang="en-US" altLang="zh-CN" sz="2400" dirty="0"/>
              <a:t>  2   (C=6, n</a:t>
            </a:r>
            <a:r>
              <a:rPr lang="en-US" altLang="zh-CN" sz="2400" baseline="-25000" dirty="0"/>
              <a:t>0</a:t>
            </a:r>
            <a:r>
              <a:rPr lang="en-US" altLang="zh-CN" sz="2400" dirty="0"/>
              <a:t>=2)</a:t>
            </a:r>
            <a:endParaRPr lang="en-US" altLang="zh-CN" sz="2400" dirty="0"/>
          </a:p>
          <a:p>
            <a:pPr lvl="1" eaLnBrk="1" hangingPunct="1">
              <a:lnSpc>
                <a:spcPct val="90000"/>
              </a:lnSpc>
            </a:pPr>
            <a:endParaRPr lang="en-US" altLang="zh-CN" sz="2400" dirty="0"/>
          </a:p>
          <a:p>
            <a:pPr eaLnBrk="1" hangingPunct="1">
              <a:lnSpc>
                <a:spcPct val="90000"/>
              </a:lnSpc>
            </a:pPr>
            <a:r>
              <a:rPr lang="en-US" altLang="zh-CN" sz="2800" dirty="0"/>
              <a:t>T(n)=n/2 </a:t>
            </a:r>
            <a:r>
              <a:rPr lang="en-US" altLang="zh-CN" sz="2800" dirty="0">
                <a:latin typeface="Times New Roman" panose="02020603050405020304" pitchFamily="18" charset="0"/>
              </a:rPr>
              <a:t>–</a:t>
            </a:r>
            <a:r>
              <a:rPr lang="en-US" altLang="zh-CN" sz="2800" dirty="0"/>
              <a:t>3 = O(?)</a:t>
            </a:r>
            <a:endParaRPr lang="en-US" altLang="zh-CN" sz="2800" dirty="0"/>
          </a:p>
          <a:p>
            <a:pPr lvl="1" eaLnBrk="1" hangingPunct="1">
              <a:lnSpc>
                <a:spcPct val="90000"/>
              </a:lnSpc>
            </a:pPr>
            <a:r>
              <a:rPr lang="en-US" altLang="zh-CN" sz="2400" dirty="0"/>
              <a:t> n/2 </a:t>
            </a:r>
            <a:r>
              <a:rPr lang="en-US" altLang="zh-CN" sz="2400" dirty="0">
                <a:latin typeface="Times New Roman" panose="02020603050405020304" pitchFamily="18" charset="0"/>
              </a:rPr>
              <a:t>–</a:t>
            </a:r>
            <a:r>
              <a:rPr lang="en-US" altLang="zh-CN" sz="2400" dirty="0"/>
              <a:t>3 </a:t>
            </a:r>
            <a:r>
              <a:rPr lang="en-US" altLang="zh-CN" sz="2400" dirty="0">
                <a:sym typeface="Symbol" panose="05050102010706020507" pitchFamily="18" charset="2"/>
              </a:rPr>
              <a:t></a:t>
            </a:r>
            <a:r>
              <a:rPr lang="en-US" altLang="zh-CN" sz="2400" dirty="0"/>
              <a:t> 0.5 n  for n </a:t>
            </a:r>
            <a:r>
              <a:rPr lang="en-US" altLang="zh-CN" sz="2400" dirty="0">
                <a:sym typeface="Symbol" panose="05050102010706020507" pitchFamily="18" charset="2"/>
              </a:rPr>
              <a:t> 0 (C=0.5, </a:t>
            </a:r>
            <a:r>
              <a:rPr lang="en-US" altLang="zh-CN" sz="2400" dirty="0"/>
              <a:t>n</a:t>
            </a:r>
            <a:r>
              <a:rPr lang="en-US" altLang="zh-CN" sz="2400" baseline="-25000" dirty="0"/>
              <a:t>0</a:t>
            </a:r>
            <a:r>
              <a:rPr lang="en-US" altLang="zh-CN" sz="2400" dirty="0"/>
              <a:t>=0)</a:t>
            </a:r>
            <a:endParaRPr lang="en-US" altLang="zh-CN" sz="2400" dirty="0"/>
          </a:p>
          <a:p>
            <a:pPr lvl="1" eaLnBrk="1" hangingPunct="1">
              <a:lnSpc>
                <a:spcPct val="90000"/>
              </a:lnSpc>
            </a:pPr>
            <a:endParaRPr lang="en-US" altLang="zh-CN" sz="2400" dirty="0"/>
          </a:p>
          <a:p>
            <a:pPr eaLnBrk="1" hangingPunct="1">
              <a:lnSpc>
                <a:spcPct val="90000"/>
              </a:lnSpc>
            </a:pPr>
            <a:r>
              <a:rPr lang="en-US" altLang="zh-CN" sz="2800" dirty="0"/>
              <a:t>T(n)=n</a:t>
            </a:r>
            <a:r>
              <a:rPr lang="en-US" altLang="zh-CN" sz="2800" baseline="30000" dirty="0"/>
              <a:t>2</a:t>
            </a:r>
            <a:r>
              <a:rPr lang="en-US" altLang="zh-CN" sz="2800" dirty="0"/>
              <a:t>+n = O(?) 	</a:t>
            </a:r>
            <a:endParaRPr lang="en-US" altLang="zh-CN" sz="2800" dirty="0"/>
          </a:p>
          <a:p>
            <a:pPr lvl="1" eaLnBrk="1" hangingPunct="1">
              <a:lnSpc>
                <a:spcPct val="90000"/>
              </a:lnSpc>
            </a:pPr>
            <a:r>
              <a:rPr lang="en-US" altLang="zh-CN" sz="2400" dirty="0"/>
              <a:t>   n</a:t>
            </a:r>
            <a:r>
              <a:rPr lang="en-US" altLang="zh-CN" sz="2400" baseline="30000" dirty="0"/>
              <a:t>2</a:t>
            </a:r>
            <a:r>
              <a:rPr lang="en-US" altLang="zh-CN" sz="2400" dirty="0"/>
              <a:t>+n </a:t>
            </a:r>
            <a:r>
              <a:rPr lang="en-US" altLang="zh-CN" sz="2400" dirty="0">
                <a:sym typeface="Symbol" panose="05050102010706020507" pitchFamily="18" charset="2"/>
              </a:rPr>
              <a:t></a:t>
            </a:r>
            <a:r>
              <a:rPr lang="en-US" altLang="zh-CN" sz="2400" dirty="0"/>
              <a:t> 2n</a:t>
            </a:r>
            <a:r>
              <a:rPr lang="en-US" altLang="zh-CN" sz="2400" baseline="30000" dirty="0"/>
              <a:t>2</a:t>
            </a:r>
            <a:r>
              <a:rPr lang="en-US" altLang="zh-CN" sz="2400" dirty="0"/>
              <a:t>  for n </a:t>
            </a:r>
            <a:r>
              <a:rPr lang="en-US" altLang="zh-CN" sz="2400" dirty="0">
                <a:sym typeface="Symbol" panose="05050102010706020507" pitchFamily="18" charset="2"/>
              </a:rPr>
              <a:t> 0 (C=2, </a:t>
            </a:r>
            <a:r>
              <a:rPr lang="en-US" altLang="zh-CN" sz="2400" dirty="0"/>
              <a:t>n</a:t>
            </a:r>
            <a:r>
              <a:rPr lang="en-US" altLang="zh-CN" sz="2400" baseline="-25000" dirty="0"/>
              <a:t>0</a:t>
            </a:r>
            <a:r>
              <a:rPr lang="en-US" altLang="zh-CN" sz="2400" dirty="0"/>
              <a:t>=0)</a:t>
            </a:r>
            <a:endParaRPr lang="en-US" altLang="zh-CN" sz="2400" dirty="0"/>
          </a:p>
          <a:p>
            <a:pPr lvl="1" eaLnBrk="1" hangingPunct="1">
              <a:lnSpc>
                <a:spcPct val="90000"/>
              </a:lnSpc>
            </a:pPr>
            <a:endParaRPr lang="en-US" altLang="zh-CN" sz="2400" dirty="0"/>
          </a:p>
          <a:p>
            <a:pPr eaLnBrk="1" hangingPunct="1">
              <a:lnSpc>
                <a:spcPct val="90000"/>
              </a:lnSpc>
            </a:pPr>
            <a:r>
              <a:rPr lang="en-US" altLang="zh-CN" sz="2800" dirty="0"/>
              <a:t>T(n)=n(n+1)/2 = O(?)</a:t>
            </a:r>
            <a:endParaRPr lang="en-US" altLang="zh-CN" sz="2800" dirty="0"/>
          </a:p>
          <a:p>
            <a:pPr lvl="1" eaLnBrk="1" hangingPunct="1">
              <a:lnSpc>
                <a:spcPct val="90000"/>
              </a:lnSpc>
            </a:pPr>
            <a:r>
              <a:rPr lang="en-US" altLang="zh-CN" sz="2400" dirty="0"/>
              <a:t>   n(n+1)/2 </a:t>
            </a:r>
            <a:r>
              <a:rPr lang="en-US" altLang="zh-CN" sz="2400" dirty="0">
                <a:sym typeface="Symbol" panose="05050102010706020507" pitchFamily="18" charset="2"/>
              </a:rPr>
              <a:t></a:t>
            </a:r>
            <a:r>
              <a:rPr lang="en-US" altLang="zh-CN" sz="2400" dirty="0"/>
              <a:t> n</a:t>
            </a:r>
            <a:r>
              <a:rPr lang="en-US" altLang="zh-CN" sz="2400" baseline="30000" dirty="0"/>
              <a:t>2 </a:t>
            </a:r>
            <a:r>
              <a:rPr lang="en-US" altLang="zh-CN" sz="2400" dirty="0"/>
              <a:t> for n </a:t>
            </a:r>
            <a:r>
              <a:rPr lang="en-US" altLang="zh-CN" sz="2400" dirty="0">
                <a:sym typeface="Symbol" panose="05050102010706020507" pitchFamily="18" charset="2"/>
              </a:rPr>
              <a:t> 0 (C=1, </a:t>
            </a:r>
            <a:r>
              <a:rPr lang="en-US" altLang="zh-CN" sz="2400" dirty="0"/>
              <a:t>n</a:t>
            </a:r>
            <a:r>
              <a:rPr lang="en-US" altLang="zh-CN" sz="2400" baseline="-25000" dirty="0"/>
              <a:t>0</a:t>
            </a:r>
            <a:r>
              <a:rPr lang="en-US" altLang="zh-CN" sz="2400" dirty="0"/>
              <a:t>=0)</a:t>
            </a:r>
            <a:endParaRPr lang="en-US" altLang="zh-CN" sz="2400" dirty="0"/>
          </a:p>
        </p:txBody>
      </p:sp>
      <p:sp>
        <p:nvSpPr>
          <p:cNvPr id="66564" name="Rectangle 4"/>
          <p:cNvSpPr/>
          <p:nvPr/>
        </p:nvSpPr>
        <p:spPr>
          <a:xfrm>
            <a:off x="5334000" y="1736725"/>
            <a:ext cx="21050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dirty="0"/>
              <a:t>// f(n) = n</a:t>
            </a:r>
            <a:endParaRPr lang="en-US" altLang="zh-CN" dirty="0"/>
          </a:p>
        </p:txBody>
      </p:sp>
      <p:sp>
        <p:nvSpPr>
          <p:cNvPr id="2" name="文本框 1"/>
          <p:cNvSpPr txBox="1"/>
          <p:nvPr/>
        </p:nvSpPr>
        <p:spPr>
          <a:xfrm>
            <a:off x="3330575" y="1785938"/>
            <a:ext cx="784225" cy="523875"/>
          </a:xfrm>
          <a:prstGeom prst="rect">
            <a:avLst/>
          </a:prstGeom>
          <a:solidFill>
            <a:schemeClr val="accent3"/>
          </a:solidFill>
        </p:spPr>
        <p:txBody>
          <a:bodyPr>
            <a:spAutoFit/>
          </a:bodyPr>
          <a:lstStyle/>
          <a:p>
            <a:pPr marR="0" defTabSz="914400" eaLnBrk="1" hangingPunct="1">
              <a:buClrTx/>
              <a:buSzTx/>
              <a:buFontTx/>
              <a:buNone/>
              <a:defRPr/>
            </a:pPr>
            <a:r>
              <a:rPr kumimoji="0" lang="en-US" altLang="zh-CN" sz="2800" kern="1200" cap="none" spc="0" normalizeH="0" baseline="0" noProof="0" dirty="0">
                <a:latin typeface="Comic Sans MS" panose="030F0702030302020204" pitchFamily="66" charset="0"/>
                <a:ea typeface="宋体" panose="02010600030101010101" pitchFamily="2" charset="-122"/>
                <a:cs typeface="+mn-cs"/>
              </a:rPr>
              <a:t>O(n)</a:t>
            </a:r>
            <a:endParaRPr kumimoji="0" lang="zh-CN" altLang="en-US" sz="2800" kern="1200" cap="none" spc="0" normalizeH="0" baseline="0" noProof="0" dirty="0">
              <a:latin typeface="Comic Sans MS" panose="030F0702030302020204" pitchFamily="66" charset="0"/>
              <a:ea typeface="宋体" panose="02010600030101010101" pitchFamily="2" charset="-122"/>
              <a:cs typeface="+mn-cs"/>
            </a:endParaRPr>
          </a:p>
        </p:txBody>
      </p:sp>
      <p:sp>
        <p:nvSpPr>
          <p:cNvPr id="6" name="文本框 5"/>
          <p:cNvSpPr txBox="1"/>
          <p:nvPr/>
        </p:nvSpPr>
        <p:spPr>
          <a:xfrm>
            <a:off x="3406775" y="3065463"/>
            <a:ext cx="784225" cy="522288"/>
          </a:xfrm>
          <a:prstGeom prst="rect">
            <a:avLst/>
          </a:prstGeom>
          <a:solidFill>
            <a:schemeClr val="accent3"/>
          </a:solidFill>
        </p:spPr>
        <p:txBody>
          <a:bodyPr>
            <a:spAutoFit/>
          </a:bodyPr>
          <a:lstStyle/>
          <a:p>
            <a:pPr marR="0" defTabSz="914400" eaLnBrk="1" hangingPunct="1">
              <a:buClrTx/>
              <a:buSzTx/>
              <a:buFontTx/>
              <a:buNone/>
              <a:defRPr/>
            </a:pPr>
            <a:r>
              <a:rPr kumimoji="0" lang="en-US" altLang="zh-CN" sz="2800" kern="1200" cap="none" spc="0" normalizeH="0" baseline="0" noProof="0" dirty="0">
                <a:latin typeface="Comic Sans MS" panose="030F0702030302020204" pitchFamily="66" charset="0"/>
                <a:ea typeface="宋体" panose="02010600030101010101" pitchFamily="2" charset="-122"/>
                <a:cs typeface="+mn-cs"/>
              </a:rPr>
              <a:t>O(n)</a:t>
            </a:r>
            <a:endParaRPr kumimoji="0" lang="zh-CN" altLang="en-US" sz="2800" kern="1200" cap="none" spc="0" normalizeH="0" baseline="0" noProof="0" dirty="0">
              <a:latin typeface="Comic Sans MS" panose="030F0702030302020204" pitchFamily="66" charset="0"/>
              <a:ea typeface="宋体" panose="02010600030101010101" pitchFamily="2" charset="-122"/>
              <a:cs typeface="+mn-cs"/>
            </a:endParaRPr>
          </a:p>
        </p:txBody>
      </p:sp>
      <p:sp>
        <p:nvSpPr>
          <p:cNvPr id="7" name="文本框 6"/>
          <p:cNvSpPr txBox="1"/>
          <p:nvPr/>
        </p:nvSpPr>
        <p:spPr>
          <a:xfrm>
            <a:off x="2965450" y="4352925"/>
            <a:ext cx="1149350" cy="523875"/>
          </a:xfrm>
          <a:prstGeom prst="rect">
            <a:avLst/>
          </a:prstGeom>
          <a:solidFill>
            <a:schemeClr val="accent3"/>
          </a:solidFill>
        </p:spPr>
        <p:txBody>
          <a:bodyPr>
            <a:spAutoFit/>
          </a:bodyPr>
          <a:lstStyle/>
          <a:p>
            <a:pPr marR="0" defTabSz="914400" eaLnBrk="1" hangingPunct="1">
              <a:buClrTx/>
              <a:buSzTx/>
              <a:buFontTx/>
              <a:buNone/>
              <a:defRPr/>
            </a:pPr>
            <a:r>
              <a:rPr kumimoji="0" lang="en-US" altLang="zh-CN" sz="2800" kern="1200" cap="none" spc="0" normalizeH="0" baseline="0" noProof="0" dirty="0">
                <a:latin typeface="Comic Sans MS" panose="030F0702030302020204" pitchFamily="66" charset="0"/>
                <a:ea typeface="宋体" panose="02010600030101010101" pitchFamily="2" charset="-122"/>
                <a:cs typeface="+mn-cs"/>
              </a:rPr>
              <a:t>O(n</a:t>
            </a:r>
            <a:r>
              <a:rPr kumimoji="0" lang="en-US" altLang="zh-CN" sz="2800" kern="1200" cap="none" spc="0" normalizeH="0" baseline="30000" noProof="0" dirty="0">
                <a:latin typeface="Comic Sans MS" panose="030F0702030302020204" pitchFamily="66" charset="0"/>
                <a:ea typeface="宋体" panose="02010600030101010101" pitchFamily="2" charset="-122"/>
                <a:cs typeface="+mn-cs"/>
              </a:rPr>
              <a:t>2</a:t>
            </a:r>
            <a:r>
              <a:rPr kumimoji="0" lang="en-US" altLang="zh-CN" sz="2800" kern="1200" cap="none" spc="0" normalizeH="0" baseline="0" noProof="0" dirty="0">
                <a:latin typeface="Comic Sans MS" panose="030F0702030302020204" pitchFamily="66" charset="0"/>
                <a:ea typeface="宋体" panose="02010600030101010101" pitchFamily="2" charset="-122"/>
                <a:cs typeface="+mn-cs"/>
              </a:rPr>
              <a:t>)</a:t>
            </a:r>
            <a:endParaRPr kumimoji="0" lang="zh-CN" altLang="en-US" sz="2800" kern="1200" cap="none" spc="0" normalizeH="0" baseline="0" noProof="0" dirty="0">
              <a:latin typeface="Comic Sans MS" panose="030F0702030302020204" pitchFamily="66" charset="0"/>
              <a:ea typeface="宋体" panose="02010600030101010101" pitchFamily="2" charset="-122"/>
              <a:cs typeface="+mn-cs"/>
            </a:endParaRPr>
          </a:p>
        </p:txBody>
      </p:sp>
      <p:sp>
        <p:nvSpPr>
          <p:cNvPr id="8" name="文本框 7"/>
          <p:cNvSpPr txBox="1"/>
          <p:nvPr/>
        </p:nvSpPr>
        <p:spPr>
          <a:xfrm>
            <a:off x="3651250" y="5648325"/>
            <a:ext cx="1149350" cy="523875"/>
          </a:xfrm>
          <a:prstGeom prst="rect">
            <a:avLst/>
          </a:prstGeom>
          <a:solidFill>
            <a:schemeClr val="accent3"/>
          </a:solidFill>
        </p:spPr>
        <p:txBody>
          <a:bodyPr>
            <a:spAutoFit/>
          </a:bodyPr>
          <a:lstStyle/>
          <a:p>
            <a:pPr marR="0" defTabSz="914400" eaLnBrk="1" hangingPunct="1">
              <a:buClrTx/>
              <a:buSzTx/>
              <a:buFontTx/>
              <a:buNone/>
              <a:defRPr/>
            </a:pPr>
            <a:r>
              <a:rPr kumimoji="0" lang="en-US" altLang="zh-CN" sz="2800" kern="1200" cap="none" spc="0" normalizeH="0" baseline="0" noProof="0" dirty="0">
                <a:latin typeface="Comic Sans MS" panose="030F0702030302020204" pitchFamily="66" charset="0"/>
                <a:ea typeface="宋体" panose="02010600030101010101" pitchFamily="2" charset="-122"/>
                <a:cs typeface="+mn-cs"/>
              </a:rPr>
              <a:t>O(n</a:t>
            </a:r>
            <a:r>
              <a:rPr kumimoji="0" lang="en-US" altLang="zh-CN" sz="2800" kern="1200" cap="none" spc="0" normalizeH="0" baseline="30000" noProof="0" dirty="0">
                <a:latin typeface="Comic Sans MS" panose="030F0702030302020204" pitchFamily="66" charset="0"/>
                <a:ea typeface="宋体" panose="02010600030101010101" pitchFamily="2" charset="-122"/>
                <a:cs typeface="+mn-cs"/>
              </a:rPr>
              <a:t>2</a:t>
            </a:r>
            <a:r>
              <a:rPr kumimoji="0" lang="en-US" altLang="zh-CN" sz="2800" kern="1200" cap="none" spc="0" normalizeH="0" baseline="0" noProof="0" dirty="0">
                <a:latin typeface="Comic Sans MS" panose="030F0702030302020204" pitchFamily="66" charset="0"/>
                <a:ea typeface="宋体" panose="02010600030101010101" pitchFamily="2" charset="-122"/>
                <a:cs typeface="+mn-cs"/>
              </a:rPr>
              <a:t>)</a:t>
            </a:r>
            <a:endParaRPr kumimoji="0" lang="zh-CN" altLang="en-US" sz="2800" kern="1200" cap="none" spc="0" normalizeH="0" baseline="0" noProof="0" dirty="0">
              <a:latin typeface="Comic Sans MS" panose="030F0702030302020204" pitchFamily="66"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blinds(horizontal)">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6563">
                                            <p:txEl>
                                              <p:charRg st="20" end="59"/>
                                            </p:txEl>
                                          </p:spTgt>
                                        </p:tgtEl>
                                        <p:attrNameLst>
                                          <p:attrName>style.visibility</p:attrName>
                                        </p:attrNameLst>
                                      </p:cBhvr>
                                      <p:to>
                                        <p:strVal val="visible"/>
                                      </p:to>
                                    </p:set>
                                    <p:animEffect transition="in" filter="blinds(horizontal)">
                                      <p:cBhvr>
                                        <p:cTn id="12" dur="500"/>
                                        <p:tgtEl>
                                          <p:spTgt spid="66563">
                                            <p:txEl>
                                              <p:charRg st="20" end="5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6563">
                                            <p:txEl>
                                              <p:charRg st="60" end="79"/>
                                            </p:txEl>
                                          </p:spTgt>
                                        </p:tgtEl>
                                        <p:attrNameLst>
                                          <p:attrName>style.visibility</p:attrName>
                                        </p:attrNameLst>
                                      </p:cBhvr>
                                      <p:to>
                                        <p:strVal val="visible"/>
                                      </p:to>
                                    </p:set>
                                    <p:animEffect transition="in" filter="blinds(horizontal)">
                                      <p:cBhvr>
                                        <p:cTn id="21" dur="500"/>
                                        <p:tgtEl>
                                          <p:spTgt spid="66563">
                                            <p:txEl>
                                              <p:charRg st="60" end="7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6563">
                                            <p:txEl>
                                              <p:charRg st="79" end="120"/>
                                            </p:txEl>
                                          </p:spTgt>
                                        </p:tgtEl>
                                        <p:attrNameLst>
                                          <p:attrName>style.visibility</p:attrName>
                                        </p:attrNameLst>
                                      </p:cBhvr>
                                      <p:to>
                                        <p:strVal val="visible"/>
                                      </p:to>
                                    </p:set>
                                    <p:animEffect transition="in" filter="blinds(horizontal)">
                                      <p:cBhvr>
                                        <p:cTn id="26" dur="500"/>
                                        <p:tgtEl>
                                          <p:spTgt spid="66563">
                                            <p:txEl>
                                              <p:charRg st="79" end="12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6563">
                                            <p:txEl>
                                              <p:charRg st="121" end="140"/>
                                            </p:txEl>
                                          </p:spTgt>
                                        </p:tgtEl>
                                        <p:attrNameLst>
                                          <p:attrName>style.visibility</p:attrName>
                                        </p:attrNameLst>
                                      </p:cBhvr>
                                      <p:to>
                                        <p:strVal val="visible"/>
                                      </p:to>
                                    </p:set>
                                    <p:animEffect transition="in" filter="blinds(horizontal)">
                                      <p:cBhvr>
                                        <p:cTn id="35" dur="500"/>
                                        <p:tgtEl>
                                          <p:spTgt spid="66563">
                                            <p:txEl>
                                              <p:charRg st="121" end="14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66563">
                                            <p:txEl>
                                              <p:charRg st="140" end="177"/>
                                            </p:txEl>
                                          </p:spTgt>
                                        </p:tgtEl>
                                        <p:attrNameLst>
                                          <p:attrName>style.visibility</p:attrName>
                                        </p:attrNameLst>
                                      </p:cBhvr>
                                      <p:to>
                                        <p:strVal val="visible"/>
                                      </p:to>
                                    </p:set>
                                    <p:animEffect transition="in" filter="blinds(horizontal)">
                                      <p:cBhvr>
                                        <p:cTn id="40" dur="500"/>
                                        <p:tgtEl>
                                          <p:spTgt spid="66563">
                                            <p:txEl>
                                              <p:charRg st="140" end="17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66563">
                                            <p:txEl>
                                              <p:charRg st="178" end="199"/>
                                            </p:txEl>
                                          </p:spTgt>
                                        </p:tgtEl>
                                        <p:attrNameLst>
                                          <p:attrName>style.visibility</p:attrName>
                                        </p:attrNameLst>
                                      </p:cBhvr>
                                      <p:to>
                                        <p:strVal val="visible"/>
                                      </p:to>
                                    </p:set>
                                    <p:animEffect transition="in" filter="blinds(horizontal)">
                                      <p:cBhvr>
                                        <p:cTn id="49" dur="500"/>
                                        <p:tgtEl>
                                          <p:spTgt spid="66563">
                                            <p:txEl>
                                              <p:charRg st="178" end="19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66563">
                                            <p:txEl>
                                              <p:charRg st="199" end="239"/>
                                            </p:txEl>
                                          </p:spTgt>
                                        </p:tgtEl>
                                        <p:attrNameLst>
                                          <p:attrName>style.visibility</p:attrName>
                                        </p:attrNameLst>
                                      </p:cBhvr>
                                      <p:to>
                                        <p:strVal val="visible"/>
                                      </p:to>
                                    </p:set>
                                    <p:animEffect transition="in" filter="blinds(horizontal)">
                                      <p:cBhvr>
                                        <p:cTn id="54" dur="500"/>
                                        <p:tgtEl>
                                          <p:spTgt spid="66563">
                                            <p:txEl>
                                              <p:charRg st="199" end="23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P spid="2" grpId="0" animBg="1"/>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685800" y="152400"/>
            <a:ext cx="7848600" cy="1600200"/>
          </a:xfrm>
        </p:spPr>
        <p:txBody>
          <a:bodyPr vert="horz" wrap="square" lIns="91440" tIns="45720" rIns="91440" bIns="45720" anchor="b" anchorCtr="0"/>
          <a:p>
            <a:pPr eaLnBrk="1" hangingPunct="1"/>
            <a:r>
              <a:rPr lang="en-US" altLang="zh-CN" dirty="0"/>
              <a:t>Asymptotic Notation</a:t>
            </a:r>
            <a:endParaRPr lang="en-US" altLang="zh-CN" dirty="0"/>
          </a:p>
        </p:txBody>
      </p:sp>
      <p:sp>
        <p:nvSpPr>
          <p:cNvPr id="5123" name="Rectangle 3"/>
          <p:cNvSpPr>
            <a:spLocks noGrp="1" noChangeArrowheads="1"/>
          </p:cNvSpPr>
          <p:nvPr>
            <p:ph idx="1"/>
          </p:nvPr>
        </p:nvSpPr>
        <p:spPr>
          <a:xfrm>
            <a:off x="685800" y="1828800"/>
            <a:ext cx="8458200" cy="4724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rgbClr val="FF3300"/>
                </a:solidFill>
                <a:effectLst/>
                <a:uLnTx/>
                <a:uFillTx/>
                <a:latin typeface="+mn-lt"/>
                <a:ea typeface="+mn-ea"/>
                <a:cs typeface="+mn-cs"/>
              </a:rPr>
              <a:t>Big-Omega, </a:t>
            </a:r>
            <a:r>
              <a:rPr kumimoji="0" lang="en-US" altLang="zh-CN" sz="2400" b="0" i="0" u="none" strike="noStrike" kern="0" cap="none" spc="0" normalizeH="0" baseline="0" noProof="0" dirty="0">
                <a:ln>
                  <a:noFill/>
                </a:ln>
                <a:solidFill>
                  <a:schemeClr val="tx2"/>
                </a:solidFill>
                <a:effectLst/>
                <a:uLnTx/>
                <a:uFillTx/>
                <a:latin typeface="+mn-lt"/>
                <a:ea typeface="+mn-ea"/>
                <a:cs typeface="+mn-cs"/>
              </a:rPr>
              <a:t>“bounded below by”:</a:t>
            </a:r>
            <a:r>
              <a:rPr kumimoji="0" lang="en-US" altLang="zh-CN" sz="2400" b="0" i="0" u="none" strike="noStrike" kern="0" cap="none" spc="0" normalizeH="0" baseline="0" noProof="0" dirty="0">
                <a:ln>
                  <a:noFill/>
                </a:ln>
                <a:solidFill>
                  <a:srgbClr val="FF3300"/>
                </a:solidFill>
                <a:effectLst/>
                <a:uLnTx/>
                <a:uFillTx/>
                <a:latin typeface="+mn-lt"/>
                <a:ea typeface="+mn-ea"/>
                <a:cs typeface="+mn-cs"/>
              </a:rPr>
              <a:t>   T(n) = </a:t>
            </a:r>
            <a:r>
              <a:rPr kumimoji="0" lang="en-US" altLang="zh-CN" sz="2400" b="0" i="0" u="none" strike="noStrike" kern="0" cap="none" spc="0" normalizeH="0" baseline="0" noProof="0" dirty="0">
                <a:ln>
                  <a:noFill/>
                </a:ln>
                <a:solidFill>
                  <a:srgbClr val="FF3300"/>
                </a:solidFill>
                <a:effectLst/>
                <a:uLnTx/>
                <a:uFillTx/>
                <a:latin typeface="Symbol" panose="05050102010706020507" pitchFamily="18" charset="2"/>
                <a:ea typeface="+mn-ea"/>
                <a:cs typeface="+mn-cs"/>
              </a:rPr>
              <a:t>W</a:t>
            </a:r>
            <a:r>
              <a:rPr kumimoji="0" lang="en-US" altLang="zh-CN" sz="2400" b="0" i="0" u="none" strike="noStrike" kern="0" cap="none" spc="0" normalizeH="0" baseline="0" noProof="0" dirty="0">
                <a:ln>
                  <a:noFill/>
                </a:ln>
                <a:solidFill>
                  <a:srgbClr val="FF3300"/>
                </a:solidFill>
                <a:effectLst/>
                <a:uLnTx/>
                <a:uFillTx/>
                <a:latin typeface="+mn-lt"/>
                <a:ea typeface="+mn-ea"/>
                <a:cs typeface="+mn-cs"/>
              </a:rPr>
              <a:t>(g(n))</a:t>
            </a:r>
            <a:endParaRPr kumimoji="0" lang="en-US" altLang="zh-CN" sz="2400" b="0" i="0" u="none" strike="noStrike" kern="0" cap="none" spc="0" normalizeH="0" baseline="0" noProof="0" dirty="0">
              <a:ln>
                <a:noFill/>
              </a:ln>
              <a:solidFill>
                <a:srgbClr val="FF3300"/>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For some c&gt;0 and n</a:t>
            </a:r>
            <a:r>
              <a:rPr kumimoji="0" lang="en-US" altLang="zh-CN" sz="2000" b="0" i="0" u="none" strike="noStrike" kern="0" cap="none" spc="0" normalizeH="0" baseline="-25000" noProof="0" dirty="0">
                <a:ln>
                  <a:noFill/>
                </a:ln>
                <a:solidFill>
                  <a:schemeClr val="tx1"/>
                </a:solidFill>
                <a:effectLst/>
                <a:uLnTx/>
                <a:uFillTx/>
                <a:latin typeface="+mn-lt"/>
                <a:ea typeface="+mn-ea"/>
                <a:cs typeface="+mn-ea"/>
              </a:rPr>
              <a:t>0</a:t>
            </a:r>
            <a:r>
              <a:rPr kumimoji="0" lang="en-US" altLang="zh-CN" sz="2000" b="0" i="0" u="none" strike="noStrike" kern="0" cap="none" spc="0" normalizeH="0" baseline="0" noProof="0" dirty="0">
                <a:ln>
                  <a:noFill/>
                </a:ln>
                <a:solidFill>
                  <a:schemeClr val="tx1"/>
                </a:solidFill>
                <a:effectLst/>
                <a:uLnTx/>
                <a:uFillTx/>
                <a:latin typeface="+mn-lt"/>
                <a:ea typeface="+mn-ea"/>
                <a:cs typeface="+mn-ea"/>
              </a:rPr>
              <a:t>, T(n) </a:t>
            </a:r>
            <a:r>
              <a:rPr kumimoji="0" lang="en-US" altLang="zh-CN" sz="2000" b="1" i="0" u="none" strike="noStrike" kern="0" cap="none" spc="0" normalizeH="0" baseline="0" noProof="0" dirty="0">
                <a:ln>
                  <a:noFill/>
                </a:ln>
                <a:solidFill>
                  <a:schemeClr val="tx1"/>
                </a:solidFill>
                <a:effectLst/>
                <a:uLnTx/>
                <a:uFillTx/>
                <a:latin typeface="+mn-lt"/>
                <a:ea typeface="+mn-ea"/>
                <a:cs typeface="+mn-ea"/>
                <a:sym typeface="Symbol" panose="05050102010706020507" pitchFamily="18" charset="2"/>
              </a:rPr>
              <a:t></a:t>
            </a:r>
            <a:r>
              <a:rPr kumimoji="0" lang="en-US" altLang="zh-CN" sz="2000" b="1" i="0" u="none" strike="noStrike" kern="0" cap="none" spc="0" normalizeH="0" baseline="0" noProof="0" dirty="0">
                <a:ln>
                  <a:noFill/>
                </a:ln>
                <a:solidFill>
                  <a:schemeClr val="tx1"/>
                </a:solidFill>
                <a:effectLst/>
                <a:uLnTx/>
                <a:uFillTx/>
                <a:latin typeface="+mn-lt"/>
                <a:ea typeface="+mn-ea"/>
                <a:cs typeface="+mn-ea"/>
              </a:rPr>
              <a:t> </a:t>
            </a:r>
            <a:r>
              <a:rPr kumimoji="0" lang="en-US" altLang="zh-CN" sz="2000" b="0" i="0" u="none" strike="noStrike" kern="0" cap="none" spc="0" normalizeH="0" baseline="0" noProof="0" dirty="0" err="1">
                <a:ln>
                  <a:noFill/>
                </a:ln>
                <a:solidFill>
                  <a:schemeClr val="tx1"/>
                </a:solidFill>
                <a:effectLst/>
                <a:uLnTx/>
                <a:uFillTx/>
                <a:latin typeface="+mn-lt"/>
                <a:ea typeface="+mn-ea"/>
                <a:cs typeface="+mn-ea"/>
              </a:rPr>
              <a:t>c·g</a:t>
            </a:r>
            <a:r>
              <a:rPr kumimoji="0" lang="en-US" altLang="zh-CN" sz="2000" b="0" i="0" u="none" strike="noStrike" kern="0" cap="none" spc="0" normalizeH="0" baseline="0" noProof="0" dirty="0">
                <a:ln>
                  <a:noFill/>
                </a:ln>
                <a:solidFill>
                  <a:schemeClr val="tx1"/>
                </a:solidFill>
                <a:effectLst/>
                <a:uLnTx/>
                <a:uFillTx/>
                <a:latin typeface="+mn-lt"/>
                <a:ea typeface="+mn-ea"/>
                <a:cs typeface="+mn-ea"/>
              </a:rPr>
              <a:t>(n) whenever n &gt; n</a:t>
            </a:r>
            <a:r>
              <a:rPr kumimoji="0" lang="en-US" altLang="zh-CN" sz="2000" b="0" i="0" u="none" strike="noStrike" kern="0" cap="none" spc="0" normalizeH="0" baseline="-25000" noProof="0" dirty="0">
                <a:ln>
                  <a:noFill/>
                </a:ln>
                <a:solidFill>
                  <a:schemeClr val="tx1"/>
                </a:solidFill>
                <a:effectLst/>
                <a:uLnTx/>
                <a:uFillTx/>
                <a:latin typeface="+mn-lt"/>
                <a:ea typeface="+mn-ea"/>
                <a:cs typeface="+mn-ea"/>
              </a:rPr>
              <a:t>0</a:t>
            </a:r>
            <a:r>
              <a:rPr kumimoji="0" lang="en-US" altLang="zh-CN" sz="2000" b="0" i="0" u="none" strike="noStrike" kern="0" cap="none" spc="0" normalizeH="0" baseline="0" noProof="0" dirty="0">
                <a:ln>
                  <a:noFill/>
                </a:ln>
                <a:solidFill>
                  <a:schemeClr val="tx1"/>
                </a:solidFill>
                <a:effectLst/>
                <a:uLnTx/>
                <a:uFillTx/>
                <a:latin typeface="+mn-lt"/>
                <a:ea typeface="+mn-ea"/>
                <a:cs typeface="+mn-ea"/>
              </a:rPr>
              <a:t>.</a:t>
            </a:r>
            <a:endParaRPr kumimoji="0" lang="en-US" altLang="zh-CN" sz="2000" b="0" i="0" u="none" strike="noStrike" kern="0" cap="none" spc="0" normalizeH="0" baseline="0" noProof="0" dirty="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Same as g(n) = O(T(n)).</a:t>
            </a:r>
            <a:endParaRPr kumimoji="0" lang="en-US" altLang="zh-CN" sz="2000" b="0" i="0" u="none" strike="noStrike" kern="0" cap="none" spc="0" normalizeH="0" baseline="0" noProof="0" dirty="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The growth rate of T(n) is bigger than or equal to that of g(n)</a:t>
            </a:r>
            <a:endParaRPr kumimoji="0" lang="en-US" altLang="zh-CN" sz="2000" b="0" i="0" u="none" strike="noStrike" kern="0" cap="none" spc="0" normalizeH="0" baseline="0" noProof="0" dirty="0">
              <a:ln>
                <a:noFill/>
              </a:ln>
              <a:solidFill>
                <a:schemeClr val="tx1"/>
              </a:solidFill>
              <a:effectLst/>
              <a:uLnTx/>
              <a:uFillTx/>
              <a:latin typeface="+mn-lt"/>
              <a:ea typeface="+mn-ea"/>
              <a:cs typeface="+mn-ea"/>
            </a:endParaRPr>
          </a:p>
          <a:p>
            <a:pPr marL="2057400" marR="0" lvl="4" indent="-228600" algn="l" defTabSz="914400" rtl="0" eaLnBrk="1" fontAlgn="base" latinLnBrk="0" hangingPunct="1">
              <a:lnSpc>
                <a:spcPct val="90000"/>
              </a:lnSpc>
              <a:spcBef>
                <a:spcPct val="20000"/>
              </a:spcBef>
              <a:spcAft>
                <a:spcPct val="0"/>
              </a:spcAft>
              <a:buClrTx/>
              <a:buSzTx/>
              <a:buFontTx/>
              <a:buChar char="»"/>
              <a:defRPr/>
            </a:pPr>
            <a:endParaRPr kumimoji="0" lang="en-US" altLang="zh-CN" sz="1800" b="0" i="0" u="none" strike="noStrike" kern="0" cap="none" spc="0" normalizeH="0" baseline="0" noProof="0" dirty="0">
              <a:ln>
                <a:noFill/>
              </a:ln>
              <a:solidFill>
                <a:schemeClr val="tx1"/>
              </a:solidFill>
              <a:effectLst/>
              <a:uLnTx/>
              <a:uFillTx/>
              <a:latin typeface="+mn-lt"/>
              <a:ea typeface="+mn-ea"/>
              <a:cs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rgbClr val="FF3300"/>
                </a:solidFill>
                <a:effectLst/>
                <a:uLnTx/>
                <a:uFillTx/>
                <a:latin typeface="+mn-lt"/>
                <a:ea typeface="+mn-ea"/>
                <a:cs typeface="+mn-cs"/>
              </a:rPr>
              <a:t>Big-Theta, </a:t>
            </a:r>
            <a:r>
              <a:rPr kumimoji="0" lang="en-US" altLang="zh-CN" sz="2400" b="0" i="0" u="none" strike="noStrike" kern="0" cap="none" spc="0" normalizeH="0" baseline="0" noProof="0" dirty="0">
                <a:ln>
                  <a:noFill/>
                </a:ln>
                <a:solidFill>
                  <a:schemeClr val="tx2"/>
                </a:solidFill>
                <a:effectLst/>
                <a:uLnTx/>
                <a:uFillTx/>
                <a:latin typeface="+mn-lt"/>
                <a:ea typeface="+mn-ea"/>
                <a:cs typeface="+mn-cs"/>
              </a:rPr>
              <a:t>“bounded above and below”:</a:t>
            </a:r>
            <a:r>
              <a:rPr kumimoji="0" lang="en-US" altLang="zh-CN" sz="2400" b="0" i="0" u="none" strike="noStrike" kern="0" cap="none" spc="0" normalizeH="0" baseline="0" noProof="0" dirty="0">
                <a:ln>
                  <a:noFill/>
                </a:ln>
                <a:solidFill>
                  <a:srgbClr val="FF3300"/>
                </a:solidFill>
                <a:effectLst/>
                <a:uLnTx/>
                <a:uFillTx/>
                <a:latin typeface="+mn-lt"/>
                <a:ea typeface="+mn-ea"/>
                <a:cs typeface="+mn-cs"/>
              </a:rPr>
              <a:t> T(n) = </a:t>
            </a:r>
            <a:r>
              <a:rPr kumimoji="0" lang="en-US" altLang="zh-CN" sz="2400" b="0" i="0" u="none" strike="noStrike" kern="0" cap="none" spc="0" normalizeH="0" baseline="0" noProof="0" dirty="0">
                <a:ln>
                  <a:noFill/>
                </a:ln>
                <a:solidFill>
                  <a:srgbClr val="FF3300"/>
                </a:solidFill>
                <a:effectLst/>
                <a:uLnTx/>
                <a:uFillTx/>
                <a:latin typeface="Symbol" panose="05050102010706020507" pitchFamily="18" charset="2"/>
                <a:ea typeface="+mn-ea"/>
                <a:cs typeface="+mn-cs"/>
              </a:rPr>
              <a:t>Q</a:t>
            </a:r>
            <a:r>
              <a:rPr kumimoji="0" lang="en-US" altLang="zh-CN" sz="2400" b="0" i="0" u="none" strike="noStrike" kern="0" cap="none" spc="0" normalizeH="0" baseline="0" noProof="0" dirty="0">
                <a:ln>
                  <a:noFill/>
                </a:ln>
                <a:solidFill>
                  <a:srgbClr val="FF3300"/>
                </a:solidFill>
                <a:effectLst/>
                <a:uLnTx/>
                <a:uFillTx/>
                <a:latin typeface="+mn-lt"/>
                <a:ea typeface="+mn-ea"/>
                <a:cs typeface="+mn-cs"/>
              </a:rPr>
              <a:t>(h(n))</a:t>
            </a:r>
            <a:endParaRPr kumimoji="0" lang="en-US" altLang="zh-CN" sz="2400" b="0" i="0" u="none" strike="noStrike" kern="0" cap="none" spc="0" normalizeH="0" baseline="0" noProof="0" dirty="0">
              <a:ln>
                <a:noFill/>
              </a:ln>
              <a:solidFill>
                <a:srgbClr val="FF3300"/>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T(n) = O(h(n))  and also T(n) = </a:t>
            </a:r>
            <a:r>
              <a:rPr kumimoji="0" lang="en-US" altLang="zh-CN" sz="2000" b="0" i="0" u="none" strike="noStrike" kern="0" cap="none" spc="0" normalizeH="0" baseline="0" noProof="0" dirty="0">
                <a:ln>
                  <a:noFill/>
                </a:ln>
                <a:solidFill>
                  <a:schemeClr val="tx1"/>
                </a:solidFill>
                <a:effectLst/>
                <a:uLnTx/>
                <a:uFillTx/>
                <a:latin typeface="Symbol" panose="05050102010706020507" pitchFamily="18" charset="2"/>
                <a:ea typeface="+mn-ea"/>
                <a:cs typeface="+mn-ea"/>
              </a:rPr>
              <a:t>W</a:t>
            </a:r>
            <a:r>
              <a:rPr kumimoji="0" lang="en-US" altLang="zh-CN" sz="2000" b="0" i="0" u="none" strike="noStrike" kern="0" cap="none" spc="0" normalizeH="0" baseline="0" noProof="0" dirty="0">
                <a:ln>
                  <a:noFill/>
                </a:ln>
                <a:solidFill>
                  <a:schemeClr val="tx1"/>
                </a:solidFill>
                <a:effectLst/>
                <a:uLnTx/>
                <a:uFillTx/>
                <a:latin typeface="+mn-lt"/>
                <a:ea typeface="+mn-ea"/>
                <a:cs typeface="+mn-ea"/>
              </a:rPr>
              <a:t>(h(n))</a:t>
            </a:r>
            <a:endParaRPr kumimoji="0" lang="en-US" altLang="zh-CN" sz="2000" b="0" i="0" u="none" strike="noStrike" kern="0" cap="none" spc="0" normalizeH="0" baseline="0" noProof="0" dirty="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The growth rate of T(n) is equal to that of f(n)</a:t>
            </a:r>
            <a:endParaRPr kumimoji="0" lang="en-US" altLang="zh-CN" sz="2000" b="0" i="0" u="none" strike="noStrike" kern="0" cap="none" spc="0" normalizeH="0" baseline="0" noProof="0" dirty="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1">
                <a:ln>
                  <a:noFill/>
                </a:ln>
                <a:solidFill>
                  <a:schemeClr val="tx1"/>
                </a:solidFill>
                <a:effectLst/>
                <a:uLnTx/>
                <a:uFillTx/>
                <a:latin typeface="+mn-lt"/>
                <a:ea typeface="+mn-ea"/>
                <a:cs typeface="+mn-ea"/>
                <a:sym typeface="+mn-ea"/>
              </a:rPr>
              <a:t>T(n) = 5n+2=</a:t>
            </a:r>
            <a:r>
              <a:rPr kumimoji="0" lang="en-US" altLang="zh-CN" sz="2400" b="0" i="0" u="none" strike="noStrike" kern="0" cap="none" spc="0" normalizeH="0" baseline="0" noProof="0" dirty="0">
                <a:ln>
                  <a:noFill/>
                </a:ln>
                <a:solidFill>
                  <a:schemeClr val="tx1"/>
                </a:solidFill>
                <a:effectLst/>
                <a:uLnTx/>
                <a:uFillTx/>
                <a:latin typeface="Symbol" panose="05050102010706020507" pitchFamily="18" charset="2"/>
                <a:ea typeface="+mn-ea"/>
                <a:cs typeface="+mn-cs"/>
                <a:sym typeface="+mn-ea"/>
              </a:rPr>
              <a:t>Q</a:t>
            </a:r>
            <a:r>
              <a:rPr kumimoji="0" lang="en-US" altLang="zh-CN" sz="2400" b="0" i="0" u="none" strike="noStrike" kern="0" cap="none" spc="0" normalizeH="0" baseline="0" noProof="1">
                <a:ln>
                  <a:noFill/>
                </a:ln>
                <a:solidFill>
                  <a:schemeClr val="tx1"/>
                </a:solidFill>
                <a:effectLst/>
                <a:uLnTx/>
                <a:uFillTx/>
                <a:latin typeface="+mn-lt"/>
                <a:ea typeface="+mn-ea"/>
                <a:cs typeface="+mn-ea"/>
                <a:sym typeface="+mn-ea"/>
              </a:rPr>
              <a:t>(?) , T(n)=n(n+1)/2 =</a:t>
            </a:r>
            <a:r>
              <a:rPr kumimoji="0" lang="en-US" altLang="zh-CN" sz="2400" b="0" i="0" u="none" strike="noStrike" kern="0" cap="none" spc="0" normalizeH="0" baseline="0" noProof="0" dirty="0">
                <a:ln>
                  <a:noFill/>
                </a:ln>
                <a:solidFill>
                  <a:schemeClr val="tx1"/>
                </a:solidFill>
                <a:effectLst/>
                <a:uLnTx/>
                <a:uFillTx/>
                <a:latin typeface="Symbol" panose="05050102010706020507" pitchFamily="18" charset="2"/>
                <a:ea typeface="+mn-ea"/>
                <a:cs typeface="+mn-cs"/>
                <a:sym typeface="+mn-ea"/>
              </a:rPr>
              <a:t>Q</a:t>
            </a:r>
            <a:r>
              <a:rPr kumimoji="0" lang="en-US" altLang="zh-CN" sz="2400" b="0" i="0" u="none" strike="noStrike" kern="0" cap="none" spc="0" normalizeH="0" baseline="0" noProof="1">
                <a:ln>
                  <a:noFill/>
                </a:ln>
                <a:solidFill>
                  <a:schemeClr val="tx1"/>
                </a:solidFill>
                <a:effectLst/>
                <a:uLnTx/>
                <a:uFillTx/>
                <a:latin typeface="+mn-lt"/>
                <a:ea typeface="+mn-ea"/>
                <a:cs typeface="+mn-ea"/>
                <a:sym typeface="+mn-ea"/>
              </a:rPr>
              <a:t>(?)</a:t>
            </a:r>
            <a:endParaRPr kumimoji="0" lang="en-US" altLang="zh-CN" sz="2400" b="0" i="0" u="none" strike="noStrike" kern="0" cap="none" spc="0" normalizeH="0" baseline="0" noProof="1">
              <a:ln>
                <a:noFill/>
              </a:ln>
              <a:solidFill>
                <a:schemeClr val="tx1"/>
              </a:solidFill>
              <a:effectLst/>
              <a:uLnTx/>
              <a:uFillTx/>
              <a:latin typeface="+mn-lt"/>
              <a:ea typeface="+mn-ea"/>
              <a:cs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rgbClr val="FF3300"/>
                </a:solidFill>
                <a:effectLst/>
                <a:uLnTx/>
                <a:uFillTx/>
                <a:latin typeface="+mn-lt"/>
                <a:ea typeface="+mn-ea"/>
                <a:cs typeface="+mn-cs"/>
              </a:rPr>
              <a:t>Little-o, </a:t>
            </a:r>
            <a:r>
              <a:rPr kumimoji="0" lang="en-US" altLang="zh-CN" sz="2400" b="0" i="0" u="none" strike="noStrike" kern="0" cap="none" spc="0" normalizeH="0" baseline="0" noProof="0" dirty="0">
                <a:ln>
                  <a:noFill/>
                </a:ln>
                <a:solidFill>
                  <a:schemeClr val="tx2"/>
                </a:solidFill>
                <a:effectLst/>
                <a:uLnTx/>
                <a:uFillTx/>
                <a:latin typeface="+mn-lt"/>
                <a:ea typeface="+mn-ea"/>
                <a:cs typeface="+mn-cs"/>
              </a:rPr>
              <a:t>“strictly bounded above”: </a:t>
            </a:r>
            <a:r>
              <a:rPr kumimoji="0" lang="en-US" altLang="zh-CN" sz="2400" b="0" i="0" u="none" strike="noStrike" kern="0" cap="none" spc="0" normalizeH="0" baseline="0" noProof="0" dirty="0">
                <a:ln>
                  <a:noFill/>
                </a:ln>
                <a:solidFill>
                  <a:srgbClr val="FF3300"/>
                </a:solidFill>
                <a:effectLst/>
                <a:uLnTx/>
                <a:uFillTx/>
                <a:latin typeface="+mn-lt"/>
                <a:ea typeface="+mn-ea"/>
                <a:cs typeface="+mn-cs"/>
              </a:rPr>
              <a:t>T(n) = o(p(n))</a:t>
            </a:r>
            <a:endParaRPr kumimoji="0" lang="en-US" altLang="zh-CN" sz="2400" b="0" i="0" u="none" strike="noStrike" kern="0" cap="none" spc="0" normalizeH="0" baseline="0" noProof="0" dirty="0">
              <a:ln>
                <a:noFill/>
              </a:ln>
              <a:solidFill>
                <a:schemeClr val="tx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T(n)/p(n) </a:t>
            </a:r>
            <a:r>
              <a:rPr kumimoji="0" lang="en-US" altLang="zh-CN" sz="2000" b="1" i="0" u="none" strike="noStrike" kern="0" cap="none" spc="0" normalizeH="0" baseline="0" noProof="0" dirty="0">
                <a:ln>
                  <a:noFill/>
                </a:ln>
                <a:solidFill>
                  <a:schemeClr val="tx1"/>
                </a:solidFill>
                <a:effectLst/>
                <a:uLnTx/>
                <a:uFillTx/>
                <a:latin typeface="+mn-lt"/>
                <a:ea typeface="+mn-ea"/>
                <a:cs typeface="+mn-ea"/>
                <a:sym typeface="Symbol" panose="05050102010706020507" pitchFamily="18" charset="2"/>
              </a:rPr>
              <a:t></a:t>
            </a:r>
            <a:r>
              <a:rPr kumimoji="0" lang="en-US" altLang="zh-CN" sz="2000" b="0" i="0" u="none" strike="noStrike" kern="0" cap="none" spc="0" normalizeH="0" baseline="0" noProof="0" dirty="0">
                <a:ln>
                  <a:noFill/>
                </a:ln>
                <a:solidFill>
                  <a:schemeClr val="tx1"/>
                </a:solidFill>
                <a:effectLst/>
                <a:uLnTx/>
                <a:uFillTx/>
                <a:latin typeface="+mn-lt"/>
                <a:ea typeface="+mn-ea"/>
                <a:cs typeface="+mn-ea"/>
              </a:rPr>
              <a:t> 0  as  n </a:t>
            </a:r>
            <a:r>
              <a:rPr kumimoji="0" lang="en-US" altLang="zh-CN" sz="2000" b="1" i="0" u="none" strike="noStrike" kern="0" cap="none" spc="0" normalizeH="0" baseline="0" noProof="0" dirty="0">
                <a:ln>
                  <a:noFill/>
                </a:ln>
                <a:solidFill>
                  <a:schemeClr val="tx1"/>
                </a:solidFill>
                <a:effectLst/>
                <a:uLnTx/>
                <a:uFillTx/>
                <a:latin typeface="+mn-lt"/>
                <a:ea typeface="+mn-ea"/>
                <a:cs typeface="+mn-ea"/>
                <a:sym typeface="Symbol" panose="05050102010706020507" pitchFamily="18" charset="2"/>
              </a:rPr>
              <a:t></a:t>
            </a:r>
            <a:r>
              <a:rPr kumimoji="0" lang="en-US" altLang="zh-CN" sz="2000" b="0" i="0" u="none" strike="noStrike" kern="0" cap="none" spc="0" normalizeH="0" baseline="0" noProof="0" dirty="0">
                <a:ln>
                  <a:noFill/>
                </a:ln>
                <a:solidFill>
                  <a:schemeClr val="tx1"/>
                </a:solidFill>
                <a:effectLst/>
                <a:uLnTx/>
                <a:uFillTx/>
                <a:latin typeface="+mn-lt"/>
                <a:ea typeface="+mn-ea"/>
                <a:cs typeface="+mn-ea"/>
              </a:rPr>
              <a:t> </a:t>
            </a:r>
            <a:r>
              <a:rPr kumimoji="0" lang="en-US" altLang="zh-CN" sz="2000" b="1" i="0" u="none" strike="noStrike" kern="0" cap="none" spc="0" normalizeH="0" baseline="0" noProof="0" dirty="0">
                <a:ln>
                  <a:noFill/>
                </a:ln>
                <a:solidFill>
                  <a:schemeClr val="tx1"/>
                </a:solidFill>
                <a:effectLst/>
                <a:uLnTx/>
                <a:uFillTx/>
                <a:latin typeface="+mn-lt"/>
                <a:ea typeface="+mn-ea"/>
                <a:cs typeface="+mn-ea"/>
                <a:sym typeface="Symbol" panose="05050102010706020507" pitchFamily="18" charset="2"/>
              </a:rPr>
              <a:t></a:t>
            </a:r>
            <a:endParaRPr kumimoji="0" lang="en-US" altLang="zh-CN" sz="2000" b="1" i="0" u="none" strike="noStrike" kern="0" cap="none" spc="0" normalizeH="0" baseline="0" noProof="0" dirty="0">
              <a:ln>
                <a:noFill/>
              </a:ln>
              <a:solidFill>
                <a:schemeClr val="tx1"/>
              </a:solidFill>
              <a:effectLst/>
              <a:uLnTx/>
              <a:uFillTx/>
              <a:latin typeface="+mn-lt"/>
              <a:ea typeface="+mn-ea"/>
              <a:cs typeface="+mn-ea"/>
              <a:sym typeface="Symbol" panose="05050102010706020507" pitchFamily="18" charset="2"/>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tx1"/>
                </a:solidFill>
                <a:effectLst/>
                <a:uLnTx/>
                <a:uFillTx/>
                <a:latin typeface="+mn-lt"/>
                <a:ea typeface="+mn-ea"/>
                <a:cs typeface="+mn-ea"/>
              </a:rPr>
              <a:t>The growth rate of T(n) is less than that of p(n)</a:t>
            </a:r>
            <a:endParaRPr kumimoji="0" lang="en-US" altLang="zh-CN" sz="2000" b="0" i="0" u="none" strike="noStrike" kern="0" cap="none" spc="0" normalizeH="0" baseline="0" noProof="0" dirty="0">
              <a:ln>
                <a:noFill/>
              </a:ln>
              <a:solidFill>
                <a:schemeClr val="tx1"/>
              </a:solidFill>
              <a:effectLst/>
              <a:uLnTx/>
              <a:uFillTx/>
              <a:latin typeface="+mn-lt"/>
              <a:ea typeface="+mn-ea"/>
              <a:cs typeface="+mn-ea"/>
            </a:endParaRPr>
          </a:p>
          <a:p>
            <a:pPr marL="457200" marR="0" lvl="1" indent="0" algn="l" defTabSz="914400" rtl="0" eaLnBrk="1" fontAlgn="base" latinLnBrk="0" hangingPunct="1">
              <a:lnSpc>
                <a:spcPct val="90000"/>
              </a:lnSpc>
              <a:spcBef>
                <a:spcPct val="20000"/>
              </a:spcBef>
              <a:spcAft>
                <a:spcPct val="0"/>
              </a:spcAft>
              <a:buClrTx/>
              <a:buSzTx/>
              <a:buFontTx/>
              <a:buNone/>
              <a:defRPr/>
            </a:pPr>
            <a:endParaRPr kumimoji="0" lang="en-US" altLang="zh-CN" sz="2000" b="1" i="0" u="none" strike="noStrike" kern="0" cap="none" spc="0" normalizeH="0" baseline="0" noProof="0" dirty="0">
              <a:ln>
                <a:noFill/>
              </a:ln>
              <a:solidFill>
                <a:schemeClr val="tx1"/>
              </a:solidFill>
              <a:effectLst/>
              <a:uLnTx/>
              <a:uFillTx/>
              <a:latin typeface="+mn-lt"/>
              <a:ea typeface="+mn-ea"/>
              <a:cs typeface="+mn-ea"/>
            </a:endParaRP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charRg st="0" end="4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charRg st="48" end="10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3">
                                            <p:txEl>
                                              <p:charRg st="100" end="12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charRg st="124" end="18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3">
                                            <p:txEl>
                                              <p:charRg st="189" end="24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charRg st="242" end="28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charRg st="282" end="33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3">
                                            <p:txEl>
                                              <p:charRg st="331" end="37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charRg st="370" end="42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23">
                                            <p:txEl>
                                              <p:charRg st="421" end="44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3">
                                            <p:txEl>
                                              <p:charRg st="446" end="49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685800" y="152400"/>
            <a:ext cx="6869113" cy="1600200"/>
          </a:xfrm>
        </p:spPr>
        <p:txBody>
          <a:bodyPr vert="horz" wrap="square" lIns="91440" tIns="45720" rIns="91440" bIns="45720" anchor="b" anchorCtr="0"/>
          <a:p>
            <a:pPr eaLnBrk="1" hangingPunct="1"/>
            <a:r>
              <a:rPr lang="en-US" altLang="zh-CN" dirty="0"/>
              <a:t>Example </a:t>
            </a:r>
            <a:endParaRPr lang="en-US" altLang="zh-CN" dirty="0"/>
          </a:p>
        </p:txBody>
      </p:sp>
      <p:graphicFrame>
        <p:nvGraphicFramePr>
          <p:cNvPr id="47107" name="Object 4"/>
          <p:cNvGraphicFramePr>
            <a:graphicFrameLocks noChangeAspect="1"/>
          </p:cNvGraphicFramePr>
          <p:nvPr/>
        </p:nvGraphicFramePr>
        <p:xfrm>
          <a:off x="2819400" y="2209800"/>
          <a:ext cx="2590800" cy="596900"/>
        </p:xfrm>
        <a:graphic>
          <a:graphicData uri="http://schemas.openxmlformats.org/presentationml/2006/ole">
            <mc:AlternateContent xmlns:mc="http://schemas.openxmlformats.org/markup-compatibility/2006">
              <mc:Choice xmlns:v="urn:schemas-microsoft-com:vml" Requires="v">
                <p:oleObj spid="_x0000_s3076" name="" r:id="rId1" imgW="977900" imgH="228600" progId="Equation.3">
                  <p:embed/>
                </p:oleObj>
              </mc:Choice>
              <mc:Fallback>
                <p:oleObj name="" r:id="rId1" imgW="977900" imgH="228600" progId="Equation.3">
                  <p:embed/>
                  <p:pic>
                    <p:nvPicPr>
                      <p:cNvPr id="0" name="图片 3075"/>
                      <p:cNvPicPr/>
                      <p:nvPr/>
                    </p:nvPicPr>
                    <p:blipFill>
                      <a:blip r:embed="rId2"/>
                      <a:stretch>
                        <a:fillRect/>
                      </a:stretch>
                    </p:blipFill>
                    <p:spPr>
                      <a:xfrm>
                        <a:off x="2819400" y="2209800"/>
                        <a:ext cx="2590800" cy="596900"/>
                      </a:xfrm>
                      <a:prstGeom prst="rect">
                        <a:avLst/>
                      </a:prstGeom>
                      <a:noFill/>
                      <a:ln w="38100">
                        <a:noFill/>
                        <a:miter/>
                      </a:ln>
                    </p:spPr>
                  </p:pic>
                </p:oleObj>
              </mc:Fallback>
            </mc:AlternateContent>
          </a:graphicData>
        </a:graphic>
      </p:graphicFrame>
      <p:sp>
        <p:nvSpPr>
          <p:cNvPr id="23557" name="Text Box 5"/>
          <p:cNvSpPr txBox="1"/>
          <p:nvPr/>
        </p:nvSpPr>
        <p:spPr>
          <a:xfrm>
            <a:off x="685800" y="3124200"/>
            <a:ext cx="7620000" cy="2678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pPr>
            <a:r>
              <a:rPr lang="en-US" altLang="zh-CN" sz="1800" dirty="0"/>
              <a:t> </a:t>
            </a:r>
            <a:r>
              <a:rPr lang="en-US" altLang="zh-CN" sz="2400" dirty="0"/>
              <a:t>n</a:t>
            </a:r>
            <a:r>
              <a:rPr lang="en-US" altLang="zh-CN" sz="2400" baseline="30000" dirty="0"/>
              <a:t>3</a:t>
            </a:r>
            <a:r>
              <a:rPr lang="en-US" altLang="zh-CN" sz="2400" dirty="0"/>
              <a:t>+2n</a:t>
            </a:r>
            <a:r>
              <a:rPr lang="en-US" altLang="zh-CN" sz="2400" baseline="30000" dirty="0"/>
              <a:t>2</a:t>
            </a:r>
            <a:r>
              <a:rPr lang="en-US" altLang="zh-CN" sz="2400" dirty="0"/>
              <a:t>=O(n</a:t>
            </a:r>
            <a:r>
              <a:rPr lang="en-US" altLang="zh-CN" sz="2400" baseline="30000" dirty="0"/>
              <a:t>3</a:t>
            </a:r>
            <a:r>
              <a:rPr lang="en-US" altLang="zh-CN" sz="2400" dirty="0"/>
              <a:t>)=O(n</a:t>
            </a:r>
            <a:r>
              <a:rPr lang="en-US" altLang="zh-CN" sz="2400" baseline="30000" dirty="0"/>
              <a:t>4</a:t>
            </a:r>
            <a:r>
              <a:rPr lang="en-US" altLang="zh-CN" sz="2400" dirty="0"/>
              <a:t>)=O(n</a:t>
            </a:r>
            <a:r>
              <a:rPr lang="en-US" altLang="zh-CN" sz="2400" baseline="30000" dirty="0"/>
              <a:t>5</a:t>
            </a:r>
            <a:r>
              <a:rPr lang="en-US" altLang="zh-CN" sz="2400" dirty="0"/>
              <a:t>)= </a:t>
            </a:r>
            <a:r>
              <a:rPr lang="en-US" altLang="zh-CN" sz="2400" b="1" dirty="0">
                <a:sym typeface="Symbol" panose="05050102010706020507" pitchFamily="18" charset="2"/>
              </a:rPr>
              <a:t>  </a:t>
            </a:r>
            <a:endParaRPr lang="en-US" altLang="zh-CN" sz="2400" b="1" dirty="0">
              <a:sym typeface="Symbol" panose="05050102010706020507" pitchFamily="18" charset="2"/>
            </a:endParaRPr>
          </a:p>
          <a:p>
            <a:pPr marL="0" lvl="0" indent="0" eaLnBrk="1" hangingPunct="1">
              <a:spcBef>
                <a:spcPct val="50000"/>
              </a:spcBef>
              <a:buNone/>
            </a:pPr>
            <a:r>
              <a:rPr lang="en-US" altLang="zh-CN" sz="2400" dirty="0">
                <a:sym typeface="Symbol" panose="05050102010706020507" pitchFamily="18" charset="2"/>
              </a:rPr>
              <a:t>We shall always take the </a:t>
            </a:r>
            <a:r>
              <a:rPr lang="en-US" altLang="zh-CN" sz="2400" dirty="0">
                <a:solidFill>
                  <a:schemeClr val="hlink"/>
                </a:solidFill>
                <a:sym typeface="Symbol" panose="05050102010706020507" pitchFamily="18" charset="2"/>
              </a:rPr>
              <a:t>smallest</a:t>
            </a:r>
            <a:r>
              <a:rPr lang="en-US" altLang="zh-CN" sz="2400" dirty="0">
                <a:sym typeface="Symbol" panose="05050102010706020507" pitchFamily="18" charset="2"/>
              </a:rPr>
              <a:t> </a:t>
            </a:r>
            <a:r>
              <a:rPr lang="en-US" altLang="zh-CN" sz="2400" i="1" dirty="0">
                <a:sym typeface="Symbol" panose="05050102010706020507" pitchFamily="18" charset="2"/>
              </a:rPr>
              <a:t>f </a:t>
            </a:r>
            <a:r>
              <a:rPr lang="en-US" altLang="zh-CN" sz="2400" dirty="0">
                <a:sym typeface="Symbol" panose="05050102010706020507" pitchFamily="18" charset="2"/>
              </a:rPr>
              <a:t>(</a:t>
            </a:r>
            <a:r>
              <a:rPr lang="en-US" altLang="zh-CN" sz="2400" i="1" dirty="0">
                <a:sym typeface="Symbol" panose="05050102010706020507" pitchFamily="18" charset="2"/>
              </a:rPr>
              <a:t>n</a:t>
            </a:r>
            <a:r>
              <a:rPr lang="en-US" altLang="zh-CN" sz="2400" dirty="0">
                <a:sym typeface="Symbol" panose="05050102010706020507" pitchFamily="18" charset="2"/>
              </a:rPr>
              <a:t>).</a:t>
            </a:r>
            <a:endParaRPr lang="en-US" altLang="zh-CN" sz="2400" dirty="0">
              <a:sym typeface="Symbol" panose="05050102010706020507" pitchFamily="18" charset="2"/>
            </a:endParaRPr>
          </a:p>
          <a:p>
            <a:pPr marL="0" lvl="0" indent="0" eaLnBrk="1" hangingPunct="1">
              <a:spcBef>
                <a:spcPct val="50000"/>
              </a:spcBef>
            </a:pPr>
            <a:r>
              <a:rPr lang="en-US" altLang="zh-CN" sz="2400" b="1" dirty="0">
                <a:sym typeface="Symbol" panose="05050102010706020507" pitchFamily="18" charset="2"/>
              </a:rPr>
              <a:t> </a:t>
            </a:r>
            <a:r>
              <a:rPr lang="en-US" altLang="zh-CN" sz="2400" dirty="0">
                <a:sym typeface="Symbol" panose="05050102010706020507" pitchFamily="18" charset="2"/>
              </a:rPr>
              <a:t>n</a:t>
            </a:r>
            <a:r>
              <a:rPr lang="en-US" altLang="zh-CN" sz="2400" baseline="30000" dirty="0">
                <a:sym typeface="Symbol" panose="05050102010706020507" pitchFamily="18" charset="2"/>
              </a:rPr>
              <a:t>3</a:t>
            </a:r>
            <a:r>
              <a:rPr lang="en-US" altLang="zh-CN" sz="2400" dirty="0">
                <a:sym typeface="Symbol" panose="05050102010706020507" pitchFamily="18" charset="2"/>
              </a:rPr>
              <a:t>+2n</a:t>
            </a:r>
            <a:r>
              <a:rPr lang="en-US" altLang="zh-CN" sz="2400" baseline="30000" dirty="0">
                <a:sym typeface="Symbol" panose="05050102010706020507" pitchFamily="18" charset="2"/>
              </a:rPr>
              <a:t>2</a:t>
            </a:r>
            <a:r>
              <a:rPr lang="en-US" altLang="zh-CN" sz="2400" dirty="0">
                <a:sym typeface="Symbol" panose="05050102010706020507" pitchFamily="18" charset="2"/>
              </a:rPr>
              <a:t>=</a:t>
            </a:r>
            <a:r>
              <a:rPr lang="en-US" altLang="zh-CN" sz="2400" dirty="0">
                <a:sym typeface="Wingdings" panose="05000000000000000000" pitchFamily="2" charset="2"/>
              </a:rPr>
              <a:t> </a:t>
            </a:r>
            <a:r>
              <a:rPr lang="en-US" altLang="zh-CN" sz="2400" dirty="0">
                <a:sym typeface="Symbol" panose="05050102010706020507" pitchFamily="18" charset="2"/>
              </a:rPr>
              <a:t>(C)=</a:t>
            </a:r>
            <a:r>
              <a:rPr lang="en-US" altLang="zh-CN" sz="2400" dirty="0">
                <a:sym typeface="Wingdings" panose="05000000000000000000" pitchFamily="2" charset="2"/>
              </a:rPr>
              <a:t> </a:t>
            </a:r>
            <a:r>
              <a:rPr lang="en-US" altLang="zh-CN" sz="2400" dirty="0">
                <a:sym typeface="Symbol" panose="05050102010706020507" pitchFamily="18" charset="2"/>
              </a:rPr>
              <a:t>(n)=</a:t>
            </a:r>
            <a:r>
              <a:rPr lang="en-US" altLang="zh-CN" sz="2400" dirty="0">
                <a:sym typeface="Wingdings" panose="05000000000000000000" pitchFamily="2" charset="2"/>
              </a:rPr>
              <a:t> </a:t>
            </a:r>
            <a:r>
              <a:rPr lang="en-US" altLang="zh-CN" sz="2400" dirty="0">
                <a:sym typeface="Symbol" panose="05050102010706020507" pitchFamily="18" charset="2"/>
              </a:rPr>
              <a:t>(n</a:t>
            </a:r>
            <a:r>
              <a:rPr lang="en-US" altLang="zh-CN" sz="2400" baseline="30000" dirty="0">
                <a:sym typeface="Symbol" panose="05050102010706020507" pitchFamily="18" charset="2"/>
              </a:rPr>
              <a:t>2</a:t>
            </a:r>
            <a:r>
              <a:rPr lang="en-US" altLang="zh-CN" sz="2400" dirty="0">
                <a:sym typeface="Symbol" panose="05050102010706020507" pitchFamily="18" charset="2"/>
              </a:rPr>
              <a:t>)=</a:t>
            </a:r>
            <a:r>
              <a:rPr lang="en-US" altLang="zh-CN" sz="2400" dirty="0">
                <a:sym typeface="Wingdings" panose="05000000000000000000" pitchFamily="2" charset="2"/>
              </a:rPr>
              <a:t> </a:t>
            </a:r>
            <a:r>
              <a:rPr lang="en-US" altLang="zh-CN" sz="2400" dirty="0">
                <a:sym typeface="Symbol" panose="05050102010706020507" pitchFamily="18" charset="2"/>
              </a:rPr>
              <a:t>(n</a:t>
            </a:r>
            <a:r>
              <a:rPr lang="en-US" altLang="zh-CN" sz="2400" baseline="30000" dirty="0">
                <a:sym typeface="Symbol" panose="05050102010706020507" pitchFamily="18" charset="2"/>
              </a:rPr>
              <a:t>3</a:t>
            </a:r>
            <a:r>
              <a:rPr lang="en-US" altLang="zh-CN" sz="2400" dirty="0">
                <a:sym typeface="Symbol" panose="05050102010706020507" pitchFamily="18" charset="2"/>
              </a:rPr>
              <a:t>) </a:t>
            </a:r>
            <a:endParaRPr lang="en-US" altLang="zh-CN" sz="2400" dirty="0">
              <a:sym typeface="Symbol" panose="05050102010706020507" pitchFamily="18" charset="2"/>
            </a:endParaRPr>
          </a:p>
          <a:p>
            <a:pPr marL="0" lvl="0" indent="0" eaLnBrk="1" hangingPunct="1">
              <a:spcBef>
                <a:spcPct val="50000"/>
              </a:spcBef>
              <a:buNone/>
            </a:pPr>
            <a:r>
              <a:rPr lang="en-US" altLang="zh-CN" sz="2400" dirty="0">
                <a:sym typeface="Wingdings" panose="05000000000000000000" pitchFamily="2" charset="2"/>
              </a:rPr>
              <a:t>We shall always take the </a:t>
            </a:r>
            <a:r>
              <a:rPr lang="en-US" altLang="zh-CN" sz="2400" dirty="0">
                <a:solidFill>
                  <a:schemeClr val="hlink"/>
                </a:solidFill>
                <a:sym typeface="Wingdings" panose="05000000000000000000" pitchFamily="2" charset="2"/>
              </a:rPr>
              <a:t>largest</a:t>
            </a:r>
            <a:r>
              <a:rPr lang="en-US" altLang="zh-CN" sz="2400" dirty="0">
                <a:sym typeface="Wingdings" panose="05000000000000000000" pitchFamily="2" charset="2"/>
              </a:rPr>
              <a:t> </a:t>
            </a:r>
            <a:r>
              <a:rPr lang="en-US" altLang="zh-CN" sz="2400" i="1" dirty="0">
                <a:sym typeface="Wingdings" panose="05000000000000000000" pitchFamily="2" charset="2"/>
              </a:rPr>
              <a:t>g</a:t>
            </a:r>
            <a:r>
              <a:rPr lang="en-US" altLang="zh-CN" sz="2400" dirty="0">
                <a:sym typeface="Wingdings" panose="05000000000000000000" pitchFamily="2" charset="2"/>
              </a:rPr>
              <a:t>(</a:t>
            </a:r>
            <a:r>
              <a:rPr lang="en-US" altLang="zh-CN" sz="2400" i="1" dirty="0">
                <a:sym typeface="Wingdings" panose="05000000000000000000" pitchFamily="2" charset="2"/>
              </a:rPr>
              <a:t>n</a:t>
            </a:r>
            <a:r>
              <a:rPr lang="en-US" altLang="zh-CN" sz="2400" dirty="0">
                <a:sym typeface="Wingdings" panose="05000000000000000000" pitchFamily="2" charset="2"/>
              </a:rPr>
              <a:t>).</a:t>
            </a:r>
            <a:endParaRPr lang="en-US" altLang="zh-CN" sz="2400" dirty="0">
              <a:sym typeface="Wingdings" panose="05000000000000000000" pitchFamily="2" charset="2"/>
            </a:endParaRPr>
          </a:p>
          <a:p>
            <a:pPr marL="0" lvl="0" indent="0" eaLnBrk="1" hangingPunct="1">
              <a:spcBef>
                <a:spcPct val="50000"/>
              </a:spcBef>
            </a:pPr>
            <a:endParaRPr lang="en-US" altLang="zh-CN"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charRg st="0" end="3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xEl>
                                              <p:charRg st="33" end="7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7">
                                            <p:txEl>
                                              <p:charRg st="74" end="10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7">
                                            <p:txEl>
                                              <p:charRg st="109" end="14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p:txBody>
          <a:bodyPr vert="horz" wrap="square" lIns="91440" tIns="45720" rIns="91440" bIns="45720" anchor="b" anchorCtr="0"/>
          <a:p>
            <a:pPr eaLnBrk="1" hangingPunct="1"/>
            <a:r>
              <a:rPr lang="en-US" altLang="zh-CN" sz="4000" b="1" dirty="0"/>
              <a:t>Big-O Notation </a:t>
            </a:r>
            <a:br>
              <a:rPr lang="en-US" altLang="zh-CN" sz="4000" b="1" dirty="0"/>
            </a:br>
            <a:r>
              <a:rPr lang="en-US" altLang="zh-CN" sz="4000" dirty="0"/>
              <a:t>(Common Complexities)</a:t>
            </a:r>
            <a:endParaRPr lang="en-US" altLang="zh-CN" sz="4000" dirty="0"/>
          </a:p>
        </p:txBody>
      </p:sp>
      <p:sp>
        <p:nvSpPr>
          <p:cNvPr id="48131" name="Rectangle 3"/>
          <p:cNvSpPr>
            <a:spLocks noGrp="1"/>
          </p:cNvSpPr>
          <p:nvPr>
            <p:ph idx="1"/>
          </p:nvPr>
        </p:nvSpPr>
        <p:spPr>
          <a:xfrm>
            <a:off x="685800" y="2454275"/>
            <a:ext cx="7696200" cy="3657600"/>
          </a:xfrm>
        </p:spPr>
        <p:txBody>
          <a:bodyPr vert="horz" wrap="square" lIns="91440" tIns="45720" rIns="91440" bIns="45720" anchor="t" anchorCtr="0"/>
          <a:p>
            <a:pPr eaLnBrk="1" hangingPunct="1">
              <a:lnSpc>
                <a:spcPct val="80000"/>
              </a:lnSpc>
            </a:pPr>
            <a:r>
              <a:rPr lang="en-US" altLang="zh-CN" sz="2800" dirty="0"/>
              <a:t>T(n)=O(1)		     // constant time</a:t>
            </a:r>
            <a:endParaRPr lang="en-US" altLang="zh-CN" sz="2800" dirty="0"/>
          </a:p>
          <a:p>
            <a:pPr eaLnBrk="1" hangingPunct="1">
              <a:lnSpc>
                <a:spcPct val="80000"/>
              </a:lnSpc>
            </a:pPr>
            <a:r>
              <a:rPr lang="en-US" altLang="zh-CN" sz="2800" dirty="0"/>
              <a:t>T(n)=O(log n)	             // logarithmic</a:t>
            </a:r>
            <a:endParaRPr lang="en-US" altLang="zh-CN" sz="2800" dirty="0"/>
          </a:p>
          <a:p>
            <a:pPr eaLnBrk="1" hangingPunct="1">
              <a:lnSpc>
                <a:spcPct val="80000"/>
              </a:lnSpc>
            </a:pPr>
            <a:r>
              <a:rPr lang="en-US" altLang="zh-CN" sz="2800" dirty="0"/>
              <a:t>T(n)=O(n)		    // linear </a:t>
            </a:r>
            <a:endParaRPr lang="en-US" altLang="zh-CN" sz="2800" dirty="0"/>
          </a:p>
          <a:p>
            <a:pPr eaLnBrk="1" hangingPunct="1">
              <a:lnSpc>
                <a:spcPct val="80000"/>
              </a:lnSpc>
            </a:pPr>
            <a:r>
              <a:rPr lang="en-US" altLang="zh-CN" sz="2800" dirty="0"/>
              <a:t>T(n)=O(nlog n)             //loglinear</a:t>
            </a:r>
            <a:endParaRPr lang="en-US" altLang="zh-CN" sz="2800" dirty="0"/>
          </a:p>
          <a:p>
            <a:pPr eaLnBrk="1" hangingPunct="1">
              <a:lnSpc>
                <a:spcPct val="80000"/>
              </a:lnSpc>
            </a:pPr>
            <a:r>
              <a:rPr lang="en-US" altLang="zh-CN" sz="2800" dirty="0"/>
              <a:t>T(n)=O(n</a:t>
            </a:r>
            <a:r>
              <a:rPr lang="en-US" altLang="zh-CN" sz="2800" baseline="30000" dirty="0"/>
              <a:t>2</a:t>
            </a:r>
            <a:r>
              <a:rPr lang="en-US" altLang="zh-CN" sz="2800" dirty="0"/>
              <a:t>)		    //quadratic</a:t>
            </a:r>
            <a:endParaRPr lang="en-US" altLang="zh-CN" sz="2800" dirty="0"/>
          </a:p>
          <a:p>
            <a:pPr eaLnBrk="1" hangingPunct="1">
              <a:lnSpc>
                <a:spcPct val="80000"/>
              </a:lnSpc>
            </a:pPr>
            <a:r>
              <a:rPr lang="en-US" altLang="zh-CN" sz="2800" dirty="0"/>
              <a:t>T(n)=O(n</a:t>
            </a:r>
            <a:r>
              <a:rPr lang="en-US" altLang="zh-CN" sz="2800" baseline="30000" dirty="0"/>
              <a:t>3</a:t>
            </a:r>
            <a:r>
              <a:rPr lang="en-US" altLang="zh-CN" sz="2800" dirty="0"/>
              <a:t>)		    //cubic</a:t>
            </a:r>
            <a:endParaRPr lang="en-US" altLang="zh-CN" sz="2800" dirty="0"/>
          </a:p>
          <a:p>
            <a:pPr eaLnBrk="1" hangingPunct="1">
              <a:lnSpc>
                <a:spcPct val="80000"/>
              </a:lnSpc>
            </a:pPr>
            <a:r>
              <a:rPr lang="en-US" altLang="zh-CN" sz="2800" dirty="0"/>
              <a:t>T(n)=O(2</a:t>
            </a:r>
            <a:r>
              <a:rPr lang="en-US" altLang="zh-CN" sz="2800" baseline="30000" dirty="0"/>
              <a:t>n</a:t>
            </a:r>
            <a:r>
              <a:rPr lang="en-US" altLang="zh-CN" sz="2800" dirty="0"/>
              <a:t>),        	   // exponential</a:t>
            </a:r>
            <a:endParaRPr lang="en-US" altLang="zh-CN" sz="2800" dirty="0"/>
          </a:p>
          <a:p>
            <a:pPr eaLnBrk="1" hangingPunct="1">
              <a:lnSpc>
                <a:spcPct val="80000"/>
              </a:lnSpc>
            </a:pPr>
            <a:r>
              <a:rPr lang="en-US" altLang="zh-CN" sz="2800" dirty="0"/>
              <a:t>T(n)=O(n!),       	   // factorial</a:t>
            </a:r>
            <a:endParaRPr lang="en-US" altLang="zh-CN" sz="2800" dirty="0"/>
          </a:p>
          <a:p>
            <a:pPr eaLnBrk="1" hangingPunct="1">
              <a:lnSpc>
                <a:spcPct val="80000"/>
              </a:lnSpc>
            </a:pPr>
            <a:endParaRPr lang="en-US" altLang="zh-CN" sz="2800" dirty="0"/>
          </a:p>
        </p:txBody>
      </p:sp>
      <p:sp>
        <p:nvSpPr>
          <p:cNvPr id="27652" name="Rectangle 4"/>
          <p:cNvSpPr/>
          <p:nvPr/>
        </p:nvSpPr>
        <p:spPr>
          <a:xfrm>
            <a:off x="609600" y="6096000"/>
            <a:ext cx="7620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latin typeface="Arial" panose="020B0604020202020204" pitchFamily="34" charset="0"/>
              </a:rPr>
              <a:t>O(1)&lt;O(㏒n)&lt;O(n)&lt;O(n㏒n)&lt;O(n</a:t>
            </a:r>
            <a:r>
              <a:rPr lang="en-US" altLang="zh-CN" sz="2400" b="1" baseline="30000" dirty="0">
                <a:latin typeface="Arial" panose="020B0604020202020204" pitchFamily="34" charset="0"/>
              </a:rPr>
              <a:t>2</a:t>
            </a:r>
            <a:r>
              <a:rPr lang="en-US" altLang="zh-CN" sz="2400" b="1" dirty="0">
                <a:latin typeface="Arial" panose="020B0604020202020204" pitchFamily="34" charset="0"/>
              </a:rPr>
              <a:t>)&lt;O(n</a:t>
            </a:r>
            <a:r>
              <a:rPr lang="en-US" altLang="zh-CN" sz="2400" b="1" baseline="30000" dirty="0">
                <a:latin typeface="Arial" panose="020B0604020202020204" pitchFamily="34" charset="0"/>
              </a:rPr>
              <a:t>3</a:t>
            </a:r>
            <a:r>
              <a:rPr lang="en-US" altLang="zh-CN" sz="2400" b="1" dirty="0">
                <a:latin typeface="Arial" panose="020B0604020202020204" pitchFamily="34" charset="0"/>
              </a:rPr>
              <a:t>)&lt;O(2n)&lt;O(n!)</a:t>
            </a:r>
            <a:endParaRPr lang="en-US" altLang="zh-CN" sz="2400" b="1" dirty="0">
              <a:latin typeface="Arial" panose="020B0604020202020204" pitchFamily="34" charset="0"/>
            </a:endParaRPr>
          </a:p>
        </p:txBody>
      </p:sp>
      <p:sp>
        <p:nvSpPr>
          <p:cNvPr id="48133" name="文本框 1"/>
          <p:cNvSpPr txBox="1"/>
          <p:nvPr/>
        </p:nvSpPr>
        <p:spPr>
          <a:xfrm>
            <a:off x="1081088" y="1857375"/>
            <a:ext cx="2576512" cy="422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90000"/>
              </a:lnSpc>
              <a:buNone/>
            </a:pPr>
            <a:r>
              <a:rPr lang="en-US" altLang="zh-CN" sz="2400" b="1" dirty="0">
                <a:solidFill>
                  <a:srgbClr val="FF3300"/>
                </a:solidFill>
                <a:sym typeface="宋体" panose="02010600030101010101" pitchFamily="2" charset="-122"/>
              </a:rPr>
              <a:t>T(n) = O(f(n))</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blinds(horizontal)">
                                      <p:cBhvr>
                                        <p:cTn id="7"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p:txBody>
          <a:bodyPr vert="horz" wrap="square" lIns="91440" tIns="45720" rIns="91440" bIns="45720" anchor="b" anchorCtr="0"/>
          <a:p>
            <a:pPr eaLnBrk="1" hangingPunct="1"/>
            <a:r>
              <a:rPr lang="en-US" altLang="zh-CN" dirty="0"/>
              <a:t>Useful Rules of big-O estimation</a:t>
            </a:r>
            <a:endParaRPr lang="en-US" altLang="zh-CN" dirty="0"/>
          </a:p>
        </p:txBody>
      </p:sp>
      <p:sp>
        <p:nvSpPr>
          <p:cNvPr id="8195" name="Rectangle 3"/>
          <p:cNvSpPr>
            <a:spLocks noGrp="1" noChangeArrowheads="1"/>
          </p:cNvSpPr>
          <p:nvPr>
            <p:ph idx="1"/>
          </p:nvPr>
        </p:nvSpPr>
        <p:spPr>
          <a:xfrm>
            <a:off x="685800" y="1828800"/>
            <a:ext cx="7924800" cy="35052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Rule of sums</a:t>
            </a: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If </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1</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(n)=O(f(n))</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 and </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2</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(n)=O(g(n)),</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 then     </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1</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2</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(n)=O(max(f(n),g(n)))</a:t>
            </a: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FF"/>
                </a:solidFill>
                <a:effectLst/>
                <a:uLnTx/>
                <a:uFillTx/>
                <a:latin typeface="+mn-lt"/>
                <a:ea typeface="+mn-ea"/>
                <a:cs typeface="+mn-cs"/>
              </a:rPr>
              <a:t>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e.g. </a:t>
            </a:r>
            <a:r>
              <a:rPr kumimoji="0" lang="en-US" altLang="zh-CN" sz="2000" b="0" i="0" u="none" strike="noStrike" kern="0" cap="none" spc="0" normalizeH="0" baseline="0" noProof="0" dirty="0">
                <a:ln>
                  <a:noFill/>
                </a:ln>
                <a:solidFill>
                  <a:srgbClr val="0000FF"/>
                </a:solidFill>
                <a:effectLst/>
                <a:uLnTx/>
                <a:uFillTx/>
                <a:latin typeface="+mn-lt"/>
                <a:ea typeface="+mn-ea"/>
                <a:cs typeface="+mn-cs"/>
              </a:rPr>
              <a:t>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T</a:t>
            </a:r>
            <a:r>
              <a:rPr kumimoji="0" lang="en-US" altLang="zh-CN" sz="2000" b="0" i="0" u="none" strike="noStrike" kern="0" cap="none" spc="0" normalizeH="0" baseline="-25000" noProof="0" dirty="0">
                <a:ln>
                  <a:noFill/>
                </a:ln>
                <a:solidFill>
                  <a:schemeClr val="tx1"/>
                </a:solidFill>
                <a:effectLst/>
                <a:uLnTx/>
                <a:uFillTx/>
                <a:latin typeface="+mn-lt"/>
                <a:ea typeface="+mn-ea"/>
                <a:cs typeface="+mn-cs"/>
              </a:rPr>
              <a:t>1</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(n)=5n</a:t>
            </a:r>
            <a:r>
              <a:rPr kumimoji="0" lang="en-US" altLang="zh-CN" sz="2000" b="0" i="0" u="none" strike="noStrike" kern="0" cap="none" spc="0" normalizeH="0" baseline="30000" noProof="0" dirty="0">
                <a:ln>
                  <a:noFill/>
                </a:ln>
                <a:solidFill>
                  <a:schemeClr val="tx1"/>
                </a:solidFill>
                <a:effectLst/>
                <a:uLnTx/>
                <a:uFillTx/>
                <a:latin typeface="+mn-lt"/>
                <a:ea typeface="+mn-ea"/>
                <a:cs typeface="+mn-cs"/>
              </a:rPr>
              <a:t>3 </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 ,    T</a:t>
            </a:r>
            <a:r>
              <a:rPr kumimoji="0" lang="en-US" altLang="zh-CN" sz="2000" b="0" i="0" u="none" strike="noStrike" kern="0" cap="none" spc="0" normalizeH="0" baseline="-25000" noProof="0" dirty="0">
                <a:ln>
                  <a:noFill/>
                </a:ln>
                <a:solidFill>
                  <a:schemeClr val="tx1"/>
                </a:solidFill>
                <a:effectLst/>
                <a:uLnTx/>
                <a:uFillTx/>
                <a:latin typeface="+mn-lt"/>
                <a:ea typeface="+mn-ea"/>
                <a:cs typeface="+mn-cs"/>
              </a:rPr>
              <a:t>2</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(n)=n</a:t>
            </a:r>
            <a:r>
              <a:rPr kumimoji="0" lang="en-US" altLang="zh-CN" sz="2000" b="0" i="0" u="none" strike="noStrike" kern="0" cap="none" spc="0" normalizeH="0" baseline="30000" noProof="0" dirty="0">
                <a:ln>
                  <a:noFill/>
                </a:ln>
                <a:solidFill>
                  <a:schemeClr val="tx1"/>
                </a:solidFill>
                <a:effectLst/>
                <a:uLnTx/>
                <a:uFillTx/>
                <a:latin typeface="+mn-lt"/>
                <a:ea typeface="+mn-ea"/>
                <a:cs typeface="+mn-cs"/>
              </a:rPr>
              <a:t>2</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+n</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Rule of products</a:t>
            </a: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If </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1</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(n)=O(f(n))</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 and </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2</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(n)=O(g(n)),</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 then </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1</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(n)*T</a:t>
            </a:r>
            <a:r>
              <a:rPr kumimoji="0" lang="en-US" altLang="zh-CN" sz="2800" b="0" i="0" u="none" strike="noStrike" kern="0" cap="none" spc="0" normalizeH="0" baseline="-25000" noProof="0" dirty="0">
                <a:ln>
                  <a:noFill/>
                </a:ln>
                <a:solidFill>
                  <a:srgbClr val="0000FF"/>
                </a:solidFill>
                <a:effectLst/>
                <a:uLnTx/>
                <a:uFillTx/>
                <a:latin typeface="+mn-lt"/>
                <a:ea typeface="+mn-ea"/>
                <a:cs typeface="+mn-cs"/>
              </a:rPr>
              <a:t>2</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(n)=O(f(n)*g(n))</a:t>
            </a: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FF"/>
                </a:solidFill>
                <a:effectLst/>
                <a:uLnTx/>
                <a:uFillTx/>
                <a:latin typeface="+mn-lt"/>
                <a:ea typeface="+mn-ea"/>
                <a:cs typeface="+mn-cs"/>
                <a:sym typeface="+mn-ea"/>
              </a:rPr>
              <a:t>          </a:t>
            </a:r>
            <a:r>
              <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rPr>
              <a:t>e.g. </a:t>
            </a:r>
            <a:r>
              <a:rPr kumimoji="0" lang="en-US" altLang="zh-CN" sz="2000" b="0" i="0" u="none" strike="noStrike" kern="0" cap="none" spc="0" normalizeH="0" baseline="0" noProof="0" dirty="0">
                <a:ln>
                  <a:noFill/>
                </a:ln>
                <a:solidFill>
                  <a:srgbClr val="0000FF"/>
                </a:solidFill>
                <a:effectLst/>
                <a:uLnTx/>
                <a:uFillTx/>
                <a:latin typeface="+mn-lt"/>
                <a:ea typeface="+mn-ea"/>
                <a:cs typeface="+mn-cs"/>
                <a:sym typeface="+mn-ea"/>
              </a:rPr>
              <a:t>  </a:t>
            </a:r>
            <a:r>
              <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rPr>
              <a:t>T</a:t>
            </a:r>
            <a:r>
              <a:rPr kumimoji="0" lang="en-US" altLang="zh-CN" sz="2000" b="0" i="0" u="none" strike="noStrike" kern="0" cap="none" spc="0" normalizeH="0" baseline="-25000" noProof="0" dirty="0">
                <a:ln>
                  <a:noFill/>
                </a:ln>
                <a:solidFill>
                  <a:schemeClr val="tx1"/>
                </a:solidFill>
                <a:effectLst/>
                <a:uLnTx/>
                <a:uFillTx/>
                <a:latin typeface="+mn-lt"/>
                <a:ea typeface="+mn-ea"/>
                <a:cs typeface="+mn-cs"/>
                <a:sym typeface="+mn-ea"/>
              </a:rPr>
              <a:t>1</a:t>
            </a:r>
            <a:r>
              <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rPr>
              <a:t>(n)=(n-1)/2</a:t>
            </a:r>
            <a:r>
              <a:rPr kumimoji="0" lang="en-US" altLang="zh-CN" sz="2000" b="0" i="0" u="none" strike="noStrike" kern="0" cap="none" spc="0" normalizeH="0" baseline="30000" noProof="0" dirty="0">
                <a:ln>
                  <a:noFill/>
                </a:ln>
                <a:solidFill>
                  <a:schemeClr val="tx1"/>
                </a:solidFill>
                <a:effectLst/>
                <a:uLnTx/>
                <a:uFillTx/>
                <a:latin typeface="+mn-lt"/>
                <a:ea typeface="+mn-ea"/>
                <a:cs typeface="+mn-cs"/>
                <a:sym typeface="+mn-ea"/>
              </a:rPr>
              <a:t> </a:t>
            </a:r>
            <a:r>
              <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rPr>
              <a:t> ,    T</a:t>
            </a:r>
            <a:r>
              <a:rPr kumimoji="0" lang="en-US" altLang="zh-CN" sz="2000" b="0" i="0" u="none" strike="noStrike" kern="0" cap="none" spc="0" normalizeH="0" baseline="-25000" noProof="0" dirty="0">
                <a:ln>
                  <a:noFill/>
                </a:ln>
                <a:solidFill>
                  <a:schemeClr val="tx1"/>
                </a:solidFill>
                <a:effectLst/>
                <a:uLnTx/>
                <a:uFillTx/>
                <a:latin typeface="+mn-lt"/>
                <a:ea typeface="+mn-ea"/>
                <a:cs typeface="+mn-cs"/>
                <a:sym typeface="+mn-ea"/>
              </a:rPr>
              <a:t>2</a:t>
            </a:r>
            <a:r>
              <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rPr>
              <a:t>(n)=n</a:t>
            </a:r>
            <a:r>
              <a:rPr kumimoji="0" lang="en-US" altLang="zh-CN" sz="2000" b="0" i="0" u="none" strike="noStrike" kern="0" cap="none" spc="0" normalizeH="0" baseline="30000" noProof="0" dirty="0">
                <a:ln>
                  <a:noFill/>
                </a:ln>
                <a:solidFill>
                  <a:schemeClr val="tx1"/>
                </a:solidFill>
                <a:effectLst/>
                <a:uLnTx/>
                <a:uFillTx/>
                <a:latin typeface="+mn-lt"/>
                <a:ea typeface="+mn-ea"/>
                <a:cs typeface="+mn-cs"/>
                <a:sym typeface="+mn-ea"/>
              </a:rPr>
              <a:t>2</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en-US" altLang="zh-CN" sz="3200" b="0" i="0" u="none" strike="noStrike" kern="0" cap="none" spc="0" normalizeH="0" baseline="0" noProof="0" dirty="0" err="1">
                <a:ln>
                  <a:noFill/>
                </a:ln>
                <a:solidFill>
                  <a:srgbClr val="0000FF"/>
                </a:solidFill>
                <a:effectLst/>
                <a:uLnTx/>
                <a:uFillTx/>
                <a:latin typeface="+mn-lt"/>
                <a:ea typeface="+mn-ea"/>
                <a:cs typeface="+mn-cs"/>
              </a:rPr>
              <a:t>log</a:t>
            </a:r>
            <a:r>
              <a:rPr kumimoji="0" lang="en-US" altLang="zh-CN" sz="3200" b="0" i="0" u="none" strike="noStrike" kern="0" cap="none" spc="0" normalizeH="0" baseline="30000" noProof="0" dirty="0" err="1">
                <a:ln>
                  <a:noFill/>
                </a:ln>
                <a:solidFill>
                  <a:srgbClr val="0000FF"/>
                </a:solidFill>
                <a:effectLst/>
                <a:uLnTx/>
                <a:uFillTx/>
                <a:latin typeface="+mn-lt"/>
                <a:ea typeface="+mn-ea"/>
                <a:cs typeface="+mn-cs"/>
              </a:rPr>
              <a:t>k</a:t>
            </a:r>
            <a:r>
              <a:rPr kumimoji="0" lang="en-US" altLang="zh-CN" sz="3200" b="0" i="0" u="none" strike="noStrike" kern="0" cap="none" spc="0" normalizeH="0" baseline="0" noProof="0" dirty="0" err="1">
                <a:ln>
                  <a:noFill/>
                </a:ln>
                <a:solidFill>
                  <a:srgbClr val="0000FF"/>
                </a:solidFill>
                <a:effectLst/>
                <a:uLnTx/>
                <a:uFillTx/>
                <a:latin typeface="+mn-lt"/>
                <a:ea typeface="+mn-ea"/>
                <a:cs typeface="+mn-cs"/>
              </a:rPr>
              <a:t>n</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=O(n) </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for any constant </a:t>
            </a:r>
            <a:r>
              <a:rPr kumimoji="1" lang="en-US" altLang="zh-CN" sz="3200" b="0" i="1" u="none" strike="noStrike" kern="0" cap="none" spc="0" normalizeH="0" baseline="0" noProof="0" dirty="0">
                <a:ln>
                  <a:noFill/>
                </a:ln>
                <a:solidFill>
                  <a:srgbClr val="0000FF"/>
                </a:solidFill>
                <a:effectLst/>
                <a:uLnTx/>
                <a:uFillTx/>
                <a:latin typeface="+mn-lt"/>
                <a:ea typeface="+mn-ea"/>
                <a:cs typeface="+mn-cs"/>
              </a:rPr>
              <a:t>k</a:t>
            </a:r>
            <a:r>
              <a:rPr kumimoji="1" lang="en-US" altLang="zh-CN" sz="3200" b="0" i="0" u="none" strike="noStrike" kern="0" cap="none" spc="0" normalizeH="0" baseline="0" noProof="0" dirty="0">
                <a:ln>
                  <a:noFill/>
                </a:ln>
                <a:solidFill>
                  <a:schemeClr val="tx1"/>
                </a:solidFill>
                <a:effectLst/>
                <a:uLnTx/>
                <a:uFillTx/>
                <a:latin typeface="+mn-lt"/>
                <a:ea typeface="+mn-ea"/>
                <a:cs typeface="+mn-cs"/>
              </a:rPr>
              <a:t>.  </a:t>
            </a:r>
            <a:endParaRPr kumimoji="1" lang="en-US" altLang="zh-CN"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Tx/>
              <a:buSzTx/>
              <a:buFontTx/>
              <a:buNone/>
              <a:defRPr/>
            </a:pPr>
            <a:r>
              <a:rPr kumimoji="1" lang="en-US" altLang="zh-CN" sz="2800" b="0" i="0" u="none" strike="noStrike" kern="0" cap="none" spc="0" normalizeH="0" baseline="0" noProof="0" dirty="0">
                <a:ln>
                  <a:noFill/>
                </a:ln>
                <a:solidFill>
                  <a:schemeClr val="tx1"/>
                </a:solidFill>
                <a:effectLst/>
                <a:uLnTx/>
                <a:uFillTx/>
                <a:latin typeface="+mn-lt"/>
                <a:ea typeface="+mn-ea"/>
                <a:cs typeface="+mn-cs"/>
              </a:rPr>
              <a:t>This tells us that </a:t>
            </a:r>
            <a:r>
              <a:rPr kumimoji="1" lang="en-US" altLang="zh-CN" sz="2800" b="0" i="0" u="none" strike="noStrike" kern="0" cap="none" spc="0" normalizeH="0" baseline="0" noProof="0" dirty="0">
                <a:ln>
                  <a:noFill/>
                </a:ln>
                <a:solidFill>
                  <a:schemeClr val="tx2"/>
                </a:solidFill>
                <a:effectLst/>
                <a:uLnTx/>
                <a:uFillTx/>
                <a:latin typeface="+mn-lt"/>
                <a:ea typeface="+mn-ea"/>
                <a:cs typeface="+mn-cs"/>
              </a:rPr>
              <a:t>logarithms grow very slowly</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a:t>
            </a:r>
            <a:endParaRPr kumimoji="1" lang="en-US" altLang="zh-CN" sz="2800" b="0" i="0" u="none" strike="noStrike" kern="0" cap="none" spc="0" normalizeH="0" baseline="0" noProof="0" dirty="0">
              <a:ln>
                <a:noFill/>
              </a:ln>
              <a:solidFill>
                <a:schemeClr val="hlink"/>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charRg st="0" end="1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charRg st="13" end="5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charRg st="59" end="9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charRg st="96" end="14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5">
                                            <p:txEl>
                                              <p:charRg st="140" end="15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5">
                                            <p:txEl>
                                              <p:charRg st="157" end="19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5">
                                            <p:txEl>
                                              <p:charRg st="199" end="23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5">
                                            <p:txEl>
                                              <p:charRg st="232" end="27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charRg st="279" end="3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95">
                                            <p:txEl>
                                              <p:charRg st="312" end="36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p:txBody>
          <a:bodyPr vert="horz" wrap="square" lIns="91440" tIns="45720" rIns="91440" bIns="45720" anchor="b" anchorCtr="0"/>
          <a:p>
            <a:pPr eaLnBrk="1" hangingPunct="1"/>
            <a:r>
              <a:rPr lang="en-US" altLang="zh-CN" b="1" dirty="0"/>
              <a:t>Simplification Methods</a:t>
            </a:r>
            <a:endParaRPr lang="en-US" altLang="zh-CN" b="1" dirty="0"/>
          </a:p>
        </p:txBody>
      </p:sp>
      <p:sp>
        <p:nvSpPr>
          <p:cNvPr id="9219" name="Rectangle 3"/>
          <p:cNvSpPr>
            <a:spLocks noGrp="1" noChangeArrowheads="1"/>
          </p:cNvSpPr>
          <p:nvPr>
            <p:ph idx="1"/>
          </p:nvPr>
        </p:nvSpPr>
        <p:spPr>
          <a:xfrm>
            <a:off x="304800" y="2057400"/>
            <a:ext cx="8534400" cy="3581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0000FF"/>
                </a:solidFill>
                <a:effectLst/>
                <a:uLnTx/>
                <a:uFillTx/>
                <a:latin typeface="+mn-lt"/>
                <a:ea typeface="+mn-ea"/>
                <a:cs typeface="+mn-cs"/>
              </a:rPr>
              <a:t>T(n) = c</a:t>
            </a:r>
            <a:r>
              <a:rPr kumimoji="0" lang="en-US" altLang="zh-CN" sz="3200" b="0" i="0" u="none" strike="noStrike" kern="0" cap="none" spc="0" normalizeH="0" baseline="-25000" noProof="0" dirty="0">
                <a:ln>
                  <a:noFill/>
                </a:ln>
                <a:solidFill>
                  <a:srgbClr val="0000FF"/>
                </a:solidFill>
                <a:effectLst/>
                <a:uLnTx/>
                <a:uFillTx/>
                <a:latin typeface="+mn-lt"/>
                <a:ea typeface="+mn-ea"/>
                <a:cs typeface="+mn-cs"/>
              </a:rPr>
              <a:t>k</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 </a:t>
            </a:r>
            <a:r>
              <a:rPr kumimoji="0" lang="en-US" altLang="zh-CN" sz="3200" b="0" i="0" u="none" strike="noStrike" kern="0" cap="none" spc="0" normalizeH="0" baseline="0" noProof="0" dirty="0" err="1">
                <a:ln>
                  <a:noFill/>
                </a:ln>
                <a:solidFill>
                  <a:srgbClr val="0000FF"/>
                </a:solidFill>
                <a:effectLst/>
                <a:uLnTx/>
                <a:uFillTx/>
                <a:latin typeface="+mn-lt"/>
                <a:ea typeface="+mn-ea"/>
                <a:cs typeface="+mn-cs"/>
              </a:rPr>
              <a:t>n</a:t>
            </a:r>
            <a:r>
              <a:rPr kumimoji="0" lang="en-US" altLang="zh-CN" sz="3200" b="0" i="0" u="none" strike="noStrike" kern="0" cap="none" spc="0" normalizeH="0" baseline="30000" noProof="0" dirty="0" err="1">
                <a:ln>
                  <a:noFill/>
                </a:ln>
                <a:solidFill>
                  <a:srgbClr val="0000FF"/>
                </a:solidFill>
                <a:effectLst/>
                <a:uLnTx/>
                <a:uFillTx/>
                <a:latin typeface="+mn-lt"/>
                <a:ea typeface="+mn-ea"/>
                <a:cs typeface="+mn-cs"/>
              </a:rPr>
              <a:t>k</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 + c</a:t>
            </a:r>
            <a:r>
              <a:rPr kumimoji="0" lang="en-US" altLang="zh-CN" sz="3200" b="0" i="0" u="none" strike="noStrike" kern="0" cap="none" spc="0" normalizeH="0" baseline="-25000" noProof="0" dirty="0">
                <a:ln>
                  <a:noFill/>
                </a:ln>
                <a:solidFill>
                  <a:srgbClr val="0000FF"/>
                </a:solidFill>
                <a:effectLst/>
                <a:uLnTx/>
                <a:uFillTx/>
                <a:latin typeface="+mn-lt"/>
                <a:ea typeface="+mn-ea"/>
                <a:cs typeface="+mn-cs"/>
              </a:rPr>
              <a:t>k-1</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 n</a:t>
            </a:r>
            <a:r>
              <a:rPr kumimoji="0" lang="en-US" altLang="zh-CN" sz="3200" b="0" i="0" u="none" strike="noStrike" kern="0" cap="none" spc="0" normalizeH="0" baseline="30000" noProof="0" dirty="0">
                <a:ln>
                  <a:noFill/>
                </a:ln>
                <a:solidFill>
                  <a:srgbClr val="0000FF"/>
                </a:solidFill>
                <a:effectLst/>
                <a:uLnTx/>
                <a:uFillTx/>
                <a:latin typeface="+mn-lt"/>
                <a:ea typeface="+mn-ea"/>
                <a:cs typeface="+mn-cs"/>
              </a:rPr>
              <a:t>k-1</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 + c</a:t>
            </a:r>
            <a:r>
              <a:rPr kumimoji="0" lang="en-US" altLang="zh-CN" sz="3200" b="0" i="0" u="none" strike="noStrike" kern="0" cap="none" spc="0" normalizeH="0" baseline="-25000" noProof="0" dirty="0">
                <a:ln>
                  <a:noFill/>
                </a:ln>
                <a:solidFill>
                  <a:srgbClr val="0000FF"/>
                </a:solidFill>
                <a:effectLst/>
                <a:uLnTx/>
                <a:uFillTx/>
                <a:latin typeface="+mn-lt"/>
                <a:ea typeface="+mn-ea"/>
                <a:cs typeface="+mn-cs"/>
              </a:rPr>
              <a:t>k-2 </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n</a:t>
            </a:r>
            <a:r>
              <a:rPr kumimoji="0" lang="en-US" altLang="zh-CN" sz="3200" b="0" i="0" u="none" strike="noStrike" kern="0" cap="none" spc="0" normalizeH="0" baseline="30000" noProof="0" dirty="0">
                <a:ln>
                  <a:noFill/>
                </a:ln>
                <a:solidFill>
                  <a:srgbClr val="0000FF"/>
                </a:solidFill>
                <a:effectLst/>
                <a:uLnTx/>
                <a:uFillTx/>
                <a:latin typeface="+mn-lt"/>
                <a:ea typeface="+mn-ea"/>
                <a:cs typeface="+mn-cs"/>
              </a:rPr>
              <a:t>k-2</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 + … + c</a:t>
            </a:r>
            <a:r>
              <a:rPr kumimoji="0" lang="en-US" altLang="zh-CN" sz="3200" b="0" i="0" u="none" strike="noStrike" kern="0" cap="none" spc="0" normalizeH="0" baseline="-25000" noProof="0" dirty="0">
                <a:ln>
                  <a:noFill/>
                </a:ln>
                <a:solidFill>
                  <a:srgbClr val="0000FF"/>
                </a:solidFill>
                <a:effectLst/>
                <a:uLnTx/>
                <a:uFillTx/>
                <a:latin typeface="+mn-lt"/>
                <a:ea typeface="+mn-ea"/>
                <a:cs typeface="+mn-cs"/>
              </a:rPr>
              <a:t>1</a:t>
            </a:r>
            <a:r>
              <a:rPr kumimoji="0" lang="en-US" altLang="zh-CN" sz="3200" b="0" i="0" u="none" strike="noStrike" kern="0" cap="none" spc="0" normalizeH="0" baseline="0" noProof="0" dirty="0">
                <a:ln>
                  <a:noFill/>
                </a:ln>
                <a:solidFill>
                  <a:srgbClr val="0000FF"/>
                </a:solidFill>
                <a:effectLst/>
                <a:uLnTx/>
                <a:uFillTx/>
                <a:latin typeface="+mn-lt"/>
                <a:ea typeface="+mn-ea"/>
                <a:cs typeface="+mn-cs"/>
              </a:rPr>
              <a:t>  n + c</a:t>
            </a:r>
            <a:r>
              <a:rPr kumimoji="0" lang="en-US" altLang="zh-CN" sz="3200" b="0" i="0" u="none" strike="noStrike" kern="0" cap="none" spc="0" normalizeH="0" baseline="-25000" noProof="0" dirty="0">
                <a:ln>
                  <a:noFill/>
                </a:ln>
                <a:solidFill>
                  <a:srgbClr val="0000FF"/>
                </a:solidFill>
                <a:effectLst/>
                <a:uLnTx/>
                <a:uFillTx/>
                <a:latin typeface="+mn-lt"/>
                <a:ea typeface="+mn-ea"/>
                <a:cs typeface="+mn-cs"/>
              </a:rPr>
              <a:t>o</a:t>
            </a:r>
            <a:endParaRPr kumimoji="0" lang="en-US" altLang="zh-CN" sz="3200" b="0" i="0" u="none" strike="noStrike" kern="0" cap="none" spc="0" normalizeH="0" baseline="-25000" noProof="0" dirty="0">
              <a:ln>
                <a:noFill/>
              </a:ln>
              <a:solidFill>
                <a:srgbClr val="0000FF"/>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If T(n) is the sum of a constant number of terms, drop all the terms except for the </a:t>
            </a:r>
            <a:r>
              <a:rPr kumimoji="0" lang="en-US" altLang="zh-CN" sz="2400" b="0" i="0" u="none" strike="noStrike" kern="0" cap="none" spc="0" normalizeH="0" baseline="0" noProof="0" dirty="0">
                <a:ln>
                  <a:noFill/>
                </a:ln>
                <a:solidFill>
                  <a:schemeClr val="hlink"/>
                </a:solidFill>
                <a:effectLst/>
                <a:uLnTx/>
                <a:uFillTx/>
                <a:latin typeface="+mn-lt"/>
                <a:ea typeface="+mn-ea"/>
                <a:cs typeface="+mn-cs"/>
              </a:rPr>
              <a:t>most dominant (biggest)</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term;</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Drop any </a:t>
            </a:r>
            <a:r>
              <a:rPr kumimoji="0" lang="en-US" altLang="zh-CN" sz="2400" b="0" i="0" u="none" strike="noStrike" kern="0" cap="none" spc="0" normalizeH="0" baseline="0" noProof="0" dirty="0">
                <a:ln>
                  <a:noFill/>
                </a:ln>
                <a:solidFill>
                  <a:schemeClr val="hlink"/>
                </a:solidFill>
                <a:effectLst/>
                <a:uLnTx/>
                <a:uFillTx/>
                <a:latin typeface="+mn-lt"/>
                <a:ea typeface="+mn-ea"/>
                <a:cs typeface="+mn-cs"/>
              </a:rPr>
              <a:t>multiplicative factor </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of that term</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What remains is the simplified f(n).</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p:txBody>
      </p:sp>
      <p:cxnSp>
        <p:nvCxnSpPr>
          <p:cNvPr id="3" name="直接连接符 2"/>
          <p:cNvCxnSpPr/>
          <p:nvPr/>
        </p:nvCxnSpPr>
        <p:spPr>
          <a:xfrm>
            <a:off x="3754438" y="3429000"/>
            <a:ext cx="3962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p:txBody>
          <a:bodyPr vert="horz" wrap="square" lIns="91440" tIns="45720" rIns="91440" bIns="45720" anchor="b" anchorCtr="0"/>
          <a:p>
            <a:pPr eaLnBrk="1" hangingPunct="1"/>
            <a:r>
              <a:rPr lang="en-US" altLang="zh-CN" b="1" dirty="0"/>
              <a:t>Common Formulas</a:t>
            </a:r>
            <a:endParaRPr lang="en-US" altLang="zh-CN" b="1" dirty="0"/>
          </a:p>
        </p:txBody>
      </p:sp>
      <p:sp>
        <p:nvSpPr>
          <p:cNvPr id="52227" name="Rectangle 3"/>
          <p:cNvSpPr>
            <a:spLocks noGrp="1"/>
          </p:cNvSpPr>
          <p:nvPr>
            <p:ph idx="1"/>
          </p:nvPr>
        </p:nvSpPr>
        <p:spPr>
          <a:xfrm>
            <a:off x="685800" y="1828800"/>
            <a:ext cx="8077200" cy="3657600"/>
          </a:xfrm>
        </p:spPr>
        <p:txBody>
          <a:bodyPr vert="horz" wrap="square" lIns="91440" tIns="45720" rIns="91440" bIns="45720" anchor="t" anchorCtr="0"/>
          <a:p>
            <a:pPr eaLnBrk="1" hangingPunct="1"/>
            <a:r>
              <a:rPr lang="en-US" altLang="zh-CN" dirty="0"/>
              <a:t>1+2+3+</a:t>
            </a:r>
            <a:r>
              <a:rPr lang="en-US" altLang="zh-CN" dirty="0">
                <a:latin typeface="Times New Roman" panose="02020603050405020304" pitchFamily="18" charset="0"/>
              </a:rPr>
              <a:t>…</a:t>
            </a:r>
            <a:r>
              <a:rPr lang="en-US" altLang="zh-CN" dirty="0"/>
              <a:t>+n= n(n+1)/2 = O(n</a:t>
            </a:r>
            <a:r>
              <a:rPr lang="en-US" altLang="zh-CN" baseline="30000" dirty="0"/>
              <a:t>2</a:t>
            </a:r>
            <a:r>
              <a:rPr lang="en-US" altLang="zh-CN" dirty="0"/>
              <a:t>).</a:t>
            </a:r>
            <a:endParaRPr lang="en-US" altLang="zh-CN" dirty="0"/>
          </a:p>
          <a:p>
            <a:pPr eaLnBrk="1" hangingPunct="1"/>
            <a:endParaRPr lang="en-US" altLang="zh-CN" dirty="0"/>
          </a:p>
          <a:p>
            <a:pPr eaLnBrk="1" hangingPunct="1"/>
            <a:r>
              <a:rPr lang="en-US" altLang="zh-CN" dirty="0"/>
              <a:t>1</a:t>
            </a:r>
            <a:r>
              <a:rPr lang="en-US" altLang="zh-CN" baseline="30000" dirty="0"/>
              <a:t>2</a:t>
            </a:r>
            <a:r>
              <a:rPr lang="en-US" altLang="zh-CN" dirty="0"/>
              <a:t>+2</a:t>
            </a:r>
            <a:r>
              <a:rPr lang="en-US" altLang="zh-CN" baseline="30000" dirty="0"/>
              <a:t>2</a:t>
            </a:r>
            <a:r>
              <a:rPr lang="en-US" altLang="zh-CN" dirty="0"/>
              <a:t>+3</a:t>
            </a:r>
            <a:r>
              <a:rPr lang="en-US" altLang="zh-CN" baseline="30000" dirty="0"/>
              <a:t>2</a:t>
            </a:r>
            <a:r>
              <a:rPr lang="en-US" altLang="zh-CN" dirty="0"/>
              <a:t>+</a:t>
            </a:r>
            <a:r>
              <a:rPr lang="en-US" altLang="zh-CN" dirty="0">
                <a:latin typeface="Times New Roman" panose="02020603050405020304" pitchFamily="18" charset="0"/>
              </a:rPr>
              <a:t>…</a:t>
            </a:r>
            <a:r>
              <a:rPr lang="en-US" altLang="zh-CN" dirty="0"/>
              <a:t>+n</a:t>
            </a:r>
            <a:r>
              <a:rPr lang="en-US" altLang="zh-CN" baseline="30000" dirty="0"/>
              <a:t>2</a:t>
            </a:r>
            <a:r>
              <a:rPr lang="en-US" altLang="zh-CN" dirty="0"/>
              <a:t>= n(n+1)(2n+1)/6 = O(n</a:t>
            </a:r>
            <a:r>
              <a:rPr lang="en-US" altLang="zh-CN" baseline="30000" dirty="0"/>
              <a:t>3</a:t>
            </a:r>
            <a:r>
              <a:rPr lang="en-US" altLang="zh-CN" dirty="0"/>
              <a:t>)</a:t>
            </a:r>
            <a:endParaRPr lang="en-US" altLang="zh-CN" dirty="0"/>
          </a:p>
          <a:p>
            <a:pPr eaLnBrk="1" hangingPunct="1"/>
            <a:endParaRPr lang="en-US" altLang="zh-CN" dirty="0"/>
          </a:p>
          <a:p>
            <a:pPr eaLnBrk="1" hangingPunct="1"/>
            <a:r>
              <a:rPr lang="en-US" altLang="zh-CN" dirty="0"/>
              <a:t>1+x+x</a:t>
            </a:r>
            <a:r>
              <a:rPr lang="en-US" altLang="zh-CN" baseline="30000" dirty="0"/>
              <a:t>2</a:t>
            </a:r>
            <a:r>
              <a:rPr lang="en-US" altLang="zh-CN" dirty="0"/>
              <a:t>+x</a:t>
            </a:r>
            <a:r>
              <a:rPr lang="en-US" altLang="zh-CN" baseline="30000" dirty="0"/>
              <a:t>3</a:t>
            </a:r>
            <a:r>
              <a:rPr lang="en-US" altLang="zh-CN" dirty="0"/>
              <a:t>+</a:t>
            </a:r>
            <a:r>
              <a:rPr lang="en-US" altLang="zh-CN" dirty="0">
                <a:latin typeface="Times New Roman" panose="02020603050405020304" pitchFamily="18" charset="0"/>
              </a:rPr>
              <a:t>…</a:t>
            </a:r>
            <a:r>
              <a:rPr lang="en-US" altLang="zh-CN" dirty="0"/>
              <a:t>+x</a:t>
            </a:r>
            <a:r>
              <a:rPr lang="en-US" altLang="zh-CN" baseline="30000" dirty="0"/>
              <a:t>n</a:t>
            </a:r>
            <a:r>
              <a:rPr lang="en-US" altLang="zh-CN" dirty="0"/>
              <a:t>=(x</a:t>
            </a:r>
            <a:r>
              <a:rPr lang="en-US" altLang="zh-CN" baseline="30000" dirty="0"/>
              <a:t> n+1</a:t>
            </a:r>
            <a:r>
              <a:rPr lang="en-US" altLang="zh-CN" dirty="0"/>
              <a:t> </a:t>
            </a:r>
            <a:r>
              <a:rPr lang="en-US" altLang="zh-CN" dirty="0">
                <a:latin typeface="Times New Roman" panose="02020603050405020304" pitchFamily="18" charset="0"/>
              </a:rPr>
              <a:t>–</a:t>
            </a:r>
            <a:r>
              <a:rPr lang="en-US" altLang="zh-CN" dirty="0"/>
              <a:t> 1)/(x-1) = O(x</a:t>
            </a:r>
            <a:r>
              <a:rPr lang="en-US" altLang="zh-CN" baseline="30000" dirty="0"/>
              <a:t>n</a:t>
            </a:r>
            <a:r>
              <a:rPr lang="en-US" altLang="zh-CN" dirty="0"/>
              <a:t>).</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3250" name="标题 1"/>
          <p:cNvSpPr>
            <a:spLocks noGrp="1"/>
          </p:cNvSpPr>
          <p:nvPr>
            <p:ph type="title"/>
          </p:nvPr>
        </p:nvSpPr>
        <p:spPr/>
        <p:txBody>
          <a:bodyPr vert="horz" wrap="square" lIns="91440" tIns="45720" rIns="91440" bIns="45720" anchor="b" anchorCtr="0"/>
          <a:p>
            <a:r>
              <a:rPr lang="en-US" altLang="zh-CN" dirty="0"/>
              <a:t>General rules of time complexity analysis</a:t>
            </a:r>
            <a:endParaRPr lang="zh-CN" altLang="en-US" dirty="0"/>
          </a:p>
        </p:txBody>
      </p:sp>
      <p:sp>
        <p:nvSpPr>
          <p:cNvPr id="53251" name="内容占位符 2"/>
          <p:cNvSpPr>
            <a:spLocks noGrp="1"/>
          </p:cNvSpPr>
          <p:nvPr>
            <p:ph idx="1"/>
          </p:nvPr>
        </p:nvSpPr>
        <p:spPr/>
        <p:txBody>
          <a:bodyPr vert="horz" wrap="square" lIns="91440" tIns="45720" rIns="91440" bIns="45720" anchor="t" anchorCtr="0"/>
          <a:p>
            <a:r>
              <a:rPr lang="en-US" altLang="zh-CN" dirty="0"/>
              <a:t>Estimating the running time of a program in terms of Big-Oh</a:t>
            </a:r>
            <a:endParaRPr lang="en-US" altLang="zh-CN" dirty="0"/>
          </a:p>
          <a:p>
            <a:endParaRPr lang="en-US" altLang="zh-CN" dirty="0"/>
          </a:p>
          <a:p>
            <a:r>
              <a:rPr lang="en-US" altLang="zh-CN" dirty="0"/>
              <a:t>There are lots of </a:t>
            </a:r>
            <a:r>
              <a:rPr lang="en-US" altLang="zh-CN" dirty="0">
                <a:solidFill>
                  <a:schemeClr val="tx2"/>
                </a:solidFill>
              </a:rPr>
              <a:t>shortcuts</a:t>
            </a:r>
            <a:r>
              <a:rPr lang="en-US" altLang="zh-CN" dirty="0"/>
              <a:t> that can be taken without affecting the final answer.</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4274" name="Rectangle 3"/>
          <p:cNvSpPr>
            <a:spLocks noGrp="1"/>
          </p:cNvSpPr>
          <p:nvPr>
            <p:ph idx="1"/>
          </p:nvPr>
        </p:nvSpPr>
        <p:spPr>
          <a:xfrm>
            <a:off x="457200" y="1585913"/>
            <a:ext cx="7772400" cy="5805487"/>
          </a:xfrm>
        </p:spPr>
        <p:txBody>
          <a:bodyPr vert="horz" wrap="square" lIns="91440" tIns="45720" rIns="91440" bIns="45720" anchor="t" anchorCtr="0"/>
          <a:p>
            <a:pPr eaLnBrk="1" hangingPunct="1"/>
            <a:r>
              <a:rPr lang="en-US" altLang="zh-CN" sz="2800" dirty="0">
                <a:solidFill>
                  <a:srgbClr val="0000FF"/>
                </a:solidFill>
              </a:rPr>
              <a:t>simple statements</a:t>
            </a:r>
            <a:r>
              <a:rPr lang="en-US" altLang="zh-CN" sz="2800" dirty="0"/>
              <a:t> </a:t>
            </a:r>
            <a:r>
              <a:rPr lang="en-US" altLang="zh-CN" sz="2800" dirty="0">
                <a:solidFill>
                  <a:srgbClr val="0000FF"/>
                </a:solidFill>
              </a:rPr>
              <a:t>(read, write, assign)</a:t>
            </a:r>
            <a:endParaRPr lang="en-US" altLang="zh-CN" sz="2800" dirty="0">
              <a:solidFill>
                <a:srgbClr val="0000FF"/>
              </a:solidFill>
            </a:endParaRPr>
          </a:p>
          <a:p>
            <a:pPr lvl="1" eaLnBrk="1" hangingPunct="1"/>
            <a:r>
              <a:rPr lang="en-US" altLang="zh-CN" sz="2400" dirty="0"/>
              <a:t>The running time is constant O(1)</a:t>
            </a:r>
            <a:endParaRPr lang="en-US" altLang="zh-CN" sz="2400" dirty="0"/>
          </a:p>
          <a:p>
            <a:pPr eaLnBrk="1" hangingPunct="1"/>
            <a:r>
              <a:rPr lang="en-US" altLang="zh-CN" sz="2800" dirty="0">
                <a:solidFill>
                  <a:srgbClr val="0000FF"/>
                </a:solidFill>
              </a:rPr>
              <a:t>simple operations (+ -  * / == &gt; &gt;= &lt; &lt;=</a:t>
            </a:r>
            <a:r>
              <a:rPr lang="en-US" altLang="zh-CN" sz="2800" dirty="0"/>
              <a:t> </a:t>
            </a:r>
            <a:r>
              <a:rPr lang="zh-CN" altLang="en-US" sz="2800" b="1" dirty="0">
                <a:solidFill>
                  <a:srgbClr val="0000FF"/>
                </a:solidFill>
              </a:rPr>
              <a:t>）</a:t>
            </a:r>
            <a:endParaRPr lang="en-US" altLang="zh-CN" sz="2800" b="1" dirty="0">
              <a:solidFill>
                <a:srgbClr val="0000FF"/>
              </a:solidFill>
            </a:endParaRPr>
          </a:p>
          <a:p>
            <a:pPr lvl="1" eaLnBrk="1" hangingPunct="1"/>
            <a:r>
              <a:rPr lang="en-US" altLang="zh-CN" sz="2400" dirty="0"/>
              <a:t>The running time is constant O(1)</a:t>
            </a:r>
            <a:endParaRPr lang="en-US" altLang="zh-CN" sz="2400" dirty="0"/>
          </a:p>
          <a:p>
            <a:pPr eaLnBrk="1" hangingPunct="1"/>
            <a:r>
              <a:rPr lang="en-US" altLang="zh-CN" sz="2800" dirty="0">
                <a:solidFill>
                  <a:srgbClr val="0000FF"/>
                </a:solidFill>
              </a:rPr>
              <a:t>sequence of simple statements/operations</a:t>
            </a:r>
            <a:endParaRPr lang="en-US" altLang="zh-CN" sz="2800" dirty="0">
              <a:solidFill>
                <a:srgbClr val="0000FF"/>
              </a:solidFill>
            </a:endParaRPr>
          </a:p>
          <a:p>
            <a:pPr lvl="1" eaLnBrk="1" hangingPunct="1"/>
            <a:r>
              <a:rPr lang="en-US" altLang="zh-CN" sz="2400" dirty="0"/>
              <a:t>the runtime is dominated by the most expensive operation</a:t>
            </a:r>
            <a:endParaRPr lang="en-US" altLang="zh-CN" sz="2400" dirty="0"/>
          </a:p>
          <a:p>
            <a:pPr eaLnBrk="1" hangingPunct="1">
              <a:spcBef>
                <a:spcPct val="0"/>
              </a:spcBef>
              <a:buFontTx/>
              <a:buChar char="–"/>
            </a:pPr>
            <a:endParaRPr lang="en-US" altLang="zh-CN" sz="2800" b="1" dirty="0"/>
          </a:p>
          <a:p>
            <a:pPr lvl="1" eaLnBrk="1" hangingPunct="1">
              <a:buNone/>
            </a:pPr>
            <a:endParaRPr lang="en-US" altLang="zh-CN" sz="2400" dirty="0">
              <a:solidFill>
                <a:srgbClr val="0000FF"/>
              </a:solidFill>
            </a:endParaRPr>
          </a:p>
          <a:p>
            <a:pPr lvl="1" eaLnBrk="1" hangingPunct="1"/>
            <a:endParaRPr lang="en-US" altLang="zh-CN" sz="2400" dirty="0">
              <a:solidFill>
                <a:srgbClr val="0000FF"/>
              </a:solidFill>
            </a:endParaRPr>
          </a:p>
          <a:p>
            <a:pPr lvl="1" eaLnBrk="1" hangingPunct="1"/>
            <a:endParaRPr lang="en-US" altLang="zh-CN" sz="2400" dirty="0">
              <a:solidFill>
                <a:srgbClr val="0000FF"/>
              </a:solidFill>
            </a:endParaRPr>
          </a:p>
          <a:p>
            <a:pPr lvl="1" eaLnBrk="1" hangingPunct="1"/>
            <a:endParaRPr lang="en-US" altLang="zh-CN" sz="2400" dirty="0"/>
          </a:p>
          <a:p>
            <a:pPr lvl="1" eaLnBrk="1" hangingPunct="1"/>
            <a:endParaRPr lang="en-US" altLang="zh-C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5298" name="内容占位符 2"/>
          <p:cNvSpPr>
            <a:spLocks noGrp="1"/>
          </p:cNvSpPr>
          <p:nvPr>
            <p:ph idx="1"/>
          </p:nvPr>
        </p:nvSpPr>
        <p:spPr>
          <a:xfrm>
            <a:off x="685800" y="533400"/>
            <a:ext cx="7696200" cy="4953000"/>
          </a:xfrm>
        </p:spPr>
        <p:txBody>
          <a:bodyPr vert="horz" wrap="square" lIns="91440" tIns="45720" rIns="91440" bIns="45720" anchor="t" anchorCtr="0"/>
          <a:p>
            <a:pPr eaLnBrk="1" hangingPunct="1"/>
            <a:r>
              <a:rPr lang="en-US" altLang="zh-CN" sz="2800" dirty="0">
                <a:solidFill>
                  <a:srgbClr val="0000FF"/>
                </a:solidFill>
              </a:rPr>
              <a:t>For, DO &amp; WHILE LOOPS</a:t>
            </a:r>
            <a:endParaRPr lang="en-US" altLang="zh-CN" sz="2800" dirty="0">
              <a:solidFill>
                <a:srgbClr val="0000FF"/>
              </a:solidFill>
            </a:endParaRPr>
          </a:p>
          <a:p>
            <a:pPr lvl="1" eaLnBrk="1" hangingPunct="1">
              <a:spcBef>
                <a:spcPct val="0"/>
              </a:spcBef>
            </a:pPr>
            <a:r>
              <a:rPr lang="en-US" altLang="zh-CN" sz="2400" dirty="0"/>
              <a:t>The running time is at most the running time of the statements inside the for loop (including tests) times the </a:t>
            </a:r>
            <a:r>
              <a:rPr lang="en-US" altLang="zh-CN" sz="2400" u="sng" dirty="0">
                <a:solidFill>
                  <a:srgbClr val="FF0000"/>
                </a:solidFill>
              </a:rPr>
              <a:t>number of iterations</a:t>
            </a:r>
            <a:r>
              <a:rPr lang="en-US" altLang="zh-CN" sz="2400" b="1" dirty="0"/>
              <a:t>.</a:t>
            </a:r>
            <a:endParaRPr lang="en-US" altLang="zh-CN" sz="2400" b="1" dirty="0"/>
          </a:p>
          <a:p>
            <a:endParaRPr lang="zh-CN" altLang="en-US" dirty="0"/>
          </a:p>
        </p:txBody>
      </p:sp>
      <p:sp>
        <p:nvSpPr>
          <p:cNvPr id="4" name="Rectangle 3"/>
          <p:cNvSpPr txBox="1">
            <a:spLocks noChangeArrowheads="1"/>
          </p:cNvSpPr>
          <p:nvPr/>
        </p:nvSpPr>
        <p:spPr bwMode="auto">
          <a:xfrm>
            <a:off x="1219200" y="3595688"/>
            <a:ext cx="6096000" cy="2805113"/>
          </a:xfrm>
          <a:prstGeom prst="rect">
            <a:avLst/>
          </a:prstGeom>
          <a:noFill/>
          <a:ln w="25400">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FF"/>
                </a:solidFill>
                <a:effectLst/>
                <a:uLnTx/>
                <a:uFillTx/>
                <a:latin typeface="+mn-lt"/>
                <a:ea typeface="+mn-ea"/>
                <a:cs typeface="+mn-cs"/>
              </a:rPr>
              <a:t>for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i</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=1;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i</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&lt;n;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i</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a:t>
            </a: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1143000" marR="0" lvl="2" indent="-2286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FF"/>
                </a:solidFill>
                <a:effectLst/>
                <a:uLnTx/>
                <a:uFillTx/>
                <a:latin typeface="+mn-lt"/>
                <a:ea typeface="+mn-ea"/>
                <a:cs typeface="+mn-cs"/>
              </a:rPr>
              <a:t>if A(</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i</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 &gt;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maxVal</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 then</a:t>
            </a: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1600200" marR="0" lvl="3" indent="-2286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FF"/>
                </a:solidFill>
                <a:effectLst/>
                <a:uLnTx/>
                <a:uFillTx/>
                <a:latin typeface="+mn-lt"/>
                <a:ea typeface="+mn-ea"/>
                <a:cs typeface="+mn-cs"/>
              </a:rPr>
              <a:t>{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maxVal</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 A(</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i</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a:t>
            </a: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1600200" marR="0" lvl="3" indent="-2286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0000FF"/>
                </a:solidFill>
                <a:effectLst/>
                <a:uLnTx/>
                <a:uFillTx/>
                <a:latin typeface="+mn-lt"/>
                <a:ea typeface="+mn-ea"/>
                <a:cs typeface="+mn-cs"/>
              </a:rPr>
              <a:t>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maxPos</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 </a:t>
            </a:r>
            <a:r>
              <a:rPr kumimoji="0" lang="en-US" altLang="zh-CN" sz="2800" b="0" i="0" u="none" strike="noStrike" kern="0" cap="none" spc="0" normalizeH="0" baseline="0" noProof="0" dirty="0" err="1">
                <a:ln>
                  <a:noFill/>
                </a:ln>
                <a:solidFill>
                  <a:srgbClr val="0000FF"/>
                </a:solidFill>
                <a:effectLst/>
                <a:uLnTx/>
                <a:uFillTx/>
                <a:latin typeface="+mn-lt"/>
                <a:ea typeface="+mn-ea"/>
                <a:cs typeface="+mn-cs"/>
              </a:rPr>
              <a:t>i</a:t>
            </a:r>
            <a:r>
              <a:rPr kumimoji="0" lang="en-US" altLang="zh-CN" sz="2800" b="0" i="0" u="none" strike="noStrike" kern="0" cap="none" spc="0" normalizeH="0" baseline="0" noProof="0" dirty="0">
                <a:ln>
                  <a:noFill/>
                </a:ln>
                <a:solidFill>
                  <a:srgbClr val="0000FF"/>
                </a:solidFill>
                <a:effectLst/>
                <a:uLnTx/>
                <a:uFillTx/>
                <a:latin typeface="+mn-lt"/>
                <a:ea typeface="+mn-ea"/>
                <a:cs typeface="+mn-cs"/>
              </a:rPr>
              <a:t>; }</a:t>
            </a: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1143000" marR="0" lvl="2" indent="-228600" algn="l" defTabSz="914400" rtl="0" eaLnBrk="1" fontAlgn="base" latinLnBrk="0" hangingPunct="1">
              <a:lnSpc>
                <a:spcPct val="10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rgbClr val="0000FF"/>
              </a:solidFill>
              <a:effectLst/>
              <a:uLnTx/>
              <a:uFillTx/>
              <a:latin typeface="+mn-lt"/>
              <a:ea typeface="+mn-ea"/>
              <a:cs typeface="+mn-cs"/>
            </a:endParaRPr>
          </a:p>
        </p:txBody>
      </p:sp>
      <p:sp>
        <p:nvSpPr>
          <p:cNvPr id="5" name="Rectangle 4"/>
          <p:cNvSpPr/>
          <p:nvPr/>
        </p:nvSpPr>
        <p:spPr>
          <a:xfrm>
            <a:off x="1219200" y="5715000"/>
            <a:ext cx="57118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800" dirty="0">
                <a:solidFill>
                  <a:schemeClr val="tx2"/>
                </a:solidFill>
              </a:rPr>
              <a:t>Asymptotic Complexity:T(n)=O(n)</a:t>
            </a:r>
            <a:endParaRPr lang="en-US" altLang="zh-CN" sz="2800" dirty="0">
              <a:solidFill>
                <a:schemeClr val="tx2"/>
              </a:solidFill>
            </a:endParaRPr>
          </a:p>
        </p:txBody>
      </p:sp>
      <p:sp>
        <p:nvSpPr>
          <p:cNvPr id="6" name="Rectangle 3"/>
          <p:cNvSpPr txBox="1">
            <a:spLocks noChangeArrowheads="1"/>
          </p:cNvSpPr>
          <p:nvPr/>
        </p:nvSpPr>
        <p:spPr bwMode="auto">
          <a:xfrm>
            <a:off x="1524000" y="2286000"/>
            <a:ext cx="6934200" cy="2514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for (</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i</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=1; </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i</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&lt;n; </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i</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   { statements</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charRg st="0" end="32"/>
                                            </p:txEl>
                                          </p:spTgt>
                                        </p:tgtEl>
                                        <p:attrNameLst>
                                          <p:attrName>style.visibility</p:attrName>
                                        </p:attrNameLst>
                                      </p:cBhvr>
                                      <p:to>
                                        <p:strVal val="visible"/>
                                      </p:to>
                                    </p:set>
                                    <p:animEffect transition="in" filter="blinds(horizontal)">
                                      <p:cBhvr>
                                        <p:cTn id="15" dur="500"/>
                                        <p:tgtEl>
                                          <p:spTgt spid="5">
                                            <p:txEl>
                                              <p:charRg st="0"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6322" name="Rectangle 3"/>
          <p:cNvSpPr>
            <a:spLocks noGrp="1"/>
          </p:cNvSpPr>
          <p:nvPr>
            <p:ph idx="1"/>
          </p:nvPr>
        </p:nvSpPr>
        <p:spPr>
          <a:xfrm>
            <a:off x="609600" y="685800"/>
            <a:ext cx="7772400" cy="5029200"/>
          </a:xfrm>
        </p:spPr>
        <p:txBody>
          <a:bodyPr vert="horz" wrap="square" lIns="91440" tIns="45720" rIns="91440" bIns="45720" anchor="t" anchorCtr="0"/>
          <a:p>
            <a:pPr eaLnBrk="1" hangingPunct="1">
              <a:lnSpc>
                <a:spcPct val="90000"/>
              </a:lnSpc>
            </a:pPr>
            <a:r>
              <a:rPr lang="en-US" altLang="zh-CN" sz="2400" b="1" dirty="0">
                <a:solidFill>
                  <a:srgbClr val="0000FF"/>
                </a:solidFill>
                <a:sym typeface="Wingdings" panose="05000000000000000000" pitchFamily="2" charset="2"/>
              </a:rPr>
              <a:t>NESTED </a:t>
            </a:r>
            <a:r>
              <a:rPr lang="en-US" altLang="zh-CN" sz="2400" b="1" dirty="0">
                <a:solidFill>
                  <a:srgbClr val="0000FF"/>
                </a:solidFill>
              </a:rPr>
              <a:t>FOR LOOPS:</a:t>
            </a:r>
            <a:endParaRPr lang="en-US" altLang="zh-CN" sz="2400" b="1" dirty="0">
              <a:solidFill>
                <a:srgbClr val="0000FF"/>
              </a:solidFill>
            </a:endParaRPr>
          </a:p>
          <a:p>
            <a:pPr lvl="1" eaLnBrk="1" hangingPunct="1">
              <a:lnSpc>
                <a:spcPct val="90000"/>
              </a:lnSpc>
            </a:pPr>
            <a:r>
              <a:rPr lang="en-US" altLang="zh-CN" sz="2400" dirty="0"/>
              <a:t>The total running time of statements inside a group of nested loops is the running time of the </a:t>
            </a:r>
            <a:r>
              <a:rPr lang="en-US" altLang="zh-CN" sz="2400" dirty="0">
                <a:solidFill>
                  <a:srgbClr val="0000FF"/>
                </a:solidFill>
              </a:rPr>
              <a:t>statements </a:t>
            </a:r>
            <a:r>
              <a:rPr lang="en-US" altLang="zh-CN" sz="2400" dirty="0">
                <a:solidFill>
                  <a:schemeClr val="tx2"/>
                </a:solidFill>
              </a:rPr>
              <a:t>multiplied</a:t>
            </a:r>
            <a:r>
              <a:rPr lang="en-US" altLang="zh-CN" sz="2400" dirty="0"/>
              <a:t> by the </a:t>
            </a:r>
            <a:r>
              <a:rPr lang="en-US" altLang="zh-CN" sz="2400" dirty="0">
                <a:solidFill>
                  <a:schemeClr val="tx2"/>
                </a:solidFill>
              </a:rPr>
              <a:t>product</a:t>
            </a:r>
            <a:r>
              <a:rPr lang="en-US" altLang="zh-CN" sz="2400" dirty="0">
                <a:solidFill>
                  <a:schemeClr val="hlink"/>
                </a:solidFill>
              </a:rPr>
              <a:t> </a:t>
            </a:r>
            <a:r>
              <a:rPr lang="en-US" altLang="zh-CN" sz="2400" dirty="0">
                <a:solidFill>
                  <a:srgbClr val="0000FF"/>
                </a:solidFill>
              </a:rPr>
              <a:t>of the sizes of all the for loops</a:t>
            </a:r>
            <a:r>
              <a:rPr lang="en-US" altLang="zh-CN" sz="2400" dirty="0"/>
              <a:t>.</a:t>
            </a:r>
            <a:endParaRPr lang="en-US" altLang="zh-CN" sz="2400" dirty="0"/>
          </a:p>
          <a:p>
            <a:pPr lvl="1" eaLnBrk="1" hangingPunct="1">
              <a:lnSpc>
                <a:spcPct val="90000"/>
              </a:lnSpc>
            </a:pPr>
            <a:endParaRPr lang="en-US" altLang="zh-CN" sz="2000" dirty="0"/>
          </a:p>
        </p:txBody>
      </p:sp>
      <p:sp>
        <p:nvSpPr>
          <p:cNvPr id="3" name="Rectangle 3"/>
          <p:cNvSpPr txBox="1">
            <a:spLocks noChangeArrowheads="1"/>
          </p:cNvSpPr>
          <p:nvPr/>
        </p:nvSpPr>
        <p:spPr bwMode="auto">
          <a:xfrm>
            <a:off x="1295400" y="2819400"/>
            <a:ext cx="6934200" cy="2514600"/>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for (</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i</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=1; </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i</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&lt;n; </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i</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     for(j=1;j&lt;</a:t>
            </a:r>
            <a:r>
              <a:rPr kumimoji="0" lang="en-US" altLang="zh-CN" sz="2800" b="0" i="0" u="none" strike="noStrike" kern="0" cap="none" spc="0" normalizeH="0" baseline="0" noProof="0" dirty="0" err="1">
                <a:ln>
                  <a:noFill/>
                </a:ln>
                <a:solidFill>
                  <a:schemeClr val="tx1"/>
                </a:solidFill>
                <a:effectLst/>
                <a:uLnTx/>
                <a:uFillTx/>
                <a:latin typeface="+mn-lt"/>
                <a:ea typeface="+mn-ea"/>
                <a:cs typeface="+mn-cs"/>
              </a:rPr>
              <a:t>n;j</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tx1"/>
                </a:solidFill>
                <a:effectLst/>
                <a:uLnTx/>
                <a:uFillTx/>
                <a:latin typeface="+mn-lt"/>
                <a:ea typeface="+mn-ea"/>
                <a:cs typeface="+mn-cs"/>
              </a:rPr>
              <a:t>      { statements</a:t>
            </a:r>
            <a:r>
              <a:rPr kumimoji="0" lang="zh-CN" altLang="en-US" sz="2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内容占位符 2"/>
          <p:cNvSpPr>
            <a:spLocks noGrp="1"/>
          </p:cNvSpPr>
          <p:nvPr>
            <p:ph idx="1"/>
          </p:nvPr>
        </p:nvSpPr>
        <p:spPr>
          <a:xfrm>
            <a:off x="381000" y="457200"/>
            <a:ext cx="8001000" cy="609600"/>
          </a:xfrm>
        </p:spPr>
        <p:txBody>
          <a:bodyPr vert="horz" wrap="square" lIns="91440" tIns="45720" rIns="91440" bIns="45720" anchor="t" anchorCtr="0"/>
          <a:p>
            <a:r>
              <a:rPr lang="en-US" altLang="zh-CN" dirty="0"/>
              <a:t>Example:</a:t>
            </a:r>
            <a:endParaRPr lang="zh-CN" altLang="en-US" dirty="0"/>
          </a:p>
        </p:txBody>
      </p:sp>
      <p:sp>
        <p:nvSpPr>
          <p:cNvPr id="5" name="文本框 4"/>
          <p:cNvSpPr txBox="1"/>
          <p:nvPr/>
        </p:nvSpPr>
        <p:spPr>
          <a:xfrm>
            <a:off x="685800" y="1447800"/>
            <a:ext cx="2286000" cy="175418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for (i=1;i&lt;n;i++){</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for (j=1;j&lt;=i;j++){</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for(k=1;k&lt;=j;k++)</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x++;</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a:t>
            </a:r>
            <a:endParaRPr lang="zh-CN" altLang="en-US" sz="1800" dirty="0">
              <a:latin typeface="Times New Roman" panose="02020603050405020304" pitchFamily="18" charset="0"/>
            </a:endParaRPr>
          </a:p>
        </p:txBody>
      </p:sp>
      <p:sp>
        <p:nvSpPr>
          <p:cNvPr id="6" name="文本框 5"/>
          <p:cNvSpPr txBox="1"/>
          <p:nvPr/>
        </p:nvSpPr>
        <p:spPr>
          <a:xfrm>
            <a:off x="3657600" y="1600200"/>
            <a:ext cx="2590800" cy="120015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int y=5;</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while((y+1)*(y+1)&lt;n)</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y++;</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a:t>
            </a:r>
            <a:endParaRPr lang="zh-CN" altLang="en-US" sz="1800" dirty="0">
              <a:latin typeface="Times New Roman" panose="02020603050405020304" pitchFamily="18" charset="0"/>
            </a:endParaRPr>
          </a:p>
        </p:txBody>
      </p:sp>
      <p:sp>
        <p:nvSpPr>
          <p:cNvPr id="7" name="文本框 6"/>
          <p:cNvSpPr txBox="1"/>
          <p:nvPr/>
        </p:nvSpPr>
        <p:spPr>
          <a:xfrm>
            <a:off x="685800" y="3810000"/>
            <a:ext cx="2286000" cy="286226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void fun(int n)</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int i=0,s=0;</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while(s&lt;n)</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++i;</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s=s+i;</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a:t>
            </a:r>
            <a:endParaRPr lang="en-US" altLang="zh-CN" sz="1800" dirty="0">
              <a:latin typeface="Times New Roman" panose="02020603050405020304" pitchFamily="18" charset="0"/>
            </a:endParaRPr>
          </a:p>
          <a:p>
            <a:pPr marL="0" lvl="0" indent="0" eaLnBrk="1" hangingPunct="1">
              <a:spcBef>
                <a:spcPct val="0"/>
              </a:spcBef>
              <a:buNone/>
            </a:pPr>
            <a:endParaRPr lang="zh-CN" altLang="en-US" sz="1800" dirty="0">
              <a:latin typeface="Times New Roman" panose="02020603050405020304" pitchFamily="18" charset="0"/>
            </a:endParaRPr>
          </a:p>
        </p:txBody>
      </p:sp>
      <p:sp>
        <p:nvSpPr>
          <p:cNvPr id="8" name="Rectangle 3"/>
          <p:cNvSpPr txBox="1">
            <a:spLocks noChangeArrowheads="1"/>
          </p:cNvSpPr>
          <p:nvPr/>
        </p:nvSpPr>
        <p:spPr bwMode="auto">
          <a:xfrm>
            <a:off x="3657600" y="3521075"/>
            <a:ext cx="4038600" cy="3151188"/>
          </a:xfrm>
          <a:prstGeom prst="rect">
            <a:avLst/>
          </a:prstGeom>
          <a:noFill/>
          <a:ln w="9525">
            <a:solidFill>
              <a:schemeClr val="tx1"/>
            </a:solidFill>
            <a:miter lim="800000"/>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for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=1;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&lt;</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n;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143000" marR="0" lvl="2"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for (j=n; j&gt;=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  j--)</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if (A[j-1] &gt; A[j]) then</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057400" marR="0" lvl="4"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temp = A[j-1];</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057400" marR="0" lvl="4"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A[j-1] = A[j];</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2057400" marR="0" lvl="4"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A[j] =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tmp</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600200" marR="0" lvl="3"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endif</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1143000" marR="0" lvl="2" indent="-22860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endfor</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endfor</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2"/>
          <p:cNvSpPr>
            <a:spLocks noGrp="1"/>
          </p:cNvSpPr>
          <p:nvPr>
            <p:ph idx="1"/>
          </p:nvPr>
        </p:nvSpPr>
        <p:spPr>
          <a:xfrm>
            <a:off x="381000" y="457200"/>
            <a:ext cx="8001000" cy="609600"/>
          </a:xfrm>
        </p:spPr>
        <p:txBody>
          <a:bodyPr vert="horz" wrap="square" lIns="91440" tIns="45720" rIns="91440" bIns="45720" anchor="t" anchorCtr="0"/>
          <a:p>
            <a:r>
              <a:rPr lang="en-US" altLang="zh-CN" dirty="0"/>
              <a:t>Example:</a:t>
            </a:r>
            <a:endParaRPr lang="zh-CN" altLang="en-US" dirty="0"/>
          </a:p>
        </p:txBody>
      </p:sp>
      <p:sp>
        <p:nvSpPr>
          <p:cNvPr id="7" name="文本框 6"/>
          <p:cNvSpPr txBox="1"/>
          <p:nvPr/>
        </p:nvSpPr>
        <p:spPr>
          <a:xfrm>
            <a:off x="706438" y="1600200"/>
            <a:ext cx="6553200" cy="31400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int Fun (int n)</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count=0; x=2;</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while (x&lt;n/2) {</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x*=2;</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count++;</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     return count;</a:t>
            </a:r>
            <a:endParaRPr lang="en-US" altLang="zh-CN" sz="1800" dirty="0">
              <a:latin typeface="Times New Roman" panose="02020603050405020304" pitchFamily="18" charset="0"/>
            </a:endParaRPr>
          </a:p>
          <a:p>
            <a:pPr marL="0" lvl="0" indent="0" eaLnBrk="1" hangingPunct="1">
              <a:spcBef>
                <a:spcPct val="0"/>
              </a:spcBef>
              <a:buNone/>
            </a:pPr>
            <a:r>
              <a:rPr lang="en-US" altLang="zh-CN" sz="1800" dirty="0">
                <a:latin typeface="Times New Roman" panose="02020603050405020304" pitchFamily="18" charset="0"/>
              </a:rPr>
              <a:t>}</a:t>
            </a:r>
            <a:endParaRPr lang="en-US" altLang="zh-CN" sz="1800" dirty="0">
              <a:latin typeface="Times New Roman" panose="02020603050405020304" pitchFamily="18" charset="0"/>
            </a:endParaRPr>
          </a:p>
          <a:p>
            <a:pPr marL="0" lvl="0" indent="0" eaLnBrk="1" hangingPunct="1">
              <a:spcBef>
                <a:spcPct val="0"/>
              </a:spcBef>
              <a:buNone/>
            </a:pPr>
            <a:endParaRPr lang="en-US" altLang="zh-CN" sz="1800" dirty="0">
              <a:latin typeface="Times New Roman" panose="02020603050405020304" pitchFamily="18" charset="0"/>
            </a:endParaRPr>
          </a:p>
          <a:p>
            <a:pPr marL="0" lvl="0" indent="0" eaLnBrk="1" hangingPunct="1">
              <a:spcBef>
                <a:spcPct val="0"/>
              </a:spcBef>
              <a:buNone/>
            </a:pPr>
            <a:endParaRPr lang="en-US" altLang="zh-CN" sz="1800" dirty="0">
              <a:latin typeface="Times New Roman" panose="02020603050405020304" pitchFamily="18" charset="0"/>
            </a:endParaRPr>
          </a:p>
        </p:txBody>
      </p:sp>
      <p:sp>
        <p:nvSpPr>
          <p:cNvPr id="6" name="文本框 5"/>
          <p:cNvSpPr txBox="1"/>
          <p:nvPr/>
        </p:nvSpPr>
        <p:spPr>
          <a:xfrm>
            <a:off x="838200" y="4267200"/>
            <a:ext cx="45720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dirty="0">
                <a:latin typeface="Times New Roman" panose="02020603050405020304" pitchFamily="18" charset="0"/>
              </a:rPr>
              <a:t>If x=10?</a:t>
            </a:r>
            <a:endParaRPr lang="zh-CN" altLang="en-US" sz="1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2"/>
          <p:cNvSpPr>
            <a:spLocks noGrp="1"/>
          </p:cNvSpPr>
          <p:nvPr>
            <p:ph idx="1"/>
          </p:nvPr>
        </p:nvSpPr>
        <p:spPr>
          <a:xfrm>
            <a:off x="533400" y="381000"/>
            <a:ext cx="7696200" cy="6248400"/>
          </a:xfrm>
        </p:spPr>
        <p:txBody>
          <a:bodyPr vert="horz" wrap="square" lIns="91440" tIns="45720" rIns="91440" bIns="45720" anchor="t" anchorCtr="0"/>
          <a:p>
            <a:pPr eaLnBrk="1" hangingPunct="1">
              <a:lnSpc>
                <a:spcPct val="90000"/>
              </a:lnSpc>
            </a:pPr>
            <a:r>
              <a:rPr lang="en-US" altLang="zh-CN" sz="2800" b="1" dirty="0">
                <a:solidFill>
                  <a:srgbClr val="0000FF"/>
                </a:solidFill>
                <a:sym typeface="Wingdings" panose="05000000000000000000" pitchFamily="2" charset="2"/>
              </a:rPr>
              <a:t>IF / ELSE</a:t>
            </a:r>
            <a:r>
              <a:rPr lang="en-US" altLang="zh-CN" sz="2800" b="1" dirty="0">
                <a:solidFill>
                  <a:srgbClr val="0000FF"/>
                </a:solidFill>
              </a:rPr>
              <a:t>: </a:t>
            </a:r>
            <a:endParaRPr lang="en-US" altLang="zh-CN" sz="2800" b="1" dirty="0">
              <a:solidFill>
                <a:srgbClr val="0000FF"/>
              </a:solidFill>
            </a:endParaRPr>
          </a:p>
          <a:p>
            <a:pPr eaLnBrk="1" hangingPunct="1">
              <a:lnSpc>
                <a:spcPct val="90000"/>
              </a:lnSpc>
              <a:buNone/>
            </a:pPr>
            <a:r>
              <a:rPr lang="en-US" altLang="zh-CN" sz="2000" dirty="0"/>
              <a:t>         For the fragment</a:t>
            </a:r>
            <a:endParaRPr lang="en-US" altLang="zh-CN" sz="2000" dirty="0"/>
          </a:p>
          <a:p>
            <a:pPr eaLnBrk="1" hangingPunct="1">
              <a:lnSpc>
                <a:spcPct val="90000"/>
              </a:lnSpc>
              <a:buNone/>
            </a:pPr>
            <a:r>
              <a:rPr lang="en-US" altLang="zh-CN" sz="2800" b="1" dirty="0"/>
              <a:t>		</a:t>
            </a:r>
            <a:r>
              <a:rPr lang="en-US" altLang="zh-CN" sz="2000" dirty="0"/>
              <a:t>if ( Condition )       O(1)</a:t>
            </a:r>
            <a:endParaRPr lang="en-US" altLang="zh-CN" sz="2000" dirty="0"/>
          </a:p>
          <a:p>
            <a:pPr eaLnBrk="1" hangingPunct="1">
              <a:lnSpc>
                <a:spcPct val="90000"/>
              </a:lnSpc>
              <a:buNone/>
            </a:pPr>
            <a:r>
              <a:rPr lang="en-US" altLang="zh-CN" sz="2000" dirty="0"/>
              <a:t>                     S1;                T</a:t>
            </a:r>
            <a:r>
              <a:rPr lang="en-US" altLang="zh-CN" sz="2000" baseline="-25000" dirty="0"/>
              <a:t>1</a:t>
            </a:r>
            <a:r>
              <a:rPr lang="en-US" altLang="zh-CN" sz="2000" dirty="0"/>
              <a:t>(n)</a:t>
            </a:r>
            <a:endParaRPr lang="en-US" altLang="zh-CN" sz="2000" dirty="0"/>
          </a:p>
          <a:p>
            <a:pPr eaLnBrk="1" hangingPunct="1">
              <a:lnSpc>
                <a:spcPct val="90000"/>
              </a:lnSpc>
              <a:buNone/>
            </a:pPr>
            <a:r>
              <a:rPr lang="en-US" altLang="zh-CN" sz="2000" dirty="0"/>
              <a:t>		else   S2;               T</a:t>
            </a:r>
            <a:r>
              <a:rPr lang="en-US" altLang="zh-CN" sz="2000" baseline="-25000" dirty="0"/>
              <a:t>2</a:t>
            </a:r>
            <a:r>
              <a:rPr lang="en-US" altLang="zh-CN" sz="2000" dirty="0"/>
              <a:t>(n)</a:t>
            </a:r>
            <a:endParaRPr lang="en-US" altLang="zh-CN" sz="2000" dirty="0"/>
          </a:p>
          <a:p>
            <a:pPr lvl="1" eaLnBrk="1" hangingPunct="1">
              <a:lnSpc>
                <a:spcPct val="90000"/>
              </a:lnSpc>
            </a:pPr>
            <a:r>
              <a:rPr lang="en-US" altLang="zh-CN" sz="2000" dirty="0"/>
              <a:t>the running time is never more than the running time of </a:t>
            </a:r>
            <a:r>
              <a:rPr lang="en-US" altLang="zh-CN" sz="2000" dirty="0">
                <a:solidFill>
                  <a:srgbClr val="0000FF"/>
                </a:solidFill>
              </a:rPr>
              <a:t>the test </a:t>
            </a:r>
            <a:r>
              <a:rPr lang="en-US" altLang="zh-CN" sz="2000" dirty="0">
                <a:solidFill>
                  <a:srgbClr val="0000FF"/>
                </a:solidFill>
                <a:cs typeface="+mn-ea"/>
              </a:rPr>
              <a:t>plus </a:t>
            </a:r>
            <a:r>
              <a:rPr lang="en-US" altLang="zh-CN" sz="2000" dirty="0">
                <a:solidFill>
                  <a:srgbClr val="0000FF"/>
                </a:solidFill>
              </a:rPr>
              <a:t>the larger </a:t>
            </a:r>
            <a:r>
              <a:rPr lang="en-US" altLang="zh-CN" sz="2000" dirty="0"/>
              <a:t>of the running time of S1 and S2.</a:t>
            </a:r>
            <a:endParaRPr lang="en-US" altLang="zh-CN" sz="2000" dirty="0"/>
          </a:p>
          <a:p>
            <a:pPr lvl="1" eaLnBrk="1" hangingPunct="1">
              <a:lnSpc>
                <a:spcPct val="90000"/>
              </a:lnSpc>
            </a:pPr>
            <a:r>
              <a:rPr lang="en-US" altLang="zh-CN" sz="2000" dirty="0"/>
              <a:t>T(n)=O(max(T</a:t>
            </a:r>
            <a:r>
              <a:rPr lang="en-US" altLang="zh-CN" sz="2000" baseline="-25000" dirty="0"/>
              <a:t>1</a:t>
            </a:r>
            <a:r>
              <a:rPr lang="en-US" altLang="zh-CN" sz="2000" dirty="0"/>
              <a:t>(n),T</a:t>
            </a:r>
            <a:r>
              <a:rPr lang="en-US" altLang="zh-CN" sz="2000" baseline="-25000" dirty="0"/>
              <a:t>2</a:t>
            </a:r>
            <a:r>
              <a:rPr lang="en-US" altLang="zh-CN" sz="2000" dirty="0"/>
              <a:t>(n))</a:t>
            </a:r>
            <a:endParaRPr lang="en-US" altLang="zh-CN" sz="2000" dirty="0"/>
          </a:p>
          <a:p>
            <a:pPr lvl="1" eaLnBrk="1" hangingPunct="1">
              <a:lnSpc>
                <a:spcPct val="90000"/>
              </a:lnSpc>
            </a:pPr>
            <a:endParaRPr lang="en-US" altLang="zh-CN" sz="1800" dirty="0"/>
          </a:p>
          <a:p>
            <a:pPr eaLnBrk="1" hangingPunct="1"/>
            <a:r>
              <a:rPr lang="en-US" altLang="zh-CN" dirty="0">
                <a:solidFill>
                  <a:srgbClr val="0000FF"/>
                </a:solidFill>
              </a:rPr>
              <a:t>Method calls</a:t>
            </a:r>
            <a:endParaRPr lang="en-US" altLang="zh-CN" dirty="0">
              <a:solidFill>
                <a:srgbClr val="0000FF"/>
              </a:solidFill>
            </a:endParaRPr>
          </a:p>
          <a:p>
            <a:pPr lvl="1" eaLnBrk="1" hangingPunct="1">
              <a:buNone/>
            </a:pPr>
            <a:r>
              <a:rPr lang="en-US" altLang="zh-CN" sz="2000" dirty="0"/>
              <a:t>      A calls B</a:t>
            </a:r>
            <a:endParaRPr lang="en-US" altLang="zh-CN" sz="2000" dirty="0"/>
          </a:p>
          <a:p>
            <a:pPr lvl="1" eaLnBrk="1" hangingPunct="1">
              <a:buNone/>
            </a:pPr>
            <a:r>
              <a:rPr lang="en-US" altLang="zh-CN" sz="2000" dirty="0"/>
              <a:t>          B calls C</a:t>
            </a:r>
            <a:endParaRPr lang="en-US" altLang="zh-CN" sz="2000" dirty="0"/>
          </a:p>
          <a:p>
            <a:pPr lvl="1" eaLnBrk="1" hangingPunct="1">
              <a:buNone/>
            </a:pPr>
            <a:r>
              <a:rPr lang="en-US" altLang="zh-CN" sz="2000" dirty="0"/>
              <a:t>etc.</a:t>
            </a:r>
            <a:endParaRPr lang="en-US" altLang="zh-CN" sz="2000" dirty="0"/>
          </a:p>
          <a:p>
            <a:pPr lvl="1" eaLnBrk="1" hangingPunct="1"/>
            <a:r>
              <a:rPr lang="en-US" altLang="zh-CN" sz="2000" dirty="0"/>
              <a:t>  A sequence of operations when call sequences are flattened</a:t>
            </a:r>
            <a:endParaRPr lang="en-US" altLang="zh-CN" sz="2000" dirty="0"/>
          </a:p>
          <a:p>
            <a:pPr lvl="1" eaLnBrk="1" hangingPunct="1">
              <a:buNone/>
            </a:pPr>
            <a:r>
              <a:rPr lang="en-US" altLang="zh-CN" sz="2000" i="1" dirty="0"/>
              <a:t>      </a:t>
            </a:r>
            <a:r>
              <a:rPr lang="en-US" altLang="zh-CN" sz="2000" dirty="0"/>
              <a:t>T(n) = max(T</a:t>
            </a:r>
            <a:r>
              <a:rPr lang="en-US" altLang="zh-CN" sz="2000" baseline="-25000" dirty="0"/>
              <a:t>A</a:t>
            </a:r>
            <a:r>
              <a:rPr lang="en-US" altLang="zh-CN" sz="2000" dirty="0"/>
              <a:t>(n), T</a:t>
            </a:r>
            <a:r>
              <a:rPr lang="en-US" altLang="zh-CN" sz="2000" baseline="-25000" dirty="0"/>
              <a:t>B</a:t>
            </a:r>
            <a:r>
              <a:rPr lang="en-US" altLang="zh-CN" sz="2000" dirty="0"/>
              <a:t>(n), T</a:t>
            </a:r>
            <a:r>
              <a:rPr lang="en-US" altLang="zh-CN" sz="2000" baseline="-25000" dirty="0"/>
              <a:t>C</a:t>
            </a:r>
            <a:r>
              <a:rPr lang="en-US" altLang="zh-CN" sz="2000" dirty="0"/>
              <a:t>(n))</a:t>
            </a:r>
            <a:endParaRPr lang="en-US" altLang="zh-CN" sz="2000" dirty="0"/>
          </a:p>
          <a:p>
            <a:pPr eaLnBrk="1" hangingPunct="1">
              <a:lnSpc>
                <a:spcPct val="90000"/>
              </a:lnSpc>
            </a:pPr>
            <a:endParaRPr lang="en-US" altLang="zh-CN" sz="2200"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4">
                                            <p:txEl>
                                              <p:charRg st="147" end="262"/>
                                            </p:txEl>
                                          </p:spTgt>
                                        </p:tgtEl>
                                        <p:attrNameLst>
                                          <p:attrName>style.visibility</p:attrName>
                                        </p:attrNameLst>
                                      </p:cBhvr>
                                      <p:to>
                                        <p:strVal val="visible"/>
                                      </p:to>
                                    </p:set>
                                    <p:animEffect transition="in" filter="blinds(horizontal)">
                                      <p:cBhvr>
                                        <p:cTn id="7" dur="500"/>
                                        <p:tgtEl>
                                          <p:spTgt spid="38914">
                                            <p:txEl>
                                              <p:charRg st="147" end="2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8914">
                                            <p:txEl>
                                              <p:charRg st="262" end="286"/>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8914">
                                            <p:txEl>
                                              <p:charRg st="287" end="300"/>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8914">
                                            <p:txEl>
                                              <p:charRg st="300" end="316"/>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8914">
                                            <p:txEl>
                                              <p:charRg st="316" end="336"/>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8914">
                                            <p:txEl>
                                              <p:charRg st="336" end="34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8914">
                                            <p:txEl>
                                              <p:charRg st="341" end="402"/>
                                            </p:txEl>
                                          </p:spTgt>
                                        </p:tgtEl>
                                        <p:attrNameLst>
                                          <p:attrName>style.visibility</p:attrName>
                                        </p:attrNameLst>
                                      </p:cBhvr>
                                      <p:to>
                                        <p:strVal val="visible"/>
                                      </p:to>
                                    </p:set>
                                    <p:animEffect transition="in" filter="blinds(horizontal)">
                                      <p:cBhvr>
                                        <p:cTn id="26" dur="500"/>
                                        <p:tgtEl>
                                          <p:spTgt spid="38914">
                                            <p:txEl>
                                              <p:charRg st="341" end="40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14">
                                            <p:txEl>
                                              <p:charRg st="402" end="4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0418" name="Rectangle 2"/>
          <p:cNvSpPr>
            <a:spLocks noGrp="1"/>
          </p:cNvSpPr>
          <p:nvPr>
            <p:ph type="title"/>
          </p:nvPr>
        </p:nvSpPr>
        <p:spPr>
          <a:xfrm>
            <a:off x="685800" y="-228600"/>
            <a:ext cx="6870700" cy="1600200"/>
          </a:xfrm>
        </p:spPr>
        <p:txBody>
          <a:bodyPr vert="horz" wrap="square" lIns="91440" tIns="45720" rIns="91440" bIns="45720" anchor="b" anchorCtr="0"/>
          <a:p>
            <a:pPr eaLnBrk="1" hangingPunct="1"/>
            <a:r>
              <a:rPr lang="en-US" altLang="zh-CN" dirty="0"/>
              <a:t>Example: Factorial</a:t>
            </a:r>
            <a:endParaRPr lang="en-US" altLang="zh-CN" dirty="0"/>
          </a:p>
        </p:txBody>
      </p:sp>
      <p:sp>
        <p:nvSpPr>
          <p:cNvPr id="44035" name="Rectangle 3"/>
          <p:cNvSpPr>
            <a:spLocks noGrp="1"/>
          </p:cNvSpPr>
          <p:nvPr>
            <p:ph idx="1"/>
          </p:nvPr>
        </p:nvSpPr>
        <p:spPr>
          <a:xfrm>
            <a:off x="685800" y="1905000"/>
            <a:ext cx="7696200" cy="3657600"/>
          </a:xfrm>
        </p:spPr>
        <p:txBody>
          <a:bodyPr vert="horz" wrap="square" lIns="91440" tIns="45720" rIns="91440" bIns="45720" anchor="t" anchorCtr="0"/>
          <a:p>
            <a:pPr eaLnBrk="1" hangingPunct="1">
              <a:lnSpc>
                <a:spcPct val="90000"/>
              </a:lnSpc>
              <a:buNone/>
            </a:pPr>
            <a:r>
              <a:rPr lang="en-US" altLang="zh-CN" sz="2800" dirty="0"/>
              <a:t>int factorial1(int n) {</a:t>
            </a:r>
            <a:endParaRPr lang="en-US" altLang="zh-CN" sz="2800" dirty="0"/>
          </a:p>
          <a:p>
            <a:pPr eaLnBrk="1" hangingPunct="1">
              <a:lnSpc>
                <a:spcPct val="90000"/>
              </a:lnSpc>
              <a:buNone/>
            </a:pPr>
            <a:r>
              <a:rPr lang="en-US" altLang="zh-CN" sz="2800" dirty="0"/>
              <a:t>   </a:t>
            </a:r>
            <a:r>
              <a:rPr lang="en-US" altLang="zh-CN" sz="2800" dirty="0">
                <a:solidFill>
                  <a:srgbClr val="FF0000"/>
                </a:solidFill>
              </a:rPr>
              <a:t>if</a:t>
            </a:r>
            <a:r>
              <a:rPr lang="en-US" altLang="zh-CN" sz="2800" dirty="0"/>
              <a:t> (n&lt;=1)  </a:t>
            </a:r>
            <a:r>
              <a:rPr lang="en-US" altLang="zh-CN" sz="2800" dirty="0">
                <a:solidFill>
                  <a:srgbClr val="0000FF"/>
                </a:solidFill>
              </a:rPr>
              <a:t>return 1;</a:t>
            </a:r>
            <a:endParaRPr lang="en-US" altLang="zh-CN" sz="2800" dirty="0">
              <a:solidFill>
                <a:srgbClr val="0000FF"/>
              </a:solidFill>
            </a:endParaRPr>
          </a:p>
          <a:p>
            <a:pPr eaLnBrk="1" hangingPunct="1">
              <a:lnSpc>
                <a:spcPct val="90000"/>
              </a:lnSpc>
              <a:buNone/>
            </a:pPr>
            <a:r>
              <a:rPr lang="en-US" altLang="zh-CN" sz="2800" dirty="0"/>
              <a:t>   </a:t>
            </a:r>
            <a:r>
              <a:rPr lang="en-US" altLang="zh-CN" sz="2800" dirty="0">
                <a:solidFill>
                  <a:srgbClr val="FF0000"/>
                </a:solidFill>
              </a:rPr>
              <a:t>else</a:t>
            </a:r>
            <a:r>
              <a:rPr lang="en-US" altLang="zh-CN" sz="2800" dirty="0"/>
              <a:t> {</a:t>
            </a:r>
            <a:endParaRPr lang="en-US" altLang="zh-CN" sz="2800" dirty="0"/>
          </a:p>
          <a:p>
            <a:pPr eaLnBrk="1" hangingPunct="1">
              <a:lnSpc>
                <a:spcPct val="90000"/>
              </a:lnSpc>
              <a:buNone/>
            </a:pPr>
            <a:r>
              <a:rPr lang="en-US" altLang="zh-CN" sz="2800" dirty="0"/>
              <a:t>     </a:t>
            </a:r>
            <a:r>
              <a:rPr lang="en-US" altLang="zh-CN" sz="2800" dirty="0">
                <a:solidFill>
                  <a:srgbClr val="0000FF"/>
                </a:solidFill>
              </a:rPr>
              <a:t>fact = 1;</a:t>
            </a:r>
            <a:endParaRPr lang="en-US" altLang="zh-CN" sz="2800" dirty="0">
              <a:solidFill>
                <a:srgbClr val="0000FF"/>
              </a:solidFill>
            </a:endParaRPr>
          </a:p>
          <a:p>
            <a:pPr eaLnBrk="1" hangingPunct="1">
              <a:lnSpc>
                <a:spcPct val="90000"/>
              </a:lnSpc>
              <a:buNone/>
            </a:pPr>
            <a:r>
              <a:rPr lang="en-US" altLang="zh-CN" sz="2800" dirty="0">
                <a:solidFill>
                  <a:srgbClr val="0000FF"/>
                </a:solidFill>
              </a:rPr>
              <a:t>     for (k=2;k&lt;=n;k++) </a:t>
            </a:r>
            <a:endParaRPr lang="en-US" altLang="zh-CN" sz="2800" dirty="0">
              <a:solidFill>
                <a:srgbClr val="0000FF"/>
              </a:solidFill>
            </a:endParaRPr>
          </a:p>
          <a:p>
            <a:pPr eaLnBrk="1" hangingPunct="1">
              <a:lnSpc>
                <a:spcPct val="90000"/>
              </a:lnSpc>
              <a:buNone/>
            </a:pPr>
            <a:r>
              <a:rPr lang="en-US" altLang="zh-CN" sz="2800" dirty="0">
                <a:solidFill>
                  <a:srgbClr val="0000FF"/>
                </a:solidFill>
              </a:rPr>
              <a:t>         fact *= k;</a:t>
            </a:r>
            <a:endParaRPr lang="en-US" altLang="zh-CN" sz="2800" dirty="0">
              <a:solidFill>
                <a:srgbClr val="0000FF"/>
              </a:solidFill>
            </a:endParaRPr>
          </a:p>
          <a:p>
            <a:pPr eaLnBrk="1" hangingPunct="1">
              <a:lnSpc>
                <a:spcPct val="90000"/>
              </a:lnSpc>
              <a:buNone/>
            </a:pPr>
            <a:r>
              <a:rPr lang="en-US" altLang="zh-CN" sz="2800" dirty="0">
                <a:solidFill>
                  <a:srgbClr val="0000FF"/>
                </a:solidFill>
              </a:rPr>
              <a:t>     return fact;</a:t>
            </a:r>
            <a:endParaRPr lang="en-US" altLang="zh-CN" sz="2800" dirty="0">
              <a:solidFill>
                <a:srgbClr val="0000FF"/>
              </a:solidFill>
            </a:endParaRPr>
          </a:p>
          <a:p>
            <a:pPr eaLnBrk="1" hangingPunct="1">
              <a:lnSpc>
                <a:spcPct val="90000"/>
              </a:lnSpc>
              <a:buNone/>
            </a:pPr>
            <a:r>
              <a:rPr lang="en-US" altLang="zh-CN" sz="2800" dirty="0"/>
              <a:t>   }</a:t>
            </a:r>
            <a:endParaRPr lang="en-US" altLang="zh-CN" sz="2800" dirty="0"/>
          </a:p>
          <a:p>
            <a:pPr eaLnBrk="1" hangingPunct="1">
              <a:lnSpc>
                <a:spcPct val="90000"/>
              </a:lnSpc>
              <a:buNone/>
            </a:pPr>
            <a:r>
              <a:rPr lang="en-US" altLang="zh-CN" sz="2800" dirty="0"/>
              <a:t>}</a:t>
            </a:r>
            <a:endParaRPr lang="en-US" altLang="zh-CN" sz="2800" dirty="0"/>
          </a:p>
          <a:p>
            <a:pPr eaLnBrk="1" hangingPunct="1">
              <a:lnSpc>
                <a:spcPct val="90000"/>
              </a:lnSpc>
            </a:pPr>
            <a:r>
              <a:rPr lang="en-US" altLang="zh-CN" dirty="0">
                <a:solidFill>
                  <a:schemeClr val="tx2"/>
                </a:solidFill>
              </a:rPr>
              <a:t>O(n).</a:t>
            </a:r>
            <a:endParaRPr lang="en-US" altLang="zh-CN" dirty="0">
              <a:solidFill>
                <a:schemeClr val="tx2"/>
              </a:solidFill>
            </a:endParaRPr>
          </a:p>
          <a:p>
            <a:pPr eaLnBrk="1" hangingPunct="1">
              <a:lnSpc>
                <a:spcPct val="90000"/>
              </a:lnSpc>
              <a:buFont typeface="Wingdings" panose="05000000000000000000" pitchFamily="2" charset="2"/>
              <a:buNone/>
            </a:pPr>
            <a:endParaRPr lang="en-US" altLang="zh-CN" dirty="0">
              <a:solidFill>
                <a:schemeClr val="tx2"/>
              </a:solidFill>
            </a:endParaRPr>
          </a:p>
          <a:p>
            <a:pPr eaLnBrk="1" hangingPunct="1">
              <a:lnSpc>
                <a:spcPct val="90000"/>
              </a:lnSpc>
            </a:pPr>
            <a:endParaRPr lang="en-US" altLang="zh-CN" sz="3600" dirty="0"/>
          </a:p>
        </p:txBody>
      </p:sp>
      <p:sp>
        <p:nvSpPr>
          <p:cNvPr id="2" name="文本框 1"/>
          <p:cNvSpPr txBox="1"/>
          <p:nvPr/>
        </p:nvSpPr>
        <p:spPr>
          <a:xfrm>
            <a:off x="4267200" y="2362200"/>
            <a:ext cx="12954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800" dirty="0"/>
              <a:t>// O</a:t>
            </a:r>
            <a:r>
              <a:rPr lang="zh-CN" altLang="en-US" sz="1800" dirty="0"/>
              <a:t>（</a:t>
            </a:r>
            <a:r>
              <a:rPr lang="en-US" altLang="zh-CN" sz="1800" dirty="0"/>
              <a:t>1</a:t>
            </a:r>
            <a:r>
              <a:rPr lang="zh-CN" altLang="en-US" sz="1800" dirty="0"/>
              <a:t>）</a:t>
            </a:r>
            <a:endParaRPr lang="zh-CN" altLang="en-US" sz="1800" dirty="0"/>
          </a:p>
        </p:txBody>
      </p:sp>
      <p:sp>
        <p:nvSpPr>
          <p:cNvPr id="5" name="文本框 4"/>
          <p:cNvSpPr txBox="1"/>
          <p:nvPr/>
        </p:nvSpPr>
        <p:spPr>
          <a:xfrm>
            <a:off x="3048000" y="3271838"/>
            <a:ext cx="12954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800" dirty="0"/>
              <a:t>// O</a:t>
            </a:r>
            <a:r>
              <a:rPr lang="zh-CN" altLang="en-US" sz="1800" dirty="0"/>
              <a:t>（</a:t>
            </a:r>
            <a:r>
              <a:rPr lang="en-US" altLang="zh-CN" sz="1800" dirty="0"/>
              <a:t>1</a:t>
            </a:r>
            <a:r>
              <a:rPr lang="zh-CN" altLang="en-US" sz="1800" dirty="0"/>
              <a:t>）</a:t>
            </a:r>
            <a:endParaRPr lang="zh-CN" altLang="en-US" sz="1800" dirty="0"/>
          </a:p>
        </p:txBody>
      </p:sp>
      <p:sp>
        <p:nvSpPr>
          <p:cNvPr id="6" name="文本框 5"/>
          <p:cNvSpPr txBox="1"/>
          <p:nvPr/>
        </p:nvSpPr>
        <p:spPr>
          <a:xfrm>
            <a:off x="4498975" y="4038600"/>
            <a:ext cx="12954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800" dirty="0"/>
              <a:t>// O</a:t>
            </a:r>
            <a:r>
              <a:rPr lang="zh-CN" altLang="en-US" sz="1800" dirty="0"/>
              <a:t>（</a:t>
            </a:r>
            <a:r>
              <a:rPr lang="en-US" altLang="zh-CN" sz="1800" dirty="0"/>
              <a:t>n</a:t>
            </a:r>
            <a:r>
              <a:rPr lang="zh-CN" altLang="en-US" sz="1800" dirty="0"/>
              <a:t>）</a:t>
            </a:r>
            <a:endParaRPr lang="zh-CN" altLang="en-US" sz="1800" dirty="0"/>
          </a:p>
        </p:txBody>
      </p:sp>
      <p:sp>
        <p:nvSpPr>
          <p:cNvPr id="7" name="文本框 6"/>
          <p:cNvSpPr txBox="1"/>
          <p:nvPr/>
        </p:nvSpPr>
        <p:spPr>
          <a:xfrm>
            <a:off x="3473450" y="4741863"/>
            <a:ext cx="12954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1800" dirty="0"/>
              <a:t>// O</a:t>
            </a:r>
            <a:r>
              <a:rPr lang="zh-CN" altLang="en-US" sz="1800" dirty="0"/>
              <a:t>（</a:t>
            </a:r>
            <a:r>
              <a:rPr lang="en-US" altLang="zh-CN" sz="1800" dirty="0"/>
              <a:t>1</a:t>
            </a:r>
            <a:r>
              <a:rPr lang="zh-CN" altLang="en-US" sz="1800" dirty="0"/>
              <a:t>）</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4035">
                                            <p:txEl>
                                              <p:charRg st="143" end="149"/>
                                            </p:txEl>
                                          </p:spTgt>
                                        </p:tgtEl>
                                        <p:attrNameLst>
                                          <p:attrName>style.visibility</p:attrName>
                                        </p:attrNameLst>
                                      </p:cBhvr>
                                      <p:to>
                                        <p:strVal val="visible"/>
                                      </p:to>
                                    </p:set>
                                    <p:animEffect transition="in" filter="blinds(horizontal)">
                                      <p:cBhvr>
                                        <p:cTn id="23" dur="500"/>
                                        <p:tgtEl>
                                          <p:spTgt spid="44035">
                                            <p:txEl>
                                              <p:charRg st="143" end="1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42" name="Rectangle 2"/>
          <p:cNvSpPr>
            <a:spLocks noGrp="1"/>
          </p:cNvSpPr>
          <p:nvPr>
            <p:ph type="title"/>
          </p:nvPr>
        </p:nvSpPr>
        <p:spPr>
          <a:xfrm>
            <a:off x="685800" y="-304800"/>
            <a:ext cx="6870700" cy="1600200"/>
          </a:xfrm>
        </p:spPr>
        <p:txBody>
          <a:bodyPr vert="horz" wrap="square" lIns="91440" tIns="45720" rIns="91440" bIns="45720" anchor="b" anchorCtr="0"/>
          <a:p>
            <a:pPr eaLnBrk="1" hangingPunct="1"/>
            <a:r>
              <a:rPr lang="en-US" altLang="zh-CN" dirty="0"/>
              <a:t>Example: Factorial (cont.)</a:t>
            </a:r>
            <a:endParaRPr lang="en-US" altLang="zh-CN" dirty="0"/>
          </a:p>
        </p:txBody>
      </p:sp>
      <p:sp>
        <p:nvSpPr>
          <p:cNvPr id="61443" name="Rectangle 3"/>
          <p:cNvSpPr>
            <a:spLocks noGrp="1"/>
          </p:cNvSpPr>
          <p:nvPr>
            <p:ph idx="1"/>
          </p:nvPr>
        </p:nvSpPr>
        <p:spPr/>
        <p:txBody>
          <a:bodyPr vert="horz" wrap="square" lIns="91440" tIns="45720" rIns="91440" bIns="45720" anchor="t" anchorCtr="0"/>
          <a:p>
            <a:pPr eaLnBrk="1" hangingPunct="1">
              <a:buNone/>
            </a:pPr>
            <a:r>
              <a:rPr lang="en-US" altLang="zh-CN" sz="2800" dirty="0"/>
              <a:t>int factorial (int n) {</a:t>
            </a:r>
            <a:endParaRPr lang="en-US" altLang="zh-CN" sz="2800" dirty="0"/>
          </a:p>
          <a:p>
            <a:pPr eaLnBrk="1" hangingPunct="1">
              <a:buNone/>
            </a:pPr>
            <a:r>
              <a:rPr lang="en-US" altLang="zh-CN" sz="2800" dirty="0"/>
              <a:t>   if (n&lt;=1)   return 1;</a:t>
            </a:r>
            <a:endParaRPr lang="en-US" altLang="zh-CN" sz="2800" dirty="0"/>
          </a:p>
          <a:p>
            <a:pPr eaLnBrk="1" hangingPunct="1">
              <a:buNone/>
            </a:pPr>
            <a:r>
              <a:rPr lang="en-US" altLang="zh-CN" sz="2800" dirty="0"/>
              <a:t>   else  return n * factorial(n-1);</a:t>
            </a:r>
            <a:endParaRPr lang="en-US" altLang="zh-CN" sz="2800" dirty="0"/>
          </a:p>
          <a:p>
            <a:pPr eaLnBrk="1" hangingPunct="1">
              <a:buNone/>
            </a:pPr>
            <a:r>
              <a:rPr lang="en-US" altLang="zh-CN" sz="2800" dirty="0"/>
              <a:t>}</a:t>
            </a:r>
            <a:endParaRPr lang="en-US" altLang="zh-CN" sz="2800" dirty="0"/>
          </a:p>
          <a:p>
            <a:pPr eaLnBrk="1" hangingPunct="1">
              <a:lnSpc>
                <a:spcPct val="160000"/>
              </a:lnSpc>
              <a:buNone/>
            </a:pPr>
            <a:endParaRPr lang="en-US" altLang="zh-CN" sz="2800" dirty="0"/>
          </a:p>
        </p:txBody>
      </p:sp>
      <p:graphicFrame>
        <p:nvGraphicFramePr>
          <p:cNvPr id="43024" name="Object 16"/>
          <p:cNvGraphicFramePr>
            <a:graphicFrameLocks noChangeAspect="1"/>
          </p:cNvGraphicFramePr>
          <p:nvPr/>
        </p:nvGraphicFramePr>
        <p:xfrm>
          <a:off x="6664325" y="1447800"/>
          <a:ext cx="2233613" cy="2971800"/>
        </p:xfrm>
        <a:graphic>
          <a:graphicData uri="http://schemas.openxmlformats.org/presentationml/2006/ole">
            <mc:AlternateContent xmlns:mc="http://schemas.openxmlformats.org/markup-compatibility/2006">
              <mc:Choice xmlns:v="urn:schemas-microsoft-com:vml" Requires="v">
                <p:oleObj spid="_x0000_s3084" name="" r:id="rId1" imgW="1333500" imgH="1803400" progId="Equation.3">
                  <p:embed/>
                </p:oleObj>
              </mc:Choice>
              <mc:Fallback>
                <p:oleObj name="" r:id="rId1" imgW="1333500" imgH="1803400" progId="Equation.3">
                  <p:embed/>
                  <p:pic>
                    <p:nvPicPr>
                      <p:cNvPr id="0" name="图片 3083"/>
                      <p:cNvPicPr/>
                      <p:nvPr/>
                    </p:nvPicPr>
                    <p:blipFill>
                      <a:blip r:embed="rId2"/>
                      <a:stretch>
                        <a:fillRect/>
                      </a:stretch>
                    </p:blipFill>
                    <p:spPr>
                      <a:xfrm>
                        <a:off x="6664325" y="1447800"/>
                        <a:ext cx="2233613" cy="2971800"/>
                      </a:xfrm>
                      <a:prstGeom prst="rect">
                        <a:avLst/>
                      </a:prstGeom>
                      <a:noFill/>
                      <a:ln w="38100">
                        <a:noFill/>
                        <a:miter/>
                      </a:ln>
                    </p:spPr>
                  </p:pic>
                </p:oleObj>
              </mc:Fallback>
            </mc:AlternateContent>
          </a:graphicData>
        </a:graphic>
      </p:graphicFrame>
      <p:sp>
        <p:nvSpPr>
          <p:cNvPr id="43025" name="Rectangle 17"/>
          <p:cNvSpPr/>
          <p:nvPr/>
        </p:nvSpPr>
        <p:spPr>
          <a:xfrm>
            <a:off x="990600" y="4876800"/>
            <a:ext cx="57118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800" dirty="0">
                <a:solidFill>
                  <a:schemeClr val="tx2"/>
                </a:solidFill>
              </a:rPr>
              <a:t>Asymptotic Complexity:T(n)=O(n)</a:t>
            </a:r>
            <a:endParaRPr lang="en-US" altLang="zh-CN" sz="2800"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24"/>
                                        </p:tgtEl>
                                        <p:attrNameLst>
                                          <p:attrName>style.visibility</p:attrName>
                                        </p:attrNameLst>
                                      </p:cBhvr>
                                      <p:to>
                                        <p:strVal val="visible"/>
                                      </p:to>
                                    </p:set>
                                    <p:animEffect transition="in" filter="blinds(horizontal)">
                                      <p:cBhvr>
                                        <p:cTn id="7" dur="500"/>
                                        <p:tgtEl>
                                          <p:spTgt spid="430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25">
                                            <p:txEl>
                                              <p:charRg st="0" end="32"/>
                                            </p:txEl>
                                          </p:spTgt>
                                        </p:tgtEl>
                                        <p:attrNameLst>
                                          <p:attrName>style.visibility</p:attrName>
                                        </p:attrNameLst>
                                      </p:cBhvr>
                                      <p:to>
                                        <p:strVal val="visible"/>
                                      </p:to>
                                    </p:set>
                                    <p:animEffect transition="in" filter="blinds(horizontal)">
                                      <p:cBhvr>
                                        <p:cTn id="12" dur="500"/>
                                        <p:tgtEl>
                                          <p:spTgt spid="43025">
                                            <p:txEl>
                                              <p:charRg st="0"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2466" name="Rectangle 2"/>
          <p:cNvSpPr>
            <a:spLocks noGrp="1"/>
          </p:cNvSpPr>
          <p:nvPr>
            <p:ph type="title"/>
          </p:nvPr>
        </p:nvSpPr>
        <p:spPr>
          <a:xfrm>
            <a:off x="762000" y="609600"/>
            <a:ext cx="6870700" cy="746125"/>
          </a:xfrm>
        </p:spPr>
        <p:txBody>
          <a:bodyPr vert="horz" wrap="square" lIns="91440" tIns="45720" rIns="91440" bIns="45720" anchor="b" anchorCtr="0"/>
          <a:p>
            <a:pPr eaLnBrk="1" hangingPunct="1"/>
            <a:r>
              <a:rPr lang="en-US" altLang="zh-CN" sz="3600" b="1" dirty="0"/>
              <a:t>The Recursive Code of Binary Search</a:t>
            </a:r>
            <a:endParaRPr lang="en-US" altLang="zh-CN" sz="3600" b="1" dirty="0"/>
          </a:p>
        </p:txBody>
      </p:sp>
      <p:sp>
        <p:nvSpPr>
          <p:cNvPr id="62467" name="Rectangle 3"/>
          <p:cNvSpPr>
            <a:spLocks noGrp="1"/>
          </p:cNvSpPr>
          <p:nvPr>
            <p:ph idx="1"/>
          </p:nvPr>
        </p:nvSpPr>
        <p:spPr>
          <a:xfrm>
            <a:off x="152400" y="1524000"/>
            <a:ext cx="8839200" cy="4800600"/>
          </a:xfrm>
        </p:spPr>
        <p:txBody>
          <a:bodyPr vert="horz" wrap="square" lIns="91440" tIns="45720" rIns="91440" bIns="45720" anchor="t" anchorCtr="0"/>
          <a:p>
            <a:pPr eaLnBrk="1" hangingPunct="1">
              <a:lnSpc>
                <a:spcPct val="90000"/>
              </a:lnSpc>
              <a:buNone/>
            </a:pPr>
            <a:r>
              <a:rPr lang="en-US" altLang="zh-CN" sz="2600" b="1" dirty="0">
                <a:solidFill>
                  <a:schemeClr val="accent2"/>
                </a:solidFill>
              </a:rPr>
              <a:t>int</a:t>
            </a:r>
            <a:r>
              <a:rPr lang="en-US" altLang="zh-CN" sz="2600" dirty="0"/>
              <a:t> binarySearch(</a:t>
            </a:r>
            <a:r>
              <a:rPr lang="en-US" altLang="zh-CN" sz="2600" b="1" dirty="0">
                <a:solidFill>
                  <a:schemeClr val="accent2"/>
                </a:solidFill>
              </a:rPr>
              <a:t>double</a:t>
            </a:r>
            <a:r>
              <a:rPr lang="en-US" altLang="zh-CN" sz="2600" dirty="0"/>
              <a:t> b, </a:t>
            </a:r>
            <a:r>
              <a:rPr lang="en-US" altLang="zh-CN" sz="2600" b="1" dirty="0">
                <a:solidFill>
                  <a:schemeClr val="accent2"/>
                </a:solidFill>
              </a:rPr>
              <a:t>double </a:t>
            </a:r>
            <a:r>
              <a:rPr lang="en-US" altLang="zh-CN" sz="2600" dirty="0"/>
              <a:t>X[], </a:t>
            </a:r>
            <a:r>
              <a:rPr lang="en-US" altLang="zh-CN" sz="2600" b="1" dirty="0">
                <a:solidFill>
                  <a:schemeClr val="accent2"/>
                </a:solidFill>
              </a:rPr>
              <a:t>int</a:t>
            </a:r>
            <a:r>
              <a:rPr lang="en-US" altLang="zh-CN" sz="2600" dirty="0"/>
              <a:t> </a:t>
            </a:r>
            <a:r>
              <a:rPr lang="en-US" altLang="zh-CN" sz="2600" i="1" dirty="0"/>
              <a:t>left</a:t>
            </a:r>
            <a:r>
              <a:rPr lang="en-US" altLang="zh-CN" sz="2600" dirty="0"/>
              <a:t>, </a:t>
            </a:r>
            <a:r>
              <a:rPr lang="en-US" altLang="zh-CN" sz="2600" b="1" dirty="0">
                <a:solidFill>
                  <a:schemeClr val="accent2"/>
                </a:solidFill>
              </a:rPr>
              <a:t>int</a:t>
            </a:r>
            <a:r>
              <a:rPr lang="en-US" altLang="zh-CN" sz="2600" dirty="0"/>
              <a:t> </a:t>
            </a:r>
            <a:r>
              <a:rPr lang="en-US" altLang="zh-CN" sz="2600" i="1" dirty="0"/>
              <a:t>right</a:t>
            </a:r>
            <a:r>
              <a:rPr lang="en-US" altLang="zh-CN" sz="2600" dirty="0"/>
              <a:t>)</a:t>
            </a:r>
            <a:endParaRPr lang="en-US" altLang="zh-CN" sz="2600" dirty="0"/>
          </a:p>
          <a:p>
            <a:pPr eaLnBrk="1" hangingPunct="1">
              <a:lnSpc>
                <a:spcPct val="90000"/>
              </a:lnSpc>
              <a:buNone/>
            </a:pPr>
            <a:r>
              <a:rPr lang="en-US" altLang="zh-CN" sz="2600" dirty="0"/>
              <a:t>{</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if</a:t>
            </a:r>
            <a:r>
              <a:rPr lang="en-US" altLang="zh-CN" sz="2600" dirty="0"/>
              <a:t> (</a:t>
            </a:r>
            <a:r>
              <a:rPr lang="en-US" altLang="zh-CN" sz="2600" i="1" dirty="0"/>
              <a:t>left</a:t>
            </a:r>
            <a:r>
              <a:rPr lang="en-US" altLang="zh-CN" sz="2600" dirty="0"/>
              <a:t> == </a:t>
            </a:r>
            <a:r>
              <a:rPr lang="en-US" altLang="zh-CN" sz="2600" i="1" dirty="0"/>
              <a:t>right</a:t>
            </a:r>
            <a:r>
              <a:rPr lang="en-US" altLang="zh-CN" sz="2600" dirty="0"/>
              <a:t>)</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if</a:t>
            </a:r>
            <a:r>
              <a:rPr lang="en-US" altLang="zh-CN" sz="2600" dirty="0"/>
              <a:t> (b==X[</a:t>
            </a:r>
            <a:r>
              <a:rPr lang="en-US" altLang="zh-CN" sz="2600" i="1" dirty="0"/>
              <a:t>left</a:t>
            </a:r>
            <a:r>
              <a:rPr lang="en-US" altLang="zh-CN" sz="2600" dirty="0"/>
              <a:t>]) </a:t>
            </a:r>
            <a:r>
              <a:rPr lang="en-US" altLang="zh-CN" sz="2600" b="1" dirty="0">
                <a:solidFill>
                  <a:schemeClr val="accent2"/>
                </a:solidFill>
              </a:rPr>
              <a:t>return</a:t>
            </a:r>
            <a:r>
              <a:rPr lang="en-US" altLang="zh-CN" sz="2600" dirty="0"/>
              <a:t> </a:t>
            </a:r>
            <a:r>
              <a:rPr lang="en-US" altLang="zh-CN" sz="2600" i="1" dirty="0"/>
              <a:t>left</a:t>
            </a:r>
            <a:r>
              <a:rPr lang="en-US" altLang="zh-CN" sz="2600" dirty="0"/>
              <a:t>;</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else</a:t>
            </a:r>
            <a:r>
              <a:rPr lang="en-US" altLang="zh-CN" sz="2600" dirty="0"/>
              <a:t> </a:t>
            </a:r>
            <a:r>
              <a:rPr lang="en-US" altLang="zh-CN" sz="2600" b="1" dirty="0">
                <a:solidFill>
                  <a:schemeClr val="accent2"/>
                </a:solidFill>
              </a:rPr>
              <a:t>return</a:t>
            </a:r>
            <a:r>
              <a:rPr lang="en-US" altLang="zh-CN" sz="2600" dirty="0"/>
              <a:t> -1;</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int</a:t>
            </a:r>
            <a:r>
              <a:rPr lang="en-US" altLang="zh-CN" sz="2600" dirty="0"/>
              <a:t> </a:t>
            </a:r>
            <a:r>
              <a:rPr lang="en-US" altLang="zh-CN" sz="2600" i="1" dirty="0"/>
              <a:t>mid</a:t>
            </a:r>
            <a:r>
              <a:rPr lang="en-US" altLang="zh-CN" sz="2600" dirty="0"/>
              <a:t> = (</a:t>
            </a:r>
            <a:r>
              <a:rPr lang="en-US" altLang="zh-CN" sz="2600" i="1" dirty="0"/>
              <a:t>left+right</a:t>
            </a:r>
            <a:r>
              <a:rPr lang="en-US" altLang="zh-CN" sz="2600" dirty="0"/>
              <a:t>)/2;</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if</a:t>
            </a:r>
            <a:r>
              <a:rPr lang="en-US" altLang="zh-CN" sz="2600" dirty="0"/>
              <a:t> (b==X[</a:t>
            </a:r>
            <a:r>
              <a:rPr lang="en-US" altLang="zh-CN" sz="2600" i="1" dirty="0"/>
              <a:t>mid</a:t>
            </a:r>
            <a:r>
              <a:rPr lang="en-US" altLang="zh-CN" sz="2600" dirty="0"/>
              <a:t>]) </a:t>
            </a:r>
            <a:r>
              <a:rPr lang="en-US" altLang="zh-CN" sz="2600" b="1" dirty="0">
                <a:solidFill>
                  <a:schemeClr val="accent2"/>
                </a:solidFill>
              </a:rPr>
              <a:t>return</a:t>
            </a:r>
            <a:r>
              <a:rPr lang="en-US" altLang="zh-CN" sz="2600" dirty="0"/>
              <a:t> </a:t>
            </a:r>
            <a:r>
              <a:rPr lang="en-US" altLang="zh-CN" sz="2600" i="1" dirty="0"/>
              <a:t>mid</a:t>
            </a:r>
            <a:r>
              <a:rPr lang="en-US" altLang="zh-CN" sz="2600" dirty="0"/>
              <a:t>;</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if</a:t>
            </a:r>
            <a:r>
              <a:rPr lang="en-US" altLang="zh-CN" sz="2600" dirty="0"/>
              <a:t> (b &lt; X[</a:t>
            </a:r>
            <a:r>
              <a:rPr lang="en-US" altLang="zh-CN" sz="2600" i="1" dirty="0"/>
              <a:t>mid</a:t>
            </a:r>
            <a:r>
              <a:rPr lang="en-US" altLang="zh-CN" sz="2600" dirty="0"/>
              <a:t>]) </a:t>
            </a:r>
            <a:r>
              <a:rPr lang="en-US" altLang="zh-CN" sz="2600" b="1" dirty="0">
                <a:solidFill>
                  <a:schemeClr val="accent2"/>
                </a:solidFill>
              </a:rPr>
              <a:t>return</a:t>
            </a:r>
            <a:r>
              <a:rPr lang="en-US" altLang="zh-CN" sz="2600" dirty="0"/>
              <a:t> </a:t>
            </a:r>
            <a:r>
              <a:rPr lang="en-US" altLang="zh-CN" sz="2200" dirty="0"/>
              <a:t>binarySearch (b, X, </a:t>
            </a:r>
            <a:r>
              <a:rPr lang="en-US" altLang="zh-CN" sz="2200" i="1" dirty="0"/>
              <a:t>left</a:t>
            </a:r>
            <a:r>
              <a:rPr lang="en-US" altLang="zh-CN" sz="2200" dirty="0"/>
              <a:t>, </a:t>
            </a:r>
            <a:r>
              <a:rPr lang="en-US" altLang="zh-CN" sz="2200" i="1" dirty="0"/>
              <a:t>mid</a:t>
            </a:r>
            <a:r>
              <a:rPr lang="en-US" altLang="zh-CN" sz="2200" dirty="0"/>
              <a:t>);</a:t>
            </a:r>
            <a:endParaRPr lang="en-US" altLang="zh-CN" sz="2200" dirty="0"/>
          </a:p>
          <a:p>
            <a:pPr eaLnBrk="1" hangingPunct="1">
              <a:lnSpc>
                <a:spcPct val="90000"/>
              </a:lnSpc>
              <a:buNone/>
            </a:pPr>
            <a:r>
              <a:rPr lang="en-US" altLang="zh-CN" sz="2600" dirty="0"/>
              <a:t>	</a:t>
            </a:r>
            <a:r>
              <a:rPr lang="en-US" altLang="zh-CN" sz="2600" b="1" dirty="0">
                <a:solidFill>
                  <a:schemeClr val="accent2"/>
                </a:solidFill>
              </a:rPr>
              <a:t>if</a:t>
            </a:r>
            <a:r>
              <a:rPr lang="en-US" altLang="zh-CN" sz="2600" dirty="0"/>
              <a:t> (b &gt; X[</a:t>
            </a:r>
            <a:r>
              <a:rPr lang="en-US" altLang="zh-CN" sz="2600" i="1" dirty="0"/>
              <a:t>mid</a:t>
            </a:r>
            <a:r>
              <a:rPr lang="en-US" altLang="zh-CN" sz="2600" dirty="0"/>
              <a:t>]) </a:t>
            </a:r>
            <a:r>
              <a:rPr lang="en-US" altLang="zh-CN" sz="2600" b="1" dirty="0">
                <a:solidFill>
                  <a:schemeClr val="accent2"/>
                </a:solidFill>
              </a:rPr>
              <a:t>return</a:t>
            </a:r>
            <a:r>
              <a:rPr lang="en-US" altLang="zh-CN" sz="2600" dirty="0"/>
              <a:t> </a:t>
            </a:r>
            <a:r>
              <a:rPr lang="en-US" altLang="zh-CN" sz="2200" dirty="0"/>
              <a:t>binarySearch(b, X, </a:t>
            </a:r>
            <a:r>
              <a:rPr lang="en-US" altLang="zh-CN" sz="2200" i="1" dirty="0"/>
              <a:t>mid+1</a:t>
            </a:r>
            <a:r>
              <a:rPr lang="en-US" altLang="zh-CN" sz="2200" dirty="0"/>
              <a:t>, </a:t>
            </a:r>
            <a:r>
              <a:rPr lang="en-US" altLang="zh-CN" sz="2200" i="1" dirty="0"/>
              <a:t>right</a:t>
            </a:r>
            <a:r>
              <a:rPr lang="en-US" altLang="zh-CN" sz="2200" dirty="0"/>
              <a:t>);</a:t>
            </a:r>
            <a:endParaRPr lang="en-US" altLang="zh-CN" sz="2200" dirty="0"/>
          </a:p>
          <a:p>
            <a:pPr eaLnBrk="1" hangingPunct="1">
              <a:lnSpc>
                <a:spcPct val="90000"/>
              </a:lnSpc>
              <a:buNone/>
            </a:pPr>
            <a:r>
              <a:rPr lang="en-US" altLang="zh-CN" sz="2600" dirty="0"/>
              <a:t>}</a:t>
            </a:r>
            <a:endParaRPr lang="en-US" altLang="zh-CN"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3490" name="Rectangle 2"/>
          <p:cNvSpPr>
            <a:spLocks noGrp="1"/>
          </p:cNvSpPr>
          <p:nvPr>
            <p:ph type="title"/>
          </p:nvPr>
        </p:nvSpPr>
        <p:spPr>
          <a:xfrm>
            <a:off x="685800" y="381000"/>
            <a:ext cx="7696200" cy="960438"/>
          </a:xfrm>
        </p:spPr>
        <p:txBody>
          <a:bodyPr vert="horz" wrap="square" lIns="91440" tIns="45720" rIns="91440" bIns="45720" anchor="b" anchorCtr="0"/>
          <a:p>
            <a:pPr eaLnBrk="1" hangingPunct="1"/>
            <a:r>
              <a:rPr lang="en-US" altLang="zh-CN" sz="4000" b="1" dirty="0"/>
              <a:t>Time Complexity of binarySearch</a:t>
            </a:r>
            <a:endParaRPr lang="en-US" altLang="zh-CN" sz="4000" b="1" dirty="0"/>
          </a:p>
        </p:txBody>
      </p:sp>
      <p:sp>
        <p:nvSpPr>
          <p:cNvPr id="63491" name="Rectangle 3"/>
          <p:cNvSpPr>
            <a:spLocks noGrp="1"/>
          </p:cNvSpPr>
          <p:nvPr>
            <p:ph idx="1"/>
          </p:nvPr>
        </p:nvSpPr>
        <p:spPr>
          <a:xfrm>
            <a:off x="685800" y="1447800"/>
            <a:ext cx="7772400" cy="4648200"/>
          </a:xfrm>
        </p:spPr>
        <p:txBody>
          <a:bodyPr vert="horz" wrap="square" lIns="91440" tIns="45720" rIns="91440" bIns="45720" anchor="t" anchorCtr="0"/>
          <a:p>
            <a:pPr eaLnBrk="1" hangingPunct="1"/>
            <a:r>
              <a:rPr lang="en-US" altLang="zh-CN" sz="2800" dirty="0"/>
              <a:t>Call T(n) the time of binarySearch when the array size is n.</a:t>
            </a:r>
            <a:endParaRPr lang="en-US" altLang="zh-CN" sz="2800" dirty="0"/>
          </a:p>
          <a:p>
            <a:pPr eaLnBrk="1" hangingPunct="1"/>
            <a:r>
              <a:rPr lang="en-US" altLang="zh-CN" sz="2800" dirty="0"/>
              <a:t>T(n) = T(n/2) + c, where c is some constant representing the time of the basis step and the last if-statement to choose between min1 and min2</a:t>
            </a:r>
            <a:endParaRPr lang="en-US" altLang="zh-CN" sz="2800" dirty="0"/>
          </a:p>
          <a:p>
            <a:pPr eaLnBrk="1" hangingPunct="1"/>
            <a:r>
              <a:rPr lang="en-US" altLang="zh-CN" sz="2800" dirty="0"/>
              <a:t>Assume for simplicity that n= 2</a:t>
            </a:r>
            <a:r>
              <a:rPr lang="en-US" altLang="zh-CN" sz="2800" baseline="30000" dirty="0"/>
              <a:t>k</a:t>
            </a:r>
            <a:r>
              <a:rPr lang="en-US" altLang="zh-CN" sz="2800" dirty="0"/>
              <a:t>. (so k=log</a:t>
            </a:r>
            <a:r>
              <a:rPr lang="en-US" altLang="zh-CN" sz="2800" baseline="-25000" dirty="0"/>
              <a:t>2</a:t>
            </a:r>
            <a:r>
              <a:rPr lang="en-US" altLang="zh-CN" sz="2800" dirty="0"/>
              <a:t> n)</a:t>
            </a:r>
            <a:endParaRPr lang="en-US" altLang="zh-CN" sz="2800" dirty="0"/>
          </a:p>
          <a:p>
            <a:pPr eaLnBrk="1" hangingPunct="1"/>
            <a:r>
              <a:rPr lang="en-US" altLang="zh-CN" sz="2800" dirty="0"/>
              <a:t>T(2</a:t>
            </a:r>
            <a:r>
              <a:rPr lang="en-US" altLang="zh-CN" sz="2800" baseline="30000" dirty="0"/>
              <a:t>k</a:t>
            </a:r>
            <a:r>
              <a:rPr lang="en-US" altLang="zh-CN" sz="2800" dirty="0"/>
              <a:t>)=T(2</a:t>
            </a:r>
            <a:r>
              <a:rPr lang="en-US" altLang="zh-CN" sz="2800" baseline="30000" dirty="0"/>
              <a:t>k-1</a:t>
            </a:r>
            <a:r>
              <a:rPr lang="en-US" altLang="zh-CN" sz="2800" dirty="0"/>
              <a:t>)+c=T(2</a:t>
            </a:r>
            <a:r>
              <a:rPr lang="en-US" altLang="zh-CN" sz="2800" baseline="30000" dirty="0"/>
              <a:t>k-2</a:t>
            </a:r>
            <a:r>
              <a:rPr lang="en-US" altLang="zh-CN" sz="2800" dirty="0"/>
              <a:t>)+c+c=T(2</a:t>
            </a:r>
            <a:r>
              <a:rPr lang="en-US" altLang="zh-CN" sz="2800" baseline="30000" dirty="0"/>
              <a:t>k-3</a:t>
            </a:r>
            <a:r>
              <a:rPr lang="en-US" altLang="zh-CN" sz="2800" dirty="0"/>
              <a:t>)+c+c+c = </a:t>
            </a:r>
            <a:r>
              <a:rPr lang="en-US" altLang="zh-CN" sz="2800" dirty="0">
                <a:latin typeface="Times New Roman" panose="02020603050405020304" pitchFamily="18" charset="0"/>
              </a:rPr>
              <a:t>…</a:t>
            </a:r>
            <a:r>
              <a:rPr lang="en-US" altLang="zh-CN" sz="2800" dirty="0"/>
              <a:t> = T(2</a:t>
            </a:r>
            <a:r>
              <a:rPr lang="en-US" altLang="zh-CN" sz="2800" baseline="30000" dirty="0"/>
              <a:t>0</a:t>
            </a:r>
            <a:r>
              <a:rPr lang="en-US" altLang="zh-CN" sz="2800" dirty="0"/>
              <a:t>)+c+c+</a:t>
            </a:r>
            <a:r>
              <a:rPr lang="en-US" altLang="zh-CN" sz="2800" dirty="0">
                <a:latin typeface="Times New Roman" panose="02020603050405020304" pitchFamily="18" charset="0"/>
              </a:rPr>
              <a:t>…</a:t>
            </a:r>
            <a:r>
              <a:rPr lang="en-US" altLang="zh-CN" sz="2800" dirty="0"/>
              <a:t>c=T(1)+kc=O(k)=O(log n)</a:t>
            </a:r>
            <a:endParaRPr lang="en-US" altLang="zh-CN" sz="2800" dirty="0"/>
          </a:p>
          <a:p>
            <a:pPr eaLnBrk="1" hangingPunct="1"/>
            <a:r>
              <a:rPr lang="en-US" altLang="zh-CN" sz="2800" dirty="0"/>
              <a:t>Therefore, T(n)=O(log n).</a:t>
            </a:r>
            <a:endParaRPr lang="en-US" altLang="zh-CN"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685800" y="381000"/>
            <a:ext cx="7696200" cy="960438"/>
          </a:xfrm>
        </p:spPr>
        <p:txBody>
          <a:bodyPr vert="horz" wrap="square" lIns="91440" tIns="45720" rIns="91440" bIns="45720" anchor="b" anchorCtr="0"/>
          <a:p>
            <a:pPr eaLnBrk="1" hangingPunct="1"/>
            <a:r>
              <a:rPr lang="en-US" altLang="zh-CN" sz="4000" b="1" dirty="0"/>
              <a:t>Time Complexity of Sequential search</a:t>
            </a:r>
            <a:endParaRPr lang="en-US" altLang="zh-CN" sz="4000" b="1" dirty="0"/>
          </a:p>
        </p:txBody>
      </p:sp>
      <p:sp>
        <p:nvSpPr>
          <p:cNvPr id="64515" name="Rectangle 3"/>
          <p:cNvSpPr>
            <a:spLocks noGrp="1"/>
          </p:cNvSpPr>
          <p:nvPr>
            <p:ph idx="1"/>
          </p:nvPr>
        </p:nvSpPr>
        <p:spPr>
          <a:xfrm>
            <a:off x="685800" y="1676400"/>
            <a:ext cx="7696200" cy="3657600"/>
          </a:xfrm>
        </p:spPr>
        <p:txBody>
          <a:bodyPr vert="horz" wrap="square" lIns="91440" tIns="45720" rIns="91440" bIns="45720" anchor="t" anchorCtr="0"/>
          <a:p>
            <a:pPr eaLnBrk="1" hangingPunct="1">
              <a:lnSpc>
                <a:spcPct val="90000"/>
              </a:lnSpc>
              <a:buNone/>
            </a:pPr>
            <a:r>
              <a:rPr lang="en-US" altLang="zh-CN" sz="2600" b="1" dirty="0">
                <a:solidFill>
                  <a:schemeClr val="accent2"/>
                </a:solidFill>
              </a:rPr>
              <a:t>int</a:t>
            </a:r>
            <a:r>
              <a:rPr lang="en-US" altLang="zh-CN" sz="2600" dirty="0"/>
              <a:t> Seqsearch(</a:t>
            </a:r>
            <a:r>
              <a:rPr lang="en-US" altLang="zh-CN" sz="2600" b="1" dirty="0">
                <a:solidFill>
                  <a:schemeClr val="accent2"/>
                </a:solidFill>
              </a:rPr>
              <a:t>double</a:t>
            </a:r>
            <a:r>
              <a:rPr lang="en-US" altLang="zh-CN" sz="2600" dirty="0"/>
              <a:t> b, </a:t>
            </a:r>
            <a:r>
              <a:rPr lang="en-US" altLang="zh-CN" sz="2600" b="1" dirty="0">
                <a:solidFill>
                  <a:schemeClr val="accent2"/>
                </a:solidFill>
              </a:rPr>
              <a:t>double </a:t>
            </a:r>
            <a:r>
              <a:rPr lang="en-US" altLang="zh-CN" sz="2600" dirty="0"/>
              <a:t>X[], </a:t>
            </a:r>
            <a:r>
              <a:rPr lang="en-US" altLang="zh-CN" sz="2600" b="1" dirty="0">
                <a:solidFill>
                  <a:schemeClr val="accent2"/>
                </a:solidFill>
              </a:rPr>
              <a:t>int n</a:t>
            </a:r>
            <a:r>
              <a:rPr lang="en-US" altLang="zh-CN" sz="2600" dirty="0"/>
              <a:t>)</a:t>
            </a:r>
            <a:endParaRPr lang="en-US" altLang="zh-CN" sz="2600" dirty="0"/>
          </a:p>
          <a:p>
            <a:pPr eaLnBrk="1" hangingPunct="1">
              <a:lnSpc>
                <a:spcPct val="90000"/>
              </a:lnSpc>
              <a:buNone/>
            </a:pPr>
            <a:r>
              <a:rPr lang="en-US" altLang="zh-CN" sz="2600" dirty="0"/>
              <a:t>{</a:t>
            </a:r>
            <a:endParaRPr lang="en-US" altLang="zh-CN" sz="2600" dirty="0"/>
          </a:p>
          <a:p>
            <a:pPr eaLnBrk="1" hangingPunct="1">
              <a:lnSpc>
                <a:spcPct val="90000"/>
              </a:lnSpc>
              <a:buNone/>
            </a:pPr>
            <a:r>
              <a:rPr lang="en-US" altLang="zh-CN" sz="2600" dirty="0"/>
              <a:t>	</a:t>
            </a:r>
            <a:r>
              <a:rPr lang="en-US" altLang="zh-CN" sz="2600" b="1" dirty="0">
                <a:solidFill>
                  <a:schemeClr val="accent2"/>
                </a:solidFill>
              </a:rPr>
              <a:t>for </a:t>
            </a:r>
            <a:r>
              <a:rPr lang="en-US" altLang="zh-CN" sz="2600" dirty="0">
                <a:solidFill>
                  <a:schemeClr val="accent2"/>
                </a:solidFill>
              </a:rPr>
              <a:t>(i=0;i&lt;n;i++)</a:t>
            </a:r>
            <a:endParaRPr lang="en-US" altLang="zh-CN" sz="2600" dirty="0">
              <a:solidFill>
                <a:schemeClr val="accent2"/>
              </a:solidFill>
            </a:endParaRPr>
          </a:p>
          <a:p>
            <a:pPr eaLnBrk="1" hangingPunct="1">
              <a:lnSpc>
                <a:spcPct val="90000"/>
              </a:lnSpc>
              <a:buNone/>
            </a:pPr>
            <a:r>
              <a:rPr lang="en-US" altLang="zh-CN" sz="2600" b="1" dirty="0">
                <a:solidFill>
                  <a:schemeClr val="accent2"/>
                </a:solidFill>
              </a:rPr>
              <a:t>      if </a:t>
            </a:r>
            <a:r>
              <a:rPr lang="en-US" altLang="zh-CN" sz="2600" dirty="0">
                <a:solidFill>
                  <a:schemeClr val="accent2"/>
                </a:solidFill>
              </a:rPr>
              <a:t>X[i]==b </a:t>
            </a:r>
            <a:r>
              <a:rPr lang="en-US" altLang="zh-CN" sz="2600" b="1" dirty="0">
                <a:solidFill>
                  <a:schemeClr val="accent2"/>
                </a:solidFill>
              </a:rPr>
              <a:t>return </a:t>
            </a:r>
            <a:r>
              <a:rPr lang="en-US" altLang="zh-CN" sz="2600" dirty="0">
                <a:solidFill>
                  <a:schemeClr val="accent2"/>
                </a:solidFill>
              </a:rPr>
              <a:t>i</a:t>
            </a:r>
            <a:r>
              <a:rPr lang="en-US" altLang="zh-CN" sz="2600" b="1" dirty="0">
                <a:solidFill>
                  <a:schemeClr val="accent2"/>
                </a:solidFill>
              </a:rPr>
              <a:t>;</a:t>
            </a:r>
            <a:endParaRPr lang="en-US" altLang="zh-CN" sz="2600" b="1" dirty="0">
              <a:solidFill>
                <a:schemeClr val="accent2"/>
              </a:solidFill>
            </a:endParaRPr>
          </a:p>
          <a:p>
            <a:pPr eaLnBrk="1" hangingPunct="1">
              <a:lnSpc>
                <a:spcPct val="90000"/>
              </a:lnSpc>
              <a:buNone/>
            </a:pPr>
            <a:r>
              <a:rPr lang="en-US" altLang="zh-CN" sz="2600" b="1" dirty="0">
                <a:solidFill>
                  <a:schemeClr val="accent2"/>
                </a:solidFill>
              </a:rPr>
              <a:t>  return </a:t>
            </a:r>
            <a:r>
              <a:rPr lang="en-US" altLang="zh-CN" sz="2600" dirty="0">
                <a:solidFill>
                  <a:schemeClr val="accent2"/>
                </a:solidFill>
              </a:rPr>
              <a:t>0</a:t>
            </a:r>
            <a:r>
              <a:rPr lang="en-US" altLang="zh-CN" sz="2600" b="1" dirty="0">
                <a:solidFill>
                  <a:schemeClr val="accent2"/>
                </a:solidFill>
              </a:rPr>
              <a:t>;</a:t>
            </a:r>
            <a:endParaRPr lang="en-US" altLang="zh-CN" sz="2200" dirty="0"/>
          </a:p>
          <a:p>
            <a:pPr eaLnBrk="1" hangingPunct="1">
              <a:lnSpc>
                <a:spcPct val="90000"/>
              </a:lnSpc>
              <a:buNone/>
            </a:pPr>
            <a:r>
              <a:rPr lang="en-US" altLang="zh-CN" sz="2600" dirty="0"/>
              <a:t>}</a:t>
            </a:r>
            <a:endParaRPr lang="en-US" altLang="zh-CN" sz="2600" dirty="0"/>
          </a:p>
        </p:txBody>
      </p:sp>
      <p:sp>
        <p:nvSpPr>
          <p:cNvPr id="3" name="文本框 2"/>
          <p:cNvSpPr txBox="1"/>
          <p:nvPr/>
        </p:nvSpPr>
        <p:spPr>
          <a:xfrm>
            <a:off x="990600" y="4800600"/>
            <a:ext cx="5943600"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800" dirty="0"/>
              <a:t>Sequential search: T(n)=O(n)</a:t>
            </a:r>
            <a:endParaRPr lang="en-US" altLang="zh-CN" sz="2800" dirty="0"/>
          </a:p>
          <a:p>
            <a:pPr marL="0" lvl="0" indent="0">
              <a:spcBef>
                <a:spcPct val="0"/>
              </a:spcBef>
              <a:buNone/>
            </a:pPr>
            <a:endParaRPr lang="en-US" altLang="zh-CN" sz="2800" dirty="0"/>
          </a:p>
          <a:p>
            <a:pPr marL="0" lvl="0" indent="0">
              <a:spcBef>
                <a:spcPct val="0"/>
              </a:spcBef>
              <a:buNone/>
            </a:pPr>
            <a:r>
              <a:rPr lang="en-US" altLang="zh-CN" sz="2800" dirty="0"/>
              <a:t>Binary search: T(n)=O(log n)</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文本框 5"/>
          <p:cNvSpPr txBox="1"/>
          <p:nvPr>
            <p:custDataLst>
              <p:tags r:id="rId1"/>
            </p:custDataLst>
          </p:nvPr>
        </p:nvSpPr>
        <p:spPr>
          <a:xfrm>
            <a:off x="914400" y="635000"/>
            <a:ext cx="7315200" cy="3814763"/>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000" dirty="0">
                <a:solidFill>
                  <a:srgbClr val="000000"/>
                </a:solidFill>
                <a:latin typeface="微软雅黑" panose="020B0503020204020204" charset="-122"/>
                <a:ea typeface="微软雅黑" panose="020B0503020204020204" charset="-122"/>
                <a:sym typeface="微软雅黑" panose="020B0503020204020204" charset="-122"/>
              </a:rPr>
              <a:t>The time complexity of the following function is:</a:t>
            </a:r>
            <a:endParaRPr lang="en-US" altLang="zh-CN" sz="2000" dirty="0">
              <a:solidFill>
                <a:srgbClr val="000000"/>
              </a:solidFill>
              <a:latin typeface="微软雅黑" panose="020B0503020204020204" charset="-122"/>
              <a:ea typeface="微软雅黑" panose="020B0503020204020204" charset="-122"/>
              <a:sym typeface="微软雅黑" panose="020B0503020204020204" charset="-122"/>
            </a:endParaRPr>
          </a:p>
          <a:p>
            <a:pPr marL="0" lvl="0" indent="0">
              <a:spcBef>
                <a:spcPct val="0"/>
              </a:spcBef>
              <a:buNone/>
            </a:pPr>
            <a:endParaRPr lang="en-US" altLang="zh-CN" sz="2000" dirty="0">
              <a:solidFill>
                <a:srgbClr val="000000"/>
              </a:solidFill>
              <a:latin typeface="微软雅黑" panose="020B0503020204020204" charset="-122"/>
              <a:ea typeface="微软雅黑" panose="020B0503020204020204" charset="-122"/>
              <a:sym typeface="微软雅黑" panose="020B0503020204020204" charset="-122"/>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void func(int n, int arr[])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int m = 2^n ;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for (int i = 1; i &lt; m; i *= 2)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for (int j = 0; j &lt; i; j++)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printf("%d ", arr[j]);</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ea typeface="Times New Roman" panose="02020603050405020304" pitchFamily="18" charset="0"/>
            </a:endParaRPr>
          </a:p>
        </p:txBody>
      </p:sp>
      <p:sp>
        <p:nvSpPr>
          <p:cNvPr id="65539" name="文本框 6"/>
          <p:cNvSpPr txBox="1"/>
          <p:nvPr>
            <p:custDataLst>
              <p:tags r:id="rId2"/>
            </p:custDataLst>
          </p:nvPr>
        </p:nvSpPr>
        <p:spPr>
          <a:xfrm>
            <a:off x="1828800" y="4386263"/>
            <a:ext cx="16002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O(n^2)</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5540" name="文本框 7"/>
          <p:cNvSpPr txBox="1"/>
          <p:nvPr>
            <p:custDataLst>
              <p:tags r:id="rId3"/>
            </p:custDataLst>
          </p:nvPr>
        </p:nvSpPr>
        <p:spPr>
          <a:xfrm>
            <a:off x="6096000" y="4386263"/>
            <a:ext cx="1447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O(2^n)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5541" name="文本框 8"/>
          <p:cNvSpPr txBox="1"/>
          <p:nvPr>
            <p:custDataLst>
              <p:tags r:id="rId4"/>
            </p:custDataLst>
          </p:nvPr>
        </p:nvSpPr>
        <p:spPr>
          <a:xfrm>
            <a:off x="1828800" y="5334000"/>
            <a:ext cx="1828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O(4^n)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5542" name="文本框 9"/>
          <p:cNvSpPr txBox="1"/>
          <p:nvPr>
            <p:custDataLst>
              <p:tags r:id="rId5"/>
            </p:custDataLst>
          </p:nvPr>
        </p:nvSpPr>
        <p:spPr>
          <a:xfrm>
            <a:off x="6124575" y="5357813"/>
            <a:ext cx="1982788"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O(n*2^n)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444976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2" name="椭圆 11"/>
          <p:cNvSpPr>
            <a:spLocks noChangeAspect="1"/>
          </p:cNvSpPr>
          <p:nvPr>
            <p:custDataLst>
              <p:tags r:id="rId7"/>
            </p:custDataLst>
          </p:nvPr>
        </p:nvSpPr>
        <p:spPr>
          <a:xfrm>
            <a:off x="5381625" y="4449763"/>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3" name="椭圆 12"/>
          <p:cNvSpPr>
            <a:spLocks noChangeAspect="1"/>
          </p:cNvSpPr>
          <p:nvPr>
            <p:custDataLst>
              <p:tags r:id="rId8"/>
            </p:custDataLst>
          </p:nvPr>
        </p:nvSpPr>
        <p:spPr>
          <a:xfrm>
            <a:off x="1114425" y="5397500"/>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C</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4" name="椭圆 13"/>
          <p:cNvSpPr>
            <a:spLocks noChangeAspect="1"/>
          </p:cNvSpPr>
          <p:nvPr>
            <p:custDataLst>
              <p:tags r:id="rId9"/>
            </p:custDataLst>
          </p:nvPr>
        </p:nvSpPr>
        <p:spPr>
          <a:xfrm>
            <a:off x="5410200" y="542131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D</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5" name="矩形: 圆角 14"/>
          <p:cNvSpPr/>
          <p:nvPr>
            <p:custDataLst>
              <p:tags r:id="rId10"/>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grpSp>
        <p:nvGrpSpPr>
          <p:cNvPr id="65548" name="组合 19"/>
          <p:cNvGrpSpPr/>
          <p:nvPr/>
        </p:nvGrpSpPr>
        <p:grpSpPr>
          <a:xfrm>
            <a:off x="0" y="0"/>
            <a:ext cx="9144000" cy="635000"/>
            <a:chOff x="0" y="0"/>
            <a:chExt cx="9144000" cy="635000"/>
          </a:xfrm>
        </p:grpSpPr>
        <p:sp>
          <p:nvSpPr>
            <p:cNvPr id="16" name="TitleBackground"/>
            <p:cNvSpPr/>
            <p:nvPr>
              <p:custDataLst>
                <p:tags r:id="rId11"/>
              </p:custDataLst>
            </p:nvPr>
          </p:nvSpPr>
          <p:spPr>
            <a:xfrm>
              <a:off x="0" y="0"/>
              <a:ext cx="9144000" cy="635000"/>
            </a:xfrm>
            <a:prstGeom prst="rect">
              <a:avLst/>
            </a:prstGeom>
            <a:solidFill>
              <a:srgbClr val="F6F7F8"/>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ColorBlock"/>
            <p:cNvSpPr/>
            <p:nvPr>
              <p:custDataLst>
                <p:tags r:id="rId12"/>
              </p:custDataLst>
            </p:nvPr>
          </p:nvSpPr>
          <p:spPr>
            <a:xfrm>
              <a:off x="0" y="0"/>
              <a:ext cx="190500" cy="635000"/>
            </a:xfrm>
            <a:prstGeom prst="rect">
              <a:avLst/>
            </a:prstGeom>
            <a:solidFill>
              <a:srgbClr val="639EF4"/>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552"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5553" name="TipText"/>
            <p:cNvSpPr txBox="1"/>
            <p:nvPr>
              <p:custDataLst>
                <p:tags r:id="rId14"/>
              </p:custDataLst>
            </p:nvPr>
          </p:nvSpPr>
          <p:spPr>
            <a:xfrm>
              <a:off x="1427480"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dirty="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65549" name="图片 4"/>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文本框 5"/>
          <p:cNvSpPr txBox="1"/>
          <p:nvPr>
            <p:custDataLst>
              <p:tags r:id="rId1"/>
            </p:custDataLst>
          </p:nvPr>
        </p:nvSpPr>
        <p:spPr>
          <a:xfrm>
            <a:off x="914400" y="635000"/>
            <a:ext cx="7315200" cy="3814763"/>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400" dirty="0">
                <a:latin typeface="Times New Roman" panose="02020603050405020304" pitchFamily="18" charset="0"/>
                <a:cs typeface="Times New Roman" panose="02020603050405020304" pitchFamily="18" charset="0"/>
              </a:rPr>
              <a:t>Assume the recursive relation of a certain algorithm is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T(n) = 2T(n/2) + nlogn (with T(1) = 1).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The time complexity of this algorithm is:</a:t>
            </a:r>
            <a:endParaRPr lang="en-US" altLang="zh-CN" sz="2400" dirty="0">
              <a:latin typeface="Times New Roman" panose="02020603050405020304" pitchFamily="18" charset="0"/>
              <a:ea typeface="Times New Roman" panose="02020603050405020304" pitchFamily="18" charset="0"/>
            </a:endParaRPr>
          </a:p>
        </p:txBody>
      </p:sp>
      <p:sp>
        <p:nvSpPr>
          <p:cNvPr id="66563" name="文本框 6"/>
          <p:cNvSpPr txBox="1"/>
          <p:nvPr>
            <p:custDataLst>
              <p:tags r:id="rId2"/>
            </p:custDataLst>
          </p:nvPr>
        </p:nvSpPr>
        <p:spPr>
          <a:xfrm>
            <a:off x="1828800" y="4386263"/>
            <a:ext cx="16002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O(nlogn)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4" name="文本框 7"/>
          <p:cNvSpPr txBox="1"/>
          <p:nvPr>
            <p:custDataLst>
              <p:tags r:id="rId3"/>
            </p:custDataLst>
          </p:nvPr>
        </p:nvSpPr>
        <p:spPr>
          <a:xfrm>
            <a:off x="6096000" y="4386263"/>
            <a:ext cx="21336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a:t>
            </a:r>
            <a:r>
              <a:rPr lang="en-US" altLang="zh-CN" sz="2600" baseline="30000" dirty="0">
                <a:solidFill>
                  <a:srgbClr val="000000"/>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logn)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5" name="文本框 8"/>
          <p:cNvSpPr txBox="1"/>
          <p:nvPr>
            <p:custDataLst>
              <p:tags r:id="rId4"/>
            </p:custDataLst>
          </p:nvPr>
        </p:nvSpPr>
        <p:spPr>
          <a:xfrm>
            <a:off x="1828800" y="5334000"/>
            <a:ext cx="24384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a:t>
            </a:r>
            <a:r>
              <a:rPr lang="en-US" altLang="zh-CN" sz="2600" baseline="30000" dirty="0">
                <a:solidFill>
                  <a:srgbClr val="000000"/>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(logn)</a:t>
            </a:r>
            <a:r>
              <a:rPr lang="en-US" altLang="zh-CN" sz="2600" baseline="30000" dirty="0">
                <a:solidFill>
                  <a:srgbClr val="000000"/>
                </a:solidFill>
                <a:latin typeface="微软雅黑" panose="020B0503020204020204" charset="-122"/>
                <a:ea typeface="微软雅黑" panose="020B0503020204020204" charset="-122"/>
                <a:sym typeface="微软雅黑" panose="020B0503020204020204" charset="-122"/>
              </a:rPr>
              <a:t>2</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6" name="文本框 9"/>
          <p:cNvSpPr txBox="1"/>
          <p:nvPr>
            <p:custDataLst>
              <p:tags r:id="rId5"/>
            </p:custDataLst>
          </p:nvPr>
        </p:nvSpPr>
        <p:spPr>
          <a:xfrm>
            <a:off x="6124575" y="5357813"/>
            <a:ext cx="2638425"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O(n(logn)</a:t>
            </a:r>
            <a:r>
              <a:rPr lang="en-US" altLang="zh-CN" sz="2600" baseline="30000" dirty="0">
                <a:solidFill>
                  <a:srgbClr val="000000"/>
                </a:solidFill>
                <a:latin typeface="微软雅黑" panose="020B0503020204020204" charset="-122"/>
                <a:ea typeface="微软雅黑" panose="020B0503020204020204" charset="-122"/>
                <a:sym typeface="微软雅黑" panose="020B0503020204020204" charset="-122"/>
              </a:rPr>
              <a:t>2</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444976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2" name="椭圆 11"/>
          <p:cNvSpPr>
            <a:spLocks noChangeAspect="1"/>
          </p:cNvSpPr>
          <p:nvPr>
            <p:custDataLst>
              <p:tags r:id="rId7"/>
            </p:custDataLst>
          </p:nvPr>
        </p:nvSpPr>
        <p:spPr>
          <a:xfrm>
            <a:off x="5381625" y="444976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3" name="椭圆 12"/>
          <p:cNvSpPr>
            <a:spLocks noChangeAspect="1"/>
          </p:cNvSpPr>
          <p:nvPr>
            <p:custDataLst>
              <p:tags r:id="rId8"/>
            </p:custDataLst>
          </p:nvPr>
        </p:nvSpPr>
        <p:spPr>
          <a:xfrm>
            <a:off x="1114425" y="5397500"/>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C</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4" name="椭圆 13"/>
          <p:cNvSpPr>
            <a:spLocks noChangeAspect="1"/>
          </p:cNvSpPr>
          <p:nvPr>
            <p:custDataLst>
              <p:tags r:id="rId9"/>
            </p:custDataLst>
          </p:nvPr>
        </p:nvSpPr>
        <p:spPr>
          <a:xfrm>
            <a:off x="5410200" y="5421313"/>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D</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5" name="矩形: 圆角 14"/>
          <p:cNvSpPr/>
          <p:nvPr>
            <p:custDataLst>
              <p:tags r:id="rId10"/>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grpSp>
        <p:nvGrpSpPr>
          <p:cNvPr id="66572" name="组合 19"/>
          <p:cNvGrpSpPr/>
          <p:nvPr/>
        </p:nvGrpSpPr>
        <p:grpSpPr>
          <a:xfrm>
            <a:off x="0" y="0"/>
            <a:ext cx="9144000" cy="635000"/>
            <a:chOff x="0" y="0"/>
            <a:chExt cx="9144000" cy="635000"/>
          </a:xfrm>
        </p:grpSpPr>
        <p:sp>
          <p:nvSpPr>
            <p:cNvPr id="16" name="TitleBackground"/>
            <p:cNvSpPr/>
            <p:nvPr>
              <p:custDataLst>
                <p:tags r:id="rId11"/>
              </p:custDataLst>
            </p:nvPr>
          </p:nvSpPr>
          <p:spPr>
            <a:xfrm>
              <a:off x="0" y="0"/>
              <a:ext cx="9144000" cy="635000"/>
            </a:xfrm>
            <a:prstGeom prst="rect">
              <a:avLst/>
            </a:prstGeom>
            <a:solidFill>
              <a:srgbClr val="F6F7F8"/>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ColorBlock"/>
            <p:cNvSpPr/>
            <p:nvPr>
              <p:custDataLst>
                <p:tags r:id="rId12"/>
              </p:custDataLst>
            </p:nvPr>
          </p:nvSpPr>
          <p:spPr>
            <a:xfrm>
              <a:off x="0" y="0"/>
              <a:ext cx="190500" cy="635000"/>
            </a:xfrm>
            <a:prstGeom prst="rect">
              <a:avLst/>
            </a:prstGeom>
            <a:solidFill>
              <a:srgbClr val="639EF4"/>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576"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77" name="TipText"/>
            <p:cNvSpPr txBox="1"/>
            <p:nvPr>
              <p:custDataLst>
                <p:tags r:id="rId14"/>
              </p:custDataLst>
            </p:nvPr>
          </p:nvSpPr>
          <p:spPr>
            <a:xfrm>
              <a:off x="1427480"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dirty="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66573" name="图片 4"/>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文本框 5"/>
          <p:cNvSpPr txBox="1"/>
          <p:nvPr>
            <p:custDataLst>
              <p:tags r:id="rId1"/>
            </p:custDataLst>
          </p:nvPr>
        </p:nvSpPr>
        <p:spPr>
          <a:xfrm>
            <a:off x="914400" y="635000"/>
            <a:ext cx="7315200" cy="3814763"/>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400" dirty="0">
                <a:latin typeface="Times New Roman" panose="02020603050405020304" pitchFamily="18" charset="0"/>
                <a:cs typeface="Times New Roman" panose="02020603050405020304" pitchFamily="18" charset="0"/>
              </a:rPr>
              <a:t>void process(int n)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int count = 0;</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for (int i = n; i &gt; 0; i /= 2)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for (int j = 0; j &lt; i; j++)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count++;</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0" lvl="0" indent="0">
              <a:spcBef>
                <a:spcPct val="0"/>
              </a:spcBef>
              <a:buNone/>
            </a:pP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ea typeface="Times New Roman" panose="02020603050405020304" pitchFamily="18" charset="0"/>
            </a:endParaRPr>
          </a:p>
        </p:txBody>
      </p:sp>
      <p:sp>
        <p:nvSpPr>
          <p:cNvPr id="67587" name="文本框 6"/>
          <p:cNvSpPr txBox="1"/>
          <p:nvPr>
            <p:custDataLst>
              <p:tags r:id="rId2"/>
            </p:custDataLst>
          </p:nvPr>
        </p:nvSpPr>
        <p:spPr>
          <a:xfrm>
            <a:off x="1828800" y="4386263"/>
            <a:ext cx="16002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O(n^2)</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7588" name="文本框 7"/>
          <p:cNvSpPr txBox="1"/>
          <p:nvPr>
            <p:custDataLst>
              <p:tags r:id="rId3"/>
            </p:custDataLst>
          </p:nvPr>
        </p:nvSpPr>
        <p:spPr>
          <a:xfrm>
            <a:off x="6096000" y="4386263"/>
            <a:ext cx="2011363"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O(nlogn)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7589" name="文本框 8"/>
          <p:cNvSpPr txBox="1"/>
          <p:nvPr>
            <p:custDataLst>
              <p:tags r:id="rId4"/>
            </p:custDataLst>
          </p:nvPr>
        </p:nvSpPr>
        <p:spPr>
          <a:xfrm>
            <a:off x="1828800" y="5334000"/>
            <a:ext cx="1828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7590" name="文本框 9"/>
          <p:cNvSpPr txBox="1"/>
          <p:nvPr>
            <p:custDataLst>
              <p:tags r:id="rId5"/>
            </p:custDataLst>
          </p:nvPr>
        </p:nvSpPr>
        <p:spPr>
          <a:xfrm>
            <a:off x="6124575" y="5357813"/>
            <a:ext cx="1982788"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O(logn)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114425" y="444976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A</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2" name="椭圆 11"/>
          <p:cNvSpPr>
            <a:spLocks noChangeAspect="1"/>
          </p:cNvSpPr>
          <p:nvPr>
            <p:custDataLst>
              <p:tags r:id="rId7"/>
            </p:custDataLst>
          </p:nvPr>
        </p:nvSpPr>
        <p:spPr>
          <a:xfrm>
            <a:off x="5381625" y="444976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B</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3" name="椭圆 12"/>
          <p:cNvSpPr>
            <a:spLocks noChangeAspect="1"/>
          </p:cNvSpPr>
          <p:nvPr>
            <p:custDataLst>
              <p:tags r:id="rId8"/>
            </p:custDataLst>
          </p:nvPr>
        </p:nvSpPr>
        <p:spPr>
          <a:xfrm>
            <a:off x="1114425" y="5397500"/>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C</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4" name="椭圆 13"/>
          <p:cNvSpPr>
            <a:spLocks noChangeAspect="1"/>
          </p:cNvSpPr>
          <p:nvPr>
            <p:custDataLst>
              <p:tags r:id="rId9"/>
            </p:custDataLst>
          </p:nvPr>
        </p:nvSpPr>
        <p:spPr>
          <a:xfrm>
            <a:off x="5410200" y="5421313"/>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D</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5" name="矩形: 圆角 14"/>
          <p:cNvSpPr/>
          <p:nvPr>
            <p:custDataLst>
              <p:tags r:id="rId10"/>
            </p:custDataLst>
          </p:nvPr>
        </p:nvSpPr>
        <p:spPr>
          <a:xfrm>
            <a:off x="6172200" y="6215063"/>
            <a:ext cx="1543050" cy="411163"/>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nchorCtr="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提交</a:t>
            </a:r>
            <a:endParaRPr kumimoji="0" lang="zh-CN" altLang="en-US" sz="16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grpSp>
        <p:nvGrpSpPr>
          <p:cNvPr id="67596" name="组合 19"/>
          <p:cNvGrpSpPr/>
          <p:nvPr/>
        </p:nvGrpSpPr>
        <p:grpSpPr>
          <a:xfrm>
            <a:off x="0" y="0"/>
            <a:ext cx="9144000" cy="635000"/>
            <a:chOff x="0" y="0"/>
            <a:chExt cx="9144000" cy="635000"/>
          </a:xfrm>
        </p:grpSpPr>
        <p:sp>
          <p:nvSpPr>
            <p:cNvPr id="16" name="TitleBackground"/>
            <p:cNvSpPr/>
            <p:nvPr>
              <p:custDataLst>
                <p:tags r:id="rId11"/>
              </p:custDataLst>
            </p:nvPr>
          </p:nvSpPr>
          <p:spPr>
            <a:xfrm>
              <a:off x="0" y="0"/>
              <a:ext cx="9144000" cy="635000"/>
            </a:xfrm>
            <a:prstGeom prst="rect">
              <a:avLst/>
            </a:prstGeom>
            <a:solidFill>
              <a:srgbClr val="F6F7F8"/>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ColorBlock"/>
            <p:cNvSpPr/>
            <p:nvPr>
              <p:custDataLst>
                <p:tags r:id="rId12"/>
              </p:custDataLst>
            </p:nvPr>
          </p:nvSpPr>
          <p:spPr>
            <a:xfrm>
              <a:off x="0" y="0"/>
              <a:ext cx="190500" cy="635000"/>
            </a:xfrm>
            <a:prstGeom prst="rect">
              <a:avLst/>
            </a:prstGeom>
            <a:solidFill>
              <a:srgbClr val="639EF4"/>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600"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7601" name="TipText"/>
            <p:cNvSpPr txBox="1"/>
            <p:nvPr>
              <p:custDataLst>
                <p:tags r:id="rId14"/>
              </p:custDataLst>
            </p:nvPr>
          </p:nvSpPr>
          <p:spPr>
            <a:xfrm>
              <a:off x="1427480"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dirty="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67597" name="图片 4"/>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1219200" y="457200"/>
            <a:ext cx="7086600" cy="7699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4400" dirty="0"/>
              <a:t>Checking Your Analysis (I)</a:t>
            </a:r>
            <a:endParaRPr lang="en-US" altLang="zh-CN" sz="4400" dirty="0"/>
          </a:p>
        </p:txBody>
      </p:sp>
      <p:grpSp>
        <p:nvGrpSpPr>
          <p:cNvPr id="2" name="Group 3"/>
          <p:cNvGrpSpPr/>
          <p:nvPr/>
        </p:nvGrpSpPr>
        <p:grpSpPr>
          <a:xfrm>
            <a:off x="304800" y="1828800"/>
            <a:ext cx="2209800" cy="685800"/>
            <a:chOff x="480" y="720"/>
            <a:chExt cx="1392" cy="432"/>
          </a:xfrm>
        </p:grpSpPr>
        <p:sp>
          <p:nvSpPr>
            <p:cNvPr id="68622" name="Form"/>
            <p:cNvSpPr>
              <a:spLocks noEditPoints="1"/>
            </p:cNvSpPr>
            <p:nvPr/>
          </p:nvSpPr>
          <p:spPr>
            <a:xfrm>
              <a:off x="480" y="720"/>
              <a:ext cx="1392" cy="43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 w="21600" h="21600">
                  <a:moveTo>
                    <a:pt x="12840" y="18507"/>
                  </a:moveTo>
                  <a:lnTo>
                    <a:pt x="16051" y="18507"/>
                  </a:lnTo>
                  <a:lnTo>
                    <a:pt x="16051" y="19260"/>
                  </a:lnTo>
                  <a:lnTo>
                    <a:pt x="12840" y="19260"/>
                  </a:lnTo>
                  <a:lnTo>
                    <a:pt x="12840" y="18507"/>
                  </a:lnTo>
                  <a:close/>
                </a:path>
                <a:path w="21600" h="21600">
                  <a:moveTo>
                    <a:pt x="16731" y="18507"/>
                  </a:moveTo>
                  <a:lnTo>
                    <a:pt x="19941" y="18507"/>
                  </a:lnTo>
                  <a:lnTo>
                    <a:pt x="19941" y="19260"/>
                  </a:lnTo>
                  <a:lnTo>
                    <a:pt x="16731" y="19260"/>
                  </a:lnTo>
                  <a:lnTo>
                    <a:pt x="16731" y="18507"/>
                  </a:lnTo>
                  <a:close/>
                </a:path>
                <a:path w="21600" h="21600">
                  <a:moveTo>
                    <a:pt x="1913" y="1194"/>
                  </a:moveTo>
                  <a:lnTo>
                    <a:pt x="3699" y="1194"/>
                  </a:lnTo>
                  <a:lnTo>
                    <a:pt x="2678" y="1832"/>
                  </a:lnTo>
                  <a:lnTo>
                    <a:pt x="2296" y="1538"/>
                  </a:lnTo>
                  <a:lnTo>
                    <a:pt x="2125" y="1636"/>
                  </a:lnTo>
                  <a:lnTo>
                    <a:pt x="2700" y="2078"/>
                  </a:lnTo>
                  <a:lnTo>
                    <a:pt x="3699" y="1440"/>
                  </a:lnTo>
                  <a:lnTo>
                    <a:pt x="3699" y="2176"/>
                  </a:lnTo>
                  <a:lnTo>
                    <a:pt x="1913" y="2176"/>
                  </a:lnTo>
                  <a:lnTo>
                    <a:pt x="1913" y="1194"/>
                  </a:lnTo>
                  <a:close/>
                </a:path>
                <a:path w="21600" h="21600">
                  <a:moveTo>
                    <a:pt x="1913" y="2765"/>
                  </a:moveTo>
                  <a:lnTo>
                    <a:pt x="3699" y="2765"/>
                  </a:lnTo>
                  <a:lnTo>
                    <a:pt x="2678" y="3403"/>
                  </a:lnTo>
                  <a:lnTo>
                    <a:pt x="2296" y="3109"/>
                  </a:lnTo>
                  <a:lnTo>
                    <a:pt x="2125" y="3207"/>
                  </a:lnTo>
                  <a:lnTo>
                    <a:pt x="2700" y="3649"/>
                  </a:lnTo>
                  <a:lnTo>
                    <a:pt x="3699" y="3010"/>
                  </a:lnTo>
                  <a:lnTo>
                    <a:pt x="3699" y="3747"/>
                  </a:lnTo>
                  <a:lnTo>
                    <a:pt x="1913" y="3747"/>
                  </a:lnTo>
                  <a:lnTo>
                    <a:pt x="1913" y="2765"/>
                  </a:lnTo>
                  <a:close/>
                </a:path>
                <a:path w="21600" h="21600">
                  <a:moveTo>
                    <a:pt x="1913" y="4336"/>
                  </a:moveTo>
                  <a:lnTo>
                    <a:pt x="3699" y="4336"/>
                  </a:lnTo>
                  <a:lnTo>
                    <a:pt x="2678" y="4974"/>
                  </a:lnTo>
                  <a:lnTo>
                    <a:pt x="2296" y="4680"/>
                  </a:lnTo>
                  <a:lnTo>
                    <a:pt x="2125" y="4778"/>
                  </a:lnTo>
                  <a:lnTo>
                    <a:pt x="2700" y="5220"/>
                  </a:lnTo>
                  <a:lnTo>
                    <a:pt x="3699" y="4581"/>
                  </a:lnTo>
                  <a:lnTo>
                    <a:pt x="3699" y="5318"/>
                  </a:lnTo>
                  <a:lnTo>
                    <a:pt x="1913" y="5318"/>
                  </a:lnTo>
                  <a:lnTo>
                    <a:pt x="1913" y="4336"/>
                  </a:lnTo>
                  <a:close/>
                </a:path>
                <a:path w="21600" h="21600">
                  <a:moveTo>
                    <a:pt x="1913" y="5907"/>
                  </a:moveTo>
                  <a:lnTo>
                    <a:pt x="3699" y="5907"/>
                  </a:lnTo>
                  <a:lnTo>
                    <a:pt x="2678" y="6545"/>
                  </a:lnTo>
                  <a:lnTo>
                    <a:pt x="2296" y="6250"/>
                  </a:lnTo>
                  <a:lnTo>
                    <a:pt x="2125" y="6349"/>
                  </a:lnTo>
                  <a:lnTo>
                    <a:pt x="2700" y="6790"/>
                  </a:lnTo>
                  <a:lnTo>
                    <a:pt x="3699" y="6152"/>
                  </a:lnTo>
                  <a:lnTo>
                    <a:pt x="3699" y="6889"/>
                  </a:lnTo>
                  <a:lnTo>
                    <a:pt x="1913" y="6889"/>
                  </a:lnTo>
                  <a:lnTo>
                    <a:pt x="1913" y="5907"/>
                  </a:lnTo>
                  <a:close/>
                </a:path>
                <a:path w="21600" h="21600">
                  <a:moveTo>
                    <a:pt x="1913" y="7478"/>
                  </a:moveTo>
                  <a:lnTo>
                    <a:pt x="3699" y="7478"/>
                  </a:lnTo>
                  <a:lnTo>
                    <a:pt x="2678" y="8116"/>
                  </a:lnTo>
                  <a:lnTo>
                    <a:pt x="2296" y="7821"/>
                  </a:lnTo>
                  <a:lnTo>
                    <a:pt x="2125" y="7919"/>
                  </a:lnTo>
                  <a:lnTo>
                    <a:pt x="2700" y="8361"/>
                  </a:lnTo>
                  <a:lnTo>
                    <a:pt x="3699" y="7723"/>
                  </a:lnTo>
                  <a:lnTo>
                    <a:pt x="3699" y="8460"/>
                  </a:lnTo>
                  <a:lnTo>
                    <a:pt x="1913" y="8460"/>
                  </a:lnTo>
                  <a:lnTo>
                    <a:pt x="1913" y="7478"/>
                  </a:lnTo>
                  <a:close/>
                </a:path>
                <a:path w="21600" h="21600">
                  <a:moveTo>
                    <a:pt x="1913" y="9049"/>
                  </a:moveTo>
                  <a:lnTo>
                    <a:pt x="3699" y="9049"/>
                  </a:lnTo>
                  <a:lnTo>
                    <a:pt x="2678" y="9687"/>
                  </a:lnTo>
                  <a:lnTo>
                    <a:pt x="2296" y="9392"/>
                  </a:lnTo>
                  <a:lnTo>
                    <a:pt x="2125" y="9490"/>
                  </a:lnTo>
                  <a:lnTo>
                    <a:pt x="2700" y="9932"/>
                  </a:lnTo>
                  <a:lnTo>
                    <a:pt x="3699" y="9294"/>
                  </a:lnTo>
                  <a:lnTo>
                    <a:pt x="3699" y="10030"/>
                  </a:lnTo>
                  <a:lnTo>
                    <a:pt x="1913" y="10030"/>
                  </a:lnTo>
                  <a:lnTo>
                    <a:pt x="1913" y="9049"/>
                  </a:lnTo>
                  <a:close/>
                </a:path>
                <a:path w="21600" h="21600">
                  <a:moveTo>
                    <a:pt x="1913" y="10620"/>
                  </a:moveTo>
                  <a:lnTo>
                    <a:pt x="3699" y="10620"/>
                  </a:lnTo>
                  <a:lnTo>
                    <a:pt x="2678" y="11258"/>
                  </a:lnTo>
                  <a:lnTo>
                    <a:pt x="2296" y="10963"/>
                  </a:lnTo>
                  <a:lnTo>
                    <a:pt x="2125" y="11061"/>
                  </a:lnTo>
                  <a:lnTo>
                    <a:pt x="2700" y="11503"/>
                  </a:lnTo>
                  <a:lnTo>
                    <a:pt x="3699" y="10865"/>
                  </a:lnTo>
                  <a:lnTo>
                    <a:pt x="3699" y="11601"/>
                  </a:lnTo>
                  <a:lnTo>
                    <a:pt x="1913" y="11601"/>
                  </a:lnTo>
                  <a:lnTo>
                    <a:pt x="1913" y="10620"/>
                  </a:lnTo>
                  <a:close/>
                </a:path>
                <a:path w="21600" h="21600">
                  <a:moveTo>
                    <a:pt x="1913" y="12190"/>
                  </a:moveTo>
                  <a:lnTo>
                    <a:pt x="3699" y="12190"/>
                  </a:lnTo>
                  <a:lnTo>
                    <a:pt x="2678" y="12829"/>
                  </a:lnTo>
                  <a:lnTo>
                    <a:pt x="2296" y="12534"/>
                  </a:lnTo>
                  <a:lnTo>
                    <a:pt x="2125" y="12632"/>
                  </a:lnTo>
                  <a:lnTo>
                    <a:pt x="2700" y="13074"/>
                  </a:lnTo>
                  <a:lnTo>
                    <a:pt x="3699" y="12436"/>
                  </a:lnTo>
                  <a:lnTo>
                    <a:pt x="3699" y="13172"/>
                  </a:lnTo>
                  <a:lnTo>
                    <a:pt x="1913" y="13172"/>
                  </a:lnTo>
                  <a:lnTo>
                    <a:pt x="1913" y="12190"/>
                  </a:lnTo>
                  <a:close/>
                </a:path>
                <a:path w="21600" h="21600">
                  <a:moveTo>
                    <a:pt x="1913" y="13761"/>
                  </a:moveTo>
                  <a:lnTo>
                    <a:pt x="3699" y="13761"/>
                  </a:lnTo>
                  <a:lnTo>
                    <a:pt x="2678" y="14400"/>
                  </a:lnTo>
                  <a:lnTo>
                    <a:pt x="2296" y="14105"/>
                  </a:lnTo>
                  <a:lnTo>
                    <a:pt x="2125" y="14203"/>
                  </a:lnTo>
                  <a:lnTo>
                    <a:pt x="2700" y="14645"/>
                  </a:lnTo>
                  <a:lnTo>
                    <a:pt x="3699" y="14007"/>
                  </a:lnTo>
                  <a:lnTo>
                    <a:pt x="3699" y="14743"/>
                  </a:lnTo>
                  <a:lnTo>
                    <a:pt x="1913" y="14743"/>
                  </a:lnTo>
                  <a:lnTo>
                    <a:pt x="1913" y="13761"/>
                  </a:lnTo>
                  <a:close/>
                </a:path>
                <a:path w="21600" h="21600">
                  <a:moveTo>
                    <a:pt x="1913" y="15332"/>
                  </a:moveTo>
                  <a:lnTo>
                    <a:pt x="3699" y="15332"/>
                  </a:lnTo>
                  <a:lnTo>
                    <a:pt x="2678" y="15970"/>
                  </a:lnTo>
                  <a:lnTo>
                    <a:pt x="2296" y="15676"/>
                  </a:lnTo>
                  <a:lnTo>
                    <a:pt x="2125" y="15774"/>
                  </a:lnTo>
                  <a:lnTo>
                    <a:pt x="2700" y="16216"/>
                  </a:lnTo>
                  <a:lnTo>
                    <a:pt x="3699" y="15578"/>
                  </a:lnTo>
                  <a:lnTo>
                    <a:pt x="3699" y="16314"/>
                  </a:lnTo>
                  <a:lnTo>
                    <a:pt x="1913" y="16314"/>
                  </a:lnTo>
                  <a:lnTo>
                    <a:pt x="1913" y="15332"/>
                  </a:lnTo>
                  <a:close/>
                </a:path>
              </a:pathLst>
            </a:custGeom>
            <a:solidFill>
              <a:srgbClr val="D8EBB3">
                <a:alpha val="100000"/>
              </a:srgb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74997"/>
                </a:srgbClr>
              </a:outerShdw>
            </a:effectLst>
          </p:spPr>
          <p:txBody>
            <a:bodyPr/>
            <a:p>
              <a:endParaRPr lang="zh-CN" altLang="en-US"/>
            </a:p>
          </p:txBody>
        </p:sp>
        <p:sp>
          <p:nvSpPr>
            <p:cNvPr id="68623" name="Text Box 5"/>
            <p:cNvSpPr txBox="1"/>
            <p:nvPr/>
          </p:nvSpPr>
          <p:spPr>
            <a:xfrm>
              <a:off x="816" y="768"/>
              <a:ext cx="105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chemeClr val="hlink"/>
                  </a:solidFill>
                  <a:latin typeface="Arial" panose="020B0604020202020204" pitchFamily="34" charset="0"/>
                </a:rPr>
                <a:t>Method  1</a:t>
              </a:r>
              <a:endParaRPr lang="en-US" altLang="zh-CN" sz="2400" b="1" dirty="0">
                <a:solidFill>
                  <a:schemeClr val="hlink"/>
                </a:solidFill>
                <a:latin typeface="Arial" panose="020B0604020202020204" pitchFamily="34" charset="0"/>
              </a:endParaRPr>
            </a:p>
          </p:txBody>
        </p:sp>
      </p:grpSp>
      <p:sp>
        <p:nvSpPr>
          <p:cNvPr id="75782" name="Text Box 6"/>
          <p:cNvSpPr txBox="1"/>
          <p:nvPr/>
        </p:nvSpPr>
        <p:spPr>
          <a:xfrm>
            <a:off x="2667000" y="1812925"/>
            <a:ext cx="6172200" cy="1323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dirty="0"/>
              <a:t>When T(N) = O(N), </a:t>
            </a:r>
            <a:endParaRPr lang="en-US" altLang="zh-CN" sz="2000" b="1" dirty="0"/>
          </a:p>
          <a:p>
            <a:pPr marL="0" lvl="0" indent="0" eaLnBrk="1" hangingPunct="1">
              <a:spcBef>
                <a:spcPct val="50000"/>
              </a:spcBef>
              <a:buNone/>
            </a:pPr>
            <a:r>
              <a:rPr lang="en-US" altLang="zh-CN" sz="2000" b="1" dirty="0"/>
              <a:t>When T(N) = O(N</a:t>
            </a:r>
            <a:r>
              <a:rPr lang="en-US" altLang="zh-CN" sz="2000" b="1" baseline="30000" dirty="0"/>
              <a:t>2</a:t>
            </a:r>
            <a:r>
              <a:rPr lang="en-US" altLang="zh-CN" sz="2000" b="1" dirty="0"/>
              <a:t>), </a:t>
            </a:r>
            <a:endParaRPr lang="en-US" altLang="zh-CN" sz="2000" b="1" dirty="0"/>
          </a:p>
          <a:p>
            <a:pPr marL="0" lvl="0" indent="0" eaLnBrk="1" hangingPunct="1">
              <a:spcBef>
                <a:spcPct val="50000"/>
              </a:spcBef>
              <a:buNone/>
            </a:pPr>
            <a:r>
              <a:rPr lang="en-US" altLang="zh-CN" sz="2000" b="1" dirty="0"/>
              <a:t>When T(N) = O(N</a:t>
            </a:r>
            <a:r>
              <a:rPr lang="en-US" altLang="zh-CN" sz="2000" b="1" baseline="30000" dirty="0"/>
              <a:t>3</a:t>
            </a:r>
            <a:r>
              <a:rPr lang="en-US" altLang="zh-CN" sz="2000" b="1" dirty="0"/>
              <a:t>), </a:t>
            </a:r>
            <a:endParaRPr lang="en-US" altLang="zh-CN" sz="2000" b="1" dirty="0"/>
          </a:p>
        </p:txBody>
      </p:sp>
      <p:grpSp>
        <p:nvGrpSpPr>
          <p:cNvPr id="3" name="Group 7"/>
          <p:cNvGrpSpPr/>
          <p:nvPr/>
        </p:nvGrpSpPr>
        <p:grpSpPr>
          <a:xfrm>
            <a:off x="228600" y="3581400"/>
            <a:ext cx="2209800" cy="685800"/>
            <a:chOff x="480" y="720"/>
            <a:chExt cx="1392" cy="432"/>
          </a:xfrm>
        </p:grpSpPr>
        <p:sp>
          <p:nvSpPr>
            <p:cNvPr id="68620" name="Form"/>
            <p:cNvSpPr>
              <a:spLocks noEditPoints="1"/>
            </p:cNvSpPr>
            <p:nvPr/>
          </p:nvSpPr>
          <p:spPr>
            <a:xfrm>
              <a:off x="480" y="720"/>
              <a:ext cx="1392" cy="43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 w="21600" h="21600">
                  <a:moveTo>
                    <a:pt x="12840" y="18507"/>
                  </a:moveTo>
                  <a:lnTo>
                    <a:pt x="16051" y="18507"/>
                  </a:lnTo>
                  <a:lnTo>
                    <a:pt x="16051" y="19260"/>
                  </a:lnTo>
                  <a:lnTo>
                    <a:pt x="12840" y="19260"/>
                  </a:lnTo>
                  <a:lnTo>
                    <a:pt x="12840" y="18507"/>
                  </a:lnTo>
                  <a:close/>
                </a:path>
                <a:path w="21600" h="21600">
                  <a:moveTo>
                    <a:pt x="16731" y="18507"/>
                  </a:moveTo>
                  <a:lnTo>
                    <a:pt x="19941" y="18507"/>
                  </a:lnTo>
                  <a:lnTo>
                    <a:pt x="19941" y="19260"/>
                  </a:lnTo>
                  <a:lnTo>
                    <a:pt x="16731" y="19260"/>
                  </a:lnTo>
                  <a:lnTo>
                    <a:pt x="16731" y="18507"/>
                  </a:lnTo>
                  <a:close/>
                </a:path>
                <a:path w="21600" h="21600">
                  <a:moveTo>
                    <a:pt x="1913" y="1194"/>
                  </a:moveTo>
                  <a:lnTo>
                    <a:pt x="3699" y="1194"/>
                  </a:lnTo>
                  <a:lnTo>
                    <a:pt x="2678" y="1832"/>
                  </a:lnTo>
                  <a:lnTo>
                    <a:pt x="2296" y="1538"/>
                  </a:lnTo>
                  <a:lnTo>
                    <a:pt x="2125" y="1636"/>
                  </a:lnTo>
                  <a:lnTo>
                    <a:pt x="2700" y="2078"/>
                  </a:lnTo>
                  <a:lnTo>
                    <a:pt x="3699" y="1440"/>
                  </a:lnTo>
                  <a:lnTo>
                    <a:pt x="3699" y="2176"/>
                  </a:lnTo>
                  <a:lnTo>
                    <a:pt x="1913" y="2176"/>
                  </a:lnTo>
                  <a:lnTo>
                    <a:pt x="1913" y="1194"/>
                  </a:lnTo>
                  <a:close/>
                </a:path>
                <a:path w="21600" h="21600">
                  <a:moveTo>
                    <a:pt x="1913" y="2765"/>
                  </a:moveTo>
                  <a:lnTo>
                    <a:pt x="3699" y="2765"/>
                  </a:lnTo>
                  <a:lnTo>
                    <a:pt x="2678" y="3403"/>
                  </a:lnTo>
                  <a:lnTo>
                    <a:pt x="2296" y="3109"/>
                  </a:lnTo>
                  <a:lnTo>
                    <a:pt x="2125" y="3207"/>
                  </a:lnTo>
                  <a:lnTo>
                    <a:pt x="2700" y="3649"/>
                  </a:lnTo>
                  <a:lnTo>
                    <a:pt x="3699" y="3010"/>
                  </a:lnTo>
                  <a:lnTo>
                    <a:pt x="3699" y="3747"/>
                  </a:lnTo>
                  <a:lnTo>
                    <a:pt x="1913" y="3747"/>
                  </a:lnTo>
                  <a:lnTo>
                    <a:pt x="1913" y="2765"/>
                  </a:lnTo>
                  <a:close/>
                </a:path>
                <a:path w="21600" h="21600">
                  <a:moveTo>
                    <a:pt x="1913" y="4336"/>
                  </a:moveTo>
                  <a:lnTo>
                    <a:pt x="3699" y="4336"/>
                  </a:lnTo>
                  <a:lnTo>
                    <a:pt x="2678" y="4974"/>
                  </a:lnTo>
                  <a:lnTo>
                    <a:pt x="2296" y="4680"/>
                  </a:lnTo>
                  <a:lnTo>
                    <a:pt x="2125" y="4778"/>
                  </a:lnTo>
                  <a:lnTo>
                    <a:pt x="2700" y="5220"/>
                  </a:lnTo>
                  <a:lnTo>
                    <a:pt x="3699" y="4581"/>
                  </a:lnTo>
                  <a:lnTo>
                    <a:pt x="3699" y="5318"/>
                  </a:lnTo>
                  <a:lnTo>
                    <a:pt x="1913" y="5318"/>
                  </a:lnTo>
                  <a:lnTo>
                    <a:pt x="1913" y="4336"/>
                  </a:lnTo>
                  <a:close/>
                </a:path>
                <a:path w="21600" h="21600">
                  <a:moveTo>
                    <a:pt x="1913" y="5907"/>
                  </a:moveTo>
                  <a:lnTo>
                    <a:pt x="3699" y="5907"/>
                  </a:lnTo>
                  <a:lnTo>
                    <a:pt x="2678" y="6545"/>
                  </a:lnTo>
                  <a:lnTo>
                    <a:pt x="2296" y="6250"/>
                  </a:lnTo>
                  <a:lnTo>
                    <a:pt x="2125" y="6349"/>
                  </a:lnTo>
                  <a:lnTo>
                    <a:pt x="2700" y="6790"/>
                  </a:lnTo>
                  <a:lnTo>
                    <a:pt x="3699" y="6152"/>
                  </a:lnTo>
                  <a:lnTo>
                    <a:pt x="3699" y="6889"/>
                  </a:lnTo>
                  <a:lnTo>
                    <a:pt x="1913" y="6889"/>
                  </a:lnTo>
                  <a:lnTo>
                    <a:pt x="1913" y="5907"/>
                  </a:lnTo>
                  <a:close/>
                </a:path>
                <a:path w="21600" h="21600">
                  <a:moveTo>
                    <a:pt x="1913" y="7478"/>
                  </a:moveTo>
                  <a:lnTo>
                    <a:pt x="3699" y="7478"/>
                  </a:lnTo>
                  <a:lnTo>
                    <a:pt x="2678" y="8116"/>
                  </a:lnTo>
                  <a:lnTo>
                    <a:pt x="2296" y="7821"/>
                  </a:lnTo>
                  <a:lnTo>
                    <a:pt x="2125" y="7919"/>
                  </a:lnTo>
                  <a:lnTo>
                    <a:pt x="2700" y="8361"/>
                  </a:lnTo>
                  <a:lnTo>
                    <a:pt x="3699" y="7723"/>
                  </a:lnTo>
                  <a:lnTo>
                    <a:pt x="3699" y="8460"/>
                  </a:lnTo>
                  <a:lnTo>
                    <a:pt x="1913" y="8460"/>
                  </a:lnTo>
                  <a:lnTo>
                    <a:pt x="1913" y="7478"/>
                  </a:lnTo>
                  <a:close/>
                </a:path>
                <a:path w="21600" h="21600">
                  <a:moveTo>
                    <a:pt x="1913" y="9049"/>
                  </a:moveTo>
                  <a:lnTo>
                    <a:pt x="3699" y="9049"/>
                  </a:lnTo>
                  <a:lnTo>
                    <a:pt x="2678" y="9687"/>
                  </a:lnTo>
                  <a:lnTo>
                    <a:pt x="2296" y="9392"/>
                  </a:lnTo>
                  <a:lnTo>
                    <a:pt x="2125" y="9490"/>
                  </a:lnTo>
                  <a:lnTo>
                    <a:pt x="2700" y="9932"/>
                  </a:lnTo>
                  <a:lnTo>
                    <a:pt x="3699" y="9294"/>
                  </a:lnTo>
                  <a:lnTo>
                    <a:pt x="3699" y="10030"/>
                  </a:lnTo>
                  <a:lnTo>
                    <a:pt x="1913" y="10030"/>
                  </a:lnTo>
                  <a:lnTo>
                    <a:pt x="1913" y="9049"/>
                  </a:lnTo>
                  <a:close/>
                </a:path>
                <a:path w="21600" h="21600">
                  <a:moveTo>
                    <a:pt x="1913" y="10620"/>
                  </a:moveTo>
                  <a:lnTo>
                    <a:pt x="3699" y="10620"/>
                  </a:lnTo>
                  <a:lnTo>
                    <a:pt x="2678" y="11258"/>
                  </a:lnTo>
                  <a:lnTo>
                    <a:pt x="2296" y="10963"/>
                  </a:lnTo>
                  <a:lnTo>
                    <a:pt x="2125" y="11061"/>
                  </a:lnTo>
                  <a:lnTo>
                    <a:pt x="2700" y="11503"/>
                  </a:lnTo>
                  <a:lnTo>
                    <a:pt x="3699" y="10865"/>
                  </a:lnTo>
                  <a:lnTo>
                    <a:pt x="3699" y="11601"/>
                  </a:lnTo>
                  <a:lnTo>
                    <a:pt x="1913" y="11601"/>
                  </a:lnTo>
                  <a:lnTo>
                    <a:pt x="1913" y="10620"/>
                  </a:lnTo>
                  <a:close/>
                </a:path>
                <a:path w="21600" h="21600">
                  <a:moveTo>
                    <a:pt x="1913" y="12190"/>
                  </a:moveTo>
                  <a:lnTo>
                    <a:pt x="3699" y="12190"/>
                  </a:lnTo>
                  <a:lnTo>
                    <a:pt x="2678" y="12829"/>
                  </a:lnTo>
                  <a:lnTo>
                    <a:pt x="2296" y="12534"/>
                  </a:lnTo>
                  <a:lnTo>
                    <a:pt x="2125" y="12632"/>
                  </a:lnTo>
                  <a:lnTo>
                    <a:pt x="2700" y="13074"/>
                  </a:lnTo>
                  <a:lnTo>
                    <a:pt x="3699" y="12436"/>
                  </a:lnTo>
                  <a:lnTo>
                    <a:pt x="3699" y="13172"/>
                  </a:lnTo>
                  <a:lnTo>
                    <a:pt x="1913" y="13172"/>
                  </a:lnTo>
                  <a:lnTo>
                    <a:pt x="1913" y="12190"/>
                  </a:lnTo>
                  <a:close/>
                </a:path>
                <a:path w="21600" h="21600">
                  <a:moveTo>
                    <a:pt x="1913" y="13761"/>
                  </a:moveTo>
                  <a:lnTo>
                    <a:pt x="3699" y="13761"/>
                  </a:lnTo>
                  <a:lnTo>
                    <a:pt x="2678" y="14400"/>
                  </a:lnTo>
                  <a:lnTo>
                    <a:pt x="2296" y="14105"/>
                  </a:lnTo>
                  <a:lnTo>
                    <a:pt x="2125" y="14203"/>
                  </a:lnTo>
                  <a:lnTo>
                    <a:pt x="2700" y="14645"/>
                  </a:lnTo>
                  <a:lnTo>
                    <a:pt x="3699" y="14007"/>
                  </a:lnTo>
                  <a:lnTo>
                    <a:pt x="3699" y="14743"/>
                  </a:lnTo>
                  <a:lnTo>
                    <a:pt x="1913" y="14743"/>
                  </a:lnTo>
                  <a:lnTo>
                    <a:pt x="1913" y="13761"/>
                  </a:lnTo>
                  <a:close/>
                </a:path>
                <a:path w="21600" h="21600">
                  <a:moveTo>
                    <a:pt x="1913" y="15332"/>
                  </a:moveTo>
                  <a:lnTo>
                    <a:pt x="3699" y="15332"/>
                  </a:lnTo>
                  <a:lnTo>
                    <a:pt x="2678" y="15970"/>
                  </a:lnTo>
                  <a:lnTo>
                    <a:pt x="2296" y="15676"/>
                  </a:lnTo>
                  <a:lnTo>
                    <a:pt x="2125" y="15774"/>
                  </a:lnTo>
                  <a:lnTo>
                    <a:pt x="2700" y="16216"/>
                  </a:lnTo>
                  <a:lnTo>
                    <a:pt x="3699" y="15578"/>
                  </a:lnTo>
                  <a:lnTo>
                    <a:pt x="3699" y="16314"/>
                  </a:lnTo>
                  <a:lnTo>
                    <a:pt x="1913" y="16314"/>
                  </a:lnTo>
                  <a:lnTo>
                    <a:pt x="1913" y="15332"/>
                  </a:lnTo>
                  <a:close/>
                </a:path>
              </a:pathLst>
            </a:custGeom>
            <a:solidFill>
              <a:srgbClr val="D8EBB3">
                <a:alpha val="100000"/>
              </a:srgb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74997"/>
                </a:srgbClr>
              </a:outerShdw>
            </a:effectLst>
          </p:spPr>
          <p:txBody>
            <a:bodyPr/>
            <a:p>
              <a:endParaRPr lang="zh-CN" altLang="en-US"/>
            </a:p>
          </p:txBody>
        </p:sp>
        <p:sp>
          <p:nvSpPr>
            <p:cNvPr id="68621" name="Text Box 9"/>
            <p:cNvSpPr txBox="1"/>
            <p:nvPr/>
          </p:nvSpPr>
          <p:spPr>
            <a:xfrm>
              <a:off x="816" y="768"/>
              <a:ext cx="105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dirty="0">
                  <a:solidFill>
                    <a:schemeClr val="hlink"/>
                  </a:solidFill>
                  <a:latin typeface="Arial" panose="020B0604020202020204" pitchFamily="34" charset="0"/>
                </a:rPr>
                <a:t>Method  2</a:t>
              </a:r>
              <a:endParaRPr lang="en-US" altLang="zh-CN" sz="2400" b="1" dirty="0">
                <a:solidFill>
                  <a:schemeClr val="hlink"/>
                </a:solidFill>
                <a:latin typeface="Arial" panose="020B0604020202020204" pitchFamily="34" charset="0"/>
              </a:endParaRPr>
            </a:p>
          </p:txBody>
        </p:sp>
      </p:grpSp>
      <p:sp>
        <p:nvSpPr>
          <p:cNvPr id="75789" name="AutoShape 13"/>
          <p:cNvSpPr/>
          <p:nvPr/>
        </p:nvSpPr>
        <p:spPr>
          <a:xfrm flipH="1">
            <a:off x="838200" y="5181600"/>
            <a:ext cx="7162800" cy="990600"/>
          </a:xfrm>
          <a:prstGeom prst="horizontalScroll">
            <a:avLst>
              <a:gd name="adj" fmla="val 12500"/>
            </a:avLst>
          </a:prstGeom>
          <a:gradFill rotWithShape="0">
            <a:gsLst>
              <a:gs pos="0">
                <a:srgbClr val="C0C0C0"/>
              </a:gs>
              <a:gs pos="50000">
                <a:srgbClr val="FFFFFF"/>
              </a:gs>
              <a:gs pos="100000">
                <a:srgbClr val="C0C0C0"/>
              </a:gs>
            </a:gsLst>
            <a:lin ang="0" scaled="1"/>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t>Read the example given on p.28 (Figures 2.12 &amp; 2.13).</a:t>
            </a:r>
            <a:endParaRPr lang="en-US" altLang="zh-CN" sz="2000" b="1" dirty="0"/>
          </a:p>
        </p:txBody>
      </p:sp>
      <p:grpSp>
        <p:nvGrpSpPr>
          <p:cNvPr id="4" name="组合 1"/>
          <p:cNvGrpSpPr/>
          <p:nvPr/>
        </p:nvGrpSpPr>
        <p:grpSpPr>
          <a:xfrm>
            <a:off x="2743200" y="3616325"/>
            <a:ext cx="5715000" cy="1149350"/>
            <a:chOff x="2743200" y="3540125"/>
            <a:chExt cx="5714898" cy="1149350"/>
          </a:xfrm>
        </p:grpSpPr>
        <p:sp>
          <p:nvSpPr>
            <p:cNvPr id="68617" name="Text Box 11"/>
            <p:cNvSpPr txBox="1"/>
            <p:nvPr/>
          </p:nvSpPr>
          <p:spPr>
            <a:xfrm>
              <a:off x="2743200" y="3540125"/>
              <a:ext cx="55626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dirty="0"/>
                <a:t>When T(N) = O( f (N) ), check if</a:t>
              </a:r>
              <a:endParaRPr lang="en-US" altLang="zh-CN" sz="2000" b="1" dirty="0"/>
            </a:p>
          </p:txBody>
        </p:sp>
        <p:graphicFrame>
          <p:nvGraphicFramePr>
            <p:cNvPr id="68618" name="Object 12"/>
            <p:cNvGraphicFramePr>
              <a:graphicFrameLocks noChangeAspect="1"/>
            </p:cNvGraphicFramePr>
            <p:nvPr/>
          </p:nvGraphicFramePr>
          <p:xfrm>
            <a:off x="2895600" y="4038600"/>
            <a:ext cx="2395538" cy="650875"/>
          </p:xfrm>
          <a:graphic>
            <a:graphicData uri="http://schemas.openxmlformats.org/presentationml/2006/ole">
              <mc:AlternateContent xmlns:mc="http://schemas.openxmlformats.org/markup-compatibility/2006">
                <mc:Choice xmlns:v="urn:schemas-microsoft-com:vml" Requires="v">
                  <p:oleObj spid="_x0000_s3085" name="" r:id="rId1" imgW="1117600" imgH="419100" progId="Equation.3">
                    <p:embed/>
                  </p:oleObj>
                </mc:Choice>
                <mc:Fallback>
                  <p:oleObj name="" r:id="rId1" imgW="1117600" imgH="419100" progId="Equation.3">
                    <p:embed/>
                    <p:pic>
                      <p:nvPicPr>
                        <p:cNvPr id="0" name="图片 3084"/>
                        <p:cNvPicPr/>
                        <p:nvPr/>
                      </p:nvPicPr>
                      <p:blipFill>
                        <a:blip r:embed="rId2"/>
                        <a:stretch>
                          <a:fillRect/>
                        </a:stretch>
                      </p:blipFill>
                      <p:spPr>
                        <a:xfrm>
                          <a:off x="2895600" y="4038600"/>
                          <a:ext cx="2395538" cy="650875"/>
                        </a:xfrm>
                        <a:prstGeom prst="rect">
                          <a:avLst/>
                        </a:prstGeom>
                        <a:noFill/>
                        <a:ln w="38100">
                          <a:noFill/>
                          <a:miter/>
                        </a:ln>
                      </p:spPr>
                    </p:pic>
                  </p:oleObj>
                </mc:Fallback>
              </mc:AlternateContent>
            </a:graphicData>
          </a:graphic>
        </p:graphicFrame>
        <p:sp>
          <p:nvSpPr>
            <p:cNvPr id="68619" name="Text Box 16"/>
            <p:cNvSpPr txBox="1"/>
            <p:nvPr/>
          </p:nvSpPr>
          <p:spPr>
            <a:xfrm>
              <a:off x="5257698" y="4133421"/>
              <a:ext cx="3200400" cy="48021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dirty="0"/>
                <a:t>for a range of N </a:t>
              </a:r>
              <a:endParaRPr lang="en-US" altLang="zh-CN" sz="2000" b="1" dirty="0"/>
            </a:p>
          </p:txBody>
        </p:sp>
      </p:grpSp>
      <p:sp>
        <p:nvSpPr>
          <p:cNvPr id="15" name="Text Box 6"/>
          <p:cNvSpPr txBox="1"/>
          <p:nvPr/>
        </p:nvSpPr>
        <p:spPr>
          <a:xfrm>
            <a:off x="5334000" y="1812925"/>
            <a:ext cx="3429000" cy="17684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000" b="1" dirty="0"/>
              <a:t>check if T(2N)/T(N) </a:t>
            </a:r>
            <a:r>
              <a:rPr lang="en-US" altLang="zh-CN" sz="2000" b="1" dirty="0">
                <a:sym typeface="Symbol" panose="05050102010706020507" pitchFamily="18" charset="2"/>
              </a:rPr>
              <a:t> 2</a:t>
            </a:r>
            <a:endParaRPr lang="en-US" altLang="zh-CN" sz="2000" b="1" dirty="0">
              <a:sym typeface="Symbol" panose="05050102010706020507" pitchFamily="18" charset="2"/>
            </a:endParaRPr>
          </a:p>
          <a:p>
            <a:pPr marL="0" lvl="0" indent="0" eaLnBrk="1" hangingPunct="1">
              <a:spcBef>
                <a:spcPct val="50000"/>
              </a:spcBef>
              <a:buNone/>
            </a:pPr>
            <a:r>
              <a:rPr lang="en-US" altLang="zh-CN" sz="2000" b="1" dirty="0"/>
              <a:t>check if T(2N)/T(N) </a:t>
            </a:r>
            <a:r>
              <a:rPr lang="en-US" altLang="zh-CN" sz="2000" b="1" dirty="0">
                <a:sym typeface="Symbol" panose="05050102010706020507" pitchFamily="18" charset="2"/>
              </a:rPr>
              <a:t> 4</a:t>
            </a:r>
            <a:endParaRPr lang="en-US" altLang="zh-CN" sz="2000" b="1" dirty="0"/>
          </a:p>
          <a:p>
            <a:pPr marL="0" lvl="0" indent="0" eaLnBrk="1" hangingPunct="1">
              <a:spcBef>
                <a:spcPct val="50000"/>
              </a:spcBef>
              <a:buNone/>
            </a:pPr>
            <a:r>
              <a:rPr lang="en-US" altLang="zh-CN" sz="2000" b="1" dirty="0"/>
              <a:t>check if T(2N)/T(N) </a:t>
            </a:r>
            <a:r>
              <a:rPr lang="en-US" altLang="zh-CN" sz="2000" b="1" dirty="0">
                <a:sym typeface="Symbol" panose="05050102010706020507" pitchFamily="18" charset="2"/>
              </a:rPr>
              <a:t> 8</a:t>
            </a:r>
            <a:endParaRPr lang="en-US" altLang="zh-CN" sz="2000" b="1" dirty="0"/>
          </a:p>
          <a:p>
            <a:pPr marL="0" lvl="0" indent="0" eaLnBrk="1" hangingPunct="1">
              <a:spcBef>
                <a:spcPct val="50000"/>
              </a:spcBef>
              <a:buNone/>
            </a:pPr>
            <a:r>
              <a:rPr lang="en-US" altLang="zh-CN" sz="2000" b="1" dirty="0"/>
              <a:t>… …</a:t>
            </a:r>
            <a:endParaRPr lang="en-US" altLang="zh-CN"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wipe(left)">
                                      <p:cBhvr>
                                        <p:cTn id="7" dur="500"/>
                                        <p:tgtEl>
                                          <p:spTgt spid="75778"/>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5782"/>
                                        </p:tgtEl>
                                        <p:attrNameLst>
                                          <p:attrName>style.visibility</p:attrName>
                                        </p:attrNameLst>
                                      </p:cBhvr>
                                      <p:to>
                                        <p:strVal val="visible"/>
                                      </p:to>
                                    </p:set>
                                    <p:animEffect transition="in" filter="wipe(up)">
                                      <p:cBhvr>
                                        <p:cTn id="17" dur="500"/>
                                        <p:tgtEl>
                                          <p:spTgt spid="757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5789"/>
                                        </p:tgtEl>
                                        <p:attrNameLst>
                                          <p:attrName>style.visibility</p:attrName>
                                        </p:attrNameLst>
                                      </p:cBhvr>
                                      <p:to>
                                        <p:strVal val="visible"/>
                                      </p:to>
                                    </p:set>
                                    <p:animEffect transition="in" filter="wipe(left)">
                                      <p:cBhvr>
                                        <p:cTn id="36" dur="500"/>
                                        <p:tgtEl>
                                          <p:spTgt spid="75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782" grpId="0"/>
      <p:bldP spid="75789" grpId="0" animBg="1"/>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图片 1"/>
          <p:cNvPicPr>
            <a:picLocks noChangeAspect="1"/>
          </p:cNvPicPr>
          <p:nvPr/>
        </p:nvPicPr>
        <p:blipFill>
          <a:blip r:embed="rId1"/>
          <a:stretch>
            <a:fillRect/>
          </a:stretch>
        </p:blipFill>
        <p:spPr>
          <a:xfrm>
            <a:off x="1219200" y="458788"/>
            <a:ext cx="4514850" cy="2513012"/>
          </a:xfrm>
          <a:prstGeom prst="rect">
            <a:avLst/>
          </a:prstGeom>
          <a:noFill/>
          <a:ln w="9525">
            <a:noFill/>
          </a:ln>
        </p:spPr>
      </p:pic>
      <p:pic>
        <p:nvPicPr>
          <p:cNvPr id="69635" name="图片 2"/>
          <p:cNvPicPr>
            <a:picLocks noChangeAspect="1"/>
          </p:cNvPicPr>
          <p:nvPr/>
        </p:nvPicPr>
        <p:blipFill>
          <a:blip r:embed="rId2"/>
          <a:stretch>
            <a:fillRect/>
          </a:stretch>
        </p:blipFill>
        <p:spPr>
          <a:xfrm>
            <a:off x="1143000" y="2994025"/>
            <a:ext cx="4532313" cy="3406775"/>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0658" name="Rectangle 2"/>
          <p:cNvSpPr>
            <a:spLocks noGrp="1"/>
          </p:cNvSpPr>
          <p:nvPr>
            <p:ph type="title"/>
          </p:nvPr>
        </p:nvSpPr>
        <p:spPr/>
        <p:txBody>
          <a:bodyPr vert="horz" wrap="square" lIns="91440" tIns="45720" rIns="91440" bIns="45720" anchor="b" anchorCtr="0"/>
          <a:p>
            <a:pPr eaLnBrk="1" hangingPunct="1"/>
            <a:r>
              <a:rPr lang="en-US" altLang="zh-CN" dirty="0"/>
              <a:t>Max Subsequence Problem</a:t>
            </a:r>
            <a:endParaRPr lang="en-US" altLang="zh-CN" dirty="0"/>
          </a:p>
        </p:txBody>
      </p:sp>
      <p:sp>
        <p:nvSpPr>
          <p:cNvPr id="47107" name="Rectangle 3"/>
          <p:cNvSpPr>
            <a:spLocks noGrp="1"/>
          </p:cNvSpPr>
          <p:nvPr>
            <p:ph type="body" sz="half" idx="1"/>
          </p:nvPr>
        </p:nvSpPr>
        <p:spPr>
          <a:xfrm>
            <a:off x="685800" y="1828800"/>
            <a:ext cx="7924800" cy="3657600"/>
          </a:xfrm>
        </p:spPr>
        <p:txBody>
          <a:bodyPr vert="horz" wrap="square" lIns="91440" tIns="45720" rIns="91440" bIns="45720" anchor="t" anchorCtr="0"/>
          <a:p>
            <a:pPr eaLnBrk="1" hangingPunct="1">
              <a:buClrTx/>
              <a:buSzTx/>
              <a:buFontTx/>
            </a:pPr>
            <a:r>
              <a:rPr lang="en-US" altLang="zh-CN" sz="2000" dirty="0"/>
              <a:t>Given a sequence of integers A1, A2, …, An, find the maximum possible sum of a </a:t>
            </a:r>
            <a:r>
              <a:rPr lang="en-US" altLang="zh-CN" sz="2000" dirty="0">
                <a:solidFill>
                  <a:srgbClr val="FF3300"/>
                </a:solidFill>
              </a:rPr>
              <a:t>subsequence</a:t>
            </a:r>
            <a:r>
              <a:rPr lang="en-US" altLang="zh-CN" sz="2000" dirty="0"/>
              <a:t> Ai, …, Aj:</a:t>
            </a:r>
            <a:endParaRPr lang="en-US" altLang="zh-CN" sz="2000" dirty="0"/>
          </a:p>
          <a:p>
            <a:pPr eaLnBrk="1" hangingPunct="1">
              <a:buClrTx/>
              <a:buSzTx/>
              <a:buFontTx/>
            </a:pPr>
            <a:r>
              <a:rPr lang="en-US" altLang="zh-CN" sz="2000" dirty="0"/>
              <a:t>Numbers can be negative.</a:t>
            </a:r>
            <a:endParaRPr lang="en-US" altLang="zh-CN" sz="2000" dirty="0"/>
          </a:p>
          <a:p>
            <a:pPr eaLnBrk="1" hangingPunct="1">
              <a:buClrTx/>
              <a:buSzTx/>
              <a:buFontTx/>
            </a:pPr>
            <a:r>
              <a:rPr lang="en-US" altLang="zh-CN" sz="2000" dirty="0"/>
              <a:t>You want a </a:t>
            </a:r>
            <a:r>
              <a:rPr lang="en-US" altLang="zh-CN" sz="2000" dirty="0">
                <a:solidFill>
                  <a:srgbClr val="FF3300"/>
                </a:solidFill>
              </a:rPr>
              <a:t>contiguous </a:t>
            </a:r>
            <a:r>
              <a:rPr lang="en-US" altLang="zh-CN" sz="2000" dirty="0"/>
              <a:t>chunk with largest sum.</a:t>
            </a:r>
            <a:endParaRPr lang="en-US" altLang="zh-CN" sz="2000" dirty="0"/>
          </a:p>
          <a:p>
            <a:pPr eaLnBrk="1" hangingPunct="1">
              <a:buClrTx/>
              <a:buSzTx/>
              <a:buFontTx/>
            </a:pPr>
            <a:endParaRPr lang="en-US" altLang="zh-CN" sz="2000" dirty="0"/>
          </a:p>
          <a:p>
            <a:pPr eaLnBrk="1" hangingPunct="1">
              <a:buClrTx/>
              <a:buSzTx/>
              <a:buFontTx/>
            </a:pPr>
            <a:r>
              <a:rPr lang="en-US" altLang="zh-CN" sz="2000" dirty="0"/>
              <a:t>Example:   -2, 11, -4, 13, -5, -2</a:t>
            </a:r>
            <a:endParaRPr lang="en-US" altLang="zh-CN" sz="2000" dirty="0"/>
          </a:p>
          <a:p>
            <a:pPr eaLnBrk="1" hangingPunct="1">
              <a:buClrTx/>
              <a:buSzTx/>
              <a:buFontTx/>
            </a:pPr>
            <a:r>
              <a:rPr lang="en-US" altLang="zh-CN" sz="2000" dirty="0"/>
              <a:t>The answer is  20    (subseq.  A2 through A4).</a:t>
            </a:r>
            <a:endParaRPr lang="en-US" altLang="zh-CN" sz="2000" dirty="0"/>
          </a:p>
          <a:p>
            <a:pPr eaLnBrk="1" hangingPunct="1">
              <a:buClrTx/>
              <a:buSzTx/>
              <a:buFontTx/>
            </a:pPr>
            <a:endParaRPr lang="en-US" altLang="zh-CN" sz="2000" dirty="0"/>
          </a:p>
          <a:p>
            <a:pPr eaLnBrk="1" hangingPunct="1">
              <a:buClrTx/>
              <a:buSzTx/>
              <a:buFontTx/>
            </a:pPr>
            <a:r>
              <a:rPr lang="en-US" altLang="zh-CN" sz="2000" dirty="0"/>
              <a:t>We will discuss 4 different algorithms, with time complexities  </a:t>
            </a:r>
            <a:r>
              <a:rPr lang="en-US" altLang="zh-CN" sz="2000" dirty="0">
                <a:solidFill>
                  <a:srgbClr val="FF0000"/>
                </a:solidFill>
              </a:rPr>
              <a:t>O(n</a:t>
            </a:r>
            <a:r>
              <a:rPr lang="en-US" altLang="zh-CN" sz="2000" baseline="30000" dirty="0">
                <a:solidFill>
                  <a:srgbClr val="FF0000"/>
                </a:solidFill>
              </a:rPr>
              <a:t>3</a:t>
            </a:r>
            <a:r>
              <a:rPr lang="en-US" altLang="zh-CN" sz="2000" dirty="0">
                <a:solidFill>
                  <a:srgbClr val="FF0000"/>
                </a:solidFill>
              </a:rPr>
              <a:t>)</a:t>
            </a:r>
            <a:r>
              <a:rPr lang="en-US" altLang="zh-CN" sz="2000" dirty="0"/>
              <a:t>, </a:t>
            </a:r>
            <a:r>
              <a:rPr lang="en-US" altLang="zh-CN" sz="2000" dirty="0">
                <a:solidFill>
                  <a:srgbClr val="FF0000"/>
                </a:solidFill>
              </a:rPr>
              <a:t>O(n</a:t>
            </a:r>
            <a:r>
              <a:rPr lang="en-US" altLang="zh-CN" sz="2000" baseline="30000" dirty="0">
                <a:solidFill>
                  <a:srgbClr val="FF0000"/>
                </a:solidFill>
              </a:rPr>
              <a:t>2</a:t>
            </a:r>
            <a:r>
              <a:rPr lang="en-US" altLang="zh-CN" sz="2000" dirty="0">
                <a:solidFill>
                  <a:srgbClr val="FF0000"/>
                </a:solidFill>
              </a:rPr>
              <a:t>)</a:t>
            </a:r>
            <a:r>
              <a:rPr lang="en-US" altLang="zh-CN" sz="2000" dirty="0"/>
              <a:t>, </a:t>
            </a:r>
            <a:r>
              <a:rPr lang="en-US" altLang="zh-CN" sz="2000" dirty="0">
                <a:solidFill>
                  <a:srgbClr val="FF0000"/>
                </a:solidFill>
              </a:rPr>
              <a:t>O(n log n)</a:t>
            </a:r>
            <a:r>
              <a:rPr lang="en-US" altLang="zh-CN" sz="2000" dirty="0"/>
              <a:t>, and </a:t>
            </a:r>
            <a:r>
              <a:rPr lang="en-US" altLang="zh-CN" sz="2000" dirty="0">
                <a:solidFill>
                  <a:srgbClr val="FF0000"/>
                </a:solidFill>
              </a:rPr>
              <a:t>O(n)</a:t>
            </a:r>
            <a:r>
              <a:rPr lang="en-US" altLang="zh-CN" sz="2000" dirty="0"/>
              <a:t>.</a:t>
            </a:r>
            <a:endParaRPr lang="en-US" altLang="zh-CN" sz="2000" dirty="0"/>
          </a:p>
          <a:p>
            <a:pPr eaLnBrk="1" hangingPunct="1">
              <a:buClrTx/>
              <a:buSzTx/>
              <a:buFontTx/>
            </a:pPr>
            <a:r>
              <a:rPr lang="en-US" altLang="zh-CN" sz="2000" dirty="0"/>
              <a:t>With n = 10</a:t>
            </a:r>
            <a:r>
              <a:rPr lang="en-US" altLang="zh-CN" sz="2000" baseline="30000" dirty="0"/>
              <a:t>6</a:t>
            </a:r>
            <a:r>
              <a:rPr lang="en-US" altLang="zh-CN" sz="2000" dirty="0"/>
              <a:t>, algorithm 1 may take &gt; 10 years;  algorithm 4 will take a fraction of a second!</a:t>
            </a:r>
            <a:endParaRPr lang="en-US" altLang="zh-CN" sz="2000" dirty="0"/>
          </a:p>
        </p:txBody>
      </p:sp>
      <p:sp>
        <p:nvSpPr>
          <p:cNvPr id="70660" name="Rectangle 4"/>
          <p:cNvSpPr/>
          <p:nvPr/>
        </p:nvSpPr>
        <p:spPr>
          <a:xfrm>
            <a:off x="290513" y="5857875"/>
            <a:ext cx="174625" cy="428625"/>
          </a:xfrm>
          <a:prstGeom prst="rect">
            <a:avLst/>
          </a:prstGeom>
          <a:noFill/>
          <a:ln w="9525">
            <a:noFill/>
          </a:ln>
        </p:spPr>
        <p:txBody>
          <a:bodyPr wrap="none" lIns="86493" tIns="43247" rIns="86493" bIns="43247">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defTabSz="865505">
              <a:spcBef>
                <a:spcPct val="0"/>
              </a:spcBef>
              <a:buNone/>
            </a:pPr>
            <a:endParaRPr lang="zh-CN" altLang="zh-CN" sz="2300" dirty="0">
              <a:latin typeface="Times New Roman" panose="02020603050405020304" pitchFamily="18" charset="0"/>
            </a:endParaRPr>
          </a:p>
        </p:txBody>
      </p:sp>
      <p:graphicFrame>
        <p:nvGraphicFramePr>
          <p:cNvPr id="70661" name="Object 5"/>
          <p:cNvGraphicFramePr>
            <a:graphicFrameLocks noChangeAspect="1"/>
          </p:cNvGraphicFramePr>
          <p:nvPr>
            <p:ph sz="half" idx="2"/>
          </p:nvPr>
        </p:nvGraphicFramePr>
        <p:xfrm>
          <a:off x="6019800" y="2152650"/>
          <a:ext cx="1066800" cy="520700"/>
        </p:xfrm>
        <a:graphic>
          <a:graphicData uri="http://schemas.openxmlformats.org/presentationml/2006/ole">
            <mc:AlternateContent xmlns:mc="http://schemas.openxmlformats.org/markup-compatibility/2006">
              <mc:Choice xmlns:v="urn:schemas-microsoft-com:vml" Requires="v">
                <p:oleObj spid="_x0000_s3086" name="" r:id="rId1" imgW="469900" imgH="228600" progId="Equation.3">
                  <p:embed/>
                </p:oleObj>
              </mc:Choice>
              <mc:Fallback>
                <p:oleObj name="" r:id="rId1" imgW="469900" imgH="228600" progId="Equation.3">
                  <p:embed/>
                  <p:pic>
                    <p:nvPicPr>
                      <p:cNvPr id="0" name="图片 3085"/>
                      <p:cNvPicPr/>
                      <p:nvPr/>
                    </p:nvPicPr>
                    <p:blipFill>
                      <a:blip r:embed="rId2"/>
                      <a:srcRect/>
                      <a:stretch>
                        <a:fillRect/>
                      </a:stretch>
                    </p:blipFill>
                    <p:spPr>
                      <a:xfrm>
                        <a:off x="6019800" y="2152650"/>
                        <a:ext cx="1066800" cy="520700"/>
                      </a:xfrm>
                      <a:prstGeom prst="rect">
                        <a:avLst/>
                      </a:prstGeom>
                      <a:noFill/>
                      <a:ln w="38100">
                        <a:miter/>
                      </a:ln>
                    </p:spPr>
                  </p:pic>
                </p:oleObj>
              </mc:Fallback>
            </mc:AlternateContent>
          </a:graphicData>
        </a:graphic>
      </p:graphicFrame>
      <p:sp>
        <p:nvSpPr>
          <p:cNvPr id="47111" name="AutoShape 7"/>
          <p:cNvSpPr/>
          <p:nvPr/>
        </p:nvSpPr>
        <p:spPr>
          <a:xfrm>
            <a:off x="6019800" y="2819400"/>
            <a:ext cx="3124200" cy="1143000"/>
          </a:xfrm>
          <a:prstGeom prst="wedgeEllipseCallout">
            <a:avLst>
              <a:gd name="adj1" fmla="val -35366"/>
              <a:gd name="adj2" fmla="val -78889"/>
            </a:avLst>
          </a:prstGeom>
          <a:gradFill rotWithShape="0">
            <a:gsLst>
              <a:gs pos="0">
                <a:srgbClr val="C0C0C0"/>
              </a:gs>
              <a:gs pos="100000">
                <a:srgbClr val="FFFFFF"/>
              </a:gs>
            </a:gsLst>
            <a:lin ang="2700000" scaled="1"/>
            <a:tileRect/>
          </a:gra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Max sum is 0 if all the integers are negative.</a:t>
            </a:r>
            <a:endParaRPr lang="en-US" altLang="zh-CN" sz="20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7111"/>
                                        </p:tgtEl>
                                        <p:attrNameLst>
                                          <p:attrName>style.visibility</p:attrName>
                                        </p:attrNameLst>
                                      </p:cBhvr>
                                      <p:to>
                                        <p:strVal val="visible"/>
                                      </p:to>
                                    </p:set>
                                    <p:animEffect transition="in" filter="strips(downRight)">
                                      <p:cBhvr>
                                        <p:cTn id="7" dur="500"/>
                                        <p:tgtEl>
                                          <p:spTgt spid="47111"/>
                                        </p:tgtEl>
                                      </p:cBhvr>
                                    </p:animEffect>
                                  </p:childTnLst>
                                  <p:subTnLst>
                                    <p:set>
                                      <p:cBhvr override="childStyle">
                                        <p:cTn dur="1" fill="hold" display="0" masterRel="nextClick" afterEffect="1"/>
                                        <p:tgtEl>
                                          <p:spTgt spid="4711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47111"/>
                                        </p:tgtEl>
                                      </p:cBhvr>
                                    </p:animEffect>
                                    <p:set>
                                      <p:cBhvr>
                                        <p:cTn id="12" dur="1" fill="hold">
                                          <p:stCondLst>
                                            <p:cond delay="499"/>
                                          </p:stCondLst>
                                        </p:cTn>
                                        <p:tgtEl>
                                          <p:spTgt spid="471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7107">
                                            <p:txEl>
                                              <p:charRg st="174" end="208"/>
                                            </p:txEl>
                                          </p:spTgt>
                                        </p:tgtEl>
                                        <p:attrNameLst>
                                          <p:attrName>style.visibility</p:attrName>
                                        </p:attrNameLst>
                                      </p:cBhvr>
                                      <p:to>
                                        <p:strVal val="visible"/>
                                      </p:to>
                                    </p:set>
                                    <p:animEffect transition="in" filter="blinds(horizontal)">
                                      <p:cBhvr>
                                        <p:cTn id="17" dur="500"/>
                                        <p:tgtEl>
                                          <p:spTgt spid="47107">
                                            <p:txEl>
                                              <p:charRg st="174" end="20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7107">
                                            <p:txEl>
                                              <p:charRg st="208" end="25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7107">
                                            <p:txEl>
                                              <p:charRg st="256" end="356"/>
                                            </p:txEl>
                                          </p:spTgt>
                                        </p:tgtEl>
                                        <p:attrNameLst>
                                          <p:attrName>style.visibility</p:attrName>
                                        </p:attrNameLst>
                                      </p:cBhvr>
                                      <p:to>
                                        <p:strVal val="visible"/>
                                      </p:to>
                                    </p:set>
                                    <p:animEffect transition="in" filter="blinds(horizontal)">
                                      <p:cBhvr>
                                        <p:cTn id="26" dur="500"/>
                                        <p:tgtEl>
                                          <p:spTgt spid="47107">
                                            <p:txEl>
                                              <p:charRg st="256" end="35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charRg st="356" end="45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P spid="47111" grpId="1"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2161" name="Text Box 2"/>
          <p:cNvSpPr txBox="1"/>
          <p:nvPr/>
        </p:nvSpPr>
        <p:spPr>
          <a:xfrm>
            <a:off x="798513" y="2470150"/>
            <a:ext cx="4645025" cy="3771900"/>
          </a:xfrm>
          <a:prstGeom prst="rect">
            <a:avLst/>
          </a:prstGeom>
          <a:solidFill>
            <a:srgbClr val="F7F7ED"/>
          </a:solidFill>
          <a:ln w="9525">
            <a:noFill/>
          </a:ln>
        </p:spPr>
        <p:txBody>
          <a:bodyPr lIns="86493" tIns="43247" rIns="86493" bIns="43247">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defTabSz="484505">
              <a:lnSpc>
                <a:spcPct val="90000"/>
              </a:lnSpc>
              <a:spcBef>
                <a:spcPct val="0"/>
              </a:spcBef>
              <a:buNone/>
            </a:pP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int maxSum = 0;</a:t>
            </a:r>
            <a:endParaRPr lang="en-US" altLang="zh-CN" sz="1900" b="1" dirty="0">
              <a:latin typeface="Book Antiqua" panose="02040602050305030304" pitchFamily="18" charset="0"/>
            </a:endParaRPr>
          </a:p>
          <a:p>
            <a:pPr marL="0" lvl="0" indent="0" defTabSz="484505">
              <a:lnSpc>
                <a:spcPct val="90000"/>
              </a:lnSpc>
              <a:spcBef>
                <a:spcPct val="0"/>
              </a:spcBef>
              <a:buNone/>
            </a:pP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for( int i = 0; i &lt; n; i++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for( int j = i; j &lt; n; j++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int thisSum = 0;</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for( int k = i; k &lt;= j; k++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thisSum += a[ k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if( thisSum &gt; maxSum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maxSum   = thisSum;</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return maxSum;</a:t>
            </a:r>
            <a:endParaRPr lang="en-US" altLang="zh-CN" sz="1900" b="1" dirty="0">
              <a:latin typeface="Book Antiqua" panose="02040602050305030304" pitchFamily="18" charset="0"/>
            </a:endParaRPr>
          </a:p>
          <a:p>
            <a:pPr marL="0" lvl="0" indent="0" defTabSz="484505">
              <a:lnSpc>
                <a:spcPct val="90000"/>
              </a:lnSpc>
              <a:spcBef>
                <a:spcPct val="0"/>
              </a:spcBef>
              <a:buNone/>
            </a:pPr>
            <a:endParaRPr lang="en-US" altLang="zh-CN" sz="1900" b="1" dirty="0">
              <a:latin typeface="Book Antiqua" panose="02040602050305030304" pitchFamily="18" charset="0"/>
            </a:endParaRPr>
          </a:p>
        </p:txBody>
      </p:sp>
      <p:sp>
        <p:nvSpPr>
          <p:cNvPr id="71683" name="Rectangle 3"/>
          <p:cNvSpPr>
            <a:spLocks noGrp="1"/>
          </p:cNvSpPr>
          <p:nvPr>
            <p:ph type="title"/>
          </p:nvPr>
        </p:nvSpPr>
        <p:spPr>
          <a:xfrm>
            <a:off x="0" y="681038"/>
            <a:ext cx="8915400" cy="762000"/>
          </a:xfrm>
        </p:spPr>
        <p:txBody>
          <a:bodyPr vert="horz" wrap="square" lIns="91440" tIns="45720" rIns="91440" bIns="45720" anchor="b" anchorCtr="0"/>
          <a:p>
            <a:pPr eaLnBrk="1" hangingPunct="1"/>
            <a:r>
              <a:rPr lang="en-US" altLang="zh-CN" sz="3600" dirty="0"/>
              <a:t>Algorithm 1 Mathod of Exhaustion</a:t>
            </a:r>
            <a:br>
              <a:rPr lang="en-US" altLang="zh-CN" sz="3600" dirty="0"/>
            </a:br>
            <a:r>
              <a:rPr lang="zh-CN" altLang="en-US" sz="3600" b="1" dirty="0"/>
              <a:t>（穷举法）</a:t>
            </a:r>
            <a:endParaRPr lang="zh-CN" altLang="en-US" sz="3600" b="1" dirty="0"/>
          </a:p>
        </p:txBody>
      </p:sp>
      <p:sp>
        <p:nvSpPr>
          <p:cNvPr id="71684" name="Rectangle 4"/>
          <p:cNvSpPr>
            <a:spLocks noGrp="1"/>
          </p:cNvSpPr>
          <p:nvPr>
            <p:ph idx="1"/>
          </p:nvPr>
        </p:nvSpPr>
        <p:spPr>
          <a:xfrm>
            <a:off x="152400" y="1612900"/>
            <a:ext cx="9220200" cy="928688"/>
          </a:xfrm>
        </p:spPr>
        <p:txBody>
          <a:bodyPr vert="horz" wrap="square" lIns="91440" tIns="45720" rIns="91440" bIns="45720" anchor="t" anchorCtr="0"/>
          <a:p>
            <a:pPr eaLnBrk="1" hangingPunct="1">
              <a:lnSpc>
                <a:spcPct val="90000"/>
              </a:lnSpc>
            </a:pPr>
            <a:r>
              <a:rPr lang="en-US" altLang="zh-CN" sz="2400" dirty="0"/>
              <a:t>Given a[0],…,a[n-1]</a:t>
            </a:r>
            <a:r>
              <a:rPr lang="en-US" altLang="zh-CN" sz="2400" baseline="-25000" dirty="0"/>
              <a:t> </a:t>
            </a:r>
            <a:r>
              <a:rPr lang="en-US" altLang="zh-CN" sz="2400" dirty="0"/>
              <a:t>, find the maximum value of a[i]+a[i+1]+···+a[j] ; 0 if the max value is negative</a:t>
            </a:r>
            <a:r>
              <a:rPr lang="en-US" altLang="zh-CN" sz="2800" dirty="0"/>
              <a:t>  </a:t>
            </a:r>
            <a:endParaRPr lang="en-US" altLang="zh-CN" sz="2800" dirty="0"/>
          </a:p>
        </p:txBody>
      </p:sp>
      <p:sp>
        <p:nvSpPr>
          <p:cNvPr id="48133" name="Rectangle 5"/>
          <p:cNvSpPr/>
          <p:nvPr/>
        </p:nvSpPr>
        <p:spPr>
          <a:xfrm>
            <a:off x="152400" y="6184900"/>
            <a:ext cx="8991600" cy="857250"/>
          </a:xfrm>
          <a:prstGeom prst="rect">
            <a:avLst/>
          </a:prstGeom>
          <a:noFill/>
          <a:ln w="9525">
            <a:noFill/>
          </a:ln>
        </p:spPr>
        <p:txBody>
          <a:bodyPr lIns="91432" tIns="45716" rIns="91432" bIns="45716"/>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219075" lvl="0" indent="-219075">
              <a:buClr>
                <a:schemeClr val="tx2"/>
              </a:buClr>
              <a:buSzPct val="65000"/>
              <a:buFont typeface="Monotype Sorts" pitchFamily="-128" charset="2"/>
              <a:buChar char="n"/>
            </a:pPr>
            <a:r>
              <a:rPr lang="en-US" altLang="zh-CN" sz="2600" dirty="0">
                <a:solidFill>
                  <a:srgbClr val="000066"/>
                </a:solidFill>
                <a:latin typeface="Tahoma" panose="020B0604030504040204" pitchFamily="34" charset="0"/>
              </a:rPr>
              <a:t>Time complexity: </a:t>
            </a:r>
            <a:r>
              <a:rPr lang="en-US" altLang="zh-CN" sz="2600" i="1" dirty="0">
                <a:solidFill>
                  <a:srgbClr val="000066"/>
                </a:solidFill>
                <a:latin typeface="Times New Roman" panose="02020603050405020304" pitchFamily="18" charset="0"/>
              </a:rPr>
              <a:t>O</a:t>
            </a:r>
            <a:r>
              <a:rPr lang="en-US" altLang="zh-CN" sz="2600" dirty="0">
                <a:solidFill>
                  <a:srgbClr val="000066"/>
                </a:solidFill>
                <a:latin typeface="Symbol" panose="05050102010706020507" pitchFamily="18" charset="2"/>
              </a:rPr>
              <a:t>(</a:t>
            </a:r>
            <a:r>
              <a:rPr lang="en-US" altLang="zh-CN" sz="2600" i="1" dirty="0">
                <a:solidFill>
                  <a:srgbClr val="000066"/>
                </a:solidFill>
                <a:latin typeface="Times New Roman" panose="02020603050405020304" pitchFamily="18" charset="0"/>
              </a:rPr>
              <a:t>n</a:t>
            </a:r>
            <a:r>
              <a:rPr lang="en-US" altLang="zh-CN" sz="2600" baseline="30000" dirty="0">
                <a:solidFill>
                  <a:srgbClr val="000066"/>
                </a:solidFill>
                <a:latin typeface="Times New Roman" panose="02020603050405020304" pitchFamily="18" charset="0"/>
              </a:rPr>
              <a:t>3</a:t>
            </a:r>
            <a:r>
              <a:rPr lang="en-US" altLang="zh-CN" sz="2600" dirty="0">
                <a:solidFill>
                  <a:srgbClr val="000066"/>
                </a:solidFill>
                <a:latin typeface="Symbol" panose="05050102010706020507" pitchFamily="18" charset="2"/>
              </a:rPr>
              <a:t>)</a:t>
            </a:r>
            <a:endParaRPr lang="en-US" altLang="zh-CN" sz="2600" dirty="0">
              <a:solidFill>
                <a:srgbClr val="000066"/>
              </a:solidFill>
              <a:latin typeface="Symbol" panose="05050102010706020507" pitchFamily="18" charset="2"/>
            </a:endParaRPr>
          </a:p>
        </p:txBody>
      </p:sp>
      <p:sp>
        <p:nvSpPr>
          <p:cNvPr id="48134" name="Line 6"/>
          <p:cNvSpPr/>
          <p:nvPr/>
        </p:nvSpPr>
        <p:spPr>
          <a:xfrm>
            <a:off x="5514975" y="4327525"/>
            <a:ext cx="0" cy="571500"/>
          </a:xfrm>
          <a:prstGeom prst="line">
            <a:avLst/>
          </a:prstGeom>
          <a:ln w="12700" cap="flat" cmpd="sng">
            <a:solidFill>
              <a:schemeClr val="tx1"/>
            </a:solidFill>
            <a:prstDash val="solid"/>
            <a:headEnd type="triangle" w="med" len="med"/>
            <a:tailEnd type="triangle" w="med" len="med"/>
          </a:ln>
        </p:spPr>
      </p:sp>
      <p:sp>
        <p:nvSpPr>
          <p:cNvPr id="48135" name="Line 7"/>
          <p:cNvSpPr/>
          <p:nvPr/>
        </p:nvSpPr>
        <p:spPr>
          <a:xfrm>
            <a:off x="4789488" y="4946650"/>
            <a:ext cx="0" cy="381000"/>
          </a:xfrm>
          <a:prstGeom prst="line">
            <a:avLst/>
          </a:prstGeom>
          <a:ln w="12700" cap="flat" cmpd="sng">
            <a:solidFill>
              <a:schemeClr val="tx1"/>
            </a:solidFill>
            <a:prstDash val="solid"/>
            <a:headEnd type="triangle" w="med" len="med"/>
            <a:tailEnd type="triangle" w="med" len="med"/>
          </a:ln>
        </p:spPr>
      </p:sp>
      <p:sp>
        <p:nvSpPr>
          <p:cNvPr id="48136" name="Line 8"/>
          <p:cNvSpPr/>
          <p:nvPr/>
        </p:nvSpPr>
        <p:spPr>
          <a:xfrm>
            <a:off x="4786313" y="3898900"/>
            <a:ext cx="0" cy="381000"/>
          </a:xfrm>
          <a:prstGeom prst="line">
            <a:avLst/>
          </a:prstGeom>
          <a:ln w="12700" cap="flat" cmpd="sng">
            <a:solidFill>
              <a:schemeClr val="tx1"/>
            </a:solidFill>
            <a:prstDash val="solid"/>
            <a:headEnd type="triangle" w="med" len="med"/>
            <a:tailEnd type="triangle" w="med" len="med"/>
          </a:ln>
        </p:spPr>
      </p:sp>
      <p:sp>
        <p:nvSpPr>
          <p:cNvPr id="48137" name="Line 9"/>
          <p:cNvSpPr/>
          <p:nvPr/>
        </p:nvSpPr>
        <p:spPr>
          <a:xfrm>
            <a:off x="4859338" y="2751138"/>
            <a:ext cx="0" cy="381000"/>
          </a:xfrm>
          <a:prstGeom prst="line">
            <a:avLst/>
          </a:prstGeom>
          <a:ln w="12700" cap="flat" cmpd="sng">
            <a:solidFill>
              <a:schemeClr val="tx1"/>
            </a:solidFill>
            <a:prstDash val="solid"/>
            <a:headEnd type="triangle" w="med" len="med"/>
            <a:tailEnd type="triangle" w="med" len="med"/>
          </a:ln>
        </p:spPr>
      </p:sp>
      <p:graphicFrame>
        <p:nvGraphicFramePr>
          <p:cNvPr id="48138" name="Object 10"/>
          <p:cNvGraphicFramePr>
            <a:graphicFrameLocks noChangeAspect="1"/>
          </p:cNvGraphicFramePr>
          <p:nvPr/>
        </p:nvGraphicFramePr>
        <p:xfrm>
          <a:off x="4935538" y="2827338"/>
          <a:ext cx="457200" cy="292100"/>
        </p:xfrm>
        <a:graphic>
          <a:graphicData uri="http://schemas.openxmlformats.org/presentationml/2006/ole">
            <mc:AlternateContent xmlns:mc="http://schemas.openxmlformats.org/markup-compatibility/2006">
              <mc:Choice xmlns:v="urn:schemas-microsoft-com:vml" Requires="v">
                <p:oleObj spid="_x0000_s3080" name="" r:id="rId1" imgW="317500" imgH="203200" progId="Equation.3">
                  <p:embed/>
                </p:oleObj>
              </mc:Choice>
              <mc:Fallback>
                <p:oleObj name="" r:id="rId1" imgW="317500" imgH="203200" progId="Equation.3">
                  <p:embed/>
                  <p:pic>
                    <p:nvPicPr>
                      <p:cNvPr id="0" name="图片 3079"/>
                      <p:cNvPicPr/>
                      <p:nvPr/>
                    </p:nvPicPr>
                    <p:blipFill>
                      <a:blip r:embed="rId2"/>
                      <a:stretch>
                        <a:fillRect/>
                      </a:stretch>
                    </p:blipFill>
                    <p:spPr>
                      <a:xfrm>
                        <a:off x="4935538" y="2827338"/>
                        <a:ext cx="457200" cy="292100"/>
                      </a:xfrm>
                      <a:prstGeom prst="rect">
                        <a:avLst/>
                      </a:prstGeom>
                      <a:noFill/>
                      <a:ln w="38100">
                        <a:noFill/>
                        <a:miter/>
                      </a:ln>
                    </p:spPr>
                  </p:pic>
                </p:oleObj>
              </mc:Fallback>
            </mc:AlternateContent>
          </a:graphicData>
        </a:graphic>
      </p:graphicFrame>
      <p:graphicFrame>
        <p:nvGraphicFramePr>
          <p:cNvPr id="48139" name="Object 11"/>
          <p:cNvGraphicFramePr>
            <a:graphicFrameLocks noChangeAspect="1"/>
          </p:cNvGraphicFramePr>
          <p:nvPr/>
        </p:nvGraphicFramePr>
        <p:xfrm>
          <a:off x="5562600" y="4565650"/>
          <a:ext cx="752475" cy="292100"/>
        </p:xfrm>
        <a:graphic>
          <a:graphicData uri="http://schemas.openxmlformats.org/presentationml/2006/ole">
            <mc:AlternateContent xmlns:mc="http://schemas.openxmlformats.org/markup-compatibility/2006">
              <mc:Choice xmlns:v="urn:schemas-microsoft-com:vml" Requires="v">
                <p:oleObj spid="_x0000_s3077" name="" r:id="rId3" imgW="520700" imgH="203200" progId="Equation.3">
                  <p:embed/>
                </p:oleObj>
              </mc:Choice>
              <mc:Fallback>
                <p:oleObj name="" r:id="rId3" imgW="520700" imgH="203200" progId="Equation.3">
                  <p:embed/>
                  <p:pic>
                    <p:nvPicPr>
                      <p:cNvPr id="0" name="图片 3076"/>
                      <p:cNvPicPr/>
                      <p:nvPr/>
                    </p:nvPicPr>
                    <p:blipFill>
                      <a:blip r:embed="rId4"/>
                      <a:stretch>
                        <a:fillRect/>
                      </a:stretch>
                    </p:blipFill>
                    <p:spPr>
                      <a:xfrm>
                        <a:off x="5562600" y="4565650"/>
                        <a:ext cx="752475" cy="292100"/>
                      </a:xfrm>
                      <a:prstGeom prst="rect">
                        <a:avLst/>
                      </a:prstGeom>
                      <a:noFill/>
                      <a:ln w="38100">
                        <a:noFill/>
                        <a:miter/>
                      </a:ln>
                    </p:spPr>
                  </p:pic>
                </p:oleObj>
              </mc:Fallback>
            </mc:AlternateContent>
          </a:graphicData>
        </a:graphic>
      </p:graphicFrame>
      <p:graphicFrame>
        <p:nvGraphicFramePr>
          <p:cNvPr id="48140" name="Object 12"/>
          <p:cNvGraphicFramePr>
            <a:graphicFrameLocks noChangeAspect="1"/>
          </p:cNvGraphicFramePr>
          <p:nvPr/>
        </p:nvGraphicFramePr>
        <p:xfrm>
          <a:off x="4862513" y="4970463"/>
          <a:ext cx="457200" cy="292100"/>
        </p:xfrm>
        <a:graphic>
          <a:graphicData uri="http://schemas.openxmlformats.org/presentationml/2006/ole">
            <mc:AlternateContent xmlns:mc="http://schemas.openxmlformats.org/markup-compatibility/2006">
              <mc:Choice xmlns:v="urn:schemas-microsoft-com:vml" Requires="v">
                <p:oleObj spid="_x0000_s3078" name="" r:id="rId5" imgW="317500" imgH="203200" progId="Equation.3">
                  <p:embed/>
                </p:oleObj>
              </mc:Choice>
              <mc:Fallback>
                <p:oleObj name="" r:id="rId5" imgW="317500" imgH="203200" progId="Equation.3">
                  <p:embed/>
                  <p:pic>
                    <p:nvPicPr>
                      <p:cNvPr id="0" name="图片 3077"/>
                      <p:cNvPicPr/>
                      <p:nvPr/>
                    </p:nvPicPr>
                    <p:blipFill>
                      <a:blip r:embed="rId2"/>
                      <a:stretch>
                        <a:fillRect/>
                      </a:stretch>
                    </p:blipFill>
                    <p:spPr>
                      <a:xfrm>
                        <a:off x="4862513" y="4970463"/>
                        <a:ext cx="457200" cy="292100"/>
                      </a:xfrm>
                      <a:prstGeom prst="rect">
                        <a:avLst/>
                      </a:prstGeom>
                      <a:noFill/>
                      <a:ln w="38100">
                        <a:noFill/>
                        <a:miter/>
                      </a:ln>
                    </p:spPr>
                  </p:pic>
                </p:oleObj>
              </mc:Fallback>
            </mc:AlternateContent>
          </a:graphicData>
        </a:graphic>
      </p:graphicFrame>
      <p:graphicFrame>
        <p:nvGraphicFramePr>
          <p:cNvPr id="48141" name="Object 13"/>
          <p:cNvGraphicFramePr>
            <a:graphicFrameLocks noChangeAspect="1"/>
          </p:cNvGraphicFramePr>
          <p:nvPr/>
        </p:nvGraphicFramePr>
        <p:xfrm>
          <a:off x="4862513" y="3898900"/>
          <a:ext cx="457200" cy="292100"/>
        </p:xfrm>
        <a:graphic>
          <a:graphicData uri="http://schemas.openxmlformats.org/presentationml/2006/ole">
            <mc:AlternateContent xmlns:mc="http://schemas.openxmlformats.org/markup-compatibility/2006">
              <mc:Choice xmlns:v="urn:schemas-microsoft-com:vml" Requires="v">
                <p:oleObj spid="_x0000_s3083" name="" r:id="rId6" imgW="317500" imgH="203200" progId="Equation.3">
                  <p:embed/>
                </p:oleObj>
              </mc:Choice>
              <mc:Fallback>
                <p:oleObj name="" r:id="rId6" imgW="317500" imgH="203200" progId="Equation.3">
                  <p:embed/>
                  <p:pic>
                    <p:nvPicPr>
                      <p:cNvPr id="0" name="图片 3082"/>
                      <p:cNvPicPr/>
                      <p:nvPr/>
                    </p:nvPicPr>
                    <p:blipFill>
                      <a:blip r:embed="rId2"/>
                      <a:stretch>
                        <a:fillRect/>
                      </a:stretch>
                    </p:blipFill>
                    <p:spPr>
                      <a:xfrm>
                        <a:off x="4862513" y="3898900"/>
                        <a:ext cx="457200" cy="292100"/>
                      </a:xfrm>
                      <a:prstGeom prst="rect">
                        <a:avLst/>
                      </a:prstGeom>
                      <a:noFill/>
                      <a:ln w="38100">
                        <a:noFill/>
                        <a:miter/>
                      </a:ln>
                    </p:spPr>
                  </p:pic>
                </p:oleObj>
              </mc:Fallback>
            </mc:AlternateContent>
          </a:graphicData>
        </a:graphic>
      </p:graphicFrame>
      <p:sp>
        <p:nvSpPr>
          <p:cNvPr id="48142" name="Line 14"/>
          <p:cNvSpPr/>
          <p:nvPr/>
        </p:nvSpPr>
        <p:spPr>
          <a:xfrm>
            <a:off x="4789488" y="4518025"/>
            <a:ext cx="0" cy="381000"/>
          </a:xfrm>
          <a:prstGeom prst="line">
            <a:avLst/>
          </a:prstGeom>
          <a:ln w="12700" cap="flat" cmpd="sng">
            <a:solidFill>
              <a:schemeClr val="tx1"/>
            </a:solidFill>
            <a:prstDash val="solid"/>
            <a:headEnd type="triangle" w="med" len="med"/>
            <a:tailEnd type="triangle" w="med" len="med"/>
          </a:ln>
        </p:spPr>
      </p:sp>
      <p:graphicFrame>
        <p:nvGraphicFramePr>
          <p:cNvPr id="48143" name="Object 15"/>
          <p:cNvGraphicFramePr>
            <a:graphicFrameLocks noChangeAspect="1"/>
          </p:cNvGraphicFramePr>
          <p:nvPr/>
        </p:nvGraphicFramePr>
        <p:xfrm>
          <a:off x="4862513" y="4541838"/>
          <a:ext cx="457200" cy="292100"/>
        </p:xfrm>
        <a:graphic>
          <a:graphicData uri="http://schemas.openxmlformats.org/presentationml/2006/ole">
            <mc:AlternateContent xmlns:mc="http://schemas.openxmlformats.org/markup-compatibility/2006">
              <mc:Choice xmlns:v="urn:schemas-microsoft-com:vml" Requires="v">
                <p:oleObj spid="_x0000_s3079" name="" r:id="rId7" imgW="317500" imgH="203200" progId="Equation.3">
                  <p:embed/>
                </p:oleObj>
              </mc:Choice>
              <mc:Fallback>
                <p:oleObj name="" r:id="rId7" imgW="317500" imgH="203200" progId="Equation.3">
                  <p:embed/>
                  <p:pic>
                    <p:nvPicPr>
                      <p:cNvPr id="0" name="图片 3078"/>
                      <p:cNvPicPr/>
                      <p:nvPr/>
                    </p:nvPicPr>
                    <p:blipFill>
                      <a:blip r:embed="rId2"/>
                      <a:stretch>
                        <a:fillRect/>
                      </a:stretch>
                    </p:blipFill>
                    <p:spPr>
                      <a:xfrm>
                        <a:off x="4862513" y="4541838"/>
                        <a:ext cx="457200" cy="292100"/>
                      </a:xfrm>
                      <a:prstGeom prst="rect">
                        <a:avLst/>
                      </a:prstGeom>
                      <a:noFill/>
                      <a:ln w="38100">
                        <a:noFill/>
                        <a:miter/>
                      </a:ln>
                    </p:spPr>
                  </p:pic>
                </p:oleObj>
              </mc:Fallback>
            </mc:AlternateContent>
          </a:graphicData>
        </a:graphic>
      </p:graphicFrame>
      <p:sp>
        <p:nvSpPr>
          <p:cNvPr id="48144" name="Line 16"/>
          <p:cNvSpPr/>
          <p:nvPr/>
        </p:nvSpPr>
        <p:spPr>
          <a:xfrm>
            <a:off x="6386513" y="3613150"/>
            <a:ext cx="0" cy="1857375"/>
          </a:xfrm>
          <a:prstGeom prst="line">
            <a:avLst/>
          </a:prstGeom>
          <a:ln w="12700" cap="flat" cmpd="sng">
            <a:solidFill>
              <a:schemeClr val="tx1"/>
            </a:solidFill>
            <a:prstDash val="solid"/>
            <a:headEnd type="triangle" w="med" len="med"/>
            <a:tailEnd type="triangle" w="med" len="med"/>
          </a:ln>
        </p:spPr>
      </p:sp>
      <p:graphicFrame>
        <p:nvGraphicFramePr>
          <p:cNvPr id="48145" name="Object 17"/>
          <p:cNvGraphicFramePr>
            <a:graphicFrameLocks noChangeAspect="1"/>
          </p:cNvGraphicFramePr>
          <p:nvPr/>
        </p:nvGraphicFramePr>
        <p:xfrm>
          <a:off x="6386513" y="3970338"/>
          <a:ext cx="1154112" cy="638175"/>
        </p:xfrm>
        <a:graphic>
          <a:graphicData uri="http://schemas.openxmlformats.org/presentationml/2006/ole">
            <mc:AlternateContent xmlns:mc="http://schemas.openxmlformats.org/markup-compatibility/2006">
              <mc:Choice xmlns:v="urn:schemas-microsoft-com:vml" Requires="v">
                <p:oleObj spid="_x0000_s3081" name="" r:id="rId8" imgW="799465" imgH="444500" progId="Equation.3">
                  <p:embed/>
                </p:oleObj>
              </mc:Choice>
              <mc:Fallback>
                <p:oleObj name="" r:id="rId8" imgW="799465" imgH="444500" progId="Equation.3">
                  <p:embed/>
                  <p:pic>
                    <p:nvPicPr>
                      <p:cNvPr id="0" name="图片 3080"/>
                      <p:cNvPicPr/>
                      <p:nvPr/>
                    </p:nvPicPr>
                    <p:blipFill>
                      <a:blip r:embed="rId9"/>
                      <a:stretch>
                        <a:fillRect/>
                      </a:stretch>
                    </p:blipFill>
                    <p:spPr>
                      <a:xfrm>
                        <a:off x="6386513" y="3970338"/>
                        <a:ext cx="1154112" cy="638175"/>
                      </a:xfrm>
                      <a:prstGeom prst="rect">
                        <a:avLst/>
                      </a:prstGeom>
                      <a:noFill/>
                      <a:ln w="38100">
                        <a:noFill/>
                        <a:miter/>
                      </a:ln>
                    </p:spPr>
                  </p:pic>
                </p:oleObj>
              </mc:Fallback>
            </mc:AlternateContent>
          </a:graphicData>
        </a:graphic>
      </p:graphicFrame>
      <p:sp>
        <p:nvSpPr>
          <p:cNvPr id="48146" name="Line 18"/>
          <p:cNvSpPr/>
          <p:nvPr/>
        </p:nvSpPr>
        <p:spPr>
          <a:xfrm>
            <a:off x="7620000" y="3184525"/>
            <a:ext cx="0" cy="2286000"/>
          </a:xfrm>
          <a:prstGeom prst="line">
            <a:avLst/>
          </a:prstGeom>
          <a:ln w="12700" cap="flat" cmpd="sng">
            <a:solidFill>
              <a:schemeClr val="tx1"/>
            </a:solidFill>
            <a:prstDash val="solid"/>
            <a:headEnd type="triangle" w="med" len="med"/>
            <a:tailEnd type="triangle" w="med" len="med"/>
          </a:ln>
        </p:spPr>
      </p:sp>
      <p:graphicFrame>
        <p:nvGraphicFramePr>
          <p:cNvPr id="48147" name="Object 19"/>
          <p:cNvGraphicFramePr>
            <a:graphicFrameLocks noChangeAspect="1"/>
          </p:cNvGraphicFramePr>
          <p:nvPr/>
        </p:nvGraphicFramePr>
        <p:xfrm>
          <a:off x="7627938" y="3970338"/>
          <a:ext cx="1430337" cy="638175"/>
        </p:xfrm>
        <a:graphic>
          <a:graphicData uri="http://schemas.openxmlformats.org/presentationml/2006/ole">
            <mc:AlternateContent xmlns:mc="http://schemas.openxmlformats.org/markup-compatibility/2006">
              <mc:Choice xmlns:v="urn:schemas-microsoft-com:vml" Requires="v">
                <p:oleObj spid="_x0000_s3082" name="" r:id="rId10" imgW="989965" imgH="444500" progId="Equation.3">
                  <p:embed/>
                </p:oleObj>
              </mc:Choice>
              <mc:Fallback>
                <p:oleObj name="" r:id="rId10" imgW="989965" imgH="444500" progId="Equation.3">
                  <p:embed/>
                  <p:pic>
                    <p:nvPicPr>
                      <p:cNvPr id="0" name="图片 3081"/>
                      <p:cNvPicPr/>
                      <p:nvPr/>
                    </p:nvPicPr>
                    <p:blipFill>
                      <a:blip r:embed="rId11"/>
                      <a:stretch>
                        <a:fillRect/>
                      </a:stretch>
                    </p:blipFill>
                    <p:spPr>
                      <a:xfrm>
                        <a:off x="7627938" y="3970338"/>
                        <a:ext cx="1430337" cy="6381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61"/>
                                        </p:tgtEl>
                                        <p:attrNameLst>
                                          <p:attrName>style.visibility</p:attrName>
                                        </p:attrNameLst>
                                      </p:cBhvr>
                                      <p:to>
                                        <p:strVal val="visible"/>
                                      </p:to>
                                    </p:set>
                                    <p:animEffect transition="in" filter="blinds(horizontal)">
                                      <p:cBhvr>
                                        <p:cTn id="7" dur="500"/>
                                        <p:tgtEl>
                                          <p:spTgt spid="921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138"/>
                                        </p:tgtEl>
                                        <p:attrNameLst>
                                          <p:attrName>style.visibility</p:attrName>
                                        </p:attrNameLst>
                                      </p:cBhvr>
                                      <p:to>
                                        <p:strVal val="visible"/>
                                      </p:to>
                                    </p:set>
                                    <p:animEffect transition="in" filter="blinds(horizontal)">
                                      <p:cBhvr>
                                        <p:cTn id="12" dur="500"/>
                                        <p:tgtEl>
                                          <p:spTgt spid="48138"/>
                                        </p:tgtEl>
                                      </p:cBhvr>
                                    </p:animEffect>
                                  </p:childTnLst>
                                </p:cTn>
                              </p:par>
                              <p:par>
                                <p:cTn id="13" presetID="3" presetClass="entr" presetSubtype="10" fill="hold" nodeType="withEffect">
                                  <p:stCondLst>
                                    <p:cond delay="0"/>
                                  </p:stCondLst>
                                  <p:childTnLst>
                                    <p:set>
                                      <p:cBhvr>
                                        <p:cTn id="14" dur="1" fill="hold">
                                          <p:stCondLst>
                                            <p:cond delay="0"/>
                                          </p:stCondLst>
                                        </p:cTn>
                                        <p:tgtEl>
                                          <p:spTgt spid="48137"/>
                                        </p:tgtEl>
                                        <p:attrNameLst>
                                          <p:attrName>style.visibility</p:attrName>
                                        </p:attrNameLst>
                                      </p:cBhvr>
                                      <p:to>
                                        <p:strVal val="visible"/>
                                      </p:to>
                                    </p:set>
                                    <p:animEffect transition="in" filter="blinds(horizontal)">
                                      <p:cBhvr>
                                        <p:cTn id="15" dur="500"/>
                                        <p:tgtEl>
                                          <p:spTgt spid="4813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8141"/>
                                        </p:tgtEl>
                                        <p:attrNameLst>
                                          <p:attrName>style.visibility</p:attrName>
                                        </p:attrNameLst>
                                      </p:cBhvr>
                                      <p:to>
                                        <p:strVal val="visible"/>
                                      </p:to>
                                    </p:set>
                                    <p:animEffect transition="in" filter="blinds(horizontal)">
                                      <p:cBhvr>
                                        <p:cTn id="20" dur="500"/>
                                        <p:tgtEl>
                                          <p:spTgt spid="48141"/>
                                        </p:tgtEl>
                                      </p:cBhvr>
                                    </p:animEffect>
                                  </p:childTnLst>
                                </p:cTn>
                              </p:par>
                              <p:par>
                                <p:cTn id="21" presetID="3" presetClass="entr" presetSubtype="10" fill="hold" nodeType="withEffect">
                                  <p:stCondLst>
                                    <p:cond delay="0"/>
                                  </p:stCondLst>
                                  <p:childTnLst>
                                    <p:set>
                                      <p:cBhvr>
                                        <p:cTn id="22" dur="1" fill="hold">
                                          <p:stCondLst>
                                            <p:cond delay="0"/>
                                          </p:stCondLst>
                                        </p:cTn>
                                        <p:tgtEl>
                                          <p:spTgt spid="48136"/>
                                        </p:tgtEl>
                                        <p:attrNameLst>
                                          <p:attrName>style.visibility</p:attrName>
                                        </p:attrNameLst>
                                      </p:cBhvr>
                                      <p:to>
                                        <p:strVal val="visible"/>
                                      </p:to>
                                    </p:set>
                                    <p:animEffect transition="in" filter="blinds(horizontal)">
                                      <p:cBhvr>
                                        <p:cTn id="23" dur="500"/>
                                        <p:tgtEl>
                                          <p:spTgt spid="4813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8143"/>
                                        </p:tgtEl>
                                        <p:attrNameLst>
                                          <p:attrName>style.visibility</p:attrName>
                                        </p:attrNameLst>
                                      </p:cBhvr>
                                      <p:to>
                                        <p:strVal val="visible"/>
                                      </p:to>
                                    </p:set>
                                    <p:animEffect transition="in" filter="blinds(horizontal)">
                                      <p:cBhvr>
                                        <p:cTn id="28" dur="500"/>
                                        <p:tgtEl>
                                          <p:spTgt spid="48143"/>
                                        </p:tgtEl>
                                      </p:cBhvr>
                                    </p:animEffect>
                                  </p:childTnLst>
                                </p:cTn>
                              </p:par>
                              <p:par>
                                <p:cTn id="29" presetID="3" presetClass="entr" presetSubtype="10" fill="hold" nodeType="withEffect">
                                  <p:stCondLst>
                                    <p:cond delay="0"/>
                                  </p:stCondLst>
                                  <p:childTnLst>
                                    <p:set>
                                      <p:cBhvr>
                                        <p:cTn id="30" dur="1" fill="hold">
                                          <p:stCondLst>
                                            <p:cond delay="0"/>
                                          </p:stCondLst>
                                        </p:cTn>
                                        <p:tgtEl>
                                          <p:spTgt spid="48142"/>
                                        </p:tgtEl>
                                        <p:attrNameLst>
                                          <p:attrName>style.visibility</p:attrName>
                                        </p:attrNameLst>
                                      </p:cBhvr>
                                      <p:to>
                                        <p:strVal val="visible"/>
                                      </p:to>
                                    </p:set>
                                    <p:animEffect transition="in" filter="blinds(horizontal)">
                                      <p:cBhvr>
                                        <p:cTn id="31" dur="500"/>
                                        <p:tgtEl>
                                          <p:spTgt spid="48142"/>
                                        </p:tgtEl>
                                      </p:cBhvr>
                                    </p:animEffect>
                                  </p:childTnLst>
                                </p:cTn>
                              </p:par>
                              <p:par>
                                <p:cTn id="32" presetID="3" presetClass="entr" presetSubtype="10" fill="hold" nodeType="withEffect">
                                  <p:stCondLst>
                                    <p:cond delay="0"/>
                                  </p:stCondLst>
                                  <p:childTnLst>
                                    <p:set>
                                      <p:cBhvr>
                                        <p:cTn id="33" dur="1" fill="hold">
                                          <p:stCondLst>
                                            <p:cond delay="0"/>
                                          </p:stCondLst>
                                        </p:cTn>
                                        <p:tgtEl>
                                          <p:spTgt spid="48135"/>
                                        </p:tgtEl>
                                        <p:attrNameLst>
                                          <p:attrName>style.visibility</p:attrName>
                                        </p:attrNameLst>
                                      </p:cBhvr>
                                      <p:to>
                                        <p:strVal val="visible"/>
                                      </p:to>
                                    </p:set>
                                    <p:animEffect transition="in" filter="blinds(horizontal)">
                                      <p:cBhvr>
                                        <p:cTn id="34" dur="500"/>
                                        <p:tgtEl>
                                          <p:spTgt spid="48135"/>
                                        </p:tgtEl>
                                      </p:cBhvr>
                                    </p:animEffect>
                                  </p:childTnLst>
                                </p:cTn>
                              </p:par>
                              <p:par>
                                <p:cTn id="35" presetID="3" presetClass="entr" presetSubtype="10" fill="hold" nodeType="withEffect">
                                  <p:stCondLst>
                                    <p:cond delay="0"/>
                                  </p:stCondLst>
                                  <p:childTnLst>
                                    <p:set>
                                      <p:cBhvr>
                                        <p:cTn id="36" dur="1" fill="hold">
                                          <p:stCondLst>
                                            <p:cond delay="0"/>
                                          </p:stCondLst>
                                        </p:cTn>
                                        <p:tgtEl>
                                          <p:spTgt spid="48140"/>
                                        </p:tgtEl>
                                        <p:attrNameLst>
                                          <p:attrName>style.visibility</p:attrName>
                                        </p:attrNameLst>
                                      </p:cBhvr>
                                      <p:to>
                                        <p:strVal val="visible"/>
                                      </p:to>
                                    </p:set>
                                    <p:animEffect transition="in" filter="blinds(horizontal)">
                                      <p:cBhvr>
                                        <p:cTn id="37" dur="500"/>
                                        <p:tgtEl>
                                          <p:spTgt spid="4814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8139"/>
                                        </p:tgtEl>
                                        <p:attrNameLst>
                                          <p:attrName>style.visibility</p:attrName>
                                        </p:attrNameLst>
                                      </p:cBhvr>
                                      <p:to>
                                        <p:strVal val="visible"/>
                                      </p:to>
                                    </p:set>
                                    <p:animEffect transition="in" filter="blinds(horizontal)">
                                      <p:cBhvr>
                                        <p:cTn id="42" dur="500"/>
                                        <p:tgtEl>
                                          <p:spTgt spid="48139"/>
                                        </p:tgtEl>
                                      </p:cBhvr>
                                    </p:animEffect>
                                  </p:childTnLst>
                                </p:cTn>
                              </p:par>
                              <p:par>
                                <p:cTn id="43" presetID="3" presetClass="entr" presetSubtype="10" fill="hold" nodeType="withEffect">
                                  <p:stCondLst>
                                    <p:cond delay="0"/>
                                  </p:stCondLst>
                                  <p:childTnLst>
                                    <p:set>
                                      <p:cBhvr>
                                        <p:cTn id="44" dur="1" fill="hold">
                                          <p:stCondLst>
                                            <p:cond delay="0"/>
                                          </p:stCondLst>
                                        </p:cTn>
                                        <p:tgtEl>
                                          <p:spTgt spid="48134"/>
                                        </p:tgtEl>
                                        <p:attrNameLst>
                                          <p:attrName>style.visibility</p:attrName>
                                        </p:attrNameLst>
                                      </p:cBhvr>
                                      <p:to>
                                        <p:strVal val="visible"/>
                                      </p:to>
                                    </p:set>
                                    <p:animEffect transition="in" filter="blinds(horizontal)">
                                      <p:cBhvr>
                                        <p:cTn id="45" dur="500"/>
                                        <p:tgtEl>
                                          <p:spTgt spid="4813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48145"/>
                                        </p:tgtEl>
                                        <p:attrNameLst>
                                          <p:attrName>style.visibility</p:attrName>
                                        </p:attrNameLst>
                                      </p:cBhvr>
                                      <p:to>
                                        <p:strVal val="visible"/>
                                      </p:to>
                                    </p:set>
                                    <p:animEffect transition="in" filter="blinds(horizontal)">
                                      <p:cBhvr>
                                        <p:cTn id="50" dur="500"/>
                                        <p:tgtEl>
                                          <p:spTgt spid="48145"/>
                                        </p:tgtEl>
                                      </p:cBhvr>
                                    </p:animEffect>
                                  </p:childTnLst>
                                </p:cTn>
                              </p:par>
                              <p:par>
                                <p:cTn id="51" presetID="3" presetClass="entr" presetSubtype="10" fill="hold" nodeType="withEffect">
                                  <p:stCondLst>
                                    <p:cond delay="0"/>
                                  </p:stCondLst>
                                  <p:childTnLst>
                                    <p:set>
                                      <p:cBhvr>
                                        <p:cTn id="52" dur="1" fill="hold">
                                          <p:stCondLst>
                                            <p:cond delay="0"/>
                                          </p:stCondLst>
                                        </p:cTn>
                                        <p:tgtEl>
                                          <p:spTgt spid="48144"/>
                                        </p:tgtEl>
                                        <p:attrNameLst>
                                          <p:attrName>style.visibility</p:attrName>
                                        </p:attrNameLst>
                                      </p:cBhvr>
                                      <p:to>
                                        <p:strVal val="visible"/>
                                      </p:to>
                                    </p:set>
                                    <p:animEffect transition="in" filter="blinds(horizontal)">
                                      <p:cBhvr>
                                        <p:cTn id="53" dur="500"/>
                                        <p:tgtEl>
                                          <p:spTgt spid="4814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8146"/>
                                        </p:tgtEl>
                                        <p:attrNameLst>
                                          <p:attrName>style.visibility</p:attrName>
                                        </p:attrNameLst>
                                      </p:cBhvr>
                                      <p:to>
                                        <p:strVal val="visible"/>
                                      </p:to>
                                    </p:set>
                                    <p:animEffect transition="in" filter="blinds(horizontal)">
                                      <p:cBhvr>
                                        <p:cTn id="58" dur="500"/>
                                        <p:tgtEl>
                                          <p:spTgt spid="48146"/>
                                        </p:tgtEl>
                                      </p:cBhvr>
                                    </p:animEffect>
                                  </p:childTnLst>
                                </p:cTn>
                              </p:par>
                              <p:par>
                                <p:cTn id="59" presetID="3" presetClass="entr" presetSubtype="10" fill="hold" nodeType="withEffect">
                                  <p:stCondLst>
                                    <p:cond delay="0"/>
                                  </p:stCondLst>
                                  <p:childTnLst>
                                    <p:set>
                                      <p:cBhvr>
                                        <p:cTn id="60" dur="1" fill="hold">
                                          <p:stCondLst>
                                            <p:cond delay="0"/>
                                          </p:stCondLst>
                                        </p:cTn>
                                        <p:tgtEl>
                                          <p:spTgt spid="48147"/>
                                        </p:tgtEl>
                                        <p:attrNameLst>
                                          <p:attrName>style.visibility</p:attrName>
                                        </p:attrNameLst>
                                      </p:cBhvr>
                                      <p:to>
                                        <p:strVal val="visible"/>
                                      </p:to>
                                    </p:set>
                                    <p:animEffect transition="in" filter="blinds(horizontal)">
                                      <p:cBhvr>
                                        <p:cTn id="61" dur="500"/>
                                        <p:tgtEl>
                                          <p:spTgt spid="4814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48133"/>
                                        </p:tgtEl>
                                        <p:attrNameLst>
                                          <p:attrName>style.visibility</p:attrName>
                                        </p:attrNameLst>
                                      </p:cBhvr>
                                      <p:to>
                                        <p:strVal val="visible"/>
                                      </p:to>
                                    </p:set>
                                    <p:animEffect transition="in" filter="blinds(horizontal)">
                                      <p:cBhvr>
                                        <p:cTn id="66"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1" grpId="0" bldLvl="0" animBg="1"/>
      <p:bldP spid="48133"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2706" name="Rectangle 2"/>
          <p:cNvSpPr>
            <a:spLocks noGrp="1"/>
          </p:cNvSpPr>
          <p:nvPr>
            <p:ph type="title"/>
          </p:nvPr>
        </p:nvSpPr>
        <p:spPr>
          <a:xfrm>
            <a:off x="685800" y="152400"/>
            <a:ext cx="6870700" cy="990600"/>
          </a:xfrm>
        </p:spPr>
        <p:txBody>
          <a:bodyPr vert="horz" wrap="square" lIns="91440" tIns="45720" rIns="91440" bIns="45720" anchor="b" anchorCtr="0"/>
          <a:p>
            <a:pPr eaLnBrk="1" hangingPunct="1"/>
            <a:r>
              <a:rPr lang="en-US" altLang="zh-CN" dirty="0"/>
              <a:t>Algorithm 2</a:t>
            </a:r>
            <a:endParaRPr lang="en-US" altLang="zh-CN" dirty="0"/>
          </a:p>
        </p:txBody>
      </p:sp>
      <p:sp>
        <p:nvSpPr>
          <p:cNvPr id="49155" name="Rectangle 3"/>
          <p:cNvSpPr>
            <a:spLocks noGrp="1"/>
          </p:cNvSpPr>
          <p:nvPr>
            <p:ph idx="1"/>
          </p:nvPr>
        </p:nvSpPr>
        <p:spPr>
          <a:xfrm>
            <a:off x="533400" y="1144588"/>
            <a:ext cx="7696200" cy="3657600"/>
          </a:xfrm>
        </p:spPr>
        <p:txBody>
          <a:bodyPr vert="horz" wrap="square" lIns="91440" tIns="45720" rIns="91440" bIns="45720" anchor="t" anchorCtr="0"/>
          <a:p>
            <a:pPr eaLnBrk="1" hangingPunct="1"/>
            <a:r>
              <a:rPr lang="en-US" altLang="zh-CN" sz="2400" dirty="0"/>
              <a:t>Idea: Given sum from i to j-1, we can compute the sum from i to j in constant time. </a:t>
            </a:r>
            <a:endParaRPr lang="en-US" altLang="zh-CN" sz="2400" dirty="0"/>
          </a:p>
          <a:p>
            <a:pPr eaLnBrk="1" hangingPunct="1"/>
            <a:r>
              <a:rPr lang="en-US" altLang="zh-CN" sz="2400" dirty="0"/>
              <a:t>This eliminates one nested loop, and reduces the running time to O(n</a:t>
            </a:r>
            <a:r>
              <a:rPr lang="en-US" altLang="zh-CN" sz="2400" baseline="30000" dirty="0"/>
              <a:t>2</a:t>
            </a:r>
            <a:r>
              <a:rPr lang="en-US" altLang="zh-CN" sz="2400" dirty="0"/>
              <a:t>).</a:t>
            </a:r>
            <a:endParaRPr lang="en-US" altLang="zh-CN" sz="2400" dirty="0"/>
          </a:p>
        </p:txBody>
      </p:sp>
      <p:sp>
        <p:nvSpPr>
          <p:cNvPr id="93187" name="Text Box 4"/>
          <p:cNvSpPr txBox="1"/>
          <p:nvPr/>
        </p:nvSpPr>
        <p:spPr>
          <a:xfrm>
            <a:off x="1833563" y="2852738"/>
            <a:ext cx="4643437" cy="3508375"/>
          </a:xfrm>
          <a:prstGeom prst="rect">
            <a:avLst/>
          </a:prstGeom>
          <a:solidFill>
            <a:srgbClr val="F7F7ED"/>
          </a:solidFill>
          <a:ln w="9525">
            <a:noFill/>
          </a:ln>
        </p:spPr>
        <p:txBody>
          <a:bodyPr lIns="86493" tIns="43247" rIns="86493" bIns="43247">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defTabSz="484505">
              <a:lnSpc>
                <a:spcPct val="90000"/>
              </a:lnSpc>
              <a:spcBef>
                <a:spcPct val="0"/>
              </a:spcBef>
              <a:buNone/>
            </a:pP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int maxSum = 0;</a:t>
            </a:r>
            <a:endParaRPr lang="en-US" altLang="zh-CN" sz="1900" b="1" dirty="0">
              <a:latin typeface="Book Antiqua" panose="02040602050305030304" pitchFamily="18" charset="0"/>
            </a:endParaRPr>
          </a:p>
          <a:p>
            <a:pPr marL="0" lvl="0" indent="0" defTabSz="484505">
              <a:lnSpc>
                <a:spcPct val="90000"/>
              </a:lnSpc>
              <a:spcBef>
                <a:spcPct val="0"/>
              </a:spcBef>
              <a:buNone/>
            </a:pP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for( int i = 0; i &lt; n; i++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int thisSum = 0;</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for( int j = i; j &lt; n; j++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thisSum += a[ j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if( thisSum &gt; maxSum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maxSum   = thisSum;</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a:t>
            </a:r>
            <a:endParaRPr lang="en-US" altLang="zh-CN" sz="1900" b="1" dirty="0">
              <a:latin typeface="Book Antiqua" panose="02040602050305030304" pitchFamily="18" charset="0"/>
            </a:endParaRPr>
          </a:p>
          <a:p>
            <a:pPr marL="0" lvl="0" indent="0" defTabSz="484505">
              <a:lnSpc>
                <a:spcPct val="90000"/>
              </a:lnSpc>
              <a:spcBef>
                <a:spcPct val="0"/>
              </a:spcBef>
              <a:buNone/>
            </a:pPr>
            <a:r>
              <a:rPr lang="en-US" altLang="zh-CN" sz="1900" b="1" dirty="0">
                <a:latin typeface="Book Antiqua" panose="02040602050305030304" pitchFamily="18" charset="0"/>
              </a:rPr>
              <a:t>	return maxSum;</a:t>
            </a:r>
            <a:endParaRPr lang="en-US" altLang="zh-CN" sz="1900" b="1" dirty="0">
              <a:latin typeface="Book Antiqua" panose="02040602050305030304" pitchFamily="18" charset="0"/>
            </a:endParaRPr>
          </a:p>
          <a:p>
            <a:pPr marL="0" lvl="0" indent="0" defTabSz="484505">
              <a:lnSpc>
                <a:spcPct val="90000"/>
              </a:lnSpc>
              <a:spcBef>
                <a:spcPct val="0"/>
              </a:spcBef>
              <a:buNone/>
            </a:pPr>
            <a:endParaRPr lang="en-US" altLang="zh-CN" sz="1900" b="1" dirty="0">
              <a:latin typeface="Book Antiqua" panose="02040602050305030304" pitchFamily="18" charset="0"/>
            </a:endParaRPr>
          </a:p>
        </p:txBody>
      </p:sp>
      <p:sp>
        <p:nvSpPr>
          <p:cNvPr id="72709" name="Rectangle 5"/>
          <p:cNvSpPr/>
          <p:nvPr/>
        </p:nvSpPr>
        <p:spPr>
          <a:xfrm>
            <a:off x="822325" y="5592763"/>
            <a:ext cx="176213" cy="771525"/>
          </a:xfrm>
          <a:prstGeom prst="rect">
            <a:avLst/>
          </a:prstGeom>
          <a:noFill/>
          <a:ln w="9525">
            <a:noFill/>
          </a:ln>
        </p:spPr>
        <p:txBody>
          <a:bodyPr wrap="none" lIns="86493" tIns="43247" rIns="86493" bIns="43247">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defTabSz="865505">
              <a:spcBef>
                <a:spcPct val="0"/>
              </a:spcBef>
              <a:buNone/>
            </a:pPr>
            <a:endParaRPr lang="en-US" altLang="zh-CN" sz="2300" dirty="0">
              <a:latin typeface="Times New Roman" panose="02020603050405020304" pitchFamily="18" charset="0"/>
            </a:endParaRPr>
          </a:p>
          <a:p>
            <a:pPr marL="0" lvl="0" indent="0" defTabSz="865505">
              <a:spcBef>
                <a:spcPct val="0"/>
              </a:spcBef>
              <a:buNone/>
            </a:pPr>
            <a:endParaRPr lang="en-US" altLang="zh-CN" sz="2300" dirty="0">
              <a:latin typeface="Times New Roman" panose="02020603050405020304" pitchFamily="18" charset="0"/>
            </a:endParaRPr>
          </a:p>
        </p:txBody>
      </p:sp>
      <p:sp>
        <p:nvSpPr>
          <p:cNvPr id="48133" name="Rectangle 5"/>
          <p:cNvSpPr/>
          <p:nvPr/>
        </p:nvSpPr>
        <p:spPr>
          <a:xfrm>
            <a:off x="142875" y="6248400"/>
            <a:ext cx="8991600" cy="857250"/>
          </a:xfrm>
          <a:prstGeom prst="rect">
            <a:avLst/>
          </a:prstGeom>
          <a:noFill/>
          <a:ln w="9525">
            <a:noFill/>
          </a:ln>
        </p:spPr>
        <p:txBody>
          <a:bodyPr lIns="91432" tIns="45716" rIns="91432" bIns="45716"/>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219075" lvl="0" indent="-219075">
              <a:buClr>
                <a:schemeClr val="tx2"/>
              </a:buClr>
              <a:buSzPct val="65000"/>
              <a:buFont typeface="Monotype Sorts" pitchFamily="-128" charset="2"/>
              <a:buChar char="n"/>
            </a:pPr>
            <a:r>
              <a:rPr lang="en-US" altLang="zh-CN" sz="2600" dirty="0">
                <a:solidFill>
                  <a:srgbClr val="000066"/>
                </a:solidFill>
                <a:latin typeface="Tahoma" panose="020B0604030504040204" pitchFamily="34" charset="0"/>
              </a:rPr>
              <a:t>Time complexity: </a:t>
            </a:r>
            <a:r>
              <a:rPr lang="en-US" altLang="zh-CN" sz="2600" i="1" dirty="0">
                <a:solidFill>
                  <a:srgbClr val="000066"/>
                </a:solidFill>
                <a:latin typeface="Times New Roman" panose="02020603050405020304" pitchFamily="18" charset="0"/>
              </a:rPr>
              <a:t>O</a:t>
            </a:r>
            <a:r>
              <a:rPr lang="en-US" altLang="zh-CN" sz="2600" dirty="0">
                <a:solidFill>
                  <a:srgbClr val="000066"/>
                </a:solidFill>
                <a:latin typeface="Symbol" panose="05050102010706020507" pitchFamily="18" charset="2"/>
              </a:rPr>
              <a:t>(</a:t>
            </a:r>
            <a:r>
              <a:rPr lang="en-US" altLang="zh-CN" sz="2600" i="1" dirty="0">
                <a:solidFill>
                  <a:srgbClr val="000066"/>
                </a:solidFill>
                <a:latin typeface="Times New Roman" panose="02020603050405020304" pitchFamily="18" charset="0"/>
              </a:rPr>
              <a:t>n</a:t>
            </a:r>
            <a:r>
              <a:rPr lang="en-US" altLang="zh-CN" sz="2600" baseline="30000" dirty="0">
                <a:solidFill>
                  <a:srgbClr val="000066"/>
                </a:solidFill>
                <a:latin typeface="Times New Roman" panose="02020603050405020304" pitchFamily="18" charset="0"/>
              </a:rPr>
              <a:t>2</a:t>
            </a:r>
            <a:r>
              <a:rPr lang="en-US" altLang="zh-CN" sz="2600" dirty="0">
                <a:solidFill>
                  <a:srgbClr val="000066"/>
                </a:solidFill>
                <a:latin typeface="Symbol" panose="05050102010706020507" pitchFamily="18" charset="2"/>
              </a:rPr>
              <a:t>)</a:t>
            </a:r>
            <a:endParaRPr lang="en-US" altLang="zh-CN" sz="2600" dirty="0">
              <a:solidFill>
                <a:srgbClr val="000066"/>
              </a:solidFill>
              <a:latin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charRg st="85" end="157"/>
                                            </p:txEl>
                                          </p:spTgt>
                                        </p:tgtEl>
                                        <p:attrNameLst>
                                          <p:attrName>style.visibility</p:attrName>
                                        </p:attrNameLst>
                                      </p:cBhvr>
                                      <p:to>
                                        <p:strVal val="visible"/>
                                      </p:to>
                                    </p:set>
                                    <p:animEffect transition="in" filter="blinds(horizontal)">
                                      <p:cBhvr>
                                        <p:cTn id="7" dur="500"/>
                                        <p:tgtEl>
                                          <p:spTgt spid="49155">
                                            <p:txEl>
                                              <p:charRg st="85" end="15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3187"/>
                                        </p:tgtEl>
                                        <p:attrNameLst>
                                          <p:attrName>style.visibility</p:attrName>
                                        </p:attrNameLst>
                                      </p:cBhvr>
                                      <p:to>
                                        <p:strVal val="visible"/>
                                      </p:to>
                                    </p:set>
                                    <p:animEffect transition="in" filter="blinds(horizontal)">
                                      <p:cBhvr>
                                        <p:cTn id="12" dur="500"/>
                                        <p:tgtEl>
                                          <p:spTgt spid="9318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133"/>
                                        </p:tgtEl>
                                        <p:attrNameLst>
                                          <p:attrName>style.visibility</p:attrName>
                                        </p:attrNameLst>
                                      </p:cBhvr>
                                      <p:to>
                                        <p:strVal val="visible"/>
                                      </p:to>
                                    </p:set>
                                    <p:animEffect transition="in" filter="blinds(horizontal)">
                                      <p:cBhvr>
                                        <p:cTn id="17"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ldLvl="0" animBg="1"/>
      <p:bldP spid="48133"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3730" name="Rectangle 2"/>
          <p:cNvSpPr>
            <a:spLocks noGrp="1"/>
          </p:cNvSpPr>
          <p:nvPr>
            <p:ph type="title"/>
          </p:nvPr>
        </p:nvSpPr>
        <p:spPr>
          <a:xfrm>
            <a:off x="685800" y="228600"/>
            <a:ext cx="6870700" cy="838200"/>
          </a:xfrm>
        </p:spPr>
        <p:txBody>
          <a:bodyPr vert="horz" wrap="square" lIns="91440" tIns="45720" rIns="91440" bIns="45720" anchor="b" anchorCtr="0"/>
          <a:p>
            <a:pPr eaLnBrk="1" hangingPunct="1"/>
            <a:r>
              <a:rPr lang="en-US" altLang="zh-CN" dirty="0"/>
              <a:t>Algorithm 3 Recursion</a:t>
            </a:r>
            <a:endParaRPr lang="en-US" altLang="zh-CN" dirty="0"/>
          </a:p>
        </p:txBody>
      </p:sp>
      <p:sp>
        <p:nvSpPr>
          <p:cNvPr id="50179" name="Rectangle 3"/>
          <p:cNvSpPr>
            <a:spLocks noGrp="1" noChangeArrowheads="1"/>
          </p:cNvSpPr>
          <p:nvPr>
            <p:ph idx="1"/>
          </p:nvPr>
        </p:nvSpPr>
        <p:spPr>
          <a:xfrm>
            <a:off x="685800" y="1219200"/>
            <a:ext cx="7848600" cy="27432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This algorithm uses </a:t>
            </a:r>
            <a:r>
              <a:rPr kumimoji="0" lang="en-US" altLang="zh-CN" sz="2400" b="0" i="0" u="none" strike="noStrike" kern="0" cap="none" spc="0" normalizeH="0" baseline="0" noProof="0" dirty="0">
                <a:ln>
                  <a:noFill/>
                </a:ln>
                <a:solidFill>
                  <a:schemeClr val="hlink"/>
                </a:solidFill>
                <a:effectLst/>
                <a:uLnTx/>
                <a:uFillTx/>
                <a:latin typeface="+mn-lt"/>
                <a:ea typeface="+mn-ea"/>
                <a:cs typeface="+mn-cs"/>
              </a:rPr>
              <a:t>divide-and-conquer</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paradigm.</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The base case</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Suppose we split the input sequence at midpoint.</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    The max subsequence may be</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100" b="0" i="0" u="none" strike="noStrike" kern="0" cap="none" spc="0" normalizeH="0" baseline="0" noProof="0" dirty="0">
                <a:ln>
                  <a:noFill/>
                </a:ln>
                <a:solidFill>
                  <a:schemeClr val="tx1"/>
                </a:solidFill>
                <a:effectLst/>
                <a:uLnTx/>
                <a:uFillTx/>
                <a:latin typeface="+mn-lt"/>
                <a:ea typeface="+mn-ea"/>
              </a:rPr>
              <a:t>  entirely in the </a:t>
            </a:r>
            <a:r>
              <a:rPr kumimoji="0" lang="en-US" altLang="zh-CN" sz="2100" b="0" i="0" u="none" strike="noStrike" kern="0" cap="none" spc="0" normalizeH="0" baseline="0" noProof="0" dirty="0">
                <a:ln>
                  <a:noFill/>
                </a:ln>
                <a:solidFill>
                  <a:srgbClr val="FF3300"/>
                </a:solidFill>
                <a:effectLst/>
                <a:uLnTx/>
                <a:uFillTx/>
                <a:latin typeface="+mn-lt"/>
                <a:ea typeface="+mn-ea"/>
              </a:rPr>
              <a:t>left half</a:t>
            </a:r>
            <a:r>
              <a:rPr kumimoji="0" lang="en-US" altLang="zh-CN" sz="2100" b="0" i="0" u="none" strike="noStrike" kern="0" cap="none" spc="0" normalizeH="0" baseline="0" noProof="0" dirty="0">
                <a:ln>
                  <a:noFill/>
                </a:ln>
                <a:solidFill>
                  <a:schemeClr val="tx1"/>
                </a:solidFill>
                <a:effectLst/>
                <a:uLnTx/>
                <a:uFillTx/>
                <a:latin typeface="+mn-lt"/>
                <a:ea typeface="+mn-ea"/>
              </a:rPr>
              <a:t>, </a:t>
            </a:r>
            <a:endParaRPr kumimoji="0" lang="en-US" altLang="zh-CN" sz="2100"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100" b="0" i="0" u="none" strike="noStrike" kern="0" cap="none" spc="0" normalizeH="0" baseline="0" noProof="0" dirty="0">
                <a:ln>
                  <a:noFill/>
                </a:ln>
                <a:solidFill>
                  <a:schemeClr val="tx1"/>
                </a:solidFill>
                <a:effectLst/>
                <a:uLnTx/>
                <a:uFillTx/>
                <a:latin typeface="+mn-lt"/>
                <a:ea typeface="+mn-ea"/>
              </a:rPr>
              <a:t>  entirely in the </a:t>
            </a:r>
            <a:r>
              <a:rPr kumimoji="0" lang="en-US" altLang="zh-CN" sz="2100" b="0" i="0" u="none" strike="noStrike" kern="0" cap="none" spc="0" normalizeH="0" baseline="0" noProof="0" dirty="0">
                <a:ln>
                  <a:noFill/>
                </a:ln>
                <a:solidFill>
                  <a:srgbClr val="FF3300"/>
                </a:solidFill>
                <a:effectLst/>
                <a:uLnTx/>
                <a:uFillTx/>
                <a:latin typeface="+mn-lt"/>
                <a:ea typeface="+mn-ea"/>
              </a:rPr>
              <a:t>right half</a:t>
            </a:r>
            <a:r>
              <a:rPr kumimoji="0" lang="en-US" altLang="zh-CN" sz="2100" b="0" i="0" u="none" strike="noStrike" kern="0" cap="none" spc="0" normalizeH="0" baseline="0" noProof="0" dirty="0">
                <a:ln>
                  <a:noFill/>
                </a:ln>
                <a:solidFill>
                  <a:schemeClr val="tx1"/>
                </a:solidFill>
                <a:effectLst/>
                <a:uLnTx/>
                <a:uFillTx/>
                <a:latin typeface="+mn-lt"/>
                <a:ea typeface="+mn-ea"/>
              </a:rPr>
              <a:t>,</a:t>
            </a:r>
            <a:endParaRPr kumimoji="0" lang="en-US" altLang="zh-CN" sz="2100"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en-US" altLang="zh-CN" sz="2100" b="0" i="0" u="none" strike="noStrike" kern="0" cap="none" spc="0" normalizeH="0" baseline="0" noProof="0" dirty="0">
                <a:ln>
                  <a:noFill/>
                </a:ln>
                <a:solidFill>
                  <a:schemeClr val="tx1"/>
                </a:solidFill>
                <a:effectLst/>
                <a:uLnTx/>
                <a:uFillTx/>
                <a:latin typeface="+mn-lt"/>
                <a:ea typeface="+mn-ea"/>
              </a:rPr>
              <a:t>  </a:t>
            </a:r>
            <a:r>
              <a:rPr kumimoji="0" lang="en-US" altLang="zh-CN" sz="2100" b="0" i="0" u="none" strike="noStrike" kern="0" cap="none" spc="0" normalizeH="0" baseline="0" noProof="0" dirty="0">
                <a:ln>
                  <a:noFill/>
                </a:ln>
                <a:solidFill>
                  <a:srgbClr val="FF3300"/>
                </a:solidFill>
                <a:effectLst/>
                <a:uLnTx/>
                <a:uFillTx/>
                <a:latin typeface="+mn-lt"/>
                <a:ea typeface="+mn-ea"/>
              </a:rPr>
              <a:t>straddles the midpoint</a:t>
            </a:r>
            <a:r>
              <a:rPr kumimoji="0" lang="en-US" altLang="zh-CN" sz="2100" b="0" i="0" u="none" strike="noStrike" kern="0" cap="none" spc="0" normalizeH="0" baseline="0" noProof="0" dirty="0">
                <a:ln>
                  <a:noFill/>
                </a:ln>
                <a:solidFill>
                  <a:schemeClr val="tx1"/>
                </a:solidFill>
                <a:effectLst/>
                <a:uLnTx/>
                <a:uFillTx/>
                <a:latin typeface="+mn-lt"/>
                <a:ea typeface="+mn-ea"/>
              </a:rPr>
              <a:t>.</a:t>
            </a:r>
            <a:endParaRPr kumimoji="0" lang="en-US" altLang="zh-CN" sz="2100"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100" b="0"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Max subsequences in each half found by </a:t>
            </a:r>
            <a:r>
              <a:rPr kumimoji="0" lang="en-US" altLang="zh-CN" sz="2400" b="0" i="0" u="none" strike="noStrike" kern="0" cap="none" spc="0" normalizeH="0" baseline="0" noProof="0" dirty="0">
                <a:ln>
                  <a:noFill/>
                </a:ln>
                <a:solidFill>
                  <a:schemeClr val="hlink"/>
                </a:solidFill>
                <a:effectLst/>
                <a:uLnTx/>
                <a:uFillTx/>
                <a:latin typeface="+mn-lt"/>
                <a:ea typeface="+mn-ea"/>
                <a:cs typeface="+mn-cs"/>
              </a:rPr>
              <a:t>recursion</a:t>
            </a:r>
            <a:endParaRPr kumimoji="0" lang="en-US" altLang="zh-CN" sz="2400" b="0" i="0" u="none" strike="noStrike" kern="0" cap="none" spc="0" normalizeH="0" baseline="0" noProof="0" dirty="0">
              <a:ln>
                <a:noFill/>
              </a:ln>
              <a:solidFill>
                <a:schemeClr val="hlink"/>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hlink"/>
              </a:solidFill>
              <a:effectLst/>
              <a:uLnTx/>
              <a:uFillTx/>
              <a:latin typeface="+mn-lt"/>
              <a:ea typeface="+mn-ea"/>
              <a:cs typeface="+mn-cs"/>
            </a:endParaRPr>
          </a:p>
        </p:txBody>
      </p:sp>
      <p:sp>
        <p:nvSpPr>
          <p:cNvPr id="50180" name="Rectangle 4"/>
          <p:cNvSpPr/>
          <p:nvPr/>
        </p:nvSpPr>
        <p:spPr>
          <a:xfrm>
            <a:off x="3429000" y="5638800"/>
            <a:ext cx="2133600" cy="152400"/>
          </a:xfrm>
          <a:prstGeom prst="rect">
            <a:avLst/>
          </a:prstGeom>
          <a:no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0181" name="Rectangle 5"/>
          <p:cNvSpPr/>
          <p:nvPr/>
        </p:nvSpPr>
        <p:spPr>
          <a:xfrm>
            <a:off x="3581400" y="5867400"/>
            <a:ext cx="609600" cy="762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0182" name="Rectangle 6"/>
          <p:cNvSpPr/>
          <p:nvPr/>
        </p:nvSpPr>
        <p:spPr>
          <a:xfrm>
            <a:off x="4876800" y="5867400"/>
            <a:ext cx="457200" cy="762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0183" name="Rectangle 7"/>
          <p:cNvSpPr/>
          <p:nvPr/>
        </p:nvSpPr>
        <p:spPr>
          <a:xfrm>
            <a:off x="3581400" y="6019800"/>
            <a:ext cx="1752600" cy="762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0184" name="Line 8"/>
          <p:cNvSpPr/>
          <p:nvPr/>
        </p:nvSpPr>
        <p:spPr>
          <a:xfrm>
            <a:off x="4495800" y="5486400"/>
            <a:ext cx="0" cy="685800"/>
          </a:xfrm>
          <a:prstGeom prst="line">
            <a:avLst/>
          </a:prstGeom>
          <a:ln w="38100" cap="flat" cmpd="sng">
            <a:solidFill>
              <a:srgbClr val="FF0000"/>
            </a:solidFill>
            <a:prstDash val="solid"/>
            <a:headEnd type="none" w="med" len="med"/>
            <a:tailEnd type="none" w="med" len="med"/>
          </a:ln>
        </p:spPr>
      </p:sp>
      <p:sp>
        <p:nvSpPr>
          <p:cNvPr id="50185" name="AutoShape 9"/>
          <p:cNvSpPr/>
          <p:nvPr/>
        </p:nvSpPr>
        <p:spPr>
          <a:xfrm>
            <a:off x="1524000" y="6096000"/>
            <a:ext cx="1524000" cy="457200"/>
          </a:xfrm>
          <a:prstGeom prst="wedgeRectCallout">
            <a:avLst>
              <a:gd name="adj1" fmla="val 95417"/>
              <a:gd name="adj2" fmla="val -61806"/>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conquer</a:t>
            </a:r>
            <a:endParaRPr lang="en-US" altLang="zh-CN" sz="2400" b="1" dirty="0">
              <a:latin typeface="Times New Roman" panose="02020603050405020304" pitchFamily="18" charset="0"/>
            </a:endParaRPr>
          </a:p>
        </p:txBody>
      </p:sp>
      <p:sp>
        <p:nvSpPr>
          <p:cNvPr id="50186" name="AutoShape 10"/>
          <p:cNvSpPr/>
          <p:nvPr/>
        </p:nvSpPr>
        <p:spPr>
          <a:xfrm>
            <a:off x="4724400" y="6172200"/>
            <a:ext cx="1524000" cy="457200"/>
          </a:xfrm>
          <a:prstGeom prst="wedgeRectCallout">
            <a:avLst>
              <a:gd name="adj1" fmla="val -64583"/>
              <a:gd name="adj2" fmla="val -122917"/>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400" b="1" dirty="0">
                <a:latin typeface="Times New Roman" panose="02020603050405020304" pitchFamily="18" charset="0"/>
              </a:rPr>
              <a:t>divide</a:t>
            </a:r>
            <a:endParaRPr lang="en-US" altLang="zh-CN" sz="24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0180"/>
                                        </p:tgtEl>
                                        <p:attrNameLst>
                                          <p:attrName>style.visibility</p:attrName>
                                        </p:attrNameLst>
                                      </p:cBhvr>
                                      <p:to>
                                        <p:strVal val="visible"/>
                                      </p:to>
                                    </p:set>
                                    <p:animEffect transition="in" filter="wipe(up)">
                                      <p:cBhvr>
                                        <p:cTn id="7" dur="500"/>
                                        <p:tgtEl>
                                          <p:spTgt spid="501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0184"/>
                                        </p:tgtEl>
                                        <p:attrNameLst>
                                          <p:attrName>style.visibility</p:attrName>
                                        </p:attrNameLst>
                                      </p:cBhvr>
                                      <p:to>
                                        <p:strVal val="visible"/>
                                      </p:to>
                                    </p:set>
                                    <p:animEffect transition="in" filter="wipe(up)">
                                      <p:cBhvr>
                                        <p:cTn id="12" dur="500"/>
                                        <p:tgtEl>
                                          <p:spTgt spid="5018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0181"/>
                                        </p:tgtEl>
                                        <p:attrNameLst>
                                          <p:attrName>style.visibility</p:attrName>
                                        </p:attrNameLst>
                                      </p:cBhvr>
                                      <p:to>
                                        <p:strVal val="visible"/>
                                      </p:to>
                                    </p:set>
                                    <p:animEffect transition="in" filter="box(in)">
                                      <p:cBhvr>
                                        <p:cTn id="17" dur="500"/>
                                        <p:tgtEl>
                                          <p:spTgt spid="5018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0182"/>
                                        </p:tgtEl>
                                        <p:attrNameLst>
                                          <p:attrName>style.visibility</p:attrName>
                                        </p:attrNameLst>
                                      </p:cBhvr>
                                      <p:to>
                                        <p:strVal val="visible"/>
                                      </p:to>
                                    </p:set>
                                    <p:animEffect transition="in" filter="box(in)">
                                      <p:cBhvr>
                                        <p:cTn id="22" dur="500"/>
                                        <p:tgtEl>
                                          <p:spTgt spid="5018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50183"/>
                                        </p:tgtEl>
                                        <p:attrNameLst>
                                          <p:attrName>style.visibility</p:attrName>
                                        </p:attrNameLst>
                                      </p:cBhvr>
                                      <p:to>
                                        <p:strVal val="visible"/>
                                      </p:to>
                                    </p:set>
                                    <p:animEffect transition="in" filter="box(in)">
                                      <p:cBhvr>
                                        <p:cTn id="27" dur="500"/>
                                        <p:tgtEl>
                                          <p:spTgt spid="5018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50186"/>
                                        </p:tgtEl>
                                        <p:attrNameLst>
                                          <p:attrName>style.visibility</p:attrName>
                                        </p:attrNameLst>
                                      </p:cBhvr>
                                      <p:to>
                                        <p:strVal val="visible"/>
                                      </p:to>
                                    </p:set>
                                    <p:animEffect transition="in" filter="strips(downRight)">
                                      <p:cBhvr>
                                        <p:cTn id="32" dur="500"/>
                                        <p:tgtEl>
                                          <p:spTgt spid="5018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50185"/>
                                        </p:tgtEl>
                                        <p:attrNameLst>
                                          <p:attrName>style.visibility</p:attrName>
                                        </p:attrNameLst>
                                      </p:cBhvr>
                                      <p:to>
                                        <p:strVal val="visible"/>
                                      </p:to>
                                    </p:set>
                                    <p:animEffect transition="in" filter="strips(downLeft)">
                                      <p:cBhvr>
                                        <p:cTn id="37" dur="500"/>
                                        <p:tgtEl>
                                          <p:spTgt spid="5018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0179">
                                            <p:txEl>
                                              <p:charRg st="206" end="255"/>
                                            </p:txEl>
                                          </p:spTgt>
                                        </p:tgtEl>
                                        <p:attrNameLst>
                                          <p:attrName>style.visibility</p:attrName>
                                        </p:attrNameLst>
                                      </p:cBhvr>
                                      <p:to>
                                        <p:strVal val="visible"/>
                                      </p:to>
                                    </p:set>
                                    <p:animEffect transition="in" filter="blinds(horizontal)">
                                      <p:cBhvr>
                                        <p:cTn id="42" dur="500"/>
                                        <p:tgtEl>
                                          <p:spTgt spid="50179">
                                            <p:txEl>
                                              <p:charRg st="206" end="2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ldLvl="0" animBg="1"/>
      <p:bldP spid="50181" grpId="0" bldLvl="0" animBg="1"/>
      <p:bldP spid="50182" grpId="0" bldLvl="0" animBg="1"/>
      <p:bldP spid="50183" grpId="0" bldLvl="0" animBg="1"/>
      <p:bldP spid="50185" grpId="0" bldLvl="0" animBg="1"/>
      <p:bldP spid="50186"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4" name="Rectangle 2"/>
          <p:cNvSpPr>
            <a:spLocks noGrp="1"/>
          </p:cNvSpPr>
          <p:nvPr>
            <p:ph type="title"/>
          </p:nvPr>
        </p:nvSpPr>
        <p:spPr/>
        <p:txBody>
          <a:bodyPr vert="horz" wrap="square" lIns="91440" tIns="45720" rIns="91440" bIns="45720" anchor="b" anchorCtr="0"/>
          <a:p>
            <a:pPr eaLnBrk="1" hangingPunct="1"/>
            <a:r>
              <a:rPr lang="en-US" altLang="zh-CN" dirty="0"/>
              <a:t>Algorithm 3 (cont.)</a:t>
            </a:r>
            <a:endParaRPr lang="en-US" altLang="zh-CN" dirty="0"/>
          </a:p>
        </p:txBody>
      </p:sp>
      <p:sp>
        <p:nvSpPr>
          <p:cNvPr id="74755" name="Rectangle 3"/>
          <p:cNvSpPr>
            <a:spLocks noGrp="1"/>
          </p:cNvSpPr>
          <p:nvPr>
            <p:ph idx="1"/>
          </p:nvPr>
        </p:nvSpPr>
        <p:spPr/>
        <p:txBody>
          <a:bodyPr vert="horz" wrap="square" lIns="91440" tIns="45720" rIns="91440" bIns="45720" anchor="t" anchorCtr="0"/>
          <a:p>
            <a:pPr eaLnBrk="1" hangingPunct="1">
              <a:lnSpc>
                <a:spcPct val="90000"/>
              </a:lnSpc>
              <a:buNone/>
            </a:pPr>
            <a:r>
              <a:rPr lang="en-US" altLang="zh-CN" dirty="0"/>
              <a:t>Example:</a:t>
            </a:r>
            <a:endParaRPr lang="en-US" altLang="zh-CN" dirty="0"/>
          </a:p>
          <a:p>
            <a:pPr eaLnBrk="1" hangingPunct="1">
              <a:lnSpc>
                <a:spcPct val="90000"/>
              </a:lnSpc>
              <a:buNone/>
            </a:pPr>
            <a:r>
              <a:rPr lang="en-US" altLang="zh-CN" dirty="0"/>
              <a:t>		  left half        	right half</a:t>
            </a:r>
            <a:endParaRPr lang="en-US" altLang="zh-CN" dirty="0"/>
          </a:p>
          <a:p>
            <a:pPr eaLnBrk="1" hangingPunct="1">
              <a:lnSpc>
                <a:spcPct val="90000"/>
              </a:lnSpc>
              <a:buNone/>
            </a:pPr>
            <a:r>
              <a:rPr lang="en-US" altLang="zh-CN" dirty="0"/>
              <a:t>	     4   -3   5   -2       -1  2  6   -2</a:t>
            </a:r>
            <a:endParaRPr lang="en-US" altLang="zh-CN" dirty="0"/>
          </a:p>
          <a:p>
            <a:pPr eaLnBrk="1" hangingPunct="1">
              <a:lnSpc>
                <a:spcPct val="90000"/>
              </a:lnSpc>
              <a:buNone/>
            </a:pPr>
            <a:endParaRPr lang="en-US" altLang="zh-CN" dirty="0"/>
          </a:p>
          <a:p>
            <a:pPr eaLnBrk="1" hangingPunct="1">
              <a:lnSpc>
                <a:spcPct val="90000"/>
              </a:lnSpc>
              <a:buNone/>
            </a:pPr>
            <a:r>
              <a:rPr lang="en-US" altLang="zh-CN" dirty="0"/>
              <a:t>   Max in left is  6  (A1 through A3); </a:t>
            </a:r>
            <a:endParaRPr lang="en-US" altLang="zh-CN" dirty="0"/>
          </a:p>
          <a:p>
            <a:pPr eaLnBrk="1" hangingPunct="1">
              <a:lnSpc>
                <a:spcPct val="90000"/>
              </a:lnSpc>
              <a:buNone/>
            </a:pPr>
            <a:r>
              <a:rPr lang="en-US" altLang="zh-CN" dirty="0"/>
              <a:t>   Max in right is  8  (A6 through A7). </a:t>
            </a:r>
            <a:endParaRPr lang="en-US" altLang="zh-CN" dirty="0"/>
          </a:p>
          <a:p>
            <a:pPr eaLnBrk="1" hangingPunct="1">
              <a:lnSpc>
                <a:spcPct val="90000"/>
              </a:lnSpc>
              <a:buNone/>
            </a:pPr>
            <a:r>
              <a:rPr lang="en-US" altLang="zh-CN" dirty="0"/>
              <a:t>   Straddling max is 11 (A1 thru A7).</a:t>
            </a:r>
            <a:endParaRPr lang="en-US" altLang="zh-CN" dirty="0"/>
          </a:p>
        </p:txBody>
      </p:sp>
      <p:sp>
        <p:nvSpPr>
          <p:cNvPr id="74756" name="Line 4"/>
          <p:cNvSpPr/>
          <p:nvPr/>
        </p:nvSpPr>
        <p:spPr>
          <a:xfrm>
            <a:off x="4495800" y="2362200"/>
            <a:ext cx="0" cy="1066800"/>
          </a:xfrm>
          <a:prstGeom prst="line">
            <a:avLst/>
          </a:prstGeom>
          <a:ln w="38100" cap="flat" cmpd="sng">
            <a:solidFill>
              <a:schemeClr val="tx2"/>
            </a:solidFill>
            <a:prstDash val="solid"/>
            <a:headEnd type="none" w="med" len="med"/>
            <a:tailEnd type="none" w="med" len="med"/>
          </a:ln>
        </p:spPr>
      </p:sp>
      <p:sp>
        <p:nvSpPr>
          <p:cNvPr id="74757" name="Line 5"/>
          <p:cNvSpPr/>
          <p:nvPr/>
        </p:nvSpPr>
        <p:spPr>
          <a:xfrm>
            <a:off x="1752600" y="3352800"/>
            <a:ext cx="1524000" cy="0"/>
          </a:xfrm>
          <a:prstGeom prst="line">
            <a:avLst/>
          </a:prstGeom>
          <a:ln w="38100" cap="flat" cmpd="sng">
            <a:solidFill>
              <a:schemeClr val="tx2"/>
            </a:solidFill>
            <a:prstDash val="solid"/>
            <a:headEnd type="none" w="med" len="med"/>
            <a:tailEnd type="none" w="med" len="med"/>
          </a:ln>
        </p:spPr>
      </p:sp>
      <p:sp>
        <p:nvSpPr>
          <p:cNvPr id="74758" name="Line 6"/>
          <p:cNvSpPr/>
          <p:nvPr/>
        </p:nvSpPr>
        <p:spPr>
          <a:xfrm>
            <a:off x="5562600" y="3352800"/>
            <a:ext cx="838200" cy="0"/>
          </a:xfrm>
          <a:prstGeom prst="line">
            <a:avLst/>
          </a:prstGeom>
          <a:ln w="38100" cap="flat" cmpd="sng">
            <a:solidFill>
              <a:schemeClr val="tx2"/>
            </a:solidFill>
            <a:prstDash val="solid"/>
            <a:headEnd type="none" w="med" len="med"/>
            <a:tailEnd type="none" w="med" len="med"/>
          </a:ln>
        </p:spPr>
      </p:sp>
      <p:sp>
        <p:nvSpPr>
          <p:cNvPr id="74759" name="Line 7"/>
          <p:cNvSpPr/>
          <p:nvPr/>
        </p:nvSpPr>
        <p:spPr>
          <a:xfrm>
            <a:off x="1752600" y="3581400"/>
            <a:ext cx="4648200" cy="0"/>
          </a:xfrm>
          <a:prstGeom prst="line">
            <a:avLst/>
          </a:prstGeom>
          <a:ln w="38100" cap="flat" cmpd="sng">
            <a:solidFill>
              <a:schemeClr val="tx2"/>
            </a:solidFill>
            <a:prstDash val="solid"/>
            <a:headEnd type="none" w="med" len="med"/>
            <a:tailEnd type="none" w="med" len="me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 name="Group 10"/>
          <p:cNvGrpSpPr/>
          <p:nvPr/>
        </p:nvGrpSpPr>
        <p:grpSpPr>
          <a:xfrm>
            <a:off x="1524000" y="1828800"/>
            <a:ext cx="5486400" cy="533400"/>
            <a:chOff x="960" y="1680"/>
            <a:chExt cx="3456" cy="336"/>
          </a:xfrm>
        </p:grpSpPr>
        <p:sp>
          <p:nvSpPr>
            <p:cNvPr id="75809" name="Rectangle 11"/>
            <p:cNvSpPr/>
            <p:nvPr/>
          </p:nvSpPr>
          <p:spPr>
            <a:xfrm>
              <a:off x="960"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rPr>
                <a:t>4</a:t>
              </a:r>
              <a:endParaRPr lang="en-US" altLang="zh-CN" sz="2800" b="1" dirty="0">
                <a:latin typeface="Times New Roman" panose="02020603050405020304" pitchFamily="18" charset="0"/>
              </a:endParaRPr>
            </a:p>
          </p:txBody>
        </p:sp>
        <p:sp>
          <p:nvSpPr>
            <p:cNvPr id="75810" name="Rectangle 12"/>
            <p:cNvSpPr/>
            <p:nvPr/>
          </p:nvSpPr>
          <p:spPr>
            <a:xfrm>
              <a:off x="1392"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3</a:t>
              </a:r>
              <a:endParaRPr lang="en-US" altLang="zh-CN" sz="2800" b="1" dirty="0">
                <a:latin typeface="Times New Roman" panose="02020603050405020304" pitchFamily="18" charset="0"/>
              </a:endParaRPr>
            </a:p>
          </p:txBody>
        </p:sp>
        <p:sp>
          <p:nvSpPr>
            <p:cNvPr id="75811" name="Rectangle 13"/>
            <p:cNvSpPr/>
            <p:nvPr/>
          </p:nvSpPr>
          <p:spPr>
            <a:xfrm>
              <a:off x="1824"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rPr>
                <a:t>5</a:t>
              </a:r>
              <a:endParaRPr lang="en-US" altLang="zh-CN" sz="2800" b="1" dirty="0">
                <a:latin typeface="Times New Roman" panose="02020603050405020304" pitchFamily="18" charset="0"/>
              </a:endParaRPr>
            </a:p>
          </p:txBody>
        </p:sp>
        <p:sp>
          <p:nvSpPr>
            <p:cNvPr id="75812" name="Rectangle 14"/>
            <p:cNvSpPr/>
            <p:nvPr/>
          </p:nvSpPr>
          <p:spPr>
            <a:xfrm>
              <a:off x="2256"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2</a:t>
              </a:r>
              <a:endParaRPr lang="en-US" altLang="zh-CN" sz="2800" b="1" dirty="0">
                <a:latin typeface="Times New Roman" panose="02020603050405020304" pitchFamily="18" charset="0"/>
              </a:endParaRPr>
            </a:p>
          </p:txBody>
        </p:sp>
        <p:sp>
          <p:nvSpPr>
            <p:cNvPr id="75813" name="Rectangle 15"/>
            <p:cNvSpPr/>
            <p:nvPr/>
          </p:nvSpPr>
          <p:spPr>
            <a:xfrm>
              <a:off x="2688"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1</a:t>
              </a:r>
              <a:endParaRPr lang="en-US" altLang="zh-CN" sz="2800" b="1" dirty="0">
                <a:latin typeface="Times New Roman" panose="02020603050405020304" pitchFamily="18" charset="0"/>
              </a:endParaRPr>
            </a:p>
          </p:txBody>
        </p:sp>
        <p:sp>
          <p:nvSpPr>
            <p:cNvPr id="75814" name="Rectangle 16"/>
            <p:cNvSpPr/>
            <p:nvPr/>
          </p:nvSpPr>
          <p:spPr>
            <a:xfrm>
              <a:off x="3120"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rPr>
                <a:t>2</a:t>
              </a:r>
              <a:endParaRPr lang="en-US" altLang="zh-CN" sz="2800" b="1" dirty="0">
                <a:latin typeface="Times New Roman" panose="02020603050405020304" pitchFamily="18" charset="0"/>
              </a:endParaRPr>
            </a:p>
          </p:txBody>
        </p:sp>
        <p:sp>
          <p:nvSpPr>
            <p:cNvPr id="75815" name="Rectangle 17"/>
            <p:cNvSpPr/>
            <p:nvPr/>
          </p:nvSpPr>
          <p:spPr>
            <a:xfrm>
              <a:off x="3552"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rPr>
                <a:t>6</a:t>
              </a:r>
              <a:endParaRPr lang="en-US" altLang="zh-CN" sz="2800" b="1" dirty="0">
                <a:latin typeface="Times New Roman" panose="02020603050405020304" pitchFamily="18" charset="0"/>
              </a:endParaRPr>
            </a:p>
          </p:txBody>
        </p:sp>
        <p:sp>
          <p:nvSpPr>
            <p:cNvPr id="75816" name="Rectangle 18"/>
            <p:cNvSpPr/>
            <p:nvPr/>
          </p:nvSpPr>
          <p:spPr>
            <a:xfrm>
              <a:off x="3984" y="1680"/>
              <a:ext cx="432" cy="33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2</a:t>
              </a:r>
              <a:endParaRPr lang="en-US" altLang="zh-CN" sz="2800" b="1" dirty="0">
                <a:latin typeface="Times New Roman" panose="02020603050405020304" pitchFamily="18" charset="0"/>
              </a:endParaRPr>
            </a:p>
          </p:txBody>
        </p:sp>
        <p:sp>
          <p:nvSpPr>
            <p:cNvPr id="75817" name="Rectangle 19"/>
            <p:cNvSpPr/>
            <p:nvPr/>
          </p:nvSpPr>
          <p:spPr>
            <a:xfrm>
              <a:off x="960" y="1680"/>
              <a:ext cx="3456" cy="336"/>
            </a:xfrm>
            <a:prstGeom prst="rect">
              <a:avLst/>
            </a:prstGeom>
            <a:no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
        <p:nvSpPr>
          <p:cNvPr id="69654" name="Line 22"/>
          <p:cNvSpPr/>
          <p:nvPr/>
        </p:nvSpPr>
        <p:spPr>
          <a:xfrm>
            <a:off x="4267200" y="1828800"/>
            <a:ext cx="0" cy="533400"/>
          </a:xfrm>
          <a:prstGeom prst="line">
            <a:avLst/>
          </a:prstGeom>
          <a:ln w="76200" cap="flat" cmpd="sng">
            <a:solidFill>
              <a:srgbClr val="FF0000"/>
            </a:solidFill>
            <a:prstDash val="solid"/>
            <a:headEnd type="none" w="med" len="med"/>
            <a:tailEnd type="none" w="med" len="med"/>
          </a:ln>
        </p:spPr>
      </p:sp>
      <p:sp>
        <p:nvSpPr>
          <p:cNvPr id="69655" name="Line 23"/>
          <p:cNvSpPr/>
          <p:nvPr/>
        </p:nvSpPr>
        <p:spPr>
          <a:xfrm>
            <a:off x="2895600" y="1828800"/>
            <a:ext cx="0" cy="533400"/>
          </a:xfrm>
          <a:prstGeom prst="line">
            <a:avLst/>
          </a:prstGeom>
          <a:ln w="50800" cap="flat" cmpd="sng">
            <a:solidFill>
              <a:srgbClr val="FF6600"/>
            </a:solidFill>
            <a:prstDash val="solid"/>
            <a:headEnd type="none" w="med" len="med"/>
            <a:tailEnd type="none" w="med" len="med"/>
          </a:ln>
        </p:spPr>
      </p:sp>
      <p:sp>
        <p:nvSpPr>
          <p:cNvPr id="69656" name="Line 24"/>
          <p:cNvSpPr/>
          <p:nvPr/>
        </p:nvSpPr>
        <p:spPr>
          <a:xfrm>
            <a:off x="2209800" y="1828800"/>
            <a:ext cx="0" cy="533400"/>
          </a:xfrm>
          <a:prstGeom prst="line">
            <a:avLst/>
          </a:prstGeom>
          <a:ln w="25400" cap="flat" cmpd="sng">
            <a:solidFill>
              <a:srgbClr val="FF9900"/>
            </a:solidFill>
            <a:prstDash val="solid"/>
            <a:headEnd type="none" w="med" len="med"/>
            <a:tailEnd type="none" w="med" len="med"/>
          </a:ln>
        </p:spPr>
      </p:sp>
      <p:sp>
        <p:nvSpPr>
          <p:cNvPr id="69657" name="Rectangle 25"/>
          <p:cNvSpPr/>
          <p:nvPr/>
        </p:nvSpPr>
        <p:spPr>
          <a:xfrm>
            <a:off x="15240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4</a:t>
            </a:r>
            <a:endParaRPr lang="en-US" altLang="zh-CN" sz="2000" b="1" dirty="0">
              <a:latin typeface="Times New Roman" panose="02020603050405020304" pitchFamily="18" charset="0"/>
            </a:endParaRPr>
          </a:p>
        </p:txBody>
      </p:sp>
      <p:sp>
        <p:nvSpPr>
          <p:cNvPr id="69658" name="Rectangle 26"/>
          <p:cNvSpPr/>
          <p:nvPr/>
        </p:nvSpPr>
        <p:spPr>
          <a:xfrm>
            <a:off x="28956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5</a:t>
            </a:r>
            <a:endParaRPr lang="en-US" altLang="zh-CN" sz="2000" b="1" dirty="0">
              <a:latin typeface="Times New Roman" panose="02020603050405020304" pitchFamily="18" charset="0"/>
            </a:endParaRPr>
          </a:p>
        </p:txBody>
      </p:sp>
      <p:sp>
        <p:nvSpPr>
          <p:cNvPr id="69659" name="Line 27"/>
          <p:cNvSpPr/>
          <p:nvPr/>
        </p:nvSpPr>
        <p:spPr>
          <a:xfrm>
            <a:off x="3581400" y="1828800"/>
            <a:ext cx="0" cy="533400"/>
          </a:xfrm>
          <a:prstGeom prst="line">
            <a:avLst/>
          </a:prstGeom>
          <a:ln w="25400" cap="flat" cmpd="sng">
            <a:solidFill>
              <a:srgbClr val="FF9900"/>
            </a:solidFill>
            <a:prstDash val="solid"/>
            <a:headEnd type="none" w="med" len="med"/>
            <a:tailEnd type="none" w="med" len="med"/>
          </a:ln>
        </p:spPr>
      </p:sp>
      <p:sp>
        <p:nvSpPr>
          <p:cNvPr id="69660" name="Rectangle 28"/>
          <p:cNvSpPr/>
          <p:nvPr/>
        </p:nvSpPr>
        <p:spPr>
          <a:xfrm>
            <a:off x="1524000" y="2971800"/>
            <a:ext cx="1371600" cy="304800"/>
          </a:xfrm>
          <a:prstGeom prst="rect">
            <a:avLst/>
          </a:prstGeom>
          <a:noFill/>
          <a:ln w="508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9661" name="Rectangle 29"/>
          <p:cNvSpPr/>
          <p:nvPr/>
        </p:nvSpPr>
        <p:spPr>
          <a:xfrm>
            <a:off x="2895600" y="2971800"/>
            <a:ext cx="685800" cy="304800"/>
          </a:xfrm>
          <a:prstGeom prst="rect">
            <a:avLst/>
          </a:prstGeom>
          <a:noFill/>
          <a:ln w="508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9662" name="Rectangle 30"/>
          <p:cNvSpPr/>
          <p:nvPr/>
        </p:nvSpPr>
        <p:spPr>
          <a:xfrm>
            <a:off x="1524000" y="2971800"/>
            <a:ext cx="2057400" cy="304800"/>
          </a:xfrm>
          <a:prstGeom prst="rect">
            <a:avLst/>
          </a:prstGeom>
          <a:solidFill>
            <a:srgbClr val="FF6600">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6</a:t>
            </a:r>
            <a:endParaRPr lang="en-US" altLang="zh-CN" sz="2000" b="1" dirty="0">
              <a:latin typeface="Times New Roman" panose="02020603050405020304" pitchFamily="18" charset="0"/>
            </a:endParaRPr>
          </a:p>
        </p:txBody>
      </p:sp>
      <p:sp>
        <p:nvSpPr>
          <p:cNvPr id="69663" name="Line 31"/>
          <p:cNvSpPr/>
          <p:nvPr/>
        </p:nvSpPr>
        <p:spPr>
          <a:xfrm>
            <a:off x="5638800" y="1828800"/>
            <a:ext cx="0" cy="533400"/>
          </a:xfrm>
          <a:prstGeom prst="line">
            <a:avLst/>
          </a:prstGeom>
          <a:ln w="50800" cap="flat" cmpd="sng">
            <a:solidFill>
              <a:srgbClr val="FF6600"/>
            </a:solidFill>
            <a:prstDash val="solid"/>
            <a:headEnd type="none" w="med" len="med"/>
            <a:tailEnd type="none" w="med" len="med"/>
          </a:ln>
        </p:spPr>
      </p:sp>
      <p:sp>
        <p:nvSpPr>
          <p:cNvPr id="69664" name="Line 32"/>
          <p:cNvSpPr/>
          <p:nvPr/>
        </p:nvSpPr>
        <p:spPr>
          <a:xfrm>
            <a:off x="4953000" y="1828800"/>
            <a:ext cx="0" cy="533400"/>
          </a:xfrm>
          <a:prstGeom prst="line">
            <a:avLst/>
          </a:prstGeom>
          <a:ln w="25400" cap="flat" cmpd="sng">
            <a:solidFill>
              <a:srgbClr val="FF9900"/>
            </a:solidFill>
            <a:prstDash val="solid"/>
            <a:headEnd type="none" w="med" len="med"/>
            <a:tailEnd type="none" w="med" len="med"/>
          </a:ln>
        </p:spPr>
      </p:sp>
      <p:sp>
        <p:nvSpPr>
          <p:cNvPr id="69665" name="Rectangle 33"/>
          <p:cNvSpPr/>
          <p:nvPr/>
        </p:nvSpPr>
        <p:spPr>
          <a:xfrm>
            <a:off x="49530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2</a:t>
            </a:r>
            <a:endParaRPr lang="en-US" altLang="zh-CN" sz="2000" b="1" dirty="0">
              <a:latin typeface="Times New Roman" panose="02020603050405020304" pitchFamily="18" charset="0"/>
            </a:endParaRPr>
          </a:p>
        </p:txBody>
      </p:sp>
      <p:sp>
        <p:nvSpPr>
          <p:cNvPr id="69666" name="Rectangle 34"/>
          <p:cNvSpPr/>
          <p:nvPr/>
        </p:nvSpPr>
        <p:spPr>
          <a:xfrm>
            <a:off x="56388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6</a:t>
            </a:r>
            <a:endParaRPr lang="en-US" altLang="zh-CN" sz="2000" b="1" dirty="0">
              <a:latin typeface="Times New Roman" panose="02020603050405020304" pitchFamily="18" charset="0"/>
            </a:endParaRPr>
          </a:p>
        </p:txBody>
      </p:sp>
      <p:sp>
        <p:nvSpPr>
          <p:cNvPr id="69667" name="Rectangle 35"/>
          <p:cNvSpPr/>
          <p:nvPr/>
        </p:nvSpPr>
        <p:spPr>
          <a:xfrm>
            <a:off x="4953000" y="2971800"/>
            <a:ext cx="685800" cy="304800"/>
          </a:xfrm>
          <a:prstGeom prst="rect">
            <a:avLst/>
          </a:prstGeom>
          <a:noFill/>
          <a:ln w="508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9668" name="Rectangle 36"/>
          <p:cNvSpPr/>
          <p:nvPr/>
        </p:nvSpPr>
        <p:spPr>
          <a:xfrm>
            <a:off x="5638800" y="2971800"/>
            <a:ext cx="685800" cy="304800"/>
          </a:xfrm>
          <a:prstGeom prst="rect">
            <a:avLst/>
          </a:prstGeom>
          <a:noFill/>
          <a:ln w="50800"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9669" name="Rectangle 37"/>
          <p:cNvSpPr/>
          <p:nvPr/>
        </p:nvSpPr>
        <p:spPr>
          <a:xfrm>
            <a:off x="4953000" y="2971800"/>
            <a:ext cx="1371600" cy="304800"/>
          </a:xfrm>
          <a:prstGeom prst="rect">
            <a:avLst/>
          </a:prstGeom>
          <a:solidFill>
            <a:srgbClr val="FF6600">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8</a:t>
            </a:r>
            <a:endParaRPr lang="en-US" altLang="zh-CN" sz="2000" b="1" dirty="0">
              <a:latin typeface="Times New Roman" panose="02020603050405020304" pitchFamily="18" charset="0"/>
            </a:endParaRPr>
          </a:p>
        </p:txBody>
      </p:sp>
      <p:sp>
        <p:nvSpPr>
          <p:cNvPr id="69670" name="Rectangle 38"/>
          <p:cNvSpPr/>
          <p:nvPr/>
        </p:nvSpPr>
        <p:spPr>
          <a:xfrm>
            <a:off x="1524000" y="3429000"/>
            <a:ext cx="2743200" cy="304800"/>
          </a:xfrm>
          <a:prstGeom prst="rect">
            <a:avLst/>
          </a:prstGeom>
          <a:noFill/>
          <a:ln w="762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9671" name="Rectangle 39"/>
          <p:cNvSpPr/>
          <p:nvPr/>
        </p:nvSpPr>
        <p:spPr>
          <a:xfrm>
            <a:off x="4267200" y="3429000"/>
            <a:ext cx="2057400" cy="304800"/>
          </a:xfrm>
          <a:prstGeom prst="rect">
            <a:avLst/>
          </a:prstGeom>
          <a:noFill/>
          <a:ln w="76200"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69672" name="Rectangle 40"/>
          <p:cNvSpPr/>
          <p:nvPr/>
        </p:nvSpPr>
        <p:spPr>
          <a:xfrm>
            <a:off x="1524000" y="3429000"/>
            <a:ext cx="4800600" cy="304800"/>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solidFill>
                  <a:schemeClr val="bg1"/>
                </a:solidFill>
                <a:latin typeface="Times New Roman" panose="02020603050405020304" pitchFamily="18" charset="0"/>
              </a:rPr>
              <a:t>11</a:t>
            </a:r>
            <a:endParaRPr lang="en-US" altLang="zh-CN" sz="2000" b="1" dirty="0">
              <a:solidFill>
                <a:schemeClr val="bg1"/>
              </a:solidFill>
              <a:latin typeface="Times New Roman" panose="02020603050405020304" pitchFamily="18" charset="0"/>
            </a:endParaRPr>
          </a:p>
        </p:txBody>
      </p:sp>
      <p:sp>
        <p:nvSpPr>
          <p:cNvPr id="69673" name="Line 41"/>
          <p:cNvSpPr/>
          <p:nvPr/>
        </p:nvSpPr>
        <p:spPr>
          <a:xfrm>
            <a:off x="6324600" y="1828800"/>
            <a:ext cx="0" cy="533400"/>
          </a:xfrm>
          <a:prstGeom prst="line">
            <a:avLst/>
          </a:prstGeom>
          <a:ln w="25400" cap="flat" cmpd="sng">
            <a:solidFill>
              <a:srgbClr val="FF9900"/>
            </a:solidFill>
            <a:prstDash val="solid"/>
            <a:headEnd type="none" w="med" len="med"/>
            <a:tailEnd type="none" w="med" len="med"/>
          </a:ln>
        </p:spPr>
      </p:sp>
      <p:sp>
        <p:nvSpPr>
          <p:cNvPr id="69674" name="AutoShape 42"/>
          <p:cNvSpPr/>
          <p:nvPr/>
        </p:nvSpPr>
        <p:spPr>
          <a:xfrm>
            <a:off x="1066800" y="3962400"/>
            <a:ext cx="1524000" cy="762000"/>
          </a:xfrm>
          <a:prstGeom prst="wedgeEllipseCallout">
            <a:avLst>
              <a:gd name="adj1" fmla="val 45417"/>
              <a:gd name="adj2" fmla="val -136042"/>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i="1" dirty="0">
                <a:latin typeface="Times New Roman" panose="02020603050405020304" pitchFamily="18" charset="0"/>
              </a:rPr>
              <a:t>T </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/2 )</a:t>
            </a:r>
            <a:endParaRPr lang="en-US" altLang="zh-CN" sz="2000" b="1" i="1" dirty="0">
              <a:latin typeface="Times New Roman" panose="02020603050405020304" pitchFamily="18" charset="0"/>
            </a:endParaRPr>
          </a:p>
        </p:txBody>
      </p:sp>
      <p:sp>
        <p:nvSpPr>
          <p:cNvPr id="69675" name="AutoShape 43"/>
          <p:cNvSpPr/>
          <p:nvPr/>
        </p:nvSpPr>
        <p:spPr>
          <a:xfrm>
            <a:off x="6019800" y="3962400"/>
            <a:ext cx="1524000" cy="762000"/>
          </a:xfrm>
          <a:prstGeom prst="wedgeEllipseCallout">
            <a:avLst>
              <a:gd name="adj1" fmla="val -73750"/>
              <a:gd name="adj2" fmla="val -136042"/>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i="1" dirty="0">
                <a:latin typeface="Times New Roman" panose="02020603050405020304" pitchFamily="18" charset="0"/>
              </a:rPr>
              <a:t>T </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/2 )</a:t>
            </a:r>
            <a:endParaRPr lang="en-US" altLang="zh-CN" sz="2000" b="1" i="1" dirty="0">
              <a:latin typeface="Times New Roman" panose="02020603050405020304" pitchFamily="18" charset="0"/>
            </a:endParaRPr>
          </a:p>
        </p:txBody>
      </p:sp>
      <p:sp>
        <p:nvSpPr>
          <p:cNvPr id="69676" name="AutoShape 44"/>
          <p:cNvSpPr/>
          <p:nvPr/>
        </p:nvSpPr>
        <p:spPr>
          <a:xfrm>
            <a:off x="3657600" y="3962400"/>
            <a:ext cx="1524000" cy="762000"/>
          </a:xfrm>
          <a:prstGeom prst="wedgeEllipseCallout">
            <a:avLst>
              <a:gd name="adj1" fmla="val -23750"/>
              <a:gd name="adj2" fmla="val -71042"/>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O( </a:t>
            </a:r>
            <a:r>
              <a:rPr lang="en-US" altLang="zh-CN" sz="2000" b="1" i="1" dirty="0">
                <a:latin typeface="Times New Roman" panose="02020603050405020304" pitchFamily="18" charset="0"/>
              </a:rPr>
              <a:t>N </a:t>
            </a:r>
            <a:r>
              <a:rPr lang="en-US" altLang="zh-CN" sz="2000" b="1" dirty="0">
                <a:latin typeface="Times New Roman" panose="02020603050405020304" pitchFamily="18" charset="0"/>
              </a:rPr>
              <a:t>)</a:t>
            </a:r>
            <a:endParaRPr lang="en-US" altLang="zh-CN" sz="2000" b="1" i="1" dirty="0">
              <a:latin typeface="Times New Roman" panose="02020603050405020304" pitchFamily="18" charset="0"/>
            </a:endParaRPr>
          </a:p>
        </p:txBody>
      </p:sp>
      <p:sp>
        <p:nvSpPr>
          <p:cNvPr id="69677" name="Rectangle 45"/>
          <p:cNvSpPr/>
          <p:nvPr/>
        </p:nvSpPr>
        <p:spPr>
          <a:xfrm>
            <a:off x="1447800" y="4876800"/>
            <a:ext cx="5257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i="1" dirty="0">
                <a:latin typeface="Times New Roman" panose="02020603050405020304" pitchFamily="18" charset="0"/>
              </a:rPr>
              <a:t>T </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 </a:t>
            </a:r>
            <a:r>
              <a:rPr lang="en-US" altLang="zh-CN" sz="2000" b="1" dirty="0">
                <a:latin typeface="Times New Roman" panose="02020603050405020304" pitchFamily="18" charset="0"/>
              </a:rPr>
              <a:t>) = 2 </a:t>
            </a: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/2 ) + </a:t>
            </a:r>
            <a:r>
              <a:rPr lang="en-US" altLang="zh-CN" sz="2000" b="1" i="1" dirty="0">
                <a:latin typeface="Times New Roman" panose="02020603050405020304" pitchFamily="18" charset="0"/>
              </a:rPr>
              <a:t>c N</a:t>
            </a:r>
            <a:r>
              <a:rPr lang="en-US" altLang="zh-CN" sz="2000" b="1" dirty="0">
                <a:latin typeface="Times New Roman" panose="02020603050405020304" pitchFamily="18" charset="0"/>
              </a:rPr>
              <a:t> ,      </a:t>
            </a: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(1) = O(1)</a:t>
            </a:r>
            <a:endParaRPr lang="en-US" altLang="zh-CN" sz="2000" b="1" dirty="0">
              <a:latin typeface="Times New Roman" panose="02020603050405020304" pitchFamily="18" charset="0"/>
            </a:endParaRPr>
          </a:p>
        </p:txBody>
      </p:sp>
      <p:sp>
        <p:nvSpPr>
          <p:cNvPr id="69678" name="Rectangle 46"/>
          <p:cNvSpPr/>
          <p:nvPr/>
        </p:nvSpPr>
        <p:spPr>
          <a:xfrm>
            <a:off x="2209800" y="5257800"/>
            <a:ext cx="3505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dirty="0">
                <a:latin typeface="Times New Roman" panose="02020603050405020304" pitchFamily="18" charset="0"/>
              </a:rPr>
              <a:t>= 2 [2 </a:t>
            </a: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/2</a:t>
            </a:r>
            <a:r>
              <a:rPr lang="en-US" altLang="zh-CN" sz="2000" b="1" baseline="30000" dirty="0">
                <a:latin typeface="Times New Roman" panose="02020603050405020304" pitchFamily="18" charset="0"/>
              </a:rPr>
              <a:t>2</a:t>
            </a:r>
            <a:r>
              <a:rPr lang="en-US" altLang="zh-CN" sz="2000" b="1" dirty="0">
                <a:latin typeface="Times New Roman" panose="02020603050405020304" pitchFamily="18" charset="0"/>
              </a:rPr>
              <a:t> ) + </a:t>
            </a:r>
            <a:r>
              <a:rPr lang="en-US" altLang="zh-CN" sz="2000" b="1" i="1" dirty="0">
                <a:latin typeface="Times New Roman" panose="02020603050405020304" pitchFamily="18" charset="0"/>
              </a:rPr>
              <a:t>c N</a:t>
            </a:r>
            <a:r>
              <a:rPr lang="en-US" altLang="zh-CN" sz="2000" b="1" dirty="0">
                <a:latin typeface="Times New Roman" panose="02020603050405020304" pitchFamily="18" charset="0"/>
              </a:rPr>
              <a:t>/2] + </a:t>
            </a:r>
            <a:r>
              <a:rPr lang="en-US" altLang="zh-CN" sz="2000" b="1" i="1" dirty="0">
                <a:latin typeface="Times New Roman" panose="02020603050405020304" pitchFamily="18" charset="0"/>
              </a:rPr>
              <a:t>c N</a:t>
            </a:r>
            <a:endParaRPr lang="en-US" altLang="zh-CN" sz="2000" b="1" dirty="0">
              <a:latin typeface="Times New Roman" panose="02020603050405020304" pitchFamily="18" charset="0"/>
            </a:endParaRPr>
          </a:p>
        </p:txBody>
      </p:sp>
      <p:sp>
        <p:nvSpPr>
          <p:cNvPr id="69679" name="Rectangle 47"/>
          <p:cNvSpPr/>
          <p:nvPr/>
        </p:nvSpPr>
        <p:spPr>
          <a:xfrm>
            <a:off x="2209800" y="5638800"/>
            <a:ext cx="42672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dirty="0">
                <a:latin typeface="Times New Roman" panose="02020603050405020304" pitchFamily="18" charset="0"/>
              </a:rPr>
              <a:t>= 2</a:t>
            </a:r>
            <a:r>
              <a:rPr lang="en-US" altLang="zh-CN" sz="2000" b="1" i="1" baseline="30000" dirty="0">
                <a:latin typeface="Times New Roman" panose="02020603050405020304" pitchFamily="18" charset="0"/>
              </a:rPr>
              <a:t>k</a:t>
            </a:r>
            <a:r>
              <a:rPr lang="en-US" altLang="zh-CN" sz="2000" b="1" dirty="0">
                <a:latin typeface="Times New Roman" panose="02020603050405020304" pitchFamily="18" charset="0"/>
              </a:rPr>
              <a:t> O(1) + </a:t>
            </a:r>
            <a:r>
              <a:rPr lang="en-US" altLang="zh-CN" sz="2000" b="1" i="1" dirty="0">
                <a:latin typeface="Times New Roman" panose="02020603050405020304" pitchFamily="18" charset="0"/>
              </a:rPr>
              <a:t>c k N       </a:t>
            </a:r>
            <a:r>
              <a:rPr lang="en-US" altLang="zh-CN" sz="2000" b="1" dirty="0">
                <a:latin typeface="Times New Roman" panose="02020603050405020304" pitchFamily="18" charset="0"/>
              </a:rPr>
              <a:t>where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/2</a:t>
            </a:r>
            <a:r>
              <a:rPr lang="en-US" altLang="zh-CN" sz="2000" b="1" i="1" baseline="30000" dirty="0">
                <a:latin typeface="Times New Roman" panose="02020603050405020304" pitchFamily="18" charset="0"/>
              </a:rPr>
              <a:t>k</a:t>
            </a:r>
            <a:r>
              <a:rPr lang="en-US" altLang="zh-CN" sz="2000" b="1" dirty="0">
                <a:latin typeface="Times New Roman" panose="02020603050405020304" pitchFamily="18" charset="0"/>
              </a:rPr>
              <a:t> = 1 </a:t>
            </a:r>
            <a:endParaRPr lang="en-US" altLang="zh-CN" sz="2000" b="1" dirty="0">
              <a:latin typeface="Times New Roman" panose="02020603050405020304" pitchFamily="18" charset="0"/>
            </a:endParaRPr>
          </a:p>
        </p:txBody>
      </p:sp>
      <p:sp>
        <p:nvSpPr>
          <p:cNvPr id="69680" name="Rectangle 48"/>
          <p:cNvSpPr/>
          <p:nvPr/>
        </p:nvSpPr>
        <p:spPr>
          <a:xfrm>
            <a:off x="2209800" y="6019800"/>
            <a:ext cx="18288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000" b="1" dirty="0">
                <a:latin typeface="Times New Roman" panose="02020603050405020304" pitchFamily="18" charset="0"/>
              </a:rPr>
              <a:t>= O( </a:t>
            </a:r>
            <a:r>
              <a:rPr lang="en-US" altLang="zh-CN" sz="2000" b="1" i="1" dirty="0">
                <a:latin typeface="Times New Roman" panose="02020603050405020304" pitchFamily="18" charset="0"/>
              </a:rPr>
              <a:t>N </a:t>
            </a:r>
            <a:r>
              <a:rPr lang="en-US" altLang="zh-CN" sz="2000" b="1" dirty="0">
                <a:latin typeface="Times New Roman" panose="02020603050405020304" pitchFamily="18" charset="0"/>
              </a:rPr>
              <a:t>log</a:t>
            </a:r>
            <a:r>
              <a:rPr lang="en-US" altLang="zh-CN" sz="2000" b="1" i="1" dirty="0">
                <a:latin typeface="Times New Roman" panose="02020603050405020304" pitchFamily="18" charset="0"/>
              </a:rPr>
              <a:t> N</a:t>
            </a: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p:txBody>
      </p:sp>
      <p:sp>
        <p:nvSpPr>
          <p:cNvPr id="69681" name="AutoShape 49"/>
          <p:cNvSpPr/>
          <p:nvPr/>
        </p:nvSpPr>
        <p:spPr>
          <a:xfrm>
            <a:off x="6324600" y="5029200"/>
            <a:ext cx="2286000" cy="1143000"/>
          </a:xfrm>
          <a:prstGeom prst="wedgeEllipseCallout">
            <a:avLst>
              <a:gd name="adj1" fmla="val -156389"/>
              <a:gd name="adj2" fmla="val 57083"/>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Also true for</a:t>
            </a:r>
            <a:r>
              <a:rPr lang="en-US" altLang="zh-CN" sz="2000" b="1" i="1" dirty="0">
                <a:latin typeface="Times New Roman" panose="02020603050405020304" pitchFamily="18" charset="0"/>
              </a:rPr>
              <a:t> N </a:t>
            </a:r>
            <a:r>
              <a:rPr lang="en-US" altLang="zh-CN" sz="2000" b="1" dirty="0">
                <a:latin typeface="Times New Roman" panose="02020603050405020304" pitchFamily="18" charset="0"/>
                <a:sym typeface="Symbol" panose="05050102010706020507" pitchFamily="18" charset="2"/>
              </a:rPr>
              <a:t></a:t>
            </a:r>
            <a:r>
              <a:rPr lang="en-US" altLang="zh-CN" sz="2000" b="1" i="1" dirty="0">
                <a:latin typeface="Times New Roman" panose="02020603050405020304" pitchFamily="18" charset="0"/>
              </a:rPr>
              <a:t> </a:t>
            </a:r>
            <a:r>
              <a:rPr lang="en-US" altLang="zh-CN" sz="2000" b="1" dirty="0">
                <a:latin typeface="Times New Roman" panose="02020603050405020304" pitchFamily="18" charset="0"/>
              </a:rPr>
              <a:t>2</a:t>
            </a:r>
            <a:r>
              <a:rPr lang="en-US" altLang="zh-CN" sz="2000" b="1" i="1" baseline="30000" dirty="0">
                <a:latin typeface="Times New Roman" panose="02020603050405020304" pitchFamily="18" charset="0"/>
              </a:rPr>
              <a:t>k</a:t>
            </a:r>
            <a:endParaRPr lang="en-US" altLang="zh-CN" sz="2000" b="1" dirty="0">
              <a:latin typeface="Times New Roman" panose="02020603050405020304" pitchFamily="18" charset="0"/>
            </a:endParaRPr>
          </a:p>
        </p:txBody>
      </p:sp>
      <p:sp>
        <p:nvSpPr>
          <p:cNvPr id="75807" name="AutoShape 50"/>
          <p:cNvSpPr/>
          <p:nvPr/>
        </p:nvSpPr>
        <p:spPr>
          <a:xfrm flipV="1">
            <a:off x="6324600" y="4800600"/>
            <a:ext cx="2286000" cy="1676400"/>
          </a:xfrm>
          <a:prstGeom prst="verticalScroll">
            <a:avLst>
              <a:gd name="adj" fmla="val 8708"/>
            </a:avLst>
          </a:prstGeom>
          <a:gradFill rotWithShape="0">
            <a:gsLst>
              <a:gs pos="0">
                <a:srgbClr val="FFFFFF"/>
              </a:gs>
              <a:gs pos="100000">
                <a:srgbClr val="C0C0C0"/>
              </a:gs>
            </a:gsLst>
            <a:lin ang="5400000" scaled="1"/>
            <a:tileRect/>
          </a:gradFill>
          <a:ln w="9525" cap="flat" cmpd="sng">
            <a:solidFill>
              <a:schemeClr val="tx1"/>
            </a:solidFill>
            <a:prstDash val="solid"/>
            <a:headEnd type="none" w="med" len="med"/>
            <a:tailEnd type="none" w="med" len="med"/>
          </a:ln>
        </p:spPr>
        <p:txBody>
          <a:bodyPr rot="10800000" lIns="162000" rIns="162000"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The program can be found on Fig. 2.7.</a:t>
            </a:r>
            <a:endParaRPr lang="en-US" altLang="zh-CN" sz="2000" b="1" dirty="0">
              <a:latin typeface="Times New Roman" panose="02020603050405020304" pitchFamily="18" charset="0"/>
            </a:endParaRPr>
          </a:p>
        </p:txBody>
      </p:sp>
      <p:sp>
        <p:nvSpPr>
          <p:cNvPr id="75808" name="Rectangle 52"/>
          <p:cNvSpPr/>
          <p:nvPr/>
        </p:nvSpPr>
        <p:spPr>
          <a:xfrm>
            <a:off x="685800" y="152400"/>
            <a:ext cx="6870700" cy="1600200"/>
          </a:xfrm>
          <a:prstGeom prst="rect">
            <a:avLst/>
          </a:prstGeom>
          <a:noFill/>
          <a:ln w="9525">
            <a:noFill/>
          </a:ln>
        </p:spPr>
        <p:txBody>
          <a:bodyPr anchor="b"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4400" dirty="0"/>
              <a:t>Algorithm 3 (cont.)</a:t>
            </a:r>
            <a:endParaRPr lang="en-US" altLang="zh-CN" sz="4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9654"/>
                                        </p:tgtEl>
                                        <p:attrNameLst>
                                          <p:attrName>style.visibility</p:attrName>
                                        </p:attrNameLst>
                                      </p:cBhvr>
                                      <p:to>
                                        <p:strVal val="visible"/>
                                      </p:to>
                                    </p:set>
                                    <p:animEffect transition="in" filter="wipe(up)">
                                      <p:cBhvr>
                                        <p:cTn id="12" dur="500"/>
                                        <p:tgtEl>
                                          <p:spTgt spid="696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9655"/>
                                        </p:tgtEl>
                                        <p:attrNameLst>
                                          <p:attrName>style.visibility</p:attrName>
                                        </p:attrNameLst>
                                      </p:cBhvr>
                                      <p:to>
                                        <p:strVal val="visible"/>
                                      </p:to>
                                    </p:set>
                                    <p:animEffect transition="in" filter="wipe(up)">
                                      <p:cBhvr>
                                        <p:cTn id="17" dur="500"/>
                                        <p:tgtEl>
                                          <p:spTgt spid="696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9656"/>
                                        </p:tgtEl>
                                        <p:attrNameLst>
                                          <p:attrName>style.visibility</p:attrName>
                                        </p:attrNameLst>
                                      </p:cBhvr>
                                      <p:to>
                                        <p:strVal val="visible"/>
                                      </p:to>
                                    </p:set>
                                    <p:animEffect transition="in" filter="wipe(up)">
                                      <p:cBhvr>
                                        <p:cTn id="22" dur="500"/>
                                        <p:tgtEl>
                                          <p:spTgt spid="6965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9657"/>
                                        </p:tgtEl>
                                        <p:attrNameLst>
                                          <p:attrName>style.visibility</p:attrName>
                                        </p:attrNameLst>
                                      </p:cBhvr>
                                      <p:to>
                                        <p:strVal val="visible"/>
                                      </p:to>
                                    </p:set>
                                    <p:animEffect transition="in" filter="box(in)">
                                      <p:cBhvr>
                                        <p:cTn id="27" dur="500"/>
                                        <p:tgtEl>
                                          <p:spTgt spid="696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9659"/>
                                        </p:tgtEl>
                                        <p:attrNameLst>
                                          <p:attrName>style.visibility</p:attrName>
                                        </p:attrNameLst>
                                      </p:cBhvr>
                                      <p:to>
                                        <p:strVal val="visible"/>
                                      </p:to>
                                    </p:set>
                                    <p:animEffect transition="in" filter="wipe(up)">
                                      <p:cBhvr>
                                        <p:cTn id="32" dur="500"/>
                                        <p:tgtEl>
                                          <p:spTgt spid="6965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69658"/>
                                        </p:tgtEl>
                                        <p:attrNameLst>
                                          <p:attrName>style.visibility</p:attrName>
                                        </p:attrNameLst>
                                      </p:cBhvr>
                                      <p:to>
                                        <p:strVal val="visible"/>
                                      </p:to>
                                    </p:set>
                                    <p:animEffect transition="in" filter="box(in)">
                                      <p:cBhvr>
                                        <p:cTn id="37" dur="500"/>
                                        <p:tgtEl>
                                          <p:spTgt spid="69658"/>
                                        </p:tgtEl>
                                      </p:cBhvr>
                                    </p:animEffect>
                                  </p:childTnLst>
                                </p:cTn>
                              </p:par>
                            </p:childTnLst>
                          </p:cTn>
                        </p:par>
                      </p:childTnLst>
                    </p:cTn>
                  </p:par>
                  <p:par>
                    <p:cTn id="38" fill="hold">
                      <p:stCondLst>
                        <p:cond delay="indefinite"/>
                      </p:stCondLst>
                      <p:childTnLst>
                        <p:par>
                          <p:cTn id="39" fill="hold">
                            <p:stCondLst>
                              <p:cond delay="0"/>
                            </p:stCondLst>
                            <p:childTnLst>
                              <p:par>
                                <p:cTn id="40" presetID="17" presetClass="entr" presetSubtype="2" fill="hold" nodeType="clickEffect">
                                  <p:stCondLst>
                                    <p:cond delay="0"/>
                                  </p:stCondLst>
                                  <p:childTnLst>
                                    <p:set>
                                      <p:cBhvr>
                                        <p:cTn id="41" dur="1" fill="hold">
                                          <p:stCondLst>
                                            <p:cond delay="0"/>
                                          </p:stCondLst>
                                        </p:cTn>
                                        <p:tgtEl>
                                          <p:spTgt spid="69660"/>
                                        </p:tgtEl>
                                        <p:attrNameLst>
                                          <p:attrName>style.visibility</p:attrName>
                                        </p:attrNameLst>
                                      </p:cBhvr>
                                      <p:to>
                                        <p:strVal val="visible"/>
                                      </p:to>
                                    </p:set>
                                    <p:anim calcmode="lin" valueType="num">
                                      <p:cBhvr>
                                        <p:cTn id="42" dur="500" fill="hold"/>
                                        <p:tgtEl>
                                          <p:spTgt spid="69660"/>
                                        </p:tgtEl>
                                        <p:attrNameLst>
                                          <p:attrName>ppt_x</p:attrName>
                                        </p:attrNameLst>
                                      </p:cBhvr>
                                      <p:tavLst>
                                        <p:tav tm="0">
                                          <p:val>
                                            <p:strVal val="#ppt_x+#ppt_w/2"/>
                                          </p:val>
                                        </p:tav>
                                        <p:tav tm="100000">
                                          <p:val>
                                            <p:strVal val="#ppt_x"/>
                                          </p:val>
                                        </p:tav>
                                      </p:tavLst>
                                    </p:anim>
                                    <p:anim calcmode="lin" valueType="num">
                                      <p:cBhvr>
                                        <p:cTn id="43" dur="500" fill="hold"/>
                                        <p:tgtEl>
                                          <p:spTgt spid="69660"/>
                                        </p:tgtEl>
                                        <p:attrNameLst>
                                          <p:attrName>ppt_y</p:attrName>
                                        </p:attrNameLst>
                                      </p:cBhvr>
                                      <p:tavLst>
                                        <p:tav tm="0">
                                          <p:val>
                                            <p:strVal val="#ppt_y"/>
                                          </p:val>
                                        </p:tav>
                                        <p:tav tm="100000">
                                          <p:val>
                                            <p:strVal val="#ppt_y"/>
                                          </p:val>
                                        </p:tav>
                                      </p:tavLst>
                                    </p:anim>
                                    <p:anim calcmode="lin" valueType="num">
                                      <p:cBhvr>
                                        <p:cTn id="44" dur="500" fill="hold"/>
                                        <p:tgtEl>
                                          <p:spTgt spid="69660"/>
                                        </p:tgtEl>
                                        <p:attrNameLst>
                                          <p:attrName>ppt_w</p:attrName>
                                        </p:attrNameLst>
                                      </p:cBhvr>
                                      <p:tavLst>
                                        <p:tav tm="0">
                                          <p:val>
                                            <p:fltVal val="0.000000"/>
                                          </p:val>
                                        </p:tav>
                                        <p:tav tm="100000">
                                          <p:val>
                                            <p:strVal val="#ppt_w"/>
                                          </p:val>
                                        </p:tav>
                                      </p:tavLst>
                                    </p:anim>
                                    <p:anim calcmode="lin" valueType="num">
                                      <p:cBhvr>
                                        <p:cTn id="45" dur="500" fill="hold"/>
                                        <p:tgtEl>
                                          <p:spTgt spid="69660"/>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8" fill="hold" nodeType="clickEffect">
                                  <p:stCondLst>
                                    <p:cond delay="0"/>
                                  </p:stCondLst>
                                  <p:childTnLst>
                                    <p:set>
                                      <p:cBhvr>
                                        <p:cTn id="49" dur="1" fill="hold">
                                          <p:stCondLst>
                                            <p:cond delay="0"/>
                                          </p:stCondLst>
                                        </p:cTn>
                                        <p:tgtEl>
                                          <p:spTgt spid="69661"/>
                                        </p:tgtEl>
                                        <p:attrNameLst>
                                          <p:attrName>style.visibility</p:attrName>
                                        </p:attrNameLst>
                                      </p:cBhvr>
                                      <p:to>
                                        <p:strVal val="visible"/>
                                      </p:to>
                                    </p:set>
                                    <p:anim calcmode="lin" valueType="num">
                                      <p:cBhvr>
                                        <p:cTn id="50" dur="500" fill="hold"/>
                                        <p:tgtEl>
                                          <p:spTgt spid="69661"/>
                                        </p:tgtEl>
                                        <p:attrNameLst>
                                          <p:attrName>ppt_x</p:attrName>
                                        </p:attrNameLst>
                                      </p:cBhvr>
                                      <p:tavLst>
                                        <p:tav tm="0">
                                          <p:val>
                                            <p:strVal val="#ppt_x-#ppt_w/2"/>
                                          </p:val>
                                        </p:tav>
                                        <p:tav tm="100000">
                                          <p:val>
                                            <p:strVal val="#ppt_x"/>
                                          </p:val>
                                        </p:tav>
                                      </p:tavLst>
                                    </p:anim>
                                    <p:anim calcmode="lin" valueType="num">
                                      <p:cBhvr>
                                        <p:cTn id="51" dur="500" fill="hold"/>
                                        <p:tgtEl>
                                          <p:spTgt spid="69661"/>
                                        </p:tgtEl>
                                        <p:attrNameLst>
                                          <p:attrName>ppt_y</p:attrName>
                                        </p:attrNameLst>
                                      </p:cBhvr>
                                      <p:tavLst>
                                        <p:tav tm="0">
                                          <p:val>
                                            <p:strVal val="#ppt_y"/>
                                          </p:val>
                                        </p:tav>
                                        <p:tav tm="100000">
                                          <p:val>
                                            <p:strVal val="#ppt_y"/>
                                          </p:val>
                                        </p:tav>
                                      </p:tavLst>
                                    </p:anim>
                                    <p:anim calcmode="lin" valueType="num">
                                      <p:cBhvr>
                                        <p:cTn id="52" dur="500" fill="hold"/>
                                        <p:tgtEl>
                                          <p:spTgt spid="69661"/>
                                        </p:tgtEl>
                                        <p:attrNameLst>
                                          <p:attrName>ppt_w</p:attrName>
                                        </p:attrNameLst>
                                      </p:cBhvr>
                                      <p:tavLst>
                                        <p:tav tm="0">
                                          <p:val>
                                            <p:fltVal val="0.000000"/>
                                          </p:val>
                                        </p:tav>
                                        <p:tav tm="100000">
                                          <p:val>
                                            <p:strVal val="#ppt_w"/>
                                          </p:val>
                                        </p:tav>
                                      </p:tavLst>
                                    </p:anim>
                                    <p:anim calcmode="lin" valueType="num">
                                      <p:cBhvr>
                                        <p:cTn id="53" dur="500" fill="hold"/>
                                        <p:tgtEl>
                                          <p:spTgt spid="69661"/>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7" presetClass="entr" presetSubtype="10" fill="hold" nodeType="clickEffect">
                                  <p:stCondLst>
                                    <p:cond delay="0"/>
                                  </p:stCondLst>
                                  <p:childTnLst>
                                    <p:set>
                                      <p:cBhvr>
                                        <p:cTn id="57" dur="1" fill="hold">
                                          <p:stCondLst>
                                            <p:cond delay="0"/>
                                          </p:stCondLst>
                                        </p:cTn>
                                        <p:tgtEl>
                                          <p:spTgt spid="69662"/>
                                        </p:tgtEl>
                                        <p:attrNameLst>
                                          <p:attrName>style.visibility</p:attrName>
                                        </p:attrNameLst>
                                      </p:cBhvr>
                                      <p:to>
                                        <p:strVal val="visible"/>
                                      </p:to>
                                    </p:set>
                                    <p:anim calcmode="lin" valueType="num">
                                      <p:cBhvr>
                                        <p:cTn id="58" dur="500" fill="hold"/>
                                        <p:tgtEl>
                                          <p:spTgt spid="69662"/>
                                        </p:tgtEl>
                                        <p:attrNameLst>
                                          <p:attrName>ppt_w</p:attrName>
                                        </p:attrNameLst>
                                      </p:cBhvr>
                                      <p:tavLst>
                                        <p:tav tm="0">
                                          <p:val>
                                            <p:fltVal val="0.000000"/>
                                          </p:val>
                                        </p:tav>
                                        <p:tav tm="100000">
                                          <p:val>
                                            <p:strVal val="#ppt_w"/>
                                          </p:val>
                                        </p:tav>
                                      </p:tavLst>
                                    </p:anim>
                                    <p:anim calcmode="lin" valueType="num">
                                      <p:cBhvr>
                                        <p:cTn id="59" dur="500" fill="hold"/>
                                        <p:tgtEl>
                                          <p:spTgt spid="69662"/>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69663"/>
                                        </p:tgtEl>
                                        <p:attrNameLst>
                                          <p:attrName>style.visibility</p:attrName>
                                        </p:attrNameLst>
                                      </p:cBhvr>
                                      <p:to>
                                        <p:strVal val="visible"/>
                                      </p:to>
                                    </p:set>
                                    <p:animEffect transition="in" filter="wipe(up)">
                                      <p:cBhvr>
                                        <p:cTn id="64" dur="500"/>
                                        <p:tgtEl>
                                          <p:spTgt spid="6966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69664"/>
                                        </p:tgtEl>
                                        <p:attrNameLst>
                                          <p:attrName>style.visibility</p:attrName>
                                        </p:attrNameLst>
                                      </p:cBhvr>
                                      <p:to>
                                        <p:strVal val="visible"/>
                                      </p:to>
                                    </p:set>
                                    <p:animEffect transition="in" filter="wipe(up)">
                                      <p:cBhvr>
                                        <p:cTn id="69" dur="500"/>
                                        <p:tgtEl>
                                          <p:spTgt spid="69664"/>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nodeType="clickEffect">
                                  <p:stCondLst>
                                    <p:cond delay="0"/>
                                  </p:stCondLst>
                                  <p:childTnLst>
                                    <p:set>
                                      <p:cBhvr>
                                        <p:cTn id="73" dur="1" fill="hold">
                                          <p:stCondLst>
                                            <p:cond delay="0"/>
                                          </p:stCondLst>
                                        </p:cTn>
                                        <p:tgtEl>
                                          <p:spTgt spid="69665"/>
                                        </p:tgtEl>
                                        <p:attrNameLst>
                                          <p:attrName>style.visibility</p:attrName>
                                        </p:attrNameLst>
                                      </p:cBhvr>
                                      <p:to>
                                        <p:strVal val="visible"/>
                                      </p:to>
                                    </p:set>
                                    <p:animEffect transition="in" filter="box(in)">
                                      <p:cBhvr>
                                        <p:cTn id="74" dur="500"/>
                                        <p:tgtEl>
                                          <p:spTgt spid="6966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69673"/>
                                        </p:tgtEl>
                                        <p:attrNameLst>
                                          <p:attrName>style.visibility</p:attrName>
                                        </p:attrNameLst>
                                      </p:cBhvr>
                                      <p:to>
                                        <p:strVal val="visible"/>
                                      </p:to>
                                    </p:set>
                                    <p:animEffect transition="in" filter="wipe(up)">
                                      <p:cBhvr>
                                        <p:cTn id="79" dur="500"/>
                                        <p:tgtEl>
                                          <p:spTgt spid="69673"/>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nodeType="clickEffect">
                                  <p:stCondLst>
                                    <p:cond delay="0"/>
                                  </p:stCondLst>
                                  <p:childTnLst>
                                    <p:set>
                                      <p:cBhvr>
                                        <p:cTn id="83" dur="1" fill="hold">
                                          <p:stCondLst>
                                            <p:cond delay="0"/>
                                          </p:stCondLst>
                                        </p:cTn>
                                        <p:tgtEl>
                                          <p:spTgt spid="69666"/>
                                        </p:tgtEl>
                                        <p:attrNameLst>
                                          <p:attrName>style.visibility</p:attrName>
                                        </p:attrNameLst>
                                      </p:cBhvr>
                                      <p:to>
                                        <p:strVal val="visible"/>
                                      </p:to>
                                    </p:set>
                                    <p:animEffect transition="in" filter="box(in)">
                                      <p:cBhvr>
                                        <p:cTn id="84" dur="500"/>
                                        <p:tgtEl>
                                          <p:spTgt spid="69666"/>
                                        </p:tgtEl>
                                      </p:cBhvr>
                                    </p:animEffect>
                                  </p:childTnLst>
                                </p:cTn>
                              </p:par>
                            </p:childTnLst>
                          </p:cTn>
                        </p:par>
                      </p:childTnLst>
                    </p:cTn>
                  </p:par>
                  <p:par>
                    <p:cTn id="85" fill="hold">
                      <p:stCondLst>
                        <p:cond delay="indefinite"/>
                      </p:stCondLst>
                      <p:childTnLst>
                        <p:par>
                          <p:cTn id="86" fill="hold">
                            <p:stCondLst>
                              <p:cond delay="0"/>
                            </p:stCondLst>
                            <p:childTnLst>
                              <p:par>
                                <p:cTn id="87" presetID="17" presetClass="entr" presetSubtype="2" fill="hold" nodeType="clickEffect">
                                  <p:stCondLst>
                                    <p:cond delay="0"/>
                                  </p:stCondLst>
                                  <p:childTnLst>
                                    <p:set>
                                      <p:cBhvr>
                                        <p:cTn id="88" dur="1" fill="hold">
                                          <p:stCondLst>
                                            <p:cond delay="0"/>
                                          </p:stCondLst>
                                        </p:cTn>
                                        <p:tgtEl>
                                          <p:spTgt spid="69667"/>
                                        </p:tgtEl>
                                        <p:attrNameLst>
                                          <p:attrName>style.visibility</p:attrName>
                                        </p:attrNameLst>
                                      </p:cBhvr>
                                      <p:to>
                                        <p:strVal val="visible"/>
                                      </p:to>
                                    </p:set>
                                    <p:anim calcmode="lin" valueType="num">
                                      <p:cBhvr>
                                        <p:cTn id="89" dur="500" fill="hold"/>
                                        <p:tgtEl>
                                          <p:spTgt spid="69667"/>
                                        </p:tgtEl>
                                        <p:attrNameLst>
                                          <p:attrName>ppt_x</p:attrName>
                                        </p:attrNameLst>
                                      </p:cBhvr>
                                      <p:tavLst>
                                        <p:tav tm="0">
                                          <p:val>
                                            <p:strVal val="#ppt_x+#ppt_w/2"/>
                                          </p:val>
                                        </p:tav>
                                        <p:tav tm="100000">
                                          <p:val>
                                            <p:strVal val="#ppt_x"/>
                                          </p:val>
                                        </p:tav>
                                      </p:tavLst>
                                    </p:anim>
                                    <p:anim calcmode="lin" valueType="num">
                                      <p:cBhvr>
                                        <p:cTn id="90" dur="500" fill="hold"/>
                                        <p:tgtEl>
                                          <p:spTgt spid="69667"/>
                                        </p:tgtEl>
                                        <p:attrNameLst>
                                          <p:attrName>ppt_y</p:attrName>
                                        </p:attrNameLst>
                                      </p:cBhvr>
                                      <p:tavLst>
                                        <p:tav tm="0">
                                          <p:val>
                                            <p:strVal val="#ppt_y"/>
                                          </p:val>
                                        </p:tav>
                                        <p:tav tm="100000">
                                          <p:val>
                                            <p:strVal val="#ppt_y"/>
                                          </p:val>
                                        </p:tav>
                                      </p:tavLst>
                                    </p:anim>
                                    <p:anim calcmode="lin" valueType="num">
                                      <p:cBhvr>
                                        <p:cTn id="91" dur="500" fill="hold"/>
                                        <p:tgtEl>
                                          <p:spTgt spid="69667"/>
                                        </p:tgtEl>
                                        <p:attrNameLst>
                                          <p:attrName>ppt_w</p:attrName>
                                        </p:attrNameLst>
                                      </p:cBhvr>
                                      <p:tavLst>
                                        <p:tav tm="0">
                                          <p:val>
                                            <p:fltVal val="0.000000"/>
                                          </p:val>
                                        </p:tav>
                                        <p:tav tm="100000">
                                          <p:val>
                                            <p:strVal val="#ppt_w"/>
                                          </p:val>
                                        </p:tav>
                                      </p:tavLst>
                                    </p:anim>
                                    <p:anim calcmode="lin" valueType="num">
                                      <p:cBhvr>
                                        <p:cTn id="92" dur="500" fill="hold"/>
                                        <p:tgtEl>
                                          <p:spTgt spid="69667"/>
                                        </p:tgtEl>
                                        <p:attrNameLst>
                                          <p:attrName>ppt_h</p:attrName>
                                        </p:attrNameLst>
                                      </p:cBhvr>
                                      <p:tavLst>
                                        <p:tav tm="0">
                                          <p:val>
                                            <p:strVal val="#ppt_h"/>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7" presetClass="entr" presetSubtype="8" fill="hold" nodeType="clickEffect">
                                  <p:stCondLst>
                                    <p:cond delay="0"/>
                                  </p:stCondLst>
                                  <p:childTnLst>
                                    <p:set>
                                      <p:cBhvr>
                                        <p:cTn id="96" dur="1" fill="hold">
                                          <p:stCondLst>
                                            <p:cond delay="0"/>
                                          </p:stCondLst>
                                        </p:cTn>
                                        <p:tgtEl>
                                          <p:spTgt spid="69668"/>
                                        </p:tgtEl>
                                        <p:attrNameLst>
                                          <p:attrName>style.visibility</p:attrName>
                                        </p:attrNameLst>
                                      </p:cBhvr>
                                      <p:to>
                                        <p:strVal val="visible"/>
                                      </p:to>
                                    </p:set>
                                    <p:anim calcmode="lin" valueType="num">
                                      <p:cBhvr>
                                        <p:cTn id="97" dur="500" fill="hold"/>
                                        <p:tgtEl>
                                          <p:spTgt spid="69668"/>
                                        </p:tgtEl>
                                        <p:attrNameLst>
                                          <p:attrName>ppt_x</p:attrName>
                                        </p:attrNameLst>
                                      </p:cBhvr>
                                      <p:tavLst>
                                        <p:tav tm="0">
                                          <p:val>
                                            <p:strVal val="#ppt_x-#ppt_w/2"/>
                                          </p:val>
                                        </p:tav>
                                        <p:tav tm="100000">
                                          <p:val>
                                            <p:strVal val="#ppt_x"/>
                                          </p:val>
                                        </p:tav>
                                      </p:tavLst>
                                    </p:anim>
                                    <p:anim calcmode="lin" valueType="num">
                                      <p:cBhvr>
                                        <p:cTn id="98" dur="500" fill="hold"/>
                                        <p:tgtEl>
                                          <p:spTgt spid="69668"/>
                                        </p:tgtEl>
                                        <p:attrNameLst>
                                          <p:attrName>ppt_y</p:attrName>
                                        </p:attrNameLst>
                                      </p:cBhvr>
                                      <p:tavLst>
                                        <p:tav tm="0">
                                          <p:val>
                                            <p:strVal val="#ppt_y"/>
                                          </p:val>
                                        </p:tav>
                                        <p:tav tm="100000">
                                          <p:val>
                                            <p:strVal val="#ppt_y"/>
                                          </p:val>
                                        </p:tav>
                                      </p:tavLst>
                                    </p:anim>
                                    <p:anim calcmode="lin" valueType="num">
                                      <p:cBhvr>
                                        <p:cTn id="99" dur="500" fill="hold"/>
                                        <p:tgtEl>
                                          <p:spTgt spid="69668"/>
                                        </p:tgtEl>
                                        <p:attrNameLst>
                                          <p:attrName>ppt_w</p:attrName>
                                        </p:attrNameLst>
                                      </p:cBhvr>
                                      <p:tavLst>
                                        <p:tav tm="0">
                                          <p:val>
                                            <p:fltVal val="0.000000"/>
                                          </p:val>
                                        </p:tav>
                                        <p:tav tm="100000">
                                          <p:val>
                                            <p:strVal val="#ppt_w"/>
                                          </p:val>
                                        </p:tav>
                                      </p:tavLst>
                                    </p:anim>
                                    <p:anim calcmode="lin" valueType="num">
                                      <p:cBhvr>
                                        <p:cTn id="100" dur="500" fill="hold"/>
                                        <p:tgtEl>
                                          <p:spTgt spid="69668"/>
                                        </p:tgtEl>
                                        <p:attrNameLst>
                                          <p:attrName>ppt_h</p:attrName>
                                        </p:attrNameLst>
                                      </p:cBhvr>
                                      <p:tavLst>
                                        <p:tav tm="0">
                                          <p:val>
                                            <p:strVal val="#ppt_h"/>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7" presetClass="entr" presetSubtype="10" fill="hold" nodeType="clickEffect">
                                  <p:stCondLst>
                                    <p:cond delay="0"/>
                                  </p:stCondLst>
                                  <p:childTnLst>
                                    <p:set>
                                      <p:cBhvr>
                                        <p:cTn id="104" dur="1" fill="hold">
                                          <p:stCondLst>
                                            <p:cond delay="0"/>
                                          </p:stCondLst>
                                        </p:cTn>
                                        <p:tgtEl>
                                          <p:spTgt spid="69669"/>
                                        </p:tgtEl>
                                        <p:attrNameLst>
                                          <p:attrName>style.visibility</p:attrName>
                                        </p:attrNameLst>
                                      </p:cBhvr>
                                      <p:to>
                                        <p:strVal val="visible"/>
                                      </p:to>
                                    </p:set>
                                    <p:anim calcmode="lin" valueType="num">
                                      <p:cBhvr>
                                        <p:cTn id="105" dur="500" fill="hold"/>
                                        <p:tgtEl>
                                          <p:spTgt spid="69669"/>
                                        </p:tgtEl>
                                        <p:attrNameLst>
                                          <p:attrName>ppt_w</p:attrName>
                                        </p:attrNameLst>
                                      </p:cBhvr>
                                      <p:tavLst>
                                        <p:tav tm="0">
                                          <p:val>
                                            <p:fltVal val="0.000000"/>
                                          </p:val>
                                        </p:tav>
                                        <p:tav tm="100000">
                                          <p:val>
                                            <p:strVal val="#ppt_w"/>
                                          </p:val>
                                        </p:tav>
                                      </p:tavLst>
                                    </p:anim>
                                    <p:anim calcmode="lin" valueType="num">
                                      <p:cBhvr>
                                        <p:cTn id="106" dur="500" fill="hold"/>
                                        <p:tgtEl>
                                          <p:spTgt spid="69669"/>
                                        </p:tgtEl>
                                        <p:attrNameLst>
                                          <p:attrName>ppt_h</p:attrName>
                                        </p:attrNameLst>
                                      </p:cBhvr>
                                      <p:tavLst>
                                        <p:tav tm="0">
                                          <p:val>
                                            <p:strVal val="#ppt_h"/>
                                          </p:val>
                                        </p:tav>
                                        <p:tav tm="100000">
                                          <p:val>
                                            <p:strVal val="#ppt_h"/>
                                          </p:val>
                                        </p:tav>
                                      </p:tavLst>
                                    </p:anim>
                                  </p:childTnLst>
                                </p:cTn>
                              </p:par>
                            </p:childTnLst>
                          </p:cTn>
                        </p:par>
                      </p:childTnLst>
                    </p:cTn>
                  </p:par>
                  <p:par>
                    <p:cTn id="107" fill="hold">
                      <p:stCondLst>
                        <p:cond delay="indefinite"/>
                      </p:stCondLst>
                      <p:childTnLst>
                        <p:par>
                          <p:cTn id="108" fill="hold">
                            <p:stCondLst>
                              <p:cond delay="0"/>
                            </p:stCondLst>
                            <p:childTnLst>
                              <p:par>
                                <p:cTn id="109" presetID="17" presetClass="entr" presetSubtype="2" fill="hold" nodeType="clickEffect">
                                  <p:stCondLst>
                                    <p:cond delay="0"/>
                                  </p:stCondLst>
                                  <p:childTnLst>
                                    <p:set>
                                      <p:cBhvr>
                                        <p:cTn id="110" dur="1" fill="hold">
                                          <p:stCondLst>
                                            <p:cond delay="0"/>
                                          </p:stCondLst>
                                        </p:cTn>
                                        <p:tgtEl>
                                          <p:spTgt spid="69670"/>
                                        </p:tgtEl>
                                        <p:attrNameLst>
                                          <p:attrName>style.visibility</p:attrName>
                                        </p:attrNameLst>
                                      </p:cBhvr>
                                      <p:to>
                                        <p:strVal val="visible"/>
                                      </p:to>
                                    </p:set>
                                    <p:anim calcmode="lin" valueType="num">
                                      <p:cBhvr>
                                        <p:cTn id="111" dur="500" fill="hold"/>
                                        <p:tgtEl>
                                          <p:spTgt spid="69670"/>
                                        </p:tgtEl>
                                        <p:attrNameLst>
                                          <p:attrName>ppt_x</p:attrName>
                                        </p:attrNameLst>
                                      </p:cBhvr>
                                      <p:tavLst>
                                        <p:tav tm="0">
                                          <p:val>
                                            <p:strVal val="#ppt_x+#ppt_w/2"/>
                                          </p:val>
                                        </p:tav>
                                        <p:tav tm="100000">
                                          <p:val>
                                            <p:strVal val="#ppt_x"/>
                                          </p:val>
                                        </p:tav>
                                      </p:tavLst>
                                    </p:anim>
                                    <p:anim calcmode="lin" valueType="num">
                                      <p:cBhvr>
                                        <p:cTn id="112" dur="500" fill="hold"/>
                                        <p:tgtEl>
                                          <p:spTgt spid="69670"/>
                                        </p:tgtEl>
                                        <p:attrNameLst>
                                          <p:attrName>ppt_y</p:attrName>
                                        </p:attrNameLst>
                                      </p:cBhvr>
                                      <p:tavLst>
                                        <p:tav tm="0">
                                          <p:val>
                                            <p:strVal val="#ppt_y"/>
                                          </p:val>
                                        </p:tav>
                                        <p:tav tm="100000">
                                          <p:val>
                                            <p:strVal val="#ppt_y"/>
                                          </p:val>
                                        </p:tav>
                                      </p:tavLst>
                                    </p:anim>
                                    <p:anim calcmode="lin" valueType="num">
                                      <p:cBhvr>
                                        <p:cTn id="113" dur="500" fill="hold"/>
                                        <p:tgtEl>
                                          <p:spTgt spid="69670"/>
                                        </p:tgtEl>
                                        <p:attrNameLst>
                                          <p:attrName>ppt_w</p:attrName>
                                        </p:attrNameLst>
                                      </p:cBhvr>
                                      <p:tavLst>
                                        <p:tav tm="0">
                                          <p:val>
                                            <p:fltVal val="0.000000"/>
                                          </p:val>
                                        </p:tav>
                                        <p:tav tm="100000">
                                          <p:val>
                                            <p:strVal val="#ppt_w"/>
                                          </p:val>
                                        </p:tav>
                                      </p:tavLst>
                                    </p:anim>
                                    <p:anim calcmode="lin" valueType="num">
                                      <p:cBhvr>
                                        <p:cTn id="114" dur="500" fill="hold"/>
                                        <p:tgtEl>
                                          <p:spTgt spid="69670"/>
                                        </p:tgtEl>
                                        <p:attrNameLst>
                                          <p:attrName>ppt_h</p:attrName>
                                        </p:attrNameLst>
                                      </p:cBhvr>
                                      <p:tavLst>
                                        <p:tav tm="0">
                                          <p:val>
                                            <p:strVal val="#ppt_h"/>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17" presetClass="entr" presetSubtype="8" fill="hold" nodeType="clickEffect">
                                  <p:stCondLst>
                                    <p:cond delay="0"/>
                                  </p:stCondLst>
                                  <p:childTnLst>
                                    <p:set>
                                      <p:cBhvr>
                                        <p:cTn id="118" dur="1" fill="hold">
                                          <p:stCondLst>
                                            <p:cond delay="0"/>
                                          </p:stCondLst>
                                        </p:cTn>
                                        <p:tgtEl>
                                          <p:spTgt spid="69671"/>
                                        </p:tgtEl>
                                        <p:attrNameLst>
                                          <p:attrName>style.visibility</p:attrName>
                                        </p:attrNameLst>
                                      </p:cBhvr>
                                      <p:to>
                                        <p:strVal val="visible"/>
                                      </p:to>
                                    </p:set>
                                    <p:anim calcmode="lin" valueType="num">
                                      <p:cBhvr>
                                        <p:cTn id="119" dur="500" fill="hold"/>
                                        <p:tgtEl>
                                          <p:spTgt spid="69671"/>
                                        </p:tgtEl>
                                        <p:attrNameLst>
                                          <p:attrName>ppt_x</p:attrName>
                                        </p:attrNameLst>
                                      </p:cBhvr>
                                      <p:tavLst>
                                        <p:tav tm="0">
                                          <p:val>
                                            <p:strVal val="#ppt_x-#ppt_w/2"/>
                                          </p:val>
                                        </p:tav>
                                        <p:tav tm="100000">
                                          <p:val>
                                            <p:strVal val="#ppt_x"/>
                                          </p:val>
                                        </p:tav>
                                      </p:tavLst>
                                    </p:anim>
                                    <p:anim calcmode="lin" valueType="num">
                                      <p:cBhvr>
                                        <p:cTn id="120" dur="500" fill="hold"/>
                                        <p:tgtEl>
                                          <p:spTgt spid="69671"/>
                                        </p:tgtEl>
                                        <p:attrNameLst>
                                          <p:attrName>ppt_y</p:attrName>
                                        </p:attrNameLst>
                                      </p:cBhvr>
                                      <p:tavLst>
                                        <p:tav tm="0">
                                          <p:val>
                                            <p:strVal val="#ppt_y"/>
                                          </p:val>
                                        </p:tav>
                                        <p:tav tm="100000">
                                          <p:val>
                                            <p:strVal val="#ppt_y"/>
                                          </p:val>
                                        </p:tav>
                                      </p:tavLst>
                                    </p:anim>
                                    <p:anim calcmode="lin" valueType="num">
                                      <p:cBhvr>
                                        <p:cTn id="121" dur="500" fill="hold"/>
                                        <p:tgtEl>
                                          <p:spTgt spid="69671"/>
                                        </p:tgtEl>
                                        <p:attrNameLst>
                                          <p:attrName>ppt_w</p:attrName>
                                        </p:attrNameLst>
                                      </p:cBhvr>
                                      <p:tavLst>
                                        <p:tav tm="0">
                                          <p:val>
                                            <p:fltVal val="0.000000"/>
                                          </p:val>
                                        </p:tav>
                                        <p:tav tm="100000">
                                          <p:val>
                                            <p:strVal val="#ppt_w"/>
                                          </p:val>
                                        </p:tav>
                                      </p:tavLst>
                                    </p:anim>
                                    <p:anim calcmode="lin" valueType="num">
                                      <p:cBhvr>
                                        <p:cTn id="122" dur="500" fill="hold"/>
                                        <p:tgtEl>
                                          <p:spTgt spid="69671"/>
                                        </p:tgtEl>
                                        <p:attrNameLst>
                                          <p:attrName>ppt_h</p:attrName>
                                        </p:attrNameLst>
                                      </p:cBhvr>
                                      <p:tavLst>
                                        <p:tav tm="0">
                                          <p:val>
                                            <p:strVal val="#ppt_h"/>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17" presetClass="entr" presetSubtype="10" fill="hold" nodeType="clickEffect">
                                  <p:stCondLst>
                                    <p:cond delay="0"/>
                                  </p:stCondLst>
                                  <p:childTnLst>
                                    <p:set>
                                      <p:cBhvr>
                                        <p:cTn id="126" dur="1" fill="hold">
                                          <p:stCondLst>
                                            <p:cond delay="0"/>
                                          </p:stCondLst>
                                        </p:cTn>
                                        <p:tgtEl>
                                          <p:spTgt spid="69672"/>
                                        </p:tgtEl>
                                        <p:attrNameLst>
                                          <p:attrName>style.visibility</p:attrName>
                                        </p:attrNameLst>
                                      </p:cBhvr>
                                      <p:to>
                                        <p:strVal val="visible"/>
                                      </p:to>
                                    </p:set>
                                    <p:anim calcmode="lin" valueType="num">
                                      <p:cBhvr>
                                        <p:cTn id="127" dur="500" fill="hold"/>
                                        <p:tgtEl>
                                          <p:spTgt spid="69672"/>
                                        </p:tgtEl>
                                        <p:attrNameLst>
                                          <p:attrName>ppt_w</p:attrName>
                                        </p:attrNameLst>
                                      </p:cBhvr>
                                      <p:tavLst>
                                        <p:tav tm="0">
                                          <p:val>
                                            <p:fltVal val="0.000000"/>
                                          </p:val>
                                        </p:tav>
                                        <p:tav tm="100000">
                                          <p:val>
                                            <p:strVal val="#ppt_w"/>
                                          </p:val>
                                        </p:tav>
                                      </p:tavLst>
                                    </p:anim>
                                    <p:anim calcmode="lin" valueType="num">
                                      <p:cBhvr>
                                        <p:cTn id="128" dur="500" fill="hold"/>
                                        <p:tgtEl>
                                          <p:spTgt spid="69672"/>
                                        </p:tgtEl>
                                        <p:attrNameLst>
                                          <p:attrName>ppt_h</p:attrName>
                                        </p:attrNameLst>
                                      </p:cBhvr>
                                      <p:tavLst>
                                        <p:tav tm="0">
                                          <p:val>
                                            <p:strVal val="#ppt_h"/>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8" presetClass="entr" presetSubtype="12" fill="hold" nodeType="clickEffect">
                                  <p:stCondLst>
                                    <p:cond delay="0"/>
                                  </p:stCondLst>
                                  <p:childTnLst>
                                    <p:set>
                                      <p:cBhvr>
                                        <p:cTn id="132" dur="1" fill="hold">
                                          <p:stCondLst>
                                            <p:cond delay="0"/>
                                          </p:stCondLst>
                                        </p:cTn>
                                        <p:tgtEl>
                                          <p:spTgt spid="69674"/>
                                        </p:tgtEl>
                                        <p:attrNameLst>
                                          <p:attrName>style.visibility</p:attrName>
                                        </p:attrNameLst>
                                      </p:cBhvr>
                                      <p:to>
                                        <p:strVal val="visible"/>
                                      </p:to>
                                    </p:set>
                                    <p:animEffect transition="in" filter="strips(downLeft)">
                                      <p:cBhvr>
                                        <p:cTn id="133" dur="500"/>
                                        <p:tgtEl>
                                          <p:spTgt spid="69674"/>
                                        </p:tgtEl>
                                      </p:cBhvr>
                                    </p:animEffect>
                                  </p:childTnLst>
                                </p:cTn>
                              </p:par>
                            </p:childTnLst>
                          </p:cTn>
                        </p:par>
                      </p:childTnLst>
                    </p:cTn>
                  </p:par>
                  <p:par>
                    <p:cTn id="134" fill="hold">
                      <p:stCondLst>
                        <p:cond delay="indefinite"/>
                      </p:stCondLst>
                      <p:childTnLst>
                        <p:par>
                          <p:cTn id="135" fill="hold">
                            <p:stCondLst>
                              <p:cond delay="0"/>
                            </p:stCondLst>
                            <p:childTnLst>
                              <p:par>
                                <p:cTn id="136" presetID="18" presetClass="entr" presetSubtype="6" fill="hold" nodeType="clickEffect">
                                  <p:stCondLst>
                                    <p:cond delay="0"/>
                                  </p:stCondLst>
                                  <p:childTnLst>
                                    <p:set>
                                      <p:cBhvr>
                                        <p:cTn id="137" dur="1" fill="hold">
                                          <p:stCondLst>
                                            <p:cond delay="0"/>
                                          </p:stCondLst>
                                        </p:cTn>
                                        <p:tgtEl>
                                          <p:spTgt spid="69675"/>
                                        </p:tgtEl>
                                        <p:attrNameLst>
                                          <p:attrName>style.visibility</p:attrName>
                                        </p:attrNameLst>
                                      </p:cBhvr>
                                      <p:to>
                                        <p:strVal val="visible"/>
                                      </p:to>
                                    </p:set>
                                    <p:animEffect transition="in" filter="strips(downRight)">
                                      <p:cBhvr>
                                        <p:cTn id="138" dur="500"/>
                                        <p:tgtEl>
                                          <p:spTgt spid="69675"/>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69676"/>
                                        </p:tgtEl>
                                        <p:attrNameLst>
                                          <p:attrName>style.visibility</p:attrName>
                                        </p:attrNameLst>
                                      </p:cBhvr>
                                      <p:to>
                                        <p:strVal val="visible"/>
                                      </p:to>
                                    </p:set>
                                    <p:animEffect transition="in" filter="wipe(up)">
                                      <p:cBhvr>
                                        <p:cTn id="143" dur="500"/>
                                        <p:tgtEl>
                                          <p:spTgt spid="69676"/>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69677"/>
                                        </p:tgtEl>
                                        <p:attrNameLst>
                                          <p:attrName>style.visibility</p:attrName>
                                        </p:attrNameLst>
                                      </p:cBhvr>
                                      <p:to>
                                        <p:strVal val="visible"/>
                                      </p:to>
                                    </p:set>
                                    <p:animEffect transition="in" filter="wipe(left)">
                                      <p:cBhvr>
                                        <p:cTn id="148" dur="500"/>
                                        <p:tgtEl>
                                          <p:spTgt spid="69677"/>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69678"/>
                                        </p:tgtEl>
                                        <p:attrNameLst>
                                          <p:attrName>style.visibility</p:attrName>
                                        </p:attrNameLst>
                                      </p:cBhvr>
                                      <p:to>
                                        <p:strVal val="visible"/>
                                      </p:to>
                                    </p:set>
                                    <p:animEffect transition="in" filter="wipe(left)">
                                      <p:cBhvr>
                                        <p:cTn id="153" dur="500"/>
                                        <p:tgtEl>
                                          <p:spTgt spid="69678"/>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69679"/>
                                        </p:tgtEl>
                                        <p:attrNameLst>
                                          <p:attrName>style.visibility</p:attrName>
                                        </p:attrNameLst>
                                      </p:cBhvr>
                                      <p:to>
                                        <p:strVal val="visible"/>
                                      </p:to>
                                    </p:set>
                                    <p:animEffect transition="in" filter="wipe(left)">
                                      <p:cBhvr>
                                        <p:cTn id="158" dur="500"/>
                                        <p:tgtEl>
                                          <p:spTgt spid="69679"/>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69680"/>
                                        </p:tgtEl>
                                        <p:attrNameLst>
                                          <p:attrName>style.visibility</p:attrName>
                                        </p:attrNameLst>
                                      </p:cBhvr>
                                      <p:to>
                                        <p:strVal val="visible"/>
                                      </p:to>
                                    </p:set>
                                    <p:animEffect transition="in" filter="wipe(left)">
                                      <p:cBhvr>
                                        <p:cTn id="163" dur="500"/>
                                        <p:tgtEl>
                                          <p:spTgt spid="69680"/>
                                        </p:tgtEl>
                                      </p:cBhvr>
                                    </p:animEffect>
                                  </p:childTnLst>
                                </p:cTn>
                              </p:par>
                            </p:childTnLst>
                          </p:cTn>
                        </p:par>
                      </p:childTnLst>
                    </p:cTn>
                  </p:par>
                  <p:par>
                    <p:cTn id="164" fill="hold">
                      <p:stCondLst>
                        <p:cond delay="indefinite"/>
                      </p:stCondLst>
                      <p:childTnLst>
                        <p:par>
                          <p:cTn id="165" fill="hold">
                            <p:stCondLst>
                              <p:cond delay="0"/>
                            </p:stCondLst>
                            <p:childTnLst>
                              <p:par>
                                <p:cTn id="166" presetID="18" presetClass="entr" presetSubtype="3" fill="hold" nodeType="clickEffect">
                                  <p:stCondLst>
                                    <p:cond delay="0"/>
                                  </p:stCondLst>
                                  <p:childTnLst>
                                    <p:set>
                                      <p:cBhvr>
                                        <p:cTn id="167" dur="1" fill="hold">
                                          <p:stCondLst>
                                            <p:cond delay="0"/>
                                          </p:stCondLst>
                                        </p:cTn>
                                        <p:tgtEl>
                                          <p:spTgt spid="69681"/>
                                        </p:tgtEl>
                                        <p:attrNameLst>
                                          <p:attrName>style.visibility</p:attrName>
                                        </p:attrNameLst>
                                      </p:cBhvr>
                                      <p:to>
                                        <p:strVal val="visible"/>
                                      </p:to>
                                    </p:set>
                                    <p:animEffect transition="in" filter="strips(upRight)">
                                      <p:cBhvr>
                                        <p:cTn id="168" dur="500"/>
                                        <p:tgtEl>
                                          <p:spTgt spid="69681"/>
                                        </p:tgtEl>
                                      </p:cBhvr>
                                    </p:animEffect>
                                  </p:childTnLst>
                                  <p:subTnLst>
                                    <p:set>
                                      <p:cBhvr override="childStyle">
                                        <p:cTn dur="1" fill="hold" display="0" masterRel="nextClick" afterEffect="1"/>
                                        <p:tgtEl>
                                          <p:spTgt spid="69681"/>
                                        </p:tgtEl>
                                        <p:attrNameLst>
                                          <p:attrName>style.visibility</p:attrName>
                                        </p:attrNameLst>
                                      </p:cBhvr>
                                      <p:to>
                                        <p:strVal val="hidden"/>
                                      </p:to>
                                    </p:set>
                                  </p:subTnLst>
                                </p:cTn>
                              </p:par>
                            </p:childTnLst>
                          </p:cTn>
                        </p:par>
                      </p:childTnLst>
                    </p:cTn>
                  </p:par>
                  <p:par>
                    <p:cTn id="169" fill="hold">
                      <p:stCondLst>
                        <p:cond delay="indefinite"/>
                      </p:stCondLst>
                      <p:childTnLst>
                        <p:par>
                          <p:cTn id="170" fill="hold">
                            <p:stCondLst>
                              <p:cond delay="0"/>
                            </p:stCondLst>
                            <p:childTnLst>
                              <p:par>
                                <p:cTn id="171" presetID="22" presetClass="entr" presetSubtype="1" fill="hold" nodeType="clickEffect">
                                  <p:stCondLst>
                                    <p:cond delay="0"/>
                                  </p:stCondLst>
                                  <p:childTnLst>
                                    <p:set>
                                      <p:cBhvr>
                                        <p:cTn id="172" dur="1" fill="hold">
                                          <p:stCondLst>
                                            <p:cond delay="0"/>
                                          </p:stCondLst>
                                        </p:cTn>
                                        <p:tgtEl>
                                          <p:spTgt spid="75807"/>
                                        </p:tgtEl>
                                        <p:attrNameLst>
                                          <p:attrName>style.visibility</p:attrName>
                                        </p:attrNameLst>
                                      </p:cBhvr>
                                      <p:to>
                                        <p:strVal val="visible"/>
                                      </p:to>
                                    </p:set>
                                    <p:animEffect transition="in" filter="wipe(up)">
                                      <p:cBhvr>
                                        <p:cTn id="173" dur="500"/>
                                        <p:tgtEl>
                                          <p:spTgt spid="75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57" grpId="0" animBg="1"/>
      <p:bldP spid="69658" grpId="0" animBg="1"/>
      <p:bldP spid="69660" grpId="0" animBg="1"/>
      <p:bldP spid="69661" grpId="0" animBg="1"/>
      <p:bldP spid="69662" grpId="0" animBg="1"/>
      <p:bldP spid="69665" grpId="0" animBg="1"/>
      <p:bldP spid="69666" grpId="0" animBg="1"/>
      <p:bldP spid="69667" grpId="0" animBg="1"/>
      <p:bldP spid="69668" grpId="0" animBg="1"/>
      <p:bldP spid="69669" grpId="0" animBg="1"/>
      <p:bldP spid="69670" grpId="0" animBg="1"/>
      <p:bldP spid="69671" grpId="0" animBg="1"/>
      <p:bldP spid="69672" grpId="0" animBg="1"/>
      <p:bldP spid="69674" grpId="0" animBg="1"/>
      <p:bldP spid="69675" grpId="0" animBg="1"/>
      <p:bldP spid="69676" grpId="0" animBg="1"/>
      <p:bldP spid="69677" grpId="0"/>
      <p:bldP spid="69678" grpId="0"/>
      <p:bldP spid="69679" grpId="0"/>
      <p:bldP spid="69680" grpId="0"/>
      <p:bldP spid="69681" grpId="0" animBg="1"/>
      <p:bldP spid="75807"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6802" name="Rectangle 2"/>
          <p:cNvSpPr>
            <a:spLocks noGrp="1"/>
          </p:cNvSpPr>
          <p:nvPr>
            <p:ph type="title"/>
          </p:nvPr>
        </p:nvSpPr>
        <p:spPr>
          <a:xfrm>
            <a:off x="685800" y="152400"/>
            <a:ext cx="6870700" cy="990600"/>
          </a:xfrm>
        </p:spPr>
        <p:txBody>
          <a:bodyPr vert="horz" wrap="square" lIns="91440" tIns="45720" rIns="91440" bIns="45720" anchor="b" anchorCtr="0"/>
          <a:p>
            <a:pPr eaLnBrk="1" hangingPunct="1"/>
            <a:r>
              <a:rPr lang="en-US" altLang="zh-CN" sz="3600" dirty="0"/>
              <a:t>Algorithm 4</a:t>
            </a:r>
            <a:endParaRPr lang="en-US" altLang="zh-CN" sz="3600" dirty="0"/>
          </a:p>
        </p:txBody>
      </p:sp>
      <p:sp>
        <p:nvSpPr>
          <p:cNvPr id="97282" name="Rectangle 3"/>
          <p:cNvSpPr>
            <a:spLocks noGrp="1"/>
          </p:cNvSpPr>
          <p:nvPr>
            <p:ph idx="1"/>
          </p:nvPr>
        </p:nvSpPr>
        <p:spPr>
          <a:xfrm>
            <a:off x="533400" y="1371600"/>
            <a:ext cx="8259763" cy="4343400"/>
          </a:xfrm>
        </p:spPr>
        <p:txBody>
          <a:bodyPr vert="horz" wrap="square" lIns="91440" tIns="45720" rIns="91440" bIns="45720" anchor="t" anchorCtr="0"/>
          <a:p>
            <a:pPr eaLnBrk="1" hangingPunct="1">
              <a:buNone/>
            </a:pPr>
            <a:r>
              <a:rPr lang="en-US" altLang="zh-CN" dirty="0"/>
              <a:t>Observations:</a:t>
            </a:r>
            <a:endParaRPr lang="en-US" altLang="zh-CN" dirty="0"/>
          </a:p>
          <a:p>
            <a:pPr eaLnBrk="1" hangingPunct="1"/>
            <a:r>
              <a:rPr lang="en-US" altLang="zh-CN" dirty="0"/>
              <a:t>Max subsequence cannot </a:t>
            </a:r>
            <a:r>
              <a:rPr lang="en-US" altLang="zh-CN" dirty="0">
                <a:solidFill>
                  <a:srgbClr val="FF3300"/>
                </a:solidFill>
              </a:rPr>
              <a:t>start or end</a:t>
            </a:r>
            <a:r>
              <a:rPr lang="en-US" altLang="zh-CN" dirty="0"/>
              <a:t> at a negative Ai.</a:t>
            </a:r>
            <a:endParaRPr lang="en-US" altLang="zh-CN" dirty="0"/>
          </a:p>
          <a:p>
            <a:pPr eaLnBrk="1" hangingPunct="1"/>
            <a:r>
              <a:rPr lang="en-US" altLang="zh-CN" dirty="0"/>
              <a:t>More generally, the max subsequence cannot have a prefix with a negative sum.</a:t>
            </a:r>
            <a:endParaRPr lang="en-US" altLang="zh-CN" dirty="0"/>
          </a:p>
          <a:p>
            <a:pPr eaLnBrk="1" hangingPunct="1"/>
            <a:r>
              <a:rPr lang="en-US" altLang="zh-CN" dirty="0"/>
              <a:t>Thus, if we ever find that Ai through Aj sums to &lt; 0, then we can advance i to j+1</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282">
                                            <p:txEl>
                                              <p:charRg st="14" end="68"/>
                                            </p:txEl>
                                          </p:spTgt>
                                        </p:tgtEl>
                                        <p:attrNameLst>
                                          <p:attrName>style.visibility</p:attrName>
                                        </p:attrNameLst>
                                      </p:cBhvr>
                                      <p:to>
                                        <p:strVal val="visible"/>
                                      </p:to>
                                    </p:set>
                                    <p:animEffect transition="in" filter="blinds(horizontal)">
                                      <p:cBhvr>
                                        <p:cTn id="7" dur="500"/>
                                        <p:tgtEl>
                                          <p:spTgt spid="97282">
                                            <p:txEl>
                                              <p:charRg st="14" end="6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7282">
                                            <p:txEl>
                                              <p:charRg st="68" end="146"/>
                                            </p:txEl>
                                          </p:spTgt>
                                        </p:tgtEl>
                                        <p:attrNameLst>
                                          <p:attrName>style.visibility</p:attrName>
                                        </p:attrNameLst>
                                      </p:cBhvr>
                                      <p:to>
                                        <p:strVal val="visible"/>
                                      </p:to>
                                    </p:set>
                                    <p:animEffect transition="in" filter="blinds(horizontal)">
                                      <p:cBhvr>
                                        <p:cTn id="12" dur="500"/>
                                        <p:tgtEl>
                                          <p:spTgt spid="97282">
                                            <p:txEl>
                                              <p:charRg st="68" end="1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7282">
                                            <p:txEl>
                                              <p:charRg st="146" end="229"/>
                                            </p:txEl>
                                          </p:spTgt>
                                        </p:tgtEl>
                                        <p:attrNameLst>
                                          <p:attrName>style.visibility</p:attrName>
                                        </p:attrNameLst>
                                      </p:cBhvr>
                                      <p:to>
                                        <p:strVal val="visible"/>
                                      </p:to>
                                    </p:set>
                                    <p:animEffect transition="in" filter="blinds(horizontal)">
                                      <p:cBhvr>
                                        <p:cTn id="17" dur="500"/>
                                        <p:tgtEl>
                                          <p:spTgt spid="97282">
                                            <p:txEl>
                                              <p:charRg st="146" end="2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7826" name="Rectangle 2"/>
          <p:cNvSpPr>
            <a:spLocks noGrp="1"/>
          </p:cNvSpPr>
          <p:nvPr>
            <p:ph type="title"/>
          </p:nvPr>
        </p:nvSpPr>
        <p:spPr>
          <a:xfrm>
            <a:off x="0" y="228600"/>
            <a:ext cx="8793163" cy="762000"/>
          </a:xfrm>
        </p:spPr>
        <p:txBody>
          <a:bodyPr vert="horz" wrap="square" lIns="91440" tIns="45720" rIns="91440" bIns="45720" anchor="b" anchorCtr="0"/>
          <a:p>
            <a:pPr eaLnBrk="1" hangingPunct="1"/>
            <a:r>
              <a:rPr lang="en-US" altLang="zh-CN" dirty="0"/>
              <a:t>Algorithm 4(cont.)</a:t>
            </a:r>
            <a:endParaRPr lang="en-US" altLang="zh-CN" dirty="0"/>
          </a:p>
        </p:txBody>
      </p:sp>
      <p:sp>
        <p:nvSpPr>
          <p:cNvPr id="53251" name="Rectangle 3"/>
          <p:cNvSpPr>
            <a:spLocks noGrp="1"/>
          </p:cNvSpPr>
          <p:nvPr>
            <p:ph idx="1"/>
          </p:nvPr>
        </p:nvSpPr>
        <p:spPr>
          <a:xfrm>
            <a:off x="457200" y="5715000"/>
            <a:ext cx="7696200" cy="728663"/>
          </a:xfrm>
        </p:spPr>
        <p:txBody>
          <a:bodyPr vert="horz" wrap="square" lIns="91440" tIns="45720" rIns="91440" bIns="45720" anchor="t" anchorCtr="0"/>
          <a:p>
            <a:pPr eaLnBrk="1" hangingPunct="1"/>
            <a:r>
              <a:rPr lang="en-US" altLang="zh-CN" sz="2400" dirty="0"/>
              <a:t>Time complexity clearly  </a:t>
            </a:r>
            <a:r>
              <a:rPr lang="en-US" altLang="zh-CN" sz="2400" i="1" dirty="0"/>
              <a:t>O</a:t>
            </a:r>
            <a:r>
              <a:rPr lang="en-US" altLang="zh-CN" sz="2400" dirty="0"/>
              <a:t>(</a:t>
            </a:r>
            <a:r>
              <a:rPr lang="en-US" altLang="zh-CN" sz="2400" i="1" dirty="0"/>
              <a:t>n</a:t>
            </a:r>
            <a:r>
              <a:rPr lang="en-US" altLang="zh-CN" sz="2400" dirty="0"/>
              <a:t>)</a:t>
            </a:r>
            <a:endParaRPr lang="en-US" altLang="zh-CN" sz="2400" dirty="0"/>
          </a:p>
        </p:txBody>
      </p:sp>
      <p:sp>
        <p:nvSpPr>
          <p:cNvPr id="77828" name="Text Box 5"/>
          <p:cNvSpPr txBox="1"/>
          <p:nvPr/>
        </p:nvSpPr>
        <p:spPr>
          <a:xfrm>
            <a:off x="363538" y="1357313"/>
            <a:ext cx="4643437" cy="4110037"/>
          </a:xfrm>
          <a:prstGeom prst="rect">
            <a:avLst/>
          </a:prstGeom>
          <a:solidFill>
            <a:srgbClr val="F7F7ED"/>
          </a:solidFill>
          <a:ln w="9525">
            <a:noFill/>
          </a:ln>
        </p:spPr>
        <p:txBody>
          <a:bodyPr lIns="86493" tIns="43247" rIns="86493" bIns="43247">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defTabSz="330200">
              <a:lnSpc>
                <a:spcPct val="90000"/>
              </a:lnSpc>
              <a:spcBef>
                <a:spcPct val="0"/>
              </a:spcBef>
              <a:buNone/>
            </a:pPr>
            <a:r>
              <a:rPr lang="en-US" altLang="zh-CN" sz="2300" dirty="0">
                <a:latin typeface="Book Antiqua" panose="02040602050305030304" pitchFamily="18" charset="0"/>
              </a:rPr>
              <a:t>	int maxSum = 0, thisSum = 0;</a:t>
            </a:r>
            <a:endParaRPr lang="en-US" altLang="zh-CN" sz="2300" dirty="0">
              <a:latin typeface="Book Antiqua" panose="02040602050305030304" pitchFamily="18" charset="0"/>
            </a:endParaRPr>
          </a:p>
          <a:p>
            <a:pPr marL="0" lvl="0" indent="0" defTabSz="330200">
              <a:lnSpc>
                <a:spcPct val="90000"/>
              </a:lnSpc>
              <a:spcBef>
                <a:spcPct val="0"/>
              </a:spcBef>
              <a:buNone/>
            </a:pP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for( int j = 0; j &lt; a.size( ); j++ )</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thisSum += a[ j ];</a:t>
            </a:r>
            <a:endParaRPr lang="en-US" altLang="zh-CN" sz="2300" dirty="0">
              <a:latin typeface="Book Antiqua" panose="02040602050305030304" pitchFamily="18" charset="0"/>
            </a:endParaRPr>
          </a:p>
          <a:p>
            <a:pPr marL="0" lvl="0" indent="0" defTabSz="330200">
              <a:lnSpc>
                <a:spcPct val="90000"/>
              </a:lnSpc>
              <a:spcBef>
                <a:spcPct val="0"/>
              </a:spcBef>
              <a:buNone/>
            </a:pP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if ( thisSum &gt; maxSum )</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maxSum = thisSum;</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else if ( thisSum &lt; 0 )</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thisSum = 0;</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	return maxSum;</a:t>
            </a:r>
            <a:endParaRPr lang="en-US" altLang="zh-CN" sz="2300" dirty="0">
              <a:latin typeface="Book Antiqua" panose="02040602050305030304" pitchFamily="18" charset="0"/>
            </a:endParaRPr>
          </a:p>
          <a:p>
            <a:pPr marL="0" lvl="0" indent="0" defTabSz="330200">
              <a:lnSpc>
                <a:spcPct val="90000"/>
              </a:lnSpc>
              <a:spcBef>
                <a:spcPct val="0"/>
              </a:spcBef>
              <a:buNone/>
            </a:pPr>
            <a:r>
              <a:rPr lang="en-US" altLang="zh-CN" sz="2300" dirty="0">
                <a:latin typeface="Book Antiqua" panose="02040602050305030304" pitchFamily="18" charset="0"/>
              </a:rPr>
              <a:t>}</a:t>
            </a:r>
            <a:endParaRPr lang="en-US" altLang="zh-CN" sz="2300" dirty="0">
              <a:latin typeface="Book Antiqua" panose="02040602050305030304" pitchFamily="18" charset="0"/>
            </a:endParaRPr>
          </a:p>
        </p:txBody>
      </p:sp>
      <p:grpSp>
        <p:nvGrpSpPr>
          <p:cNvPr id="2" name="Group 30"/>
          <p:cNvGrpSpPr/>
          <p:nvPr/>
        </p:nvGrpSpPr>
        <p:grpSpPr>
          <a:xfrm>
            <a:off x="5105400" y="3124200"/>
            <a:ext cx="3657600" cy="381000"/>
            <a:chOff x="2928" y="3600"/>
            <a:chExt cx="2304" cy="240"/>
          </a:xfrm>
        </p:grpSpPr>
        <p:sp>
          <p:nvSpPr>
            <p:cNvPr id="77844" name="Rectangle 31"/>
            <p:cNvSpPr/>
            <p:nvPr/>
          </p:nvSpPr>
          <p:spPr>
            <a:xfrm>
              <a:off x="2928"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rPr>
                <a:t>1</a:t>
              </a:r>
              <a:endParaRPr lang="en-US" altLang="zh-CN" sz="1800" b="1" dirty="0">
                <a:latin typeface="Times New Roman" panose="02020603050405020304" pitchFamily="18" charset="0"/>
              </a:endParaRPr>
            </a:p>
          </p:txBody>
        </p:sp>
        <p:sp>
          <p:nvSpPr>
            <p:cNvPr id="77845" name="Rectangle 32"/>
            <p:cNvSpPr/>
            <p:nvPr/>
          </p:nvSpPr>
          <p:spPr>
            <a:xfrm>
              <a:off x="3216"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3</a:t>
              </a:r>
              <a:endParaRPr lang="en-US" altLang="zh-CN" sz="1800" b="1" dirty="0">
                <a:latin typeface="Times New Roman" panose="02020603050405020304" pitchFamily="18" charset="0"/>
              </a:endParaRPr>
            </a:p>
          </p:txBody>
        </p:sp>
        <p:sp>
          <p:nvSpPr>
            <p:cNvPr id="77846" name="Rectangle 33"/>
            <p:cNvSpPr/>
            <p:nvPr/>
          </p:nvSpPr>
          <p:spPr>
            <a:xfrm>
              <a:off x="3504"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rPr>
                <a:t>2</a:t>
              </a:r>
              <a:endParaRPr lang="en-US" altLang="zh-CN" sz="1800" b="1" dirty="0">
                <a:latin typeface="Times New Roman" panose="02020603050405020304" pitchFamily="18" charset="0"/>
              </a:endParaRPr>
            </a:p>
          </p:txBody>
        </p:sp>
        <p:sp>
          <p:nvSpPr>
            <p:cNvPr id="77847" name="Rectangle 34"/>
            <p:cNvSpPr/>
            <p:nvPr/>
          </p:nvSpPr>
          <p:spPr>
            <a:xfrm>
              <a:off x="3792"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4</a:t>
              </a:r>
              <a:endParaRPr lang="en-US" altLang="zh-CN" sz="1800" b="1" dirty="0">
                <a:latin typeface="Times New Roman" panose="02020603050405020304" pitchFamily="18" charset="0"/>
              </a:endParaRPr>
            </a:p>
          </p:txBody>
        </p:sp>
        <p:sp>
          <p:nvSpPr>
            <p:cNvPr id="77848" name="Rectangle 35"/>
            <p:cNvSpPr/>
            <p:nvPr/>
          </p:nvSpPr>
          <p:spPr>
            <a:xfrm>
              <a:off x="4080"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rPr>
                <a:t>6</a:t>
              </a:r>
              <a:endParaRPr lang="en-US" altLang="zh-CN" sz="1800" b="1" dirty="0">
                <a:latin typeface="Times New Roman" panose="02020603050405020304" pitchFamily="18" charset="0"/>
              </a:endParaRPr>
            </a:p>
          </p:txBody>
        </p:sp>
        <p:sp>
          <p:nvSpPr>
            <p:cNvPr id="77849" name="Rectangle 36"/>
            <p:cNvSpPr/>
            <p:nvPr/>
          </p:nvSpPr>
          <p:spPr>
            <a:xfrm>
              <a:off x="4368"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rPr>
                <a:t>1</a:t>
              </a:r>
              <a:endParaRPr lang="en-US" altLang="zh-CN" sz="1800" b="1" dirty="0">
                <a:latin typeface="Times New Roman" panose="02020603050405020304" pitchFamily="18" charset="0"/>
              </a:endParaRPr>
            </a:p>
          </p:txBody>
        </p:sp>
        <p:sp>
          <p:nvSpPr>
            <p:cNvPr id="77850" name="Rectangle 37"/>
            <p:cNvSpPr/>
            <p:nvPr/>
          </p:nvSpPr>
          <p:spPr>
            <a:xfrm>
              <a:off x="4656"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6</a:t>
              </a:r>
              <a:endParaRPr lang="en-US" altLang="zh-CN" sz="1800" b="1" dirty="0">
                <a:latin typeface="Times New Roman" panose="02020603050405020304" pitchFamily="18" charset="0"/>
              </a:endParaRPr>
            </a:p>
          </p:txBody>
        </p:sp>
        <p:sp>
          <p:nvSpPr>
            <p:cNvPr id="77851" name="Rectangle 38"/>
            <p:cNvSpPr/>
            <p:nvPr/>
          </p:nvSpPr>
          <p:spPr>
            <a:xfrm>
              <a:off x="4944" y="3600"/>
              <a:ext cx="288"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latin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rPr>
                <a:t>1</a:t>
              </a:r>
              <a:endParaRPr lang="en-US" altLang="zh-CN" sz="1800" b="1" dirty="0">
                <a:latin typeface="Times New Roman" panose="02020603050405020304" pitchFamily="18" charset="0"/>
              </a:endParaRPr>
            </a:p>
          </p:txBody>
        </p:sp>
        <p:sp>
          <p:nvSpPr>
            <p:cNvPr id="77852" name="Rectangle 39"/>
            <p:cNvSpPr/>
            <p:nvPr/>
          </p:nvSpPr>
          <p:spPr>
            <a:xfrm>
              <a:off x="2928" y="3600"/>
              <a:ext cx="2304" cy="240"/>
            </a:xfrm>
            <a:prstGeom prst="rect">
              <a:avLst/>
            </a:prstGeom>
            <a:no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
        <p:nvSpPr>
          <p:cNvPr id="53288" name="Rectangle 40"/>
          <p:cNvSpPr/>
          <p:nvPr/>
        </p:nvSpPr>
        <p:spPr>
          <a:xfrm>
            <a:off x="51054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89" name="Rectangle 41"/>
          <p:cNvSpPr/>
          <p:nvPr/>
        </p:nvSpPr>
        <p:spPr>
          <a:xfrm>
            <a:off x="55626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0" name="Rectangle 42"/>
          <p:cNvSpPr/>
          <p:nvPr/>
        </p:nvSpPr>
        <p:spPr>
          <a:xfrm>
            <a:off x="5562600" y="3505200"/>
            <a:ext cx="457200" cy="152400"/>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1" name="Rectangle 43"/>
          <p:cNvSpPr/>
          <p:nvPr/>
        </p:nvSpPr>
        <p:spPr>
          <a:xfrm>
            <a:off x="60198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2" name="Rectangle 44"/>
          <p:cNvSpPr/>
          <p:nvPr/>
        </p:nvSpPr>
        <p:spPr>
          <a:xfrm>
            <a:off x="64770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3" name="Rectangle 45"/>
          <p:cNvSpPr/>
          <p:nvPr/>
        </p:nvSpPr>
        <p:spPr>
          <a:xfrm>
            <a:off x="6019800" y="3505200"/>
            <a:ext cx="914400" cy="152400"/>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4" name="Rectangle 46"/>
          <p:cNvSpPr/>
          <p:nvPr/>
        </p:nvSpPr>
        <p:spPr>
          <a:xfrm>
            <a:off x="5105400" y="3124200"/>
            <a:ext cx="457200" cy="3810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solidFill>
                  <a:schemeClr val="bg1"/>
                </a:solidFill>
                <a:latin typeface="Times New Roman" panose="02020603050405020304" pitchFamily="18" charset="0"/>
                <a:sym typeface="Symbol" panose="05050102010706020507" pitchFamily="18" charset="2"/>
              </a:rPr>
              <a:t></a:t>
            </a:r>
            <a:r>
              <a:rPr lang="en-US" altLang="zh-CN" sz="1800" b="1" dirty="0">
                <a:solidFill>
                  <a:schemeClr val="bg1"/>
                </a:solidFill>
                <a:latin typeface="Times New Roman" panose="02020603050405020304" pitchFamily="18" charset="0"/>
              </a:rPr>
              <a:t>1</a:t>
            </a:r>
            <a:endParaRPr lang="en-US" altLang="zh-CN" sz="1800" b="1" dirty="0">
              <a:solidFill>
                <a:schemeClr val="bg1"/>
              </a:solidFill>
              <a:latin typeface="Times New Roman" panose="02020603050405020304" pitchFamily="18" charset="0"/>
            </a:endParaRPr>
          </a:p>
        </p:txBody>
      </p:sp>
      <p:sp>
        <p:nvSpPr>
          <p:cNvPr id="53295" name="Rectangle 47"/>
          <p:cNvSpPr/>
          <p:nvPr/>
        </p:nvSpPr>
        <p:spPr>
          <a:xfrm>
            <a:off x="69342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6" name="Rectangle 48"/>
          <p:cNvSpPr/>
          <p:nvPr/>
        </p:nvSpPr>
        <p:spPr>
          <a:xfrm>
            <a:off x="5562600" y="3124200"/>
            <a:ext cx="1828800" cy="3810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solidFill>
                  <a:schemeClr val="bg1"/>
                </a:solidFill>
                <a:latin typeface="Times New Roman" panose="02020603050405020304" pitchFamily="18" charset="0"/>
                <a:sym typeface="Symbol" panose="05050102010706020507" pitchFamily="18" charset="2"/>
              </a:rPr>
              <a:t>3     </a:t>
            </a:r>
            <a:r>
              <a:rPr lang="en-US" altLang="zh-CN" sz="1800" b="1" dirty="0">
                <a:solidFill>
                  <a:schemeClr val="bg1"/>
                </a:solidFill>
                <a:latin typeface="Times New Roman" panose="02020603050405020304" pitchFamily="18" charset="0"/>
              </a:rPr>
              <a:t>2     4     </a:t>
            </a:r>
            <a:r>
              <a:rPr lang="en-US" altLang="zh-CN" sz="1800" b="1" dirty="0">
                <a:solidFill>
                  <a:schemeClr val="bg1"/>
                </a:solidFill>
                <a:latin typeface="Times New Roman" panose="02020603050405020304" pitchFamily="18" charset="0"/>
                <a:sym typeface="Symbol" panose="05050102010706020507" pitchFamily="18" charset="2"/>
              </a:rPr>
              <a:t></a:t>
            </a:r>
            <a:r>
              <a:rPr lang="en-US" altLang="zh-CN" sz="1800" b="1" dirty="0">
                <a:solidFill>
                  <a:schemeClr val="bg1"/>
                </a:solidFill>
                <a:latin typeface="Times New Roman" panose="02020603050405020304" pitchFamily="18" charset="0"/>
              </a:rPr>
              <a:t>6</a:t>
            </a:r>
            <a:endParaRPr lang="en-US" altLang="zh-CN" sz="1800" b="1" dirty="0">
              <a:solidFill>
                <a:schemeClr val="bg1"/>
              </a:solidFill>
              <a:latin typeface="Times New Roman" panose="02020603050405020304" pitchFamily="18" charset="0"/>
            </a:endParaRPr>
          </a:p>
        </p:txBody>
      </p:sp>
      <p:sp>
        <p:nvSpPr>
          <p:cNvPr id="53297" name="Rectangle 49"/>
          <p:cNvSpPr/>
          <p:nvPr/>
        </p:nvSpPr>
        <p:spPr>
          <a:xfrm>
            <a:off x="73914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8" name="Rectangle 50"/>
          <p:cNvSpPr/>
          <p:nvPr/>
        </p:nvSpPr>
        <p:spPr>
          <a:xfrm>
            <a:off x="78486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299" name="Rectangle 51"/>
          <p:cNvSpPr/>
          <p:nvPr/>
        </p:nvSpPr>
        <p:spPr>
          <a:xfrm>
            <a:off x="5562600" y="3505200"/>
            <a:ext cx="1371600" cy="152400"/>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300" name="Rectangle 52"/>
          <p:cNvSpPr/>
          <p:nvPr/>
        </p:nvSpPr>
        <p:spPr>
          <a:xfrm>
            <a:off x="7391400" y="3505200"/>
            <a:ext cx="914400" cy="152400"/>
          </a:xfrm>
          <a:prstGeom prst="rect">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53301" name="Rectangle 53"/>
          <p:cNvSpPr/>
          <p:nvPr/>
        </p:nvSpPr>
        <p:spPr>
          <a:xfrm>
            <a:off x="8305800" y="3124200"/>
            <a:ext cx="457200" cy="381000"/>
          </a:xfrm>
          <a:prstGeom prst="rect">
            <a:avLst/>
          </a:prstGeom>
          <a:solidFill>
            <a:srgbClr val="CCFFFF">
              <a:alpha val="50195"/>
            </a:srgbClr>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288"/>
                                        </p:tgtEl>
                                        <p:attrNameLst>
                                          <p:attrName>style.visibility</p:attrName>
                                        </p:attrNameLst>
                                      </p:cBhvr>
                                      <p:to>
                                        <p:strVal val="visible"/>
                                      </p:to>
                                    </p:set>
                                    <p:animEffect transition="in" filter="wipe(left)">
                                      <p:cBhvr>
                                        <p:cTn id="12" dur="500"/>
                                        <p:tgtEl>
                                          <p:spTgt spid="53288"/>
                                        </p:tgtEl>
                                      </p:cBhvr>
                                    </p:animEffect>
                                  </p:childTnLst>
                                  <p:subTnLst>
                                    <p:set>
                                      <p:cBhvr override="childStyle">
                                        <p:cTn dur="1" fill="hold" display="0" masterRel="nextClick" afterEffect="1"/>
                                        <p:tgtEl>
                                          <p:spTgt spid="5328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3294"/>
                                        </p:tgtEl>
                                        <p:attrNameLst>
                                          <p:attrName>style.visibility</p:attrName>
                                        </p:attrNameLst>
                                      </p:cBhvr>
                                      <p:to>
                                        <p:strVal val="visible"/>
                                      </p:to>
                                    </p:set>
                                    <p:animEffect transition="in" filter="box(in)">
                                      <p:cBhvr>
                                        <p:cTn id="17" dur="500"/>
                                        <p:tgtEl>
                                          <p:spTgt spid="532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3289"/>
                                        </p:tgtEl>
                                        <p:attrNameLst>
                                          <p:attrName>style.visibility</p:attrName>
                                        </p:attrNameLst>
                                      </p:cBhvr>
                                      <p:to>
                                        <p:strVal val="visible"/>
                                      </p:to>
                                    </p:set>
                                    <p:animEffect transition="in" filter="wipe(left)">
                                      <p:cBhvr>
                                        <p:cTn id="22" dur="500"/>
                                        <p:tgtEl>
                                          <p:spTgt spid="532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3290"/>
                                        </p:tgtEl>
                                        <p:attrNameLst>
                                          <p:attrName>style.visibility</p:attrName>
                                        </p:attrNameLst>
                                      </p:cBhvr>
                                      <p:to>
                                        <p:strVal val="visible"/>
                                      </p:to>
                                    </p:set>
                                    <p:animEffect transition="in" filter="wipe(left)">
                                      <p:cBhvr>
                                        <p:cTn id="27" dur="500"/>
                                        <p:tgtEl>
                                          <p:spTgt spid="532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3291"/>
                                        </p:tgtEl>
                                        <p:attrNameLst>
                                          <p:attrName>style.visibility</p:attrName>
                                        </p:attrNameLst>
                                      </p:cBhvr>
                                      <p:to>
                                        <p:strVal val="visible"/>
                                      </p:to>
                                    </p:set>
                                    <p:animEffect transition="in" filter="wipe(left)">
                                      <p:cBhvr>
                                        <p:cTn id="32" dur="500"/>
                                        <p:tgtEl>
                                          <p:spTgt spid="532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3292"/>
                                        </p:tgtEl>
                                        <p:attrNameLst>
                                          <p:attrName>style.visibility</p:attrName>
                                        </p:attrNameLst>
                                      </p:cBhvr>
                                      <p:to>
                                        <p:strVal val="visible"/>
                                      </p:to>
                                    </p:set>
                                    <p:animEffect transition="in" filter="wipe(left)">
                                      <p:cBhvr>
                                        <p:cTn id="37" dur="500"/>
                                        <p:tgtEl>
                                          <p:spTgt spid="5329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3293"/>
                                        </p:tgtEl>
                                        <p:attrNameLst>
                                          <p:attrName>style.visibility</p:attrName>
                                        </p:attrNameLst>
                                      </p:cBhvr>
                                      <p:to>
                                        <p:strVal val="visible"/>
                                      </p:to>
                                    </p:set>
                                    <p:animEffect transition="in" filter="wipe(left)">
                                      <p:cBhvr>
                                        <p:cTn id="42" dur="500"/>
                                        <p:tgtEl>
                                          <p:spTgt spid="5329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3295"/>
                                        </p:tgtEl>
                                        <p:attrNameLst>
                                          <p:attrName>style.visibility</p:attrName>
                                        </p:attrNameLst>
                                      </p:cBhvr>
                                      <p:to>
                                        <p:strVal val="visible"/>
                                      </p:to>
                                    </p:set>
                                    <p:animEffect transition="in" filter="wipe(left)">
                                      <p:cBhvr>
                                        <p:cTn id="47" dur="500"/>
                                        <p:tgtEl>
                                          <p:spTgt spid="5329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3296"/>
                                        </p:tgtEl>
                                        <p:attrNameLst>
                                          <p:attrName>style.visibility</p:attrName>
                                        </p:attrNameLst>
                                      </p:cBhvr>
                                      <p:to>
                                        <p:strVal val="visible"/>
                                      </p:to>
                                    </p:set>
                                    <p:animEffect transition="in" filter="wipe(left)">
                                      <p:cBhvr>
                                        <p:cTn id="52" dur="500"/>
                                        <p:tgtEl>
                                          <p:spTgt spid="5329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3297"/>
                                        </p:tgtEl>
                                        <p:attrNameLst>
                                          <p:attrName>style.visibility</p:attrName>
                                        </p:attrNameLst>
                                      </p:cBhvr>
                                      <p:to>
                                        <p:strVal val="visible"/>
                                      </p:to>
                                    </p:set>
                                    <p:animEffect transition="in" filter="wipe(left)">
                                      <p:cBhvr>
                                        <p:cTn id="57" dur="500"/>
                                        <p:tgtEl>
                                          <p:spTgt spid="5329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3298"/>
                                        </p:tgtEl>
                                        <p:attrNameLst>
                                          <p:attrName>style.visibility</p:attrName>
                                        </p:attrNameLst>
                                      </p:cBhvr>
                                      <p:to>
                                        <p:strVal val="visible"/>
                                      </p:to>
                                    </p:set>
                                    <p:animEffect transition="in" filter="wipe(left)">
                                      <p:cBhvr>
                                        <p:cTn id="62" dur="500"/>
                                        <p:tgtEl>
                                          <p:spTgt spid="5329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3299"/>
                                        </p:tgtEl>
                                        <p:attrNameLst>
                                          <p:attrName>style.visibility</p:attrName>
                                        </p:attrNameLst>
                                      </p:cBhvr>
                                      <p:to>
                                        <p:strVal val="visible"/>
                                      </p:to>
                                    </p:set>
                                    <p:animEffect transition="in" filter="wipe(left)">
                                      <p:cBhvr>
                                        <p:cTn id="67" dur="500"/>
                                        <p:tgtEl>
                                          <p:spTgt spid="53299"/>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53300"/>
                                        </p:tgtEl>
                                        <p:attrNameLst>
                                          <p:attrName>style.visibility</p:attrName>
                                        </p:attrNameLst>
                                      </p:cBhvr>
                                      <p:to>
                                        <p:strVal val="visible"/>
                                      </p:to>
                                    </p:set>
                                    <p:animEffect transition="in" filter="wipe(left)">
                                      <p:cBhvr>
                                        <p:cTn id="71" dur="500"/>
                                        <p:tgtEl>
                                          <p:spTgt spid="5330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3301"/>
                                        </p:tgtEl>
                                        <p:attrNameLst>
                                          <p:attrName>style.visibility</p:attrName>
                                        </p:attrNameLst>
                                      </p:cBhvr>
                                      <p:to>
                                        <p:strVal val="visible"/>
                                      </p:to>
                                    </p:set>
                                    <p:animEffect transition="in" filter="wipe(left)">
                                      <p:cBhvr>
                                        <p:cTn id="76" dur="500"/>
                                        <p:tgtEl>
                                          <p:spTgt spid="53301"/>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53251">
                                            <p:txEl>
                                              <p:charRg st="0" end="30"/>
                                            </p:txEl>
                                          </p:spTgt>
                                        </p:tgtEl>
                                        <p:attrNameLst>
                                          <p:attrName>style.visibility</p:attrName>
                                        </p:attrNameLst>
                                      </p:cBhvr>
                                      <p:to>
                                        <p:strVal val="visible"/>
                                      </p:to>
                                    </p:set>
                                    <p:animEffect transition="in" filter="blinds(horizontal)">
                                      <p:cBhvr>
                                        <p:cTn id="81" dur="500"/>
                                        <p:tgtEl>
                                          <p:spTgt spid="53251">
                                            <p:txEl>
                                              <p:charRg st="0"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53288" grpId="0" animBg="1"/>
      <p:bldP spid="53289" grpId="0" animBg="1"/>
      <p:bldP spid="53290" grpId="0" animBg="1"/>
      <p:bldP spid="53291" grpId="0" animBg="1"/>
      <p:bldP spid="53292" grpId="0" animBg="1"/>
      <p:bldP spid="53293" grpId="0" animBg="1"/>
      <p:bldP spid="53294" grpId="0" animBg="1"/>
      <p:bldP spid="53295" grpId="0" animBg="1"/>
      <p:bldP spid="53296" grpId="0" animBg="1"/>
      <p:bldP spid="53297" grpId="0" animBg="1"/>
      <p:bldP spid="53298" grpId="0" animBg="1"/>
      <p:bldP spid="53299" grpId="0" animBg="1"/>
      <p:bldP spid="53300" grpId="0" animBg="1"/>
      <p:bldP spid="53301"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pSp>
        <p:nvGrpSpPr>
          <p:cNvPr id="2" name="Group 3"/>
          <p:cNvGrpSpPr/>
          <p:nvPr/>
        </p:nvGrpSpPr>
        <p:grpSpPr>
          <a:xfrm>
            <a:off x="228600" y="685800"/>
            <a:ext cx="8763000" cy="3962400"/>
            <a:chOff x="288" y="432"/>
            <a:chExt cx="5136" cy="2496"/>
          </a:xfrm>
        </p:grpSpPr>
        <p:sp>
          <p:nvSpPr>
            <p:cNvPr id="79876" name="AutoShape 4" descr="深色木质"/>
            <p:cNvSpPr/>
            <p:nvPr/>
          </p:nvSpPr>
          <p:spPr>
            <a:xfrm>
              <a:off x="288" y="1008"/>
              <a:ext cx="5136" cy="1920"/>
            </a:xfrm>
            <a:prstGeom prst="bevel">
              <a:avLst>
                <a:gd name="adj" fmla="val 4583"/>
              </a:avLst>
            </a:prstGeom>
            <a:blipFill rotWithShape="0">
              <a:blip r:embed="rId1"/>
            </a:blip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9877" name="Rectangle 5"/>
            <p:cNvSpPr/>
            <p:nvPr/>
          </p:nvSpPr>
          <p:spPr>
            <a:xfrm>
              <a:off x="4464" y="1633"/>
              <a:ext cx="864" cy="1199"/>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000" b="1" dirty="0">
                  <a:solidFill>
                    <a:schemeClr val="bg1"/>
                  </a:solidFill>
                </a:rPr>
                <a:t>  </a:t>
              </a:r>
              <a:r>
                <a:rPr lang="en-US" altLang="zh-CN" sz="1800" b="1" dirty="0">
                  <a:solidFill>
                    <a:schemeClr val="bg1"/>
                  </a:solidFill>
                </a:rPr>
                <a:t>0.00034</a:t>
              </a:r>
              <a:endParaRPr lang="en-US" altLang="zh-CN" sz="1800" b="1" dirty="0">
                <a:solidFill>
                  <a:schemeClr val="bg1"/>
                </a:solidFill>
              </a:endParaRPr>
            </a:p>
            <a:p>
              <a:pPr marL="0" lvl="0" indent="0" eaLnBrk="1" hangingPunct="1">
                <a:buNone/>
              </a:pPr>
              <a:r>
                <a:rPr lang="en-US" altLang="zh-CN" sz="1800" b="1" dirty="0">
                  <a:solidFill>
                    <a:schemeClr val="bg1"/>
                  </a:solidFill>
                </a:rPr>
                <a:t>  0.00063</a:t>
              </a:r>
              <a:endParaRPr lang="en-US" altLang="zh-CN" sz="1800" b="1" dirty="0">
                <a:solidFill>
                  <a:schemeClr val="bg1"/>
                </a:solidFill>
              </a:endParaRPr>
            </a:p>
            <a:p>
              <a:pPr marL="0" lvl="0" indent="0" eaLnBrk="1" hangingPunct="1">
                <a:buNone/>
              </a:pPr>
              <a:r>
                <a:rPr lang="en-US" altLang="zh-CN" sz="1800" b="1" dirty="0">
                  <a:solidFill>
                    <a:schemeClr val="bg1"/>
                  </a:solidFill>
                </a:rPr>
                <a:t>  0.00333</a:t>
              </a:r>
              <a:endParaRPr lang="en-US" altLang="zh-CN" sz="1800" b="1" dirty="0">
                <a:solidFill>
                  <a:schemeClr val="bg1"/>
                </a:solidFill>
              </a:endParaRPr>
            </a:p>
            <a:p>
              <a:pPr marL="0" lvl="0" indent="0" eaLnBrk="1" hangingPunct="1">
                <a:buNone/>
              </a:pPr>
              <a:r>
                <a:rPr lang="en-US" altLang="zh-CN" sz="1800" b="1" dirty="0">
                  <a:solidFill>
                    <a:schemeClr val="bg1"/>
                  </a:solidFill>
                </a:rPr>
                <a:t>  0.03042</a:t>
              </a:r>
              <a:endParaRPr lang="en-US" altLang="zh-CN" sz="1800" b="1" dirty="0">
                <a:solidFill>
                  <a:schemeClr val="bg1"/>
                </a:solidFill>
              </a:endParaRPr>
            </a:p>
            <a:p>
              <a:pPr marL="0" lvl="0" indent="0" eaLnBrk="1" hangingPunct="1">
                <a:buNone/>
              </a:pPr>
              <a:r>
                <a:rPr lang="en-US" altLang="zh-CN" sz="1800" b="1" dirty="0">
                  <a:solidFill>
                    <a:schemeClr val="bg1"/>
                  </a:solidFill>
                </a:rPr>
                <a:t>  0.29832</a:t>
              </a:r>
              <a:endParaRPr lang="en-US" altLang="zh-CN" sz="1800" b="1" dirty="0">
                <a:solidFill>
                  <a:schemeClr val="bg1"/>
                </a:solidFill>
              </a:endParaRPr>
            </a:p>
          </p:txBody>
        </p:sp>
        <p:sp>
          <p:nvSpPr>
            <p:cNvPr id="79878" name="Rectangle 6"/>
            <p:cNvSpPr/>
            <p:nvPr/>
          </p:nvSpPr>
          <p:spPr>
            <a:xfrm>
              <a:off x="3552" y="1633"/>
              <a:ext cx="912" cy="1199"/>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000" b="1" dirty="0">
                  <a:solidFill>
                    <a:schemeClr val="bg1"/>
                  </a:solidFill>
                </a:rPr>
                <a:t>  </a:t>
              </a:r>
              <a:r>
                <a:rPr lang="en-US" altLang="zh-CN" sz="1800" b="1" dirty="0">
                  <a:solidFill>
                    <a:schemeClr val="bg1"/>
                  </a:solidFill>
                </a:rPr>
                <a:t>0.00066</a:t>
              </a:r>
              <a:endParaRPr lang="en-US" altLang="zh-CN" sz="1800" b="1" dirty="0">
                <a:solidFill>
                  <a:schemeClr val="bg1"/>
                </a:solidFill>
              </a:endParaRPr>
            </a:p>
            <a:p>
              <a:pPr marL="0" lvl="0" indent="0" eaLnBrk="1" hangingPunct="1">
                <a:buNone/>
              </a:pPr>
              <a:r>
                <a:rPr lang="en-US" altLang="zh-CN" sz="1800" b="1" dirty="0">
                  <a:solidFill>
                    <a:schemeClr val="bg1"/>
                  </a:solidFill>
                </a:rPr>
                <a:t>  0.00486</a:t>
              </a:r>
              <a:endParaRPr lang="en-US" altLang="zh-CN" sz="1800" b="1" dirty="0">
                <a:solidFill>
                  <a:schemeClr val="bg1"/>
                </a:solidFill>
              </a:endParaRPr>
            </a:p>
            <a:p>
              <a:pPr marL="0" lvl="0" indent="0" eaLnBrk="1" hangingPunct="1">
                <a:buNone/>
              </a:pPr>
              <a:r>
                <a:rPr lang="en-US" altLang="zh-CN" sz="1800" b="1" dirty="0">
                  <a:solidFill>
                    <a:schemeClr val="bg1"/>
                  </a:solidFill>
                </a:rPr>
                <a:t>  0.05843</a:t>
              </a:r>
              <a:endParaRPr lang="en-US" altLang="zh-CN" sz="1800" b="1" dirty="0">
                <a:solidFill>
                  <a:schemeClr val="bg1"/>
                </a:solidFill>
              </a:endParaRPr>
            </a:p>
            <a:p>
              <a:pPr marL="0" lvl="0" indent="0" eaLnBrk="1" hangingPunct="1">
                <a:buNone/>
              </a:pPr>
              <a:r>
                <a:rPr lang="en-US" altLang="zh-CN" sz="1800" b="1" dirty="0">
                  <a:solidFill>
                    <a:schemeClr val="bg1"/>
                  </a:solidFill>
                </a:rPr>
                <a:t>  0.68631</a:t>
              </a:r>
              <a:endParaRPr lang="en-US" altLang="zh-CN" sz="1800" b="1" dirty="0">
                <a:solidFill>
                  <a:schemeClr val="bg1"/>
                </a:solidFill>
              </a:endParaRPr>
            </a:p>
            <a:p>
              <a:pPr marL="0" lvl="0" indent="0" eaLnBrk="1" hangingPunct="1">
                <a:buNone/>
              </a:pPr>
              <a:r>
                <a:rPr lang="en-US" altLang="zh-CN" sz="1800" b="1" dirty="0">
                  <a:solidFill>
                    <a:schemeClr val="bg1"/>
                  </a:solidFill>
                </a:rPr>
                <a:t>  8.0113</a:t>
              </a:r>
              <a:endParaRPr lang="en-US" altLang="zh-CN" sz="1800" b="1" dirty="0">
                <a:solidFill>
                  <a:schemeClr val="bg1"/>
                </a:solidFill>
              </a:endParaRPr>
            </a:p>
          </p:txBody>
        </p:sp>
        <p:sp>
          <p:nvSpPr>
            <p:cNvPr id="79879" name="Rectangle 7"/>
            <p:cNvSpPr/>
            <p:nvPr/>
          </p:nvSpPr>
          <p:spPr>
            <a:xfrm>
              <a:off x="2688" y="1633"/>
              <a:ext cx="864" cy="1199"/>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1800" b="1" dirty="0">
                  <a:solidFill>
                    <a:schemeClr val="bg1"/>
                  </a:solidFill>
                </a:rPr>
                <a:t>0.00045</a:t>
              </a:r>
              <a:endParaRPr lang="en-US" altLang="zh-CN" sz="1800" b="1" dirty="0">
                <a:solidFill>
                  <a:schemeClr val="bg1"/>
                </a:solidFill>
              </a:endParaRPr>
            </a:p>
            <a:p>
              <a:pPr marL="0" lvl="0" indent="0" eaLnBrk="1" hangingPunct="1">
                <a:buNone/>
              </a:pPr>
              <a:r>
                <a:rPr lang="en-US" altLang="zh-CN" sz="1800" b="1" dirty="0">
                  <a:solidFill>
                    <a:schemeClr val="bg1"/>
                  </a:solidFill>
                </a:rPr>
                <a:t>0.01112</a:t>
              </a:r>
              <a:endParaRPr lang="en-US" altLang="zh-CN" sz="1800" b="1" dirty="0">
                <a:solidFill>
                  <a:schemeClr val="bg1"/>
                </a:solidFill>
              </a:endParaRPr>
            </a:p>
            <a:p>
              <a:pPr marL="0" lvl="0" indent="0" eaLnBrk="1" hangingPunct="1">
                <a:buNone/>
              </a:pPr>
              <a:r>
                <a:rPr lang="en-US" altLang="zh-CN" sz="1800" b="1" dirty="0">
                  <a:solidFill>
                    <a:schemeClr val="bg1"/>
                  </a:solidFill>
                </a:rPr>
                <a:t>1.1233</a:t>
              </a:r>
              <a:endParaRPr lang="en-US" altLang="zh-CN" sz="1800" b="1" dirty="0">
                <a:solidFill>
                  <a:schemeClr val="bg1"/>
                </a:solidFill>
              </a:endParaRPr>
            </a:p>
            <a:p>
              <a:pPr marL="0" lvl="0" indent="0" eaLnBrk="1" hangingPunct="1">
                <a:buNone/>
              </a:pPr>
              <a:r>
                <a:rPr lang="en-US" altLang="zh-CN" sz="1800" b="1" dirty="0">
                  <a:solidFill>
                    <a:schemeClr val="bg1"/>
                  </a:solidFill>
                </a:rPr>
                <a:t>111.13</a:t>
              </a:r>
              <a:endParaRPr lang="en-US" altLang="zh-CN" sz="1800" b="1" dirty="0">
                <a:solidFill>
                  <a:schemeClr val="bg1"/>
                </a:solidFill>
              </a:endParaRPr>
            </a:p>
            <a:p>
              <a:pPr marL="0" lvl="0" indent="0" eaLnBrk="1" hangingPunct="1">
                <a:buNone/>
              </a:pPr>
              <a:r>
                <a:rPr lang="en-US" altLang="zh-CN" sz="1800" b="1" dirty="0">
                  <a:solidFill>
                    <a:schemeClr val="bg1"/>
                  </a:solidFill>
                </a:rPr>
                <a:t>     NA</a:t>
              </a:r>
              <a:endParaRPr lang="en-US" altLang="zh-CN" sz="1800" b="1" dirty="0">
                <a:solidFill>
                  <a:schemeClr val="bg1"/>
                </a:solidFill>
              </a:endParaRPr>
            </a:p>
          </p:txBody>
        </p:sp>
        <p:sp>
          <p:nvSpPr>
            <p:cNvPr id="79880" name="Rectangle 8"/>
            <p:cNvSpPr/>
            <p:nvPr/>
          </p:nvSpPr>
          <p:spPr>
            <a:xfrm>
              <a:off x="1824" y="1633"/>
              <a:ext cx="864" cy="1199"/>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1800" b="1" dirty="0">
                  <a:solidFill>
                    <a:schemeClr val="bg1"/>
                  </a:solidFill>
                </a:rPr>
                <a:t>0.00103      0.47015</a:t>
              </a:r>
              <a:endParaRPr lang="en-US" altLang="zh-CN" sz="1800" b="1" dirty="0">
                <a:solidFill>
                  <a:schemeClr val="bg1"/>
                </a:solidFill>
              </a:endParaRPr>
            </a:p>
            <a:p>
              <a:pPr marL="0" lvl="0" indent="0" eaLnBrk="1" hangingPunct="1">
                <a:buNone/>
              </a:pPr>
              <a:r>
                <a:rPr lang="en-US" altLang="zh-CN" sz="1800" b="1" dirty="0">
                  <a:solidFill>
                    <a:schemeClr val="bg1"/>
                  </a:solidFill>
                </a:rPr>
                <a:t>448.77</a:t>
              </a:r>
              <a:endParaRPr lang="en-US" altLang="zh-CN" sz="1800" b="1" dirty="0">
                <a:solidFill>
                  <a:schemeClr val="bg1"/>
                </a:solidFill>
              </a:endParaRPr>
            </a:p>
            <a:p>
              <a:pPr marL="0" lvl="0" indent="0" eaLnBrk="1" hangingPunct="1">
                <a:buNone/>
              </a:pPr>
              <a:r>
                <a:rPr lang="en-US" altLang="zh-CN" sz="1800" b="1" dirty="0">
                  <a:solidFill>
                    <a:schemeClr val="bg1"/>
                  </a:solidFill>
                </a:rPr>
                <a:t>     NA</a:t>
              </a:r>
              <a:endParaRPr lang="en-US" altLang="zh-CN" sz="1800" b="1" dirty="0">
                <a:solidFill>
                  <a:schemeClr val="bg1"/>
                </a:solidFill>
              </a:endParaRPr>
            </a:p>
            <a:p>
              <a:pPr marL="0" lvl="0" indent="0" eaLnBrk="1" hangingPunct="1">
                <a:buNone/>
              </a:pPr>
              <a:r>
                <a:rPr lang="en-US" altLang="zh-CN" sz="1800" b="1" dirty="0">
                  <a:solidFill>
                    <a:schemeClr val="bg1"/>
                  </a:solidFill>
                </a:rPr>
                <a:t>     NA</a:t>
              </a:r>
              <a:endParaRPr lang="en-US" altLang="zh-CN" sz="1800" b="1" dirty="0">
                <a:solidFill>
                  <a:schemeClr val="bg1"/>
                </a:solidFill>
              </a:endParaRPr>
            </a:p>
          </p:txBody>
        </p:sp>
        <p:sp>
          <p:nvSpPr>
            <p:cNvPr id="79881" name="Rectangle 9"/>
            <p:cNvSpPr/>
            <p:nvPr/>
          </p:nvSpPr>
          <p:spPr>
            <a:xfrm>
              <a:off x="384" y="1633"/>
              <a:ext cx="1440" cy="1199"/>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endParaRPr lang="zh-CN" altLang="zh-CN" sz="2000" b="1" dirty="0">
                <a:solidFill>
                  <a:schemeClr val="bg1"/>
                </a:solidFill>
              </a:endParaRPr>
            </a:p>
          </p:txBody>
        </p:sp>
        <p:sp>
          <p:nvSpPr>
            <p:cNvPr id="79882" name="Rectangle 10"/>
            <p:cNvSpPr/>
            <p:nvPr/>
          </p:nvSpPr>
          <p:spPr>
            <a:xfrm>
              <a:off x="4464" y="1376"/>
              <a:ext cx="864" cy="25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1800" b="1" dirty="0">
                  <a:solidFill>
                    <a:schemeClr val="bg1"/>
                  </a:solidFill>
                </a:rPr>
                <a:t>O( </a:t>
              </a:r>
              <a:r>
                <a:rPr lang="en-US" altLang="zh-CN" sz="1800" b="1" i="1" dirty="0">
                  <a:solidFill>
                    <a:schemeClr val="bg1"/>
                  </a:solidFill>
                </a:rPr>
                <a:t>N</a:t>
              </a:r>
              <a:r>
                <a:rPr lang="en-US" altLang="zh-CN" sz="1800" b="1" dirty="0">
                  <a:solidFill>
                    <a:schemeClr val="bg1"/>
                  </a:solidFill>
                </a:rPr>
                <a:t> )</a:t>
              </a:r>
              <a:endParaRPr lang="en-US" altLang="zh-CN" sz="1800" b="1" dirty="0">
                <a:solidFill>
                  <a:schemeClr val="bg1"/>
                </a:solidFill>
              </a:endParaRPr>
            </a:p>
          </p:txBody>
        </p:sp>
        <p:sp>
          <p:nvSpPr>
            <p:cNvPr id="79883" name="Rectangle 11"/>
            <p:cNvSpPr/>
            <p:nvPr/>
          </p:nvSpPr>
          <p:spPr>
            <a:xfrm>
              <a:off x="3552" y="1376"/>
              <a:ext cx="912" cy="25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1800" b="1" dirty="0">
                  <a:solidFill>
                    <a:schemeClr val="bg1"/>
                  </a:solidFill>
                </a:rPr>
                <a:t>O(</a:t>
              </a:r>
              <a:r>
                <a:rPr lang="en-US" altLang="zh-CN" sz="1800" b="1" i="1" dirty="0">
                  <a:solidFill>
                    <a:schemeClr val="bg1"/>
                  </a:solidFill>
                </a:rPr>
                <a:t>N</a:t>
              </a:r>
              <a:r>
                <a:rPr lang="en-US" altLang="zh-CN" sz="1800" b="1" baseline="30000" dirty="0">
                  <a:solidFill>
                    <a:schemeClr val="bg1"/>
                  </a:solidFill>
                </a:rPr>
                <a:t> </a:t>
              </a:r>
              <a:r>
                <a:rPr lang="en-US" altLang="zh-CN" sz="1800" b="1" dirty="0">
                  <a:solidFill>
                    <a:schemeClr val="bg1"/>
                  </a:solidFill>
                </a:rPr>
                <a:t>log </a:t>
              </a:r>
              <a:r>
                <a:rPr lang="en-US" altLang="zh-CN" sz="1800" b="1" i="1" dirty="0">
                  <a:solidFill>
                    <a:schemeClr val="bg1"/>
                  </a:solidFill>
                </a:rPr>
                <a:t>N</a:t>
              </a:r>
              <a:r>
                <a:rPr lang="en-US" altLang="zh-CN" sz="1800" b="1" dirty="0">
                  <a:solidFill>
                    <a:schemeClr val="bg1"/>
                  </a:solidFill>
                </a:rPr>
                <a:t>)</a:t>
              </a:r>
              <a:endParaRPr lang="en-US" altLang="zh-CN" sz="1800" b="1" dirty="0">
                <a:solidFill>
                  <a:schemeClr val="bg1"/>
                </a:solidFill>
              </a:endParaRPr>
            </a:p>
          </p:txBody>
        </p:sp>
        <p:sp>
          <p:nvSpPr>
            <p:cNvPr id="79884" name="Rectangle 12"/>
            <p:cNvSpPr/>
            <p:nvPr/>
          </p:nvSpPr>
          <p:spPr>
            <a:xfrm>
              <a:off x="2688" y="1376"/>
              <a:ext cx="864" cy="25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1800" b="1" dirty="0">
                  <a:solidFill>
                    <a:schemeClr val="bg1"/>
                  </a:solidFill>
                </a:rPr>
                <a:t>O( </a:t>
              </a:r>
              <a:r>
                <a:rPr lang="en-US" altLang="zh-CN" sz="1800" b="1" i="1" dirty="0">
                  <a:solidFill>
                    <a:schemeClr val="bg1"/>
                  </a:solidFill>
                </a:rPr>
                <a:t>N</a:t>
              </a:r>
              <a:r>
                <a:rPr lang="en-US" altLang="zh-CN" sz="1800" b="1" baseline="30000" dirty="0">
                  <a:solidFill>
                    <a:schemeClr val="bg1"/>
                  </a:solidFill>
                </a:rPr>
                <a:t>2</a:t>
              </a:r>
              <a:r>
                <a:rPr lang="en-US" altLang="zh-CN" sz="1800" b="1" dirty="0">
                  <a:solidFill>
                    <a:schemeClr val="bg1"/>
                  </a:solidFill>
                </a:rPr>
                <a:t> )</a:t>
              </a:r>
              <a:endParaRPr lang="en-US" altLang="zh-CN" sz="1800" b="1" dirty="0">
                <a:solidFill>
                  <a:schemeClr val="bg1"/>
                </a:solidFill>
              </a:endParaRPr>
            </a:p>
          </p:txBody>
        </p:sp>
        <p:sp>
          <p:nvSpPr>
            <p:cNvPr id="79885" name="Rectangle 13"/>
            <p:cNvSpPr/>
            <p:nvPr/>
          </p:nvSpPr>
          <p:spPr>
            <a:xfrm>
              <a:off x="1824" y="1376"/>
              <a:ext cx="864" cy="25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1800" b="1" dirty="0">
                  <a:solidFill>
                    <a:schemeClr val="bg1"/>
                  </a:solidFill>
                </a:rPr>
                <a:t>O( </a:t>
              </a:r>
              <a:r>
                <a:rPr lang="en-US" altLang="zh-CN" sz="1800" b="1" i="1" dirty="0">
                  <a:solidFill>
                    <a:schemeClr val="bg1"/>
                  </a:solidFill>
                </a:rPr>
                <a:t>N</a:t>
              </a:r>
              <a:r>
                <a:rPr lang="en-US" altLang="zh-CN" sz="1800" b="1" baseline="30000" dirty="0">
                  <a:solidFill>
                    <a:schemeClr val="bg1"/>
                  </a:solidFill>
                </a:rPr>
                <a:t>3</a:t>
              </a:r>
              <a:r>
                <a:rPr lang="en-US" altLang="zh-CN" sz="1800" b="1" dirty="0">
                  <a:solidFill>
                    <a:schemeClr val="bg1"/>
                  </a:solidFill>
                </a:rPr>
                <a:t> )</a:t>
              </a:r>
              <a:endParaRPr lang="en-US" altLang="zh-CN" sz="1800" b="1" dirty="0">
                <a:solidFill>
                  <a:schemeClr val="bg1"/>
                </a:solidFill>
              </a:endParaRPr>
            </a:p>
          </p:txBody>
        </p:sp>
        <p:sp>
          <p:nvSpPr>
            <p:cNvPr id="79886" name="Rectangle 14"/>
            <p:cNvSpPr/>
            <p:nvPr/>
          </p:nvSpPr>
          <p:spPr>
            <a:xfrm>
              <a:off x="384" y="1376"/>
              <a:ext cx="1440" cy="257"/>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2000" b="1" dirty="0">
                  <a:solidFill>
                    <a:schemeClr val="bg1"/>
                  </a:solidFill>
                </a:rPr>
                <a:t>Time</a:t>
              </a:r>
              <a:endParaRPr lang="en-US" altLang="zh-CN" sz="2000" b="1" dirty="0">
                <a:solidFill>
                  <a:schemeClr val="bg1"/>
                </a:solidFill>
              </a:endParaRPr>
            </a:p>
          </p:txBody>
        </p:sp>
        <p:sp>
          <p:nvSpPr>
            <p:cNvPr id="79887" name="Rectangle 15"/>
            <p:cNvSpPr/>
            <p:nvPr/>
          </p:nvSpPr>
          <p:spPr>
            <a:xfrm>
              <a:off x="4464" y="1120"/>
              <a:ext cx="864" cy="256"/>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2000" b="1" dirty="0">
                  <a:solidFill>
                    <a:schemeClr val="bg1"/>
                  </a:solidFill>
                </a:rPr>
                <a:t>4</a:t>
              </a:r>
              <a:endParaRPr lang="en-US" altLang="zh-CN" sz="2000" b="1" dirty="0">
                <a:solidFill>
                  <a:schemeClr val="bg1"/>
                </a:solidFill>
              </a:endParaRPr>
            </a:p>
          </p:txBody>
        </p:sp>
        <p:sp>
          <p:nvSpPr>
            <p:cNvPr id="79888" name="Rectangle 16"/>
            <p:cNvSpPr/>
            <p:nvPr/>
          </p:nvSpPr>
          <p:spPr>
            <a:xfrm>
              <a:off x="3552" y="1120"/>
              <a:ext cx="912" cy="256"/>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2000" b="1" dirty="0">
                  <a:solidFill>
                    <a:schemeClr val="bg1"/>
                  </a:solidFill>
                </a:rPr>
                <a:t>3</a:t>
              </a:r>
              <a:endParaRPr lang="en-US" altLang="zh-CN" sz="2000" b="1" dirty="0">
                <a:solidFill>
                  <a:schemeClr val="bg1"/>
                </a:solidFill>
              </a:endParaRPr>
            </a:p>
          </p:txBody>
        </p:sp>
        <p:sp>
          <p:nvSpPr>
            <p:cNvPr id="79889" name="Rectangle 17"/>
            <p:cNvSpPr/>
            <p:nvPr/>
          </p:nvSpPr>
          <p:spPr>
            <a:xfrm>
              <a:off x="2688" y="1120"/>
              <a:ext cx="864" cy="256"/>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2000" b="1" dirty="0">
                  <a:solidFill>
                    <a:schemeClr val="bg1"/>
                  </a:solidFill>
                </a:rPr>
                <a:t>2</a:t>
              </a:r>
              <a:endParaRPr lang="en-US" altLang="zh-CN" sz="2000" b="1" dirty="0">
                <a:solidFill>
                  <a:schemeClr val="bg1"/>
                </a:solidFill>
              </a:endParaRPr>
            </a:p>
          </p:txBody>
        </p:sp>
        <p:sp>
          <p:nvSpPr>
            <p:cNvPr id="79890" name="Rectangle 18"/>
            <p:cNvSpPr/>
            <p:nvPr/>
          </p:nvSpPr>
          <p:spPr>
            <a:xfrm>
              <a:off x="1824" y="1120"/>
              <a:ext cx="864" cy="256"/>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2000" b="1" dirty="0">
                  <a:solidFill>
                    <a:schemeClr val="bg1"/>
                  </a:solidFill>
                </a:rPr>
                <a:t>1</a:t>
              </a:r>
              <a:endParaRPr lang="en-US" altLang="zh-CN" sz="2000" b="1" dirty="0">
                <a:solidFill>
                  <a:schemeClr val="bg1"/>
                </a:solidFill>
              </a:endParaRPr>
            </a:p>
          </p:txBody>
        </p:sp>
        <p:sp>
          <p:nvSpPr>
            <p:cNvPr id="79891" name="Rectangle 19"/>
            <p:cNvSpPr/>
            <p:nvPr/>
          </p:nvSpPr>
          <p:spPr>
            <a:xfrm>
              <a:off x="384" y="1120"/>
              <a:ext cx="1440" cy="256"/>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buNone/>
              </a:pPr>
              <a:r>
                <a:rPr lang="en-US" altLang="zh-CN" sz="2000" b="1" dirty="0">
                  <a:solidFill>
                    <a:schemeClr val="bg1"/>
                  </a:solidFill>
                </a:rPr>
                <a:t>Algorithm</a:t>
              </a:r>
              <a:endParaRPr lang="en-US" altLang="zh-CN" sz="2000" b="1" dirty="0">
                <a:solidFill>
                  <a:schemeClr val="bg1"/>
                </a:solidFill>
              </a:endParaRPr>
            </a:p>
          </p:txBody>
        </p:sp>
        <p:sp>
          <p:nvSpPr>
            <p:cNvPr id="79892" name="Line 20"/>
            <p:cNvSpPr/>
            <p:nvPr/>
          </p:nvSpPr>
          <p:spPr>
            <a:xfrm>
              <a:off x="384" y="1376"/>
              <a:ext cx="4944" cy="0"/>
            </a:xfrm>
            <a:prstGeom prst="line">
              <a:avLst/>
            </a:prstGeom>
            <a:ln w="28575" cap="flat" cmpd="sng">
              <a:solidFill>
                <a:schemeClr val="bg1"/>
              </a:solidFill>
              <a:prstDash val="solid"/>
              <a:headEnd type="none" w="med" len="med"/>
              <a:tailEnd type="none" w="med" len="med"/>
            </a:ln>
          </p:spPr>
        </p:sp>
        <p:sp>
          <p:nvSpPr>
            <p:cNvPr id="79893" name="Line 21"/>
            <p:cNvSpPr/>
            <p:nvPr/>
          </p:nvSpPr>
          <p:spPr>
            <a:xfrm>
              <a:off x="384" y="1633"/>
              <a:ext cx="4944" cy="0"/>
            </a:xfrm>
            <a:prstGeom prst="line">
              <a:avLst/>
            </a:prstGeom>
            <a:ln w="28575" cap="flat" cmpd="sng">
              <a:solidFill>
                <a:schemeClr val="bg1"/>
              </a:solidFill>
              <a:prstDash val="solid"/>
              <a:headEnd type="none" w="med" len="med"/>
              <a:tailEnd type="none" w="med" len="med"/>
            </a:ln>
          </p:spPr>
        </p:sp>
        <p:sp>
          <p:nvSpPr>
            <p:cNvPr id="79894" name="Line 22"/>
            <p:cNvSpPr/>
            <p:nvPr/>
          </p:nvSpPr>
          <p:spPr>
            <a:xfrm>
              <a:off x="1824" y="1120"/>
              <a:ext cx="0" cy="1712"/>
            </a:xfrm>
            <a:prstGeom prst="line">
              <a:avLst/>
            </a:prstGeom>
            <a:ln w="28575" cap="flat" cmpd="sng">
              <a:solidFill>
                <a:schemeClr val="bg1"/>
              </a:solidFill>
              <a:prstDash val="solid"/>
              <a:headEnd type="none" w="med" len="med"/>
              <a:tailEnd type="none" w="med" len="med"/>
            </a:ln>
          </p:spPr>
        </p:sp>
        <p:sp>
          <p:nvSpPr>
            <p:cNvPr id="79895" name="Line 23"/>
            <p:cNvSpPr/>
            <p:nvPr/>
          </p:nvSpPr>
          <p:spPr>
            <a:xfrm>
              <a:off x="2688" y="1120"/>
              <a:ext cx="0" cy="1712"/>
            </a:xfrm>
            <a:prstGeom prst="line">
              <a:avLst/>
            </a:prstGeom>
            <a:ln w="28575" cap="flat" cmpd="sng">
              <a:solidFill>
                <a:schemeClr val="bg1"/>
              </a:solidFill>
              <a:prstDash val="solid"/>
              <a:headEnd type="none" w="med" len="med"/>
              <a:tailEnd type="none" w="med" len="med"/>
            </a:ln>
          </p:spPr>
        </p:sp>
        <p:sp>
          <p:nvSpPr>
            <p:cNvPr id="79896" name="Line 24"/>
            <p:cNvSpPr/>
            <p:nvPr/>
          </p:nvSpPr>
          <p:spPr>
            <a:xfrm>
              <a:off x="3552" y="1120"/>
              <a:ext cx="0" cy="1712"/>
            </a:xfrm>
            <a:prstGeom prst="line">
              <a:avLst/>
            </a:prstGeom>
            <a:ln w="28575" cap="flat" cmpd="sng">
              <a:solidFill>
                <a:schemeClr val="bg1"/>
              </a:solidFill>
              <a:prstDash val="solid"/>
              <a:headEnd type="none" w="med" len="med"/>
              <a:tailEnd type="none" w="med" len="med"/>
            </a:ln>
          </p:spPr>
        </p:sp>
        <p:sp>
          <p:nvSpPr>
            <p:cNvPr id="79897" name="Line 25"/>
            <p:cNvSpPr/>
            <p:nvPr/>
          </p:nvSpPr>
          <p:spPr>
            <a:xfrm>
              <a:off x="4464" y="1120"/>
              <a:ext cx="0" cy="1712"/>
            </a:xfrm>
            <a:prstGeom prst="line">
              <a:avLst/>
            </a:prstGeom>
            <a:ln w="28575" cap="flat" cmpd="sng">
              <a:solidFill>
                <a:schemeClr val="bg1"/>
              </a:solidFill>
              <a:prstDash val="solid"/>
              <a:headEnd type="none" w="med" len="med"/>
              <a:tailEnd type="none" w="med" len="med"/>
            </a:ln>
          </p:spPr>
        </p:sp>
        <p:sp>
          <p:nvSpPr>
            <p:cNvPr id="79898" name="Line 26"/>
            <p:cNvSpPr/>
            <p:nvPr/>
          </p:nvSpPr>
          <p:spPr>
            <a:xfrm>
              <a:off x="384" y="1120"/>
              <a:ext cx="4944" cy="0"/>
            </a:xfrm>
            <a:prstGeom prst="line">
              <a:avLst/>
            </a:prstGeom>
            <a:ln w="28575" cap="sq" cmpd="sng">
              <a:solidFill>
                <a:schemeClr val="bg1"/>
              </a:solidFill>
              <a:prstDash val="solid"/>
              <a:headEnd type="none" w="med" len="med"/>
              <a:tailEnd type="none" w="med" len="med"/>
            </a:ln>
          </p:spPr>
        </p:sp>
        <p:sp>
          <p:nvSpPr>
            <p:cNvPr id="79899" name="Line 27"/>
            <p:cNvSpPr/>
            <p:nvPr/>
          </p:nvSpPr>
          <p:spPr>
            <a:xfrm>
              <a:off x="384" y="1120"/>
              <a:ext cx="0" cy="1712"/>
            </a:xfrm>
            <a:prstGeom prst="line">
              <a:avLst/>
            </a:prstGeom>
            <a:ln w="28575" cap="sq" cmpd="sng">
              <a:solidFill>
                <a:schemeClr val="bg1"/>
              </a:solidFill>
              <a:prstDash val="solid"/>
              <a:headEnd type="none" w="med" len="med"/>
              <a:tailEnd type="none" w="med" len="med"/>
            </a:ln>
          </p:spPr>
        </p:sp>
        <p:sp>
          <p:nvSpPr>
            <p:cNvPr id="79900" name="Line 28"/>
            <p:cNvSpPr/>
            <p:nvPr/>
          </p:nvSpPr>
          <p:spPr>
            <a:xfrm>
              <a:off x="5328" y="1120"/>
              <a:ext cx="0" cy="1712"/>
            </a:xfrm>
            <a:prstGeom prst="line">
              <a:avLst/>
            </a:prstGeom>
            <a:ln w="28575" cap="sq" cmpd="sng">
              <a:solidFill>
                <a:schemeClr val="bg1"/>
              </a:solidFill>
              <a:prstDash val="solid"/>
              <a:headEnd type="none" w="med" len="med"/>
              <a:tailEnd type="none" w="med" len="med"/>
            </a:ln>
          </p:spPr>
        </p:sp>
        <p:sp>
          <p:nvSpPr>
            <p:cNvPr id="79901" name="Line 29"/>
            <p:cNvSpPr/>
            <p:nvPr/>
          </p:nvSpPr>
          <p:spPr>
            <a:xfrm>
              <a:off x="384" y="2832"/>
              <a:ext cx="4944" cy="0"/>
            </a:xfrm>
            <a:prstGeom prst="line">
              <a:avLst/>
            </a:prstGeom>
            <a:ln w="28575" cap="sq" cmpd="sng">
              <a:solidFill>
                <a:schemeClr val="bg1"/>
              </a:solidFill>
              <a:prstDash val="solid"/>
              <a:headEnd type="none" w="med" len="med"/>
              <a:tailEnd type="none" w="med" len="med"/>
            </a:ln>
          </p:spPr>
        </p:sp>
        <p:sp>
          <p:nvSpPr>
            <p:cNvPr id="79902" name="Rectangle 30"/>
            <p:cNvSpPr/>
            <p:nvPr/>
          </p:nvSpPr>
          <p:spPr>
            <a:xfrm>
              <a:off x="912" y="1632"/>
              <a:ext cx="912" cy="120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1800" b="1" i="1" dirty="0">
                  <a:solidFill>
                    <a:schemeClr val="bg1"/>
                  </a:solidFill>
                </a:rPr>
                <a:t>N </a:t>
              </a:r>
              <a:r>
                <a:rPr lang="en-US" altLang="zh-CN" sz="1800" b="1" dirty="0">
                  <a:solidFill>
                    <a:schemeClr val="bg1"/>
                  </a:solidFill>
                </a:rPr>
                <a:t>=10</a:t>
              </a:r>
              <a:endParaRPr lang="en-US" altLang="zh-CN" sz="1800" b="1" dirty="0">
                <a:solidFill>
                  <a:schemeClr val="bg1"/>
                </a:solidFill>
              </a:endParaRPr>
            </a:p>
            <a:p>
              <a:pPr marL="0" lvl="0" indent="0" eaLnBrk="1" hangingPunct="1">
                <a:buNone/>
              </a:pPr>
              <a:r>
                <a:rPr lang="en-US" altLang="zh-CN" sz="1800" b="1" i="1" dirty="0">
                  <a:solidFill>
                    <a:schemeClr val="bg1"/>
                  </a:solidFill>
                </a:rPr>
                <a:t>N </a:t>
              </a:r>
              <a:r>
                <a:rPr lang="en-US" altLang="zh-CN" sz="1800" b="1" dirty="0">
                  <a:solidFill>
                    <a:schemeClr val="bg1"/>
                  </a:solidFill>
                </a:rPr>
                <a:t>=100</a:t>
              </a:r>
              <a:endParaRPr lang="en-US" altLang="zh-CN" sz="1800" b="1" dirty="0">
                <a:solidFill>
                  <a:schemeClr val="bg1"/>
                </a:solidFill>
              </a:endParaRPr>
            </a:p>
            <a:p>
              <a:pPr marL="0" lvl="0" indent="0" eaLnBrk="1" hangingPunct="1">
                <a:buNone/>
              </a:pPr>
              <a:r>
                <a:rPr lang="en-US" altLang="zh-CN" sz="1800" b="1" i="1" dirty="0">
                  <a:solidFill>
                    <a:schemeClr val="bg1"/>
                  </a:solidFill>
                </a:rPr>
                <a:t>N </a:t>
              </a:r>
              <a:r>
                <a:rPr lang="en-US" altLang="zh-CN" sz="1800" b="1" dirty="0">
                  <a:solidFill>
                    <a:schemeClr val="bg1"/>
                  </a:solidFill>
                </a:rPr>
                <a:t>=1,000</a:t>
              </a:r>
              <a:endParaRPr lang="en-US" altLang="zh-CN" sz="1800" b="1" dirty="0">
                <a:solidFill>
                  <a:schemeClr val="bg1"/>
                </a:solidFill>
              </a:endParaRPr>
            </a:p>
            <a:p>
              <a:pPr marL="0" lvl="0" indent="0" eaLnBrk="1" hangingPunct="1">
                <a:buNone/>
              </a:pPr>
              <a:r>
                <a:rPr lang="en-US" altLang="zh-CN" sz="1800" b="1" i="1" dirty="0">
                  <a:solidFill>
                    <a:schemeClr val="bg1"/>
                  </a:solidFill>
                </a:rPr>
                <a:t>N </a:t>
              </a:r>
              <a:r>
                <a:rPr lang="en-US" altLang="zh-CN" sz="1800" b="1" dirty="0">
                  <a:solidFill>
                    <a:schemeClr val="bg1"/>
                  </a:solidFill>
                </a:rPr>
                <a:t>=10,000</a:t>
              </a:r>
              <a:endParaRPr lang="en-US" altLang="zh-CN" sz="1800" b="1" dirty="0">
                <a:solidFill>
                  <a:schemeClr val="bg1"/>
                </a:solidFill>
              </a:endParaRPr>
            </a:p>
            <a:p>
              <a:pPr marL="0" lvl="0" indent="0" eaLnBrk="1" hangingPunct="1">
                <a:buNone/>
              </a:pPr>
              <a:r>
                <a:rPr lang="en-US" altLang="zh-CN" sz="1800" b="1" i="1" dirty="0">
                  <a:solidFill>
                    <a:schemeClr val="bg1"/>
                  </a:solidFill>
                </a:rPr>
                <a:t>N </a:t>
              </a:r>
              <a:r>
                <a:rPr lang="en-US" altLang="zh-CN" sz="1800" b="1" dirty="0">
                  <a:solidFill>
                    <a:schemeClr val="bg1"/>
                  </a:solidFill>
                </a:rPr>
                <a:t>=100,000</a:t>
              </a:r>
              <a:endParaRPr lang="en-US" altLang="zh-CN" sz="1800" b="1" dirty="0">
                <a:solidFill>
                  <a:schemeClr val="bg1"/>
                </a:solidFill>
              </a:endParaRPr>
            </a:p>
          </p:txBody>
        </p:sp>
        <p:sp>
          <p:nvSpPr>
            <p:cNvPr id="79903" name="Rectangle 31"/>
            <p:cNvSpPr/>
            <p:nvPr/>
          </p:nvSpPr>
          <p:spPr>
            <a:xfrm>
              <a:off x="384" y="1632"/>
              <a:ext cx="528" cy="1200"/>
            </a:xfrm>
            <a:prstGeom prst="rect">
              <a:avLst/>
            </a:prstGeom>
            <a:noFill/>
            <a:ln w="9525">
              <a:noFill/>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50000"/>
                </a:lnSpc>
                <a:buNone/>
              </a:pPr>
              <a:r>
                <a:rPr lang="en-US" altLang="zh-CN" sz="2000" b="1" dirty="0">
                  <a:solidFill>
                    <a:schemeClr val="bg1"/>
                  </a:solidFill>
                </a:rPr>
                <a:t>Input Size</a:t>
              </a:r>
              <a:endParaRPr lang="en-US" altLang="zh-CN" sz="2000" b="1" dirty="0">
                <a:solidFill>
                  <a:schemeClr val="bg1"/>
                </a:solidFill>
              </a:endParaRPr>
            </a:p>
          </p:txBody>
        </p:sp>
        <p:sp>
          <p:nvSpPr>
            <p:cNvPr id="79904" name="Line 32"/>
            <p:cNvSpPr/>
            <p:nvPr/>
          </p:nvSpPr>
          <p:spPr>
            <a:xfrm>
              <a:off x="384" y="1632"/>
              <a:ext cx="528" cy="0"/>
            </a:xfrm>
            <a:prstGeom prst="line">
              <a:avLst/>
            </a:prstGeom>
            <a:ln w="28575">
              <a:noFill/>
            </a:ln>
          </p:spPr>
        </p:sp>
        <p:sp>
          <p:nvSpPr>
            <p:cNvPr id="79905" name="Line 33"/>
            <p:cNvSpPr/>
            <p:nvPr/>
          </p:nvSpPr>
          <p:spPr>
            <a:xfrm>
              <a:off x="384" y="2832"/>
              <a:ext cx="528" cy="0"/>
            </a:xfrm>
            <a:prstGeom prst="line">
              <a:avLst/>
            </a:prstGeom>
            <a:ln w="28575">
              <a:noFill/>
            </a:ln>
          </p:spPr>
        </p:sp>
        <p:sp>
          <p:nvSpPr>
            <p:cNvPr id="79906" name="Line 34"/>
            <p:cNvSpPr/>
            <p:nvPr/>
          </p:nvSpPr>
          <p:spPr>
            <a:xfrm>
              <a:off x="384" y="1632"/>
              <a:ext cx="0" cy="1200"/>
            </a:xfrm>
            <a:prstGeom prst="line">
              <a:avLst/>
            </a:prstGeom>
            <a:ln w="28575">
              <a:noFill/>
            </a:ln>
          </p:spPr>
        </p:sp>
        <p:sp>
          <p:nvSpPr>
            <p:cNvPr id="79907" name="Line 35"/>
            <p:cNvSpPr/>
            <p:nvPr/>
          </p:nvSpPr>
          <p:spPr>
            <a:xfrm>
              <a:off x="912" y="1632"/>
              <a:ext cx="0" cy="1200"/>
            </a:xfrm>
            <a:prstGeom prst="line">
              <a:avLst/>
            </a:prstGeom>
            <a:ln w="28575" cap="flat" cmpd="sng">
              <a:solidFill>
                <a:schemeClr val="bg1"/>
              </a:solidFill>
              <a:prstDash val="solid"/>
              <a:headEnd type="none" w="med" len="med"/>
              <a:tailEnd type="none" w="med" len="med"/>
            </a:ln>
          </p:spPr>
        </p:sp>
        <p:sp>
          <p:nvSpPr>
            <p:cNvPr id="79908" name="Line 36"/>
            <p:cNvSpPr/>
            <p:nvPr/>
          </p:nvSpPr>
          <p:spPr>
            <a:xfrm>
              <a:off x="1824" y="1632"/>
              <a:ext cx="0" cy="1200"/>
            </a:xfrm>
            <a:prstGeom prst="line">
              <a:avLst/>
            </a:prstGeom>
            <a:ln w="28575">
              <a:noFill/>
            </a:ln>
          </p:spPr>
        </p:sp>
        <p:sp>
          <p:nvSpPr>
            <p:cNvPr id="79909" name="Line 37"/>
            <p:cNvSpPr/>
            <p:nvPr/>
          </p:nvSpPr>
          <p:spPr>
            <a:xfrm>
              <a:off x="912" y="1632"/>
              <a:ext cx="912" cy="0"/>
            </a:xfrm>
            <a:prstGeom prst="line">
              <a:avLst/>
            </a:prstGeom>
            <a:ln w="28575">
              <a:noFill/>
            </a:ln>
          </p:spPr>
        </p:sp>
        <p:sp>
          <p:nvSpPr>
            <p:cNvPr id="79910" name="Line 38"/>
            <p:cNvSpPr/>
            <p:nvPr/>
          </p:nvSpPr>
          <p:spPr>
            <a:xfrm>
              <a:off x="912" y="2832"/>
              <a:ext cx="912" cy="0"/>
            </a:xfrm>
            <a:prstGeom prst="line">
              <a:avLst/>
            </a:prstGeom>
            <a:ln w="28575">
              <a:noFill/>
            </a:ln>
          </p:spPr>
        </p:sp>
        <p:sp>
          <p:nvSpPr>
            <p:cNvPr id="79911" name="Text Box 39"/>
            <p:cNvSpPr txBox="1"/>
            <p:nvPr/>
          </p:nvSpPr>
          <p:spPr>
            <a:xfrm>
              <a:off x="384" y="432"/>
              <a:ext cx="4896" cy="51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400" b="1" dirty="0"/>
                <a:t>Running times of several algorithms for maximum subsequence sum (in seconds)</a:t>
              </a:r>
              <a:endParaRPr lang="en-US" altLang="zh-CN" sz="2400" b="1" dirty="0"/>
            </a:p>
          </p:txBody>
        </p:sp>
      </p:grpSp>
      <p:sp>
        <p:nvSpPr>
          <p:cNvPr id="79875" name="文本框 2"/>
          <p:cNvSpPr txBox="1"/>
          <p:nvPr/>
        </p:nvSpPr>
        <p:spPr>
          <a:xfrm>
            <a:off x="157163" y="5222875"/>
            <a:ext cx="8432800"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dirty="0"/>
              <a:t>W</a:t>
            </a:r>
            <a:r>
              <a:rPr lang="en-US" altLang="zh-CN" sz="2800" dirty="0"/>
              <a:t>ith n = 10</a:t>
            </a:r>
            <a:r>
              <a:rPr lang="en-US" altLang="zh-CN" sz="2800" baseline="30000" dirty="0"/>
              <a:t>6</a:t>
            </a:r>
            <a:r>
              <a:rPr lang="en-US" altLang="zh-CN" sz="2800" dirty="0"/>
              <a:t>,  </a:t>
            </a:r>
            <a:endParaRPr lang="en-US" altLang="zh-CN" sz="2800" dirty="0"/>
          </a:p>
          <a:p>
            <a:pPr marL="0" lvl="0" indent="0" eaLnBrk="1" hangingPunct="1">
              <a:spcBef>
                <a:spcPct val="0"/>
              </a:spcBef>
              <a:buNone/>
            </a:pPr>
            <a:r>
              <a:rPr lang="en-US" altLang="zh-CN" sz="2800" dirty="0"/>
              <a:t>          algorithm 1 may take &gt; 10 years;  </a:t>
            </a:r>
            <a:endParaRPr lang="en-US" altLang="zh-CN" sz="2800" dirty="0"/>
          </a:p>
          <a:p>
            <a:pPr marL="0" lvl="0" indent="0" eaLnBrk="1" hangingPunct="1">
              <a:spcBef>
                <a:spcPct val="0"/>
              </a:spcBef>
              <a:buNone/>
            </a:pPr>
            <a:r>
              <a:rPr lang="en-US" altLang="zh-CN" sz="2800" dirty="0"/>
              <a:t>          algorithm 4 will take a fraction of a second!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5" name="Text Box 3"/>
          <p:cNvSpPr txBox="1"/>
          <p:nvPr/>
        </p:nvSpPr>
        <p:spPr>
          <a:xfrm>
            <a:off x="533400" y="381000"/>
            <a:ext cx="7848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292100" lvl="0" indent="-292100" eaLnBrk="1" hangingPunct="1">
              <a:spcBef>
                <a:spcPct val="50000"/>
              </a:spcBef>
              <a:buNone/>
            </a:pPr>
            <a:r>
              <a:rPr lang="en-US" altLang="zh-CN" sz="2400" b="1" dirty="0">
                <a:ea typeface="MS Hei" pitchFamily="49" charset="-122"/>
              </a:rPr>
              <a:t>〖Example〗 </a:t>
            </a:r>
            <a:r>
              <a:rPr lang="en-US" altLang="zh-CN" sz="2000" b="1" dirty="0">
                <a:solidFill>
                  <a:schemeClr val="hlink"/>
                </a:solidFill>
                <a:ea typeface="MS Hei" pitchFamily="49" charset="-122"/>
              </a:rPr>
              <a:t>Exponentiation</a:t>
            </a:r>
            <a:r>
              <a:rPr lang="en-US" altLang="zh-CN" sz="2000" b="1" dirty="0">
                <a:ea typeface="MS Hei" pitchFamily="49" charset="-122"/>
              </a:rPr>
              <a:t>:  computing </a:t>
            </a:r>
            <a:r>
              <a:rPr lang="en-US" altLang="zh-CN" sz="2000" b="1" i="1" dirty="0">
                <a:ea typeface="MS Hei" pitchFamily="49" charset="-122"/>
              </a:rPr>
              <a:t>X </a:t>
            </a:r>
            <a:r>
              <a:rPr lang="en-US" altLang="zh-CN" sz="2000" b="1" i="1" baseline="30000" dirty="0">
                <a:ea typeface="MS Hei" pitchFamily="49" charset="-122"/>
              </a:rPr>
              <a:t>N</a:t>
            </a:r>
            <a:r>
              <a:rPr lang="en-US" altLang="zh-CN" sz="2000" b="1" dirty="0">
                <a:ea typeface="MS Hei" pitchFamily="49" charset="-122"/>
              </a:rPr>
              <a:t>.</a:t>
            </a:r>
            <a:endParaRPr lang="en-US" altLang="zh-CN" sz="2000" b="1" i="1" dirty="0">
              <a:ea typeface="MS Hei" pitchFamily="49" charset="-122"/>
              <a:sym typeface="Symbol" panose="05050102010706020507" pitchFamily="18" charset="2"/>
            </a:endParaRPr>
          </a:p>
        </p:txBody>
      </p:sp>
      <p:sp>
        <p:nvSpPr>
          <p:cNvPr id="74756" name="AutoShape 4"/>
          <p:cNvSpPr/>
          <p:nvPr/>
        </p:nvSpPr>
        <p:spPr>
          <a:xfrm>
            <a:off x="762000" y="838200"/>
            <a:ext cx="7391400" cy="19812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Pow ( </a:t>
            </a: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X,  </a:t>
            </a:r>
            <a:r>
              <a:rPr lang="en-US" altLang="zh-CN" sz="1800" b="1" dirty="0">
                <a:solidFill>
                  <a:schemeClr val="hlink"/>
                </a:solidFill>
                <a:latin typeface="Arial" panose="020B0604020202020204" pitchFamily="34" charset="0"/>
              </a:rPr>
              <a:t>unsigned int</a:t>
            </a:r>
            <a:r>
              <a:rPr lang="en-US" altLang="zh-CN" sz="1800" b="1" dirty="0">
                <a:latin typeface="Arial" panose="020B0604020202020204" pitchFamily="34" charset="0"/>
              </a:rPr>
              <a:t>  N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P = 1;</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while</a:t>
            </a:r>
            <a:r>
              <a:rPr lang="en-US" altLang="zh-CN" sz="1800" b="1" dirty="0">
                <a:latin typeface="Arial" panose="020B0604020202020204" pitchFamily="34" charset="0"/>
              </a:rPr>
              <a:t> ( N -- )    P *= X;</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P;</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endParaRPr lang="en-US" altLang="zh-CN" sz="1800" b="1" dirty="0">
              <a:latin typeface="Arial" panose="020B0604020202020204" pitchFamily="34" charset="0"/>
            </a:endParaRPr>
          </a:p>
        </p:txBody>
      </p:sp>
      <p:sp>
        <p:nvSpPr>
          <p:cNvPr id="74758" name="Rectangle 6"/>
          <p:cNvSpPr/>
          <p:nvPr/>
        </p:nvSpPr>
        <p:spPr>
          <a:xfrm>
            <a:off x="1371600" y="2438400"/>
            <a:ext cx="22860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 ) = O( </a:t>
            </a:r>
            <a:r>
              <a:rPr lang="en-US" altLang="zh-CN" sz="2000" b="1" i="1" dirty="0">
                <a:latin typeface="Times New Roman" panose="02020603050405020304" pitchFamily="18" charset="0"/>
              </a:rPr>
              <a:t>N </a:t>
            </a:r>
            <a:r>
              <a:rPr lang="en-US" altLang="zh-CN" sz="2000" b="1" dirty="0">
                <a:latin typeface="Times New Roman" panose="02020603050405020304" pitchFamily="18" charset="0"/>
              </a:rPr>
              <a:t>)</a:t>
            </a:r>
            <a:endParaRPr lang="en-US" altLang="zh-CN" sz="2000" b="1" dirty="0">
              <a:latin typeface="Times New Roman" panose="02020603050405020304" pitchFamily="18" charset="0"/>
            </a:endParaRPr>
          </a:p>
        </p:txBody>
      </p:sp>
      <p:sp>
        <p:nvSpPr>
          <p:cNvPr id="14" name="AutoShape 4"/>
          <p:cNvSpPr/>
          <p:nvPr/>
        </p:nvSpPr>
        <p:spPr>
          <a:xfrm>
            <a:off x="762000" y="3429000"/>
            <a:ext cx="7391400" cy="26670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Pow ( </a:t>
            </a: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X,  </a:t>
            </a:r>
            <a:r>
              <a:rPr lang="en-US" altLang="zh-CN" sz="1800" b="1" dirty="0">
                <a:solidFill>
                  <a:schemeClr val="hlink"/>
                </a:solidFill>
                <a:latin typeface="Arial" panose="020B0604020202020204" pitchFamily="34" charset="0"/>
              </a:rPr>
              <a:t>unsigned int</a:t>
            </a:r>
            <a:r>
              <a:rPr lang="en-US" altLang="zh-CN" sz="1800" b="1" dirty="0">
                <a:latin typeface="Arial" panose="020B0604020202020204" pitchFamily="34" charset="0"/>
              </a:rPr>
              <a:t>  N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if </a:t>
            </a:r>
            <a:r>
              <a:rPr lang="en-US" altLang="zh-CN" sz="1800" b="1" dirty="0">
                <a:latin typeface="Arial" panose="020B0604020202020204" pitchFamily="34" charset="0"/>
              </a:rPr>
              <a:t>( N == 0 )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1;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else </a:t>
            </a:r>
            <a:endParaRPr lang="en-US" altLang="zh-CN" sz="1800" b="1" dirty="0">
              <a:solidFill>
                <a:schemeClr val="hlink"/>
              </a:solidFill>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Pow( X , N-1)*X;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endParaRPr lang="en-US" altLang="zh-CN" sz="1800" b="1" dirty="0">
              <a:latin typeface="Arial" panose="020B0604020202020204" pitchFamily="34" charset="0"/>
            </a:endParaRPr>
          </a:p>
          <a:p>
            <a:pPr marL="0" lvl="0" indent="0" eaLnBrk="1" hangingPunct="1">
              <a:spcBef>
                <a:spcPct val="0"/>
              </a:spcBef>
              <a:buNone/>
            </a:pPr>
            <a:endParaRPr lang="en-US" altLang="zh-CN" sz="1800" b="1" dirty="0">
              <a:latin typeface="Arial" panose="020B0604020202020204" pitchFamily="34" charset="0"/>
            </a:endParaRPr>
          </a:p>
          <a:p>
            <a:pPr marL="0" lvl="0" indent="0" eaLnBrk="1" hangingPunct="1">
              <a:spcBef>
                <a:spcPct val="0"/>
              </a:spcBef>
              <a:buNone/>
            </a:pPr>
            <a:endParaRPr lang="en-US" altLang="zh-CN" sz="1800" b="1" dirty="0">
              <a:latin typeface="Arial" panose="020B0604020202020204" pitchFamily="34" charset="0"/>
            </a:endParaRPr>
          </a:p>
        </p:txBody>
      </p:sp>
      <p:sp>
        <p:nvSpPr>
          <p:cNvPr id="15" name="Rectangle 6"/>
          <p:cNvSpPr/>
          <p:nvPr/>
        </p:nvSpPr>
        <p:spPr>
          <a:xfrm>
            <a:off x="1219200" y="5622925"/>
            <a:ext cx="22860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 ) = O( </a:t>
            </a:r>
            <a:r>
              <a:rPr lang="en-US" altLang="zh-CN" sz="2000" b="1" i="1" dirty="0">
                <a:latin typeface="Times New Roman" panose="02020603050405020304" pitchFamily="18" charset="0"/>
              </a:rPr>
              <a:t>N </a:t>
            </a:r>
            <a:r>
              <a:rPr lang="en-US" altLang="zh-CN" sz="2000" b="1" dirty="0">
                <a:latin typeface="Times New Roman" panose="02020603050405020304" pitchFamily="18" charset="0"/>
              </a:rPr>
              <a:t>)</a:t>
            </a:r>
            <a:endParaRPr lang="en-US" altLang="zh-CN" sz="20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wipe(up)">
                                      <p:cBhvr>
                                        <p:cTn id="7" dur="500"/>
                                        <p:tgtEl>
                                          <p:spTgt spid="74755"/>
                                        </p:tgtEl>
                                      </p:cBhvr>
                                    </p:animEffect>
                                  </p:childTnLst>
                                  <p:subTnLst>
                                    <p:audio>
                                      <p:cMediaNode>
                                        <p:cTn display="0" masterRel="sameClick">
                                          <p:stCondLst>
                                            <p:cond evt="begin" delay="0">
                                              <p:tn val="5"/>
                                            </p:cond>
                                          </p:stCondLst>
                                          <p:endCondLst>
                                            <p:cond evt="onStopAudio" delay="0">
                                              <p:tgtEl>
                                                <p:sldTgt/>
                                              </p:tgtEl>
                                            </p:cond>
                                          </p:endCondLst>
                                        </p:cTn>
                                        <p:tgtEl>
                                          <p:sndTgt r:embed="rId1" name="TYPE.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74756"/>
                                        </p:tgtEl>
                                        <p:attrNameLst>
                                          <p:attrName>style.visibility</p:attrName>
                                        </p:attrNameLst>
                                      </p:cBhvr>
                                      <p:to>
                                        <p:strVal val="visible"/>
                                      </p:to>
                                    </p:set>
                                    <p:animEffect transition="in" filter="strips(downRight)">
                                      <p:cBhvr>
                                        <p:cTn id="12" dur="500"/>
                                        <p:tgtEl>
                                          <p:spTgt spid="747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4758"/>
                                        </p:tgtEl>
                                        <p:attrNameLst>
                                          <p:attrName>style.visibility</p:attrName>
                                        </p:attrNameLst>
                                      </p:cBhvr>
                                      <p:to>
                                        <p:strVal val="visible"/>
                                      </p:to>
                                    </p:set>
                                    <p:animEffect transition="in" filter="wipe(left)">
                                      <p:cBhvr>
                                        <p:cTn id="17" dur="500"/>
                                        <p:tgtEl>
                                          <p:spTgt spid="7475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Righ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P spid="74756" grpId="0" animBg="1"/>
      <p:bldP spid="74758" grpId="0"/>
      <p:bldP spid="14" grpId="0" animBg="1"/>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Text Box 3"/>
          <p:cNvSpPr txBox="1"/>
          <p:nvPr/>
        </p:nvSpPr>
        <p:spPr>
          <a:xfrm>
            <a:off x="533400" y="381000"/>
            <a:ext cx="7848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292100" lvl="0" indent="-292100" eaLnBrk="1" hangingPunct="1">
              <a:spcBef>
                <a:spcPct val="50000"/>
              </a:spcBef>
              <a:buNone/>
            </a:pPr>
            <a:r>
              <a:rPr lang="en-US" altLang="zh-CN" sz="2400" b="1" dirty="0">
                <a:ea typeface="MS Hei" pitchFamily="49" charset="-122"/>
              </a:rPr>
              <a:t>〖Example〗 </a:t>
            </a:r>
            <a:r>
              <a:rPr lang="en-US" altLang="zh-CN" sz="2000" b="1" dirty="0">
                <a:solidFill>
                  <a:schemeClr val="hlink"/>
                </a:solidFill>
                <a:ea typeface="MS Hei" pitchFamily="49" charset="-122"/>
              </a:rPr>
              <a:t>Exponentiation</a:t>
            </a:r>
            <a:r>
              <a:rPr lang="en-US" altLang="zh-CN" sz="2000" b="1" dirty="0">
                <a:ea typeface="MS Hei" pitchFamily="49" charset="-122"/>
              </a:rPr>
              <a:t>:  computing </a:t>
            </a:r>
            <a:r>
              <a:rPr lang="en-US" altLang="zh-CN" sz="2000" b="1" i="1" dirty="0">
                <a:ea typeface="MS Hei" pitchFamily="49" charset="-122"/>
              </a:rPr>
              <a:t>X </a:t>
            </a:r>
            <a:r>
              <a:rPr lang="en-US" altLang="zh-CN" sz="2000" b="1" i="1" baseline="30000" dirty="0">
                <a:ea typeface="MS Hei" pitchFamily="49" charset="-122"/>
              </a:rPr>
              <a:t>N</a:t>
            </a:r>
            <a:r>
              <a:rPr lang="en-US" altLang="zh-CN" sz="2000" b="1" dirty="0">
                <a:ea typeface="MS Hei" pitchFamily="49" charset="-122"/>
              </a:rPr>
              <a:t>.</a:t>
            </a:r>
            <a:endParaRPr lang="en-US" altLang="zh-CN" sz="2000" b="1" i="1" dirty="0">
              <a:ea typeface="MS Hei" pitchFamily="49" charset="-122"/>
              <a:sym typeface="Symbol" panose="05050102010706020507" pitchFamily="18" charset="2"/>
            </a:endParaRPr>
          </a:p>
        </p:txBody>
      </p:sp>
      <p:sp>
        <p:nvSpPr>
          <p:cNvPr id="74757" name="AutoShape 5"/>
          <p:cNvSpPr/>
          <p:nvPr/>
        </p:nvSpPr>
        <p:spPr>
          <a:xfrm>
            <a:off x="838200" y="2971800"/>
            <a:ext cx="7391400" cy="34290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Pow ( </a:t>
            </a:r>
            <a:r>
              <a:rPr lang="en-US" altLang="zh-CN" sz="1800" b="1" dirty="0">
                <a:solidFill>
                  <a:schemeClr val="hlink"/>
                </a:solidFill>
                <a:latin typeface="Arial" panose="020B0604020202020204" pitchFamily="34" charset="0"/>
              </a:rPr>
              <a:t>long int</a:t>
            </a:r>
            <a:r>
              <a:rPr lang="en-US" altLang="zh-CN" sz="1800" b="1" dirty="0">
                <a:latin typeface="Arial" panose="020B0604020202020204" pitchFamily="34" charset="0"/>
              </a:rPr>
              <a:t>  X,  </a:t>
            </a:r>
            <a:r>
              <a:rPr lang="en-US" altLang="zh-CN" sz="1800" b="1" dirty="0">
                <a:solidFill>
                  <a:schemeClr val="hlink"/>
                </a:solidFill>
                <a:latin typeface="Arial" panose="020B0604020202020204" pitchFamily="34" charset="0"/>
              </a:rPr>
              <a:t>unsigned int</a:t>
            </a:r>
            <a:r>
              <a:rPr lang="en-US" altLang="zh-CN" sz="1800" b="1" dirty="0">
                <a:latin typeface="Arial" panose="020B0604020202020204" pitchFamily="34" charset="0"/>
              </a:rPr>
              <a:t>  N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1*/</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if </a:t>
            </a:r>
            <a:r>
              <a:rPr lang="en-US" altLang="zh-CN" sz="1800" b="1" dirty="0">
                <a:latin typeface="Arial" panose="020B0604020202020204" pitchFamily="34" charset="0"/>
              </a:rPr>
              <a:t>( N == 0 )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2*/</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1;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3*/</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if </a:t>
            </a:r>
            <a:r>
              <a:rPr lang="en-US" altLang="zh-CN" sz="1800" b="1" dirty="0">
                <a:latin typeface="Arial" panose="020B0604020202020204" pitchFamily="34" charset="0"/>
              </a:rPr>
              <a:t>( N == 1 )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4*/</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X;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5*/</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if </a:t>
            </a:r>
            <a:r>
              <a:rPr lang="en-US" altLang="zh-CN" sz="1800" b="1" dirty="0">
                <a:latin typeface="Arial" panose="020B0604020202020204" pitchFamily="34" charset="0"/>
              </a:rPr>
              <a:t>( IsEven( N )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6*/</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Pow( X * X, N / 2 );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else</a:t>
            </a:r>
            <a:r>
              <a:rPr lang="en-US" altLang="zh-CN" sz="1800" b="1" dirty="0">
                <a:latin typeface="Arial" panose="020B0604020202020204" pitchFamily="34" charset="0"/>
              </a:rPr>
              <a:t>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solidFill>
                  <a:srgbClr val="008000"/>
                </a:solidFill>
                <a:latin typeface="Arial" panose="020B0604020202020204" pitchFamily="34" charset="0"/>
              </a:rPr>
              <a:t>/* 7*/</a:t>
            </a:r>
            <a:r>
              <a:rPr lang="en-US" altLang="zh-CN" sz="1800" b="1" dirty="0">
                <a:latin typeface="Arial" panose="020B0604020202020204" pitchFamily="34" charset="0"/>
              </a:rPr>
              <a:t> 	      </a:t>
            </a: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Pow( X * X, N / 2 ) * X; </a:t>
            </a:r>
            <a:endParaRPr lang="en-US" altLang="zh-CN" sz="1800" b="1" dirty="0">
              <a:latin typeface="Arial" panose="020B0604020202020204" pitchFamily="34" charset="0"/>
            </a:endParaRPr>
          </a:p>
          <a:p>
            <a:pPr marL="0" lvl="0" indent="0" eaLnBrk="1" hangingPunct="1">
              <a:spcBef>
                <a:spcPct val="0"/>
              </a:spcBef>
              <a:buNone/>
            </a:pPr>
            <a:r>
              <a:rPr lang="en-US" altLang="zh-CN" sz="1800" b="1" dirty="0">
                <a:latin typeface="Arial" panose="020B0604020202020204" pitchFamily="34" charset="0"/>
              </a:rPr>
              <a:t>} </a:t>
            </a:r>
            <a:endParaRPr lang="en-US" altLang="zh-CN" sz="1800" b="1" dirty="0">
              <a:latin typeface="Arial" panose="020B0604020202020204" pitchFamily="34" charset="0"/>
            </a:endParaRPr>
          </a:p>
        </p:txBody>
      </p:sp>
      <p:graphicFrame>
        <p:nvGraphicFramePr>
          <p:cNvPr id="74759" name="Object 7"/>
          <p:cNvGraphicFramePr>
            <a:graphicFrameLocks noChangeAspect="1"/>
          </p:cNvGraphicFramePr>
          <p:nvPr/>
        </p:nvGraphicFramePr>
        <p:xfrm>
          <a:off x="838200" y="1219200"/>
          <a:ext cx="3529013" cy="1482725"/>
        </p:xfrm>
        <a:graphic>
          <a:graphicData uri="http://schemas.openxmlformats.org/presentationml/2006/ole">
            <mc:AlternateContent xmlns:mc="http://schemas.openxmlformats.org/markup-compatibility/2006">
              <mc:Choice xmlns:v="urn:schemas-microsoft-com:vml" Requires="v">
                <p:oleObj spid="_x0000_s3087" name="" r:id="rId1" imgW="2298700" imgH="965200" progId="Equation.3">
                  <p:embed/>
                </p:oleObj>
              </mc:Choice>
              <mc:Fallback>
                <p:oleObj name="" r:id="rId1" imgW="2298700" imgH="965200" progId="Equation.3">
                  <p:embed/>
                  <p:pic>
                    <p:nvPicPr>
                      <p:cNvPr id="0" name="图片 3086"/>
                      <p:cNvPicPr/>
                      <p:nvPr/>
                    </p:nvPicPr>
                    <p:blipFill>
                      <a:blip r:embed="rId2"/>
                      <a:stretch>
                        <a:fillRect/>
                      </a:stretch>
                    </p:blipFill>
                    <p:spPr>
                      <a:xfrm>
                        <a:off x="838200" y="1219200"/>
                        <a:ext cx="3529013" cy="1482725"/>
                      </a:xfrm>
                      <a:prstGeom prst="rect">
                        <a:avLst/>
                      </a:prstGeom>
                      <a:noFill/>
                      <a:ln w="38100">
                        <a:noFill/>
                        <a:miter/>
                      </a:ln>
                    </p:spPr>
                  </p:pic>
                </p:oleObj>
              </mc:Fallback>
            </mc:AlternateContent>
          </a:graphicData>
        </a:graphic>
      </p:graphicFrame>
      <p:sp>
        <p:nvSpPr>
          <p:cNvPr id="74760" name="Rectangle 8"/>
          <p:cNvSpPr/>
          <p:nvPr/>
        </p:nvSpPr>
        <p:spPr>
          <a:xfrm>
            <a:off x="1371600" y="5943600"/>
            <a:ext cx="2819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None/>
            </a:pPr>
            <a:r>
              <a:rPr lang="en-US" altLang="zh-CN" sz="2000" b="1" i="1" dirty="0">
                <a:latin typeface="Times New Roman" panose="02020603050405020304" pitchFamily="18" charset="0"/>
              </a:rPr>
              <a:t>T</a:t>
            </a:r>
            <a:r>
              <a:rPr lang="en-US" altLang="zh-CN" sz="2000" b="1" dirty="0">
                <a:latin typeface="Times New Roman" panose="02020603050405020304" pitchFamily="18" charset="0"/>
              </a:rPr>
              <a:t>( </a:t>
            </a:r>
            <a:r>
              <a:rPr lang="en-US" altLang="zh-CN" sz="2000" b="1" i="1" dirty="0">
                <a:latin typeface="Times New Roman" panose="02020603050405020304" pitchFamily="18" charset="0"/>
              </a:rPr>
              <a:t>N</a:t>
            </a:r>
            <a:r>
              <a:rPr lang="en-US" altLang="zh-CN" sz="2000" b="1" dirty="0">
                <a:latin typeface="Times New Roman" panose="02020603050405020304" pitchFamily="18" charset="0"/>
              </a:rPr>
              <a:t> ) = O( log </a:t>
            </a:r>
            <a:r>
              <a:rPr lang="en-US" altLang="zh-CN" sz="2000" b="1" i="1" dirty="0">
                <a:latin typeface="Times New Roman" panose="02020603050405020304" pitchFamily="18" charset="0"/>
              </a:rPr>
              <a:t>N </a:t>
            </a:r>
            <a:r>
              <a:rPr lang="en-US" altLang="zh-CN" sz="2000" b="1" dirty="0">
                <a:latin typeface="Times New Roman" panose="02020603050405020304" pitchFamily="18" charset="0"/>
              </a:rPr>
              <a:t>)</a:t>
            </a:r>
            <a:endParaRPr lang="en-US" altLang="zh-CN" sz="2000" b="1" dirty="0">
              <a:latin typeface="Times New Roman" panose="02020603050405020304" pitchFamily="18" charset="0"/>
            </a:endParaRPr>
          </a:p>
        </p:txBody>
      </p:sp>
      <p:sp>
        <p:nvSpPr>
          <p:cNvPr id="74761" name="AutoShape 9"/>
          <p:cNvSpPr/>
          <p:nvPr/>
        </p:nvSpPr>
        <p:spPr>
          <a:xfrm>
            <a:off x="4038600" y="3505200"/>
            <a:ext cx="3429000" cy="609600"/>
          </a:xfrm>
          <a:prstGeom prst="wedgeEllipseCallout">
            <a:avLst>
              <a:gd name="adj1" fmla="val -77222"/>
              <a:gd name="adj2" fmla="val 95051"/>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000" b="1" dirty="0">
                <a:latin typeface="Times New Roman" panose="02020603050405020304" pitchFamily="18" charset="0"/>
              </a:rPr>
              <a:t>Is it necessary ?</a:t>
            </a:r>
            <a:endParaRPr lang="en-US" altLang="zh-CN" sz="2000" b="1" i="1" dirty="0">
              <a:latin typeface="Times New Roman" panose="02020603050405020304" pitchFamily="18" charset="0"/>
            </a:endParaRPr>
          </a:p>
        </p:txBody>
      </p:sp>
      <p:sp>
        <p:nvSpPr>
          <p:cNvPr id="74762" name="Rectangle 10"/>
          <p:cNvSpPr/>
          <p:nvPr/>
        </p:nvSpPr>
        <p:spPr>
          <a:xfrm>
            <a:off x="914400" y="4191000"/>
            <a:ext cx="2590800" cy="533400"/>
          </a:xfrm>
          <a:prstGeom prst="rect">
            <a:avLst/>
          </a:prstGeom>
          <a:solidFill>
            <a:srgbClr val="FFFFFF"/>
          </a:solidFill>
          <a:ln w="9525">
            <a:noFill/>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74765" name="AutoShape 13"/>
          <p:cNvSpPr/>
          <p:nvPr/>
        </p:nvSpPr>
        <p:spPr>
          <a:xfrm>
            <a:off x="3657600" y="3722688"/>
            <a:ext cx="4648200" cy="936625"/>
          </a:xfrm>
          <a:prstGeom prst="wedgeEllipseCallout">
            <a:avLst>
              <a:gd name="adj1" fmla="val -36477"/>
              <a:gd name="adj2" fmla="val 87361"/>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1800" b="1" dirty="0">
                <a:solidFill>
                  <a:schemeClr val="hlink"/>
                </a:solidFill>
                <a:latin typeface="Arial" panose="020B0604020202020204" pitchFamily="34" charset="0"/>
              </a:rPr>
              <a:t>return</a:t>
            </a:r>
            <a:r>
              <a:rPr lang="en-US" altLang="zh-CN" sz="1800" b="1" dirty="0">
                <a:latin typeface="Arial" panose="020B0604020202020204" pitchFamily="34" charset="0"/>
              </a:rPr>
              <a:t> </a:t>
            </a:r>
            <a:endParaRPr lang="en-US" altLang="zh-CN" sz="1800" b="1" dirty="0">
              <a:latin typeface="Arial" panose="020B0604020202020204" pitchFamily="34" charset="0"/>
            </a:endParaRPr>
          </a:p>
          <a:p>
            <a:pPr marL="0" lvl="0" indent="0" algn="ctr" eaLnBrk="1" hangingPunct="1">
              <a:spcBef>
                <a:spcPct val="0"/>
              </a:spcBef>
              <a:buNone/>
            </a:pPr>
            <a:r>
              <a:rPr lang="en-US" altLang="zh-CN" sz="1800" b="1" dirty="0">
                <a:latin typeface="Arial" panose="020B0604020202020204" pitchFamily="34" charset="0"/>
              </a:rPr>
              <a:t>Pow(X, N / 2) * Pow(X, N / 2);</a:t>
            </a:r>
            <a:endParaRPr lang="en-US" altLang="zh-CN" sz="1800" b="1" dirty="0">
              <a:latin typeface="Arial" panose="020B0604020202020204" pitchFamily="34" charset="0"/>
            </a:endParaRPr>
          </a:p>
        </p:txBody>
      </p:sp>
      <p:pic>
        <p:nvPicPr>
          <p:cNvPr id="74766" name="Picture 14" descr="THUMBDN"/>
          <p:cNvPicPr>
            <a:picLocks noChangeAspect="1"/>
          </p:cNvPicPr>
          <p:nvPr/>
        </p:nvPicPr>
        <p:blipFill>
          <a:blip r:embed="rId3"/>
          <a:stretch>
            <a:fillRect/>
          </a:stretch>
        </p:blipFill>
        <p:spPr>
          <a:xfrm>
            <a:off x="6629400" y="3429000"/>
            <a:ext cx="1524000" cy="10223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wipe(up)">
                                      <p:cBhvr>
                                        <p:cTn id="7" dur="500"/>
                                        <p:tgtEl>
                                          <p:spTgt spid="74755"/>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4759"/>
                                        </p:tgtEl>
                                        <p:attrNameLst>
                                          <p:attrName>style.visibility</p:attrName>
                                        </p:attrNameLst>
                                      </p:cBhvr>
                                      <p:to>
                                        <p:strVal val="visible"/>
                                      </p:to>
                                    </p:set>
                                    <p:animEffect transition="in" filter="wipe(left)">
                                      <p:cBhvr>
                                        <p:cTn id="12" dur="500"/>
                                        <p:tgtEl>
                                          <p:spTgt spid="7475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74757"/>
                                        </p:tgtEl>
                                        <p:attrNameLst>
                                          <p:attrName>style.visibility</p:attrName>
                                        </p:attrNameLst>
                                      </p:cBhvr>
                                      <p:to>
                                        <p:strVal val="visible"/>
                                      </p:to>
                                    </p:set>
                                    <p:animEffect transition="in" filter="strips(downRight)">
                                      <p:cBhvr>
                                        <p:cTn id="17" dur="500"/>
                                        <p:tgtEl>
                                          <p:spTgt spid="747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4760"/>
                                        </p:tgtEl>
                                        <p:attrNameLst>
                                          <p:attrName>style.visibility</p:attrName>
                                        </p:attrNameLst>
                                      </p:cBhvr>
                                      <p:to>
                                        <p:strVal val="visible"/>
                                      </p:to>
                                    </p:set>
                                    <p:animEffect transition="in" filter="wipe(left)">
                                      <p:cBhvr>
                                        <p:cTn id="22" dur="500"/>
                                        <p:tgtEl>
                                          <p:spTgt spid="7476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74761"/>
                                        </p:tgtEl>
                                        <p:attrNameLst>
                                          <p:attrName>style.visibility</p:attrName>
                                        </p:attrNameLst>
                                      </p:cBhvr>
                                      <p:to>
                                        <p:strVal val="visible"/>
                                      </p:to>
                                    </p:set>
                                    <p:animEffect transition="in" filter="strips(upRight)">
                                      <p:cBhvr>
                                        <p:cTn id="27" dur="500"/>
                                        <p:tgtEl>
                                          <p:spTgt spid="74761"/>
                                        </p:tgtEl>
                                      </p:cBhvr>
                                    </p:animEffect>
                                  </p:childTnLst>
                                  <p:subTnLst>
                                    <p:set>
                                      <p:cBhvr override="childStyle">
                                        <p:cTn dur="1" fill="hold" display="0" masterRel="nextClick" afterEffect="1"/>
                                        <p:tgtEl>
                                          <p:spTgt spid="74761"/>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4762"/>
                                        </p:tgtEl>
                                        <p:attrNameLst>
                                          <p:attrName>style.visibility</p:attrName>
                                        </p:attrNameLst>
                                      </p:cBhvr>
                                      <p:to>
                                        <p:strVal val="visible"/>
                                      </p:to>
                                    </p:set>
                                    <p:animEffect transition="in" filter="dissolve">
                                      <p:cBhvr>
                                        <p:cTn id="32" dur="500"/>
                                        <p:tgtEl>
                                          <p:spTgt spid="74762"/>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74765"/>
                                        </p:tgtEl>
                                        <p:attrNameLst>
                                          <p:attrName>style.visibility</p:attrName>
                                        </p:attrNameLst>
                                      </p:cBhvr>
                                      <p:to>
                                        <p:strVal val="visible"/>
                                      </p:to>
                                    </p:set>
                                    <p:animEffect transition="in" filter="strips(upRight)">
                                      <p:cBhvr>
                                        <p:cTn id="37" dur="500"/>
                                        <p:tgtEl>
                                          <p:spTgt spid="7476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1" fill="hold" nodeType="clickEffect">
                                  <p:stCondLst>
                                    <p:cond delay="0"/>
                                  </p:stCondLst>
                                  <p:childTnLst>
                                    <p:set>
                                      <p:cBhvr>
                                        <p:cTn id="41" dur="1" fill="hold">
                                          <p:stCondLst>
                                            <p:cond delay="0"/>
                                          </p:stCondLst>
                                        </p:cTn>
                                        <p:tgtEl>
                                          <p:spTgt spid="74766"/>
                                        </p:tgtEl>
                                        <p:attrNameLst>
                                          <p:attrName>style.visibility</p:attrName>
                                        </p:attrNameLst>
                                      </p:cBhvr>
                                      <p:to>
                                        <p:strVal val="visible"/>
                                      </p:to>
                                    </p:set>
                                    <p:anim calcmode="lin" valueType="num">
                                      <p:cBhvr additive="base">
                                        <p:cTn id="42" dur="500" fill="hold"/>
                                        <p:tgtEl>
                                          <p:spTgt spid="74766"/>
                                        </p:tgtEl>
                                        <p:attrNameLst>
                                          <p:attrName>ppt_x</p:attrName>
                                        </p:attrNameLst>
                                      </p:cBhvr>
                                      <p:tavLst>
                                        <p:tav tm="0">
                                          <p:val>
                                            <p:strVal val="#ppt_x"/>
                                          </p:val>
                                        </p:tav>
                                        <p:tav tm="100000">
                                          <p:val>
                                            <p:strVal val="#ppt_x"/>
                                          </p:val>
                                        </p:tav>
                                      </p:tavLst>
                                    </p:anim>
                                    <p:anim calcmode="lin" valueType="num">
                                      <p:cBhvr additive="base">
                                        <p:cTn id="43" dur="500" fill="hold"/>
                                        <p:tgtEl>
                                          <p:spTgt spid="74766"/>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5"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P spid="74757" grpId="0" animBg="1"/>
      <p:bldP spid="74760" grpId="0"/>
      <p:bldP spid="74761" grpId="0" animBg="1"/>
      <p:bldP spid="74762" grpId="0" animBg="1"/>
      <p:bldP spid="74765" grpId="0" animBg="1"/>
    </p:bld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Correct"/>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Wrong"/>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 val="ProblemSetting"/>
  <p:tag name="RAINPROBLEMTYPE" val="MultipleChoice"/>
</p:tagLst>
</file>

<file path=ppt/tags/tag16.xml><?xml version="1.0" encoding="utf-8"?>
<p:tagLst xmlns:p="http://schemas.openxmlformats.org/presentationml/2006/main">
  <p:tag name="RAINPROBLEM" val="MultipleChoice"/>
  <p:tag name="PROBLEMSCORE" val="1.0"/>
</p:tagLst>
</file>

<file path=ppt/tags/tag17.xml><?xml version="1.0" encoding="utf-8"?>
<p:tagLst xmlns:p="http://schemas.openxmlformats.org/presentationml/2006/main">
  <p:tag name="RAINPROBLEM" val="ProblemBody"/>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Bullet"/>
  <p:tag name="RAINPROBLEMTYPE" val="MultipleChoice"/>
  <p:tag name="RAINBULLET" val="Wrong"/>
</p:tagLst>
</file>

<file path=ppt/tags/tag23.xml><?xml version="1.0" encoding="utf-8"?>
<p:tagLst xmlns:p="http://schemas.openxmlformats.org/presentationml/2006/main">
  <p:tag name="RAINPROBLEM" val="ProblemBullet"/>
  <p:tag name="RAINPROBLEMTYPE" val="MultipleChoice"/>
  <p:tag name="RAINBULLET" val="Wrong"/>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Bullet"/>
  <p:tag name="RAINPROBLEMTYPE" val="MultipleChoice"/>
  <p:tag name="RAINBULLET" val="Correct"/>
</p:tagLst>
</file>

<file path=ppt/tags/tag26.xml><?xml version="1.0" encoding="utf-8"?>
<p:tagLst xmlns:p="http://schemas.openxmlformats.org/presentationml/2006/main">
  <p:tag name="RAINPROBLEM" val="ProblemSubmit"/>
  <p:tag name="RAINPROBLEMTYPE" val="MultipleChoice"/>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 val="ProblemSetting"/>
  <p:tag name="RAINPROBLEMTYPE" val="MultipleChoice"/>
</p:tagLst>
</file>

<file path=ppt/tags/tag32.xml><?xml version="1.0" encoding="utf-8"?>
<p:tagLst xmlns:p="http://schemas.openxmlformats.org/presentationml/2006/main">
  <p:tag name="RAINPROBLEM" val="MultipleChoice"/>
  <p:tag name="PROBLEMSCORE" val="1.0"/>
</p:tagLst>
</file>

<file path=ppt/tags/tag33.xml><?xml version="1.0" encoding="utf-8"?>
<p:tagLst xmlns:p="http://schemas.openxmlformats.org/presentationml/2006/main">
  <p:tag name="RAINPROBLEM" val="ProblemBody"/>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Item"/>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Bullet"/>
  <p:tag name="RAINPROBLEMTYPE" val="MultipleChoice"/>
  <p:tag name="RAINBULLET" val="Wrong"/>
</p:tagLst>
</file>

<file path=ppt/tags/tag39.xml><?xml version="1.0" encoding="utf-8"?>
<p:tagLst xmlns:p="http://schemas.openxmlformats.org/presentationml/2006/main">
  <p:tag name="RAINPROBLEM" val="ProblemBullet"/>
  <p:tag name="RAINPROBLEMTYPE" val="MultipleChoice"/>
  <p:tag name="RAINBULLET" val="Wrong"/>
</p:tagLst>
</file>

<file path=ppt/tags/tag40.xml><?xml version="1.0" encoding="utf-8"?>
<p:tagLst xmlns:p="http://schemas.openxmlformats.org/presentationml/2006/main">
  <p:tag name="RAINPROBLEM" val="ProblemBullet"/>
  <p:tag name="RAINPROBLEMTYPE" val="MultipleChoice"/>
  <p:tag name="RAINBULLET" val="Correct"/>
</p:tagLst>
</file>

<file path=ppt/tags/tag41.xml><?xml version="1.0" encoding="utf-8"?>
<p:tagLst xmlns:p="http://schemas.openxmlformats.org/presentationml/2006/main">
  <p:tag name="RAINPROBLEM" val="ProblemBullet"/>
  <p:tag name="RAINPROBLEMTYPE" val="MultipleChoice"/>
  <p:tag name="RAINBULLET" val="Wrong"/>
</p:tagLst>
</file>

<file path=ppt/tags/tag42.xml><?xml version="1.0" encoding="utf-8"?>
<p:tagLst xmlns:p="http://schemas.openxmlformats.org/presentationml/2006/main">
  <p:tag name="RAINPROBLEM" val="ProblemSubmit"/>
  <p:tag name="RAINPROBLEMTYPE" val="MultipleChoice"/>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 val="ProblemSetting"/>
  <p:tag name="RAINPROBLEMTYPE" val="MultipleChoice"/>
</p:tagLst>
</file>

<file path=ppt/tags/tag48.xml><?xml version="1.0" encoding="utf-8"?>
<p:tagLst xmlns:p="http://schemas.openxmlformats.org/presentationml/2006/main">
  <p:tag name="RAINPROBLEM" val="MultipleChoice"/>
  <p:tag name="PROBLEMSCORE" val="1.0"/>
</p:tagLst>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12957</Words>
  <Application>WPS 演示</Application>
  <PresentationFormat>全屏显示(4:3)</PresentationFormat>
  <Paragraphs>831</Paragraphs>
  <Slides>48</Slides>
  <Notes>5</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13</vt:i4>
      </vt:variant>
      <vt:variant>
        <vt:lpstr>幻灯片标题</vt:lpstr>
      </vt:variant>
      <vt:variant>
        <vt:i4>48</vt:i4>
      </vt:variant>
    </vt:vector>
  </HeadingPairs>
  <TitlesOfParts>
    <vt:vector size="79" baseType="lpstr">
      <vt:lpstr>Arial</vt:lpstr>
      <vt:lpstr>宋体</vt:lpstr>
      <vt:lpstr>Wingdings</vt:lpstr>
      <vt:lpstr>Comic Sans MS</vt:lpstr>
      <vt:lpstr>Tahoma</vt:lpstr>
      <vt:lpstr>Helvetica</vt:lpstr>
      <vt:lpstr>Times New Roman</vt:lpstr>
      <vt:lpstr>PMingLiU</vt:lpstr>
      <vt:lpstr>MS Hei</vt:lpstr>
      <vt:lpstr>Symbol</vt:lpstr>
      <vt:lpstr>微软雅黑</vt:lpstr>
      <vt:lpstr>Arial Unicode MS</vt:lpstr>
      <vt:lpstr>Book Antiqua</vt:lpstr>
      <vt:lpstr>Monotype Sorts</vt:lpstr>
      <vt:lpstr>Wingdings</vt:lpstr>
      <vt:lpstr>MingLiU-ExtB</vt:lpstr>
      <vt:lpstr>Crayons</vt:lpstr>
      <vt:lpstr>1_Crayons</vt:lpstr>
      <vt:lpstr>MS_ClipArt_Gallery.2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Lecture 2 Algorithm Analysis</vt:lpstr>
      <vt:lpstr>Algorithm</vt:lpstr>
      <vt:lpstr>Algorithm Analysis</vt:lpstr>
      <vt:lpstr>PowerPoint 演示文稿</vt:lpstr>
      <vt:lpstr>Run Time Analysis</vt:lpstr>
      <vt:lpstr>What to Analyze</vt:lpstr>
      <vt:lpstr>Assumptions:</vt:lpstr>
      <vt:lpstr>PowerPoint 演示文稿</vt:lpstr>
      <vt:lpstr>PowerPoint 演示文稿</vt:lpstr>
      <vt:lpstr>PowerPoint 演示文稿</vt:lpstr>
      <vt:lpstr>PowerPoint 演示文稿</vt:lpstr>
      <vt:lpstr>PowerPoint 演示文稿</vt:lpstr>
      <vt:lpstr>Asymptotic Notation</vt:lpstr>
      <vt:lpstr> Examples</vt:lpstr>
      <vt:lpstr>Asymptotic Notation</vt:lpstr>
      <vt:lpstr>Example </vt:lpstr>
      <vt:lpstr>Big-O Notation  (Common Complexities)</vt:lpstr>
      <vt:lpstr>Useful Rules of big-O estimation</vt:lpstr>
      <vt:lpstr>Simplification Methods</vt:lpstr>
      <vt:lpstr>Common Formulas</vt:lpstr>
      <vt:lpstr>General rules of time complexity analysis</vt:lpstr>
      <vt:lpstr>PowerPoint 演示文稿</vt:lpstr>
      <vt:lpstr>PowerPoint 演示文稿</vt:lpstr>
      <vt:lpstr>PowerPoint 演示文稿</vt:lpstr>
      <vt:lpstr>PowerPoint 演示文稿</vt:lpstr>
      <vt:lpstr>PowerPoint 演示文稿</vt:lpstr>
      <vt:lpstr>PowerPoint 演示文稿</vt:lpstr>
      <vt:lpstr>Example: Factorial</vt:lpstr>
      <vt:lpstr>Example: Factorial (cont.)</vt:lpstr>
      <vt:lpstr>The Recursive Code of Binary Search</vt:lpstr>
      <vt:lpstr>Time Complexity of binarySearch</vt:lpstr>
      <vt:lpstr>Time Complexity of Sequential search</vt:lpstr>
      <vt:lpstr>PowerPoint 演示文稿</vt:lpstr>
      <vt:lpstr>PowerPoint 演示文稿</vt:lpstr>
      <vt:lpstr>PowerPoint 演示文稿</vt:lpstr>
      <vt:lpstr>PowerPoint 演示文稿</vt:lpstr>
      <vt:lpstr>PowerPoint 演示文稿</vt:lpstr>
      <vt:lpstr>Max Subsequence Problem</vt:lpstr>
      <vt:lpstr>Algorithm 1 Mathod of Exhaustion （穷举法）</vt:lpstr>
      <vt:lpstr>Algorithm 2</vt:lpstr>
      <vt:lpstr>Algorithm 3 Recursion</vt:lpstr>
      <vt:lpstr>Algorithm 3 (cont.)</vt:lpstr>
      <vt:lpstr>PowerPoint 演示文稿</vt:lpstr>
      <vt:lpstr>Algorithm 4</vt:lpstr>
      <vt:lpstr>Algorithm 4(cont.)</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 Analysis</dc:title>
  <dc:creator>127593@cnmicrosoft.net</dc:creator>
  <cp:lastModifiedBy>Yan</cp:lastModifiedBy>
  <cp:revision>60</cp:revision>
  <dcterms:created xsi:type="dcterms:W3CDTF">2019-09-09T05:48:00Z</dcterms:created>
  <dcterms:modified xsi:type="dcterms:W3CDTF">2025-09-15T01:42:56Z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2052-12.1.0.22529</vt:lpwstr>
  </property>
  <property fmtid="{D5CDD505-2E9C-101B-9397-08002B2CF9AE}" pid="4" name="ICV">
    <vt:lpwstr>5245E66734514EEBB0C80BDD9F40AFBF_13</vt:lpwstr>
  </property>
</Properties>
</file>