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80" r:id="rId8"/>
    <p:sldId id="282" r:id="rId9"/>
    <p:sldId id="261" r:id="rId10"/>
    <p:sldId id="262" r:id="rId11"/>
    <p:sldId id="263" r:id="rId12"/>
    <p:sldId id="264" r:id="rId13"/>
    <p:sldId id="266" r:id="rId15"/>
    <p:sldId id="267" r:id="rId16"/>
    <p:sldId id="272" r:id="rId17"/>
    <p:sldId id="287" r:id="rId18"/>
    <p:sldId id="276" r:id="rId19"/>
    <p:sldId id="273" r:id="rId20"/>
    <p:sldId id="274" r:id="rId21"/>
    <p:sldId id="275" r:id="rId22"/>
    <p:sldId id="268" r:id="rId23"/>
    <p:sldId id="269" r:id="rId24"/>
    <p:sldId id="270" r:id="rId25"/>
    <p:sldId id="284" r:id="rId26"/>
    <p:sldId id="285" r:id="rId27"/>
    <p:sldId id="286" r:id="rId2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1251"/>
  </p:normalViewPr>
  <p:slideViewPr>
    <p:cSldViewPr showGuides="1">
      <p:cViewPr varScale="1">
        <p:scale>
          <a:sx n="104" d="100"/>
          <a:sy n="104" d="100"/>
        </p:scale>
        <p:origin x="1824" y="108"/>
      </p:cViewPr>
      <p:guideLst>
        <p:guide orient="horz" pos="2160"/>
        <p:guide pos="29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B0B11B-78C4-433B-B7F7-A169182E8ED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Visit:</a:t>
            </a: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Queue:</a:t>
            </a: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Dequeue:</a:t>
            </a:r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/>
          <p:cNvSpPr>
            <a:spLocks noChangeArrowheads="1"/>
          </p:cNvSpPr>
          <p:nvPr/>
        </p:nvSpPr>
        <p:spPr bwMode="auto">
          <a:xfrm>
            <a:off x="20638" y="12700"/>
            <a:ext cx="8896350" cy="6780213"/>
          </a:xfrm>
          <a:custGeom>
            <a:avLst/>
            <a:gdLst>
              <a:gd name="T0" fmla="*/ 2822 w 3985"/>
              <a:gd name="T1" fmla="*/ 0 h 3619"/>
              <a:gd name="T2" fmla="*/ 0 w 3985"/>
              <a:gd name="T3" fmla="*/ 975 h 3619"/>
              <a:gd name="T4" fmla="*/ 2169 w 3985"/>
              <a:gd name="T5" fmla="*/ 3619 h 3619"/>
              <a:gd name="T6" fmla="*/ 3985 w 3985"/>
              <a:gd name="T7" fmla="*/ 1125 h 3619"/>
              <a:gd name="T8" fmla="*/ 2822 w 3985"/>
              <a:gd name="T9" fmla="*/ 0 h 3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1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10" name="Freeform 9"/>
            <p:cNvSpPr>
              <a:spLocks noChangeArrowheads="1"/>
            </p:cNvSpPr>
            <p:nvPr/>
          </p:nvSpPr>
          <p:spPr bwMode="auto">
            <a:xfrm>
              <a:off x="177" y="177"/>
              <a:ext cx="2250" cy="1017"/>
            </a:xfrm>
            <a:custGeom>
              <a:avLst/>
              <a:gdLst>
                <a:gd name="T0" fmla="*/ 794 w 794"/>
                <a:gd name="T1" fmla="*/ 395 h 414"/>
                <a:gd name="T2" fmla="*/ 710 w 794"/>
                <a:gd name="T3" fmla="*/ 318 h 414"/>
                <a:gd name="T4" fmla="*/ 556 w 794"/>
                <a:gd name="T5" fmla="*/ 210 h 414"/>
                <a:gd name="T6" fmla="*/ 71 w 794"/>
                <a:gd name="T7" fmla="*/ 0 h 414"/>
                <a:gd name="T8" fmla="*/ 23 w 794"/>
                <a:gd name="T9" fmla="*/ 20 h 414"/>
                <a:gd name="T10" fmla="*/ 0 w 794"/>
                <a:gd name="T11" fmla="*/ 83 h 414"/>
                <a:gd name="T12" fmla="*/ 28 w 794"/>
                <a:gd name="T13" fmla="*/ 155 h 414"/>
                <a:gd name="T14" fmla="*/ 570 w 794"/>
                <a:gd name="T15" fmla="*/ 409 h 414"/>
                <a:gd name="T16" fmla="*/ 689 w 794"/>
                <a:gd name="T17" fmla="*/ 393 h 414"/>
                <a:gd name="T18" fmla="*/ 785 w 794"/>
                <a:gd name="T19" fmla="*/ 414 h 414"/>
                <a:gd name="T20" fmla="*/ 794 w 794"/>
                <a:gd name="T21" fmla="*/ 39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Freeform 10"/>
            <p:cNvSpPr>
              <a:spLocks noChangeArrowheads="1"/>
            </p:cNvSpPr>
            <p:nvPr/>
          </p:nvSpPr>
          <p:spPr bwMode="auto">
            <a:xfrm>
              <a:off x="166" y="261"/>
              <a:ext cx="2244" cy="1007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Freeform 11"/>
            <p:cNvSpPr>
              <a:spLocks noChangeArrowheads="1"/>
            </p:cNvSpPr>
            <p:nvPr/>
          </p:nvSpPr>
          <p:spPr bwMode="auto">
            <a:xfrm>
              <a:off x="474" y="344"/>
              <a:ext cx="1488" cy="919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72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14" name="Freeform 13"/>
              <p:cNvSpPr>
                <a:spLocks noChangeArrowheads="1"/>
              </p:cNvSpPr>
              <p:nvPr/>
            </p:nvSpPr>
            <p:spPr bwMode="auto">
              <a:xfrm>
                <a:off x="2005" y="934"/>
                <a:ext cx="212" cy="214"/>
              </a:xfrm>
              <a:custGeom>
                <a:avLst/>
                <a:gdLst>
                  <a:gd name="T0" fmla="*/ 110 w 150"/>
                  <a:gd name="T1" fmla="*/ 0 h 173"/>
                  <a:gd name="T2" fmla="*/ 40 w 150"/>
                  <a:gd name="T3" fmla="*/ 66 h 173"/>
                  <a:gd name="T4" fmla="*/ 0 w 150"/>
                  <a:gd name="T5" fmla="*/ 173 h 173"/>
                  <a:gd name="T6" fmla="*/ 80 w 150"/>
                  <a:gd name="T7" fmla="*/ 160 h 173"/>
                  <a:gd name="T8" fmla="*/ 103 w 150"/>
                  <a:gd name="T9" fmla="*/ 84 h 173"/>
                  <a:gd name="T10" fmla="*/ 150 w 150"/>
                  <a:gd name="T11" fmla="*/ 27 h 173"/>
                  <a:gd name="T12" fmla="*/ 110 w 150"/>
                  <a:gd name="T13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Freeform 14"/>
              <p:cNvSpPr>
                <a:spLocks noChangeArrowheads="1"/>
              </p:cNvSpPr>
              <p:nvPr/>
            </p:nvSpPr>
            <p:spPr bwMode="auto">
              <a:xfrm>
                <a:off x="123" y="148"/>
                <a:ext cx="2386" cy="1081"/>
              </a:xfrm>
              <a:custGeom>
                <a:avLst/>
                <a:gdLst>
                  <a:gd name="T0" fmla="*/ 156 w 1684"/>
                  <a:gd name="T1" fmla="*/ 0 h 880"/>
                  <a:gd name="T2" fmla="*/ 63 w 1684"/>
                  <a:gd name="T3" fmla="*/ 52 h 880"/>
                  <a:gd name="T4" fmla="*/ 0 w 1684"/>
                  <a:gd name="T5" fmla="*/ 208 h 880"/>
                  <a:gd name="T6" fmla="*/ 67 w 1684"/>
                  <a:gd name="T7" fmla="*/ 358 h 880"/>
                  <a:gd name="T8" fmla="*/ 1182 w 1684"/>
                  <a:gd name="T9" fmla="*/ 867 h 880"/>
                  <a:gd name="T10" fmla="*/ 1422 w 1684"/>
                  <a:gd name="T11" fmla="*/ 835 h 880"/>
                  <a:gd name="T12" fmla="*/ 1616 w 1684"/>
                  <a:gd name="T13" fmla="*/ 880 h 880"/>
                  <a:gd name="T14" fmla="*/ 1684 w 1684"/>
                  <a:gd name="T15" fmla="*/ 808 h 880"/>
                  <a:gd name="T16" fmla="*/ 1502 w 1684"/>
                  <a:gd name="T17" fmla="*/ 664 h 880"/>
                  <a:gd name="T18" fmla="*/ 1428 w 1684"/>
                  <a:gd name="T19" fmla="*/ 512 h 880"/>
                  <a:gd name="T20" fmla="*/ 1369 w 1684"/>
                  <a:gd name="T21" fmla="*/ 527 h 880"/>
                  <a:gd name="T22" fmla="*/ 1439 w 1684"/>
                  <a:gd name="T23" fmla="*/ 664 h 880"/>
                  <a:gd name="T24" fmla="*/ 1578 w 1684"/>
                  <a:gd name="T25" fmla="*/ 810 h 880"/>
                  <a:gd name="T26" fmla="*/ 1413 w 1684"/>
                  <a:gd name="T27" fmla="*/ 787 h 880"/>
                  <a:gd name="T28" fmla="*/ 1219 w 1684"/>
                  <a:gd name="T29" fmla="*/ 814 h 880"/>
                  <a:gd name="T30" fmla="*/ 1255 w 1684"/>
                  <a:gd name="T31" fmla="*/ 650 h 880"/>
                  <a:gd name="T32" fmla="*/ 1338 w 1684"/>
                  <a:gd name="T33" fmla="*/ 538 h 880"/>
                  <a:gd name="T34" fmla="*/ 1241 w 1684"/>
                  <a:gd name="T35" fmla="*/ 552 h 880"/>
                  <a:gd name="T36" fmla="*/ 1165 w 1684"/>
                  <a:gd name="T37" fmla="*/ 658 h 880"/>
                  <a:gd name="T38" fmla="*/ 1139 w 1684"/>
                  <a:gd name="T39" fmla="*/ 791 h 880"/>
                  <a:gd name="T40" fmla="*/ 107 w 1684"/>
                  <a:gd name="T41" fmla="*/ 310 h 880"/>
                  <a:gd name="T42" fmla="*/ 80 w 1684"/>
                  <a:gd name="T43" fmla="*/ 215 h 880"/>
                  <a:gd name="T44" fmla="*/ 103 w 1684"/>
                  <a:gd name="T45" fmla="*/ 95 h 880"/>
                  <a:gd name="T46" fmla="*/ 217 w 1684"/>
                  <a:gd name="T47" fmla="*/ 0 h 880"/>
                  <a:gd name="T48" fmla="*/ 156 w 1684"/>
                  <a:gd name="T49" fmla="*/ 0 h 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Freeform 15"/>
              <p:cNvSpPr>
                <a:spLocks noChangeArrowheads="1"/>
              </p:cNvSpPr>
              <p:nvPr/>
            </p:nvSpPr>
            <p:spPr bwMode="auto">
              <a:xfrm>
                <a:off x="324" y="158"/>
                <a:ext cx="1686" cy="614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Freeform 16"/>
              <p:cNvSpPr>
                <a:spLocks noChangeArrowheads="1"/>
              </p:cNvSpPr>
              <p:nvPr/>
            </p:nvSpPr>
            <p:spPr bwMode="auto">
              <a:xfrm>
                <a:off x="409" y="251"/>
                <a:ext cx="227" cy="410"/>
              </a:xfrm>
              <a:custGeom>
                <a:avLst/>
                <a:gdLst>
                  <a:gd name="T0" fmla="*/ 116 w 160"/>
                  <a:gd name="T1" fmla="*/ 0 h 335"/>
                  <a:gd name="T2" fmla="*/ 19 w 160"/>
                  <a:gd name="T3" fmla="*/ 106 h 335"/>
                  <a:gd name="T4" fmla="*/ 0 w 160"/>
                  <a:gd name="T5" fmla="*/ 230 h 335"/>
                  <a:gd name="T6" fmla="*/ 33 w 160"/>
                  <a:gd name="T7" fmla="*/ 314 h 335"/>
                  <a:gd name="T8" fmla="*/ 94 w 160"/>
                  <a:gd name="T9" fmla="*/ 335 h 335"/>
                  <a:gd name="T10" fmla="*/ 76 w 160"/>
                  <a:gd name="T11" fmla="*/ 154 h 335"/>
                  <a:gd name="T12" fmla="*/ 160 w 160"/>
                  <a:gd name="T13" fmla="*/ 17 h 335"/>
                  <a:gd name="T14" fmla="*/ 116 w 160"/>
                  <a:gd name="T15" fmla="*/ 0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Freeform 17"/>
              <p:cNvSpPr>
                <a:spLocks noChangeArrowheads="1"/>
              </p:cNvSpPr>
              <p:nvPr/>
            </p:nvSpPr>
            <p:spPr bwMode="auto">
              <a:xfrm>
                <a:off x="846" y="536"/>
                <a:ext cx="691" cy="364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2052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20" name="Freeform 19"/>
            <p:cNvSpPr>
              <a:spLocks noChangeArrowheads="1"/>
            </p:cNvSpPr>
            <p:nvPr/>
          </p:nvSpPr>
          <p:spPr bwMode="auto">
            <a:xfrm rot="7320404">
              <a:off x="4903" y="2930"/>
              <a:ext cx="629" cy="293"/>
            </a:xfrm>
            <a:custGeom>
              <a:avLst/>
              <a:gdLst>
                <a:gd name="T0" fmla="*/ 794 w 794"/>
                <a:gd name="T1" fmla="*/ 395 h 414"/>
                <a:gd name="T2" fmla="*/ 710 w 794"/>
                <a:gd name="T3" fmla="*/ 318 h 414"/>
                <a:gd name="T4" fmla="*/ 556 w 794"/>
                <a:gd name="T5" fmla="*/ 210 h 414"/>
                <a:gd name="T6" fmla="*/ 71 w 794"/>
                <a:gd name="T7" fmla="*/ 0 h 414"/>
                <a:gd name="T8" fmla="*/ 23 w 794"/>
                <a:gd name="T9" fmla="*/ 20 h 414"/>
                <a:gd name="T10" fmla="*/ 0 w 794"/>
                <a:gd name="T11" fmla="*/ 83 h 414"/>
                <a:gd name="T12" fmla="*/ 28 w 794"/>
                <a:gd name="T13" fmla="*/ 155 h 414"/>
                <a:gd name="T14" fmla="*/ 570 w 794"/>
                <a:gd name="T15" fmla="*/ 409 h 414"/>
                <a:gd name="T16" fmla="*/ 689 w 794"/>
                <a:gd name="T17" fmla="*/ 393 h 414"/>
                <a:gd name="T18" fmla="*/ 785 w 794"/>
                <a:gd name="T19" fmla="*/ 414 h 414"/>
                <a:gd name="T20" fmla="*/ 794 w 794"/>
                <a:gd name="T21" fmla="*/ 39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Freeform 20"/>
            <p:cNvSpPr>
              <a:spLocks noChangeArrowheads="1"/>
            </p:cNvSpPr>
            <p:nvPr/>
          </p:nvSpPr>
          <p:spPr bwMode="auto">
            <a:xfrm rot="7320404">
              <a:off x="4888" y="2917"/>
              <a:ext cx="627" cy="290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Freeform 21"/>
            <p:cNvSpPr>
              <a:spLocks noChangeArrowheads="1"/>
            </p:cNvSpPr>
            <p:nvPr/>
          </p:nvSpPr>
          <p:spPr bwMode="auto">
            <a:xfrm rot="7320404">
              <a:off x="4994" y="2908"/>
              <a:ext cx="416" cy="265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3" name="Group 22"/>
            <p:cNvGrpSpPr/>
            <p:nvPr userDrawn="1"/>
          </p:nvGrpSpPr>
          <p:grpSpPr>
            <a:xfrm>
              <a:off x="4986" y="2752"/>
              <a:ext cx="468" cy="667"/>
              <a:chOff x="4986" y="2752"/>
              <a:chExt cx="468" cy="667"/>
            </a:xfrm>
          </p:grpSpPr>
          <p:sp>
            <p:nvSpPr>
              <p:cNvPr id="24" name="Freeform 23"/>
              <p:cNvSpPr>
                <a:spLocks noChangeArrowheads="1"/>
              </p:cNvSpPr>
              <p:nvPr/>
            </p:nvSpPr>
            <p:spPr bwMode="auto">
              <a:xfrm rot="7320404">
                <a:off x="4981" y="3184"/>
                <a:ext cx="59" cy="61"/>
              </a:xfrm>
              <a:custGeom>
                <a:avLst/>
                <a:gdLst>
                  <a:gd name="T0" fmla="*/ 110 w 150"/>
                  <a:gd name="T1" fmla="*/ 0 h 173"/>
                  <a:gd name="T2" fmla="*/ 40 w 150"/>
                  <a:gd name="T3" fmla="*/ 66 h 173"/>
                  <a:gd name="T4" fmla="*/ 0 w 150"/>
                  <a:gd name="T5" fmla="*/ 173 h 173"/>
                  <a:gd name="T6" fmla="*/ 80 w 150"/>
                  <a:gd name="T7" fmla="*/ 160 h 173"/>
                  <a:gd name="T8" fmla="*/ 103 w 150"/>
                  <a:gd name="T9" fmla="*/ 84 h 173"/>
                  <a:gd name="T10" fmla="*/ 150 w 150"/>
                  <a:gd name="T11" fmla="*/ 27 h 173"/>
                  <a:gd name="T12" fmla="*/ 110 w 150"/>
                  <a:gd name="T13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Freeform 24"/>
              <p:cNvSpPr>
                <a:spLocks noChangeArrowheads="1"/>
              </p:cNvSpPr>
              <p:nvPr/>
            </p:nvSpPr>
            <p:spPr bwMode="auto">
              <a:xfrm rot="7320404">
                <a:off x="4881" y="2924"/>
                <a:ext cx="667" cy="311"/>
              </a:xfrm>
              <a:custGeom>
                <a:avLst/>
                <a:gdLst>
                  <a:gd name="T0" fmla="*/ 156 w 1684"/>
                  <a:gd name="T1" fmla="*/ 0 h 880"/>
                  <a:gd name="T2" fmla="*/ 63 w 1684"/>
                  <a:gd name="T3" fmla="*/ 52 h 880"/>
                  <a:gd name="T4" fmla="*/ 0 w 1684"/>
                  <a:gd name="T5" fmla="*/ 208 h 880"/>
                  <a:gd name="T6" fmla="*/ 67 w 1684"/>
                  <a:gd name="T7" fmla="*/ 358 h 880"/>
                  <a:gd name="T8" fmla="*/ 1182 w 1684"/>
                  <a:gd name="T9" fmla="*/ 867 h 880"/>
                  <a:gd name="T10" fmla="*/ 1422 w 1684"/>
                  <a:gd name="T11" fmla="*/ 835 h 880"/>
                  <a:gd name="T12" fmla="*/ 1616 w 1684"/>
                  <a:gd name="T13" fmla="*/ 880 h 880"/>
                  <a:gd name="T14" fmla="*/ 1684 w 1684"/>
                  <a:gd name="T15" fmla="*/ 808 h 880"/>
                  <a:gd name="T16" fmla="*/ 1502 w 1684"/>
                  <a:gd name="T17" fmla="*/ 664 h 880"/>
                  <a:gd name="T18" fmla="*/ 1428 w 1684"/>
                  <a:gd name="T19" fmla="*/ 512 h 880"/>
                  <a:gd name="T20" fmla="*/ 1369 w 1684"/>
                  <a:gd name="T21" fmla="*/ 527 h 880"/>
                  <a:gd name="T22" fmla="*/ 1439 w 1684"/>
                  <a:gd name="T23" fmla="*/ 664 h 880"/>
                  <a:gd name="T24" fmla="*/ 1578 w 1684"/>
                  <a:gd name="T25" fmla="*/ 810 h 880"/>
                  <a:gd name="T26" fmla="*/ 1413 w 1684"/>
                  <a:gd name="T27" fmla="*/ 787 h 880"/>
                  <a:gd name="T28" fmla="*/ 1219 w 1684"/>
                  <a:gd name="T29" fmla="*/ 814 h 880"/>
                  <a:gd name="T30" fmla="*/ 1255 w 1684"/>
                  <a:gd name="T31" fmla="*/ 650 h 880"/>
                  <a:gd name="T32" fmla="*/ 1338 w 1684"/>
                  <a:gd name="T33" fmla="*/ 538 h 880"/>
                  <a:gd name="T34" fmla="*/ 1241 w 1684"/>
                  <a:gd name="T35" fmla="*/ 552 h 880"/>
                  <a:gd name="T36" fmla="*/ 1165 w 1684"/>
                  <a:gd name="T37" fmla="*/ 658 h 880"/>
                  <a:gd name="T38" fmla="*/ 1139 w 1684"/>
                  <a:gd name="T39" fmla="*/ 791 h 880"/>
                  <a:gd name="T40" fmla="*/ 107 w 1684"/>
                  <a:gd name="T41" fmla="*/ 310 h 880"/>
                  <a:gd name="T42" fmla="*/ 80 w 1684"/>
                  <a:gd name="T43" fmla="*/ 215 h 880"/>
                  <a:gd name="T44" fmla="*/ 103 w 1684"/>
                  <a:gd name="T45" fmla="*/ 95 h 880"/>
                  <a:gd name="T46" fmla="*/ 217 w 1684"/>
                  <a:gd name="T47" fmla="*/ 0 h 880"/>
                  <a:gd name="T48" fmla="*/ 156 w 1684"/>
                  <a:gd name="T49" fmla="*/ 0 h 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Freeform 25"/>
              <p:cNvSpPr>
                <a:spLocks noChangeArrowheads="1"/>
              </p:cNvSpPr>
              <p:nvPr/>
            </p:nvSpPr>
            <p:spPr bwMode="auto">
              <a:xfrm rot="7320404">
                <a:off x="5062" y="2997"/>
                <a:ext cx="472" cy="176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Freeform 26"/>
              <p:cNvSpPr>
                <a:spLocks noChangeArrowheads="1"/>
              </p:cNvSpPr>
              <p:nvPr/>
            </p:nvSpPr>
            <p:spPr bwMode="auto">
              <a:xfrm rot="7320404">
                <a:off x="5360" y="2867"/>
                <a:ext cx="63" cy="118"/>
              </a:xfrm>
              <a:custGeom>
                <a:avLst/>
                <a:gdLst>
                  <a:gd name="T0" fmla="*/ 116 w 160"/>
                  <a:gd name="T1" fmla="*/ 0 h 335"/>
                  <a:gd name="T2" fmla="*/ 19 w 160"/>
                  <a:gd name="T3" fmla="*/ 106 h 335"/>
                  <a:gd name="T4" fmla="*/ 0 w 160"/>
                  <a:gd name="T5" fmla="*/ 230 h 335"/>
                  <a:gd name="T6" fmla="*/ 33 w 160"/>
                  <a:gd name="T7" fmla="*/ 314 h 335"/>
                  <a:gd name="T8" fmla="*/ 94 w 160"/>
                  <a:gd name="T9" fmla="*/ 335 h 335"/>
                  <a:gd name="T10" fmla="*/ 76 w 160"/>
                  <a:gd name="T11" fmla="*/ 154 h 335"/>
                  <a:gd name="T12" fmla="*/ 160 w 160"/>
                  <a:gd name="T13" fmla="*/ 17 h 335"/>
                  <a:gd name="T14" fmla="*/ 116 w 160"/>
                  <a:gd name="T15" fmla="*/ 0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Freeform 27"/>
              <p:cNvSpPr>
                <a:spLocks noChangeArrowheads="1"/>
              </p:cNvSpPr>
              <p:nvPr/>
            </p:nvSpPr>
            <p:spPr bwMode="auto">
              <a:xfrm rot="7320404">
                <a:off x="5132" y="2994"/>
                <a:ext cx="193" cy="104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9" name="Freeform 28"/>
          <p:cNvSpPr>
            <a:spLocks noChangeArrowheads="1"/>
          </p:cNvSpPr>
          <p:nvPr/>
        </p:nvSpPr>
        <p:spPr bwMode="auto">
          <a:xfrm>
            <a:off x="901700" y="5054600"/>
            <a:ext cx="6807200" cy="728663"/>
          </a:xfrm>
          <a:custGeom>
            <a:avLst/>
            <a:gdLst>
              <a:gd name="T0" fmla="*/ 0 w 4288"/>
              <a:gd name="T1" fmla="*/ 0 h 459"/>
              <a:gd name="T2" fmla="*/ 816 w 4288"/>
              <a:gd name="T3" fmla="*/ 256 h 459"/>
              <a:gd name="T4" fmla="*/ 1560 w 4288"/>
              <a:gd name="T5" fmla="*/ 144 h 459"/>
              <a:gd name="T6" fmla="*/ 1856 w 4288"/>
              <a:gd name="T7" fmla="*/ 376 h 459"/>
              <a:gd name="T8" fmla="*/ 2344 w 4288"/>
              <a:gd name="T9" fmla="*/ 152 h 459"/>
              <a:gd name="T10" fmla="*/ 3536 w 4288"/>
              <a:gd name="T11" fmla="*/ 456 h 459"/>
              <a:gd name="T12" fmla="*/ 4288 w 4288"/>
              <a:gd name="T13" fmla="*/ 136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>
            <a:solidFill>
              <a:schemeClr val="folHlink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Freeform 29"/>
          <p:cNvSpPr>
            <a:spLocks noChangeArrowheads="1"/>
          </p:cNvSpPr>
          <p:nvPr/>
        </p:nvSpPr>
        <p:spPr bwMode="auto">
          <a:xfrm>
            <a:off x="4076700" y="1930400"/>
            <a:ext cx="889000" cy="381000"/>
          </a:xfrm>
          <a:custGeom>
            <a:avLst/>
            <a:gdLst>
              <a:gd name="T0" fmla="*/ 0 w 560"/>
              <a:gd name="T1" fmla="*/ 32 h 240"/>
              <a:gd name="T2" fmla="*/ 280 w 560"/>
              <a:gd name="T3" fmla="*/ 144 h 240"/>
              <a:gd name="T4" fmla="*/ 448 w 560"/>
              <a:gd name="T5" fmla="*/ 16 h 240"/>
              <a:gd name="T6" fmla="*/ 560 w 560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>
            <a:solidFill>
              <a:schemeClr val="tx2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3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Freeform 2"/>
          <p:cNvSpPr>
            <a:spLocks noChangeArrowheads="1"/>
          </p:cNvSpPr>
          <p:nvPr/>
        </p:nvSpPr>
        <p:spPr bwMode="auto">
          <a:xfrm rot="-3172564">
            <a:off x="7777163" y="-14287"/>
            <a:ext cx="1162050" cy="2082800"/>
          </a:xfrm>
          <a:custGeom>
            <a:avLst/>
            <a:gdLst>
              <a:gd name="T0" fmla="*/ 2903 w 2903"/>
              <a:gd name="T1" fmla="*/ 433 h 3686"/>
              <a:gd name="T2" fmla="*/ 2565 w 2903"/>
              <a:gd name="T3" fmla="*/ 80 h 3686"/>
              <a:gd name="T4" fmla="*/ 2241 w 2903"/>
              <a:gd name="T5" fmla="*/ 0 h 3686"/>
              <a:gd name="T6" fmla="*/ 110 w 2903"/>
              <a:gd name="T7" fmla="*/ 2811 h 3686"/>
              <a:gd name="T8" fmla="*/ 110 w 2903"/>
              <a:gd name="T9" fmla="*/ 3228 h 3686"/>
              <a:gd name="T10" fmla="*/ 0 w 2903"/>
              <a:gd name="T11" fmla="*/ 3631 h 3686"/>
              <a:gd name="T12" fmla="*/ 72 w 2903"/>
              <a:gd name="T13" fmla="*/ 3686 h 3686"/>
              <a:gd name="T14" fmla="*/ 441 w 2903"/>
              <a:gd name="T15" fmla="*/ 3355 h 3686"/>
              <a:gd name="T16" fmla="*/ 740 w 2903"/>
              <a:gd name="T17" fmla="*/ 3228 h 3686"/>
              <a:gd name="T18" fmla="*/ 2903 w 2903"/>
              <a:gd name="T19" fmla="*/ 433 h 36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32" name="Freeform 8"/>
          <p:cNvSpPr>
            <a:spLocks noChangeArrowheads="1"/>
          </p:cNvSpPr>
          <p:nvPr/>
        </p:nvSpPr>
        <p:spPr bwMode="auto">
          <a:xfrm rot="-3172564">
            <a:off x="7862888" y="20638"/>
            <a:ext cx="1165225" cy="2098675"/>
          </a:xfrm>
          <a:custGeom>
            <a:avLst/>
            <a:gdLst>
              <a:gd name="T0" fmla="*/ 2293 w 2911"/>
              <a:gd name="T1" fmla="*/ 0 h 3703"/>
              <a:gd name="T2" fmla="*/ 130 w 2911"/>
              <a:gd name="T3" fmla="*/ 2835 h 3703"/>
              <a:gd name="T4" fmla="*/ 131 w 2911"/>
              <a:gd name="T5" fmla="*/ 3201 h 3703"/>
              <a:gd name="T6" fmla="*/ 0 w 2911"/>
              <a:gd name="T7" fmla="*/ 3633 h 3703"/>
              <a:gd name="T8" fmla="*/ 50 w 2911"/>
              <a:gd name="T9" fmla="*/ 3703 h 3703"/>
              <a:gd name="T10" fmla="*/ 422 w 2911"/>
              <a:gd name="T11" fmla="*/ 3352 h 3703"/>
              <a:gd name="T12" fmla="*/ 763 w 2911"/>
              <a:gd name="T13" fmla="*/ 3220 h 3703"/>
              <a:gd name="T14" fmla="*/ 2911 w 2911"/>
              <a:gd name="T15" fmla="*/ 428 h 3703"/>
              <a:gd name="T16" fmla="*/ 2589 w 2911"/>
              <a:gd name="T17" fmla="*/ 96 h 3703"/>
              <a:gd name="T18" fmla="*/ 2293 w 2911"/>
              <a:gd name="T19" fmla="*/ 0 h 3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Freeform 9"/>
          <p:cNvSpPr>
            <a:spLocks noChangeArrowheads="1"/>
          </p:cNvSpPr>
          <p:nvPr/>
        </p:nvSpPr>
        <p:spPr bwMode="auto">
          <a:xfrm rot="-3172564">
            <a:off x="7831138" y="192088"/>
            <a:ext cx="1025525" cy="1571625"/>
          </a:xfrm>
          <a:custGeom>
            <a:avLst/>
            <a:gdLst>
              <a:gd name="T0" fmla="*/ 0 w 2561"/>
              <a:gd name="T1" fmla="*/ 2485 h 2777"/>
              <a:gd name="T2" fmla="*/ 432 w 2561"/>
              <a:gd name="T3" fmla="*/ 2553 h 2777"/>
              <a:gd name="T4" fmla="*/ 736 w 2561"/>
              <a:gd name="T5" fmla="*/ 2777 h 2777"/>
              <a:gd name="T6" fmla="*/ 2561 w 2561"/>
              <a:gd name="T7" fmla="*/ 399 h 2777"/>
              <a:gd name="T8" fmla="*/ 2118 w 2561"/>
              <a:gd name="T9" fmla="*/ 82 h 2777"/>
              <a:gd name="T10" fmla="*/ 1898 w 2561"/>
              <a:gd name="T11" fmla="*/ 0 h 2777"/>
              <a:gd name="T12" fmla="*/ 0 w 2561"/>
              <a:gd name="T13" fmla="*/ 2485 h 27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4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2" name="Freeform 11"/>
            <p:cNvSpPr>
              <a:spLocks noChangeArrowheads="1"/>
            </p:cNvSpPr>
            <p:nvPr/>
          </p:nvSpPr>
          <p:spPr bwMode="auto">
            <a:xfrm>
              <a:off x="24" y="3505"/>
              <a:ext cx="1089" cy="649"/>
            </a:xfrm>
            <a:custGeom>
              <a:avLst/>
              <a:gdLst>
                <a:gd name="T0" fmla="*/ 1587 w 2177"/>
                <a:gd name="T1" fmla="*/ 1260 h 1298"/>
                <a:gd name="T2" fmla="*/ 1420 w 2177"/>
                <a:gd name="T3" fmla="*/ 1106 h 1298"/>
                <a:gd name="T4" fmla="*/ 1331 w 2177"/>
                <a:gd name="T5" fmla="*/ 477 h 1298"/>
                <a:gd name="T6" fmla="*/ 2139 w 2177"/>
                <a:gd name="T7" fmla="*/ 330 h 1298"/>
                <a:gd name="T8" fmla="*/ 2177 w 2177"/>
                <a:gd name="T9" fmla="*/ 203 h 1298"/>
                <a:gd name="T10" fmla="*/ 2099 w 2177"/>
                <a:gd name="T11" fmla="*/ 100 h 1298"/>
                <a:gd name="T12" fmla="*/ 1276 w 2177"/>
                <a:gd name="T13" fmla="*/ 211 h 1298"/>
                <a:gd name="T14" fmla="*/ 1219 w 2177"/>
                <a:gd name="T15" fmla="*/ 32 h 1298"/>
                <a:gd name="T16" fmla="*/ 1085 w 2177"/>
                <a:gd name="T17" fmla="*/ 0 h 1298"/>
                <a:gd name="T18" fmla="*/ 958 w 2177"/>
                <a:gd name="T19" fmla="*/ 28 h 1298"/>
                <a:gd name="T20" fmla="*/ 888 w 2177"/>
                <a:gd name="T21" fmla="*/ 106 h 1298"/>
                <a:gd name="T22" fmla="*/ 937 w 2177"/>
                <a:gd name="T23" fmla="*/ 285 h 1298"/>
                <a:gd name="T24" fmla="*/ 660 w 2177"/>
                <a:gd name="T25" fmla="*/ 441 h 1298"/>
                <a:gd name="T26" fmla="*/ 983 w 2177"/>
                <a:gd name="T27" fmla="*/ 473 h 1298"/>
                <a:gd name="T28" fmla="*/ 1112 w 2177"/>
                <a:gd name="T29" fmla="*/ 889 h 1298"/>
                <a:gd name="T30" fmla="*/ 141 w 2177"/>
                <a:gd name="T31" fmla="*/ 469 h 1298"/>
                <a:gd name="T32" fmla="*/ 46 w 2177"/>
                <a:gd name="T33" fmla="*/ 509 h 1298"/>
                <a:gd name="T34" fmla="*/ 0 w 2177"/>
                <a:gd name="T35" fmla="*/ 636 h 1298"/>
                <a:gd name="T36" fmla="*/ 55 w 2177"/>
                <a:gd name="T37" fmla="*/ 779 h 1298"/>
                <a:gd name="T38" fmla="*/ 1139 w 2177"/>
                <a:gd name="T39" fmla="*/ 1288 h 1298"/>
                <a:gd name="T40" fmla="*/ 1378 w 2177"/>
                <a:gd name="T41" fmla="*/ 1256 h 1298"/>
                <a:gd name="T42" fmla="*/ 1570 w 2177"/>
                <a:gd name="T43" fmla="*/ 1298 h 1298"/>
                <a:gd name="T44" fmla="*/ 1587 w 2177"/>
                <a:gd name="T45" fmla="*/ 1260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Freeform 12"/>
            <p:cNvSpPr>
              <a:spLocks noChangeArrowheads="1"/>
            </p:cNvSpPr>
            <p:nvPr/>
          </p:nvSpPr>
          <p:spPr bwMode="auto">
            <a:xfrm>
              <a:off x="1022" y="3582"/>
              <a:ext cx="71" cy="129"/>
            </a:xfrm>
            <a:custGeom>
              <a:avLst/>
              <a:gdLst>
                <a:gd name="T0" fmla="*/ 0 w 143"/>
                <a:gd name="T1" fmla="*/ 7 h 258"/>
                <a:gd name="T2" fmla="*/ 120 w 143"/>
                <a:gd name="T3" fmla="*/ 0 h 258"/>
                <a:gd name="T4" fmla="*/ 143 w 143"/>
                <a:gd name="T5" fmla="*/ 233 h 258"/>
                <a:gd name="T6" fmla="*/ 8 w 143"/>
                <a:gd name="T7" fmla="*/ 258 h 258"/>
                <a:gd name="T8" fmla="*/ 0 w 143"/>
                <a:gd name="T9" fmla="*/ 7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Freeform 13"/>
            <p:cNvSpPr>
              <a:spLocks noChangeArrowheads="1"/>
            </p:cNvSpPr>
            <p:nvPr/>
          </p:nvSpPr>
          <p:spPr bwMode="auto">
            <a:xfrm>
              <a:off x="20" y="3774"/>
              <a:ext cx="792" cy="410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Freeform 14"/>
            <p:cNvSpPr>
              <a:spLocks noChangeArrowheads="1"/>
            </p:cNvSpPr>
            <p:nvPr/>
          </p:nvSpPr>
          <p:spPr bwMode="auto">
            <a:xfrm>
              <a:off x="129" y="3808"/>
              <a:ext cx="525" cy="374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15"/>
            <p:cNvSpPr>
              <a:spLocks noChangeArrowheads="1"/>
            </p:cNvSpPr>
            <p:nvPr/>
          </p:nvSpPr>
          <p:spPr bwMode="auto">
            <a:xfrm>
              <a:off x="485" y="3532"/>
              <a:ext cx="135" cy="121"/>
            </a:xfrm>
            <a:custGeom>
              <a:avLst/>
              <a:gdLst>
                <a:gd name="T0" fmla="*/ 0 w 272"/>
                <a:gd name="T1" fmla="*/ 28 h 241"/>
                <a:gd name="T2" fmla="*/ 160 w 272"/>
                <a:gd name="T3" fmla="*/ 0 h 241"/>
                <a:gd name="T4" fmla="*/ 251 w 272"/>
                <a:gd name="T5" fmla="*/ 36 h 241"/>
                <a:gd name="T6" fmla="*/ 272 w 272"/>
                <a:gd name="T7" fmla="*/ 139 h 241"/>
                <a:gd name="T8" fmla="*/ 164 w 272"/>
                <a:gd name="T9" fmla="*/ 146 h 241"/>
                <a:gd name="T10" fmla="*/ 32 w 272"/>
                <a:gd name="T11" fmla="*/ 241 h 241"/>
                <a:gd name="T12" fmla="*/ 0 w 272"/>
                <a:gd name="T13" fmla="*/ 28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Freeform 16"/>
            <p:cNvSpPr>
              <a:spLocks noChangeArrowheads="1"/>
            </p:cNvSpPr>
            <p:nvPr/>
          </p:nvSpPr>
          <p:spPr bwMode="auto">
            <a:xfrm>
              <a:off x="641" y="4163"/>
              <a:ext cx="76" cy="112"/>
            </a:xfrm>
            <a:custGeom>
              <a:avLst/>
              <a:gdLst>
                <a:gd name="T0" fmla="*/ 152 w 152"/>
                <a:gd name="T1" fmla="*/ 4 h 224"/>
                <a:gd name="T2" fmla="*/ 152 w 152"/>
                <a:gd name="T3" fmla="*/ 224 h 224"/>
                <a:gd name="T4" fmla="*/ 0 w 152"/>
                <a:gd name="T5" fmla="*/ 8 h 224"/>
                <a:gd name="T6" fmla="*/ 72 w 152"/>
                <a:gd name="T7" fmla="*/ 0 h 224"/>
                <a:gd name="T8" fmla="*/ 152 w 152"/>
                <a:gd name="T9" fmla="*/ 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1" name="Freeform 17"/>
            <p:cNvSpPr>
              <a:spLocks noChangeArrowheads="1"/>
            </p:cNvSpPr>
            <p:nvPr/>
          </p:nvSpPr>
          <p:spPr bwMode="auto">
            <a:xfrm>
              <a:off x="504" y="3607"/>
              <a:ext cx="193" cy="383"/>
            </a:xfrm>
            <a:custGeom>
              <a:avLst/>
              <a:gdLst>
                <a:gd name="T0" fmla="*/ 0 w 386"/>
                <a:gd name="T1" fmla="*/ 80 h 764"/>
                <a:gd name="T2" fmla="*/ 87 w 386"/>
                <a:gd name="T3" fmla="*/ 0 h 764"/>
                <a:gd name="T4" fmla="*/ 232 w 386"/>
                <a:gd name="T5" fmla="*/ 6 h 764"/>
                <a:gd name="T6" fmla="*/ 386 w 386"/>
                <a:gd name="T7" fmla="*/ 764 h 764"/>
                <a:gd name="T8" fmla="*/ 279 w 386"/>
                <a:gd name="T9" fmla="*/ 720 h 764"/>
                <a:gd name="T10" fmla="*/ 152 w 386"/>
                <a:gd name="T11" fmla="*/ 677 h 764"/>
                <a:gd name="T12" fmla="*/ 0 w 386"/>
                <a:gd name="T13" fmla="*/ 80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18"/>
            <p:cNvSpPr>
              <a:spLocks noChangeArrowheads="1"/>
            </p:cNvSpPr>
            <p:nvPr/>
          </p:nvSpPr>
          <p:spPr bwMode="auto">
            <a:xfrm>
              <a:off x="668" y="3590"/>
              <a:ext cx="364" cy="174"/>
            </a:xfrm>
            <a:custGeom>
              <a:avLst/>
              <a:gdLst>
                <a:gd name="T0" fmla="*/ 692 w 728"/>
                <a:gd name="T1" fmla="*/ 0 h 348"/>
                <a:gd name="T2" fmla="*/ 0 w 728"/>
                <a:gd name="T3" fmla="*/ 106 h 348"/>
                <a:gd name="T4" fmla="*/ 28 w 728"/>
                <a:gd name="T5" fmla="*/ 348 h 348"/>
                <a:gd name="T6" fmla="*/ 715 w 728"/>
                <a:gd name="T7" fmla="*/ 237 h 348"/>
                <a:gd name="T8" fmla="*/ 728 w 728"/>
                <a:gd name="T9" fmla="*/ 43 h 348"/>
                <a:gd name="T10" fmla="*/ 692 w 728"/>
                <a:gd name="T11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3" name="Freeform 19"/>
            <p:cNvSpPr>
              <a:spLocks noChangeArrowheads="1"/>
            </p:cNvSpPr>
            <p:nvPr/>
          </p:nvSpPr>
          <p:spPr bwMode="auto">
            <a:xfrm>
              <a:off x="347" y="3693"/>
              <a:ext cx="156" cy="67"/>
            </a:xfrm>
            <a:custGeom>
              <a:avLst/>
              <a:gdLst>
                <a:gd name="T0" fmla="*/ 272 w 312"/>
                <a:gd name="T1" fmla="*/ 0 h 135"/>
                <a:gd name="T2" fmla="*/ 0 w 312"/>
                <a:gd name="T3" fmla="*/ 78 h 135"/>
                <a:gd name="T4" fmla="*/ 312 w 312"/>
                <a:gd name="T5" fmla="*/ 135 h 135"/>
                <a:gd name="T6" fmla="*/ 272 w 312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60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1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46" name="Freeform 22"/>
                <p:cNvSpPr>
                  <a:spLocks noChangeArrowheads="1"/>
                </p:cNvSpPr>
                <p:nvPr/>
              </p:nvSpPr>
              <p:spPr bwMode="auto">
                <a:xfrm>
                  <a:off x="499" y="3587"/>
                  <a:ext cx="157" cy="87"/>
                </a:xfrm>
                <a:custGeom>
                  <a:avLst/>
                  <a:gdLst>
                    <a:gd name="T0" fmla="*/ 0 w 313"/>
                    <a:gd name="T1" fmla="*/ 107 h 175"/>
                    <a:gd name="T2" fmla="*/ 114 w 313"/>
                    <a:gd name="T3" fmla="*/ 10 h 175"/>
                    <a:gd name="T4" fmla="*/ 213 w 313"/>
                    <a:gd name="T5" fmla="*/ 0 h 175"/>
                    <a:gd name="T6" fmla="*/ 292 w 313"/>
                    <a:gd name="T7" fmla="*/ 27 h 175"/>
                    <a:gd name="T8" fmla="*/ 313 w 313"/>
                    <a:gd name="T9" fmla="*/ 91 h 175"/>
                    <a:gd name="T10" fmla="*/ 167 w 313"/>
                    <a:gd name="T11" fmla="*/ 67 h 175"/>
                    <a:gd name="T12" fmla="*/ 74 w 313"/>
                    <a:gd name="T13" fmla="*/ 101 h 175"/>
                    <a:gd name="T14" fmla="*/ 13 w 313"/>
                    <a:gd name="T15" fmla="*/ 175 h 175"/>
                    <a:gd name="T16" fmla="*/ 0 w 313"/>
                    <a:gd name="T17" fmla="*/ 107 h 1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7" name="Freeform 23"/>
                <p:cNvSpPr>
                  <a:spLocks noChangeArrowheads="1"/>
                </p:cNvSpPr>
                <p:nvPr/>
              </p:nvSpPr>
              <p:spPr bwMode="auto">
                <a:xfrm>
                  <a:off x="636" y="4137"/>
                  <a:ext cx="115" cy="133"/>
                </a:xfrm>
                <a:custGeom>
                  <a:avLst/>
                  <a:gdLst>
                    <a:gd name="T0" fmla="*/ 0 w 230"/>
                    <a:gd name="T1" fmla="*/ 40 h 266"/>
                    <a:gd name="T2" fmla="*/ 160 w 230"/>
                    <a:gd name="T3" fmla="*/ 266 h 266"/>
                    <a:gd name="T4" fmla="*/ 230 w 230"/>
                    <a:gd name="T5" fmla="*/ 251 h 266"/>
                    <a:gd name="T6" fmla="*/ 223 w 230"/>
                    <a:gd name="T7" fmla="*/ 17 h 266"/>
                    <a:gd name="T8" fmla="*/ 166 w 230"/>
                    <a:gd name="T9" fmla="*/ 0 h 266"/>
                    <a:gd name="T10" fmla="*/ 179 w 230"/>
                    <a:gd name="T11" fmla="*/ 197 h 266"/>
                    <a:gd name="T12" fmla="*/ 71 w 230"/>
                    <a:gd name="T13" fmla="*/ 4 h 266"/>
                    <a:gd name="T14" fmla="*/ 0 w 230"/>
                    <a:gd name="T15" fmla="*/ 40 h 2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8" name="Freeform 24"/>
                <p:cNvSpPr>
                  <a:spLocks noChangeArrowheads="1"/>
                </p:cNvSpPr>
                <p:nvPr/>
              </p:nvSpPr>
              <p:spPr bwMode="auto">
                <a:xfrm>
                  <a:off x="1004" y="3562"/>
                  <a:ext cx="43" cy="117"/>
                </a:xfrm>
                <a:custGeom>
                  <a:avLst/>
                  <a:gdLst>
                    <a:gd name="T0" fmla="*/ 0 w 87"/>
                    <a:gd name="T1" fmla="*/ 19 h 234"/>
                    <a:gd name="T2" fmla="*/ 36 w 87"/>
                    <a:gd name="T3" fmla="*/ 93 h 234"/>
                    <a:gd name="T4" fmla="*/ 44 w 87"/>
                    <a:gd name="T5" fmla="*/ 154 h 234"/>
                    <a:gd name="T6" fmla="*/ 27 w 87"/>
                    <a:gd name="T7" fmla="*/ 234 h 234"/>
                    <a:gd name="T8" fmla="*/ 80 w 87"/>
                    <a:gd name="T9" fmla="*/ 220 h 234"/>
                    <a:gd name="T10" fmla="*/ 87 w 87"/>
                    <a:gd name="T11" fmla="*/ 116 h 234"/>
                    <a:gd name="T12" fmla="*/ 46 w 87"/>
                    <a:gd name="T13" fmla="*/ 0 h 234"/>
                    <a:gd name="T14" fmla="*/ 0 w 87"/>
                    <a:gd name="T15" fmla="*/ 19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049" name="Freeform 25"/>
              <p:cNvSpPr>
                <a:spLocks noChangeArrowheads="1"/>
              </p:cNvSpPr>
              <p:nvPr/>
            </p:nvSpPr>
            <p:spPr bwMode="auto">
              <a:xfrm>
                <a:off x="76" y="3732"/>
                <a:ext cx="595" cy="250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Freeform 26"/>
              <p:cNvSpPr>
                <a:spLocks noChangeArrowheads="1"/>
              </p:cNvSpPr>
              <p:nvPr/>
            </p:nvSpPr>
            <p:spPr bwMode="auto">
              <a:xfrm>
                <a:off x="260" y="3886"/>
                <a:ext cx="244" cy="148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Freeform 27"/>
              <p:cNvSpPr>
                <a:spLocks noChangeArrowheads="1"/>
              </p:cNvSpPr>
              <p:nvPr/>
            </p:nvSpPr>
            <p:spPr bwMode="auto">
              <a:xfrm>
                <a:off x="565" y="3680"/>
                <a:ext cx="107" cy="238"/>
              </a:xfrm>
              <a:custGeom>
                <a:avLst/>
                <a:gdLst>
                  <a:gd name="T0" fmla="*/ 24 w 213"/>
                  <a:gd name="T1" fmla="*/ 0 h 478"/>
                  <a:gd name="T2" fmla="*/ 91 w 213"/>
                  <a:gd name="T3" fmla="*/ 25 h 478"/>
                  <a:gd name="T4" fmla="*/ 80 w 213"/>
                  <a:gd name="T5" fmla="*/ 192 h 478"/>
                  <a:gd name="T6" fmla="*/ 106 w 213"/>
                  <a:gd name="T7" fmla="*/ 327 h 478"/>
                  <a:gd name="T8" fmla="*/ 213 w 213"/>
                  <a:gd name="T9" fmla="*/ 451 h 478"/>
                  <a:gd name="T10" fmla="*/ 97 w 213"/>
                  <a:gd name="T11" fmla="*/ 478 h 478"/>
                  <a:gd name="T12" fmla="*/ 30 w 213"/>
                  <a:gd name="T13" fmla="*/ 344 h 478"/>
                  <a:gd name="T14" fmla="*/ 0 w 213"/>
                  <a:gd name="T15" fmla="*/ 57 h 478"/>
                  <a:gd name="T16" fmla="*/ 24 w 213"/>
                  <a:gd name="T17" fmla="*/ 0 h 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065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53" name="Freeform 29"/>
                <p:cNvSpPr>
                  <a:spLocks noChangeArrowheads="1"/>
                </p:cNvSpPr>
                <p:nvPr/>
              </p:nvSpPr>
              <p:spPr bwMode="auto">
                <a:xfrm>
                  <a:off x="669" y="4048"/>
                  <a:ext cx="75" cy="87"/>
                </a:xfrm>
                <a:custGeom>
                  <a:avLst/>
                  <a:gdLst>
                    <a:gd name="T0" fmla="*/ 110 w 150"/>
                    <a:gd name="T1" fmla="*/ 0 h 173"/>
                    <a:gd name="T2" fmla="*/ 40 w 150"/>
                    <a:gd name="T3" fmla="*/ 66 h 173"/>
                    <a:gd name="T4" fmla="*/ 0 w 150"/>
                    <a:gd name="T5" fmla="*/ 173 h 173"/>
                    <a:gd name="T6" fmla="*/ 80 w 150"/>
                    <a:gd name="T7" fmla="*/ 160 h 173"/>
                    <a:gd name="T8" fmla="*/ 103 w 150"/>
                    <a:gd name="T9" fmla="*/ 84 h 173"/>
                    <a:gd name="T10" fmla="*/ 150 w 150"/>
                    <a:gd name="T11" fmla="*/ 27 h 173"/>
                    <a:gd name="T12" fmla="*/ 110 w 150"/>
                    <a:gd name="T13" fmla="*/ 0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4" name="Freeform 30"/>
                <p:cNvSpPr>
                  <a:spLocks noChangeArrowheads="1"/>
                </p:cNvSpPr>
                <p:nvPr/>
              </p:nvSpPr>
              <p:spPr bwMode="auto">
                <a:xfrm>
                  <a:off x="5" y="3728"/>
                  <a:ext cx="842" cy="440"/>
                </a:xfrm>
                <a:custGeom>
                  <a:avLst/>
                  <a:gdLst>
                    <a:gd name="T0" fmla="*/ 156 w 1684"/>
                    <a:gd name="T1" fmla="*/ 0 h 880"/>
                    <a:gd name="T2" fmla="*/ 63 w 1684"/>
                    <a:gd name="T3" fmla="*/ 52 h 880"/>
                    <a:gd name="T4" fmla="*/ 0 w 1684"/>
                    <a:gd name="T5" fmla="*/ 208 h 880"/>
                    <a:gd name="T6" fmla="*/ 67 w 1684"/>
                    <a:gd name="T7" fmla="*/ 358 h 880"/>
                    <a:gd name="T8" fmla="*/ 1182 w 1684"/>
                    <a:gd name="T9" fmla="*/ 867 h 880"/>
                    <a:gd name="T10" fmla="*/ 1422 w 1684"/>
                    <a:gd name="T11" fmla="*/ 835 h 880"/>
                    <a:gd name="T12" fmla="*/ 1616 w 1684"/>
                    <a:gd name="T13" fmla="*/ 880 h 880"/>
                    <a:gd name="T14" fmla="*/ 1684 w 1684"/>
                    <a:gd name="T15" fmla="*/ 808 h 880"/>
                    <a:gd name="T16" fmla="*/ 1502 w 1684"/>
                    <a:gd name="T17" fmla="*/ 664 h 880"/>
                    <a:gd name="T18" fmla="*/ 1428 w 1684"/>
                    <a:gd name="T19" fmla="*/ 512 h 880"/>
                    <a:gd name="T20" fmla="*/ 1369 w 1684"/>
                    <a:gd name="T21" fmla="*/ 527 h 880"/>
                    <a:gd name="T22" fmla="*/ 1439 w 1684"/>
                    <a:gd name="T23" fmla="*/ 664 h 880"/>
                    <a:gd name="T24" fmla="*/ 1578 w 1684"/>
                    <a:gd name="T25" fmla="*/ 810 h 880"/>
                    <a:gd name="T26" fmla="*/ 1413 w 1684"/>
                    <a:gd name="T27" fmla="*/ 787 h 880"/>
                    <a:gd name="T28" fmla="*/ 1219 w 1684"/>
                    <a:gd name="T29" fmla="*/ 814 h 880"/>
                    <a:gd name="T30" fmla="*/ 1255 w 1684"/>
                    <a:gd name="T31" fmla="*/ 650 h 880"/>
                    <a:gd name="T32" fmla="*/ 1338 w 1684"/>
                    <a:gd name="T33" fmla="*/ 538 h 880"/>
                    <a:gd name="T34" fmla="*/ 1241 w 1684"/>
                    <a:gd name="T35" fmla="*/ 552 h 880"/>
                    <a:gd name="T36" fmla="*/ 1165 w 1684"/>
                    <a:gd name="T37" fmla="*/ 658 h 880"/>
                    <a:gd name="T38" fmla="*/ 1139 w 1684"/>
                    <a:gd name="T39" fmla="*/ 791 h 880"/>
                    <a:gd name="T40" fmla="*/ 107 w 1684"/>
                    <a:gd name="T41" fmla="*/ 310 h 880"/>
                    <a:gd name="T42" fmla="*/ 80 w 1684"/>
                    <a:gd name="T43" fmla="*/ 215 h 880"/>
                    <a:gd name="T44" fmla="*/ 103 w 1684"/>
                    <a:gd name="T45" fmla="*/ 95 h 880"/>
                    <a:gd name="T46" fmla="*/ 217 w 1684"/>
                    <a:gd name="T47" fmla="*/ 0 h 880"/>
                    <a:gd name="T48" fmla="*/ 156 w 1684"/>
                    <a:gd name="T49" fmla="*/ 0 h 8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5" name="Freeform 31"/>
                <p:cNvSpPr>
                  <a:spLocks noChangeArrowheads="1"/>
                </p:cNvSpPr>
                <p:nvPr/>
              </p:nvSpPr>
              <p:spPr bwMode="auto">
                <a:xfrm>
                  <a:off x="106" y="3770"/>
                  <a:ext cx="80" cy="167"/>
                </a:xfrm>
                <a:custGeom>
                  <a:avLst/>
                  <a:gdLst>
                    <a:gd name="T0" fmla="*/ 116 w 160"/>
                    <a:gd name="T1" fmla="*/ 0 h 335"/>
                    <a:gd name="T2" fmla="*/ 19 w 160"/>
                    <a:gd name="T3" fmla="*/ 106 h 335"/>
                    <a:gd name="T4" fmla="*/ 0 w 160"/>
                    <a:gd name="T5" fmla="*/ 230 h 335"/>
                    <a:gd name="T6" fmla="*/ 33 w 160"/>
                    <a:gd name="T7" fmla="*/ 314 h 335"/>
                    <a:gd name="T8" fmla="*/ 94 w 160"/>
                    <a:gd name="T9" fmla="*/ 335 h 335"/>
                    <a:gd name="T10" fmla="*/ 76 w 160"/>
                    <a:gd name="T11" fmla="*/ 154 h 335"/>
                    <a:gd name="T12" fmla="*/ 160 w 160"/>
                    <a:gd name="T13" fmla="*/ 17 h 335"/>
                    <a:gd name="T14" fmla="*/ 116 w 160"/>
                    <a:gd name="T15" fmla="*/ 0 h 3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6" name="Freeform 32"/>
                <p:cNvSpPr>
                  <a:spLocks noChangeArrowheads="1"/>
                </p:cNvSpPr>
                <p:nvPr/>
              </p:nvSpPr>
              <p:spPr bwMode="auto">
                <a:xfrm>
                  <a:off x="449" y="3490"/>
                  <a:ext cx="322" cy="594"/>
                </a:xfrm>
                <a:custGeom>
                  <a:avLst/>
                  <a:gdLst>
                    <a:gd name="T0" fmla="*/ 218 w 642"/>
                    <a:gd name="T1" fmla="*/ 896 h 1188"/>
                    <a:gd name="T2" fmla="*/ 0 w 642"/>
                    <a:gd name="T3" fmla="*/ 124 h 1188"/>
                    <a:gd name="T4" fmla="*/ 81 w 642"/>
                    <a:gd name="T5" fmla="*/ 38 h 1188"/>
                    <a:gd name="T6" fmla="*/ 258 w 642"/>
                    <a:gd name="T7" fmla="*/ 0 h 1188"/>
                    <a:gd name="T8" fmla="*/ 399 w 642"/>
                    <a:gd name="T9" fmla="*/ 57 h 1188"/>
                    <a:gd name="T10" fmla="*/ 642 w 642"/>
                    <a:gd name="T11" fmla="*/ 1188 h 1188"/>
                    <a:gd name="T12" fmla="*/ 555 w 642"/>
                    <a:gd name="T13" fmla="*/ 1091 h 1188"/>
                    <a:gd name="T14" fmla="*/ 355 w 642"/>
                    <a:gd name="T15" fmla="*/ 97 h 1188"/>
                    <a:gd name="T16" fmla="*/ 226 w 642"/>
                    <a:gd name="T17" fmla="*/ 61 h 1188"/>
                    <a:gd name="T18" fmla="*/ 119 w 642"/>
                    <a:gd name="T19" fmla="*/ 74 h 1188"/>
                    <a:gd name="T20" fmla="*/ 76 w 642"/>
                    <a:gd name="T21" fmla="*/ 141 h 1188"/>
                    <a:gd name="T22" fmla="*/ 306 w 642"/>
                    <a:gd name="T23" fmla="*/ 924 h 1188"/>
                    <a:gd name="T24" fmla="*/ 218 w 642"/>
                    <a:gd name="T25" fmla="*/ 896 h 11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7" name="Freeform 33"/>
                <p:cNvSpPr>
                  <a:spLocks noChangeArrowheads="1"/>
                </p:cNvSpPr>
                <p:nvPr/>
              </p:nvSpPr>
              <p:spPr bwMode="auto">
                <a:xfrm>
                  <a:off x="578" y="3650"/>
                  <a:ext cx="96" cy="252"/>
                </a:xfrm>
                <a:custGeom>
                  <a:avLst/>
                  <a:gdLst>
                    <a:gd name="T0" fmla="*/ 0 w 192"/>
                    <a:gd name="T1" fmla="*/ 27 h 504"/>
                    <a:gd name="T2" fmla="*/ 76 w 192"/>
                    <a:gd name="T3" fmla="*/ 194 h 504"/>
                    <a:gd name="T4" fmla="*/ 113 w 192"/>
                    <a:gd name="T5" fmla="*/ 318 h 504"/>
                    <a:gd name="T6" fmla="*/ 116 w 192"/>
                    <a:gd name="T7" fmla="*/ 504 h 504"/>
                    <a:gd name="T8" fmla="*/ 192 w 192"/>
                    <a:gd name="T9" fmla="*/ 504 h 504"/>
                    <a:gd name="T10" fmla="*/ 187 w 192"/>
                    <a:gd name="T11" fmla="*/ 360 h 504"/>
                    <a:gd name="T12" fmla="*/ 162 w 192"/>
                    <a:gd name="T13" fmla="*/ 208 h 504"/>
                    <a:gd name="T14" fmla="*/ 99 w 192"/>
                    <a:gd name="T15" fmla="*/ 59 h 504"/>
                    <a:gd name="T16" fmla="*/ 63 w 192"/>
                    <a:gd name="T17" fmla="*/ 0 h 504"/>
                    <a:gd name="T18" fmla="*/ 0 w 192"/>
                    <a:gd name="T19" fmla="*/ 27 h 5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8" name="Freeform 34"/>
                <p:cNvSpPr>
                  <a:spLocks noChangeArrowheads="1"/>
                </p:cNvSpPr>
                <p:nvPr/>
              </p:nvSpPr>
              <p:spPr bwMode="auto">
                <a:xfrm>
                  <a:off x="328" y="3630"/>
                  <a:ext cx="195" cy="135"/>
                </a:xfrm>
                <a:custGeom>
                  <a:avLst/>
                  <a:gdLst>
                    <a:gd name="T0" fmla="*/ 297 w 390"/>
                    <a:gd name="T1" fmla="*/ 0 h 269"/>
                    <a:gd name="T2" fmla="*/ 257 w 390"/>
                    <a:gd name="T3" fmla="*/ 17 h 269"/>
                    <a:gd name="T4" fmla="*/ 253 w 390"/>
                    <a:gd name="T5" fmla="*/ 66 h 269"/>
                    <a:gd name="T6" fmla="*/ 0 w 390"/>
                    <a:gd name="T7" fmla="*/ 169 h 269"/>
                    <a:gd name="T8" fmla="*/ 0 w 390"/>
                    <a:gd name="T9" fmla="*/ 222 h 269"/>
                    <a:gd name="T10" fmla="*/ 284 w 390"/>
                    <a:gd name="T11" fmla="*/ 226 h 269"/>
                    <a:gd name="T12" fmla="*/ 320 w 390"/>
                    <a:gd name="T13" fmla="*/ 269 h 269"/>
                    <a:gd name="T14" fmla="*/ 390 w 390"/>
                    <a:gd name="T15" fmla="*/ 266 h 269"/>
                    <a:gd name="T16" fmla="*/ 383 w 390"/>
                    <a:gd name="T17" fmla="*/ 190 h 269"/>
                    <a:gd name="T18" fmla="*/ 116 w 390"/>
                    <a:gd name="T19" fmla="*/ 176 h 269"/>
                    <a:gd name="T20" fmla="*/ 333 w 390"/>
                    <a:gd name="T21" fmla="*/ 89 h 269"/>
                    <a:gd name="T22" fmla="*/ 297 w 390"/>
                    <a:gd name="T23" fmla="*/ 0 h 2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9" name="Freeform 35"/>
                <p:cNvSpPr>
                  <a:spLocks noChangeArrowheads="1"/>
                </p:cNvSpPr>
                <p:nvPr/>
              </p:nvSpPr>
              <p:spPr bwMode="auto">
                <a:xfrm>
                  <a:off x="658" y="3538"/>
                  <a:ext cx="471" cy="212"/>
                </a:xfrm>
                <a:custGeom>
                  <a:avLst/>
                  <a:gdLst>
                    <a:gd name="T0" fmla="*/ 0 w 941"/>
                    <a:gd name="T1" fmla="*/ 131 h 424"/>
                    <a:gd name="T2" fmla="*/ 863 w 941"/>
                    <a:gd name="T3" fmla="*/ 0 h 424"/>
                    <a:gd name="T4" fmla="*/ 926 w 941"/>
                    <a:gd name="T5" fmla="*/ 78 h 424"/>
                    <a:gd name="T6" fmla="*/ 941 w 941"/>
                    <a:gd name="T7" fmla="*/ 181 h 424"/>
                    <a:gd name="T8" fmla="*/ 903 w 941"/>
                    <a:gd name="T9" fmla="*/ 282 h 424"/>
                    <a:gd name="T10" fmla="*/ 57 w 941"/>
                    <a:gd name="T11" fmla="*/ 424 h 424"/>
                    <a:gd name="T12" fmla="*/ 53 w 941"/>
                    <a:gd name="T13" fmla="*/ 384 h 424"/>
                    <a:gd name="T14" fmla="*/ 863 w 941"/>
                    <a:gd name="T15" fmla="*/ 242 h 424"/>
                    <a:gd name="T16" fmla="*/ 893 w 941"/>
                    <a:gd name="T17" fmla="*/ 145 h 424"/>
                    <a:gd name="T18" fmla="*/ 840 w 941"/>
                    <a:gd name="T19" fmla="*/ 57 h 424"/>
                    <a:gd name="T20" fmla="*/ 0 w 941"/>
                    <a:gd name="T21" fmla="*/ 185 h 424"/>
                    <a:gd name="T22" fmla="*/ 0 w 941"/>
                    <a:gd name="T23" fmla="*/ 131 h 4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" name="Freeform 36"/>
                <p:cNvSpPr>
                  <a:spLocks noChangeArrowheads="1"/>
                </p:cNvSpPr>
                <p:nvPr/>
              </p:nvSpPr>
              <p:spPr bwMode="auto">
                <a:xfrm>
                  <a:off x="717" y="3606"/>
                  <a:ext cx="245" cy="86"/>
                </a:xfrm>
                <a:custGeom>
                  <a:avLst/>
                  <a:gdLst>
                    <a:gd name="T0" fmla="*/ 0 w 488"/>
                    <a:gd name="T1" fmla="*/ 126 h 173"/>
                    <a:gd name="T2" fmla="*/ 66 w 488"/>
                    <a:gd name="T3" fmla="*/ 173 h 173"/>
                    <a:gd name="T4" fmla="*/ 222 w 488"/>
                    <a:gd name="T5" fmla="*/ 166 h 173"/>
                    <a:gd name="T6" fmla="*/ 418 w 488"/>
                    <a:gd name="T7" fmla="*/ 116 h 173"/>
                    <a:gd name="T8" fmla="*/ 488 w 488"/>
                    <a:gd name="T9" fmla="*/ 42 h 173"/>
                    <a:gd name="T10" fmla="*/ 443 w 488"/>
                    <a:gd name="T11" fmla="*/ 2 h 173"/>
                    <a:gd name="T12" fmla="*/ 253 w 488"/>
                    <a:gd name="T13" fmla="*/ 0 h 173"/>
                    <a:gd name="T14" fmla="*/ 110 w 488"/>
                    <a:gd name="T15" fmla="*/ 12 h 173"/>
                    <a:gd name="T16" fmla="*/ 15 w 488"/>
                    <a:gd name="T17" fmla="*/ 76 h 173"/>
                    <a:gd name="T18" fmla="*/ 112 w 488"/>
                    <a:gd name="T19" fmla="*/ 95 h 173"/>
                    <a:gd name="T20" fmla="*/ 275 w 488"/>
                    <a:gd name="T21" fmla="*/ 53 h 173"/>
                    <a:gd name="T22" fmla="*/ 416 w 488"/>
                    <a:gd name="T23" fmla="*/ 53 h 173"/>
                    <a:gd name="T24" fmla="*/ 268 w 488"/>
                    <a:gd name="T25" fmla="*/ 110 h 173"/>
                    <a:gd name="T26" fmla="*/ 142 w 488"/>
                    <a:gd name="T27" fmla="*/ 126 h 173"/>
                    <a:gd name="T28" fmla="*/ 0 w 488"/>
                    <a:gd name="T29" fmla="*/ 126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</p:grpSp>
      <p:grpSp>
        <p:nvGrpSpPr>
          <p:cNvPr id="1035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62" name="Freeform 38"/>
            <p:cNvSpPr>
              <a:spLocks noChangeArrowheads="1"/>
            </p:cNvSpPr>
            <p:nvPr/>
          </p:nvSpPr>
          <p:spPr bwMode="auto">
            <a:xfrm flipH="1">
              <a:off x="5468" y="2620"/>
              <a:ext cx="205" cy="1427"/>
            </a:xfrm>
            <a:custGeom>
              <a:avLst/>
              <a:gdLst>
                <a:gd name="T0" fmla="*/ 692 w 772"/>
                <a:gd name="T1" fmla="*/ 3156 h 3266"/>
                <a:gd name="T2" fmla="*/ 380 w 772"/>
                <a:gd name="T3" fmla="*/ 2945 h 3266"/>
                <a:gd name="T4" fmla="*/ 319 w 772"/>
                <a:gd name="T5" fmla="*/ 2783 h 3266"/>
                <a:gd name="T6" fmla="*/ 371 w 772"/>
                <a:gd name="T7" fmla="*/ 2542 h 3266"/>
                <a:gd name="T8" fmla="*/ 591 w 772"/>
                <a:gd name="T9" fmla="*/ 2251 h 3266"/>
                <a:gd name="T10" fmla="*/ 641 w 772"/>
                <a:gd name="T11" fmla="*/ 2070 h 3266"/>
                <a:gd name="T12" fmla="*/ 591 w 772"/>
                <a:gd name="T13" fmla="*/ 1948 h 3266"/>
                <a:gd name="T14" fmla="*/ 401 w 772"/>
                <a:gd name="T15" fmla="*/ 1859 h 3266"/>
                <a:gd name="T16" fmla="*/ 361 w 772"/>
                <a:gd name="T17" fmla="*/ 1747 h 3266"/>
                <a:gd name="T18" fmla="*/ 430 w 772"/>
                <a:gd name="T19" fmla="*/ 1587 h 3266"/>
                <a:gd name="T20" fmla="*/ 741 w 772"/>
                <a:gd name="T21" fmla="*/ 1156 h 3266"/>
                <a:gd name="T22" fmla="*/ 772 w 772"/>
                <a:gd name="T23" fmla="*/ 945 h 3266"/>
                <a:gd name="T24" fmla="*/ 692 w 772"/>
                <a:gd name="T25" fmla="*/ 713 h 3266"/>
                <a:gd name="T26" fmla="*/ 430 w 772"/>
                <a:gd name="T27" fmla="*/ 603 h 3266"/>
                <a:gd name="T28" fmla="*/ 200 w 772"/>
                <a:gd name="T29" fmla="*/ 422 h 3266"/>
                <a:gd name="T30" fmla="*/ 0 w 772"/>
                <a:gd name="T31" fmla="*/ 0 h 3266"/>
                <a:gd name="T32" fmla="*/ 29 w 772"/>
                <a:gd name="T33" fmla="*/ 382 h 3266"/>
                <a:gd name="T34" fmla="*/ 179 w 772"/>
                <a:gd name="T35" fmla="*/ 612 h 3266"/>
                <a:gd name="T36" fmla="*/ 380 w 772"/>
                <a:gd name="T37" fmla="*/ 753 h 3266"/>
                <a:gd name="T38" fmla="*/ 601 w 772"/>
                <a:gd name="T39" fmla="*/ 833 h 3266"/>
                <a:gd name="T40" fmla="*/ 612 w 772"/>
                <a:gd name="T41" fmla="*/ 1044 h 3266"/>
                <a:gd name="T42" fmla="*/ 500 w 772"/>
                <a:gd name="T43" fmla="*/ 1266 h 3266"/>
                <a:gd name="T44" fmla="*/ 240 w 772"/>
                <a:gd name="T45" fmla="*/ 1658 h 3266"/>
                <a:gd name="T46" fmla="*/ 230 w 772"/>
                <a:gd name="T47" fmla="*/ 1909 h 3266"/>
                <a:gd name="T48" fmla="*/ 471 w 772"/>
                <a:gd name="T49" fmla="*/ 2049 h 3266"/>
                <a:gd name="T50" fmla="*/ 460 w 772"/>
                <a:gd name="T51" fmla="*/ 2180 h 3266"/>
                <a:gd name="T52" fmla="*/ 249 w 772"/>
                <a:gd name="T53" fmla="*/ 2452 h 3266"/>
                <a:gd name="T54" fmla="*/ 160 w 772"/>
                <a:gd name="T55" fmla="*/ 2713 h 3266"/>
                <a:gd name="T56" fmla="*/ 240 w 772"/>
                <a:gd name="T57" fmla="*/ 2994 h 3266"/>
                <a:gd name="T58" fmla="*/ 430 w 772"/>
                <a:gd name="T59" fmla="*/ 3144 h 3266"/>
                <a:gd name="T60" fmla="*/ 671 w 772"/>
                <a:gd name="T61" fmla="*/ 3266 h 3266"/>
                <a:gd name="T62" fmla="*/ 692 w 772"/>
                <a:gd name="T63" fmla="*/ 3156 h 3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3" name="Freeform 39"/>
            <p:cNvSpPr>
              <a:spLocks noChangeArrowheads="1"/>
            </p:cNvSpPr>
            <p:nvPr/>
          </p:nvSpPr>
          <p:spPr bwMode="auto">
            <a:xfrm flipH="1">
              <a:off x="5506" y="1333"/>
              <a:ext cx="205" cy="1633"/>
            </a:xfrm>
            <a:custGeom>
              <a:avLst/>
              <a:gdLst>
                <a:gd name="T0" fmla="*/ 692 w 772"/>
                <a:gd name="T1" fmla="*/ 3156 h 3266"/>
                <a:gd name="T2" fmla="*/ 380 w 772"/>
                <a:gd name="T3" fmla="*/ 2945 h 3266"/>
                <a:gd name="T4" fmla="*/ 319 w 772"/>
                <a:gd name="T5" fmla="*/ 2783 h 3266"/>
                <a:gd name="T6" fmla="*/ 371 w 772"/>
                <a:gd name="T7" fmla="*/ 2542 h 3266"/>
                <a:gd name="T8" fmla="*/ 591 w 772"/>
                <a:gd name="T9" fmla="*/ 2251 h 3266"/>
                <a:gd name="T10" fmla="*/ 641 w 772"/>
                <a:gd name="T11" fmla="*/ 2070 h 3266"/>
                <a:gd name="T12" fmla="*/ 591 w 772"/>
                <a:gd name="T13" fmla="*/ 1948 h 3266"/>
                <a:gd name="T14" fmla="*/ 401 w 772"/>
                <a:gd name="T15" fmla="*/ 1859 h 3266"/>
                <a:gd name="T16" fmla="*/ 361 w 772"/>
                <a:gd name="T17" fmla="*/ 1747 h 3266"/>
                <a:gd name="T18" fmla="*/ 430 w 772"/>
                <a:gd name="T19" fmla="*/ 1587 h 3266"/>
                <a:gd name="T20" fmla="*/ 741 w 772"/>
                <a:gd name="T21" fmla="*/ 1156 h 3266"/>
                <a:gd name="T22" fmla="*/ 772 w 772"/>
                <a:gd name="T23" fmla="*/ 945 h 3266"/>
                <a:gd name="T24" fmla="*/ 692 w 772"/>
                <a:gd name="T25" fmla="*/ 713 h 3266"/>
                <a:gd name="T26" fmla="*/ 430 w 772"/>
                <a:gd name="T27" fmla="*/ 603 h 3266"/>
                <a:gd name="T28" fmla="*/ 200 w 772"/>
                <a:gd name="T29" fmla="*/ 422 h 3266"/>
                <a:gd name="T30" fmla="*/ 0 w 772"/>
                <a:gd name="T31" fmla="*/ 0 h 3266"/>
                <a:gd name="T32" fmla="*/ 29 w 772"/>
                <a:gd name="T33" fmla="*/ 382 h 3266"/>
                <a:gd name="T34" fmla="*/ 179 w 772"/>
                <a:gd name="T35" fmla="*/ 612 h 3266"/>
                <a:gd name="T36" fmla="*/ 380 w 772"/>
                <a:gd name="T37" fmla="*/ 753 h 3266"/>
                <a:gd name="T38" fmla="*/ 601 w 772"/>
                <a:gd name="T39" fmla="*/ 833 h 3266"/>
                <a:gd name="T40" fmla="*/ 612 w 772"/>
                <a:gd name="T41" fmla="*/ 1044 h 3266"/>
                <a:gd name="T42" fmla="*/ 500 w 772"/>
                <a:gd name="T43" fmla="*/ 1266 h 3266"/>
                <a:gd name="T44" fmla="*/ 240 w 772"/>
                <a:gd name="T45" fmla="*/ 1658 h 3266"/>
                <a:gd name="T46" fmla="*/ 230 w 772"/>
                <a:gd name="T47" fmla="*/ 1909 h 3266"/>
                <a:gd name="T48" fmla="*/ 471 w 772"/>
                <a:gd name="T49" fmla="*/ 2049 h 3266"/>
                <a:gd name="T50" fmla="*/ 460 w 772"/>
                <a:gd name="T51" fmla="*/ 2180 h 3266"/>
                <a:gd name="T52" fmla="*/ 249 w 772"/>
                <a:gd name="T53" fmla="*/ 2452 h 3266"/>
                <a:gd name="T54" fmla="*/ 160 w 772"/>
                <a:gd name="T55" fmla="*/ 2713 h 3266"/>
                <a:gd name="T56" fmla="*/ 240 w 772"/>
                <a:gd name="T57" fmla="*/ 2994 h 3266"/>
                <a:gd name="T58" fmla="*/ 430 w 772"/>
                <a:gd name="T59" fmla="*/ 3144 h 3266"/>
                <a:gd name="T60" fmla="*/ 671 w 772"/>
                <a:gd name="T61" fmla="*/ 3266 h 3266"/>
                <a:gd name="T62" fmla="*/ 692 w 772"/>
                <a:gd name="T63" fmla="*/ 3156 h 3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6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37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66" name="Freeform 42"/>
              <p:cNvSpPr>
                <a:spLocks noChangeArrowheads="1"/>
              </p:cNvSpPr>
              <p:nvPr/>
            </p:nvSpPr>
            <p:spPr bwMode="auto">
              <a:xfrm rot="-3172564">
                <a:off x="5430" y="1086"/>
                <a:ext cx="62" cy="288"/>
              </a:xfrm>
              <a:custGeom>
                <a:avLst/>
                <a:gdLst>
                  <a:gd name="T0" fmla="*/ 123 w 245"/>
                  <a:gd name="T1" fmla="*/ 9 h 806"/>
                  <a:gd name="T2" fmla="*/ 131 w 245"/>
                  <a:gd name="T3" fmla="*/ 342 h 806"/>
                  <a:gd name="T4" fmla="*/ 0 w 245"/>
                  <a:gd name="T5" fmla="*/ 806 h 806"/>
                  <a:gd name="T6" fmla="*/ 79 w 245"/>
                  <a:gd name="T7" fmla="*/ 789 h 806"/>
                  <a:gd name="T8" fmla="*/ 218 w 245"/>
                  <a:gd name="T9" fmla="*/ 376 h 806"/>
                  <a:gd name="T10" fmla="*/ 245 w 245"/>
                  <a:gd name="T11" fmla="*/ 0 h 806"/>
                  <a:gd name="T12" fmla="*/ 123 w 245"/>
                  <a:gd name="T13" fmla="*/ 9 h 8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040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68" name="Freeform 44"/>
                <p:cNvSpPr>
                  <a:spLocks noChangeArrowheads="1"/>
                </p:cNvSpPr>
                <p:nvPr/>
              </p:nvSpPr>
              <p:spPr bwMode="auto">
                <a:xfrm rot="-3172564">
                  <a:off x="4960" y="65"/>
                  <a:ext cx="153" cy="125"/>
                </a:xfrm>
                <a:custGeom>
                  <a:avLst/>
                  <a:gdLst>
                    <a:gd name="T0" fmla="*/ 0 w 604"/>
                    <a:gd name="T1" fmla="*/ 0 h 349"/>
                    <a:gd name="T2" fmla="*/ 298 w 604"/>
                    <a:gd name="T3" fmla="*/ 184 h 349"/>
                    <a:gd name="T4" fmla="*/ 500 w 604"/>
                    <a:gd name="T5" fmla="*/ 349 h 349"/>
                    <a:gd name="T6" fmla="*/ 604 w 604"/>
                    <a:gd name="T7" fmla="*/ 140 h 349"/>
                    <a:gd name="T8" fmla="*/ 359 w 604"/>
                    <a:gd name="T9" fmla="*/ 9 h 349"/>
                    <a:gd name="T10" fmla="*/ 464 w 604"/>
                    <a:gd name="T11" fmla="*/ 184 h 349"/>
                    <a:gd name="T12" fmla="*/ 131 w 604"/>
                    <a:gd name="T13" fmla="*/ 17 h 349"/>
                    <a:gd name="T14" fmla="*/ 0 w 604"/>
                    <a:gd name="T15" fmla="*/ 0 h 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69" name="Freeform 45"/>
                <p:cNvSpPr>
                  <a:spLocks noChangeArrowheads="1"/>
                </p:cNvSpPr>
                <p:nvPr/>
              </p:nvSpPr>
              <p:spPr bwMode="auto">
                <a:xfrm rot="-3172564">
                  <a:off x="5049" y="320"/>
                  <a:ext cx="269" cy="438"/>
                </a:xfrm>
                <a:custGeom>
                  <a:avLst/>
                  <a:gdLst>
                    <a:gd name="T0" fmla="*/ 741 w 1064"/>
                    <a:gd name="T1" fmla="*/ 129 h 1230"/>
                    <a:gd name="T2" fmla="*/ 485 w 1064"/>
                    <a:gd name="T3" fmla="*/ 352 h 1230"/>
                    <a:gd name="T4" fmla="*/ 163 w 1064"/>
                    <a:gd name="T5" fmla="*/ 762 h 1230"/>
                    <a:gd name="T6" fmla="*/ 0 w 1064"/>
                    <a:gd name="T7" fmla="*/ 1101 h 1230"/>
                    <a:gd name="T8" fmla="*/ 59 w 1064"/>
                    <a:gd name="T9" fmla="*/ 1230 h 1230"/>
                    <a:gd name="T10" fmla="*/ 262 w 1064"/>
                    <a:gd name="T11" fmla="*/ 1201 h 1230"/>
                    <a:gd name="T12" fmla="*/ 578 w 1064"/>
                    <a:gd name="T13" fmla="*/ 914 h 1230"/>
                    <a:gd name="T14" fmla="*/ 876 w 1064"/>
                    <a:gd name="T15" fmla="*/ 534 h 1230"/>
                    <a:gd name="T16" fmla="*/ 1034 w 1064"/>
                    <a:gd name="T17" fmla="*/ 270 h 1230"/>
                    <a:gd name="T18" fmla="*/ 1064 w 1064"/>
                    <a:gd name="T19" fmla="*/ 84 h 1230"/>
                    <a:gd name="T20" fmla="*/ 977 w 1064"/>
                    <a:gd name="T21" fmla="*/ 0 h 1230"/>
                    <a:gd name="T22" fmla="*/ 836 w 1064"/>
                    <a:gd name="T23" fmla="*/ 65 h 1230"/>
                    <a:gd name="T24" fmla="*/ 969 w 1064"/>
                    <a:gd name="T25" fmla="*/ 107 h 1230"/>
                    <a:gd name="T26" fmla="*/ 876 w 1064"/>
                    <a:gd name="T27" fmla="*/ 352 h 1230"/>
                    <a:gd name="T28" fmla="*/ 690 w 1064"/>
                    <a:gd name="T29" fmla="*/ 656 h 1230"/>
                    <a:gd name="T30" fmla="*/ 350 w 1064"/>
                    <a:gd name="T31" fmla="*/ 1008 h 1230"/>
                    <a:gd name="T32" fmla="*/ 116 w 1064"/>
                    <a:gd name="T33" fmla="*/ 1114 h 1230"/>
                    <a:gd name="T34" fmla="*/ 135 w 1064"/>
                    <a:gd name="T35" fmla="*/ 943 h 1230"/>
                    <a:gd name="T36" fmla="*/ 437 w 1064"/>
                    <a:gd name="T37" fmla="*/ 504 h 1230"/>
                    <a:gd name="T38" fmla="*/ 831 w 1064"/>
                    <a:gd name="T39" fmla="*/ 118 h 1230"/>
                    <a:gd name="T40" fmla="*/ 741 w 1064"/>
                    <a:gd name="T41" fmla="*/ 129 h 1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0" name="Freeform 46"/>
                <p:cNvSpPr>
                  <a:spLocks noChangeArrowheads="1"/>
                </p:cNvSpPr>
                <p:nvPr/>
              </p:nvSpPr>
              <p:spPr bwMode="auto">
                <a:xfrm rot="-3172564">
                  <a:off x="4859" y="170"/>
                  <a:ext cx="505" cy="898"/>
                </a:xfrm>
                <a:custGeom>
                  <a:avLst/>
                  <a:gdLst>
                    <a:gd name="T0" fmla="*/ 1941 w 2002"/>
                    <a:gd name="T1" fmla="*/ 0 h 2521"/>
                    <a:gd name="T2" fmla="*/ 0 w 2002"/>
                    <a:gd name="T3" fmla="*/ 2521 h 2521"/>
                    <a:gd name="T4" fmla="*/ 192 w 2002"/>
                    <a:gd name="T5" fmla="*/ 2450 h 2521"/>
                    <a:gd name="T6" fmla="*/ 2002 w 2002"/>
                    <a:gd name="T7" fmla="*/ 61 h 2521"/>
                    <a:gd name="T8" fmla="*/ 1941 w 2002"/>
                    <a:gd name="T9" fmla="*/ 0 h 25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1" name="Freeform 47"/>
                <p:cNvSpPr>
                  <a:spLocks noChangeArrowheads="1"/>
                </p:cNvSpPr>
                <p:nvPr/>
              </p:nvSpPr>
              <p:spPr bwMode="auto">
                <a:xfrm rot="-3172564">
                  <a:off x="4903" y="-19"/>
                  <a:ext cx="758" cy="1344"/>
                </a:xfrm>
                <a:custGeom>
                  <a:avLst/>
                  <a:gdLst>
                    <a:gd name="T0" fmla="*/ 95 w 3007"/>
                    <a:gd name="T1" fmla="*/ 2844 h 3771"/>
                    <a:gd name="T2" fmla="*/ 394 w 3007"/>
                    <a:gd name="T3" fmla="*/ 2834 h 3771"/>
                    <a:gd name="T4" fmla="*/ 821 w 3007"/>
                    <a:gd name="T5" fmla="*/ 3009 h 3771"/>
                    <a:gd name="T6" fmla="*/ 681 w 3007"/>
                    <a:gd name="T7" fmla="*/ 2817 h 3771"/>
                    <a:gd name="T8" fmla="*/ 367 w 3007"/>
                    <a:gd name="T9" fmla="*/ 2703 h 3771"/>
                    <a:gd name="T10" fmla="*/ 637 w 3007"/>
                    <a:gd name="T11" fmla="*/ 2720 h 3771"/>
                    <a:gd name="T12" fmla="*/ 979 w 3007"/>
                    <a:gd name="T13" fmla="*/ 2870 h 3771"/>
                    <a:gd name="T14" fmla="*/ 2859 w 3007"/>
                    <a:gd name="T15" fmla="*/ 420 h 3771"/>
                    <a:gd name="T16" fmla="*/ 2578 w 3007"/>
                    <a:gd name="T17" fmla="*/ 148 h 3771"/>
                    <a:gd name="T18" fmla="*/ 2308 w 3007"/>
                    <a:gd name="T19" fmla="*/ 0 h 3771"/>
                    <a:gd name="T20" fmla="*/ 2692 w 3007"/>
                    <a:gd name="T21" fmla="*/ 78 h 3771"/>
                    <a:gd name="T22" fmla="*/ 3007 w 3007"/>
                    <a:gd name="T23" fmla="*/ 428 h 3771"/>
                    <a:gd name="T24" fmla="*/ 831 w 3007"/>
                    <a:gd name="T25" fmla="*/ 3273 h 3771"/>
                    <a:gd name="T26" fmla="*/ 481 w 3007"/>
                    <a:gd name="T27" fmla="*/ 3412 h 3771"/>
                    <a:gd name="T28" fmla="*/ 105 w 3007"/>
                    <a:gd name="T29" fmla="*/ 3771 h 3771"/>
                    <a:gd name="T30" fmla="*/ 0 w 3007"/>
                    <a:gd name="T31" fmla="*/ 3667 h 3771"/>
                    <a:gd name="T32" fmla="*/ 131 w 3007"/>
                    <a:gd name="T33" fmla="*/ 3631 h 3771"/>
                    <a:gd name="T34" fmla="*/ 376 w 3007"/>
                    <a:gd name="T35" fmla="*/ 3385 h 3771"/>
                    <a:gd name="T36" fmla="*/ 165 w 3007"/>
                    <a:gd name="T37" fmla="*/ 3273 h 3771"/>
                    <a:gd name="T38" fmla="*/ 165 w 3007"/>
                    <a:gd name="T39" fmla="*/ 3176 h 3771"/>
                    <a:gd name="T40" fmla="*/ 411 w 3007"/>
                    <a:gd name="T41" fmla="*/ 3298 h 3771"/>
                    <a:gd name="T42" fmla="*/ 411 w 3007"/>
                    <a:gd name="T43" fmla="*/ 3186 h 3771"/>
                    <a:gd name="T44" fmla="*/ 603 w 3007"/>
                    <a:gd name="T45" fmla="*/ 3220 h 3771"/>
                    <a:gd name="T46" fmla="*/ 428 w 3007"/>
                    <a:gd name="T47" fmla="*/ 3079 h 3771"/>
                    <a:gd name="T48" fmla="*/ 629 w 3007"/>
                    <a:gd name="T49" fmla="*/ 3062 h 3771"/>
                    <a:gd name="T50" fmla="*/ 95 w 3007"/>
                    <a:gd name="T51" fmla="*/ 2844 h 37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2" name="Freeform 48"/>
                <p:cNvSpPr>
                  <a:spLocks noChangeArrowheads="1"/>
                </p:cNvSpPr>
                <p:nvPr/>
              </p:nvSpPr>
              <p:spPr bwMode="auto">
                <a:xfrm rot="-3172564">
                  <a:off x="5298" y="885"/>
                  <a:ext cx="169" cy="122"/>
                </a:xfrm>
                <a:custGeom>
                  <a:avLst/>
                  <a:gdLst>
                    <a:gd name="T0" fmla="*/ 0 w 673"/>
                    <a:gd name="T1" fmla="*/ 80 h 342"/>
                    <a:gd name="T2" fmla="*/ 255 w 673"/>
                    <a:gd name="T3" fmla="*/ 106 h 342"/>
                    <a:gd name="T4" fmla="*/ 639 w 673"/>
                    <a:gd name="T5" fmla="*/ 342 h 342"/>
                    <a:gd name="T6" fmla="*/ 673 w 673"/>
                    <a:gd name="T7" fmla="*/ 289 h 342"/>
                    <a:gd name="T8" fmla="*/ 447 w 673"/>
                    <a:gd name="T9" fmla="*/ 114 h 342"/>
                    <a:gd name="T10" fmla="*/ 26 w 673"/>
                    <a:gd name="T11" fmla="*/ 0 h 342"/>
                    <a:gd name="T12" fmla="*/ 0 w 673"/>
                    <a:gd name="T13" fmla="*/ 80 h 3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3" name="Freeform 49"/>
                <p:cNvSpPr>
                  <a:spLocks noChangeArrowheads="1"/>
                </p:cNvSpPr>
                <p:nvPr/>
              </p:nvSpPr>
              <p:spPr bwMode="auto">
                <a:xfrm rot="-3172564">
                  <a:off x="5248" y="794"/>
                  <a:ext cx="181" cy="144"/>
                </a:xfrm>
                <a:custGeom>
                  <a:avLst/>
                  <a:gdLst>
                    <a:gd name="T0" fmla="*/ 0 w 716"/>
                    <a:gd name="T1" fmla="*/ 78 h 403"/>
                    <a:gd name="T2" fmla="*/ 340 w 716"/>
                    <a:gd name="T3" fmla="*/ 148 h 403"/>
                    <a:gd name="T4" fmla="*/ 638 w 716"/>
                    <a:gd name="T5" fmla="*/ 403 h 403"/>
                    <a:gd name="T6" fmla="*/ 716 w 716"/>
                    <a:gd name="T7" fmla="*/ 296 h 403"/>
                    <a:gd name="T8" fmla="*/ 420 w 716"/>
                    <a:gd name="T9" fmla="*/ 114 h 403"/>
                    <a:gd name="T10" fmla="*/ 70 w 716"/>
                    <a:gd name="T11" fmla="*/ 0 h 403"/>
                    <a:gd name="T12" fmla="*/ 0 w 716"/>
                    <a:gd name="T13" fmla="*/ 78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4" name="Freeform 50"/>
                <p:cNvSpPr>
                  <a:spLocks noChangeArrowheads="1"/>
                </p:cNvSpPr>
                <p:nvPr/>
              </p:nvSpPr>
              <p:spPr bwMode="auto">
                <a:xfrm rot="-3172564">
                  <a:off x="4979" y="204"/>
                  <a:ext cx="181" cy="147"/>
                </a:xfrm>
                <a:custGeom>
                  <a:avLst/>
                  <a:gdLst>
                    <a:gd name="T0" fmla="*/ 0 w 717"/>
                    <a:gd name="T1" fmla="*/ 78 h 411"/>
                    <a:gd name="T2" fmla="*/ 316 w 717"/>
                    <a:gd name="T3" fmla="*/ 139 h 411"/>
                    <a:gd name="T4" fmla="*/ 649 w 717"/>
                    <a:gd name="T5" fmla="*/ 411 h 411"/>
                    <a:gd name="T6" fmla="*/ 717 w 717"/>
                    <a:gd name="T7" fmla="*/ 314 h 411"/>
                    <a:gd name="T8" fmla="*/ 394 w 717"/>
                    <a:gd name="T9" fmla="*/ 87 h 411"/>
                    <a:gd name="T10" fmla="*/ 54 w 717"/>
                    <a:gd name="T11" fmla="*/ 0 h 411"/>
                    <a:gd name="T12" fmla="*/ 0 w 717"/>
                    <a:gd name="T13" fmla="*/ 78 h 4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5" name="Freeform 51"/>
                <p:cNvSpPr>
                  <a:spLocks noChangeArrowheads="1"/>
                </p:cNvSpPr>
                <p:nvPr/>
              </p:nvSpPr>
              <p:spPr bwMode="auto">
                <a:xfrm rot="-3172564">
                  <a:off x="4948" y="130"/>
                  <a:ext cx="179" cy="138"/>
                </a:xfrm>
                <a:custGeom>
                  <a:avLst/>
                  <a:gdLst>
                    <a:gd name="T0" fmla="*/ 0 w 709"/>
                    <a:gd name="T1" fmla="*/ 88 h 386"/>
                    <a:gd name="T2" fmla="*/ 272 w 709"/>
                    <a:gd name="T3" fmla="*/ 131 h 386"/>
                    <a:gd name="T4" fmla="*/ 665 w 709"/>
                    <a:gd name="T5" fmla="*/ 386 h 386"/>
                    <a:gd name="T6" fmla="*/ 709 w 709"/>
                    <a:gd name="T7" fmla="*/ 308 h 386"/>
                    <a:gd name="T8" fmla="*/ 306 w 709"/>
                    <a:gd name="T9" fmla="*/ 53 h 386"/>
                    <a:gd name="T10" fmla="*/ 43 w 709"/>
                    <a:gd name="T11" fmla="*/ 0 h 386"/>
                    <a:gd name="T12" fmla="*/ 0 w 709"/>
                    <a:gd name="T13" fmla="*/ 88 h 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1038" name="Line 52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Chap. 9 Graph (II)</a:t>
            </a:r>
            <a:endParaRPr kumimoji="0" lang="en-US" altLang="zh-CN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Graph Traversal &amp; Topological Sort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1493838" y="695325"/>
            <a:ext cx="6696075" cy="690563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4000" b="1" dirty="0"/>
              <a:t>Graph traversals </a:t>
            </a:r>
            <a:r>
              <a:rPr lang="zh-CN" altLang="en-US" sz="4000" b="1" dirty="0"/>
              <a:t>（遍历）</a:t>
            </a:r>
            <a:r>
              <a:rPr lang="en-US" altLang="zh-CN" sz="4000" dirty="0"/>
              <a:t> </a:t>
            </a:r>
            <a:endParaRPr lang="en-US" altLang="zh-CN" sz="4000" dirty="0"/>
          </a:p>
        </p:txBody>
      </p:sp>
      <p:sp>
        <p:nvSpPr>
          <p:cNvPr id="7171" name="Text Box 3"/>
          <p:cNvSpPr txBox="1"/>
          <p:nvPr/>
        </p:nvSpPr>
        <p:spPr>
          <a:xfrm>
            <a:off x="417513" y="1706563"/>
            <a:ext cx="8105775" cy="21224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     A </a:t>
            </a:r>
            <a:r>
              <a:rPr lang="en-US" altLang="zh-CN" sz="2400" b="1" dirty="0">
                <a:solidFill>
                  <a:srgbClr val="0070C0"/>
                </a:solidFill>
              </a:rPr>
              <a:t>Graph Traversal</a:t>
            </a:r>
            <a:r>
              <a:rPr lang="en-US" altLang="zh-CN" sz="2400" b="1" dirty="0"/>
              <a:t>, which is similar to a tree traversal in concept, is to visit every vertices of a graph </a:t>
            </a:r>
            <a:r>
              <a:rPr lang="en-US" altLang="zh-CN" sz="2400" b="1" dirty="0">
                <a:solidFill>
                  <a:srgbClr val="FF0000"/>
                </a:solidFill>
              </a:rPr>
              <a:t>exactly once</a:t>
            </a:r>
            <a:r>
              <a:rPr lang="en-US" altLang="zh-CN" sz="2400" b="1" dirty="0"/>
              <a:t> in some specific order.  </a:t>
            </a:r>
            <a:endParaRPr lang="en-US" altLang="zh-CN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    Graph traversals begin with a start vertex, and attempt to visit remaining vertices. </a:t>
            </a:r>
            <a:endParaRPr lang="en-US" altLang="zh-CN" sz="2400" b="1" dirty="0"/>
          </a:p>
        </p:txBody>
      </p:sp>
      <p:sp>
        <p:nvSpPr>
          <p:cNvPr id="7172" name="Text Box 4"/>
          <p:cNvSpPr txBox="1"/>
          <p:nvPr/>
        </p:nvSpPr>
        <p:spPr>
          <a:xfrm>
            <a:off x="684213" y="4149725"/>
            <a:ext cx="7523162" cy="1752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Problem:</a:t>
            </a:r>
            <a:r>
              <a:rPr lang="en-US" altLang="zh-CN" sz="2400" b="1" dirty="0">
                <a:solidFill>
                  <a:schemeClr val="folHlink"/>
                </a:solidFill>
              </a:rPr>
              <a:t> </a:t>
            </a:r>
            <a:r>
              <a:rPr lang="en-US" altLang="zh-CN" sz="2400" b="1" dirty="0"/>
              <a:t>The graph may contains cycles, and a vertex may be reached more than one times.</a:t>
            </a:r>
            <a:endParaRPr lang="en-US" altLang="zh-CN" sz="2400" b="1" dirty="0"/>
          </a:p>
          <a:p>
            <a:pPr marL="457200" lvl="0" indent="-4572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99"/>
                </a:solidFill>
              </a:rPr>
              <a:t>Solution:</a:t>
            </a:r>
            <a:r>
              <a:rPr lang="en-US" altLang="zh-CN" sz="2400" b="1" dirty="0">
                <a:solidFill>
                  <a:srgbClr val="00B0F0"/>
                </a:solidFill>
              </a:rPr>
              <a:t> </a:t>
            </a:r>
            <a:r>
              <a:rPr lang="en-US" altLang="zh-CN" sz="2400" b="1" dirty="0"/>
              <a:t>Use an array </a:t>
            </a:r>
            <a:r>
              <a:rPr lang="en-US" altLang="zh-CN" sz="2400" b="1" dirty="0">
                <a:solidFill>
                  <a:srgbClr val="000099"/>
                </a:solidFill>
              </a:rPr>
              <a:t>Visited[MAX_VEX ] </a:t>
            </a:r>
            <a:r>
              <a:rPr lang="en-US" altLang="zh-CN" sz="2400" b="1" dirty="0"/>
              <a:t>to store the visited vertices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50" end="2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charRg st="150" end="2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charRg st="0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2">
                                            <p:txEl>
                                              <p:charRg st="0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charRg st="89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2">
                                            <p:txEl>
                                              <p:charRg st="89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194" name="Text Box 2"/>
          <p:cNvSpPr txBox="1"/>
          <p:nvPr/>
        </p:nvSpPr>
        <p:spPr>
          <a:xfrm>
            <a:off x="417513" y="1911350"/>
            <a:ext cx="8105775" cy="3414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The order in which the vertices are visited is  important. There are two common traversals: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    - depth first search (DFS)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8000"/>
                </a:solidFill>
              </a:rPr>
              <a:t>             </a:t>
            </a:r>
            <a:r>
              <a:rPr lang="en-US" altLang="zh-TW" sz="2400" dirty="0">
                <a:solidFill>
                  <a:srgbClr val="008000"/>
                </a:solidFill>
              </a:rPr>
              <a:t>preorder tree traversal</a:t>
            </a:r>
            <a:endParaRPr lang="en-US" altLang="zh-CN" sz="2400" dirty="0">
              <a:solidFill>
                <a:srgbClr val="008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    - breadth first search (BFS)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       </a:t>
            </a:r>
            <a:r>
              <a:rPr lang="en-US" altLang="zh-CN" sz="2400" dirty="0">
                <a:solidFill>
                  <a:srgbClr val="008000"/>
                </a:solidFill>
              </a:rPr>
              <a:t>breath first tree traversal</a:t>
            </a:r>
            <a:endParaRPr lang="en-US" altLang="zh-CN" sz="2400" dirty="0">
              <a:solidFill>
                <a:srgbClr val="00800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125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196" end="2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1692275" y="476250"/>
            <a:ext cx="6619875" cy="690563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3600" b="1" dirty="0"/>
              <a:t>Depth First Search (DFS)</a:t>
            </a:r>
            <a:r>
              <a:rPr lang="en-US" altLang="zh-CN" sz="4000" dirty="0">
                <a:solidFill>
                  <a:srgbClr val="FF3300"/>
                </a:solidFill>
              </a:rPr>
              <a:t> </a:t>
            </a:r>
            <a:endParaRPr lang="en-US" altLang="zh-CN" sz="4000" dirty="0">
              <a:solidFill>
                <a:srgbClr val="FF3300"/>
              </a:solidFill>
            </a:endParaRPr>
          </a:p>
        </p:txBody>
      </p:sp>
      <p:sp>
        <p:nvSpPr>
          <p:cNvPr id="7171" name="Text Box 3"/>
          <p:cNvSpPr txBox="1"/>
          <p:nvPr/>
        </p:nvSpPr>
        <p:spPr>
          <a:xfrm>
            <a:off x="409575" y="1431925"/>
            <a:ext cx="8280400" cy="292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 </a:t>
            </a:r>
            <a:r>
              <a:rPr lang="en-US" altLang="zh-CN" sz="2000" b="1" dirty="0"/>
              <a:t>Assume a particular node has been designated as the starting point. Let </a:t>
            </a:r>
            <a:r>
              <a:rPr lang="en-US" altLang="zh-CN" sz="2000" b="1" dirty="0">
                <a:solidFill>
                  <a:schemeClr val="tx2"/>
                </a:solidFill>
              </a:rPr>
              <a:t>A</a:t>
            </a:r>
            <a:r>
              <a:rPr lang="en-US" altLang="zh-CN" sz="2000" b="1" dirty="0"/>
              <a:t> be the </a:t>
            </a:r>
            <a:r>
              <a:rPr lang="en-US" altLang="zh-CN" sz="2000" b="1" dirty="0">
                <a:solidFill>
                  <a:schemeClr val="tx2"/>
                </a:solidFill>
              </a:rPr>
              <a:t>last node</a:t>
            </a:r>
            <a:r>
              <a:rPr lang="en-US" altLang="zh-CN" sz="2000" b="1" dirty="0"/>
              <a:t> visited and suppose A has neighbors N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, N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, </a:t>
            </a:r>
            <a:r>
              <a:rPr lang="en-US" altLang="zh-CN" sz="2000" b="1" dirty="0">
                <a:latin typeface="TimesNewRoman" charset="0"/>
              </a:rPr>
              <a:t>…</a:t>
            </a:r>
            <a:r>
              <a:rPr lang="en-US" altLang="zh-CN" sz="2000" b="1" dirty="0"/>
              <a:t>, N</a:t>
            </a:r>
            <a:r>
              <a:rPr lang="en-US" altLang="zh-CN" sz="2000" b="1" baseline="-25000" dirty="0"/>
              <a:t>k</a:t>
            </a:r>
            <a:r>
              <a:rPr lang="en-US" altLang="zh-CN" sz="2000" b="1" dirty="0"/>
              <a:t>.</a:t>
            </a:r>
            <a:endParaRPr lang="en-US" altLang="zh-CN" sz="2000" b="1" dirty="0"/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A depth-first search will:</a:t>
            </a:r>
            <a:endParaRPr lang="en-US" altLang="zh-CN" sz="2000" b="1" dirty="0"/>
          </a:p>
          <a:p>
            <a:pPr marL="457200" lvl="1" indent="0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/>
              <a:t> visit N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, then</a:t>
            </a:r>
            <a:endParaRPr lang="en-US" altLang="zh-CN" sz="2000" b="1" dirty="0"/>
          </a:p>
          <a:p>
            <a:pPr marL="457200" lvl="1" indent="0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/>
              <a:t> proceed to traverse all the unvisited neighbors of N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 in similar fashion </a:t>
            </a:r>
            <a:endParaRPr lang="en-US" altLang="zh-CN" sz="2000" b="1" dirty="0"/>
          </a:p>
          <a:p>
            <a:pPr marL="457200" lvl="1" indent="0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/>
              <a:t>then proceed to traverse the remaining neighbors of A in similar fashion. </a:t>
            </a:r>
            <a:endParaRPr lang="en-US" altLang="zh-CN" sz="2000" b="1" dirty="0"/>
          </a:p>
        </p:txBody>
      </p:sp>
      <p:pic>
        <p:nvPicPr>
          <p:cNvPr id="7172" name="Picture 4"/>
          <p:cNvPicPr>
            <a:picLocks noChangeAspect="1"/>
          </p:cNvPicPr>
          <p:nvPr/>
        </p:nvPicPr>
        <p:blipFill>
          <a:blip r:embed="rId1">
            <a:lum contrast="52000"/>
          </a:blip>
          <a:stretch>
            <a:fillRect/>
          </a:stretch>
        </p:blipFill>
        <p:spPr>
          <a:xfrm>
            <a:off x="1063625" y="4292600"/>
            <a:ext cx="7286625" cy="2400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2268538" y="476250"/>
            <a:ext cx="4716462" cy="690563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3600" b="1" dirty="0"/>
              <a:t>Depth-First Search</a:t>
            </a:r>
            <a:endParaRPr lang="en-US" altLang="zh-CN" sz="4000" b="1" dirty="0">
              <a:solidFill>
                <a:srgbClr val="FF3300"/>
              </a:solidFill>
            </a:endParaRPr>
          </a:p>
        </p:txBody>
      </p:sp>
      <p:sp>
        <p:nvSpPr>
          <p:cNvPr id="10243" name="Text Box 3"/>
          <p:cNvSpPr txBox="1"/>
          <p:nvPr/>
        </p:nvSpPr>
        <p:spPr>
          <a:xfrm>
            <a:off x="379413" y="1431925"/>
            <a:ext cx="4002087" cy="3784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</a:t>
            </a:r>
            <a:r>
              <a:rPr lang="en-US" altLang="zh-CN" sz="2400" b="1" dirty="0"/>
              <a:t>Assuming :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(i) the node labeled </a:t>
            </a:r>
            <a:r>
              <a:rPr lang="en-US" altLang="zh-CN" sz="2400" b="1" dirty="0">
                <a:solidFill>
                  <a:schemeClr val="tx2"/>
                </a:solidFill>
              </a:rPr>
              <a:t>a</a:t>
            </a:r>
            <a:r>
              <a:rPr lang="en-US" altLang="zh-CN" sz="2400" b="1" dirty="0"/>
              <a:t> has been designated as the starting point 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(ii) visit the neighbors in alphabetic order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A depth-first traversal would visit the graph nodes in the order: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        </a:t>
            </a:r>
            <a:r>
              <a:rPr lang="en-US" altLang="zh-CN" sz="2400" b="1" dirty="0">
                <a:solidFill>
                  <a:schemeClr val="tx2"/>
                </a:solidFill>
              </a:rPr>
              <a:t>a b e c d f g h i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5435600" y="1700213"/>
            <a:ext cx="431800" cy="4333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a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732588" y="2060575"/>
            <a:ext cx="431800" cy="431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b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989513" y="2636838"/>
            <a:ext cx="431800" cy="431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c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6011863" y="2652713"/>
            <a:ext cx="431800" cy="431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d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011863" y="3573463"/>
            <a:ext cx="431800" cy="431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5003800" y="3716338"/>
            <a:ext cx="431800" cy="4333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435725" y="4365625"/>
            <a:ext cx="431800" cy="431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g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812088" y="2708275"/>
            <a:ext cx="431800" cy="4333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h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7235825" y="3644900"/>
            <a:ext cx="431800" cy="431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5" name="直接连接符 14"/>
          <p:cNvCxnSpPr>
            <a:stCxn id="6" idx="6"/>
            <a:endCxn id="7" idx="2"/>
          </p:cNvCxnSpPr>
          <p:nvPr/>
        </p:nvCxnSpPr>
        <p:spPr>
          <a:xfrm>
            <a:off x="5867400" y="1916113"/>
            <a:ext cx="865188" cy="3603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6" idx="3"/>
            <a:endCxn id="8" idx="0"/>
          </p:cNvCxnSpPr>
          <p:nvPr/>
        </p:nvCxnSpPr>
        <p:spPr>
          <a:xfrm flipH="1">
            <a:off x="5205413" y="2070100"/>
            <a:ext cx="293688" cy="5667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8" idx="6"/>
            <a:endCxn id="9" idx="2"/>
          </p:cNvCxnSpPr>
          <p:nvPr/>
        </p:nvCxnSpPr>
        <p:spPr>
          <a:xfrm>
            <a:off x="5421313" y="2852738"/>
            <a:ext cx="590550" cy="158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8" idx="5"/>
            <a:endCxn id="10" idx="1"/>
          </p:cNvCxnSpPr>
          <p:nvPr/>
        </p:nvCxnSpPr>
        <p:spPr>
          <a:xfrm>
            <a:off x="5357813" y="3005138"/>
            <a:ext cx="717550" cy="6318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10" idx="2"/>
            <a:endCxn id="11" idx="6"/>
          </p:cNvCxnSpPr>
          <p:nvPr/>
        </p:nvCxnSpPr>
        <p:spPr>
          <a:xfrm flipH="1">
            <a:off x="5435600" y="3789363"/>
            <a:ext cx="576263" cy="144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10" idx="5"/>
            <a:endCxn id="12" idx="0"/>
          </p:cNvCxnSpPr>
          <p:nvPr/>
        </p:nvCxnSpPr>
        <p:spPr>
          <a:xfrm>
            <a:off x="6380163" y="3941763"/>
            <a:ext cx="271463" cy="423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7" idx="4"/>
            <a:endCxn id="10" idx="7"/>
          </p:cNvCxnSpPr>
          <p:nvPr/>
        </p:nvCxnSpPr>
        <p:spPr>
          <a:xfrm flipH="1">
            <a:off x="6380163" y="2492375"/>
            <a:ext cx="568325" cy="1144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7" idx="5"/>
            <a:endCxn id="13" idx="2"/>
          </p:cNvCxnSpPr>
          <p:nvPr/>
        </p:nvCxnSpPr>
        <p:spPr>
          <a:xfrm>
            <a:off x="7100888" y="2428875"/>
            <a:ext cx="711200" cy="4953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13" idx="4"/>
            <a:endCxn id="14" idx="0"/>
          </p:cNvCxnSpPr>
          <p:nvPr/>
        </p:nvCxnSpPr>
        <p:spPr>
          <a:xfrm flipH="1">
            <a:off x="7451725" y="3141663"/>
            <a:ext cx="576263" cy="503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7" idx="5"/>
            <a:endCxn id="14" idx="0"/>
          </p:cNvCxnSpPr>
          <p:nvPr/>
        </p:nvCxnSpPr>
        <p:spPr>
          <a:xfrm>
            <a:off x="7100888" y="2428875"/>
            <a:ext cx="350838" cy="12160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6" idx="6"/>
            <a:endCxn id="7" idx="2"/>
          </p:cNvCxnSpPr>
          <p:nvPr/>
        </p:nvCxnSpPr>
        <p:spPr>
          <a:xfrm>
            <a:off x="5867400" y="1916113"/>
            <a:ext cx="865188" cy="3603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7" idx="4"/>
            <a:endCxn id="10" idx="7"/>
          </p:cNvCxnSpPr>
          <p:nvPr/>
        </p:nvCxnSpPr>
        <p:spPr>
          <a:xfrm flipH="1">
            <a:off x="6380163" y="2492375"/>
            <a:ext cx="568325" cy="1144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10" idx="1"/>
            <a:endCxn id="8" idx="5"/>
          </p:cNvCxnSpPr>
          <p:nvPr/>
        </p:nvCxnSpPr>
        <p:spPr>
          <a:xfrm flipH="1" flipV="1">
            <a:off x="5357813" y="3005138"/>
            <a:ext cx="717550" cy="631825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stCxn id="8" idx="6"/>
            <a:endCxn id="9" idx="2"/>
          </p:cNvCxnSpPr>
          <p:nvPr/>
        </p:nvCxnSpPr>
        <p:spPr>
          <a:xfrm>
            <a:off x="5421313" y="2852738"/>
            <a:ext cx="590550" cy="15875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10" idx="2"/>
            <a:endCxn id="11" idx="6"/>
          </p:cNvCxnSpPr>
          <p:nvPr/>
        </p:nvCxnSpPr>
        <p:spPr>
          <a:xfrm flipH="1">
            <a:off x="5435600" y="3789363"/>
            <a:ext cx="576263" cy="1444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10" idx="5"/>
            <a:endCxn id="12" idx="0"/>
          </p:cNvCxnSpPr>
          <p:nvPr/>
        </p:nvCxnSpPr>
        <p:spPr>
          <a:xfrm>
            <a:off x="6380163" y="3941763"/>
            <a:ext cx="271463" cy="4238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7" idx="5"/>
            <a:endCxn id="13" idx="2"/>
          </p:cNvCxnSpPr>
          <p:nvPr/>
        </p:nvCxnSpPr>
        <p:spPr>
          <a:xfrm>
            <a:off x="7100888" y="2428875"/>
            <a:ext cx="711200" cy="4953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13" idx="4"/>
            <a:endCxn id="14" idx="0"/>
          </p:cNvCxnSpPr>
          <p:nvPr/>
        </p:nvCxnSpPr>
        <p:spPr>
          <a:xfrm flipH="1">
            <a:off x="7451725" y="3141663"/>
            <a:ext cx="576263" cy="50323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4" name="Text Box 4" descr="再生纸"/>
          <p:cNvSpPr txBox="1"/>
          <p:nvPr/>
        </p:nvSpPr>
        <p:spPr>
          <a:xfrm>
            <a:off x="520700" y="4005263"/>
            <a:ext cx="8210550" cy="2492375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Note:</a:t>
            </a:r>
            <a:endParaRPr lang="en-US" altLang="zh-CN" sz="24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If the edges taken during the depth-first traversal are marked, they define a tree (not necessarily binary) which includes all the nodes of the graph. Such a tree is a </a:t>
            </a:r>
            <a:r>
              <a:rPr lang="en-US" altLang="zh-CN" sz="2400" b="1" dirty="0">
                <a:solidFill>
                  <a:schemeClr val="tx2"/>
                </a:solidFill>
              </a:rPr>
              <a:t>spanning tree</a:t>
            </a:r>
            <a:r>
              <a:rPr lang="zh-CN" altLang="en-US" sz="2400" b="1" dirty="0">
                <a:solidFill>
                  <a:schemeClr val="tx2"/>
                </a:solidFill>
              </a:rPr>
              <a:t>（生成树）</a:t>
            </a:r>
            <a:r>
              <a:rPr lang="en-US" altLang="zh-CN" sz="2400" b="1" dirty="0"/>
              <a:t>for the graph. We call this tree </a:t>
            </a:r>
            <a:r>
              <a:rPr lang="en-US" altLang="zh-CN" sz="2400" b="1" dirty="0">
                <a:solidFill>
                  <a:schemeClr val="tx2"/>
                </a:solidFill>
              </a:rPr>
              <a:t>DFS tree</a:t>
            </a:r>
            <a:r>
              <a:rPr lang="en-US" altLang="zh-CN" sz="2400" b="1" dirty="0"/>
              <a:t>. 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23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243">
                                            <p:txEl>
                                              <p:charRg st="123" end="1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89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243">
                                            <p:txEl>
                                              <p:charRg st="189" end="2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36513" y="477838"/>
            <a:ext cx="4302125" cy="68897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b="1" dirty="0"/>
              <a:t>Adjacency List</a:t>
            </a:r>
            <a:endParaRPr lang="en-US" altLang="zh-CN" sz="3600" b="1" dirty="0"/>
          </a:p>
        </p:txBody>
      </p:sp>
      <p:graphicFrame>
        <p:nvGraphicFramePr>
          <p:cNvPr id="9219" name="Object 4"/>
          <p:cNvGraphicFramePr>
            <a:graphicFrameLocks noChangeAspect="1"/>
          </p:cNvGraphicFramePr>
          <p:nvPr/>
        </p:nvGraphicFramePr>
        <p:xfrm>
          <a:off x="8235950" y="1622425"/>
          <a:ext cx="114300" cy="19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14300" imgH="215900" progId="Equation.3">
                  <p:embed/>
                </p:oleObj>
              </mc:Choice>
              <mc:Fallback>
                <p:oleObj name="" r:id="rId1" imgW="1143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35950" y="1622425"/>
                        <a:ext cx="114300" cy="193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0" name="组合 5"/>
          <p:cNvGrpSpPr/>
          <p:nvPr/>
        </p:nvGrpSpPr>
        <p:grpSpPr>
          <a:xfrm>
            <a:off x="250825" y="2420938"/>
            <a:ext cx="3097213" cy="2520950"/>
            <a:chOff x="3404790" y="1700808"/>
            <a:chExt cx="3255442" cy="3096344"/>
          </a:xfrm>
        </p:grpSpPr>
        <p:sp>
          <p:nvSpPr>
            <p:cNvPr id="3" name="椭圆 2"/>
            <p:cNvSpPr/>
            <p:nvPr/>
          </p:nvSpPr>
          <p:spPr>
            <a:xfrm>
              <a:off x="3851975" y="1700808"/>
              <a:ext cx="432168" cy="43286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a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148479" y="2061528"/>
              <a:ext cx="432167" cy="43091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b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3404790" y="2636731"/>
              <a:ext cx="432168" cy="43286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c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4427643" y="2654279"/>
              <a:ext cx="432167" cy="43091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d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427643" y="3572653"/>
              <a:ext cx="432167" cy="43286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e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419808" y="3716941"/>
              <a:ext cx="432167" cy="43286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f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4851468" y="4364288"/>
              <a:ext cx="432167" cy="43286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g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228064" y="2708874"/>
              <a:ext cx="432168" cy="43286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h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5652397" y="3644797"/>
              <a:ext cx="432167" cy="43286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i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2" name="直接连接符 11"/>
            <p:cNvCxnSpPr>
              <a:stCxn id="3" idx="6"/>
              <a:endCxn id="4" idx="2"/>
            </p:cNvCxnSpPr>
            <p:nvPr/>
          </p:nvCxnSpPr>
          <p:spPr>
            <a:xfrm>
              <a:off x="4284144" y="1917239"/>
              <a:ext cx="864336" cy="3607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3" idx="3"/>
              <a:endCxn id="5" idx="0"/>
            </p:cNvCxnSpPr>
            <p:nvPr/>
          </p:nvCxnSpPr>
          <p:spPr>
            <a:xfrm flipH="1">
              <a:off x="3620040" y="2069327"/>
              <a:ext cx="293674" cy="5674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5" idx="6"/>
              <a:endCxn id="6" idx="2"/>
            </p:cNvCxnSpPr>
            <p:nvPr/>
          </p:nvCxnSpPr>
          <p:spPr>
            <a:xfrm>
              <a:off x="3836958" y="2853162"/>
              <a:ext cx="590685" cy="155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5" idx="5"/>
              <a:endCxn id="7" idx="1"/>
            </p:cNvCxnSpPr>
            <p:nvPr/>
          </p:nvCxnSpPr>
          <p:spPr>
            <a:xfrm>
              <a:off x="3773551" y="3005250"/>
              <a:ext cx="717499" cy="6317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7" idx="2"/>
              <a:endCxn id="8" idx="6"/>
            </p:cNvCxnSpPr>
            <p:nvPr/>
          </p:nvCxnSpPr>
          <p:spPr>
            <a:xfrm flipH="1">
              <a:off x="3851975" y="3789085"/>
              <a:ext cx="575668" cy="1442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7" idx="5"/>
              <a:endCxn id="9" idx="0"/>
            </p:cNvCxnSpPr>
            <p:nvPr/>
          </p:nvCxnSpPr>
          <p:spPr>
            <a:xfrm>
              <a:off x="4798073" y="3941172"/>
              <a:ext cx="268644" cy="4231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4" idx="4"/>
              <a:endCxn id="7" idx="7"/>
            </p:cNvCxnSpPr>
            <p:nvPr/>
          </p:nvCxnSpPr>
          <p:spPr>
            <a:xfrm flipH="1">
              <a:off x="4798073" y="2492443"/>
              <a:ext cx="565655" cy="11445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4" idx="5"/>
              <a:endCxn id="10" idx="2"/>
            </p:cNvCxnSpPr>
            <p:nvPr/>
          </p:nvCxnSpPr>
          <p:spPr>
            <a:xfrm>
              <a:off x="5517239" y="2430048"/>
              <a:ext cx="710824" cy="495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0" idx="4"/>
              <a:endCxn id="11" idx="0"/>
            </p:cNvCxnSpPr>
            <p:nvPr/>
          </p:nvCxnSpPr>
          <p:spPr>
            <a:xfrm flipH="1">
              <a:off x="5867646" y="3141738"/>
              <a:ext cx="577336" cy="5030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4" idx="5"/>
              <a:endCxn id="11" idx="0"/>
            </p:cNvCxnSpPr>
            <p:nvPr/>
          </p:nvCxnSpPr>
          <p:spPr>
            <a:xfrm>
              <a:off x="5517239" y="2430048"/>
              <a:ext cx="350406" cy="12147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21" name="文本框 1"/>
          <p:cNvSpPr txBox="1"/>
          <p:nvPr/>
        </p:nvSpPr>
        <p:spPr>
          <a:xfrm>
            <a:off x="719138" y="2141538"/>
            <a:ext cx="28257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0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9222" name="文本框 25"/>
          <p:cNvSpPr txBox="1"/>
          <p:nvPr/>
        </p:nvSpPr>
        <p:spPr>
          <a:xfrm>
            <a:off x="2206625" y="2533650"/>
            <a:ext cx="28098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1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9223" name="文本框 26"/>
          <p:cNvSpPr txBox="1"/>
          <p:nvPr/>
        </p:nvSpPr>
        <p:spPr>
          <a:xfrm>
            <a:off x="153988" y="2901950"/>
            <a:ext cx="28257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2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9224" name="文本框 27"/>
          <p:cNvSpPr txBox="1"/>
          <p:nvPr/>
        </p:nvSpPr>
        <p:spPr>
          <a:xfrm>
            <a:off x="1401763" y="2924175"/>
            <a:ext cx="280987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3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9225" name="文本框 28"/>
          <p:cNvSpPr txBox="1"/>
          <p:nvPr/>
        </p:nvSpPr>
        <p:spPr>
          <a:xfrm>
            <a:off x="1562100" y="3862388"/>
            <a:ext cx="280988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4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9226" name="文本框 29"/>
          <p:cNvSpPr txBox="1"/>
          <p:nvPr/>
        </p:nvSpPr>
        <p:spPr>
          <a:xfrm>
            <a:off x="233363" y="3797300"/>
            <a:ext cx="280987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5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9227" name="文本框 30"/>
          <p:cNvSpPr txBox="1"/>
          <p:nvPr/>
        </p:nvSpPr>
        <p:spPr>
          <a:xfrm>
            <a:off x="1828800" y="4295775"/>
            <a:ext cx="28257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6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9228" name="文本框 31"/>
          <p:cNvSpPr txBox="1"/>
          <p:nvPr/>
        </p:nvSpPr>
        <p:spPr>
          <a:xfrm>
            <a:off x="3005138" y="2924175"/>
            <a:ext cx="28257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7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9229" name="文本框 32"/>
          <p:cNvSpPr txBox="1"/>
          <p:nvPr/>
        </p:nvSpPr>
        <p:spPr>
          <a:xfrm>
            <a:off x="2287588" y="3760788"/>
            <a:ext cx="28257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8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9230" name="文本框 30"/>
          <p:cNvSpPr txBox="1"/>
          <p:nvPr/>
        </p:nvSpPr>
        <p:spPr>
          <a:xfrm>
            <a:off x="4140200" y="1341438"/>
            <a:ext cx="15113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Vexs:</a:t>
            </a:r>
            <a:endParaRPr lang="zh-CN" altLang="en-US" sz="2400" dirty="0"/>
          </a:p>
        </p:txBody>
      </p:sp>
      <p:sp>
        <p:nvSpPr>
          <p:cNvPr id="9231" name="文本框 31"/>
          <p:cNvSpPr txBox="1"/>
          <p:nvPr/>
        </p:nvSpPr>
        <p:spPr>
          <a:xfrm>
            <a:off x="4211638" y="2586038"/>
            <a:ext cx="15128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AdjList: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242" name="Text Box 2"/>
          <p:cNvSpPr txBox="1"/>
          <p:nvPr/>
        </p:nvSpPr>
        <p:spPr>
          <a:xfrm>
            <a:off x="409575" y="3049905"/>
            <a:ext cx="8522970" cy="214058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typedef struct</a:t>
            </a:r>
            <a:endParaRPr lang="en-US" altLang="zh-CN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{ </a:t>
            </a:r>
            <a:endParaRPr lang="en-US" altLang="zh-CN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     int </a:t>
            </a:r>
            <a:r>
              <a:rPr lang="en-US" altLang="zh-CN" sz="1800" dirty="0">
                <a:solidFill>
                  <a:srgbClr val="000099"/>
                </a:solidFill>
                <a:latin typeface="Tahoma" panose="020B0604030504040204" pitchFamily="34" charset="0"/>
                <a:ea typeface="PMingLiU" pitchFamily="18" charset="-120"/>
              </a:rPr>
              <a:t>vexnum</a:t>
            </a: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 ;             /* number of nodes */</a:t>
            </a:r>
            <a:endParaRPr lang="en-US" altLang="zh-CN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457200" lvl="1" algn="l" eaLnBrk="1" hangingPunct="1">
              <a:buClrTx/>
              <a:buSzTx/>
              <a:buFontTx/>
              <a:buNone/>
            </a:pP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        </a:t>
            </a: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  <a:sym typeface="+mn-ea"/>
              </a:rPr>
              <a:t>VexType vexs[MAX_VEX];</a:t>
            </a:r>
            <a:endParaRPr lang="en-US" altLang="zh-CN" sz="1800" dirty="0">
              <a:latin typeface="Tahoma" panose="020B0604030504040204" pitchFamily="34" charset="0"/>
              <a:ea typeface="PMingLiU" pitchFamily="18" charset="-120"/>
              <a:sym typeface="+mn-ea"/>
            </a:endParaRPr>
          </a:p>
          <a:p>
            <a:pPr marL="457200" lvl="1" algn="l" eaLnBrk="1" hangingPunct="1">
              <a:buClrTx/>
              <a:buSzTx/>
              <a:buFontTx/>
              <a:buNone/>
            </a:pP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  <a:sym typeface="+mn-ea"/>
              </a:rPr>
              <a:t>        </a:t>
            </a: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node   </a:t>
            </a:r>
            <a:r>
              <a:rPr lang="en-US" altLang="zh-CN" sz="1800" dirty="0">
                <a:solidFill>
                  <a:srgbClr val="000099"/>
                </a:solidFill>
                <a:latin typeface="Tahoma" panose="020B0604030504040204" pitchFamily="34" charset="0"/>
                <a:ea typeface="PMingLiU" pitchFamily="18" charset="-120"/>
              </a:rPr>
              <a:t>AdjList</a:t>
            </a: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[MAX_VEX] ;</a:t>
            </a:r>
            <a:endParaRPr lang="en-US" altLang="zh-CN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914400" lvl="2" indent="0" eaLnBrk="1" hangingPunct="1">
              <a:spcBef>
                <a:spcPct val="0"/>
              </a:spcBef>
              <a:buNone/>
            </a:pPr>
            <a:endParaRPr lang="en-US" altLang="zh-CN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}ALGraph ;</a:t>
            </a:r>
            <a:endParaRPr lang="en-US" altLang="zh-TW" sz="1800" dirty="0">
              <a:latin typeface="Tahoma" panose="020B0604030504040204" pitchFamily="34" charset="0"/>
              <a:ea typeface="PMingLiU" pitchFamily="18" charset="-120"/>
            </a:endParaRPr>
          </a:p>
        </p:txBody>
      </p:sp>
      <p:sp>
        <p:nvSpPr>
          <p:cNvPr id="10243" name="文本框 1"/>
          <p:cNvSpPr txBox="1"/>
          <p:nvPr/>
        </p:nvSpPr>
        <p:spPr>
          <a:xfrm>
            <a:off x="407988" y="404813"/>
            <a:ext cx="3816350" cy="244538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#define MAX_VE</a:t>
            </a: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X</a:t>
            </a: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 50</a:t>
            </a:r>
            <a:endParaRPr lang="en-US" altLang="zh-TW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typedef struct node *node_ptr;</a:t>
            </a:r>
            <a:endParaRPr lang="en-US" altLang="zh-TW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typedef struct node {</a:t>
            </a:r>
            <a:endParaRPr lang="en-US" altLang="zh-TW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	</a:t>
            </a:r>
            <a:r>
              <a:rPr lang="en-US" altLang="zh-CN" sz="1800" dirty="0">
                <a:latin typeface="Tahoma" panose="020B0604030504040204" pitchFamily="34" charset="0"/>
                <a:ea typeface="PMingLiU" pitchFamily="18" charset="-120"/>
              </a:rPr>
              <a:t>int</a:t>
            </a: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 </a:t>
            </a:r>
            <a:r>
              <a:rPr lang="en-US" altLang="zh-TW" sz="1800" dirty="0">
                <a:solidFill>
                  <a:srgbClr val="000099"/>
                </a:solidFill>
                <a:latin typeface="Tahoma" panose="020B0604030504040204" pitchFamily="34" charset="0"/>
                <a:ea typeface="PMingLiU" pitchFamily="18" charset="-120"/>
              </a:rPr>
              <a:t>vertex_No</a:t>
            </a: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;</a:t>
            </a:r>
            <a:endParaRPr lang="en-US" altLang="zh-TW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	node_ptr </a:t>
            </a:r>
            <a:r>
              <a:rPr lang="en-US" altLang="zh-TW" sz="1800" dirty="0">
                <a:solidFill>
                  <a:srgbClr val="000099"/>
                </a:solidFill>
                <a:latin typeface="Tahoma" panose="020B0604030504040204" pitchFamily="34" charset="0"/>
                <a:ea typeface="PMingLiU" pitchFamily="18" charset="-120"/>
              </a:rPr>
              <a:t>link</a:t>
            </a: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;</a:t>
            </a:r>
            <a:endParaRPr lang="en-US" altLang="zh-TW" sz="1800" dirty="0">
              <a:latin typeface="Tahoma" panose="020B0604030504040204" pitchFamily="34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} node;</a:t>
            </a:r>
            <a:endParaRPr lang="zh-CN" altLang="en-US" sz="1800" dirty="0"/>
          </a:p>
        </p:txBody>
      </p:sp>
      <p:sp>
        <p:nvSpPr>
          <p:cNvPr id="2" name="矩形 1"/>
          <p:cNvSpPr/>
          <p:nvPr/>
        </p:nvSpPr>
        <p:spPr>
          <a:xfrm>
            <a:off x="6156325" y="775653"/>
            <a:ext cx="1455738" cy="12858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156325" y="1455103"/>
            <a:ext cx="14557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6" name="文本框 5"/>
          <p:cNvSpPr txBox="1"/>
          <p:nvPr/>
        </p:nvSpPr>
        <p:spPr>
          <a:xfrm>
            <a:off x="6421438" y="1558290"/>
            <a:ext cx="11906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/>
              <a:t>AdjList</a:t>
            </a:r>
            <a:endParaRPr lang="zh-CN" altLang="en-US" sz="1800" dirty="0"/>
          </a:p>
        </p:txBody>
      </p:sp>
      <p:sp>
        <p:nvSpPr>
          <p:cNvPr id="10247" name="文本框 97"/>
          <p:cNvSpPr txBox="1"/>
          <p:nvPr/>
        </p:nvSpPr>
        <p:spPr>
          <a:xfrm>
            <a:off x="6419850" y="929640"/>
            <a:ext cx="1074738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/>
              <a:t>vexnum                           </a:t>
            </a:r>
            <a:endParaRPr lang="zh-CN" altLang="en-US" sz="1800" dirty="0"/>
          </a:p>
        </p:txBody>
      </p:sp>
      <p:sp>
        <p:nvSpPr>
          <p:cNvPr id="10248" name="文本框 98"/>
          <p:cNvSpPr txBox="1"/>
          <p:nvPr/>
        </p:nvSpPr>
        <p:spPr>
          <a:xfrm>
            <a:off x="4968875" y="785178"/>
            <a:ext cx="119062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/>
              <a:t>ALGraph: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266" name="Rectangle 2"/>
          <p:cNvSpPr/>
          <p:nvPr/>
        </p:nvSpPr>
        <p:spPr>
          <a:xfrm>
            <a:off x="107950" y="260350"/>
            <a:ext cx="8839200" cy="63007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179705" lvl="1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dirty="0">
                <a:latin typeface="Times New Roman" panose="02020603050405020304" pitchFamily="18" charset="0"/>
              </a:rPr>
              <a:t>BOOLEAN Visited[MAX_VEX];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//initialize with all F's</a:t>
            </a:r>
            <a:endParaRPr lang="en-US" altLang="zh-CN" sz="28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dirty="0">
                <a:latin typeface="Times New Roman" panose="02020603050405020304" pitchFamily="18" charset="0"/>
              </a:rPr>
              <a:t>void  DFS(ALGraph * G , int v)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179705" lvl="1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dirty="0">
                <a:latin typeface="Times New Roman" panose="02020603050405020304" pitchFamily="18" charset="0"/>
              </a:rPr>
              <a:t>{  LinkNode  *p ;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dirty="0">
                <a:latin typeface="Times New Roman" panose="02020603050405020304" pitchFamily="18" charset="0"/>
              </a:rPr>
              <a:t>Visited[v]=TRUE ;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dirty="0">
                <a:latin typeface="Times New Roman" panose="02020603050405020304" pitchFamily="18" charset="0"/>
              </a:rPr>
              <a:t>Visit(v) ;       </a:t>
            </a:r>
            <a:r>
              <a:rPr lang="en-US" altLang="zh-CN" sz="2400" dirty="0">
                <a:latin typeface="Times New Roman" panose="02020603050405020304" pitchFamily="18" charset="0"/>
              </a:rPr>
              <a:t>/*  visit the vertex v  */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dirty="0">
                <a:latin typeface="Times New Roman" panose="02020603050405020304" pitchFamily="18" charset="0"/>
              </a:rPr>
              <a:t>p=G-&gt;AdjList[v].link;   </a:t>
            </a:r>
            <a:r>
              <a:rPr lang="en-US" altLang="zh-CN" sz="2400" dirty="0">
                <a:latin typeface="Times New Roman" panose="02020603050405020304" pitchFamily="18" charset="0"/>
              </a:rPr>
              <a:t>/*  the first node of the singly 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                                           linked list  */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723900" lvl="2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dirty="0">
                <a:latin typeface="Times New Roman" panose="02020603050405020304" pitchFamily="18" charset="0"/>
              </a:rPr>
              <a:t>while (p!=NULL)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1079500" lvl="3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dirty="0">
                <a:latin typeface="Times New Roman" panose="02020603050405020304" pitchFamily="18" charset="0"/>
              </a:rPr>
              <a:t>{  if  (!Visited[p-&gt;vertex]) DFS(G, p-&gt;vertex) ;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1435100" lvl="4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dirty="0">
                <a:latin typeface="Times New Roman" panose="02020603050405020304" pitchFamily="18" charset="0"/>
              </a:rPr>
              <a:t>p=p-&gt;link ;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1079500" lvl="3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dirty="0">
                <a:latin typeface="Times New Roman" panose="02020603050405020304" pitchFamily="18" charset="0"/>
              </a:rPr>
              <a:t>}  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179705" lvl="1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dirty="0">
                <a:latin typeface="Times New Roman" panose="02020603050405020304" pitchFamily="18" charset="0"/>
              </a:rPr>
              <a:t>}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1619250" y="620713"/>
            <a:ext cx="6527800" cy="690562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3600" b="1" dirty="0"/>
              <a:t>Breadth-First Search (BFS)</a:t>
            </a:r>
            <a:r>
              <a:rPr lang="en-US" altLang="zh-CN" sz="4000" dirty="0">
                <a:solidFill>
                  <a:srgbClr val="FF3300"/>
                </a:solidFill>
              </a:rPr>
              <a:t> </a:t>
            </a:r>
            <a:endParaRPr lang="en-US" altLang="zh-CN" sz="4000" dirty="0">
              <a:solidFill>
                <a:srgbClr val="FF3300"/>
              </a:solidFill>
            </a:endParaRPr>
          </a:p>
        </p:txBody>
      </p:sp>
      <p:sp>
        <p:nvSpPr>
          <p:cNvPr id="9219" name="Text Box 3"/>
          <p:cNvSpPr txBox="1"/>
          <p:nvPr/>
        </p:nvSpPr>
        <p:spPr>
          <a:xfrm>
            <a:off x="306388" y="1431925"/>
            <a:ext cx="8570912" cy="2614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 </a:t>
            </a:r>
            <a:r>
              <a:rPr lang="en-US" altLang="zh-CN" sz="2000" b="1" dirty="0"/>
              <a:t>Assume a particular node has been designated as the starting point. Let </a:t>
            </a:r>
            <a:r>
              <a:rPr lang="en-US" altLang="zh-CN" sz="2000" b="1" dirty="0">
                <a:solidFill>
                  <a:schemeClr val="tx2"/>
                </a:solidFill>
              </a:rPr>
              <a:t>A</a:t>
            </a:r>
            <a:r>
              <a:rPr lang="en-US" altLang="zh-CN" sz="2000" b="1" dirty="0"/>
              <a:t> be the </a:t>
            </a:r>
            <a:r>
              <a:rPr lang="en-US" altLang="zh-CN" sz="2000" b="1" dirty="0">
                <a:solidFill>
                  <a:schemeClr val="tx2"/>
                </a:solidFill>
              </a:rPr>
              <a:t>first node</a:t>
            </a:r>
            <a:r>
              <a:rPr lang="en-US" altLang="zh-CN" sz="2000" b="1" dirty="0"/>
              <a:t> visited and suppose A has neighbors N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, N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, </a:t>
            </a:r>
            <a:r>
              <a:rPr lang="en-US" altLang="zh-CN" sz="2000" b="1" dirty="0">
                <a:latin typeface="TimesNewRoman" charset="0"/>
              </a:rPr>
              <a:t>…</a:t>
            </a:r>
            <a:r>
              <a:rPr lang="en-US" altLang="zh-CN" sz="2000" b="1" dirty="0"/>
              <a:t>, N</a:t>
            </a:r>
            <a:r>
              <a:rPr lang="en-US" altLang="zh-CN" sz="2000" b="1" baseline="-25000" dirty="0"/>
              <a:t>k</a:t>
            </a:r>
            <a:r>
              <a:rPr lang="en-US" altLang="zh-CN" sz="2000" b="1" dirty="0"/>
              <a:t>.</a:t>
            </a:r>
            <a:endParaRPr lang="en-US" altLang="zh-CN" sz="2000" b="1" dirty="0"/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A breadth-first search will:</a:t>
            </a:r>
            <a:endParaRPr lang="en-US" altLang="zh-CN" sz="2000" b="1" dirty="0"/>
          </a:p>
          <a:p>
            <a:pPr marL="457200" lvl="1" indent="0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/>
              <a:t> visit N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, then N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, and so forth through N</a:t>
            </a:r>
            <a:r>
              <a:rPr lang="en-US" altLang="zh-CN" sz="1400" b="1" dirty="0"/>
              <a:t>k</a:t>
            </a:r>
            <a:r>
              <a:rPr lang="en-US" altLang="zh-CN" sz="2000" b="1" dirty="0"/>
              <a:t>, then</a:t>
            </a:r>
            <a:endParaRPr lang="en-US" altLang="zh-CN" sz="2000" b="1" dirty="0"/>
          </a:p>
          <a:p>
            <a:pPr marL="457200" lvl="1" indent="0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/>
              <a:t> to traverse all the unvisited immediate neighbors of N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, then traverse the immediate neighbors of N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, </a:t>
            </a:r>
            <a:r>
              <a:rPr lang="en-US" altLang="zh-CN" sz="2000" b="1" dirty="0">
                <a:latin typeface="Arial" panose="020B0604020202020204" pitchFamily="34" charset="0"/>
              </a:rPr>
              <a:t>…</a:t>
            </a:r>
            <a:r>
              <a:rPr lang="en-US" altLang="zh-CN" sz="2000" b="1" dirty="0"/>
              <a:t> N</a:t>
            </a:r>
            <a:r>
              <a:rPr lang="en-US" altLang="zh-CN" sz="2000" b="1" baseline="-25000" dirty="0"/>
              <a:t>k</a:t>
            </a:r>
            <a:r>
              <a:rPr lang="en-US" altLang="zh-CN" sz="2000" b="1" dirty="0"/>
              <a:t> in similar fashion.</a:t>
            </a:r>
            <a:endParaRPr lang="en-US" altLang="zh-CN" sz="2000" b="1" dirty="0"/>
          </a:p>
        </p:txBody>
      </p:sp>
      <p:pic>
        <p:nvPicPr>
          <p:cNvPr id="12292" name="Picture 4"/>
          <p:cNvPicPr>
            <a:picLocks noChangeAspect="1"/>
          </p:cNvPicPr>
          <p:nvPr/>
        </p:nvPicPr>
        <p:blipFill>
          <a:blip r:embed="rId1">
            <a:lum contrast="50000"/>
          </a:blip>
          <a:stretch>
            <a:fillRect/>
          </a:stretch>
        </p:blipFill>
        <p:spPr>
          <a:xfrm>
            <a:off x="1427163" y="4046538"/>
            <a:ext cx="6288087" cy="25257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48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77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227" end="3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227" end="3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1763713" y="333375"/>
            <a:ext cx="6816725" cy="690563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3600" b="1" dirty="0"/>
              <a:t>Breadth-First Search</a:t>
            </a:r>
            <a:r>
              <a:rPr lang="en-US" altLang="zh-CN" sz="4000" dirty="0">
                <a:solidFill>
                  <a:srgbClr val="FF3300"/>
                </a:solidFill>
              </a:rPr>
              <a:t> </a:t>
            </a:r>
            <a:endParaRPr lang="en-US" altLang="zh-CN" sz="4000" dirty="0">
              <a:solidFill>
                <a:srgbClr val="FF3300"/>
              </a:solidFill>
            </a:endParaRPr>
          </a:p>
        </p:txBody>
      </p:sp>
      <p:sp>
        <p:nvSpPr>
          <p:cNvPr id="13315" name="Text Box 3"/>
          <p:cNvSpPr txBox="1"/>
          <p:nvPr/>
        </p:nvSpPr>
        <p:spPr>
          <a:xfrm>
            <a:off x="306388" y="1431925"/>
            <a:ext cx="4075112" cy="3784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71475" lvl="0" indent="-371475" eaLnBrk="1" hangingPunct="1">
              <a:spcBef>
                <a:spcPct val="0"/>
              </a:spcBef>
              <a:buNone/>
            </a:pPr>
            <a:r>
              <a:rPr lang="en-US" altLang="zh-CN" sz="2400" dirty="0"/>
              <a:t> </a:t>
            </a:r>
            <a:r>
              <a:rPr lang="en-US" altLang="zh-CN" sz="2400" b="1" dirty="0"/>
              <a:t>Assuming: </a:t>
            </a:r>
            <a:endParaRPr lang="en-US" altLang="zh-CN" sz="2400" b="1" dirty="0"/>
          </a:p>
          <a:p>
            <a:pPr marL="371475" lvl="0" indent="-371475" eaLnBrk="1" hangingPunct="1">
              <a:spcBef>
                <a:spcPct val="0"/>
              </a:spcBef>
              <a:buAutoNum type="romanLcParenBoth"/>
            </a:pPr>
            <a:r>
              <a:rPr lang="en-US" altLang="zh-CN" sz="2400" b="1" dirty="0"/>
              <a:t>the node labeled </a:t>
            </a:r>
            <a:r>
              <a:rPr lang="en-US" altLang="zh-CN" sz="2400" b="1" dirty="0">
                <a:solidFill>
                  <a:schemeClr val="tx2"/>
                </a:solidFill>
              </a:rPr>
              <a:t>a</a:t>
            </a:r>
            <a:r>
              <a:rPr lang="en-US" altLang="zh-CN" sz="2400" b="1" dirty="0"/>
              <a:t> has been designated as the starting point</a:t>
            </a:r>
            <a:endParaRPr lang="en-US" altLang="zh-CN" sz="2400" b="1" dirty="0"/>
          </a:p>
          <a:p>
            <a:pPr marL="371475" lvl="0" indent="-371475" eaLnBrk="1" hangingPunct="1">
              <a:spcBef>
                <a:spcPct val="0"/>
              </a:spcBef>
              <a:buAutoNum type="romanLcParenBoth"/>
            </a:pPr>
            <a:r>
              <a:rPr lang="en-US" altLang="zh-CN" sz="2400" b="1" dirty="0"/>
              <a:t>visit the neighbors in alphabetic order </a:t>
            </a:r>
            <a:endParaRPr lang="en-US" altLang="zh-CN" sz="2400" b="1" dirty="0"/>
          </a:p>
          <a:p>
            <a:pPr marL="371475" lvl="0" indent="-371475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A breadth-first traversal</a:t>
            </a:r>
            <a:endParaRPr lang="en-US" altLang="zh-CN" sz="2400" b="1" dirty="0"/>
          </a:p>
          <a:p>
            <a:pPr marL="371475" lvl="0" indent="-371475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would visit the graph</a:t>
            </a:r>
            <a:endParaRPr lang="en-US" altLang="zh-CN" sz="2400" b="1" dirty="0"/>
          </a:p>
          <a:p>
            <a:pPr marL="371475" lvl="0" indent="-371475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nodes in the order:</a:t>
            </a:r>
            <a:endParaRPr lang="en-US" altLang="zh-CN" sz="2400" b="1" dirty="0"/>
          </a:p>
          <a:p>
            <a:pPr marL="371475" lvl="0" indent="-371475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        </a:t>
            </a:r>
            <a:r>
              <a:rPr lang="en-US" altLang="zh-CN" sz="2400" b="1" dirty="0">
                <a:solidFill>
                  <a:schemeClr val="tx2"/>
                </a:solidFill>
              </a:rPr>
              <a:t>a b c e h i d f g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grpSp>
        <p:nvGrpSpPr>
          <p:cNvPr id="13316" name="组合 5"/>
          <p:cNvGrpSpPr/>
          <p:nvPr/>
        </p:nvGrpSpPr>
        <p:grpSpPr>
          <a:xfrm>
            <a:off x="4989513" y="1773238"/>
            <a:ext cx="3254375" cy="3095625"/>
            <a:chOff x="3404790" y="1700808"/>
            <a:chExt cx="3255442" cy="3096344"/>
          </a:xfrm>
        </p:grpSpPr>
        <p:sp>
          <p:nvSpPr>
            <p:cNvPr id="7" name="椭圆 6"/>
            <p:cNvSpPr/>
            <p:nvPr/>
          </p:nvSpPr>
          <p:spPr>
            <a:xfrm>
              <a:off x="3852612" y="1700808"/>
              <a:ext cx="431942" cy="4319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a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148436" y="2061254"/>
              <a:ext cx="431942" cy="4319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b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04790" y="2637651"/>
              <a:ext cx="431942" cy="4319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c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427475" y="2653529"/>
              <a:ext cx="431942" cy="4319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d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427475" y="3572905"/>
              <a:ext cx="431942" cy="4319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e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3419082" y="3717401"/>
              <a:ext cx="433530" cy="4319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f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4851476" y="4365252"/>
              <a:ext cx="431942" cy="4319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g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228290" y="2709104"/>
              <a:ext cx="431942" cy="4319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h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5651838" y="3644359"/>
              <a:ext cx="431942" cy="43348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i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6" name="直接连接符 15"/>
            <p:cNvCxnSpPr>
              <a:stCxn id="7" idx="6"/>
              <a:endCxn id="8" idx="2"/>
            </p:cNvCxnSpPr>
            <p:nvPr/>
          </p:nvCxnSpPr>
          <p:spPr>
            <a:xfrm>
              <a:off x="4284553" y="1916758"/>
              <a:ext cx="863883" cy="3604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7" idx="3"/>
              <a:endCxn id="9" idx="0"/>
            </p:cNvCxnSpPr>
            <p:nvPr/>
          </p:nvCxnSpPr>
          <p:spPr>
            <a:xfrm flipH="1">
              <a:off x="3620761" y="2069194"/>
              <a:ext cx="293783" cy="5684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9" idx="6"/>
              <a:endCxn id="10" idx="2"/>
            </p:cNvCxnSpPr>
            <p:nvPr/>
          </p:nvCxnSpPr>
          <p:spPr>
            <a:xfrm>
              <a:off x="3836732" y="2853601"/>
              <a:ext cx="590744" cy="158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9" idx="5"/>
              <a:endCxn id="11" idx="1"/>
            </p:cNvCxnSpPr>
            <p:nvPr/>
          </p:nvCxnSpPr>
          <p:spPr>
            <a:xfrm>
              <a:off x="3773211" y="3006036"/>
              <a:ext cx="717785" cy="630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1" idx="2"/>
              <a:endCxn id="12" idx="6"/>
            </p:cNvCxnSpPr>
            <p:nvPr/>
          </p:nvCxnSpPr>
          <p:spPr>
            <a:xfrm flipH="1">
              <a:off x="3852612" y="3788855"/>
              <a:ext cx="574863" cy="1444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11" idx="5"/>
              <a:endCxn id="13" idx="0"/>
            </p:cNvCxnSpPr>
            <p:nvPr/>
          </p:nvCxnSpPr>
          <p:spPr>
            <a:xfrm>
              <a:off x="4797483" y="3941290"/>
              <a:ext cx="269963" cy="4239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8" idx="4"/>
              <a:endCxn id="11" idx="7"/>
            </p:cNvCxnSpPr>
            <p:nvPr/>
          </p:nvCxnSpPr>
          <p:spPr>
            <a:xfrm flipH="1">
              <a:off x="4797483" y="2493154"/>
              <a:ext cx="566924" cy="1143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stCxn id="8" idx="5"/>
              <a:endCxn id="14" idx="2"/>
            </p:cNvCxnSpPr>
            <p:nvPr/>
          </p:nvCxnSpPr>
          <p:spPr>
            <a:xfrm>
              <a:off x="5516857" y="2429639"/>
              <a:ext cx="711433" cy="4954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stCxn id="14" idx="4"/>
              <a:endCxn id="15" idx="0"/>
            </p:cNvCxnSpPr>
            <p:nvPr/>
          </p:nvCxnSpPr>
          <p:spPr>
            <a:xfrm flipH="1">
              <a:off x="5867809" y="3141004"/>
              <a:ext cx="576452" cy="5033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stCxn id="8" idx="5"/>
              <a:endCxn id="15" idx="0"/>
            </p:cNvCxnSpPr>
            <p:nvPr/>
          </p:nvCxnSpPr>
          <p:spPr>
            <a:xfrm>
              <a:off x="5516857" y="2429639"/>
              <a:ext cx="350952" cy="12147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直接连接符 2"/>
          <p:cNvCxnSpPr>
            <a:stCxn id="7" idx="6"/>
            <a:endCxn id="8" idx="2"/>
          </p:cNvCxnSpPr>
          <p:nvPr/>
        </p:nvCxnSpPr>
        <p:spPr>
          <a:xfrm>
            <a:off x="5867400" y="1989138"/>
            <a:ext cx="865188" cy="3603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>
            <a:stCxn id="7" idx="3"/>
            <a:endCxn id="9" idx="0"/>
          </p:cNvCxnSpPr>
          <p:nvPr/>
        </p:nvCxnSpPr>
        <p:spPr>
          <a:xfrm flipH="1">
            <a:off x="5205413" y="2141538"/>
            <a:ext cx="293688" cy="56673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8" idx="4"/>
            <a:endCxn id="11" idx="7"/>
          </p:cNvCxnSpPr>
          <p:nvPr/>
        </p:nvCxnSpPr>
        <p:spPr>
          <a:xfrm flipH="1">
            <a:off x="6380163" y="2565400"/>
            <a:ext cx="568325" cy="11430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8" idx="5"/>
            <a:endCxn id="14" idx="2"/>
          </p:cNvCxnSpPr>
          <p:nvPr/>
        </p:nvCxnSpPr>
        <p:spPr>
          <a:xfrm>
            <a:off x="7100888" y="2501900"/>
            <a:ext cx="711200" cy="4953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8" idx="5"/>
            <a:endCxn id="15" idx="0"/>
          </p:cNvCxnSpPr>
          <p:nvPr/>
        </p:nvCxnSpPr>
        <p:spPr>
          <a:xfrm>
            <a:off x="7100888" y="2501900"/>
            <a:ext cx="350838" cy="121443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17" name="直接连接符 13316"/>
          <p:cNvCxnSpPr>
            <a:stCxn id="9" idx="6"/>
            <a:endCxn id="10" idx="2"/>
          </p:cNvCxnSpPr>
          <p:nvPr/>
        </p:nvCxnSpPr>
        <p:spPr>
          <a:xfrm>
            <a:off x="5421313" y="2924175"/>
            <a:ext cx="590550" cy="174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19" name="直接连接符 13318"/>
          <p:cNvCxnSpPr>
            <a:stCxn id="11" idx="2"/>
            <a:endCxn id="12" idx="6"/>
          </p:cNvCxnSpPr>
          <p:nvPr/>
        </p:nvCxnSpPr>
        <p:spPr>
          <a:xfrm flipH="1">
            <a:off x="5435600" y="3860800"/>
            <a:ext cx="576263" cy="1444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21" name="直接连接符 13320"/>
          <p:cNvCxnSpPr>
            <a:stCxn id="11" idx="5"/>
            <a:endCxn id="13" idx="0"/>
          </p:cNvCxnSpPr>
          <p:nvPr/>
        </p:nvCxnSpPr>
        <p:spPr>
          <a:xfrm>
            <a:off x="6380163" y="4013200"/>
            <a:ext cx="271463" cy="4238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4" descr="再生纸"/>
          <p:cNvSpPr txBox="1"/>
          <p:nvPr/>
        </p:nvSpPr>
        <p:spPr>
          <a:xfrm>
            <a:off x="682625" y="3970338"/>
            <a:ext cx="7704138" cy="2490787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Note:</a:t>
            </a:r>
            <a:endParaRPr lang="en-US" altLang="zh-CN" sz="24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If the edges taken during the breadth-first traversal are marked, they define a tree. Such a tree is a </a:t>
            </a:r>
            <a:r>
              <a:rPr lang="en-US" altLang="zh-CN" sz="2400" b="1" dirty="0">
                <a:solidFill>
                  <a:schemeClr val="tx2"/>
                </a:solidFill>
              </a:rPr>
              <a:t>spanning tree</a:t>
            </a:r>
            <a:r>
              <a:rPr lang="en-US" altLang="zh-CN" sz="2400" b="1" dirty="0"/>
              <a:t> for the graph. We call this tree </a:t>
            </a:r>
            <a:r>
              <a:rPr lang="en-US" altLang="zh-CN" sz="2400" b="1" dirty="0">
                <a:solidFill>
                  <a:schemeClr val="tx2"/>
                </a:solidFill>
              </a:rPr>
              <a:t>BFS tree</a:t>
            </a:r>
            <a:r>
              <a:rPr lang="en-US" altLang="zh-CN" sz="2400" b="1" dirty="0"/>
              <a:t>. This usually different from the DFS spanning tree.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14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315">
                                            <p:txEl>
                                              <p:charRg st="114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40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315">
                                            <p:txEl>
                                              <p:charRg st="140" end="1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62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315">
                                            <p:txEl>
                                              <p:charRg st="162" end="1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82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315">
                                            <p:txEl>
                                              <p:charRg st="182" end="2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60325"/>
            <a:ext cx="5219700" cy="6492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BOOLEAN  Visited[MAX_VEX] 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typedef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struct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Queue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{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int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elem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[MAX_VEX] 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int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front , rear 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}Queue ;   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/* a QUEUE is defined to save the node to be visited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/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void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BFS_traverse_Graph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ALGraph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*G)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{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int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k ,v , w 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LinkNode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*p ; Queue  *Q 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Q=(Queue *)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malloc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sizeof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(Queue)) 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Q-&gt;front=0; Q-&gt;rear=-1;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/*  initialize queue  */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for (v=0 ; v&lt;G-&gt;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vexnum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; v++)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{  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 if (!Visited[v]) /*  v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尚未访问 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/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{ Visited[v]=True; Visit(V);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Q-&gt;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elem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[++Q-&gt;rear]=v ;    /*   v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入队  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/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while (Q-&gt;front&lt;=Q-&gt;rear)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1267" name="Rectangle 4"/>
          <p:cNvSpPr/>
          <p:nvPr/>
        </p:nvSpPr>
        <p:spPr>
          <a:xfrm>
            <a:off x="3802063" y="100013"/>
            <a:ext cx="5699125" cy="3694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28800" lvl="4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 w=Q-&gt;elem[++Q-&gt;front] 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1828800" lvl="4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p=G-&gt;AdjList[w].LINK 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1828800" lvl="4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while (p!=NULL)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1828800" lvl="4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{  if (!Visited[p])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1828800" lvl="4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 {Visited[p]=True; Visit(p);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1828800" lvl="4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 Q-&gt;elem[++Q-&gt;rear]=p 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1828800" lvl="4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 }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1828800" lvl="4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  p=p-&gt;link 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1828800" lvl="4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 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1828800" lvl="4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}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1828800" lvl="4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}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1828800" lvl="4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   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         }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14340" name="Line 5"/>
          <p:cNvSpPr/>
          <p:nvPr/>
        </p:nvSpPr>
        <p:spPr>
          <a:xfrm flipH="1">
            <a:off x="5148263" y="188913"/>
            <a:ext cx="73025" cy="6408737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4341" name="组合 5"/>
          <p:cNvGrpSpPr/>
          <p:nvPr/>
        </p:nvGrpSpPr>
        <p:grpSpPr>
          <a:xfrm>
            <a:off x="5435600" y="4003675"/>
            <a:ext cx="3097213" cy="2520950"/>
            <a:chOff x="3404790" y="1700808"/>
            <a:chExt cx="3255442" cy="3096344"/>
          </a:xfrm>
        </p:grpSpPr>
        <p:sp>
          <p:nvSpPr>
            <p:cNvPr id="6" name="椭圆 5"/>
            <p:cNvSpPr/>
            <p:nvPr/>
          </p:nvSpPr>
          <p:spPr>
            <a:xfrm>
              <a:off x="3851975" y="1700808"/>
              <a:ext cx="432168" cy="43286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a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5148479" y="2061529"/>
              <a:ext cx="432167" cy="43091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b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404790" y="2636731"/>
              <a:ext cx="432168" cy="43286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c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4427643" y="2654280"/>
              <a:ext cx="432167" cy="43091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d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427643" y="3572653"/>
              <a:ext cx="432167" cy="43286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e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3419808" y="3716941"/>
              <a:ext cx="432167" cy="43286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f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4851468" y="4364288"/>
              <a:ext cx="432167" cy="43286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g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6228064" y="2708875"/>
              <a:ext cx="432168" cy="43286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h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652397" y="3644798"/>
              <a:ext cx="432167" cy="43286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i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5" name="直接连接符 14"/>
            <p:cNvCxnSpPr>
              <a:stCxn id="6" idx="6"/>
              <a:endCxn id="7" idx="2"/>
            </p:cNvCxnSpPr>
            <p:nvPr/>
          </p:nvCxnSpPr>
          <p:spPr>
            <a:xfrm>
              <a:off x="4284144" y="1917241"/>
              <a:ext cx="864336" cy="3607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6" idx="3"/>
              <a:endCxn id="8" idx="0"/>
            </p:cNvCxnSpPr>
            <p:nvPr/>
          </p:nvCxnSpPr>
          <p:spPr>
            <a:xfrm flipH="1">
              <a:off x="3620040" y="2069328"/>
              <a:ext cx="293674" cy="5674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8" idx="6"/>
              <a:endCxn id="9" idx="2"/>
            </p:cNvCxnSpPr>
            <p:nvPr/>
          </p:nvCxnSpPr>
          <p:spPr>
            <a:xfrm>
              <a:off x="3836958" y="2853163"/>
              <a:ext cx="590685" cy="155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8" idx="5"/>
              <a:endCxn id="10" idx="1"/>
            </p:cNvCxnSpPr>
            <p:nvPr/>
          </p:nvCxnSpPr>
          <p:spPr>
            <a:xfrm>
              <a:off x="3773551" y="3005251"/>
              <a:ext cx="717499" cy="6317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0" idx="2"/>
              <a:endCxn id="11" idx="6"/>
            </p:cNvCxnSpPr>
            <p:nvPr/>
          </p:nvCxnSpPr>
          <p:spPr>
            <a:xfrm flipH="1">
              <a:off x="3851975" y="3789086"/>
              <a:ext cx="575668" cy="1442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0" idx="5"/>
              <a:endCxn id="12" idx="0"/>
            </p:cNvCxnSpPr>
            <p:nvPr/>
          </p:nvCxnSpPr>
          <p:spPr>
            <a:xfrm>
              <a:off x="4798073" y="3941173"/>
              <a:ext cx="268644" cy="4231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7" idx="4"/>
              <a:endCxn id="10" idx="7"/>
            </p:cNvCxnSpPr>
            <p:nvPr/>
          </p:nvCxnSpPr>
          <p:spPr>
            <a:xfrm flipH="1">
              <a:off x="4798073" y="2492443"/>
              <a:ext cx="565655" cy="11445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7" idx="5"/>
              <a:endCxn id="13" idx="2"/>
            </p:cNvCxnSpPr>
            <p:nvPr/>
          </p:nvCxnSpPr>
          <p:spPr>
            <a:xfrm>
              <a:off x="5517239" y="2430048"/>
              <a:ext cx="710824" cy="495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stCxn id="13" idx="4"/>
              <a:endCxn id="14" idx="0"/>
            </p:cNvCxnSpPr>
            <p:nvPr/>
          </p:nvCxnSpPr>
          <p:spPr>
            <a:xfrm flipH="1">
              <a:off x="5867646" y="3141739"/>
              <a:ext cx="577336" cy="5030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stCxn id="7" idx="5"/>
              <a:endCxn id="14" idx="0"/>
            </p:cNvCxnSpPr>
            <p:nvPr/>
          </p:nvCxnSpPr>
          <p:spPr>
            <a:xfrm>
              <a:off x="5517239" y="2430048"/>
              <a:ext cx="350406" cy="12147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42" name="文本框 1"/>
          <p:cNvSpPr txBox="1"/>
          <p:nvPr/>
        </p:nvSpPr>
        <p:spPr>
          <a:xfrm>
            <a:off x="5903913" y="3724275"/>
            <a:ext cx="28257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0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14343" name="文本框 25"/>
          <p:cNvSpPr txBox="1"/>
          <p:nvPr/>
        </p:nvSpPr>
        <p:spPr>
          <a:xfrm>
            <a:off x="7391400" y="4116388"/>
            <a:ext cx="28098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1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14344" name="文本框 26"/>
          <p:cNvSpPr txBox="1"/>
          <p:nvPr/>
        </p:nvSpPr>
        <p:spPr>
          <a:xfrm>
            <a:off x="5338763" y="4484688"/>
            <a:ext cx="28257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2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14345" name="文本框 27"/>
          <p:cNvSpPr txBox="1"/>
          <p:nvPr/>
        </p:nvSpPr>
        <p:spPr>
          <a:xfrm>
            <a:off x="6586538" y="4506913"/>
            <a:ext cx="280987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3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14346" name="文本框 28"/>
          <p:cNvSpPr txBox="1"/>
          <p:nvPr/>
        </p:nvSpPr>
        <p:spPr>
          <a:xfrm>
            <a:off x="6746875" y="5445125"/>
            <a:ext cx="280988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4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14347" name="文本框 29"/>
          <p:cNvSpPr txBox="1"/>
          <p:nvPr/>
        </p:nvSpPr>
        <p:spPr>
          <a:xfrm>
            <a:off x="5418138" y="5380038"/>
            <a:ext cx="280987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5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14348" name="文本框 30"/>
          <p:cNvSpPr txBox="1"/>
          <p:nvPr/>
        </p:nvSpPr>
        <p:spPr>
          <a:xfrm>
            <a:off x="7013575" y="5878513"/>
            <a:ext cx="28257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6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14349" name="文本框 31"/>
          <p:cNvSpPr txBox="1"/>
          <p:nvPr/>
        </p:nvSpPr>
        <p:spPr>
          <a:xfrm>
            <a:off x="8189913" y="4506913"/>
            <a:ext cx="28257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7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14350" name="文本框 32"/>
          <p:cNvSpPr txBox="1"/>
          <p:nvPr/>
        </p:nvSpPr>
        <p:spPr>
          <a:xfrm>
            <a:off x="7472363" y="5343525"/>
            <a:ext cx="28257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8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28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49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74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97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110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169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205" end="2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223" end="2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253" end="2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291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319" end="3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346" end="3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376" end="3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381" end="4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415" end="4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445" end="4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487" end="5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7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54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74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99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36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68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79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01" end="2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12" end="2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22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28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34" end="2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977900" y="665163"/>
            <a:ext cx="7504113" cy="958850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3600" b="1" dirty="0"/>
              <a:t>Topological Ordering </a:t>
            </a:r>
            <a:r>
              <a:rPr lang="zh-CN" altLang="en-US" sz="3600" b="1" dirty="0"/>
              <a:t>（拓扑排序）</a:t>
            </a:r>
            <a:endParaRPr lang="en-US" altLang="zh-CN" sz="3600" b="1" dirty="0"/>
          </a:p>
        </p:txBody>
      </p:sp>
      <p:sp>
        <p:nvSpPr>
          <p:cNvPr id="16387" name="Text Box 3"/>
          <p:cNvSpPr txBox="1"/>
          <p:nvPr/>
        </p:nvSpPr>
        <p:spPr>
          <a:xfrm>
            <a:off x="646113" y="2117725"/>
            <a:ext cx="7835900" cy="2678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/>
              <a:t>  Suppose that G is a </a:t>
            </a:r>
            <a:r>
              <a:rPr lang="en-US" altLang="zh-CN" sz="2400" b="1" dirty="0">
                <a:solidFill>
                  <a:schemeClr val="tx2"/>
                </a:solidFill>
              </a:rPr>
              <a:t>directed</a:t>
            </a:r>
            <a:r>
              <a:rPr lang="en-US" altLang="zh-CN" sz="2400" dirty="0"/>
              <a:t> graph which contains </a:t>
            </a:r>
            <a:r>
              <a:rPr lang="en-US" altLang="zh-CN" sz="2400" b="1" dirty="0">
                <a:solidFill>
                  <a:srgbClr val="FF0000"/>
                </a:solidFill>
              </a:rPr>
              <a:t>no cycles</a:t>
            </a:r>
            <a:r>
              <a:rPr lang="en-US" altLang="zh-CN" sz="2400" dirty="0"/>
              <a:t>.  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/>
              <a:t>  A </a:t>
            </a:r>
            <a:r>
              <a:rPr lang="en-US" altLang="zh-CN" sz="2400" b="1" dirty="0">
                <a:solidFill>
                  <a:srgbClr val="0000FF"/>
                </a:solidFill>
              </a:rPr>
              <a:t>topological ordering</a:t>
            </a:r>
            <a:r>
              <a:rPr lang="en-US" altLang="zh-CN" sz="2400" dirty="0"/>
              <a:t> of the vertices in G is a </a:t>
            </a:r>
            <a:r>
              <a:rPr lang="en-US" altLang="zh-CN" sz="2400" u="sng" dirty="0"/>
              <a:t>sequential listing of the vertices </a:t>
            </a:r>
            <a:r>
              <a:rPr lang="zh-CN" altLang="en-US" sz="2400" u="sng" dirty="0"/>
              <a:t>（顶点序列）</a:t>
            </a:r>
            <a:r>
              <a:rPr lang="en-US" altLang="zh-CN" sz="2400" dirty="0"/>
              <a:t> such that for any pair of vertices, v and w in G, if there is a path from v to w in G then v precedes w in the sequential listing.</a:t>
            </a:r>
            <a:endParaRPr lang="en-US" altLang="zh-CN" sz="2400" dirty="0"/>
          </a:p>
        </p:txBody>
      </p:sp>
      <p:grpSp>
        <p:nvGrpSpPr>
          <p:cNvPr id="2" name="Group 4"/>
          <p:cNvGrpSpPr/>
          <p:nvPr/>
        </p:nvGrpSpPr>
        <p:grpSpPr>
          <a:xfrm>
            <a:off x="558800" y="4799013"/>
            <a:ext cx="2427288" cy="1208087"/>
            <a:chOff x="1701" y="2748"/>
            <a:chExt cx="1634" cy="801"/>
          </a:xfrm>
        </p:grpSpPr>
        <p:grpSp>
          <p:nvGrpSpPr>
            <p:cNvPr id="16415" name="Group 5"/>
            <p:cNvGrpSpPr/>
            <p:nvPr/>
          </p:nvGrpSpPr>
          <p:grpSpPr>
            <a:xfrm>
              <a:off x="2432" y="3296"/>
              <a:ext cx="229" cy="222"/>
              <a:chOff x="4285" y="1509"/>
              <a:chExt cx="221" cy="214"/>
            </a:xfrm>
          </p:grpSpPr>
          <p:sp>
            <p:nvSpPr>
              <p:cNvPr id="16438" name="Oval 6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39" name="Text Box 7"/>
              <p:cNvSpPr txBox="1"/>
              <p:nvPr/>
            </p:nvSpPr>
            <p:spPr>
              <a:xfrm>
                <a:off x="4350" y="1539"/>
                <a:ext cx="74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416" name="Group 8"/>
            <p:cNvGrpSpPr/>
            <p:nvPr/>
          </p:nvGrpSpPr>
          <p:grpSpPr>
            <a:xfrm>
              <a:off x="1721" y="3312"/>
              <a:ext cx="229" cy="221"/>
              <a:chOff x="4285" y="1509"/>
              <a:chExt cx="221" cy="214"/>
            </a:xfrm>
          </p:grpSpPr>
          <p:sp>
            <p:nvSpPr>
              <p:cNvPr id="16436" name="Oval 9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37" name="Text Box 10"/>
              <p:cNvSpPr txBox="1"/>
              <p:nvPr/>
            </p:nvSpPr>
            <p:spPr>
              <a:xfrm>
                <a:off x="4351" y="1538"/>
                <a:ext cx="74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417" name="Group 11"/>
            <p:cNvGrpSpPr/>
            <p:nvPr/>
          </p:nvGrpSpPr>
          <p:grpSpPr>
            <a:xfrm>
              <a:off x="3106" y="3328"/>
              <a:ext cx="229" cy="221"/>
              <a:chOff x="4285" y="1509"/>
              <a:chExt cx="221" cy="214"/>
            </a:xfrm>
          </p:grpSpPr>
          <p:sp>
            <p:nvSpPr>
              <p:cNvPr id="16434" name="Oval 12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35" name="Text Box 13"/>
              <p:cNvSpPr txBox="1"/>
              <p:nvPr/>
            </p:nvSpPr>
            <p:spPr>
              <a:xfrm>
                <a:off x="4351" y="1537"/>
                <a:ext cx="74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418" name="Group 14"/>
            <p:cNvGrpSpPr/>
            <p:nvPr/>
          </p:nvGrpSpPr>
          <p:grpSpPr>
            <a:xfrm>
              <a:off x="3075" y="2753"/>
              <a:ext cx="229" cy="221"/>
              <a:chOff x="4285" y="1509"/>
              <a:chExt cx="221" cy="214"/>
            </a:xfrm>
          </p:grpSpPr>
          <p:sp>
            <p:nvSpPr>
              <p:cNvPr id="16432" name="Oval 15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33" name="Text Box 16"/>
              <p:cNvSpPr txBox="1"/>
              <p:nvPr/>
            </p:nvSpPr>
            <p:spPr>
              <a:xfrm>
                <a:off x="4355" y="1538"/>
                <a:ext cx="75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419" name="Group 17"/>
            <p:cNvGrpSpPr/>
            <p:nvPr/>
          </p:nvGrpSpPr>
          <p:grpSpPr>
            <a:xfrm>
              <a:off x="2400" y="2757"/>
              <a:ext cx="229" cy="222"/>
              <a:chOff x="4285" y="1509"/>
              <a:chExt cx="221" cy="214"/>
            </a:xfrm>
          </p:grpSpPr>
          <p:sp>
            <p:nvSpPr>
              <p:cNvPr id="16430" name="Oval 18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31" name="Text Box 19"/>
              <p:cNvSpPr txBox="1"/>
              <p:nvPr/>
            </p:nvSpPr>
            <p:spPr>
              <a:xfrm>
                <a:off x="4355" y="1538"/>
                <a:ext cx="75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420" name="Group 20"/>
            <p:cNvGrpSpPr/>
            <p:nvPr/>
          </p:nvGrpSpPr>
          <p:grpSpPr>
            <a:xfrm>
              <a:off x="1701" y="2748"/>
              <a:ext cx="229" cy="221"/>
              <a:chOff x="4285" y="1509"/>
              <a:chExt cx="221" cy="214"/>
            </a:xfrm>
          </p:grpSpPr>
          <p:sp>
            <p:nvSpPr>
              <p:cNvPr id="16428" name="Oval 21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29" name="Text Box 22"/>
              <p:cNvSpPr txBox="1"/>
              <p:nvPr/>
            </p:nvSpPr>
            <p:spPr>
              <a:xfrm>
                <a:off x="4355" y="1537"/>
                <a:ext cx="75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421" name="Line 23"/>
            <p:cNvSpPr/>
            <p:nvPr/>
          </p:nvSpPr>
          <p:spPr>
            <a:xfrm>
              <a:off x="1834" y="2967"/>
              <a:ext cx="0" cy="3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16422" name="Line 24"/>
            <p:cNvSpPr/>
            <p:nvPr/>
          </p:nvSpPr>
          <p:spPr>
            <a:xfrm>
              <a:off x="1919" y="2858"/>
              <a:ext cx="47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16423" name="Line 25"/>
            <p:cNvSpPr/>
            <p:nvPr/>
          </p:nvSpPr>
          <p:spPr>
            <a:xfrm flipH="1" flipV="1">
              <a:off x="1895" y="2907"/>
              <a:ext cx="570" cy="4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16424" name="Line 26"/>
            <p:cNvSpPr/>
            <p:nvPr/>
          </p:nvSpPr>
          <p:spPr>
            <a:xfrm flipV="1">
              <a:off x="2538" y="2979"/>
              <a:ext cx="0" cy="3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16425" name="Line 27"/>
            <p:cNvSpPr/>
            <p:nvPr/>
          </p:nvSpPr>
          <p:spPr>
            <a:xfrm>
              <a:off x="2658" y="3413"/>
              <a:ext cx="44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triangle" w="med" len="med"/>
              <a:tailEnd type="none" w="med" len="lg"/>
            </a:ln>
          </p:spPr>
        </p:sp>
        <p:sp>
          <p:nvSpPr>
            <p:cNvPr id="16426" name="Line 28"/>
            <p:cNvSpPr/>
            <p:nvPr/>
          </p:nvSpPr>
          <p:spPr>
            <a:xfrm>
              <a:off x="3228" y="2967"/>
              <a:ext cx="0" cy="3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16427" name="Line 29"/>
            <p:cNvSpPr/>
            <p:nvPr/>
          </p:nvSpPr>
          <p:spPr>
            <a:xfrm flipH="1">
              <a:off x="2634" y="2858"/>
              <a:ext cx="4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</p:grpSp>
      <p:grpSp>
        <p:nvGrpSpPr>
          <p:cNvPr id="9" name="Group 30"/>
          <p:cNvGrpSpPr/>
          <p:nvPr/>
        </p:nvGrpSpPr>
        <p:grpSpPr>
          <a:xfrm>
            <a:off x="3471863" y="4922838"/>
            <a:ext cx="5133975" cy="938212"/>
            <a:chOff x="836" y="3244"/>
            <a:chExt cx="3693" cy="618"/>
          </a:xfrm>
        </p:grpSpPr>
        <p:grpSp>
          <p:nvGrpSpPr>
            <p:cNvPr id="16390" name="Group 31"/>
            <p:cNvGrpSpPr/>
            <p:nvPr/>
          </p:nvGrpSpPr>
          <p:grpSpPr>
            <a:xfrm>
              <a:off x="2119" y="3466"/>
              <a:ext cx="229" cy="222"/>
              <a:chOff x="4285" y="1509"/>
              <a:chExt cx="221" cy="214"/>
            </a:xfrm>
          </p:grpSpPr>
          <p:sp>
            <p:nvSpPr>
              <p:cNvPr id="16413" name="Oval 32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14" name="Text Box 33"/>
              <p:cNvSpPr txBox="1"/>
              <p:nvPr/>
            </p:nvSpPr>
            <p:spPr>
              <a:xfrm>
                <a:off x="4349" y="1538"/>
                <a:ext cx="80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391" name="Group 34"/>
            <p:cNvGrpSpPr/>
            <p:nvPr/>
          </p:nvGrpSpPr>
          <p:grpSpPr>
            <a:xfrm>
              <a:off x="4300" y="3468"/>
              <a:ext cx="229" cy="221"/>
              <a:chOff x="4285" y="1509"/>
              <a:chExt cx="221" cy="214"/>
            </a:xfrm>
          </p:grpSpPr>
          <p:sp>
            <p:nvSpPr>
              <p:cNvPr id="16411" name="Oval 35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12" name="Text Box 36"/>
              <p:cNvSpPr txBox="1"/>
              <p:nvPr/>
            </p:nvSpPr>
            <p:spPr>
              <a:xfrm>
                <a:off x="4351" y="1538"/>
                <a:ext cx="79" cy="1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392" name="Group 37"/>
            <p:cNvGrpSpPr/>
            <p:nvPr/>
          </p:nvGrpSpPr>
          <p:grpSpPr>
            <a:xfrm>
              <a:off x="1443" y="3485"/>
              <a:ext cx="229" cy="221"/>
              <a:chOff x="4285" y="1509"/>
              <a:chExt cx="221" cy="214"/>
            </a:xfrm>
          </p:grpSpPr>
          <p:sp>
            <p:nvSpPr>
              <p:cNvPr id="16409" name="Oval 38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10" name="Text Box 39"/>
              <p:cNvSpPr txBox="1"/>
              <p:nvPr/>
            </p:nvSpPr>
            <p:spPr>
              <a:xfrm>
                <a:off x="4351" y="1538"/>
                <a:ext cx="80" cy="1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393" name="Group 40"/>
            <p:cNvGrpSpPr/>
            <p:nvPr/>
          </p:nvGrpSpPr>
          <p:grpSpPr>
            <a:xfrm>
              <a:off x="836" y="3458"/>
              <a:ext cx="242" cy="248"/>
              <a:chOff x="4285" y="1509"/>
              <a:chExt cx="221" cy="214"/>
            </a:xfrm>
          </p:grpSpPr>
          <p:sp>
            <p:nvSpPr>
              <p:cNvPr id="16407" name="Oval 41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08" name="Text Box 42"/>
              <p:cNvSpPr txBox="1"/>
              <p:nvPr/>
            </p:nvSpPr>
            <p:spPr>
              <a:xfrm>
                <a:off x="4353" y="1538"/>
                <a:ext cx="75" cy="15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394" name="Group 43"/>
            <p:cNvGrpSpPr/>
            <p:nvPr/>
          </p:nvGrpSpPr>
          <p:grpSpPr>
            <a:xfrm>
              <a:off x="3540" y="3462"/>
              <a:ext cx="229" cy="222"/>
              <a:chOff x="4285" y="1509"/>
              <a:chExt cx="221" cy="214"/>
            </a:xfrm>
          </p:grpSpPr>
          <p:sp>
            <p:nvSpPr>
              <p:cNvPr id="16405" name="Oval 44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06" name="Text Box 45"/>
              <p:cNvSpPr txBox="1"/>
              <p:nvPr/>
            </p:nvSpPr>
            <p:spPr>
              <a:xfrm>
                <a:off x="4354" y="1538"/>
                <a:ext cx="79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395" name="Group 46"/>
            <p:cNvGrpSpPr/>
            <p:nvPr/>
          </p:nvGrpSpPr>
          <p:grpSpPr>
            <a:xfrm>
              <a:off x="2800" y="3469"/>
              <a:ext cx="229" cy="221"/>
              <a:chOff x="4285" y="1509"/>
              <a:chExt cx="221" cy="214"/>
            </a:xfrm>
          </p:grpSpPr>
          <p:sp>
            <p:nvSpPr>
              <p:cNvPr id="16403" name="Oval 47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04" name="Text Box 48"/>
              <p:cNvSpPr txBox="1"/>
              <p:nvPr/>
            </p:nvSpPr>
            <p:spPr>
              <a:xfrm>
                <a:off x="4354" y="1538"/>
                <a:ext cx="79" cy="1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396" name="Line 49"/>
            <p:cNvSpPr/>
            <p:nvPr/>
          </p:nvSpPr>
          <p:spPr>
            <a:xfrm>
              <a:off x="1060" y="3574"/>
              <a:ext cx="3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6397" name="Line 50"/>
            <p:cNvSpPr/>
            <p:nvPr/>
          </p:nvSpPr>
          <p:spPr>
            <a:xfrm>
              <a:off x="1676" y="3587"/>
              <a:ext cx="4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6398" name="Line 51"/>
            <p:cNvSpPr/>
            <p:nvPr/>
          </p:nvSpPr>
          <p:spPr>
            <a:xfrm>
              <a:off x="2330" y="3587"/>
              <a:ext cx="4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6399" name="Line 52"/>
            <p:cNvSpPr/>
            <p:nvPr/>
          </p:nvSpPr>
          <p:spPr>
            <a:xfrm>
              <a:off x="3024" y="3574"/>
              <a:ext cx="5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6400" name="Freeform 53"/>
            <p:cNvSpPr/>
            <p:nvPr/>
          </p:nvSpPr>
          <p:spPr>
            <a:xfrm>
              <a:off x="1008" y="3244"/>
              <a:ext cx="2592" cy="212"/>
            </a:xfrm>
            <a:custGeom>
              <a:avLst/>
              <a:gdLst/>
              <a:ahLst/>
              <a:cxnLst>
                <a:cxn ang="0">
                  <a:pos x="0" y="297"/>
                </a:cxn>
                <a:cxn ang="0">
                  <a:pos x="1461" y="2"/>
                </a:cxn>
                <a:cxn ang="0">
                  <a:pos x="2713" y="319"/>
                </a:cxn>
              </a:cxnLst>
              <a:pathLst>
                <a:path w="2553" h="185">
                  <a:moveTo>
                    <a:pt x="0" y="172"/>
                  </a:moveTo>
                  <a:cubicBezTo>
                    <a:pt x="475" y="86"/>
                    <a:pt x="950" y="0"/>
                    <a:pt x="1375" y="2"/>
                  </a:cubicBezTo>
                  <a:cubicBezTo>
                    <a:pt x="1800" y="4"/>
                    <a:pt x="2357" y="155"/>
                    <a:pt x="2553" y="185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triangle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01" name="Freeform 54"/>
            <p:cNvSpPr/>
            <p:nvPr/>
          </p:nvSpPr>
          <p:spPr>
            <a:xfrm>
              <a:off x="2959" y="3666"/>
              <a:ext cx="1400" cy="1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2" y="241"/>
                </a:cxn>
                <a:cxn ang="0">
                  <a:pos x="1523" y="0"/>
                </a:cxn>
              </a:cxnLst>
              <a:pathLst>
                <a:path w="1361" h="183">
                  <a:moveTo>
                    <a:pt x="0" y="0"/>
                  </a:moveTo>
                  <a:cubicBezTo>
                    <a:pt x="311" y="91"/>
                    <a:pt x="623" y="183"/>
                    <a:pt x="850" y="183"/>
                  </a:cubicBezTo>
                  <a:cubicBezTo>
                    <a:pt x="1077" y="183"/>
                    <a:pt x="1276" y="31"/>
                    <a:pt x="1361" y="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triangle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02" name="Freeform 55"/>
            <p:cNvSpPr/>
            <p:nvPr/>
          </p:nvSpPr>
          <p:spPr>
            <a:xfrm>
              <a:off x="2304" y="3360"/>
              <a:ext cx="1270" cy="161"/>
            </a:xfrm>
            <a:custGeom>
              <a:avLst/>
              <a:gdLst/>
              <a:ahLst/>
              <a:cxnLst>
                <a:cxn ang="0">
                  <a:pos x="0" y="135"/>
                </a:cxn>
                <a:cxn ang="0">
                  <a:pos x="848" y="4"/>
                </a:cxn>
                <a:cxn ang="0">
                  <a:pos x="1591" y="161"/>
                </a:cxn>
              </a:cxnLst>
              <a:pathLst>
                <a:path w="1178" h="161">
                  <a:moveTo>
                    <a:pt x="0" y="135"/>
                  </a:moveTo>
                  <a:cubicBezTo>
                    <a:pt x="216" y="67"/>
                    <a:pt x="432" y="0"/>
                    <a:pt x="628" y="4"/>
                  </a:cubicBezTo>
                  <a:cubicBezTo>
                    <a:pt x="824" y="8"/>
                    <a:pt x="1086" y="135"/>
                    <a:pt x="1178" y="161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charRg st="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charRg st="0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charRg st="66" end="2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387">
                                            <p:txEl>
                                              <p:charRg st="66" end="2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881063" y="463550"/>
            <a:ext cx="6105525" cy="1189038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3600" b="1" dirty="0"/>
              <a:t>Applications of Topological Orderings</a:t>
            </a:r>
            <a:endParaRPr lang="en-US" altLang="zh-CN" sz="3600" b="1" dirty="0"/>
          </a:p>
        </p:txBody>
      </p:sp>
      <p:sp>
        <p:nvSpPr>
          <p:cNvPr id="17411" name="Text Box 3"/>
          <p:cNvSpPr txBox="1"/>
          <p:nvPr/>
        </p:nvSpPr>
        <p:spPr>
          <a:xfrm>
            <a:off x="654050" y="2397125"/>
            <a:ext cx="7939088" cy="3414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Applications of topological orderings are relatively common</a:t>
            </a:r>
            <a:r>
              <a:rPr lang="en-US" altLang="zh-CN" sz="2400" dirty="0">
                <a:latin typeface="TimesNewRoman" charset="0"/>
              </a:rPr>
              <a:t>…</a:t>
            </a:r>
            <a:endParaRPr lang="en-US" altLang="zh-CN" sz="2400" dirty="0"/>
          </a:p>
          <a:p>
            <a:pPr marL="457200" lvl="1" indent="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400" dirty="0"/>
              <a:t> prerequisite relationships among courses</a:t>
            </a:r>
            <a:endParaRPr lang="en-US" altLang="zh-CN" sz="2400" dirty="0"/>
          </a:p>
          <a:p>
            <a:pPr marL="457200" lvl="1" indent="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400" dirty="0"/>
              <a:t> glossary of technical terms whose definitions involve dependencies</a:t>
            </a:r>
            <a:endParaRPr lang="en-US" altLang="zh-CN" sz="2400" dirty="0"/>
          </a:p>
          <a:p>
            <a:pPr marL="457200" lvl="1" indent="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400" dirty="0"/>
              <a:t> organization of topics in a book or a course</a:t>
            </a:r>
            <a:endParaRPr lang="en-US" altLang="zh-CN" sz="2400" dirty="0"/>
          </a:p>
          <a:p>
            <a:pPr marL="457200" lvl="1" indent="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check whether a graph is acyclic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1835150" y="692150"/>
            <a:ext cx="6038850" cy="671513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3600" b="1" dirty="0"/>
              <a:t>Topological Ordering</a:t>
            </a:r>
            <a:endParaRPr lang="en-US" altLang="zh-CN" sz="3600" b="1" dirty="0"/>
          </a:p>
        </p:txBody>
      </p:sp>
      <p:grpSp>
        <p:nvGrpSpPr>
          <p:cNvPr id="2" name="Group 5"/>
          <p:cNvGrpSpPr/>
          <p:nvPr/>
        </p:nvGrpSpPr>
        <p:grpSpPr>
          <a:xfrm>
            <a:off x="2713038" y="2800350"/>
            <a:ext cx="363537" cy="352425"/>
            <a:chOff x="4285" y="1509"/>
            <a:chExt cx="221" cy="214"/>
          </a:xfrm>
        </p:grpSpPr>
        <p:sp>
          <p:nvSpPr>
            <p:cNvPr id="18485" name="Oval 6"/>
            <p:cNvSpPr/>
            <p:nvPr/>
          </p:nvSpPr>
          <p:spPr>
            <a:xfrm>
              <a:off x="4285" y="1509"/>
              <a:ext cx="221" cy="2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8486" name="Text Box 7"/>
            <p:cNvSpPr txBox="1"/>
            <p:nvPr/>
          </p:nvSpPr>
          <p:spPr>
            <a:xfrm>
              <a:off x="4353" y="1538"/>
              <a:ext cx="69" cy="1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36" name="Group 8"/>
          <p:cNvGrpSpPr/>
          <p:nvPr/>
        </p:nvGrpSpPr>
        <p:grpSpPr>
          <a:xfrm>
            <a:off x="1584325" y="2825750"/>
            <a:ext cx="363538" cy="350838"/>
            <a:chOff x="4285" y="1509"/>
            <a:chExt cx="221" cy="214"/>
          </a:xfrm>
        </p:grpSpPr>
        <p:sp>
          <p:nvSpPr>
            <p:cNvPr id="18483" name="Oval 9"/>
            <p:cNvSpPr/>
            <p:nvPr/>
          </p:nvSpPr>
          <p:spPr>
            <a:xfrm>
              <a:off x="4285" y="1509"/>
              <a:ext cx="221" cy="2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8484" name="Text Box 10"/>
            <p:cNvSpPr txBox="1"/>
            <p:nvPr/>
          </p:nvSpPr>
          <p:spPr>
            <a:xfrm>
              <a:off x="4353" y="1538"/>
              <a:ext cx="69" cy="1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1"/>
          <p:cNvGrpSpPr/>
          <p:nvPr/>
        </p:nvGrpSpPr>
        <p:grpSpPr>
          <a:xfrm>
            <a:off x="3783013" y="2851150"/>
            <a:ext cx="363537" cy="350838"/>
            <a:chOff x="4285" y="1509"/>
            <a:chExt cx="221" cy="214"/>
          </a:xfrm>
        </p:grpSpPr>
        <p:sp>
          <p:nvSpPr>
            <p:cNvPr id="18481" name="Oval 12"/>
            <p:cNvSpPr/>
            <p:nvPr/>
          </p:nvSpPr>
          <p:spPr>
            <a:xfrm>
              <a:off x="4285" y="1509"/>
              <a:ext cx="221" cy="2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8482" name="Text Box 13"/>
            <p:cNvSpPr txBox="1"/>
            <p:nvPr/>
          </p:nvSpPr>
          <p:spPr>
            <a:xfrm>
              <a:off x="4353" y="1538"/>
              <a:ext cx="69" cy="1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5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4"/>
          <p:cNvGrpSpPr/>
          <p:nvPr/>
        </p:nvGrpSpPr>
        <p:grpSpPr>
          <a:xfrm>
            <a:off x="3733800" y="1938338"/>
            <a:ext cx="363538" cy="350837"/>
            <a:chOff x="4285" y="1509"/>
            <a:chExt cx="221" cy="214"/>
          </a:xfrm>
        </p:grpSpPr>
        <p:sp>
          <p:nvSpPr>
            <p:cNvPr id="18479" name="Oval 15"/>
            <p:cNvSpPr/>
            <p:nvPr/>
          </p:nvSpPr>
          <p:spPr>
            <a:xfrm>
              <a:off x="4285" y="1509"/>
              <a:ext cx="221" cy="2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8480" name="Text Box 16"/>
            <p:cNvSpPr txBox="1"/>
            <p:nvPr/>
          </p:nvSpPr>
          <p:spPr>
            <a:xfrm>
              <a:off x="4356" y="1538"/>
              <a:ext cx="70" cy="1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39" name="Group 17"/>
          <p:cNvGrpSpPr/>
          <p:nvPr/>
        </p:nvGrpSpPr>
        <p:grpSpPr>
          <a:xfrm>
            <a:off x="2662238" y="1944688"/>
            <a:ext cx="363537" cy="352425"/>
            <a:chOff x="4285" y="1509"/>
            <a:chExt cx="221" cy="214"/>
          </a:xfrm>
        </p:grpSpPr>
        <p:sp>
          <p:nvSpPr>
            <p:cNvPr id="18477" name="Oval 18"/>
            <p:cNvSpPr/>
            <p:nvPr/>
          </p:nvSpPr>
          <p:spPr>
            <a:xfrm>
              <a:off x="4285" y="1509"/>
              <a:ext cx="221" cy="2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8478" name="Text Box 19"/>
            <p:cNvSpPr txBox="1"/>
            <p:nvPr/>
          </p:nvSpPr>
          <p:spPr>
            <a:xfrm>
              <a:off x="4356" y="1538"/>
              <a:ext cx="70" cy="1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20"/>
          <p:cNvGrpSpPr/>
          <p:nvPr/>
        </p:nvGrpSpPr>
        <p:grpSpPr>
          <a:xfrm>
            <a:off x="1552575" y="1930400"/>
            <a:ext cx="363538" cy="350838"/>
            <a:chOff x="4285" y="1509"/>
            <a:chExt cx="221" cy="214"/>
          </a:xfrm>
        </p:grpSpPr>
        <p:sp>
          <p:nvSpPr>
            <p:cNvPr id="18475" name="Oval 21"/>
            <p:cNvSpPr/>
            <p:nvPr/>
          </p:nvSpPr>
          <p:spPr>
            <a:xfrm>
              <a:off x="4285" y="1509"/>
              <a:ext cx="221" cy="21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8476" name="Text Box 22"/>
            <p:cNvSpPr txBox="1"/>
            <p:nvPr/>
          </p:nvSpPr>
          <p:spPr>
            <a:xfrm>
              <a:off x="4356" y="1538"/>
              <a:ext cx="70" cy="1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fontAlgn="b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551" name="Line 23"/>
          <p:cNvSpPr/>
          <p:nvPr/>
        </p:nvSpPr>
        <p:spPr>
          <a:xfrm>
            <a:off x="1763713" y="2278063"/>
            <a:ext cx="0" cy="5365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lg"/>
          </a:ln>
        </p:spPr>
      </p:sp>
      <p:sp>
        <p:nvSpPr>
          <p:cNvPr id="22552" name="Line 24"/>
          <p:cNvSpPr/>
          <p:nvPr/>
        </p:nvSpPr>
        <p:spPr>
          <a:xfrm>
            <a:off x="1898650" y="2105025"/>
            <a:ext cx="750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lg"/>
          </a:ln>
        </p:spPr>
      </p:sp>
      <p:sp>
        <p:nvSpPr>
          <p:cNvPr id="22553" name="Line 25"/>
          <p:cNvSpPr/>
          <p:nvPr/>
        </p:nvSpPr>
        <p:spPr>
          <a:xfrm flipH="1" flipV="1">
            <a:off x="1860550" y="2182813"/>
            <a:ext cx="904875" cy="7080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lg"/>
          </a:ln>
        </p:spPr>
      </p:sp>
      <p:sp>
        <p:nvSpPr>
          <p:cNvPr id="22554" name="Line 26"/>
          <p:cNvSpPr/>
          <p:nvPr/>
        </p:nvSpPr>
        <p:spPr>
          <a:xfrm flipV="1">
            <a:off x="2881313" y="2297113"/>
            <a:ext cx="0" cy="4984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lg"/>
          </a:ln>
        </p:spPr>
      </p:sp>
      <p:sp>
        <p:nvSpPr>
          <p:cNvPr id="22555" name="Line 27"/>
          <p:cNvSpPr/>
          <p:nvPr/>
        </p:nvSpPr>
        <p:spPr>
          <a:xfrm>
            <a:off x="3071813" y="2986088"/>
            <a:ext cx="7127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triangle" w="med" len="med"/>
            <a:tailEnd type="none" w="med" len="lg"/>
          </a:ln>
        </p:spPr>
      </p:sp>
      <p:sp>
        <p:nvSpPr>
          <p:cNvPr id="22556" name="Line 28"/>
          <p:cNvSpPr/>
          <p:nvPr/>
        </p:nvSpPr>
        <p:spPr>
          <a:xfrm>
            <a:off x="3976688" y="2278063"/>
            <a:ext cx="0" cy="5937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lg"/>
          </a:ln>
        </p:spPr>
      </p:sp>
      <p:sp>
        <p:nvSpPr>
          <p:cNvPr id="22557" name="Line 29"/>
          <p:cNvSpPr/>
          <p:nvPr/>
        </p:nvSpPr>
        <p:spPr>
          <a:xfrm flipH="1">
            <a:off x="3033713" y="2105025"/>
            <a:ext cx="6731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lg"/>
          </a:ln>
        </p:spPr>
      </p:sp>
      <p:sp>
        <p:nvSpPr>
          <p:cNvPr id="3" name="文本框 2"/>
          <p:cNvSpPr txBox="1"/>
          <p:nvPr/>
        </p:nvSpPr>
        <p:spPr>
          <a:xfrm>
            <a:off x="722313" y="3943350"/>
            <a:ext cx="7580312" cy="2084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spcBef>
                <a:spcPct val="40000"/>
              </a:spcBef>
              <a:buAutoNum type="arabicPeriod"/>
            </a:pPr>
            <a:r>
              <a:rPr lang="en-US" altLang="zh-CN" sz="1800" dirty="0"/>
              <a:t>Calculate the in-degree of each vertex and save them in the array indegree[|V|]</a:t>
            </a:r>
            <a:endParaRPr lang="en-US" altLang="zh-CN" sz="1800" dirty="0"/>
          </a:p>
          <a:p>
            <a:pPr marL="457200" lvl="0" indent="-457200" eaLnBrk="1" hangingPunct="1">
              <a:spcBef>
                <a:spcPct val="40000"/>
              </a:spcBef>
              <a:buAutoNum type="arabicPeriod"/>
            </a:pPr>
            <a:r>
              <a:rPr lang="en-US" altLang="zh-CN" sz="1800" dirty="0"/>
              <a:t>Find all vertices whose </a:t>
            </a:r>
            <a:r>
              <a:rPr lang="en-US" altLang="zh-CN" sz="1800" dirty="0">
                <a:solidFill>
                  <a:srgbClr val="FF0000"/>
                </a:solidFill>
              </a:rPr>
              <a:t>in-degrees are 0</a:t>
            </a:r>
            <a:r>
              <a:rPr lang="en-US" altLang="zh-CN" sz="1800" dirty="0"/>
              <a:t> and output them</a:t>
            </a:r>
            <a:endParaRPr lang="en-US" altLang="zh-CN" sz="1800" b="1" dirty="0">
              <a:latin typeface="Times New Roman" panose="02020603050405020304" pitchFamily="18" charset="0"/>
            </a:endParaRPr>
          </a:p>
          <a:p>
            <a:pPr marL="457200" lvl="0" indent="-457200" eaLnBrk="1" hangingPunct="1">
              <a:spcBef>
                <a:spcPct val="40000"/>
              </a:spcBef>
              <a:buAutoNum type="arabicPeriod"/>
            </a:pPr>
            <a:r>
              <a:rPr lang="en-US" altLang="zh-CN" sz="1800" dirty="0"/>
              <a:t>Decrease the indegrees of the vertices adjacent to the ouput vertices</a:t>
            </a:r>
            <a:endParaRPr lang="en-US" altLang="zh-CN" sz="1800" dirty="0"/>
          </a:p>
          <a:p>
            <a:pPr marL="457200" lvl="0" indent="-457200" eaLnBrk="1" hangingPunct="1">
              <a:spcBef>
                <a:spcPct val="40000"/>
              </a:spcBef>
              <a:buAutoNum type="arabicPeriod"/>
            </a:pPr>
            <a:r>
              <a:rPr lang="en-US" altLang="zh-CN" sz="1800" dirty="0"/>
              <a:t>goto step 2 untill all vertices are output</a:t>
            </a:r>
            <a:endParaRPr lang="en-US" altLang="zh-CN" sz="1800" dirty="0"/>
          </a:p>
        </p:txBody>
      </p:sp>
      <p:grpSp>
        <p:nvGrpSpPr>
          <p:cNvPr id="10" name="Group 4"/>
          <p:cNvGrpSpPr/>
          <p:nvPr/>
        </p:nvGrpSpPr>
        <p:grpSpPr>
          <a:xfrm>
            <a:off x="5006975" y="1928813"/>
            <a:ext cx="2427288" cy="1208087"/>
            <a:chOff x="1701" y="2748"/>
            <a:chExt cx="1634" cy="801"/>
          </a:xfrm>
        </p:grpSpPr>
        <p:grpSp>
          <p:nvGrpSpPr>
            <p:cNvPr id="18450" name="Group 5"/>
            <p:cNvGrpSpPr/>
            <p:nvPr/>
          </p:nvGrpSpPr>
          <p:grpSpPr>
            <a:xfrm>
              <a:off x="2432" y="3296"/>
              <a:ext cx="229" cy="222"/>
              <a:chOff x="4285" y="1509"/>
              <a:chExt cx="221" cy="214"/>
            </a:xfrm>
          </p:grpSpPr>
          <p:sp>
            <p:nvSpPr>
              <p:cNvPr id="18473" name="Oval 6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474" name="Text Box 7"/>
              <p:cNvSpPr txBox="1"/>
              <p:nvPr/>
            </p:nvSpPr>
            <p:spPr>
              <a:xfrm>
                <a:off x="4350" y="1539"/>
                <a:ext cx="74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451" name="Group 8"/>
            <p:cNvGrpSpPr/>
            <p:nvPr/>
          </p:nvGrpSpPr>
          <p:grpSpPr>
            <a:xfrm>
              <a:off x="1721" y="3312"/>
              <a:ext cx="229" cy="221"/>
              <a:chOff x="4285" y="1509"/>
              <a:chExt cx="221" cy="214"/>
            </a:xfrm>
          </p:grpSpPr>
          <p:sp>
            <p:nvSpPr>
              <p:cNvPr id="18471" name="Oval 9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472" name="Text Box 10"/>
              <p:cNvSpPr txBox="1"/>
              <p:nvPr/>
            </p:nvSpPr>
            <p:spPr>
              <a:xfrm>
                <a:off x="4351" y="1538"/>
                <a:ext cx="74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452" name="Group 11"/>
            <p:cNvGrpSpPr/>
            <p:nvPr/>
          </p:nvGrpSpPr>
          <p:grpSpPr>
            <a:xfrm>
              <a:off x="3106" y="3328"/>
              <a:ext cx="229" cy="221"/>
              <a:chOff x="4285" y="1509"/>
              <a:chExt cx="221" cy="214"/>
            </a:xfrm>
          </p:grpSpPr>
          <p:sp>
            <p:nvSpPr>
              <p:cNvPr id="18469" name="Oval 12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470" name="Text Box 13"/>
              <p:cNvSpPr txBox="1"/>
              <p:nvPr/>
            </p:nvSpPr>
            <p:spPr>
              <a:xfrm>
                <a:off x="4351" y="1537"/>
                <a:ext cx="74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453" name="Group 14"/>
            <p:cNvGrpSpPr/>
            <p:nvPr/>
          </p:nvGrpSpPr>
          <p:grpSpPr>
            <a:xfrm>
              <a:off x="3075" y="2753"/>
              <a:ext cx="229" cy="221"/>
              <a:chOff x="4285" y="1509"/>
              <a:chExt cx="221" cy="214"/>
            </a:xfrm>
          </p:grpSpPr>
          <p:sp>
            <p:nvSpPr>
              <p:cNvPr id="18467" name="Oval 15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468" name="Text Box 16"/>
              <p:cNvSpPr txBox="1"/>
              <p:nvPr/>
            </p:nvSpPr>
            <p:spPr>
              <a:xfrm>
                <a:off x="4355" y="1538"/>
                <a:ext cx="75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454" name="Group 17"/>
            <p:cNvGrpSpPr/>
            <p:nvPr/>
          </p:nvGrpSpPr>
          <p:grpSpPr>
            <a:xfrm>
              <a:off x="2400" y="2757"/>
              <a:ext cx="229" cy="222"/>
              <a:chOff x="4285" y="1509"/>
              <a:chExt cx="221" cy="214"/>
            </a:xfrm>
          </p:grpSpPr>
          <p:sp>
            <p:nvSpPr>
              <p:cNvPr id="18465" name="Oval 18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466" name="Text Box 19"/>
              <p:cNvSpPr txBox="1"/>
              <p:nvPr/>
            </p:nvSpPr>
            <p:spPr>
              <a:xfrm>
                <a:off x="4355" y="1538"/>
                <a:ext cx="75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455" name="Group 20"/>
            <p:cNvGrpSpPr/>
            <p:nvPr/>
          </p:nvGrpSpPr>
          <p:grpSpPr>
            <a:xfrm>
              <a:off x="1701" y="2748"/>
              <a:ext cx="229" cy="221"/>
              <a:chOff x="4285" y="1509"/>
              <a:chExt cx="221" cy="214"/>
            </a:xfrm>
          </p:grpSpPr>
          <p:sp>
            <p:nvSpPr>
              <p:cNvPr id="18463" name="Oval 21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464" name="Text Box 22"/>
              <p:cNvSpPr txBox="1"/>
              <p:nvPr/>
            </p:nvSpPr>
            <p:spPr>
              <a:xfrm>
                <a:off x="4355" y="1537"/>
                <a:ext cx="75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8456" name="Line 23"/>
            <p:cNvSpPr/>
            <p:nvPr/>
          </p:nvSpPr>
          <p:spPr>
            <a:xfrm>
              <a:off x="1834" y="2967"/>
              <a:ext cx="0" cy="3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18457" name="Line 24"/>
            <p:cNvSpPr/>
            <p:nvPr/>
          </p:nvSpPr>
          <p:spPr>
            <a:xfrm>
              <a:off x="1919" y="2858"/>
              <a:ext cx="47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18458" name="Line 25"/>
            <p:cNvSpPr/>
            <p:nvPr/>
          </p:nvSpPr>
          <p:spPr>
            <a:xfrm flipH="1" flipV="1">
              <a:off x="1895" y="2907"/>
              <a:ext cx="570" cy="4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18459" name="Line 26"/>
            <p:cNvSpPr/>
            <p:nvPr/>
          </p:nvSpPr>
          <p:spPr>
            <a:xfrm flipV="1">
              <a:off x="2538" y="2979"/>
              <a:ext cx="0" cy="3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18460" name="Line 27"/>
            <p:cNvSpPr/>
            <p:nvPr/>
          </p:nvSpPr>
          <p:spPr>
            <a:xfrm>
              <a:off x="2658" y="3413"/>
              <a:ext cx="44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triangle" w="med" len="med"/>
              <a:tailEnd type="none" w="med" len="lg"/>
            </a:ln>
          </p:spPr>
        </p:sp>
        <p:sp>
          <p:nvSpPr>
            <p:cNvPr id="18461" name="Line 28"/>
            <p:cNvSpPr/>
            <p:nvPr/>
          </p:nvSpPr>
          <p:spPr>
            <a:xfrm>
              <a:off x="3228" y="2967"/>
              <a:ext cx="0" cy="3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18462" name="Line 29"/>
            <p:cNvSpPr/>
            <p:nvPr/>
          </p:nvSpPr>
          <p:spPr>
            <a:xfrm flipH="1">
              <a:off x="2634" y="2858"/>
              <a:ext cx="4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225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000"/>
                                        <p:tgtEl>
                                          <p:spTgt spid="22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20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7410" name="文本框 3"/>
          <p:cNvSpPr txBox="1"/>
          <p:nvPr/>
        </p:nvSpPr>
        <p:spPr>
          <a:xfrm>
            <a:off x="323850" y="379413"/>
            <a:ext cx="8331200" cy="6002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void toposort (ALGraph G)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{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int counter;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vertex v, w;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for(counter=0;counter&lt;G-&gt;vexnum;counter++)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    {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         v=find_</a:t>
            </a:r>
            <a:r>
              <a:rPr lang="en-US" altLang="zh-CN" sz="2400" dirty="0">
                <a:solidFill>
                  <a:srgbClr val="7030A0"/>
                </a:solidFill>
              </a:rPr>
              <a:t>new</a:t>
            </a:r>
            <a:r>
              <a:rPr lang="en-US" altLang="zh-CN" sz="2400" dirty="0"/>
              <a:t>_vertex_of_indegree_zero();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         if(v=NOT_A_VERTEX)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            { error(“Graph has a cycle”);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               break;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             }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         topo_num[v]=counter;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         for each w adjacent to v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         indegree[w]--;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      }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} </a:t>
            </a:r>
            <a:endParaRPr lang="zh-CN" altLang="en-US" sz="2400" dirty="0"/>
          </a:p>
        </p:txBody>
      </p:sp>
      <p:grpSp>
        <p:nvGrpSpPr>
          <p:cNvPr id="19459" name="Group 4"/>
          <p:cNvGrpSpPr/>
          <p:nvPr/>
        </p:nvGrpSpPr>
        <p:grpSpPr>
          <a:xfrm>
            <a:off x="6227763" y="307975"/>
            <a:ext cx="2427287" cy="1208088"/>
            <a:chOff x="1701" y="2748"/>
            <a:chExt cx="1634" cy="801"/>
          </a:xfrm>
        </p:grpSpPr>
        <p:grpSp>
          <p:nvGrpSpPr>
            <p:cNvPr id="19462" name="Group 5"/>
            <p:cNvGrpSpPr/>
            <p:nvPr/>
          </p:nvGrpSpPr>
          <p:grpSpPr>
            <a:xfrm>
              <a:off x="2432" y="3296"/>
              <a:ext cx="229" cy="222"/>
              <a:chOff x="4285" y="1509"/>
              <a:chExt cx="221" cy="214"/>
            </a:xfrm>
          </p:grpSpPr>
          <p:sp>
            <p:nvSpPr>
              <p:cNvPr id="19485" name="Oval 6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9486" name="Text Box 7"/>
              <p:cNvSpPr txBox="1"/>
              <p:nvPr/>
            </p:nvSpPr>
            <p:spPr>
              <a:xfrm>
                <a:off x="4350" y="1539"/>
                <a:ext cx="74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63" name="Group 8"/>
            <p:cNvGrpSpPr/>
            <p:nvPr/>
          </p:nvGrpSpPr>
          <p:grpSpPr>
            <a:xfrm>
              <a:off x="1721" y="3312"/>
              <a:ext cx="229" cy="221"/>
              <a:chOff x="4285" y="1509"/>
              <a:chExt cx="221" cy="214"/>
            </a:xfrm>
          </p:grpSpPr>
          <p:sp>
            <p:nvSpPr>
              <p:cNvPr id="19483" name="Oval 9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9484" name="Text Box 10"/>
              <p:cNvSpPr txBox="1"/>
              <p:nvPr/>
            </p:nvSpPr>
            <p:spPr>
              <a:xfrm>
                <a:off x="4351" y="1538"/>
                <a:ext cx="74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64" name="Group 11"/>
            <p:cNvGrpSpPr/>
            <p:nvPr/>
          </p:nvGrpSpPr>
          <p:grpSpPr>
            <a:xfrm>
              <a:off x="3106" y="3328"/>
              <a:ext cx="229" cy="221"/>
              <a:chOff x="4285" y="1509"/>
              <a:chExt cx="221" cy="214"/>
            </a:xfrm>
          </p:grpSpPr>
          <p:sp>
            <p:nvSpPr>
              <p:cNvPr id="19481" name="Oval 12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9482" name="Text Box 13"/>
              <p:cNvSpPr txBox="1"/>
              <p:nvPr/>
            </p:nvSpPr>
            <p:spPr>
              <a:xfrm>
                <a:off x="4351" y="1537"/>
                <a:ext cx="74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65" name="Group 14"/>
            <p:cNvGrpSpPr/>
            <p:nvPr/>
          </p:nvGrpSpPr>
          <p:grpSpPr>
            <a:xfrm>
              <a:off x="3075" y="2753"/>
              <a:ext cx="229" cy="221"/>
              <a:chOff x="4285" y="1509"/>
              <a:chExt cx="221" cy="214"/>
            </a:xfrm>
          </p:grpSpPr>
          <p:sp>
            <p:nvSpPr>
              <p:cNvPr id="19479" name="Oval 15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9480" name="Text Box 16"/>
              <p:cNvSpPr txBox="1"/>
              <p:nvPr/>
            </p:nvSpPr>
            <p:spPr>
              <a:xfrm>
                <a:off x="4355" y="1538"/>
                <a:ext cx="75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66" name="Group 17"/>
            <p:cNvGrpSpPr/>
            <p:nvPr/>
          </p:nvGrpSpPr>
          <p:grpSpPr>
            <a:xfrm>
              <a:off x="2400" y="2757"/>
              <a:ext cx="229" cy="222"/>
              <a:chOff x="4285" y="1509"/>
              <a:chExt cx="221" cy="214"/>
            </a:xfrm>
          </p:grpSpPr>
          <p:sp>
            <p:nvSpPr>
              <p:cNvPr id="19477" name="Oval 18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9478" name="Text Box 19"/>
              <p:cNvSpPr txBox="1"/>
              <p:nvPr/>
            </p:nvSpPr>
            <p:spPr>
              <a:xfrm>
                <a:off x="4355" y="1538"/>
                <a:ext cx="75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67" name="Group 20"/>
            <p:cNvGrpSpPr/>
            <p:nvPr/>
          </p:nvGrpSpPr>
          <p:grpSpPr>
            <a:xfrm>
              <a:off x="1701" y="2748"/>
              <a:ext cx="229" cy="221"/>
              <a:chOff x="4285" y="1509"/>
              <a:chExt cx="221" cy="214"/>
            </a:xfrm>
          </p:grpSpPr>
          <p:sp>
            <p:nvSpPr>
              <p:cNvPr id="19475" name="Oval 21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9476" name="Text Box 22"/>
              <p:cNvSpPr txBox="1"/>
              <p:nvPr/>
            </p:nvSpPr>
            <p:spPr>
              <a:xfrm>
                <a:off x="4355" y="1537"/>
                <a:ext cx="75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468" name="Line 23"/>
            <p:cNvSpPr/>
            <p:nvPr/>
          </p:nvSpPr>
          <p:spPr>
            <a:xfrm>
              <a:off x="1834" y="2967"/>
              <a:ext cx="0" cy="3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19469" name="Line 24"/>
            <p:cNvSpPr/>
            <p:nvPr/>
          </p:nvSpPr>
          <p:spPr>
            <a:xfrm>
              <a:off x="1919" y="2858"/>
              <a:ext cx="47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19470" name="Line 25"/>
            <p:cNvSpPr/>
            <p:nvPr/>
          </p:nvSpPr>
          <p:spPr>
            <a:xfrm flipH="1" flipV="1">
              <a:off x="1895" y="2907"/>
              <a:ext cx="570" cy="4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19471" name="Line 26"/>
            <p:cNvSpPr/>
            <p:nvPr/>
          </p:nvSpPr>
          <p:spPr>
            <a:xfrm flipV="1">
              <a:off x="2538" y="2979"/>
              <a:ext cx="0" cy="3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19472" name="Line 27"/>
            <p:cNvSpPr/>
            <p:nvPr/>
          </p:nvSpPr>
          <p:spPr>
            <a:xfrm>
              <a:off x="2658" y="3413"/>
              <a:ext cx="44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triangle" w="med" len="med"/>
              <a:tailEnd type="none" w="med" len="lg"/>
            </a:ln>
          </p:spPr>
        </p:sp>
        <p:sp>
          <p:nvSpPr>
            <p:cNvPr id="19473" name="Line 28"/>
            <p:cNvSpPr/>
            <p:nvPr/>
          </p:nvSpPr>
          <p:spPr>
            <a:xfrm>
              <a:off x="3228" y="2967"/>
              <a:ext cx="0" cy="3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19474" name="Line 29"/>
            <p:cNvSpPr/>
            <p:nvPr/>
          </p:nvSpPr>
          <p:spPr>
            <a:xfrm flipH="1">
              <a:off x="2634" y="2858"/>
              <a:ext cx="4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</p:grpSp>
      <p:sp>
        <p:nvSpPr>
          <p:cNvPr id="31" name="文本框 30"/>
          <p:cNvSpPr txBox="1"/>
          <p:nvPr/>
        </p:nvSpPr>
        <p:spPr>
          <a:xfrm>
            <a:off x="692150" y="6300788"/>
            <a:ext cx="51038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99"/>
                </a:solidFill>
              </a:rPr>
              <a:t>Time complexity of the method is:</a:t>
            </a:r>
            <a:endParaRPr lang="en-US" altLang="zh-CN" sz="2400" dirty="0">
              <a:solidFill>
                <a:srgbClr val="000099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716588" y="6300788"/>
            <a:ext cx="18970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99"/>
                </a:solidFill>
              </a:rPr>
              <a:t>O(|V|</a:t>
            </a:r>
            <a:r>
              <a:rPr lang="en-US" altLang="zh-CN" sz="2400" baseline="30000" dirty="0">
                <a:solidFill>
                  <a:srgbClr val="000099"/>
                </a:solidFill>
              </a:rPr>
              <a:t>2</a:t>
            </a:r>
            <a:r>
              <a:rPr lang="en-US" altLang="zh-CN" sz="2400" dirty="0">
                <a:solidFill>
                  <a:srgbClr val="000099"/>
                </a:solidFill>
              </a:rPr>
              <a:t>)</a:t>
            </a:r>
            <a:endParaRPr lang="en-US" altLang="zh-CN" sz="24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31" grpId="0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21506" name="Group 31"/>
          <p:cNvGrpSpPr/>
          <p:nvPr/>
        </p:nvGrpSpPr>
        <p:grpSpPr>
          <a:xfrm>
            <a:off x="750888" y="2579688"/>
            <a:ext cx="1381125" cy="877887"/>
            <a:chOff x="0" y="0"/>
            <a:chExt cx="489" cy="768"/>
          </a:xfrm>
        </p:grpSpPr>
        <p:sp>
          <p:nvSpPr>
            <p:cNvPr id="21630" name="Rectangle 32"/>
            <p:cNvSpPr/>
            <p:nvPr/>
          </p:nvSpPr>
          <p:spPr>
            <a:xfrm>
              <a:off x="43" y="0"/>
              <a:ext cx="403" cy="768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Steps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31" name="Rectangle 33"/>
            <p:cNvSpPr/>
            <p:nvPr/>
          </p:nvSpPr>
          <p:spPr>
            <a:xfrm>
              <a:off x="0" y="0"/>
              <a:ext cx="489" cy="768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1507" name="Group 34"/>
          <p:cNvGrpSpPr/>
          <p:nvPr/>
        </p:nvGrpSpPr>
        <p:grpSpPr>
          <a:xfrm>
            <a:off x="2132013" y="2579688"/>
            <a:ext cx="2681287" cy="439737"/>
            <a:chOff x="489" y="0"/>
            <a:chExt cx="950" cy="384"/>
          </a:xfrm>
        </p:grpSpPr>
        <p:sp>
          <p:nvSpPr>
            <p:cNvPr id="21628" name="Rectangle 35"/>
            <p:cNvSpPr/>
            <p:nvPr/>
          </p:nvSpPr>
          <p:spPr>
            <a:xfrm>
              <a:off x="532" y="0"/>
              <a:ext cx="864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indegree[]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29" name="Rectangle 36"/>
            <p:cNvSpPr/>
            <p:nvPr/>
          </p:nvSpPr>
          <p:spPr>
            <a:xfrm>
              <a:off x="489" y="0"/>
              <a:ext cx="950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1508" name="Group 37"/>
          <p:cNvGrpSpPr/>
          <p:nvPr/>
        </p:nvGrpSpPr>
        <p:grpSpPr>
          <a:xfrm>
            <a:off x="4813300" y="2579688"/>
            <a:ext cx="1868488" cy="877887"/>
            <a:chOff x="1439" y="0"/>
            <a:chExt cx="662" cy="768"/>
          </a:xfrm>
        </p:grpSpPr>
        <p:sp>
          <p:nvSpPr>
            <p:cNvPr id="21626" name="Rectangle 38"/>
            <p:cNvSpPr/>
            <p:nvPr/>
          </p:nvSpPr>
          <p:spPr>
            <a:xfrm>
              <a:off x="1482" y="0"/>
              <a:ext cx="576" cy="768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Q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627" name="Rectangle 39"/>
            <p:cNvSpPr/>
            <p:nvPr/>
          </p:nvSpPr>
          <p:spPr>
            <a:xfrm>
              <a:off x="1439" y="0"/>
              <a:ext cx="662" cy="768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1509" name="Group 40"/>
          <p:cNvGrpSpPr/>
          <p:nvPr/>
        </p:nvGrpSpPr>
        <p:grpSpPr>
          <a:xfrm>
            <a:off x="6681788" y="2579688"/>
            <a:ext cx="1462087" cy="877887"/>
            <a:chOff x="2101" y="0"/>
            <a:chExt cx="518" cy="768"/>
          </a:xfrm>
        </p:grpSpPr>
        <p:sp>
          <p:nvSpPr>
            <p:cNvPr id="21624" name="Rectangle 41"/>
            <p:cNvSpPr/>
            <p:nvPr/>
          </p:nvSpPr>
          <p:spPr>
            <a:xfrm>
              <a:off x="2144" y="0"/>
              <a:ext cx="432" cy="768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dequeue &amp; printout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25" name="Rectangle 42"/>
            <p:cNvSpPr/>
            <p:nvPr/>
          </p:nvSpPr>
          <p:spPr>
            <a:xfrm>
              <a:off x="2101" y="0"/>
              <a:ext cx="518" cy="768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1510" name="Group 43"/>
          <p:cNvGrpSpPr/>
          <p:nvPr/>
        </p:nvGrpSpPr>
        <p:grpSpPr>
          <a:xfrm>
            <a:off x="2132013" y="3019425"/>
            <a:ext cx="2681287" cy="438150"/>
            <a:chOff x="489" y="384"/>
            <a:chExt cx="950" cy="384"/>
          </a:xfrm>
        </p:grpSpPr>
        <p:sp>
          <p:nvSpPr>
            <p:cNvPr id="21622" name="Rectangle 44"/>
            <p:cNvSpPr/>
            <p:nvPr/>
          </p:nvSpPr>
          <p:spPr>
            <a:xfrm>
              <a:off x="532" y="384"/>
              <a:ext cx="864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0  1  2  3  4  5 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23" name="Rectangle 45"/>
            <p:cNvSpPr/>
            <p:nvPr/>
          </p:nvSpPr>
          <p:spPr>
            <a:xfrm>
              <a:off x="489" y="384"/>
              <a:ext cx="950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7" name="Group 46"/>
          <p:cNvGrpSpPr/>
          <p:nvPr/>
        </p:nvGrpSpPr>
        <p:grpSpPr>
          <a:xfrm>
            <a:off x="750888" y="3457575"/>
            <a:ext cx="1381125" cy="439738"/>
            <a:chOff x="0" y="768"/>
            <a:chExt cx="489" cy="384"/>
          </a:xfrm>
        </p:grpSpPr>
        <p:sp>
          <p:nvSpPr>
            <p:cNvPr id="21620" name="Rectangle 47"/>
            <p:cNvSpPr/>
            <p:nvPr/>
          </p:nvSpPr>
          <p:spPr>
            <a:xfrm>
              <a:off x="43" y="768"/>
              <a:ext cx="403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initial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21" name="Rectangle 48"/>
            <p:cNvSpPr/>
            <p:nvPr/>
          </p:nvSpPr>
          <p:spPr>
            <a:xfrm>
              <a:off x="0" y="768"/>
              <a:ext cx="489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8" name="Group 49"/>
          <p:cNvGrpSpPr/>
          <p:nvPr/>
        </p:nvGrpSpPr>
        <p:grpSpPr>
          <a:xfrm>
            <a:off x="2132013" y="3457575"/>
            <a:ext cx="2681287" cy="439738"/>
            <a:chOff x="489" y="768"/>
            <a:chExt cx="950" cy="384"/>
          </a:xfrm>
        </p:grpSpPr>
        <p:sp>
          <p:nvSpPr>
            <p:cNvPr id="21618" name="Rectangle 50"/>
            <p:cNvSpPr/>
            <p:nvPr/>
          </p:nvSpPr>
          <p:spPr>
            <a:xfrm>
              <a:off x="532" y="768"/>
              <a:ext cx="864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1  3  0  1  1  1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19" name="Rectangle 51"/>
            <p:cNvSpPr/>
            <p:nvPr/>
          </p:nvSpPr>
          <p:spPr>
            <a:xfrm>
              <a:off x="489" y="768"/>
              <a:ext cx="950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9" name="Group 52"/>
          <p:cNvGrpSpPr/>
          <p:nvPr/>
        </p:nvGrpSpPr>
        <p:grpSpPr>
          <a:xfrm>
            <a:off x="4813300" y="3457575"/>
            <a:ext cx="1868488" cy="439738"/>
            <a:chOff x="1439" y="768"/>
            <a:chExt cx="662" cy="384"/>
          </a:xfrm>
        </p:grpSpPr>
        <p:sp>
          <p:nvSpPr>
            <p:cNvPr id="21616" name="Rectangle 53"/>
            <p:cNvSpPr/>
            <p:nvPr/>
          </p:nvSpPr>
          <p:spPr>
            <a:xfrm>
              <a:off x="1482" y="768"/>
              <a:ext cx="576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17" name="Rectangle 54"/>
            <p:cNvSpPr/>
            <p:nvPr/>
          </p:nvSpPr>
          <p:spPr>
            <a:xfrm>
              <a:off x="1439" y="768"/>
              <a:ext cx="662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0" name="Group 55"/>
          <p:cNvGrpSpPr/>
          <p:nvPr/>
        </p:nvGrpSpPr>
        <p:grpSpPr>
          <a:xfrm>
            <a:off x="6681788" y="3457575"/>
            <a:ext cx="1462087" cy="439738"/>
            <a:chOff x="2101" y="768"/>
            <a:chExt cx="518" cy="384"/>
          </a:xfrm>
        </p:grpSpPr>
        <p:sp>
          <p:nvSpPr>
            <p:cNvPr id="21614" name="Rectangle 56"/>
            <p:cNvSpPr/>
            <p:nvPr/>
          </p:nvSpPr>
          <p:spPr>
            <a:xfrm>
              <a:off x="2144" y="768"/>
              <a:ext cx="432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 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15" name="Rectangle 57"/>
            <p:cNvSpPr/>
            <p:nvPr/>
          </p:nvSpPr>
          <p:spPr>
            <a:xfrm>
              <a:off x="2101" y="768"/>
              <a:ext cx="518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1" name="Group 58"/>
          <p:cNvGrpSpPr/>
          <p:nvPr/>
        </p:nvGrpSpPr>
        <p:grpSpPr>
          <a:xfrm>
            <a:off x="750888" y="3897313"/>
            <a:ext cx="1381125" cy="438150"/>
            <a:chOff x="0" y="1152"/>
            <a:chExt cx="489" cy="384"/>
          </a:xfrm>
        </p:grpSpPr>
        <p:sp>
          <p:nvSpPr>
            <p:cNvPr id="21612" name="Rectangle 59"/>
            <p:cNvSpPr/>
            <p:nvPr/>
          </p:nvSpPr>
          <p:spPr>
            <a:xfrm>
              <a:off x="43" y="1152"/>
              <a:ext cx="403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13" name="Rectangle 60"/>
            <p:cNvSpPr/>
            <p:nvPr/>
          </p:nvSpPr>
          <p:spPr>
            <a:xfrm>
              <a:off x="0" y="1152"/>
              <a:ext cx="489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2" name="Group 61"/>
          <p:cNvGrpSpPr/>
          <p:nvPr/>
        </p:nvGrpSpPr>
        <p:grpSpPr>
          <a:xfrm>
            <a:off x="2132013" y="3897313"/>
            <a:ext cx="2681287" cy="438150"/>
            <a:chOff x="489" y="1152"/>
            <a:chExt cx="950" cy="384"/>
          </a:xfrm>
        </p:grpSpPr>
        <p:sp>
          <p:nvSpPr>
            <p:cNvPr id="21610" name="Rectangle 62"/>
            <p:cNvSpPr/>
            <p:nvPr/>
          </p:nvSpPr>
          <p:spPr>
            <a:xfrm>
              <a:off x="532" y="1152"/>
              <a:ext cx="864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  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1  1  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11" name="Rectangle 63"/>
            <p:cNvSpPr/>
            <p:nvPr/>
          </p:nvSpPr>
          <p:spPr>
            <a:xfrm>
              <a:off x="489" y="1152"/>
              <a:ext cx="950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3" name="Group 64"/>
          <p:cNvGrpSpPr/>
          <p:nvPr/>
        </p:nvGrpSpPr>
        <p:grpSpPr>
          <a:xfrm>
            <a:off x="4813300" y="3897313"/>
            <a:ext cx="1868488" cy="438150"/>
            <a:chOff x="1439" y="1152"/>
            <a:chExt cx="662" cy="384"/>
          </a:xfrm>
        </p:grpSpPr>
        <p:sp>
          <p:nvSpPr>
            <p:cNvPr id="21608" name="Rectangle 65"/>
            <p:cNvSpPr/>
            <p:nvPr/>
          </p:nvSpPr>
          <p:spPr>
            <a:xfrm>
              <a:off x="1482" y="1152"/>
              <a:ext cx="576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09" name="Rectangle 66"/>
            <p:cNvSpPr/>
            <p:nvPr/>
          </p:nvSpPr>
          <p:spPr>
            <a:xfrm>
              <a:off x="1439" y="1152"/>
              <a:ext cx="662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4" name="Group 67"/>
          <p:cNvGrpSpPr/>
          <p:nvPr/>
        </p:nvGrpSpPr>
        <p:grpSpPr>
          <a:xfrm>
            <a:off x="6681788" y="3457575"/>
            <a:ext cx="1462087" cy="438150"/>
            <a:chOff x="2101" y="1152"/>
            <a:chExt cx="518" cy="384"/>
          </a:xfrm>
        </p:grpSpPr>
        <p:sp>
          <p:nvSpPr>
            <p:cNvPr id="21606" name="Rectangle 68"/>
            <p:cNvSpPr/>
            <p:nvPr/>
          </p:nvSpPr>
          <p:spPr>
            <a:xfrm>
              <a:off x="2144" y="1152"/>
              <a:ext cx="432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07" name="Rectangle 69"/>
            <p:cNvSpPr/>
            <p:nvPr/>
          </p:nvSpPr>
          <p:spPr>
            <a:xfrm>
              <a:off x="2101" y="1152"/>
              <a:ext cx="518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5" name="Group 70"/>
          <p:cNvGrpSpPr/>
          <p:nvPr/>
        </p:nvGrpSpPr>
        <p:grpSpPr>
          <a:xfrm>
            <a:off x="750888" y="4335463"/>
            <a:ext cx="1381125" cy="439737"/>
            <a:chOff x="0" y="1536"/>
            <a:chExt cx="489" cy="384"/>
          </a:xfrm>
        </p:grpSpPr>
        <p:sp>
          <p:nvSpPr>
            <p:cNvPr id="21604" name="Rectangle 71"/>
            <p:cNvSpPr/>
            <p:nvPr/>
          </p:nvSpPr>
          <p:spPr>
            <a:xfrm>
              <a:off x="43" y="1536"/>
              <a:ext cx="403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05" name="Rectangle 72"/>
            <p:cNvSpPr/>
            <p:nvPr/>
          </p:nvSpPr>
          <p:spPr>
            <a:xfrm>
              <a:off x="0" y="1536"/>
              <a:ext cx="489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6" name="Group 73"/>
          <p:cNvGrpSpPr/>
          <p:nvPr/>
        </p:nvGrpSpPr>
        <p:grpSpPr>
          <a:xfrm>
            <a:off x="2132013" y="4335463"/>
            <a:ext cx="2681287" cy="439737"/>
            <a:chOff x="489" y="1536"/>
            <a:chExt cx="950" cy="384"/>
          </a:xfrm>
        </p:grpSpPr>
        <p:sp>
          <p:nvSpPr>
            <p:cNvPr id="21602" name="Rectangle 74"/>
            <p:cNvSpPr/>
            <p:nvPr/>
          </p:nvSpPr>
          <p:spPr>
            <a:xfrm>
              <a:off x="532" y="1536"/>
              <a:ext cx="864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1  2  </a:t>
              </a:r>
              <a:r>
                <a:rPr lang="en-US" altLang="zh-CN" sz="24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1  </a:t>
              </a:r>
              <a:r>
                <a: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03" name="Rectangle 75"/>
            <p:cNvSpPr/>
            <p:nvPr/>
          </p:nvSpPr>
          <p:spPr>
            <a:xfrm>
              <a:off x="489" y="1536"/>
              <a:ext cx="950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7" name="Group 76"/>
          <p:cNvGrpSpPr/>
          <p:nvPr/>
        </p:nvGrpSpPr>
        <p:grpSpPr>
          <a:xfrm>
            <a:off x="4813300" y="4335463"/>
            <a:ext cx="1868488" cy="439737"/>
            <a:chOff x="1439" y="1536"/>
            <a:chExt cx="662" cy="384"/>
          </a:xfrm>
        </p:grpSpPr>
        <p:sp>
          <p:nvSpPr>
            <p:cNvPr id="21600" name="Rectangle 77"/>
            <p:cNvSpPr/>
            <p:nvPr/>
          </p:nvSpPr>
          <p:spPr>
            <a:xfrm>
              <a:off x="1482" y="1536"/>
              <a:ext cx="576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4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601" name="Rectangle 78"/>
            <p:cNvSpPr/>
            <p:nvPr/>
          </p:nvSpPr>
          <p:spPr>
            <a:xfrm>
              <a:off x="1439" y="1536"/>
              <a:ext cx="662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8" name="Group 79"/>
          <p:cNvGrpSpPr/>
          <p:nvPr/>
        </p:nvGrpSpPr>
        <p:grpSpPr>
          <a:xfrm>
            <a:off x="6681788" y="3889375"/>
            <a:ext cx="1462087" cy="439738"/>
            <a:chOff x="2101" y="1536"/>
            <a:chExt cx="518" cy="384"/>
          </a:xfrm>
        </p:grpSpPr>
        <p:sp>
          <p:nvSpPr>
            <p:cNvPr id="21598" name="Rectangle 80"/>
            <p:cNvSpPr/>
            <p:nvPr/>
          </p:nvSpPr>
          <p:spPr>
            <a:xfrm>
              <a:off x="2144" y="1536"/>
              <a:ext cx="432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99" name="Rectangle 81"/>
            <p:cNvSpPr/>
            <p:nvPr/>
          </p:nvSpPr>
          <p:spPr>
            <a:xfrm>
              <a:off x="2101" y="1536"/>
              <a:ext cx="518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9" name="Group 82"/>
          <p:cNvGrpSpPr/>
          <p:nvPr/>
        </p:nvGrpSpPr>
        <p:grpSpPr>
          <a:xfrm>
            <a:off x="750888" y="4775200"/>
            <a:ext cx="1381125" cy="438150"/>
            <a:chOff x="0" y="1920"/>
            <a:chExt cx="489" cy="384"/>
          </a:xfrm>
        </p:grpSpPr>
        <p:sp>
          <p:nvSpPr>
            <p:cNvPr id="21596" name="Rectangle 83"/>
            <p:cNvSpPr/>
            <p:nvPr/>
          </p:nvSpPr>
          <p:spPr>
            <a:xfrm>
              <a:off x="43" y="1920"/>
              <a:ext cx="403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3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97" name="Rectangle 84"/>
            <p:cNvSpPr/>
            <p:nvPr/>
          </p:nvSpPr>
          <p:spPr>
            <a:xfrm>
              <a:off x="0" y="1920"/>
              <a:ext cx="489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0" name="Group 85"/>
          <p:cNvGrpSpPr/>
          <p:nvPr/>
        </p:nvGrpSpPr>
        <p:grpSpPr>
          <a:xfrm>
            <a:off x="2132013" y="4775200"/>
            <a:ext cx="2681287" cy="438150"/>
            <a:chOff x="489" y="1920"/>
            <a:chExt cx="950" cy="384"/>
          </a:xfrm>
        </p:grpSpPr>
        <p:sp>
          <p:nvSpPr>
            <p:cNvPr id="21594" name="Rectangle 86"/>
            <p:cNvSpPr/>
            <p:nvPr/>
          </p:nvSpPr>
          <p:spPr>
            <a:xfrm>
              <a:off x="532" y="1920"/>
              <a:ext cx="864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1  </a:t>
              </a:r>
              <a:r>
                <a:rPr lang="en-US" altLang="zh-CN" sz="24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95" name="Rectangle 87"/>
            <p:cNvSpPr/>
            <p:nvPr/>
          </p:nvSpPr>
          <p:spPr>
            <a:xfrm>
              <a:off x="489" y="1920"/>
              <a:ext cx="950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1" name="Group 88"/>
          <p:cNvGrpSpPr/>
          <p:nvPr/>
        </p:nvGrpSpPr>
        <p:grpSpPr>
          <a:xfrm>
            <a:off x="4813300" y="4775200"/>
            <a:ext cx="1868488" cy="438150"/>
            <a:chOff x="1439" y="1920"/>
            <a:chExt cx="662" cy="384"/>
          </a:xfrm>
        </p:grpSpPr>
        <p:sp>
          <p:nvSpPr>
            <p:cNvPr id="21592" name="Rectangle 89"/>
            <p:cNvSpPr/>
            <p:nvPr/>
          </p:nvSpPr>
          <p:spPr>
            <a:xfrm>
              <a:off x="1482" y="1920"/>
              <a:ext cx="576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93" name="Rectangle 90"/>
            <p:cNvSpPr/>
            <p:nvPr/>
          </p:nvSpPr>
          <p:spPr>
            <a:xfrm>
              <a:off x="1439" y="1920"/>
              <a:ext cx="662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2" name="Group 91"/>
          <p:cNvGrpSpPr/>
          <p:nvPr/>
        </p:nvGrpSpPr>
        <p:grpSpPr>
          <a:xfrm>
            <a:off x="6681788" y="4321175"/>
            <a:ext cx="1462087" cy="438150"/>
            <a:chOff x="2101" y="1920"/>
            <a:chExt cx="518" cy="384"/>
          </a:xfrm>
        </p:grpSpPr>
        <p:sp>
          <p:nvSpPr>
            <p:cNvPr id="21590" name="Rectangle 92"/>
            <p:cNvSpPr/>
            <p:nvPr/>
          </p:nvSpPr>
          <p:spPr>
            <a:xfrm>
              <a:off x="2144" y="1920"/>
              <a:ext cx="432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4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91" name="Rectangle 93"/>
            <p:cNvSpPr/>
            <p:nvPr/>
          </p:nvSpPr>
          <p:spPr>
            <a:xfrm>
              <a:off x="2101" y="1920"/>
              <a:ext cx="518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3" name="Group 94"/>
          <p:cNvGrpSpPr/>
          <p:nvPr/>
        </p:nvGrpSpPr>
        <p:grpSpPr>
          <a:xfrm>
            <a:off x="750888" y="5213350"/>
            <a:ext cx="1381125" cy="439738"/>
            <a:chOff x="0" y="2304"/>
            <a:chExt cx="489" cy="384"/>
          </a:xfrm>
        </p:grpSpPr>
        <p:sp>
          <p:nvSpPr>
            <p:cNvPr id="21588" name="Rectangle 95"/>
            <p:cNvSpPr/>
            <p:nvPr/>
          </p:nvSpPr>
          <p:spPr>
            <a:xfrm>
              <a:off x="43" y="2304"/>
              <a:ext cx="403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4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89" name="Rectangle 96"/>
            <p:cNvSpPr/>
            <p:nvPr/>
          </p:nvSpPr>
          <p:spPr>
            <a:xfrm>
              <a:off x="0" y="2304"/>
              <a:ext cx="489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4" name="Group 97"/>
          <p:cNvGrpSpPr/>
          <p:nvPr/>
        </p:nvGrpSpPr>
        <p:grpSpPr>
          <a:xfrm>
            <a:off x="2132013" y="5213350"/>
            <a:ext cx="2681287" cy="439738"/>
            <a:chOff x="489" y="2304"/>
            <a:chExt cx="950" cy="384"/>
          </a:xfrm>
        </p:grpSpPr>
        <p:sp>
          <p:nvSpPr>
            <p:cNvPr id="21586" name="Rectangle 98"/>
            <p:cNvSpPr/>
            <p:nvPr/>
          </p:nvSpPr>
          <p:spPr>
            <a:xfrm>
              <a:off x="532" y="2304"/>
              <a:ext cx="864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24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0  0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87" name="Rectangle 99"/>
            <p:cNvSpPr/>
            <p:nvPr/>
          </p:nvSpPr>
          <p:spPr>
            <a:xfrm>
              <a:off x="489" y="2304"/>
              <a:ext cx="950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5" name="Group 100"/>
          <p:cNvGrpSpPr/>
          <p:nvPr/>
        </p:nvGrpSpPr>
        <p:grpSpPr>
          <a:xfrm>
            <a:off x="4813300" y="5213350"/>
            <a:ext cx="1868488" cy="439738"/>
            <a:chOff x="1439" y="2304"/>
            <a:chExt cx="662" cy="384"/>
          </a:xfrm>
        </p:grpSpPr>
        <p:sp>
          <p:nvSpPr>
            <p:cNvPr id="21584" name="Rectangle 101"/>
            <p:cNvSpPr/>
            <p:nvPr/>
          </p:nvSpPr>
          <p:spPr>
            <a:xfrm>
              <a:off x="1482" y="2304"/>
              <a:ext cx="576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1  3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85" name="Rectangle 102"/>
            <p:cNvSpPr/>
            <p:nvPr/>
          </p:nvSpPr>
          <p:spPr>
            <a:xfrm>
              <a:off x="1439" y="2304"/>
              <a:ext cx="662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6" name="Group 103"/>
          <p:cNvGrpSpPr/>
          <p:nvPr/>
        </p:nvGrpSpPr>
        <p:grpSpPr>
          <a:xfrm>
            <a:off x="6681788" y="4752975"/>
            <a:ext cx="1462087" cy="439738"/>
            <a:chOff x="2101" y="2304"/>
            <a:chExt cx="518" cy="384"/>
          </a:xfrm>
        </p:grpSpPr>
        <p:sp>
          <p:nvSpPr>
            <p:cNvPr id="21582" name="Rectangle 104"/>
            <p:cNvSpPr/>
            <p:nvPr/>
          </p:nvSpPr>
          <p:spPr>
            <a:xfrm>
              <a:off x="2144" y="2304"/>
              <a:ext cx="432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83" name="Rectangle 105"/>
            <p:cNvSpPr/>
            <p:nvPr/>
          </p:nvSpPr>
          <p:spPr>
            <a:xfrm>
              <a:off x="2101" y="2304"/>
              <a:ext cx="518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7" name="Group 106"/>
          <p:cNvGrpSpPr/>
          <p:nvPr/>
        </p:nvGrpSpPr>
        <p:grpSpPr>
          <a:xfrm>
            <a:off x="750888" y="5653088"/>
            <a:ext cx="1381125" cy="438150"/>
            <a:chOff x="0" y="2688"/>
            <a:chExt cx="489" cy="384"/>
          </a:xfrm>
        </p:grpSpPr>
        <p:sp>
          <p:nvSpPr>
            <p:cNvPr id="21580" name="Rectangle 107"/>
            <p:cNvSpPr/>
            <p:nvPr/>
          </p:nvSpPr>
          <p:spPr>
            <a:xfrm>
              <a:off x="43" y="2688"/>
              <a:ext cx="403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81" name="Rectangle 108"/>
            <p:cNvSpPr/>
            <p:nvPr/>
          </p:nvSpPr>
          <p:spPr>
            <a:xfrm>
              <a:off x="0" y="2688"/>
              <a:ext cx="489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8" name="Group 109"/>
          <p:cNvGrpSpPr/>
          <p:nvPr/>
        </p:nvGrpSpPr>
        <p:grpSpPr>
          <a:xfrm>
            <a:off x="2132013" y="5653088"/>
            <a:ext cx="2681287" cy="438150"/>
            <a:chOff x="489" y="2688"/>
            <a:chExt cx="950" cy="384"/>
          </a:xfrm>
        </p:grpSpPr>
        <p:sp>
          <p:nvSpPr>
            <p:cNvPr id="21578" name="Rectangle 110"/>
            <p:cNvSpPr/>
            <p:nvPr/>
          </p:nvSpPr>
          <p:spPr>
            <a:xfrm>
              <a:off x="532" y="2688"/>
              <a:ext cx="864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0  0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0  </a:t>
              </a:r>
              <a:r>
                <a:rPr lang="en-US" altLang="zh-CN" sz="24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0  0  0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79" name="Rectangle 111"/>
            <p:cNvSpPr/>
            <p:nvPr/>
          </p:nvSpPr>
          <p:spPr>
            <a:xfrm>
              <a:off x="489" y="2688"/>
              <a:ext cx="950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9" name="Group 112"/>
          <p:cNvGrpSpPr/>
          <p:nvPr/>
        </p:nvGrpSpPr>
        <p:grpSpPr>
          <a:xfrm>
            <a:off x="4813300" y="5653088"/>
            <a:ext cx="1868488" cy="438150"/>
            <a:chOff x="1439" y="2688"/>
            <a:chExt cx="662" cy="384"/>
          </a:xfrm>
        </p:grpSpPr>
        <p:sp>
          <p:nvSpPr>
            <p:cNvPr id="21576" name="Rectangle 113"/>
            <p:cNvSpPr/>
            <p:nvPr/>
          </p:nvSpPr>
          <p:spPr>
            <a:xfrm>
              <a:off x="1482" y="2688"/>
              <a:ext cx="576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3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77" name="Rectangle 114"/>
            <p:cNvSpPr/>
            <p:nvPr/>
          </p:nvSpPr>
          <p:spPr>
            <a:xfrm>
              <a:off x="1439" y="2688"/>
              <a:ext cx="662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30" name="Group 115"/>
          <p:cNvGrpSpPr/>
          <p:nvPr/>
        </p:nvGrpSpPr>
        <p:grpSpPr>
          <a:xfrm>
            <a:off x="6681788" y="5192713"/>
            <a:ext cx="1462087" cy="438150"/>
            <a:chOff x="2101" y="2688"/>
            <a:chExt cx="518" cy="384"/>
          </a:xfrm>
        </p:grpSpPr>
        <p:sp>
          <p:nvSpPr>
            <p:cNvPr id="21574" name="Rectangle 116"/>
            <p:cNvSpPr/>
            <p:nvPr/>
          </p:nvSpPr>
          <p:spPr>
            <a:xfrm>
              <a:off x="2144" y="2688"/>
              <a:ext cx="432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75" name="Rectangle 117"/>
            <p:cNvSpPr/>
            <p:nvPr/>
          </p:nvSpPr>
          <p:spPr>
            <a:xfrm>
              <a:off x="2101" y="2688"/>
              <a:ext cx="518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31" name="Group 118"/>
          <p:cNvGrpSpPr/>
          <p:nvPr/>
        </p:nvGrpSpPr>
        <p:grpSpPr>
          <a:xfrm>
            <a:off x="750888" y="6091238"/>
            <a:ext cx="1381125" cy="439737"/>
            <a:chOff x="0" y="3072"/>
            <a:chExt cx="489" cy="384"/>
          </a:xfrm>
        </p:grpSpPr>
        <p:sp>
          <p:nvSpPr>
            <p:cNvPr id="21572" name="Rectangle 119"/>
            <p:cNvSpPr/>
            <p:nvPr/>
          </p:nvSpPr>
          <p:spPr>
            <a:xfrm>
              <a:off x="43" y="3072"/>
              <a:ext cx="403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6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73" name="Rectangle 120"/>
            <p:cNvSpPr/>
            <p:nvPr/>
          </p:nvSpPr>
          <p:spPr>
            <a:xfrm>
              <a:off x="0" y="3072"/>
              <a:ext cx="489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" name="Group 121"/>
          <p:cNvGrpSpPr/>
          <p:nvPr/>
        </p:nvGrpSpPr>
        <p:grpSpPr>
          <a:xfrm>
            <a:off x="2132013" y="6091238"/>
            <a:ext cx="2681287" cy="439737"/>
            <a:chOff x="489" y="3072"/>
            <a:chExt cx="950" cy="384"/>
          </a:xfrm>
        </p:grpSpPr>
        <p:sp>
          <p:nvSpPr>
            <p:cNvPr id="21570" name="Rectangle 122"/>
            <p:cNvSpPr/>
            <p:nvPr/>
          </p:nvSpPr>
          <p:spPr>
            <a:xfrm>
              <a:off x="532" y="3072"/>
              <a:ext cx="864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0  0  0  0  0  0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71" name="Rectangle 123"/>
            <p:cNvSpPr/>
            <p:nvPr/>
          </p:nvSpPr>
          <p:spPr>
            <a:xfrm>
              <a:off x="489" y="3072"/>
              <a:ext cx="950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3" name="Group 124"/>
          <p:cNvGrpSpPr/>
          <p:nvPr/>
        </p:nvGrpSpPr>
        <p:grpSpPr>
          <a:xfrm>
            <a:off x="4813300" y="6091238"/>
            <a:ext cx="1868488" cy="439737"/>
            <a:chOff x="1439" y="3072"/>
            <a:chExt cx="662" cy="384"/>
          </a:xfrm>
        </p:grpSpPr>
        <p:sp>
          <p:nvSpPr>
            <p:cNvPr id="21568" name="Rectangle 125"/>
            <p:cNvSpPr/>
            <p:nvPr/>
          </p:nvSpPr>
          <p:spPr>
            <a:xfrm>
              <a:off x="1482" y="3072"/>
              <a:ext cx="576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 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69" name="Rectangle 126"/>
            <p:cNvSpPr/>
            <p:nvPr/>
          </p:nvSpPr>
          <p:spPr>
            <a:xfrm>
              <a:off x="1439" y="3072"/>
              <a:ext cx="662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6418" name="Group 127"/>
          <p:cNvGrpSpPr/>
          <p:nvPr/>
        </p:nvGrpSpPr>
        <p:grpSpPr>
          <a:xfrm>
            <a:off x="6681788" y="5630863"/>
            <a:ext cx="1462087" cy="439737"/>
            <a:chOff x="2101" y="3072"/>
            <a:chExt cx="518" cy="384"/>
          </a:xfrm>
        </p:grpSpPr>
        <p:sp>
          <p:nvSpPr>
            <p:cNvPr id="21566" name="Rectangle 128"/>
            <p:cNvSpPr/>
            <p:nvPr/>
          </p:nvSpPr>
          <p:spPr>
            <a:xfrm>
              <a:off x="2144" y="3072"/>
              <a:ext cx="432" cy="384"/>
            </a:xfrm>
            <a:prstGeom prst="rect">
              <a:avLst/>
            </a:prstGeom>
            <a:noFill/>
            <a:ln w="31750">
              <a:noFill/>
            </a:ln>
          </p:spPr>
          <p:txBody>
            <a:bodyPr tIns="360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3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67" name="Rectangle 129"/>
            <p:cNvSpPr/>
            <p:nvPr/>
          </p:nvSpPr>
          <p:spPr>
            <a:xfrm>
              <a:off x="2101" y="3072"/>
              <a:ext cx="518" cy="384"/>
            </a:xfrm>
            <a:prstGeom prst="rect">
              <a:avLst/>
            </a:prstGeom>
            <a:noFill/>
            <a:ln w="31750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3600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21539" name="Rectangle 130"/>
          <p:cNvSpPr/>
          <p:nvPr/>
        </p:nvSpPr>
        <p:spPr>
          <a:xfrm>
            <a:off x="742950" y="2576513"/>
            <a:ext cx="7408863" cy="3957637"/>
          </a:xfrm>
          <a:prstGeom prst="rect">
            <a:avLst/>
          </a:prstGeom>
          <a:noFill/>
          <a:ln w="31750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tIns="360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21540" name="Group 3"/>
          <p:cNvGrpSpPr/>
          <p:nvPr/>
        </p:nvGrpSpPr>
        <p:grpSpPr>
          <a:xfrm>
            <a:off x="3071813" y="561975"/>
            <a:ext cx="2593975" cy="1271588"/>
            <a:chOff x="1701" y="2748"/>
            <a:chExt cx="1634" cy="801"/>
          </a:xfrm>
        </p:grpSpPr>
        <p:grpSp>
          <p:nvGrpSpPr>
            <p:cNvPr id="21541" name="Group 4"/>
            <p:cNvGrpSpPr/>
            <p:nvPr/>
          </p:nvGrpSpPr>
          <p:grpSpPr>
            <a:xfrm>
              <a:off x="2432" y="3296"/>
              <a:ext cx="229" cy="222"/>
              <a:chOff x="4285" y="1509"/>
              <a:chExt cx="221" cy="214"/>
            </a:xfrm>
          </p:grpSpPr>
          <p:sp>
            <p:nvSpPr>
              <p:cNvPr id="21564" name="Oval 5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1565" name="Text Box 6"/>
              <p:cNvSpPr txBox="1"/>
              <p:nvPr/>
            </p:nvSpPr>
            <p:spPr>
              <a:xfrm>
                <a:off x="4353" y="1538"/>
                <a:ext cx="69" cy="1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1542" name="Group 7"/>
            <p:cNvGrpSpPr/>
            <p:nvPr/>
          </p:nvGrpSpPr>
          <p:grpSpPr>
            <a:xfrm>
              <a:off x="1721" y="3312"/>
              <a:ext cx="229" cy="221"/>
              <a:chOff x="4285" y="1509"/>
              <a:chExt cx="221" cy="214"/>
            </a:xfrm>
          </p:grpSpPr>
          <p:sp>
            <p:nvSpPr>
              <p:cNvPr id="21562" name="Oval 8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1563" name="Text Box 9"/>
              <p:cNvSpPr txBox="1"/>
              <p:nvPr/>
            </p:nvSpPr>
            <p:spPr>
              <a:xfrm>
                <a:off x="4353" y="1538"/>
                <a:ext cx="69" cy="1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1543" name="Group 10"/>
            <p:cNvGrpSpPr/>
            <p:nvPr/>
          </p:nvGrpSpPr>
          <p:grpSpPr>
            <a:xfrm>
              <a:off x="3106" y="3328"/>
              <a:ext cx="229" cy="221"/>
              <a:chOff x="4285" y="1509"/>
              <a:chExt cx="221" cy="214"/>
            </a:xfrm>
          </p:grpSpPr>
          <p:sp>
            <p:nvSpPr>
              <p:cNvPr id="21560" name="Oval 11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1561" name="Text Box 12"/>
              <p:cNvSpPr txBox="1"/>
              <p:nvPr/>
            </p:nvSpPr>
            <p:spPr>
              <a:xfrm>
                <a:off x="4353" y="1538"/>
                <a:ext cx="69" cy="1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1544" name="Group 13"/>
            <p:cNvGrpSpPr/>
            <p:nvPr/>
          </p:nvGrpSpPr>
          <p:grpSpPr>
            <a:xfrm>
              <a:off x="3075" y="2753"/>
              <a:ext cx="229" cy="221"/>
              <a:chOff x="4285" y="1509"/>
              <a:chExt cx="221" cy="214"/>
            </a:xfrm>
          </p:grpSpPr>
          <p:sp>
            <p:nvSpPr>
              <p:cNvPr id="21558" name="Oval 14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1559" name="Text Box 15"/>
              <p:cNvSpPr txBox="1"/>
              <p:nvPr/>
            </p:nvSpPr>
            <p:spPr>
              <a:xfrm>
                <a:off x="4356" y="1538"/>
                <a:ext cx="70" cy="1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1545" name="Group 16"/>
            <p:cNvGrpSpPr/>
            <p:nvPr/>
          </p:nvGrpSpPr>
          <p:grpSpPr>
            <a:xfrm>
              <a:off x="2400" y="2757"/>
              <a:ext cx="229" cy="222"/>
              <a:chOff x="4285" y="1509"/>
              <a:chExt cx="221" cy="214"/>
            </a:xfrm>
          </p:grpSpPr>
          <p:sp>
            <p:nvSpPr>
              <p:cNvPr id="21556" name="Oval 17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1557" name="Text Box 18"/>
              <p:cNvSpPr txBox="1"/>
              <p:nvPr/>
            </p:nvSpPr>
            <p:spPr>
              <a:xfrm>
                <a:off x="4356" y="1538"/>
                <a:ext cx="70" cy="1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1546" name="Group 19"/>
            <p:cNvGrpSpPr/>
            <p:nvPr/>
          </p:nvGrpSpPr>
          <p:grpSpPr>
            <a:xfrm>
              <a:off x="1701" y="2748"/>
              <a:ext cx="229" cy="221"/>
              <a:chOff x="4285" y="1509"/>
              <a:chExt cx="221" cy="214"/>
            </a:xfrm>
          </p:grpSpPr>
          <p:sp>
            <p:nvSpPr>
              <p:cNvPr id="21554" name="Oval 20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1555" name="Text Box 21"/>
              <p:cNvSpPr txBox="1"/>
              <p:nvPr/>
            </p:nvSpPr>
            <p:spPr>
              <a:xfrm>
                <a:off x="4356" y="1538"/>
                <a:ext cx="70" cy="1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1547" name="Line 22"/>
            <p:cNvSpPr/>
            <p:nvPr/>
          </p:nvSpPr>
          <p:spPr>
            <a:xfrm>
              <a:off x="1834" y="2967"/>
              <a:ext cx="0" cy="3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1548" name="Line 23"/>
            <p:cNvSpPr/>
            <p:nvPr/>
          </p:nvSpPr>
          <p:spPr>
            <a:xfrm>
              <a:off x="1919" y="2858"/>
              <a:ext cx="47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1549" name="Line 24"/>
            <p:cNvSpPr/>
            <p:nvPr/>
          </p:nvSpPr>
          <p:spPr>
            <a:xfrm flipH="1" flipV="1">
              <a:off x="1895" y="2907"/>
              <a:ext cx="570" cy="4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1550" name="Line 25"/>
            <p:cNvSpPr/>
            <p:nvPr/>
          </p:nvSpPr>
          <p:spPr>
            <a:xfrm flipV="1">
              <a:off x="2538" y="2979"/>
              <a:ext cx="0" cy="3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1551" name="Line 26"/>
            <p:cNvSpPr/>
            <p:nvPr/>
          </p:nvSpPr>
          <p:spPr>
            <a:xfrm>
              <a:off x="2658" y="3413"/>
              <a:ext cx="44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triangle" w="med" len="med"/>
              <a:tailEnd type="none" w="med" len="lg"/>
            </a:ln>
          </p:spPr>
        </p:sp>
        <p:sp>
          <p:nvSpPr>
            <p:cNvPr id="21552" name="Line 27"/>
            <p:cNvSpPr/>
            <p:nvPr/>
          </p:nvSpPr>
          <p:spPr>
            <a:xfrm>
              <a:off x="3228" y="2967"/>
              <a:ext cx="0" cy="3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1553" name="Line 28"/>
            <p:cNvSpPr/>
            <p:nvPr/>
          </p:nvSpPr>
          <p:spPr>
            <a:xfrm flipH="1">
              <a:off x="2634" y="2858"/>
              <a:ext cx="4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2339975" y="549275"/>
            <a:ext cx="5472113" cy="671513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3600" b="1" dirty="0"/>
              <a:t>Topological Ordering</a:t>
            </a:r>
            <a:endParaRPr lang="en-US" altLang="zh-CN" sz="3600" b="1" dirty="0"/>
          </a:p>
        </p:txBody>
      </p:sp>
      <p:sp>
        <p:nvSpPr>
          <p:cNvPr id="15362" name="Text Box 3"/>
          <p:cNvSpPr txBox="1"/>
          <p:nvPr/>
        </p:nvSpPr>
        <p:spPr>
          <a:xfrm>
            <a:off x="447675" y="1292225"/>
            <a:ext cx="8312150" cy="5038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spcBef>
                <a:spcPct val="40000"/>
              </a:spcBef>
              <a:buAutoNum type="arabicPeriod"/>
            </a:pPr>
            <a:r>
              <a:rPr lang="en-US" altLang="zh-CN" sz="2400" dirty="0"/>
              <a:t>Counting the in-degree of each vertex;</a:t>
            </a:r>
            <a:endParaRPr lang="en-US" altLang="zh-CN" sz="2400" dirty="0"/>
          </a:p>
          <a:p>
            <a:pPr marL="457200" lvl="0" indent="-457200" eaLnBrk="1" hangingPunct="1">
              <a:spcBef>
                <a:spcPct val="40000"/>
              </a:spcBef>
              <a:buAutoNum type="arabicPeriod"/>
            </a:pPr>
            <a:r>
              <a:rPr lang="en-US" altLang="zh-CN" sz="2400" dirty="0"/>
              <a:t>All vertices with </a:t>
            </a:r>
            <a:r>
              <a:rPr lang="en-US" altLang="zh-CN" sz="2400" dirty="0">
                <a:solidFill>
                  <a:srgbClr val="000099"/>
                </a:solidFill>
              </a:rPr>
              <a:t>in-degree 0</a:t>
            </a:r>
            <a:r>
              <a:rPr lang="en-US" altLang="zh-CN" sz="2400" dirty="0"/>
              <a:t> are enqueue;</a:t>
            </a:r>
            <a:endParaRPr lang="en-US" altLang="zh-CN" sz="2400" dirty="0"/>
          </a:p>
          <a:p>
            <a:pPr marL="457200" lvl="0" indent="-457200" eaLnBrk="1" hangingPunct="1">
              <a:spcBef>
                <a:spcPct val="40000"/>
              </a:spcBef>
              <a:buAutoNum type="arabicPeriod"/>
            </a:pPr>
            <a:r>
              <a:rPr lang="en-US" altLang="zh-CN" sz="2400" dirty="0"/>
              <a:t>If  the queue is empty, goto 7;</a:t>
            </a:r>
            <a:endParaRPr lang="en-US" altLang="zh-CN" sz="2400" dirty="0"/>
          </a:p>
          <a:p>
            <a:pPr marL="457200" lvl="0" indent="-457200" eaLnBrk="1" hangingPunct="1">
              <a:spcBef>
                <a:spcPct val="40000"/>
              </a:spcBef>
              <a:buAutoNum type="arabicPeriod"/>
            </a:pPr>
            <a:r>
              <a:rPr lang="en-US" altLang="zh-CN" sz="2400" dirty="0"/>
              <a:t>Remove the first vertex </a:t>
            </a:r>
            <a:r>
              <a:rPr lang="en-US" altLang="zh-CN" sz="2400" i="1" dirty="0"/>
              <a:t>N</a:t>
            </a:r>
            <a:r>
              <a:rPr lang="en-US" altLang="zh-CN" sz="2400" dirty="0"/>
              <a:t> from queue and output it;</a:t>
            </a:r>
            <a:endParaRPr lang="en-US" altLang="zh-CN" sz="2400" dirty="0"/>
          </a:p>
          <a:p>
            <a:pPr marL="457200" lvl="0" indent="-457200" eaLnBrk="1" hangingPunct="1">
              <a:spcBef>
                <a:spcPct val="40000"/>
              </a:spcBef>
              <a:buAutoNum type="arabicPeriod"/>
            </a:pPr>
            <a:r>
              <a:rPr lang="en-US" altLang="zh-CN" sz="2400" dirty="0"/>
              <a:t>The </a:t>
            </a:r>
            <a:r>
              <a:rPr lang="en-US" altLang="zh-CN" sz="2400" dirty="0">
                <a:solidFill>
                  <a:srgbClr val="000099"/>
                </a:solidFill>
              </a:rPr>
              <a:t>in-degrees of all the neighbors adjacent to</a:t>
            </a:r>
            <a:r>
              <a:rPr lang="en-US" altLang="zh-CN" sz="2400" dirty="0">
                <a:solidFill>
                  <a:schemeClr val="folHlink"/>
                </a:solidFill>
              </a:rPr>
              <a:t> </a:t>
            </a:r>
            <a:r>
              <a:rPr lang="en-US" altLang="zh-CN" sz="2400" dirty="0">
                <a:solidFill>
                  <a:srgbClr val="000099"/>
                </a:solidFill>
              </a:rPr>
              <a:t>N</a:t>
            </a:r>
            <a:r>
              <a:rPr lang="en-US" altLang="zh-CN" sz="2400" dirty="0"/>
              <a:t> is decremented by 1. Inqueue vertices whose in degrees become to 0;</a:t>
            </a:r>
            <a:endParaRPr lang="en-US" altLang="zh-CN" sz="2400" dirty="0"/>
          </a:p>
          <a:p>
            <a:pPr marL="457200" lvl="0" indent="-457200" eaLnBrk="1" hangingPunct="1">
              <a:spcBef>
                <a:spcPct val="40000"/>
              </a:spcBef>
              <a:buAutoNum type="arabicPeriod"/>
            </a:pPr>
            <a:r>
              <a:rPr lang="en-US" altLang="zh-CN" sz="2400" dirty="0"/>
              <a:t>Goto 3;</a:t>
            </a:r>
            <a:endParaRPr lang="en-US" altLang="zh-CN" sz="2400" dirty="0"/>
          </a:p>
          <a:p>
            <a:pPr marL="457200" lvl="0" indent="-457200" eaLnBrk="1" hangingPunct="1">
              <a:spcBef>
                <a:spcPct val="40000"/>
              </a:spcBef>
              <a:buAutoNum type="arabicPeriod"/>
            </a:pPr>
            <a:r>
              <a:rPr lang="en-US" altLang="zh-CN" sz="2400" dirty="0"/>
              <a:t>If all vertices have been output, the printed order is topological ordering. </a:t>
            </a:r>
            <a:r>
              <a:rPr lang="en-US" altLang="zh-CN" sz="2400" dirty="0">
                <a:solidFill>
                  <a:srgbClr val="FF0000"/>
                </a:solidFill>
              </a:rPr>
              <a:t>Otherwise, the graph include cycles</a:t>
            </a:r>
            <a:r>
              <a:rPr lang="en-US" altLang="zh-CN" sz="2400" dirty="0"/>
              <a:t>.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2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39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2">
                                            <p:txEl>
                                              <p:charRg st="39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82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2">
                                            <p:txEl>
                                              <p:charRg st="82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292" end="4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62">
                                            <p:txEl>
                                              <p:charRg st="292" end="4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114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62">
                                            <p:txEl>
                                              <p:charRg st="114" end="1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166" end="2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62">
                                            <p:txEl>
                                              <p:charRg st="166" end="2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284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362">
                                            <p:txEl>
                                              <p:charRg st="284" end="2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395288" y="655638"/>
            <a:ext cx="7896225" cy="671512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3600" b="1" dirty="0"/>
              <a:t>Topological Ordering</a:t>
            </a:r>
            <a:endParaRPr lang="en-US" altLang="zh-CN" sz="3600" b="1" dirty="0"/>
          </a:p>
        </p:txBody>
      </p:sp>
      <p:sp>
        <p:nvSpPr>
          <p:cNvPr id="23555" name="Text Box 3"/>
          <p:cNvSpPr txBox="1"/>
          <p:nvPr/>
        </p:nvSpPr>
        <p:spPr>
          <a:xfrm>
            <a:off x="415925" y="1525588"/>
            <a:ext cx="8312150" cy="4892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000099"/>
                </a:solidFill>
                <a:latin typeface="Tahoma" panose="020B0604030504040204" pitchFamily="34" charset="0"/>
              </a:rPr>
              <a:t>void  topsort(ALGraph *G, Queue  *Q)</a:t>
            </a:r>
            <a:endParaRPr lang="en-US" altLang="zh-CN" sz="2000" dirty="0">
              <a:latin typeface="Tahoma" panose="020B0604030504040204" pitchFamily="34" charset="0"/>
            </a:endParaRPr>
          </a:p>
          <a:p>
            <a:pPr marL="457200" lvl="0" indent="-4572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Tahoma" panose="020B0604030504040204" pitchFamily="34" charset="0"/>
              </a:rPr>
              <a:t>{    </a:t>
            </a:r>
            <a:r>
              <a:rPr lang="en-US" altLang="zh-CN" sz="2000" dirty="0"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Tahoma" panose="020B0604030504040204" pitchFamily="34" charset="0"/>
              </a:rPr>
              <a:t> indegree</a:t>
            </a:r>
            <a:r>
              <a:rPr lang="en-US" altLang="zh-CN" sz="2000" dirty="0">
                <a:latin typeface="Arial" panose="020B0604020202020204" pitchFamily="34" charset="0"/>
              </a:rPr>
              <a:t>[G-&gt;Vexnum], counter=0;</a:t>
            </a:r>
            <a:r>
              <a:rPr lang="en-US" altLang="zh-CN" sz="2000" dirty="0">
                <a:latin typeface="Tahoma" panose="020B0604030504040204" pitchFamily="34" charset="0"/>
              </a:rPr>
              <a:t>       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Node *p;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for (i = 0; i &lt; G-&gt;Vexnum; i++) indegree[i] = 0;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for (i = 0; i &lt; G-&gt;Vexnum; i++)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{p=G-&gt;AdjList[i]-&gt;LINK;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 for (j = p-&gt;data; p!=NULL; p=p-&gt;LINK)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   indegree[j]++;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Tahoma" panose="020B0604030504040204" pitchFamily="34" charset="0"/>
              </a:rPr>
              <a:t>     }</a:t>
            </a:r>
            <a:endParaRPr lang="en-US" altLang="zh-CN" sz="2000" dirty="0">
              <a:latin typeface="Tahoma" panose="020B0604030504040204" pitchFamily="34" charset="0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2000" dirty="0">
              <a:latin typeface="Tahoma" panose="020B0604030504040204" pitchFamily="34" charset="0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for (i = 0; i &lt; G-&gt;Vexnum; i++)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 if (indegree[i] == 0 ) enqueue(Q,i);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// see next page …..</a:t>
            </a:r>
            <a:endParaRPr lang="en-US" altLang="zh-CN" sz="2000" dirty="0">
              <a:latin typeface="Tahoma" panose="020B0604030504040204" pitchFamily="34" charset="0"/>
            </a:endParaRPr>
          </a:p>
        </p:txBody>
      </p:sp>
      <p:sp>
        <p:nvSpPr>
          <p:cNvPr id="23556" name="AutoShape 4"/>
          <p:cNvSpPr/>
          <p:nvPr/>
        </p:nvSpPr>
        <p:spPr>
          <a:xfrm>
            <a:off x="5224463" y="4159250"/>
            <a:ext cx="2579687" cy="769938"/>
          </a:xfrm>
          <a:prstGeom prst="wedgeRectCallout">
            <a:avLst>
              <a:gd name="adj1" fmla="val -121630"/>
              <a:gd name="adj2" fmla="val -3989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Counting the indegree of each vertex.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7" name="AutoShape 5"/>
          <p:cNvSpPr/>
          <p:nvPr/>
        </p:nvSpPr>
        <p:spPr>
          <a:xfrm>
            <a:off x="5570538" y="5846763"/>
            <a:ext cx="2767012" cy="769937"/>
          </a:xfrm>
          <a:prstGeom prst="wedgeRectCallout">
            <a:avLst>
              <a:gd name="adj1" fmla="val -81324"/>
              <a:gd name="adj2" fmla="val -9577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Place vertices with indegree 0 on the queue</a:t>
            </a:r>
            <a:r>
              <a:rPr lang="en-US" altLang="zh-CN" sz="2000" dirty="0">
                <a:solidFill>
                  <a:srgbClr val="FFFF00"/>
                </a:solidFill>
                <a:latin typeface="Times New Roman" panose="02020603050405020304" pitchFamily="18" charset="0"/>
              </a:rPr>
              <a:t>.</a:t>
            </a:r>
            <a:endParaRPr lang="en-US" altLang="zh-CN" sz="2000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xfrm>
            <a:off x="395288" y="655638"/>
            <a:ext cx="7896225" cy="671512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3600" b="1" dirty="0"/>
              <a:t>Topological Ordering</a:t>
            </a:r>
            <a:endParaRPr lang="en-US" altLang="zh-CN" sz="3600" b="1" dirty="0"/>
          </a:p>
        </p:txBody>
      </p:sp>
      <p:sp>
        <p:nvSpPr>
          <p:cNvPr id="2" name="Text Box 3"/>
          <p:cNvSpPr txBox="1"/>
          <p:nvPr/>
        </p:nvSpPr>
        <p:spPr>
          <a:xfrm>
            <a:off x="468313" y="1354138"/>
            <a:ext cx="8312150" cy="5262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marR="0" indent="-45720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while (!isEmpty(Q))</a:t>
            </a:r>
            <a:endParaRPr kumimoji="0" lang="en-US" altLang="zh-CN" sz="2000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indent="-45720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kern="1200" cap="none" spc="0" normalizeH="0" baseline="0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{</a:t>
            </a:r>
            <a:endParaRPr kumimoji="0" lang="en-US" altLang="zh-CN" sz="2000" kern="1200" cap="none" spc="0" normalizeH="0" baseline="0" noProof="1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 = dequeue(Q);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Printout(v); counter++;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p=G-&gt;AdjList[v]-&gt;LINK;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for (w = p-&gt;data; p!=NULL; p=p-&gt;LINK)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{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    indegree[w]--;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if (indegree[w]==0)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enqueue(Q, w);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}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}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if (counter != Vexnum) Error(“Graph has cycle”);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5" name="文本框 1"/>
          <p:cNvSpPr txBox="1"/>
          <p:nvPr/>
        </p:nvSpPr>
        <p:spPr>
          <a:xfrm>
            <a:off x="5027613" y="1354138"/>
            <a:ext cx="4127500" cy="1754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0099"/>
                </a:solidFill>
              </a:rPr>
              <a:t>Time complexity of the method is:    </a:t>
            </a:r>
            <a:endParaRPr lang="en-US" altLang="zh-CN" sz="1800" dirty="0">
              <a:solidFill>
                <a:srgbClr val="000099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dirty="0">
              <a:solidFill>
                <a:srgbClr val="000099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0099"/>
                </a:solidFill>
              </a:rPr>
              <a:t>                 O(|V|+|E|) , </a:t>
            </a:r>
            <a:endParaRPr lang="en-US" altLang="zh-CN" sz="1800" dirty="0">
              <a:solidFill>
                <a:srgbClr val="000099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dirty="0">
              <a:solidFill>
                <a:srgbClr val="000099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0099"/>
                </a:solidFill>
              </a:rPr>
              <a:t>if the graph is represented with adjcency list</a:t>
            </a:r>
            <a:endParaRPr lang="en-US" altLang="zh-CN" sz="18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39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71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477838" y="863600"/>
            <a:ext cx="7896225" cy="671513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3600" b="1" dirty="0"/>
              <a:t>Topological Ordering by DFS</a:t>
            </a:r>
            <a:endParaRPr lang="en-US" altLang="zh-CN" sz="3600" b="1" dirty="0"/>
          </a:p>
        </p:txBody>
      </p:sp>
      <p:sp>
        <p:nvSpPr>
          <p:cNvPr id="25603" name="Text Box 3"/>
          <p:cNvSpPr txBox="1"/>
          <p:nvPr/>
        </p:nvSpPr>
        <p:spPr>
          <a:xfrm>
            <a:off x="836613" y="2103438"/>
            <a:ext cx="7464425" cy="1754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 </a:t>
            </a:r>
            <a:r>
              <a:rPr lang="en-US" altLang="zh-CN" sz="2400" dirty="0"/>
              <a:t>A topological ordering of the vertices of G may be obtained by performing a generalized </a:t>
            </a:r>
            <a:r>
              <a:rPr lang="en-US" altLang="zh-CN" sz="2400" b="1" dirty="0">
                <a:solidFill>
                  <a:schemeClr val="tx2"/>
                </a:solidFill>
              </a:rPr>
              <a:t>depth-first search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   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477838" y="863600"/>
            <a:ext cx="7896225" cy="671513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3600" b="1" dirty="0"/>
              <a:t>Depth-First Traversal Trace</a:t>
            </a:r>
            <a:endParaRPr lang="en-US" altLang="zh-CN" sz="3600" b="1" dirty="0"/>
          </a:p>
        </p:txBody>
      </p:sp>
      <p:sp>
        <p:nvSpPr>
          <p:cNvPr id="26627" name="Rectangle 3"/>
          <p:cNvSpPr/>
          <p:nvPr/>
        </p:nvSpPr>
        <p:spPr>
          <a:xfrm>
            <a:off x="2486025" y="1377950"/>
            <a:ext cx="111125" cy="2444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26628" name="Group 4"/>
          <p:cNvGrpSpPr/>
          <p:nvPr/>
        </p:nvGrpSpPr>
        <p:grpSpPr>
          <a:xfrm>
            <a:off x="5402263" y="1701800"/>
            <a:ext cx="2697162" cy="1276350"/>
            <a:chOff x="3403" y="1072"/>
            <a:chExt cx="1699" cy="804"/>
          </a:xfrm>
        </p:grpSpPr>
        <p:grpSp>
          <p:nvGrpSpPr>
            <p:cNvPr id="26682" name="Group 5"/>
            <p:cNvGrpSpPr/>
            <p:nvPr/>
          </p:nvGrpSpPr>
          <p:grpSpPr>
            <a:xfrm>
              <a:off x="4163" y="1622"/>
              <a:ext cx="238" cy="223"/>
              <a:chOff x="4285" y="1509"/>
              <a:chExt cx="221" cy="214"/>
            </a:xfrm>
          </p:grpSpPr>
          <p:sp>
            <p:nvSpPr>
              <p:cNvPr id="26705" name="Oval 6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FF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706" name="Text Box 7"/>
              <p:cNvSpPr txBox="1"/>
              <p:nvPr/>
            </p:nvSpPr>
            <p:spPr>
              <a:xfrm>
                <a:off x="4355" y="1538"/>
                <a:ext cx="67" cy="1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83" name="Group 8"/>
            <p:cNvGrpSpPr/>
            <p:nvPr/>
          </p:nvGrpSpPr>
          <p:grpSpPr>
            <a:xfrm>
              <a:off x="3424" y="1638"/>
              <a:ext cx="238" cy="222"/>
              <a:chOff x="4285" y="1509"/>
              <a:chExt cx="221" cy="214"/>
            </a:xfrm>
          </p:grpSpPr>
          <p:sp>
            <p:nvSpPr>
              <p:cNvPr id="26703" name="Oval 9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FF"/>
              </a:solidFill>
              <a:ln w="28575" cap="flat" cmpd="sng">
                <a:solidFill>
                  <a:srgbClr val="00CC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704" name="Text Box 10"/>
              <p:cNvSpPr txBox="1"/>
              <p:nvPr/>
            </p:nvSpPr>
            <p:spPr>
              <a:xfrm>
                <a:off x="4357" y="1538"/>
                <a:ext cx="66" cy="1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84" name="Group 11"/>
            <p:cNvGrpSpPr/>
            <p:nvPr/>
          </p:nvGrpSpPr>
          <p:grpSpPr>
            <a:xfrm>
              <a:off x="4864" y="1654"/>
              <a:ext cx="238" cy="222"/>
              <a:chOff x="4285" y="1509"/>
              <a:chExt cx="221" cy="214"/>
            </a:xfrm>
          </p:grpSpPr>
          <p:sp>
            <p:nvSpPr>
              <p:cNvPr id="26701" name="Oval 12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FF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702" name="Text Box 13"/>
              <p:cNvSpPr txBox="1"/>
              <p:nvPr/>
            </p:nvSpPr>
            <p:spPr>
              <a:xfrm>
                <a:off x="4356" y="1538"/>
                <a:ext cx="67" cy="1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85" name="Group 14"/>
            <p:cNvGrpSpPr/>
            <p:nvPr/>
          </p:nvGrpSpPr>
          <p:grpSpPr>
            <a:xfrm>
              <a:off x="4832" y="1077"/>
              <a:ext cx="237" cy="222"/>
              <a:chOff x="4285" y="1509"/>
              <a:chExt cx="221" cy="214"/>
            </a:xfrm>
          </p:grpSpPr>
          <p:sp>
            <p:nvSpPr>
              <p:cNvPr id="26699" name="Oval 15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FF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700" name="Text Box 16"/>
              <p:cNvSpPr txBox="1"/>
              <p:nvPr/>
            </p:nvSpPr>
            <p:spPr>
              <a:xfrm>
                <a:off x="4356" y="1538"/>
                <a:ext cx="67" cy="1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86" name="Group 17"/>
            <p:cNvGrpSpPr/>
            <p:nvPr/>
          </p:nvGrpSpPr>
          <p:grpSpPr>
            <a:xfrm>
              <a:off x="4130" y="1081"/>
              <a:ext cx="238" cy="223"/>
              <a:chOff x="4285" y="1509"/>
              <a:chExt cx="221" cy="214"/>
            </a:xfrm>
          </p:grpSpPr>
          <p:sp>
            <p:nvSpPr>
              <p:cNvPr id="26697" name="Oval 18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FF0000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698" name="Text Box 19"/>
              <p:cNvSpPr txBox="1"/>
              <p:nvPr/>
            </p:nvSpPr>
            <p:spPr>
              <a:xfrm>
                <a:off x="4356" y="1538"/>
                <a:ext cx="67" cy="166"/>
              </a:xfrm>
              <a:prstGeom prst="rect">
                <a:avLst/>
              </a:prstGeom>
              <a:solidFill>
                <a:srgbClr val="FF7C80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87" name="Group 20"/>
            <p:cNvGrpSpPr/>
            <p:nvPr/>
          </p:nvGrpSpPr>
          <p:grpSpPr>
            <a:xfrm>
              <a:off x="3403" y="1072"/>
              <a:ext cx="238" cy="222"/>
              <a:chOff x="4285" y="1509"/>
              <a:chExt cx="221" cy="214"/>
            </a:xfrm>
          </p:grpSpPr>
          <p:sp>
            <p:nvSpPr>
              <p:cNvPr id="26695" name="Oval 21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FF0000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696" name="Text Box 22"/>
              <p:cNvSpPr txBox="1"/>
              <p:nvPr/>
            </p:nvSpPr>
            <p:spPr>
              <a:xfrm>
                <a:off x="4356" y="1538"/>
                <a:ext cx="67" cy="166"/>
              </a:xfrm>
              <a:prstGeom prst="rect">
                <a:avLst/>
              </a:prstGeom>
              <a:solidFill>
                <a:schemeClr val="tx2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688" name="Line 23"/>
            <p:cNvSpPr/>
            <p:nvPr/>
          </p:nvSpPr>
          <p:spPr>
            <a:xfrm>
              <a:off x="3542" y="1292"/>
              <a:ext cx="0" cy="33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6689" name="Line 24"/>
            <p:cNvSpPr/>
            <p:nvPr/>
          </p:nvSpPr>
          <p:spPr>
            <a:xfrm>
              <a:off x="3630" y="1182"/>
              <a:ext cx="491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6690" name="Line 25"/>
            <p:cNvSpPr/>
            <p:nvPr/>
          </p:nvSpPr>
          <p:spPr>
            <a:xfrm flipH="1" flipV="1">
              <a:off x="3605" y="1231"/>
              <a:ext cx="592" cy="4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6691" name="Line 26"/>
            <p:cNvSpPr/>
            <p:nvPr/>
          </p:nvSpPr>
          <p:spPr>
            <a:xfrm flipV="1">
              <a:off x="4273" y="1304"/>
              <a:ext cx="0" cy="31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6692" name="Line 27"/>
            <p:cNvSpPr/>
            <p:nvPr/>
          </p:nvSpPr>
          <p:spPr>
            <a:xfrm>
              <a:off x="4398" y="1740"/>
              <a:ext cx="4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triangle" w="med" len="med"/>
              <a:tailEnd type="none" w="med" len="lg"/>
            </a:ln>
          </p:spPr>
        </p:sp>
        <p:sp>
          <p:nvSpPr>
            <p:cNvPr id="26693" name="Line 28"/>
            <p:cNvSpPr/>
            <p:nvPr/>
          </p:nvSpPr>
          <p:spPr>
            <a:xfrm>
              <a:off x="4990" y="1292"/>
              <a:ext cx="0" cy="3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6694" name="Line 29"/>
            <p:cNvSpPr/>
            <p:nvPr/>
          </p:nvSpPr>
          <p:spPr>
            <a:xfrm flipH="1">
              <a:off x="4373" y="1182"/>
              <a:ext cx="44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</p:grpSp>
      <p:sp>
        <p:nvSpPr>
          <p:cNvPr id="21533" name="Text Box 30"/>
          <p:cNvSpPr txBox="1"/>
          <p:nvPr/>
        </p:nvSpPr>
        <p:spPr>
          <a:xfrm>
            <a:off x="477838" y="1622425"/>
            <a:ext cx="4672012" cy="5164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40000"/>
              </a:spcBef>
              <a:buNone/>
            </a:pPr>
            <a:r>
              <a:rPr lang="en-US" altLang="zh-CN" sz="2000" dirty="0"/>
              <a:t>  Starting form 0, do DFS. We probe</a:t>
            </a:r>
            <a:r>
              <a:rPr lang="zh-CN" altLang="en-US" sz="2000" dirty="0"/>
              <a:t>（试探）</a:t>
            </a:r>
            <a:r>
              <a:rPr lang="en-US" altLang="zh-CN" sz="2000" dirty="0"/>
              <a:t>from 0 to 1. </a:t>
            </a:r>
            <a:r>
              <a:rPr lang="en-US" altLang="zh-CN" sz="2000" dirty="0">
                <a:solidFill>
                  <a:schemeClr val="tx2"/>
                </a:solidFill>
                <a:sym typeface="宋体" panose="02010600030101010101" pitchFamily="2" charset="-122"/>
              </a:rPr>
              <a:t>Mark the vertices on the path as visited, and output the vertex </a:t>
            </a:r>
            <a:r>
              <a:rPr lang="en-US" altLang="zh-CN" sz="2000" dirty="0">
                <a:solidFill>
                  <a:schemeClr val="tx2"/>
                </a:solidFill>
              </a:rPr>
              <a:t>which has no unmarked successors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4000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        Output 1 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40000"/>
              </a:spcBef>
              <a:buNone/>
            </a:pPr>
            <a:r>
              <a:rPr lang="en-US" altLang="zh-CN" sz="2000" dirty="0"/>
              <a:t>  Next the recursion backs to 0, and probes to 3, which has no successors. </a:t>
            </a:r>
            <a:r>
              <a:rPr lang="en-US" altLang="zh-CN" sz="2000" dirty="0">
                <a:solidFill>
                  <a:schemeClr val="tx2"/>
                </a:solidFill>
                <a:sym typeface="宋体" panose="02010600030101010101" pitchFamily="2" charset="-122"/>
              </a:rPr>
              <a:t>Mark 3 as visited, and</a:t>
            </a:r>
            <a:endParaRPr lang="en-US" altLang="zh-CN" sz="2000" dirty="0"/>
          </a:p>
          <a:p>
            <a:pPr marL="0" lvl="0" indent="0" eaLnBrk="1" hangingPunct="1">
              <a:spcBef>
                <a:spcPct val="4000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        Output 3 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40000"/>
              </a:spcBef>
              <a:buNone/>
            </a:pPr>
            <a:r>
              <a:rPr lang="en-US" altLang="zh-CN" sz="2000" dirty="0"/>
              <a:t>  Next the recursion backs to 0 again, which now has no unmarked successors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marL="0" lvl="0" indent="0" eaLnBrk="1" hangingPunct="1">
              <a:spcBef>
                <a:spcPct val="4000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       </a:t>
            </a:r>
            <a:r>
              <a:rPr lang="en-US" altLang="zh-CN" sz="2000" dirty="0">
                <a:solidFill>
                  <a:srgbClr val="FF0000"/>
                </a:solidFill>
              </a:rPr>
              <a:t>Output 0 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grpSp>
        <p:nvGrpSpPr>
          <p:cNvPr id="21534" name="Group 31"/>
          <p:cNvGrpSpPr/>
          <p:nvPr/>
        </p:nvGrpSpPr>
        <p:grpSpPr>
          <a:xfrm>
            <a:off x="5472113" y="3203575"/>
            <a:ext cx="2719387" cy="1438275"/>
            <a:chOff x="3447" y="2018"/>
            <a:chExt cx="1713" cy="906"/>
          </a:xfrm>
        </p:grpSpPr>
        <p:grpSp>
          <p:nvGrpSpPr>
            <p:cNvPr id="26657" name="Group 32"/>
            <p:cNvGrpSpPr/>
            <p:nvPr/>
          </p:nvGrpSpPr>
          <p:grpSpPr>
            <a:xfrm>
              <a:off x="4214" y="2638"/>
              <a:ext cx="239" cy="251"/>
              <a:chOff x="4285" y="1509"/>
              <a:chExt cx="221" cy="214"/>
            </a:xfrm>
          </p:grpSpPr>
          <p:sp>
            <p:nvSpPr>
              <p:cNvPr id="26680" name="Oval 33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FF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681" name="Text Box 34"/>
              <p:cNvSpPr txBox="1"/>
              <p:nvPr/>
            </p:nvSpPr>
            <p:spPr>
              <a:xfrm>
                <a:off x="4356" y="1538"/>
                <a:ext cx="66" cy="148"/>
              </a:xfrm>
              <a:prstGeom prst="rect">
                <a:avLst/>
              </a:prstGeom>
              <a:solidFill>
                <a:srgbClr val="00CCFF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58" name="Group 35"/>
            <p:cNvGrpSpPr/>
            <p:nvPr/>
          </p:nvGrpSpPr>
          <p:grpSpPr>
            <a:xfrm>
              <a:off x="3468" y="2656"/>
              <a:ext cx="240" cy="250"/>
              <a:chOff x="4285" y="1509"/>
              <a:chExt cx="221" cy="214"/>
            </a:xfrm>
          </p:grpSpPr>
          <p:sp>
            <p:nvSpPr>
              <p:cNvPr id="26678" name="Oval 36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FF0000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679" name="Text Box 37"/>
              <p:cNvSpPr txBox="1"/>
              <p:nvPr/>
            </p:nvSpPr>
            <p:spPr>
              <a:xfrm>
                <a:off x="4355" y="1538"/>
                <a:ext cx="66" cy="14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59" name="Group 38"/>
            <p:cNvGrpSpPr/>
            <p:nvPr/>
          </p:nvGrpSpPr>
          <p:grpSpPr>
            <a:xfrm>
              <a:off x="4920" y="2673"/>
              <a:ext cx="240" cy="251"/>
              <a:chOff x="4285" y="1509"/>
              <a:chExt cx="221" cy="214"/>
            </a:xfrm>
          </p:grpSpPr>
          <p:sp>
            <p:nvSpPr>
              <p:cNvPr id="26676" name="Oval 39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FF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677" name="Text Box 40"/>
              <p:cNvSpPr txBox="1"/>
              <p:nvPr/>
            </p:nvSpPr>
            <p:spPr>
              <a:xfrm>
                <a:off x="4355" y="1538"/>
                <a:ext cx="66" cy="1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60" name="Group 41"/>
            <p:cNvGrpSpPr/>
            <p:nvPr/>
          </p:nvGrpSpPr>
          <p:grpSpPr>
            <a:xfrm>
              <a:off x="4887" y="2023"/>
              <a:ext cx="240" cy="251"/>
              <a:chOff x="4285" y="1509"/>
              <a:chExt cx="221" cy="214"/>
            </a:xfrm>
          </p:grpSpPr>
          <p:sp>
            <p:nvSpPr>
              <p:cNvPr id="26674" name="Oval 42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FF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675" name="Text Box 43"/>
              <p:cNvSpPr txBox="1"/>
              <p:nvPr/>
            </p:nvSpPr>
            <p:spPr>
              <a:xfrm>
                <a:off x="4357" y="1538"/>
                <a:ext cx="66" cy="1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61" name="Group 44"/>
            <p:cNvGrpSpPr/>
            <p:nvPr/>
          </p:nvGrpSpPr>
          <p:grpSpPr>
            <a:xfrm>
              <a:off x="4180" y="2028"/>
              <a:ext cx="239" cy="251"/>
              <a:chOff x="4285" y="1509"/>
              <a:chExt cx="221" cy="214"/>
            </a:xfrm>
          </p:grpSpPr>
          <p:sp>
            <p:nvSpPr>
              <p:cNvPr id="26672" name="Oval 45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66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673" name="Text Box 46"/>
              <p:cNvSpPr txBox="1"/>
              <p:nvPr/>
            </p:nvSpPr>
            <p:spPr>
              <a:xfrm>
                <a:off x="4357" y="1538"/>
                <a:ext cx="67" cy="148"/>
              </a:xfrm>
              <a:prstGeom prst="rect">
                <a:avLst/>
              </a:prstGeom>
              <a:solidFill>
                <a:srgbClr val="00CC66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62" name="Group 47"/>
            <p:cNvGrpSpPr/>
            <p:nvPr/>
          </p:nvGrpSpPr>
          <p:grpSpPr>
            <a:xfrm>
              <a:off x="3447" y="2018"/>
              <a:ext cx="240" cy="251"/>
              <a:chOff x="4285" y="1509"/>
              <a:chExt cx="221" cy="214"/>
            </a:xfrm>
          </p:grpSpPr>
          <p:sp>
            <p:nvSpPr>
              <p:cNvPr id="26670" name="Oval 48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chemeClr val="tx2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671" name="Text Box 49"/>
              <p:cNvSpPr txBox="1"/>
              <p:nvPr/>
            </p:nvSpPr>
            <p:spPr>
              <a:xfrm>
                <a:off x="4357" y="1538"/>
                <a:ext cx="67" cy="148"/>
              </a:xfrm>
              <a:prstGeom prst="rect">
                <a:avLst/>
              </a:prstGeom>
              <a:solidFill>
                <a:schemeClr val="tx2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663" name="Line 50"/>
            <p:cNvSpPr/>
            <p:nvPr/>
          </p:nvSpPr>
          <p:spPr>
            <a:xfrm>
              <a:off x="3587" y="2265"/>
              <a:ext cx="0" cy="383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6664" name="Line 51"/>
            <p:cNvSpPr/>
            <p:nvPr/>
          </p:nvSpPr>
          <p:spPr>
            <a:xfrm>
              <a:off x="3676" y="2142"/>
              <a:ext cx="495" cy="0"/>
            </a:xfrm>
            <a:prstGeom prst="line">
              <a:avLst/>
            </a:prstGeom>
            <a:ln w="9525" cap="flat" cmpd="sng">
              <a:solidFill>
                <a:srgbClr val="00CC66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6665" name="Line 52"/>
            <p:cNvSpPr/>
            <p:nvPr/>
          </p:nvSpPr>
          <p:spPr>
            <a:xfrm flipH="1" flipV="1">
              <a:off x="3651" y="2198"/>
              <a:ext cx="597" cy="5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6666" name="Line 53"/>
            <p:cNvSpPr/>
            <p:nvPr/>
          </p:nvSpPr>
          <p:spPr>
            <a:xfrm flipV="1">
              <a:off x="4324" y="2279"/>
              <a:ext cx="0" cy="3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6667" name="Line 54"/>
            <p:cNvSpPr/>
            <p:nvPr/>
          </p:nvSpPr>
          <p:spPr>
            <a:xfrm>
              <a:off x="4451" y="2771"/>
              <a:ext cx="4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triangle" w="med" len="med"/>
              <a:tailEnd type="none" w="med" len="lg"/>
            </a:ln>
          </p:spPr>
        </p:sp>
        <p:sp>
          <p:nvSpPr>
            <p:cNvPr id="26668" name="Line 55"/>
            <p:cNvSpPr/>
            <p:nvPr/>
          </p:nvSpPr>
          <p:spPr>
            <a:xfrm>
              <a:off x="5047" y="2265"/>
              <a:ext cx="0" cy="4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6669" name="Line 56"/>
            <p:cNvSpPr/>
            <p:nvPr/>
          </p:nvSpPr>
          <p:spPr>
            <a:xfrm flipH="1">
              <a:off x="4425" y="2142"/>
              <a:ext cx="4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</p:grpSp>
      <p:grpSp>
        <p:nvGrpSpPr>
          <p:cNvPr id="21560" name="Group 57"/>
          <p:cNvGrpSpPr/>
          <p:nvPr/>
        </p:nvGrpSpPr>
        <p:grpSpPr>
          <a:xfrm>
            <a:off x="5500688" y="4873625"/>
            <a:ext cx="2759075" cy="1336675"/>
            <a:chOff x="3465" y="3070"/>
            <a:chExt cx="1738" cy="842"/>
          </a:xfrm>
        </p:grpSpPr>
        <p:grpSp>
          <p:nvGrpSpPr>
            <p:cNvPr id="26632" name="Group 58"/>
            <p:cNvGrpSpPr/>
            <p:nvPr/>
          </p:nvGrpSpPr>
          <p:grpSpPr>
            <a:xfrm>
              <a:off x="4243" y="3646"/>
              <a:ext cx="243" cy="233"/>
              <a:chOff x="4285" y="1509"/>
              <a:chExt cx="221" cy="214"/>
            </a:xfrm>
          </p:grpSpPr>
          <p:sp>
            <p:nvSpPr>
              <p:cNvPr id="26655" name="Oval 59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FF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656" name="Text Box 60"/>
              <p:cNvSpPr txBox="1"/>
              <p:nvPr/>
            </p:nvSpPr>
            <p:spPr>
              <a:xfrm>
                <a:off x="4357" y="1538"/>
                <a:ext cx="65" cy="1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33" name="Group 61"/>
            <p:cNvGrpSpPr/>
            <p:nvPr/>
          </p:nvGrpSpPr>
          <p:grpSpPr>
            <a:xfrm>
              <a:off x="3487" y="3663"/>
              <a:ext cx="243" cy="233"/>
              <a:chOff x="4285" y="1509"/>
              <a:chExt cx="221" cy="214"/>
            </a:xfrm>
          </p:grpSpPr>
          <p:sp>
            <p:nvSpPr>
              <p:cNvPr id="26653" name="Oval 62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66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654" name="Text Box 63"/>
              <p:cNvSpPr txBox="1"/>
              <p:nvPr/>
            </p:nvSpPr>
            <p:spPr>
              <a:xfrm>
                <a:off x="4357" y="1538"/>
                <a:ext cx="66" cy="160"/>
              </a:xfrm>
              <a:prstGeom prst="rect">
                <a:avLst/>
              </a:prstGeom>
              <a:solidFill>
                <a:srgbClr val="00CC66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34" name="Group 64"/>
            <p:cNvGrpSpPr/>
            <p:nvPr/>
          </p:nvGrpSpPr>
          <p:grpSpPr>
            <a:xfrm>
              <a:off x="4960" y="3679"/>
              <a:ext cx="243" cy="233"/>
              <a:chOff x="4285" y="1509"/>
              <a:chExt cx="221" cy="214"/>
            </a:xfrm>
          </p:grpSpPr>
          <p:sp>
            <p:nvSpPr>
              <p:cNvPr id="26651" name="Oval 65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FF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652" name="Text Box 66"/>
              <p:cNvSpPr txBox="1"/>
              <p:nvPr/>
            </p:nvSpPr>
            <p:spPr>
              <a:xfrm>
                <a:off x="4357" y="1538"/>
                <a:ext cx="66" cy="1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35" name="Group 67"/>
            <p:cNvGrpSpPr/>
            <p:nvPr/>
          </p:nvGrpSpPr>
          <p:grpSpPr>
            <a:xfrm>
              <a:off x="4926" y="3075"/>
              <a:ext cx="244" cy="233"/>
              <a:chOff x="4285" y="1509"/>
              <a:chExt cx="221" cy="214"/>
            </a:xfrm>
          </p:grpSpPr>
          <p:sp>
            <p:nvSpPr>
              <p:cNvPr id="26649" name="Oval 68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FF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650" name="Text Box 69"/>
              <p:cNvSpPr txBox="1"/>
              <p:nvPr/>
            </p:nvSpPr>
            <p:spPr>
              <a:xfrm>
                <a:off x="4357" y="1538"/>
                <a:ext cx="65" cy="1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36" name="Group 70"/>
            <p:cNvGrpSpPr/>
            <p:nvPr/>
          </p:nvGrpSpPr>
          <p:grpSpPr>
            <a:xfrm>
              <a:off x="4208" y="3080"/>
              <a:ext cx="244" cy="233"/>
              <a:chOff x="4285" y="1509"/>
              <a:chExt cx="221" cy="214"/>
            </a:xfrm>
          </p:grpSpPr>
          <p:sp>
            <p:nvSpPr>
              <p:cNvPr id="26647" name="Oval 71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66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648" name="Text Box 72"/>
              <p:cNvSpPr txBox="1"/>
              <p:nvPr/>
            </p:nvSpPr>
            <p:spPr>
              <a:xfrm>
                <a:off x="4357" y="1538"/>
                <a:ext cx="65" cy="160"/>
              </a:xfrm>
              <a:prstGeom prst="rect">
                <a:avLst/>
              </a:prstGeom>
              <a:solidFill>
                <a:srgbClr val="00CC66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37" name="Group 73"/>
            <p:cNvGrpSpPr/>
            <p:nvPr/>
          </p:nvGrpSpPr>
          <p:grpSpPr>
            <a:xfrm>
              <a:off x="3465" y="3070"/>
              <a:ext cx="243" cy="233"/>
              <a:chOff x="4285" y="1509"/>
              <a:chExt cx="221" cy="214"/>
            </a:xfrm>
          </p:grpSpPr>
          <p:sp>
            <p:nvSpPr>
              <p:cNvPr id="26645" name="Oval 74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FF0000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6646" name="Text Box 75"/>
              <p:cNvSpPr txBox="1"/>
              <p:nvPr/>
            </p:nvSpPr>
            <p:spPr>
              <a:xfrm>
                <a:off x="4357" y="1538"/>
                <a:ext cx="65" cy="159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638" name="Line 76"/>
            <p:cNvSpPr/>
            <p:nvPr/>
          </p:nvSpPr>
          <p:spPr>
            <a:xfrm>
              <a:off x="3607" y="3300"/>
              <a:ext cx="0" cy="356"/>
            </a:xfrm>
            <a:prstGeom prst="line">
              <a:avLst/>
            </a:prstGeom>
            <a:ln w="9525" cap="flat" cmpd="sng">
              <a:solidFill>
                <a:srgbClr val="00CC66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6639" name="Line 77"/>
            <p:cNvSpPr/>
            <p:nvPr/>
          </p:nvSpPr>
          <p:spPr>
            <a:xfrm>
              <a:off x="3697" y="3185"/>
              <a:ext cx="503" cy="0"/>
            </a:xfrm>
            <a:prstGeom prst="line">
              <a:avLst/>
            </a:prstGeom>
            <a:ln w="9525" cap="flat" cmpd="sng">
              <a:solidFill>
                <a:srgbClr val="00CC66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6640" name="Line 78"/>
            <p:cNvSpPr/>
            <p:nvPr/>
          </p:nvSpPr>
          <p:spPr>
            <a:xfrm flipH="1" flipV="1">
              <a:off x="3672" y="3237"/>
              <a:ext cx="605" cy="46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6641" name="Line 79"/>
            <p:cNvSpPr/>
            <p:nvPr/>
          </p:nvSpPr>
          <p:spPr>
            <a:xfrm flipV="1">
              <a:off x="4355" y="3313"/>
              <a:ext cx="0" cy="33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6642" name="Line 80"/>
            <p:cNvSpPr/>
            <p:nvPr/>
          </p:nvSpPr>
          <p:spPr>
            <a:xfrm>
              <a:off x="4483" y="3769"/>
              <a:ext cx="4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triangle" w="med" len="med"/>
              <a:tailEnd type="none" w="med" len="lg"/>
            </a:ln>
          </p:spPr>
        </p:sp>
        <p:sp>
          <p:nvSpPr>
            <p:cNvPr id="26643" name="Line 81"/>
            <p:cNvSpPr/>
            <p:nvPr/>
          </p:nvSpPr>
          <p:spPr>
            <a:xfrm>
              <a:off x="5089" y="3300"/>
              <a:ext cx="0" cy="3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6644" name="Line 82"/>
            <p:cNvSpPr/>
            <p:nvPr/>
          </p:nvSpPr>
          <p:spPr>
            <a:xfrm flipH="1">
              <a:off x="4458" y="3185"/>
              <a:ext cx="45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>
                                            <p:txEl>
                                              <p:charRg st="173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>
                                            <p:txEl>
                                              <p:charRg st="271" end="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>
                                            <p:txEl>
                                              <p:charRg st="295" end="3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>
                                            <p:txEl>
                                              <p:charRg st="372" end="3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xfrm>
            <a:off x="477838" y="863600"/>
            <a:ext cx="7896225" cy="671513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3600" b="1" dirty="0"/>
              <a:t>Depth-First Traversal Trace</a:t>
            </a:r>
            <a:endParaRPr lang="en-US" altLang="zh-CN" sz="3600" b="1" dirty="0"/>
          </a:p>
        </p:txBody>
      </p:sp>
      <p:sp>
        <p:nvSpPr>
          <p:cNvPr id="27651" name="Rectangle 3"/>
          <p:cNvSpPr/>
          <p:nvPr/>
        </p:nvSpPr>
        <p:spPr>
          <a:xfrm>
            <a:off x="2486025" y="1377950"/>
            <a:ext cx="111125" cy="2444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2531" name="Text Box 4"/>
          <p:cNvSpPr txBox="1"/>
          <p:nvPr/>
        </p:nvSpPr>
        <p:spPr>
          <a:xfrm>
            <a:off x="125413" y="1619250"/>
            <a:ext cx="5726112" cy="4708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/>
              <a:t> Now we pick the first unmarked vertex, 2, and continue the process. We probe from 2 to 5  to 4, which has no unmarked successors. </a:t>
            </a:r>
            <a:r>
              <a:rPr lang="en-US" altLang="zh-CN" sz="2000" dirty="0">
                <a:solidFill>
                  <a:schemeClr val="tx2"/>
                </a:solidFill>
              </a:rPr>
              <a:t>M</a:t>
            </a:r>
            <a:r>
              <a:rPr lang="en-US" altLang="zh-CN" sz="2000" dirty="0">
                <a:solidFill>
                  <a:schemeClr val="tx2"/>
                </a:solidFill>
                <a:sym typeface="宋体" panose="02010600030101010101" pitchFamily="2" charset="-122"/>
              </a:rPr>
              <a:t>ark 2, 5, 4 as visited, and</a:t>
            </a:r>
            <a:endParaRPr lang="en-US" altLang="zh-CN" sz="2000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            Output 4 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/>
              <a:t> Next the recursion backs out to 5, which has no unmarked successors.</a:t>
            </a:r>
            <a:endParaRPr lang="en-US" altLang="zh-CN" sz="2000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            Output 5 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/>
              <a:t>Next the recursion backs out to 2 again, which now has no unmarked successors.</a:t>
            </a:r>
            <a:endParaRPr lang="en-US" altLang="zh-CN" sz="2000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            Output 2 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en-US" altLang="zh-CN" sz="2000" dirty="0">
              <a:solidFill>
                <a:schemeClr val="tx2"/>
              </a:solidFill>
            </a:endParaRPr>
          </a:p>
        </p:txBody>
      </p:sp>
      <p:grpSp>
        <p:nvGrpSpPr>
          <p:cNvPr id="27653" name="Group 5"/>
          <p:cNvGrpSpPr/>
          <p:nvPr/>
        </p:nvGrpSpPr>
        <p:grpSpPr>
          <a:xfrm>
            <a:off x="5957888" y="1547813"/>
            <a:ext cx="2593975" cy="1206500"/>
            <a:chOff x="3321" y="1027"/>
            <a:chExt cx="1765" cy="868"/>
          </a:xfrm>
        </p:grpSpPr>
        <p:grpSp>
          <p:nvGrpSpPr>
            <p:cNvPr id="27707" name="Group 6"/>
            <p:cNvGrpSpPr/>
            <p:nvPr/>
          </p:nvGrpSpPr>
          <p:grpSpPr>
            <a:xfrm>
              <a:off x="4111" y="1621"/>
              <a:ext cx="247" cy="240"/>
              <a:chOff x="4285" y="1509"/>
              <a:chExt cx="221" cy="214"/>
            </a:xfrm>
          </p:grpSpPr>
          <p:sp>
            <p:nvSpPr>
              <p:cNvPr id="27730" name="Oval 7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FF0000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731" name="Text Box 8"/>
              <p:cNvSpPr txBox="1"/>
              <p:nvPr/>
            </p:nvSpPr>
            <p:spPr>
              <a:xfrm>
                <a:off x="4353" y="1538"/>
                <a:ext cx="70" cy="176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708" name="Group 9"/>
            <p:cNvGrpSpPr/>
            <p:nvPr/>
          </p:nvGrpSpPr>
          <p:grpSpPr>
            <a:xfrm>
              <a:off x="3343" y="1638"/>
              <a:ext cx="247" cy="240"/>
              <a:chOff x="4285" y="1509"/>
              <a:chExt cx="221" cy="214"/>
            </a:xfrm>
          </p:grpSpPr>
          <p:sp>
            <p:nvSpPr>
              <p:cNvPr id="27728" name="Oval 10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66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729" name="Text Box 11"/>
              <p:cNvSpPr txBox="1"/>
              <p:nvPr/>
            </p:nvSpPr>
            <p:spPr>
              <a:xfrm>
                <a:off x="4353" y="1538"/>
                <a:ext cx="70" cy="176"/>
              </a:xfrm>
              <a:prstGeom prst="rect">
                <a:avLst/>
              </a:prstGeom>
              <a:solidFill>
                <a:srgbClr val="00CC66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709" name="Group 12"/>
            <p:cNvGrpSpPr/>
            <p:nvPr/>
          </p:nvGrpSpPr>
          <p:grpSpPr>
            <a:xfrm>
              <a:off x="4839" y="1655"/>
              <a:ext cx="247" cy="240"/>
              <a:chOff x="4285" y="1509"/>
              <a:chExt cx="221" cy="214"/>
            </a:xfrm>
          </p:grpSpPr>
          <p:sp>
            <p:nvSpPr>
              <p:cNvPr id="27726" name="Oval 13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FF0000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727" name="Text Box 14"/>
              <p:cNvSpPr txBox="1"/>
              <p:nvPr/>
            </p:nvSpPr>
            <p:spPr>
              <a:xfrm>
                <a:off x="4353" y="1538"/>
                <a:ext cx="70" cy="176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710" name="Group 15"/>
            <p:cNvGrpSpPr/>
            <p:nvPr/>
          </p:nvGrpSpPr>
          <p:grpSpPr>
            <a:xfrm>
              <a:off x="4805" y="1032"/>
              <a:ext cx="247" cy="240"/>
              <a:chOff x="4285" y="1509"/>
              <a:chExt cx="221" cy="214"/>
            </a:xfrm>
          </p:grpSpPr>
          <p:sp>
            <p:nvSpPr>
              <p:cNvPr id="27724" name="Oval 16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FF0000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725" name="Text Box 17"/>
              <p:cNvSpPr txBox="1"/>
              <p:nvPr/>
            </p:nvSpPr>
            <p:spPr>
              <a:xfrm>
                <a:off x="4356" y="1538"/>
                <a:ext cx="69" cy="176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711" name="Group 18"/>
            <p:cNvGrpSpPr/>
            <p:nvPr/>
          </p:nvGrpSpPr>
          <p:grpSpPr>
            <a:xfrm>
              <a:off x="4076" y="1037"/>
              <a:ext cx="247" cy="240"/>
              <a:chOff x="4285" y="1509"/>
              <a:chExt cx="221" cy="214"/>
            </a:xfrm>
          </p:grpSpPr>
          <p:sp>
            <p:nvSpPr>
              <p:cNvPr id="27722" name="Oval 19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66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723" name="Text Box 20"/>
              <p:cNvSpPr txBox="1"/>
              <p:nvPr/>
            </p:nvSpPr>
            <p:spPr>
              <a:xfrm>
                <a:off x="4356" y="1538"/>
                <a:ext cx="69" cy="176"/>
              </a:xfrm>
              <a:prstGeom prst="rect">
                <a:avLst/>
              </a:prstGeom>
              <a:solidFill>
                <a:srgbClr val="00CC66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712" name="Group 21"/>
            <p:cNvGrpSpPr/>
            <p:nvPr/>
          </p:nvGrpSpPr>
          <p:grpSpPr>
            <a:xfrm>
              <a:off x="3321" y="1027"/>
              <a:ext cx="247" cy="240"/>
              <a:chOff x="4285" y="1509"/>
              <a:chExt cx="221" cy="214"/>
            </a:xfrm>
          </p:grpSpPr>
          <p:sp>
            <p:nvSpPr>
              <p:cNvPr id="27720" name="Oval 22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66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721" name="Text Box 23"/>
              <p:cNvSpPr txBox="1"/>
              <p:nvPr/>
            </p:nvSpPr>
            <p:spPr>
              <a:xfrm>
                <a:off x="4357" y="1538"/>
                <a:ext cx="69" cy="176"/>
              </a:xfrm>
              <a:prstGeom prst="rect">
                <a:avLst/>
              </a:prstGeom>
              <a:solidFill>
                <a:srgbClr val="00CC66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7713" name="Line 24"/>
            <p:cNvSpPr/>
            <p:nvPr/>
          </p:nvSpPr>
          <p:spPr>
            <a:xfrm>
              <a:off x="3465" y="1264"/>
              <a:ext cx="0" cy="367"/>
            </a:xfrm>
            <a:prstGeom prst="line">
              <a:avLst/>
            </a:prstGeom>
            <a:ln w="9525" cap="flat" cmpd="sng">
              <a:solidFill>
                <a:srgbClr val="00CC66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7714" name="Line 25"/>
            <p:cNvSpPr/>
            <p:nvPr/>
          </p:nvSpPr>
          <p:spPr>
            <a:xfrm>
              <a:off x="3557" y="1146"/>
              <a:ext cx="510" cy="0"/>
            </a:xfrm>
            <a:prstGeom prst="line">
              <a:avLst/>
            </a:prstGeom>
            <a:ln w="9525" cap="flat" cmpd="sng">
              <a:solidFill>
                <a:srgbClr val="00CC66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7715" name="Line 26"/>
            <p:cNvSpPr/>
            <p:nvPr/>
          </p:nvSpPr>
          <p:spPr>
            <a:xfrm flipH="1" flipV="1">
              <a:off x="3531" y="1199"/>
              <a:ext cx="615" cy="4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7716" name="Line 27"/>
            <p:cNvSpPr/>
            <p:nvPr/>
          </p:nvSpPr>
          <p:spPr>
            <a:xfrm flipV="1">
              <a:off x="4225" y="1277"/>
              <a:ext cx="0" cy="3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7717" name="Line 28"/>
            <p:cNvSpPr/>
            <p:nvPr/>
          </p:nvSpPr>
          <p:spPr>
            <a:xfrm>
              <a:off x="4355" y="1748"/>
              <a:ext cx="485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miter/>
              <a:headEnd type="triangle" w="med" len="med"/>
              <a:tailEnd type="none" w="med" len="lg"/>
            </a:ln>
          </p:spPr>
        </p:sp>
        <p:sp>
          <p:nvSpPr>
            <p:cNvPr id="27718" name="Line 29"/>
            <p:cNvSpPr/>
            <p:nvPr/>
          </p:nvSpPr>
          <p:spPr>
            <a:xfrm>
              <a:off x="4970" y="1264"/>
              <a:ext cx="0" cy="40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7719" name="Line 30"/>
            <p:cNvSpPr/>
            <p:nvPr/>
          </p:nvSpPr>
          <p:spPr>
            <a:xfrm flipH="1">
              <a:off x="4329" y="1146"/>
              <a:ext cx="45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</p:grpSp>
      <p:grpSp>
        <p:nvGrpSpPr>
          <p:cNvPr id="22558" name="Group 31"/>
          <p:cNvGrpSpPr/>
          <p:nvPr/>
        </p:nvGrpSpPr>
        <p:grpSpPr>
          <a:xfrm>
            <a:off x="5964238" y="2928938"/>
            <a:ext cx="2514600" cy="1198562"/>
            <a:chOff x="3403" y="2184"/>
            <a:chExt cx="1765" cy="868"/>
          </a:xfrm>
        </p:grpSpPr>
        <p:grpSp>
          <p:nvGrpSpPr>
            <p:cNvPr id="27682" name="Group 32"/>
            <p:cNvGrpSpPr/>
            <p:nvPr/>
          </p:nvGrpSpPr>
          <p:grpSpPr>
            <a:xfrm>
              <a:off x="4193" y="2778"/>
              <a:ext cx="247" cy="240"/>
              <a:chOff x="4285" y="1509"/>
              <a:chExt cx="221" cy="214"/>
            </a:xfrm>
          </p:grpSpPr>
          <p:sp>
            <p:nvSpPr>
              <p:cNvPr id="27705" name="Oval 33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66"/>
              </a:solidFill>
              <a:ln w="28575" cap="flat" cmpd="sng">
                <a:solidFill>
                  <a:srgbClr val="00CC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706" name="Text Box 34"/>
              <p:cNvSpPr txBox="1"/>
              <p:nvPr/>
            </p:nvSpPr>
            <p:spPr>
              <a:xfrm>
                <a:off x="4351" y="1538"/>
                <a:ext cx="77" cy="184"/>
              </a:xfrm>
              <a:prstGeom prst="rect">
                <a:avLst/>
              </a:prstGeom>
              <a:solidFill>
                <a:srgbClr val="00CC66"/>
              </a:solidFill>
              <a:ln w="9525" cap="flat" cmpd="sng">
                <a:solidFill>
                  <a:srgbClr val="00CC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683" name="Group 35"/>
            <p:cNvGrpSpPr/>
            <p:nvPr/>
          </p:nvGrpSpPr>
          <p:grpSpPr>
            <a:xfrm>
              <a:off x="3425" y="2795"/>
              <a:ext cx="247" cy="240"/>
              <a:chOff x="4285" y="1509"/>
              <a:chExt cx="221" cy="214"/>
            </a:xfrm>
          </p:grpSpPr>
          <p:sp>
            <p:nvSpPr>
              <p:cNvPr id="27703" name="Oval 36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66"/>
              </a:solidFill>
              <a:ln w="28575" cap="flat" cmpd="sng">
                <a:solidFill>
                  <a:srgbClr val="00CC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704" name="Text Box 37"/>
              <p:cNvSpPr txBox="1"/>
              <p:nvPr/>
            </p:nvSpPr>
            <p:spPr>
              <a:xfrm>
                <a:off x="4351" y="1538"/>
                <a:ext cx="78" cy="183"/>
              </a:xfrm>
              <a:prstGeom prst="rect">
                <a:avLst/>
              </a:prstGeom>
              <a:solidFill>
                <a:srgbClr val="00CC66"/>
              </a:solidFill>
              <a:ln w="9525" cap="flat" cmpd="sng">
                <a:solidFill>
                  <a:srgbClr val="00CC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684" name="Group 38"/>
            <p:cNvGrpSpPr/>
            <p:nvPr/>
          </p:nvGrpSpPr>
          <p:grpSpPr>
            <a:xfrm>
              <a:off x="4921" y="2812"/>
              <a:ext cx="247" cy="240"/>
              <a:chOff x="4285" y="1509"/>
              <a:chExt cx="221" cy="214"/>
            </a:xfrm>
          </p:grpSpPr>
          <p:sp>
            <p:nvSpPr>
              <p:cNvPr id="27701" name="Oval 39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FF0000"/>
              </a:solidFill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702" name="Text Box 40"/>
              <p:cNvSpPr txBox="1"/>
              <p:nvPr/>
            </p:nvSpPr>
            <p:spPr>
              <a:xfrm>
                <a:off x="4351" y="1538"/>
                <a:ext cx="77" cy="18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685" name="Group 41"/>
            <p:cNvGrpSpPr/>
            <p:nvPr/>
          </p:nvGrpSpPr>
          <p:grpSpPr>
            <a:xfrm>
              <a:off x="4887" y="2189"/>
              <a:ext cx="247" cy="240"/>
              <a:chOff x="4285" y="1509"/>
              <a:chExt cx="221" cy="214"/>
            </a:xfrm>
          </p:grpSpPr>
          <p:sp>
            <p:nvSpPr>
              <p:cNvPr id="27699" name="Oval 42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FF0000"/>
              </a:solidFill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700" name="Text Box 43"/>
              <p:cNvSpPr txBox="1"/>
              <p:nvPr/>
            </p:nvSpPr>
            <p:spPr>
              <a:xfrm>
                <a:off x="4352" y="1538"/>
                <a:ext cx="78" cy="18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686" name="Group 44"/>
            <p:cNvGrpSpPr/>
            <p:nvPr/>
          </p:nvGrpSpPr>
          <p:grpSpPr>
            <a:xfrm>
              <a:off x="4158" y="2194"/>
              <a:ext cx="247" cy="240"/>
              <a:chOff x="4285" y="1509"/>
              <a:chExt cx="221" cy="214"/>
            </a:xfrm>
          </p:grpSpPr>
          <p:sp>
            <p:nvSpPr>
              <p:cNvPr id="27697" name="Oval 45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66"/>
              </a:solidFill>
              <a:ln w="28575" cap="flat" cmpd="sng">
                <a:solidFill>
                  <a:srgbClr val="00CC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698" name="Text Box 46"/>
              <p:cNvSpPr txBox="1"/>
              <p:nvPr/>
            </p:nvSpPr>
            <p:spPr>
              <a:xfrm>
                <a:off x="4351" y="1538"/>
                <a:ext cx="78" cy="184"/>
              </a:xfrm>
              <a:prstGeom prst="rect">
                <a:avLst/>
              </a:prstGeom>
              <a:solidFill>
                <a:srgbClr val="00CC66"/>
              </a:solidFill>
              <a:ln w="9525" cap="flat" cmpd="sng">
                <a:solidFill>
                  <a:srgbClr val="00CC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687" name="Group 47"/>
            <p:cNvGrpSpPr/>
            <p:nvPr/>
          </p:nvGrpSpPr>
          <p:grpSpPr>
            <a:xfrm>
              <a:off x="3403" y="2184"/>
              <a:ext cx="247" cy="240"/>
              <a:chOff x="4285" y="1509"/>
              <a:chExt cx="221" cy="214"/>
            </a:xfrm>
          </p:grpSpPr>
          <p:sp>
            <p:nvSpPr>
              <p:cNvPr id="27695" name="Oval 48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66"/>
              </a:solidFill>
              <a:ln w="28575" cap="flat" cmpd="sng">
                <a:solidFill>
                  <a:srgbClr val="00CC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696" name="Text Box 49"/>
              <p:cNvSpPr txBox="1"/>
              <p:nvPr/>
            </p:nvSpPr>
            <p:spPr>
              <a:xfrm>
                <a:off x="4352" y="1538"/>
                <a:ext cx="77" cy="183"/>
              </a:xfrm>
              <a:prstGeom prst="rect">
                <a:avLst/>
              </a:prstGeom>
              <a:solidFill>
                <a:srgbClr val="00CC66"/>
              </a:solidFill>
              <a:ln w="9525" cap="flat" cmpd="sng">
                <a:solidFill>
                  <a:srgbClr val="00CC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7688" name="Line 50"/>
            <p:cNvSpPr/>
            <p:nvPr/>
          </p:nvSpPr>
          <p:spPr>
            <a:xfrm>
              <a:off x="3547" y="2421"/>
              <a:ext cx="0" cy="367"/>
            </a:xfrm>
            <a:prstGeom prst="line">
              <a:avLst/>
            </a:prstGeom>
            <a:ln w="9525" cap="flat" cmpd="sng">
              <a:solidFill>
                <a:srgbClr val="00CC66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7689" name="Line 51"/>
            <p:cNvSpPr/>
            <p:nvPr/>
          </p:nvSpPr>
          <p:spPr>
            <a:xfrm>
              <a:off x="3639" y="2303"/>
              <a:ext cx="510" cy="0"/>
            </a:xfrm>
            <a:prstGeom prst="line">
              <a:avLst/>
            </a:prstGeom>
            <a:ln w="9525" cap="flat" cmpd="sng">
              <a:solidFill>
                <a:srgbClr val="00CC66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7690" name="Line 52"/>
            <p:cNvSpPr/>
            <p:nvPr/>
          </p:nvSpPr>
          <p:spPr>
            <a:xfrm flipH="1" flipV="1">
              <a:off x="3613" y="2356"/>
              <a:ext cx="615" cy="4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7691" name="Line 53"/>
            <p:cNvSpPr/>
            <p:nvPr/>
          </p:nvSpPr>
          <p:spPr>
            <a:xfrm flipV="1">
              <a:off x="4307" y="2434"/>
              <a:ext cx="0" cy="3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7692" name="Line 54"/>
            <p:cNvSpPr/>
            <p:nvPr/>
          </p:nvSpPr>
          <p:spPr>
            <a:xfrm>
              <a:off x="4437" y="2905"/>
              <a:ext cx="485" cy="0"/>
            </a:xfrm>
            <a:prstGeom prst="line">
              <a:avLst/>
            </a:prstGeom>
            <a:ln w="9525" cap="flat" cmpd="sng">
              <a:solidFill>
                <a:srgbClr val="00CC66"/>
              </a:solidFill>
              <a:prstDash val="solid"/>
              <a:miter/>
              <a:headEnd type="triangle" w="med" len="med"/>
              <a:tailEnd type="none" w="med" len="lg"/>
            </a:ln>
          </p:spPr>
        </p:sp>
        <p:sp>
          <p:nvSpPr>
            <p:cNvPr id="27693" name="Line 55"/>
            <p:cNvSpPr/>
            <p:nvPr/>
          </p:nvSpPr>
          <p:spPr>
            <a:xfrm>
              <a:off x="5052" y="2421"/>
              <a:ext cx="0" cy="40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7694" name="Line 56"/>
            <p:cNvSpPr/>
            <p:nvPr/>
          </p:nvSpPr>
          <p:spPr>
            <a:xfrm flipH="1">
              <a:off x="4411" y="2303"/>
              <a:ext cx="45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</p:grpSp>
      <p:grpSp>
        <p:nvGrpSpPr>
          <p:cNvPr id="22584" name="Group 57"/>
          <p:cNvGrpSpPr/>
          <p:nvPr/>
        </p:nvGrpSpPr>
        <p:grpSpPr>
          <a:xfrm>
            <a:off x="6045200" y="4217988"/>
            <a:ext cx="2593975" cy="1271587"/>
            <a:chOff x="3376" y="3075"/>
            <a:chExt cx="1765" cy="868"/>
          </a:xfrm>
        </p:grpSpPr>
        <p:grpSp>
          <p:nvGrpSpPr>
            <p:cNvPr id="27657" name="Group 58"/>
            <p:cNvGrpSpPr/>
            <p:nvPr/>
          </p:nvGrpSpPr>
          <p:grpSpPr>
            <a:xfrm>
              <a:off x="4166" y="3669"/>
              <a:ext cx="247" cy="240"/>
              <a:chOff x="4285" y="1509"/>
              <a:chExt cx="221" cy="214"/>
            </a:xfrm>
          </p:grpSpPr>
          <p:sp>
            <p:nvSpPr>
              <p:cNvPr id="27680" name="Oval 59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66"/>
              </a:solidFill>
              <a:ln w="28575" cap="flat" cmpd="sng">
                <a:solidFill>
                  <a:srgbClr val="00CC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681" name="Text Box 60"/>
              <p:cNvSpPr txBox="1"/>
              <p:nvPr/>
            </p:nvSpPr>
            <p:spPr>
              <a:xfrm>
                <a:off x="4350" y="1538"/>
                <a:ext cx="75" cy="172"/>
              </a:xfrm>
              <a:prstGeom prst="rect">
                <a:avLst/>
              </a:prstGeom>
              <a:solidFill>
                <a:srgbClr val="00CC66"/>
              </a:solidFill>
              <a:ln w="9525" cap="flat" cmpd="sng">
                <a:solidFill>
                  <a:srgbClr val="00CC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658" name="Group 61"/>
            <p:cNvGrpSpPr/>
            <p:nvPr/>
          </p:nvGrpSpPr>
          <p:grpSpPr>
            <a:xfrm>
              <a:off x="3398" y="3686"/>
              <a:ext cx="247" cy="240"/>
              <a:chOff x="4285" y="1509"/>
              <a:chExt cx="221" cy="214"/>
            </a:xfrm>
          </p:grpSpPr>
          <p:sp>
            <p:nvSpPr>
              <p:cNvPr id="27678" name="Oval 62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66"/>
              </a:solidFill>
              <a:ln w="28575" cap="flat" cmpd="sng">
                <a:solidFill>
                  <a:srgbClr val="00CC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679" name="Text Box 63"/>
              <p:cNvSpPr txBox="1"/>
              <p:nvPr/>
            </p:nvSpPr>
            <p:spPr>
              <a:xfrm>
                <a:off x="4350" y="1538"/>
                <a:ext cx="75" cy="173"/>
              </a:xfrm>
              <a:prstGeom prst="rect">
                <a:avLst/>
              </a:prstGeom>
              <a:solidFill>
                <a:srgbClr val="00CC66"/>
              </a:solidFill>
              <a:ln w="9525" cap="flat" cmpd="sng">
                <a:solidFill>
                  <a:srgbClr val="00CC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659" name="Group 64"/>
            <p:cNvGrpSpPr/>
            <p:nvPr/>
          </p:nvGrpSpPr>
          <p:grpSpPr>
            <a:xfrm>
              <a:off x="4894" y="3703"/>
              <a:ext cx="247" cy="240"/>
              <a:chOff x="4285" y="1509"/>
              <a:chExt cx="221" cy="214"/>
            </a:xfrm>
          </p:grpSpPr>
          <p:sp>
            <p:nvSpPr>
              <p:cNvPr id="27676" name="Oval 65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66"/>
              </a:solidFill>
              <a:ln w="28575" cap="flat" cmpd="sng">
                <a:solidFill>
                  <a:srgbClr val="00CC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677" name="Text Box 66"/>
              <p:cNvSpPr txBox="1"/>
              <p:nvPr/>
            </p:nvSpPr>
            <p:spPr>
              <a:xfrm>
                <a:off x="4350" y="1538"/>
                <a:ext cx="75" cy="173"/>
              </a:xfrm>
              <a:prstGeom prst="rect">
                <a:avLst/>
              </a:prstGeom>
              <a:solidFill>
                <a:srgbClr val="00CC66"/>
              </a:solidFill>
              <a:ln w="9525" cap="flat" cmpd="sng">
                <a:solidFill>
                  <a:srgbClr val="00CC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660" name="Group 67"/>
            <p:cNvGrpSpPr/>
            <p:nvPr/>
          </p:nvGrpSpPr>
          <p:grpSpPr>
            <a:xfrm>
              <a:off x="4860" y="3080"/>
              <a:ext cx="247" cy="240"/>
              <a:chOff x="4285" y="1509"/>
              <a:chExt cx="221" cy="214"/>
            </a:xfrm>
          </p:grpSpPr>
          <p:sp>
            <p:nvSpPr>
              <p:cNvPr id="27674" name="Oval 68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FF0000"/>
              </a:solidFill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675" name="Text Box 69"/>
              <p:cNvSpPr txBox="1"/>
              <p:nvPr/>
            </p:nvSpPr>
            <p:spPr>
              <a:xfrm>
                <a:off x="4357" y="1538"/>
                <a:ext cx="69" cy="167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661" name="Group 70"/>
            <p:cNvGrpSpPr/>
            <p:nvPr/>
          </p:nvGrpSpPr>
          <p:grpSpPr>
            <a:xfrm>
              <a:off x="4131" y="3085"/>
              <a:ext cx="247" cy="240"/>
              <a:chOff x="4285" y="1509"/>
              <a:chExt cx="221" cy="214"/>
            </a:xfrm>
          </p:grpSpPr>
          <p:sp>
            <p:nvSpPr>
              <p:cNvPr id="27672" name="Oval 71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66"/>
              </a:solidFill>
              <a:ln w="28575" cap="flat" cmpd="sng">
                <a:solidFill>
                  <a:srgbClr val="00CC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673" name="Text Box 72"/>
              <p:cNvSpPr txBox="1"/>
              <p:nvPr/>
            </p:nvSpPr>
            <p:spPr>
              <a:xfrm>
                <a:off x="4354" y="1538"/>
                <a:ext cx="76" cy="172"/>
              </a:xfrm>
              <a:prstGeom prst="rect">
                <a:avLst/>
              </a:prstGeom>
              <a:solidFill>
                <a:srgbClr val="00CC66"/>
              </a:solidFill>
              <a:ln w="9525" cap="flat" cmpd="sng">
                <a:solidFill>
                  <a:srgbClr val="00CC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662" name="Group 73"/>
            <p:cNvGrpSpPr/>
            <p:nvPr/>
          </p:nvGrpSpPr>
          <p:grpSpPr>
            <a:xfrm>
              <a:off x="3376" y="3075"/>
              <a:ext cx="247" cy="240"/>
              <a:chOff x="4285" y="1509"/>
              <a:chExt cx="221" cy="214"/>
            </a:xfrm>
          </p:grpSpPr>
          <p:sp>
            <p:nvSpPr>
              <p:cNvPr id="27670" name="Oval 74"/>
              <p:cNvSpPr/>
              <p:nvPr/>
            </p:nvSpPr>
            <p:spPr>
              <a:xfrm>
                <a:off x="4285" y="1509"/>
                <a:ext cx="221" cy="214"/>
              </a:xfrm>
              <a:prstGeom prst="ellipse">
                <a:avLst/>
              </a:prstGeom>
              <a:solidFill>
                <a:srgbClr val="00CC66"/>
              </a:solidFill>
              <a:ln w="28575" cap="flat" cmpd="sng">
                <a:solidFill>
                  <a:srgbClr val="00CC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7671" name="Text Box 75"/>
              <p:cNvSpPr txBox="1"/>
              <p:nvPr/>
            </p:nvSpPr>
            <p:spPr>
              <a:xfrm>
                <a:off x="4354" y="1538"/>
                <a:ext cx="76" cy="173"/>
              </a:xfrm>
              <a:prstGeom prst="rect">
                <a:avLst/>
              </a:prstGeom>
              <a:solidFill>
                <a:srgbClr val="00CC66"/>
              </a:solidFill>
              <a:ln w="9525" cap="flat" cmpd="sng">
                <a:solidFill>
                  <a:srgbClr val="00CC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fontAlgn="b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solidFill>
                    <a:srgbClr val="FFFF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7663" name="Line 76"/>
            <p:cNvSpPr/>
            <p:nvPr/>
          </p:nvSpPr>
          <p:spPr>
            <a:xfrm>
              <a:off x="3520" y="3312"/>
              <a:ext cx="0" cy="367"/>
            </a:xfrm>
            <a:prstGeom prst="line">
              <a:avLst/>
            </a:prstGeom>
            <a:ln w="9525" cap="flat" cmpd="sng">
              <a:solidFill>
                <a:srgbClr val="00CC66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7664" name="Line 77"/>
            <p:cNvSpPr/>
            <p:nvPr/>
          </p:nvSpPr>
          <p:spPr>
            <a:xfrm>
              <a:off x="3612" y="3194"/>
              <a:ext cx="510" cy="0"/>
            </a:xfrm>
            <a:prstGeom prst="line">
              <a:avLst/>
            </a:prstGeom>
            <a:ln w="9525" cap="flat" cmpd="sng">
              <a:solidFill>
                <a:srgbClr val="00CC66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7665" name="Line 78"/>
            <p:cNvSpPr/>
            <p:nvPr/>
          </p:nvSpPr>
          <p:spPr>
            <a:xfrm flipH="1" flipV="1">
              <a:off x="3586" y="3247"/>
              <a:ext cx="615" cy="4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7666" name="Line 79"/>
            <p:cNvSpPr/>
            <p:nvPr/>
          </p:nvSpPr>
          <p:spPr>
            <a:xfrm flipV="1">
              <a:off x="4280" y="3325"/>
              <a:ext cx="0" cy="3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7667" name="Line 80"/>
            <p:cNvSpPr/>
            <p:nvPr/>
          </p:nvSpPr>
          <p:spPr>
            <a:xfrm>
              <a:off x="4410" y="3796"/>
              <a:ext cx="485" cy="0"/>
            </a:xfrm>
            <a:prstGeom prst="line">
              <a:avLst/>
            </a:prstGeom>
            <a:ln w="9525" cap="flat" cmpd="sng">
              <a:solidFill>
                <a:srgbClr val="00CC66"/>
              </a:solidFill>
              <a:prstDash val="solid"/>
              <a:miter/>
              <a:headEnd type="triangle" w="med" len="med"/>
              <a:tailEnd type="none" w="med" len="lg"/>
            </a:ln>
          </p:spPr>
        </p:sp>
        <p:sp>
          <p:nvSpPr>
            <p:cNvPr id="27668" name="Line 81"/>
            <p:cNvSpPr/>
            <p:nvPr/>
          </p:nvSpPr>
          <p:spPr>
            <a:xfrm>
              <a:off x="5025" y="3312"/>
              <a:ext cx="0" cy="406"/>
            </a:xfrm>
            <a:prstGeom prst="line">
              <a:avLst/>
            </a:prstGeom>
            <a:ln w="9525" cap="flat" cmpd="sng">
              <a:solidFill>
                <a:srgbClr val="00CC66"/>
              </a:solidFill>
              <a:prstDash val="solid"/>
              <a:miter/>
              <a:headEnd type="none" w="med" len="med"/>
              <a:tailEnd type="triangle" w="med" len="lg"/>
            </a:ln>
          </p:spPr>
        </p:sp>
        <p:sp>
          <p:nvSpPr>
            <p:cNvPr id="27669" name="Line 82"/>
            <p:cNvSpPr/>
            <p:nvPr/>
          </p:nvSpPr>
          <p:spPr>
            <a:xfrm flipH="1">
              <a:off x="4384" y="3194"/>
              <a:ext cx="45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lg"/>
            </a:ln>
          </p:spPr>
        </p:sp>
      </p:grpSp>
      <p:sp>
        <p:nvSpPr>
          <p:cNvPr id="22610" name="Text Box 83"/>
          <p:cNvSpPr txBox="1"/>
          <p:nvPr/>
        </p:nvSpPr>
        <p:spPr>
          <a:xfrm>
            <a:off x="222250" y="5753100"/>
            <a:ext cx="8407400" cy="1198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At this point, all the vertices have been marked and the algorithm terminates. The output order is: </a:t>
            </a:r>
            <a:r>
              <a:rPr lang="en-US" altLang="zh-CN" sz="2400" b="1" dirty="0">
                <a:solidFill>
                  <a:srgbClr val="FF0000"/>
                </a:solidFill>
              </a:rPr>
              <a:t>1 3 0 4 5 2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188" end="2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258" end="2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286" end="3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366" end="3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477838" y="863600"/>
            <a:ext cx="7896225" cy="671513"/>
          </a:xfrm>
        </p:spPr>
        <p:txBody>
          <a:bodyPr vert="horz" wrap="square" lIns="91440" tIns="45720" rIns="91440" bIns="45720" anchor="b" anchorCtr="0"/>
          <a:p>
            <a:pPr algn="l" eaLnBrk="1" hangingPunct="1"/>
            <a:r>
              <a:rPr lang="en-US" altLang="zh-CN" sz="3600" b="1" dirty="0"/>
              <a:t>Topological Ordering by DFS</a:t>
            </a:r>
            <a:endParaRPr lang="en-US" altLang="zh-CN" sz="3600" b="1" dirty="0"/>
          </a:p>
        </p:txBody>
      </p:sp>
      <p:sp>
        <p:nvSpPr>
          <p:cNvPr id="28675" name="Text Box 3"/>
          <p:cNvSpPr txBox="1"/>
          <p:nvPr/>
        </p:nvSpPr>
        <p:spPr>
          <a:xfrm>
            <a:off x="623888" y="1639888"/>
            <a:ext cx="8124825" cy="4708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1. Begin with vertex 0.</a:t>
            </a:r>
            <a:endParaRPr lang="en-US" altLang="zh-CN" sz="2400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2. Do a depth-first traversal, marking each visited vertex and outputting a vertex only if it has no unmarked neighbors. </a:t>
            </a:r>
            <a:endParaRPr lang="en-US" altLang="zh-CN" sz="2400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3. When the traversal outputting its starting vertex, pick the first unmarked vertex as a new starting point and perform another depth-first traversal. </a:t>
            </a:r>
            <a:endParaRPr lang="en-US" altLang="zh-CN" sz="2400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4. Stop when all vertices have been marked.</a:t>
            </a:r>
            <a:endParaRPr lang="en-US" altLang="zh-CN" sz="2400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  </a:t>
            </a:r>
            <a:endParaRPr lang="en-US" altLang="zh-CN" sz="2400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We can obtained a </a:t>
            </a:r>
            <a:r>
              <a:rPr lang="en-US" altLang="zh-CN" sz="2400" dirty="0">
                <a:solidFill>
                  <a:srgbClr val="0000FF"/>
                </a:solidFill>
              </a:rPr>
              <a:t>reversed</a:t>
            </a:r>
            <a:r>
              <a:rPr lang="en-US" altLang="zh-CN" sz="2400" dirty="0"/>
              <a:t> topological ordering.</a:t>
            </a:r>
            <a:endParaRPr lang="en-US" altLang="zh-CN" sz="2400" dirty="0"/>
          </a:p>
        </p:txBody>
      </p:sp>
      <p:sp>
        <p:nvSpPr>
          <p:cNvPr id="18436" name="Text Box 4" descr="再生纸"/>
          <p:cNvSpPr txBox="1"/>
          <p:nvPr/>
        </p:nvSpPr>
        <p:spPr>
          <a:xfrm>
            <a:off x="1081088" y="3228975"/>
            <a:ext cx="6840537" cy="2162175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Note:</a:t>
            </a:r>
            <a:endParaRPr lang="en-US" altLang="zh-CN" sz="28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There is usually more than one topological ordering for a graph. Choosing a different rule for picking the starting vertices may yield a different ordering.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Exercise:</a:t>
            </a:r>
            <a:endParaRPr kumimoji="0" lang="en-US" altLang="zh-CN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Starting from the vertex </a:t>
            </a:r>
            <a:r>
              <a:rPr kumimoji="0" lang="en-US" altLang="zh-CN" sz="24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try to find the </a:t>
            </a:r>
            <a:r>
              <a:rPr kumimoji="0" lang="en-US" altLang="zh-CN" sz="2400" b="0" i="1" u="sng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topological ordering list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the following graph by using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zh-CN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970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075" y="4149725"/>
            <a:ext cx="4371975" cy="2324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Homework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Write a function to realize the topological sorting method based on DFS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Using adjacency list to represent graphs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Reference to the following function: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  void  DFS(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ALGraph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* G 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v)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0</TotalTime>
  <Words>8629</Words>
  <Application>WPS 演示</Application>
  <PresentationFormat>全屏显示(4:3)</PresentationFormat>
  <Paragraphs>631</Paragraphs>
  <Slides>25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Arial</vt:lpstr>
      <vt:lpstr>宋体</vt:lpstr>
      <vt:lpstr>Wingdings</vt:lpstr>
      <vt:lpstr>Comic Sans MS</vt:lpstr>
      <vt:lpstr>TimesNewRoman</vt:lpstr>
      <vt:lpstr>Segoe Print</vt:lpstr>
      <vt:lpstr>Times New Roman</vt:lpstr>
      <vt:lpstr>Tahoma</vt:lpstr>
      <vt:lpstr>PMingLiU</vt:lpstr>
      <vt:lpstr>MingLiU-ExtB</vt:lpstr>
      <vt:lpstr>微软雅黑</vt:lpstr>
      <vt:lpstr>Arial Unicode MS</vt:lpstr>
      <vt:lpstr>等线</vt:lpstr>
      <vt:lpstr>Crayons</vt:lpstr>
      <vt:lpstr>Equation.3</vt:lpstr>
      <vt:lpstr>Chap. 9 Graph (II)</vt:lpstr>
      <vt:lpstr>Graph traversals （遍历） </vt:lpstr>
      <vt:lpstr>PowerPoint 演示文稿</vt:lpstr>
      <vt:lpstr>Depth First Search (DFS) </vt:lpstr>
      <vt:lpstr>Depth-First Search</vt:lpstr>
      <vt:lpstr>Adjacency List</vt:lpstr>
      <vt:lpstr>PowerPoint 演示文稿</vt:lpstr>
      <vt:lpstr>PowerPoint 演示文稿</vt:lpstr>
      <vt:lpstr>Breadth-First Search (BFS) </vt:lpstr>
      <vt:lpstr>Breadth-First Search </vt:lpstr>
      <vt:lpstr>PowerPoint 演示文稿</vt:lpstr>
      <vt:lpstr>Topological Ordering （拓扑排序）</vt:lpstr>
      <vt:lpstr>Applications of Topological Orderings</vt:lpstr>
      <vt:lpstr>Topological Ordering</vt:lpstr>
      <vt:lpstr>PowerPoint 演示文稿</vt:lpstr>
      <vt:lpstr>PowerPoint 演示文稿</vt:lpstr>
      <vt:lpstr>Topological Ordering</vt:lpstr>
      <vt:lpstr>Topological Ordering</vt:lpstr>
      <vt:lpstr>Topological Ordering</vt:lpstr>
      <vt:lpstr>Topological Ordering by DFS</vt:lpstr>
      <vt:lpstr>Depth-First Traversal Trace</vt:lpstr>
      <vt:lpstr>Depth-First Traversal Trace</vt:lpstr>
      <vt:lpstr>Topological Ordering by DFS</vt:lpstr>
      <vt:lpstr>PowerPoint 演示文稿</vt:lpstr>
      <vt:lpstr>Homework</vt:lpstr>
    </vt:vector>
  </TitlesOfParts>
  <Company>CSG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Chap. 9 Graph (II)</dc:title>
  <dc:creator>YuChang</dc:creator>
  <cp:lastModifiedBy>Yan</cp:lastModifiedBy>
  <cp:revision>111</cp:revision>
  <dcterms:created xsi:type="dcterms:W3CDTF">2013-10-24T03:11:00Z</dcterms:created>
  <dcterms:modified xsi:type="dcterms:W3CDTF">2025-11-10T08:38:38Z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2F82254A527049348B4709D3219B2E61_13</vt:lpwstr>
  </property>
</Properties>
</file>