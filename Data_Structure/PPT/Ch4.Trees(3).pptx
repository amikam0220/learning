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7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49" r:id="rId15"/>
    <p:sldId id="356" r:id="rId16"/>
    <p:sldId id="344" r:id="rId17"/>
    <p:sldId id="338" r:id="rId18"/>
    <p:sldId id="279" r:id="rId19"/>
    <p:sldId id="280" r:id="rId20"/>
    <p:sldId id="269" r:id="rId21"/>
    <p:sldId id="270" r:id="rId22"/>
    <p:sldId id="271" r:id="rId23"/>
    <p:sldId id="272" r:id="rId24"/>
    <p:sldId id="274" r:id="rId25"/>
    <p:sldId id="275" r:id="rId26"/>
    <p:sldId id="276" r:id="rId27"/>
    <p:sldId id="277" r:id="rId28"/>
    <p:sldId id="281" r:id="rId29"/>
    <p:sldId id="282" r:id="rId30"/>
    <p:sldId id="345" r:id="rId31"/>
    <p:sldId id="346" r:id="rId32"/>
    <p:sldId id="357" r:id="rId33"/>
    <p:sldId id="284" r:id="rId34"/>
    <p:sldId id="351" r:id="rId35"/>
    <p:sldId id="286" r:id="rId36"/>
    <p:sldId id="353" r:id="rId37"/>
    <p:sldId id="288" r:id="rId38"/>
    <p:sldId id="340" r:id="rId39"/>
    <p:sldId id="290" r:id="rId40"/>
    <p:sldId id="291" r:id="rId41"/>
    <p:sldId id="292" r:id="rId42"/>
    <p:sldId id="330" r:id="rId43"/>
    <p:sldId id="293" r:id="rId44"/>
    <p:sldId id="335" r:id="rId45"/>
    <p:sldId id="331" r:id="rId46"/>
    <p:sldId id="297" r:id="rId47"/>
    <p:sldId id="332" r:id="rId48"/>
    <p:sldId id="350" r:id="rId49"/>
    <p:sldId id="298" r:id="rId50"/>
    <p:sldId id="333" r:id="rId51"/>
    <p:sldId id="305" r:id="rId52"/>
    <p:sldId id="307" r:id="rId53"/>
    <p:sldId id="306" r:id="rId54"/>
    <p:sldId id="336" r:id="rId55"/>
    <p:sldId id="308" r:id="rId56"/>
    <p:sldId id="309" r:id="rId57"/>
    <p:sldId id="310" r:id="rId58"/>
    <p:sldId id="311" r:id="rId59"/>
    <p:sldId id="343" r:id="rId60"/>
    <p:sldId id="354" r:id="rId61"/>
    <p:sldId id="316" r:id="rId6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9900"/>
    <a:srgbClr val="660033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60" d="100"/>
          <a:sy n="60" d="100"/>
        </p:scale>
        <p:origin x="45" y="717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538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 的" userId="7483e1e6a959e322" providerId="LiveId" clId="{286C159D-603C-4CB1-AE78-F5F98B38873E}"/>
    <pc:docChg chg="undo custSel modSld">
      <pc:chgData name="by 的" userId="7483e1e6a959e322" providerId="LiveId" clId="{286C159D-603C-4CB1-AE78-F5F98B38873E}" dt="2026-01-01T11:58:16.340" v="8" actId="1038"/>
      <pc:docMkLst>
        <pc:docMk/>
      </pc:docMkLst>
      <pc:sldChg chg="modSp mod">
        <pc:chgData name="by 的" userId="7483e1e6a959e322" providerId="LiveId" clId="{286C159D-603C-4CB1-AE78-F5F98B38873E}" dt="2026-01-01T11:45:15.402" v="7" actId="1076"/>
        <pc:sldMkLst>
          <pc:docMk/>
          <pc:sldMk cId="0" sldId="259"/>
        </pc:sldMkLst>
        <pc:spChg chg="mod">
          <ac:chgData name="by 的" userId="7483e1e6a959e322" providerId="LiveId" clId="{286C159D-603C-4CB1-AE78-F5F98B38873E}" dt="2026-01-01T11:45:15.402" v="7" actId="1076"/>
          <ac:spMkLst>
            <pc:docMk/>
            <pc:sldMk cId="0" sldId="259"/>
            <ac:spMk id="12293" creationId="{00000000-0000-0000-0000-000000000000}"/>
          </ac:spMkLst>
        </pc:spChg>
      </pc:sldChg>
      <pc:sldChg chg="modSp mod">
        <pc:chgData name="by 的" userId="7483e1e6a959e322" providerId="LiveId" clId="{286C159D-603C-4CB1-AE78-F5F98B38873E}" dt="2026-01-01T11:58:16.340" v="8" actId="1038"/>
        <pc:sldMkLst>
          <pc:docMk/>
          <pc:sldMk cId="0" sldId="270"/>
        </pc:sldMkLst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26646" creationId="{00000000-0000-0000-0000-000000000000}"/>
          </ac:spMkLst>
        </pc:spChg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35843" creationId="{00000000-0000-0000-0000-000000000000}"/>
          </ac:spMkLst>
        </pc:spChg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35845" creationId="{00000000-0000-0000-0000-000000000000}"/>
          </ac:spMkLst>
        </pc:spChg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35846" creationId="{00000000-0000-0000-0000-000000000000}"/>
          </ac:spMkLst>
        </pc:spChg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35848" creationId="{00000000-0000-0000-0000-000000000000}"/>
          </ac:spMkLst>
        </pc:spChg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35850" creationId="{00000000-0000-0000-0000-000000000000}"/>
          </ac:spMkLst>
        </pc:spChg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35851" creationId="{00000000-0000-0000-0000-000000000000}"/>
          </ac:spMkLst>
        </pc:spChg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35852" creationId="{00000000-0000-0000-0000-000000000000}"/>
          </ac:spMkLst>
        </pc:spChg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35854" creationId="{00000000-0000-0000-0000-000000000000}"/>
          </ac:spMkLst>
        </pc:spChg>
        <pc:spChg chg="mod">
          <ac:chgData name="by 的" userId="7483e1e6a959e322" providerId="LiveId" clId="{286C159D-603C-4CB1-AE78-F5F98B38873E}" dt="2026-01-01T11:58:16.340" v="8" actId="1038"/>
          <ac:spMkLst>
            <pc:docMk/>
            <pc:sldMk cId="0" sldId="270"/>
            <ac:spMk id="3586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‹#›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40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</p:spPr>
      </p:sp>
      <p:sp>
        <p:nvSpPr>
          <p:cNvPr id="56324" name="Rectangle 3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</a:rPr>
              <a:t>41</a:t>
            </a:fld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en-US" altLang="zh-CN" dirty="0"/>
              <a:t>Each internal node contains at least 3 children and at most 5 children</a:t>
            </a:r>
          </a:p>
          <a:p>
            <a:pPr lvl="0" eaLnBrk="1" hangingPunct="1"/>
            <a:r>
              <a:rPr lang="en-US" altLang="zh-CN" dirty="0"/>
              <a:t>Each internal node contains at least 2 keys and at most 4 keys</a:t>
            </a:r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0" t="0" r="0" b="0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69" name="Freeform 9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145088" y="35325"/>
                </a:cxn>
                <a:cxn ang="0">
                  <a:pos x="129752" y="28447"/>
                </a:cxn>
                <a:cxn ang="0">
                  <a:pos x="101630" y="18797"/>
                </a:cxn>
                <a:cxn ang="0">
                  <a:pos x="12970" y="0"/>
                </a:cxn>
                <a:cxn ang="0">
                  <a:pos x="4183" y="1781"/>
                </a:cxn>
                <a:cxn ang="0">
                  <a:pos x="0" y="7429"/>
                </a:cxn>
                <a:cxn ang="0">
                  <a:pos x="5098" y="13874"/>
                </a:cxn>
                <a:cxn ang="0">
                  <a:pos x="104152" y="36600"/>
                </a:cxn>
                <a:cxn ang="0">
                  <a:pos x="125855" y="35145"/>
                </a:cxn>
                <a:cxn ang="0">
                  <a:pos x="143402" y="37027"/>
                </a:cxn>
                <a:cxn ang="0">
                  <a:pos x="145088" y="35325"/>
                </a:cxn>
              </a:cxnLst>
              <a:rect l="0" t="0" r="0" b="0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0" name="Freeform 10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777" y="0"/>
                </a:cxn>
                <a:cxn ang="0">
                  <a:pos x="7546" y="1441"/>
                </a:cxn>
                <a:cxn ang="0">
                  <a:pos x="8096" y="1771"/>
                </a:cxn>
                <a:cxn ang="0">
                  <a:pos x="8993" y="2198"/>
                </a:cxn>
                <a:cxn ang="0">
                  <a:pos x="8874" y="2279"/>
                </a:cxn>
                <a:cxn ang="0">
                  <a:pos x="7653" y="2184"/>
                </a:cxn>
                <a:cxn ang="0">
                  <a:pos x="6491" y="2251"/>
                </a:cxn>
                <a:cxn ang="0">
                  <a:pos x="235" y="829"/>
                </a:cxn>
                <a:cxn ang="0">
                  <a:pos x="0" y="417"/>
                </a:cxn>
                <a:cxn ang="0">
                  <a:pos x="260" y="88"/>
                </a:cxn>
                <a:cxn ang="0">
                  <a:pos x="777" y="0"/>
                </a:cxn>
              </a:cxnLst>
              <a:rect l="0" t="0" r="0" b="0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1" name="Freeform 11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915"/>
                </a:cxn>
                <a:cxn ang="0">
                  <a:pos x="5294" y="2105"/>
                </a:cxn>
                <a:cxn ang="0">
                  <a:pos x="5393" y="1505"/>
                </a:cxn>
                <a:cxn ang="0">
                  <a:pos x="6024" y="1190"/>
                </a:cxn>
                <a:cxn ang="0">
                  <a:pos x="448" y="0"/>
                </a:cxn>
                <a:cxn ang="0">
                  <a:pos x="0" y="357"/>
                </a:cxn>
                <a:cxn ang="0">
                  <a:pos x="0" y="915"/>
                </a:cxn>
              </a:cxnLst>
              <a:rect l="0" t="0" r="0" b="0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3" name="Freeform 13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619" y="0"/>
                  </a:cxn>
                  <a:cxn ang="0">
                    <a:pos x="228" y="192"/>
                  </a:cxn>
                  <a:cxn ang="0">
                    <a:pos x="0" y="502"/>
                  </a:cxn>
                  <a:cxn ang="0">
                    <a:pos x="451" y="464"/>
                  </a:cxn>
                  <a:cxn ang="0">
                    <a:pos x="581" y="245"/>
                  </a:cxn>
                  <a:cxn ang="0">
                    <a:pos x="847" y="78"/>
                  </a:cxn>
                  <a:cxn ang="0">
                    <a:pos x="619" y="0"/>
                  </a:cxn>
                </a:cxnLst>
                <a:rect l="0" t="0" r="0" b="0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4" name="Freeform 14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890" y="0"/>
                  </a:cxn>
                  <a:cxn ang="0">
                    <a:pos x="360" y="146"/>
                  </a:cxn>
                  <a:cxn ang="0">
                    <a:pos x="0" y="582"/>
                  </a:cxn>
                  <a:cxn ang="0">
                    <a:pos x="384" y="1004"/>
                  </a:cxn>
                  <a:cxn ang="0">
                    <a:pos x="6749" y="2425"/>
                  </a:cxn>
                  <a:cxn ang="0">
                    <a:pos x="8120" y="2336"/>
                  </a:cxn>
                  <a:cxn ang="0">
                    <a:pos x="9231" y="2462"/>
                  </a:cxn>
                  <a:cxn ang="0">
                    <a:pos x="9616" y="2262"/>
                  </a:cxn>
                  <a:cxn ang="0">
                    <a:pos x="8576" y="1857"/>
                  </a:cxn>
                  <a:cxn ang="0">
                    <a:pos x="8153" y="1434"/>
                  </a:cxn>
                  <a:cxn ang="0">
                    <a:pos x="7820" y="1474"/>
                  </a:cxn>
                  <a:cxn ang="0">
                    <a:pos x="8216" y="1857"/>
                  </a:cxn>
                  <a:cxn ang="0">
                    <a:pos x="9011" y="2265"/>
                  </a:cxn>
                  <a:cxn ang="0">
                    <a:pos x="8070" y="2201"/>
                  </a:cxn>
                  <a:cxn ang="0">
                    <a:pos x="6960" y="2275"/>
                  </a:cxn>
                  <a:cxn ang="0">
                    <a:pos x="7165" y="1817"/>
                  </a:cxn>
                  <a:cxn ang="0">
                    <a:pos x="7641" y="1505"/>
                  </a:cxn>
                  <a:cxn ang="0">
                    <a:pos x="7084" y="1544"/>
                  </a:cxn>
                  <a:cxn ang="0">
                    <a:pos x="6652" y="1841"/>
                  </a:cxn>
                  <a:cxn ang="0">
                    <a:pos x="6505" y="2214"/>
                  </a:cxn>
                  <a:cxn ang="0">
                    <a:pos x="612" y="867"/>
                  </a:cxn>
                  <a:cxn ang="0">
                    <a:pos x="456" y="601"/>
                  </a:cxn>
                  <a:cxn ang="0">
                    <a:pos x="588" y="267"/>
                  </a:cxn>
                  <a:cxn ang="0">
                    <a:pos x="1237" y="0"/>
                  </a:cxn>
                  <a:cxn ang="0">
                    <a:pos x="890" y="0"/>
                  </a:cxn>
                </a:cxnLst>
                <a:rect l="0" t="0" r="0" b="0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5" name="Freeform 15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572" y="0"/>
                  </a:cxn>
                  <a:cxn ang="0">
                    <a:pos x="6795" y="1368"/>
                  </a:cxn>
                  <a:cxn ang="0">
                    <a:pos x="6140" y="1396"/>
                  </a:cxn>
                  <a:cxn ang="0">
                    <a:pos x="0" y="75"/>
                  </a:cxn>
                  <a:cxn ang="0">
                    <a:pos x="572" y="0"/>
                  </a:cxn>
                </a:cxnLst>
                <a:rect l="0" t="0" r="0" b="0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6" name="Freeform 16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668" y="0"/>
                  </a:cxn>
                  <a:cxn ang="0">
                    <a:pos x="109" y="293"/>
                  </a:cxn>
                  <a:cxn ang="0">
                    <a:pos x="0" y="630"/>
                  </a:cxn>
                  <a:cxn ang="0">
                    <a:pos x="192" y="862"/>
                  </a:cxn>
                  <a:cxn ang="0">
                    <a:pos x="539" y="919"/>
                  </a:cxn>
                  <a:cxn ang="0">
                    <a:pos x="437" y="421"/>
                  </a:cxn>
                  <a:cxn ang="0">
                    <a:pos x="919" y="48"/>
                  </a:cxn>
                  <a:cxn ang="0">
                    <a:pos x="668" y="0"/>
                  </a:cxn>
                </a:cxnLst>
                <a:rect l="0" t="0" r="0" b="0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7" name="Freeform 17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81" y="97"/>
                  </a:cxn>
                  <a:cxn ang="0">
                    <a:pos x="900" y="186"/>
                  </a:cxn>
                  <a:cxn ang="0">
                    <a:pos x="1826" y="386"/>
                  </a:cxn>
                  <a:cxn ang="0">
                    <a:pos x="2480" y="685"/>
                  </a:cxn>
                  <a:cxn ang="0">
                    <a:pos x="1837" y="647"/>
                  </a:cxn>
                  <a:cxn ang="0">
                    <a:pos x="781" y="411"/>
                  </a:cxn>
                  <a:cxn ang="0">
                    <a:pos x="281" y="225"/>
                  </a:cxn>
                  <a:cxn ang="0">
                    <a:pos x="601" y="459"/>
                  </a:cxn>
                  <a:cxn ang="0">
                    <a:pos x="1532" y="759"/>
                  </a:cxn>
                  <a:cxn ang="0">
                    <a:pos x="2624" y="834"/>
                  </a:cxn>
                  <a:cxn ang="0">
                    <a:pos x="2754" y="630"/>
                  </a:cxn>
                  <a:cxn ang="0">
                    <a:pos x="2220" y="338"/>
                  </a:cxn>
                  <a:cxn ang="0">
                    <a:pos x="957" y="48"/>
                  </a:cxn>
                  <a:cxn ang="0">
                    <a:pos x="0" y="0"/>
                  </a:cxn>
                  <a:cxn ang="0">
                    <a:pos x="81" y="97"/>
                  </a:cxn>
                </a:cxnLst>
                <a:rect l="0" t="0" r="0" b="0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0" name="Freeform 19"/>
            <p:cNvSpPr/>
            <p:nvPr userDrawn="1"/>
          </p:nvSpPr>
          <p:spPr>
            <a:xfrm rot="7320404">
              <a:off x="4908" y="2935"/>
              <a:ext cx="629" cy="293"/>
            </a:xfrm>
            <a:custGeom>
              <a:avLst/>
              <a:gdLst/>
              <a:ahLst/>
              <a:cxnLst>
                <a:cxn ang="0">
                  <a:pos x="248" y="70"/>
                </a:cxn>
                <a:cxn ang="0">
                  <a:pos x="222" y="57"/>
                </a:cxn>
                <a:cxn ang="0">
                  <a:pos x="173" y="37"/>
                </a:cxn>
                <a:cxn ang="0">
                  <a:pos x="22" y="0"/>
                </a:cxn>
                <a:cxn ang="0">
                  <a:pos x="7" y="4"/>
                </a:cxn>
                <a:cxn ang="0">
                  <a:pos x="0" y="15"/>
                </a:cxn>
                <a:cxn ang="0">
                  <a:pos x="8" y="28"/>
                </a:cxn>
                <a:cxn ang="0">
                  <a:pos x="178" y="73"/>
                </a:cxn>
                <a:cxn ang="0">
                  <a:pos x="215" y="69"/>
                </a:cxn>
                <a:cxn ang="0">
                  <a:pos x="246" y="74"/>
                </a:cxn>
                <a:cxn ang="0">
                  <a:pos x="248" y="70"/>
                </a:cxn>
              </a:cxnLst>
              <a:rect l="0" t="0" r="0" b="0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Freeform 20"/>
            <p:cNvSpPr/>
            <p:nvPr userDrawn="1"/>
          </p:nvSpPr>
          <p:spPr>
            <a:xfrm rot="7320404">
              <a:off x="4892" y="2921"/>
              <a:ext cx="627" cy="29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3" y="3"/>
                </a:cxn>
                <a:cxn ang="0">
                  <a:pos x="14" y="4"/>
                </a:cxn>
                <a:cxn ang="0">
                  <a:pos x="15" y="4"/>
                </a:cxn>
                <a:cxn ang="0">
                  <a:pos x="15" y="5"/>
                </a:cxn>
                <a:cxn ang="0">
                  <a:pos x="13" y="4"/>
                </a:cxn>
                <a:cxn ang="0">
                  <a:pos x="11" y="5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0" b="0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Freeform 21"/>
            <p:cNvSpPr/>
            <p:nvPr userDrawn="1"/>
          </p:nvSpPr>
          <p:spPr>
            <a:xfrm rot="7320404">
              <a:off x="4998" y="2912"/>
              <a:ext cx="416" cy="26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9" y="4"/>
                </a:cxn>
                <a:cxn ang="0">
                  <a:pos x="9" y="3"/>
                </a:cxn>
                <a:cxn ang="0">
                  <a:pos x="10" y="2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</a:cxnLst>
              <a:rect l="0" t="0" r="0" b="0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9" cy="667"/>
              <a:chOff x="4986" y="2752"/>
              <a:chExt cx="469" cy="667"/>
            </a:xfrm>
          </p:grpSpPr>
          <p:sp>
            <p:nvSpPr>
              <p:cNvPr id="2064" name="Freeform 23"/>
              <p:cNvSpPr/>
              <p:nvPr userDrawn="1"/>
            </p:nvSpPr>
            <p:spPr>
              <a:xfrm rot="7320404">
                <a:off x="4986" y="3189"/>
                <a:ext cx="59" cy="61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1" y="0"/>
                  </a:cxn>
                </a:cxnLst>
                <a:rect l="0" t="0" r="0" b="0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5" name="Freeform 24"/>
              <p:cNvSpPr/>
              <p:nvPr userDrawn="1"/>
            </p:nvSpPr>
            <p:spPr>
              <a:xfrm rot="7320404">
                <a:off x="4886" y="2929"/>
                <a:ext cx="667" cy="311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1" y="2"/>
                  </a:cxn>
                  <a:cxn ang="0">
                    <a:pos x="11" y="5"/>
                  </a:cxn>
                  <a:cxn ang="0">
                    <a:pos x="14" y="5"/>
                  </a:cxn>
                  <a:cxn ang="0">
                    <a:pos x="16" y="5"/>
                  </a:cxn>
                  <a:cxn ang="0">
                    <a:pos x="17" y="5"/>
                  </a:cxn>
                  <a:cxn ang="0">
                    <a:pos x="15" y="4"/>
                  </a:cxn>
                  <a:cxn ang="0">
                    <a:pos x="14" y="3"/>
                  </a:cxn>
                  <a:cxn ang="0">
                    <a:pos x="13" y="3"/>
                  </a:cxn>
                  <a:cxn ang="0">
                    <a:pos x="14" y="4"/>
                  </a:cxn>
                  <a:cxn ang="0">
                    <a:pos x="15" y="5"/>
                  </a:cxn>
                  <a:cxn ang="0">
                    <a:pos x="14" y="4"/>
                  </a:cxn>
                  <a:cxn ang="0">
                    <a:pos x="12" y="5"/>
                  </a:cxn>
                  <a:cxn ang="0">
                    <a:pos x="12" y="4"/>
                  </a:cxn>
                  <a:cxn ang="0">
                    <a:pos x="13" y="3"/>
                  </a:cxn>
                  <a:cxn ang="0">
                    <a:pos x="12" y="3"/>
                  </a:cxn>
                  <a:cxn ang="0">
                    <a:pos x="11" y="4"/>
                  </a:cxn>
                  <a:cxn ang="0">
                    <a:pos x="11" y="4"/>
                  </a:cxn>
                  <a:cxn ang="0">
                    <a:pos x="1" y="2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rect l="0" t="0" r="0" b="0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6" name="Freeform 25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2" y="2"/>
                  </a:cxn>
                  <a:cxn ang="0">
                    <a:pos x="11" y="3"/>
                  </a:cxn>
                  <a:cxn ang="0">
                    <a:pos x="0" y="0"/>
                  </a:cxn>
                  <a:cxn ang="0">
                    <a:pos x="1" y="0"/>
                  </a:cxn>
                </a:cxnLst>
                <a:rect l="0" t="0" r="0" b="0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7" name="Freeform 26"/>
              <p:cNvSpPr/>
              <p:nvPr userDrawn="1"/>
            </p:nvSpPr>
            <p:spPr>
              <a:xfrm rot="7320404">
                <a:off x="5363" y="2871"/>
                <a:ext cx="63" cy="11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2"/>
                  </a:cxn>
                  <a:cxn ang="0">
                    <a:pos x="1" y="2"/>
                  </a:cxn>
                  <a:cxn ang="0">
                    <a:pos x="1" y="1"/>
                  </a:cxn>
                  <a:cxn ang="0">
                    <a:pos x="2" y="0"/>
                  </a:cxn>
                  <a:cxn ang="0">
                    <a:pos x="1" y="0"/>
                  </a:cxn>
                </a:cxnLst>
                <a:rect l="0" t="0" r="0" b="0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8" name="Freeform 27"/>
              <p:cNvSpPr/>
              <p:nvPr userDrawn="1"/>
            </p:nvSpPr>
            <p:spPr>
              <a:xfrm rot="7320404">
                <a:off x="5136" y="2998"/>
                <a:ext cx="193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0"/>
                  </a:cxn>
                  <a:cxn ang="0">
                    <a:pos x="3" y="1"/>
                  </a:cxn>
                  <a:cxn ang="0">
                    <a:pos x="4" y="1"/>
                  </a:cxn>
                  <a:cxn ang="0">
                    <a:pos x="3" y="1"/>
                  </a:cxn>
                  <a:cxn ang="0">
                    <a:pos x="2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3" y="1"/>
                  </a:cxn>
                  <a:cxn ang="0">
                    <a:pos x="4" y="2"/>
                  </a:cxn>
                  <a:cxn ang="0">
                    <a:pos x="5" y="1"/>
                  </a:cxn>
                  <a:cxn ang="0">
                    <a:pos x="4" y="1"/>
                  </a:cxn>
                  <a:cxn ang="0">
                    <a:pos x="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53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4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28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  <a:t>‹#›</a:t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2888" y="22225"/>
            <a:ext cx="1165225" cy="20970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0" t="0" r="0" b="0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rect l="0" t="0" r="0" b="0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50" y="40"/>
                </a:cxn>
                <a:cxn ang="0">
                  <a:pos x="45" y="35"/>
                </a:cxn>
                <a:cxn ang="0">
                  <a:pos x="42" y="15"/>
                </a:cxn>
                <a:cxn ang="0">
                  <a:pos x="67" y="11"/>
                </a:cxn>
                <a:cxn ang="0">
                  <a:pos x="69" y="7"/>
                </a:cxn>
                <a:cxn ang="0">
                  <a:pos x="66" y="4"/>
                </a:cxn>
                <a:cxn ang="0">
                  <a:pos x="40" y="7"/>
                </a:cxn>
                <a:cxn ang="0">
                  <a:pos x="39" y="1"/>
                </a:cxn>
                <a:cxn ang="0">
                  <a:pos x="34" y="0"/>
                </a:cxn>
                <a:cxn ang="0">
                  <a:pos x="30" y="1"/>
                </a:cxn>
                <a:cxn ang="0">
                  <a:pos x="28" y="4"/>
                </a:cxn>
                <a:cxn ang="0">
                  <a:pos x="30" y="9"/>
                </a:cxn>
                <a:cxn ang="0">
                  <a:pos x="21" y="14"/>
                </a:cxn>
                <a:cxn ang="0">
                  <a:pos x="31" y="15"/>
                </a:cxn>
                <a:cxn ang="0">
                  <a:pos x="35" y="28"/>
                </a:cxn>
                <a:cxn ang="0">
                  <a:pos x="5" y="15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36" y="41"/>
                </a:cxn>
                <a:cxn ang="0">
                  <a:pos x="44" y="40"/>
                </a:cxn>
                <a:cxn ang="0">
                  <a:pos x="50" y="41"/>
                </a:cxn>
                <a:cxn ang="0">
                  <a:pos x="50" y="40"/>
                </a:cxn>
              </a:cxnLst>
              <a:rect l="0" t="0" r="0" b="0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Freeform 12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4" y="8"/>
                </a:cxn>
                <a:cxn ang="0">
                  <a:pos x="0" y="9"/>
                </a:cxn>
                <a:cxn ang="0">
                  <a:pos x="0" y="1"/>
                </a:cxn>
              </a:cxnLst>
              <a:rect l="0" t="0" r="0" b="0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3" name="Freeform 13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1" y="16"/>
                </a:cxn>
                <a:cxn ang="0">
                  <a:pos x="44" y="19"/>
                </a:cxn>
                <a:cxn ang="0">
                  <a:pos x="49" y="24"/>
                </a:cxn>
                <a:cxn ang="0">
                  <a:pos x="48" y="25"/>
                </a:cxn>
                <a:cxn ang="0">
                  <a:pos x="42" y="24"/>
                </a:cxn>
                <a:cxn ang="0">
                  <a:pos x="35" y="25"/>
                </a:cxn>
                <a:cxn ang="0">
                  <a:pos x="1" y="9"/>
                </a:cxn>
                <a:cxn ang="0">
                  <a:pos x="0" y="4"/>
                </a:cxn>
                <a:cxn ang="0">
                  <a:pos x="1" y="1"/>
                </a:cxn>
                <a:cxn ang="0">
                  <a:pos x="4" y="0"/>
                </a:cxn>
              </a:cxnLst>
              <a:rect l="0" t="0" r="0" b="0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" name="Freeform 14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9" y="24"/>
                </a:cxn>
                <a:cxn ang="0">
                  <a:pos x="30" y="17"/>
                </a:cxn>
                <a:cxn ang="0">
                  <a:pos x="33" y="14"/>
                </a:cxn>
                <a:cxn ang="0">
                  <a:pos x="3" y="0"/>
                </a:cxn>
                <a:cxn ang="0">
                  <a:pos x="0" y="4"/>
                </a:cxn>
                <a:cxn ang="0">
                  <a:pos x="0" y="11"/>
                </a:cxn>
              </a:cxnLst>
              <a:rect l="0" t="0" r="0" b="0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Freeform 15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0"/>
                </a:cxn>
                <a:cxn ang="0">
                  <a:pos x="7" y="2"/>
                </a:cxn>
                <a:cxn ang="0">
                  <a:pos x="8" y="5"/>
                </a:cxn>
                <a:cxn ang="0">
                  <a:pos x="5" y="5"/>
                </a:cxn>
                <a:cxn ang="0">
                  <a:pos x="1" y="8"/>
                </a:cxn>
                <a:cxn ang="0">
                  <a:pos x="0" y="1"/>
                </a:cxn>
              </a:cxnLst>
              <a:rect l="0" t="0" r="0" b="0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Freeform 16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5" y="7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</a:cxnLst>
              <a:rect l="0" t="0" r="0" b="0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Freeform 17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13" y="24"/>
                </a:cxn>
                <a:cxn ang="0">
                  <a:pos x="9" y="23"/>
                </a:cxn>
                <a:cxn ang="0">
                  <a:pos x="5" y="22"/>
                </a:cxn>
                <a:cxn ang="0">
                  <a:pos x="0" y="3"/>
                </a:cxn>
              </a:cxnLst>
              <a:rect l="0" t="0" r="0" b="0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8" name="Freeform 18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0" y="4"/>
                </a:cxn>
                <a:cxn ang="0">
                  <a:pos x="1" y="11"/>
                </a:cxn>
                <a:cxn ang="0">
                  <a:pos x="23" y="8"/>
                </a:cxn>
                <a:cxn ang="0">
                  <a:pos x="23" y="2"/>
                </a:cxn>
                <a:cxn ang="0">
                  <a:pos x="22" y="0"/>
                </a:cxn>
              </a:cxnLst>
              <a:rect l="0" t="0" r="0" b="0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" name="Freeform 19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2"/>
                </a:cxn>
                <a:cxn ang="0">
                  <a:pos x="10" y="4"/>
                </a:cxn>
                <a:cxn ang="0">
                  <a:pos x="9" y="0"/>
                </a:cxn>
              </a:cxnLst>
              <a:rect l="0" t="0" r="0" b="0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4" y="0"/>
                    </a:cxn>
                    <a:cxn ang="0">
                      <a:pos x="7" y="0"/>
                    </a:cxn>
                    <a:cxn ang="0">
                      <a:pos x="10" y="0"/>
                    </a:cxn>
                    <a:cxn ang="0">
                      <a:pos x="10" y="2"/>
                    </a:cxn>
                    <a:cxn ang="0">
                      <a:pos x="6" y="2"/>
                    </a:cxn>
                    <a:cxn ang="0">
                      <a:pos x="3" y="3"/>
                    </a:cxn>
                    <a:cxn ang="0">
                      <a:pos x="1" y="5"/>
                    </a:cxn>
                    <a:cxn ang="0">
                      <a:pos x="0" y="3"/>
                    </a:cxn>
                  </a:cxnLst>
                  <a:rect l="0" t="0" r="0" b="0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5" name="Freeform 2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2"/>
                    </a:cxn>
                    <a:cxn ang="0">
                      <a:pos x="5" y="9"/>
                    </a:cxn>
                    <a:cxn ang="0">
                      <a:pos x="8" y="8"/>
                    </a:cxn>
                    <a:cxn ang="0">
                      <a:pos x="7" y="1"/>
                    </a:cxn>
                    <a:cxn ang="0">
                      <a:pos x="6" y="0"/>
                    </a:cxn>
                    <a:cxn ang="0">
                      <a:pos x="6" y="7"/>
                    </a:cxn>
                    <a:cxn ang="0">
                      <a:pos x="3" y="1"/>
                    </a:cxn>
                    <a:cxn ang="0">
                      <a:pos x="0" y="2"/>
                    </a:cxn>
                  </a:cxnLst>
                  <a:rect l="0" t="0" r="0" b="0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6" name="Freeform 24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3"/>
                    </a:cxn>
                    <a:cxn ang="0">
                      <a:pos x="1" y="5"/>
                    </a:cxn>
                    <a:cxn ang="0">
                      <a:pos x="0" y="8"/>
                    </a:cxn>
                    <a:cxn ang="0">
                      <a:pos x="2" y="7"/>
                    </a:cxn>
                    <a:cxn ang="0">
                      <a:pos x="2" y="4"/>
                    </a:cxn>
                    <a:cxn ang="0">
                      <a:pos x="1" y="0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62" name="Freeform 25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38" y="16"/>
                  </a:cxn>
                  <a:cxn ang="0">
                    <a:pos x="34" y="16"/>
                  </a:cxn>
                  <a:cxn ang="0">
                    <a:pos x="0" y="1"/>
                  </a:cxn>
                  <a:cxn ang="0">
                    <a:pos x="4" y="0"/>
                  </a:cxn>
                </a:cxnLst>
                <a:rect l="0" t="0" r="0" b="0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3" name="Freeform 26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5" y="3"/>
                  </a:cxn>
                  <a:cxn ang="0">
                    <a:pos x="10" y="5"/>
                  </a:cxn>
                  <a:cxn ang="0">
                    <a:pos x="13" y="8"/>
                  </a:cxn>
                  <a:cxn ang="0">
                    <a:pos x="10" y="8"/>
                  </a:cxn>
                  <a:cxn ang="0">
                    <a:pos x="4" y="5"/>
                  </a:cxn>
                  <a:cxn ang="0">
                    <a:pos x="1" y="3"/>
                  </a:cxn>
                  <a:cxn ang="0">
                    <a:pos x="3" y="6"/>
                  </a:cxn>
                  <a:cxn ang="0">
                    <a:pos x="8" y="9"/>
                  </a:cxn>
                  <a:cxn ang="0">
                    <a:pos x="14" y="10"/>
                  </a:cxn>
                  <a:cxn ang="0">
                    <a:pos x="15" y="7"/>
                  </a:cxn>
                  <a:cxn ang="0">
                    <a:pos x="12" y="4"/>
                  </a:cxn>
                  <a:cxn ang="0">
                    <a:pos x="5" y="1"/>
                  </a:cxn>
                  <a:cxn ang="0">
                    <a:pos x="0" y="0"/>
                  </a:cxn>
                  <a:cxn ang="0">
                    <a:pos x="0" y="2"/>
                  </a:cxn>
                </a:cxnLst>
                <a:rect l="0" t="0" r="0" b="0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4" name="Freeform 27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3" y="0"/>
                  </a:cxn>
                  <a:cxn ang="0">
                    <a:pos x="3" y="6"/>
                  </a:cxn>
                  <a:cxn ang="0">
                    <a:pos x="4" y="10"/>
                  </a:cxn>
                  <a:cxn ang="0">
                    <a:pos x="7" y="14"/>
                  </a:cxn>
                  <a:cxn ang="0">
                    <a:pos x="4" y="14"/>
                  </a:cxn>
                  <a:cxn ang="0">
                    <a:pos x="1" y="10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0" b="0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2" y="3"/>
                    </a:cxn>
                    <a:cxn ang="0">
                      <a:pos x="0" y="6"/>
                    </a:cxn>
                    <a:cxn ang="0">
                      <a:pos x="3" y="5"/>
                    </a:cxn>
                    <a:cxn ang="0">
                      <a:pos x="4" y="3"/>
                    </a:cxn>
                    <a:cxn ang="0">
                      <a:pos x="5" y="1"/>
                    </a:cxn>
                    <a:cxn ang="0">
                      <a:pos x="4" y="0"/>
                    </a:cxn>
                  </a:cxnLst>
                  <a:rect l="0" t="0" r="0" b="0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7" name="Freeform 30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2" y="2"/>
                    </a:cxn>
                    <a:cxn ang="0">
                      <a:pos x="0" y="7"/>
                    </a:cxn>
                    <a:cxn ang="0">
                      <a:pos x="3" y="12"/>
                    </a:cxn>
                    <a:cxn ang="0">
                      <a:pos x="37" y="28"/>
                    </a:cxn>
                    <a:cxn ang="0">
                      <a:pos x="45" y="27"/>
                    </a:cxn>
                    <a:cxn ang="0">
                      <a:pos x="51" y="28"/>
                    </a:cxn>
                    <a:cxn ang="0">
                      <a:pos x="53" y="26"/>
                    </a:cxn>
                    <a:cxn ang="0">
                      <a:pos x="47" y="21"/>
                    </a:cxn>
                    <a:cxn ang="0">
                      <a:pos x="45" y="16"/>
                    </a:cxn>
                    <a:cxn ang="0">
                      <a:pos x="43" y="17"/>
                    </a:cxn>
                    <a:cxn ang="0">
                      <a:pos x="45" y="21"/>
                    </a:cxn>
                    <a:cxn ang="0">
                      <a:pos x="50" y="26"/>
                    </a:cxn>
                    <a:cxn ang="0">
                      <a:pos x="45" y="25"/>
                    </a:cxn>
                    <a:cxn ang="0">
                      <a:pos x="39" y="26"/>
                    </a:cxn>
                    <a:cxn ang="0">
                      <a:pos x="40" y="21"/>
                    </a:cxn>
                    <a:cxn ang="0">
                      <a:pos x="42" y="17"/>
                    </a:cxn>
                    <a:cxn ang="0">
                      <a:pos x="39" y="18"/>
                    </a:cxn>
                    <a:cxn ang="0">
                      <a:pos x="37" y="21"/>
                    </a:cxn>
                    <a:cxn ang="0">
                      <a:pos x="36" y="25"/>
                    </a:cxn>
                    <a:cxn ang="0">
                      <a:pos x="4" y="10"/>
                    </a:cxn>
                    <a:cxn ang="0">
                      <a:pos x="3" y="7"/>
                    </a:cxn>
                    <a:cxn ang="0">
                      <a:pos x="4" y="3"/>
                    </a:cxn>
                    <a:cxn ang="0">
                      <a:pos x="7" y="0"/>
                    </a:cxn>
                    <a:cxn ang="0">
                      <a:pos x="5" y="0"/>
                    </a:cxn>
                  </a:cxnLst>
                  <a:rect l="0" t="0" r="0" b="0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8" name="Freeform 31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1" y="3"/>
                    </a:cxn>
                    <a:cxn ang="0">
                      <a:pos x="0" y="7"/>
                    </a:cxn>
                    <a:cxn ang="0">
                      <a:pos x="2" y="9"/>
                    </a:cxn>
                    <a:cxn ang="0">
                      <a:pos x="3" y="10"/>
                    </a:cxn>
                    <a:cxn ang="0">
                      <a:pos x="3" y="4"/>
                    </a:cxn>
                    <a:cxn ang="0">
                      <a:pos x="5" y="0"/>
                    </a:cxn>
                    <a:cxn ang="0">
                      <a:pos x="4" y="0"/>
                    </a:cxn>
                  </a:cxnLst>
                  <a:rect l="0" t="0" r="0" b="0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9" name="Freeform 32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7" y="28"/>
                    </a:cxn>
                    <a:cxn ang="0">
                      <a:pos x="0" y="4"/>
                    </a:cxn>
                    <a:cxn ang="0">
                      <a:pos x="3" y="2"/>
                    </a:cxn>
                    <a:cxn ang="0">
                      <a:pos x="9" y="0"/>
                    </a:cxn>
                    <a:cxn ang="0">
                      <a:pos x="13" y="2"/>
                    </a:cxn>
                    <a:cxn ang="0">
                      <a:pos x="21" y="38"/>
                    </a:cxn>
                    <a:cxn ang="0">
                      <a:pos x="18" y="35"/>
                    </a:cxn>
                    <a:cxn ang="0">
                      <a:pos x="12" y="4"/>
                    </a:cxn>
                    <a:cxn ang="0">
                      <a:pos x="8" y="2"/>
                    </a:cxn>
                    <a:cxn ang="0">
                      <a:pos x="4" y="3"/>
                    </a:cxn>
                    <a:cxn ang="0">
                      <a:pos x="3" y="5"/>
                    </a:cxn>
                    <a:cxn ang="0">
                      <a:pos x="10" y="29"/>
                    </a:cxn>
                    <a:cxn ang="0">
                      <a:pos x="7" y="28"/>
                    </a:cxn>
                  </a:cxnLst>
                  <a:rect l="0" t="0" r="0" b="0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0" name="Freeform 33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3" y="7"/>
                    </a:cxn>
                    <a:cxn ang="0">
                      <a:pos x="4" y="10"/>
                    </a:cxn>
                    <a:cxn ang="0">
                      <a:pos x="4" y="16"/>
                    </a:cxn>
                    <a:cxn ang="0">
                      <a:pos x="6" y="16"/>
                    </a:cxn>
                    <a:cxn ang="0">
                      <a:pos x="6" y="12"/>
                    </a:cxn>
                    <a:cxn ang="0">
                      <a:pos x="6" y="7"/>
                    </a:cxn>
                    <a:cxn ang="0">
                      <a:pos x="4" y="2"/>
                    </a:cxn>
                    <a:cxn ang="0">
                      <a:pos x="2" y="0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1" name="Freeform 3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9" y="1"/>
                    </a:cxn>
                    <a:cxn ang="0">
                      <a:pos x="8" y="3"/>
                    </a:cxn>
                    <a:cxn ang="0">
                      <a:pos x="0" y="6"/>
                    </a:cxn>
                    <a:cxn ang="0">
                      <a:pos x="0" y="7"/>
                    </a:cxn>
                    <a:cxn ang="0">
                      <a:pos x="9" y="8"/>
                    </a:cxn>
                    <a:cxn ang="0">
                      <a:pos x="10" y="9"/>
                    </a:cxn>
                    <a:cxn ang="0">
                      <a:pos x="13" y="9"/>
                    </a:cxn>
                    <a:cxn ang="0">
                      <a:pos x="12" y="6"/>
                    </a:cxn>
                    <a:cxn ang="0">
                      <a:pos x="4" y="6"/>
                    </a:cxn>
                    <a:cxn ang="0">
                      <a:pos x="11" y="3"/>
                    </a:cxn>
                    <a:cxn ang="0">
                      <a:pos x="10" y="0"/>
                    </a:cxn>
                  </a:cxnLst>
                  <a:rect l="0" t="0" r="0" b="0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2" name="Freeform 3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27" y="0"/>
                    </a:cxn>
                    <a:cxn ang="0">
                      <a:pos x="29" y="3"/>
                    </a:cxn>
                    <a:cxn ang="0">
                      <a:pos x="30" y="6"/>
                    </a:cxn>
                    <a:cxn ang="0">
                      <a:pos x="29" y="9"/>
                    </a:cxn>
                    <a:cxn ang="0">
                      <a:pos x="2" y="14"/>
                    </a:cxn>
                    <a:cxn ang="0">
                      <a:pos x="2" y="12"/>
                    </a:cxn>
                    <a:cxn ang="0">
                      <a:pos x="27" y="8"/>
                    </a:cxn>
                    <a:cxn ang="0">
                      <a:pos x="28" y="5"/>
                    </a:cxn>
                    <a:cxn ang="0">
                      <a:pos x="27" y="2"/>
                    </a:cxn>
                    <a:cxn ang="0">
                      <a:pos x="0" y="6"/>
                    </a:cxn>
                    <a:cxn ang="0">
                      <a:pos x="0" y="5"/>
                    </a:cxn>
                  </a:cxnLst>
                  <a:rect l="0" t="0" r="0" b="0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3" name="Freeform 36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3" y="5"/>
                    </a:cxn>
                    <a:cxn ang="0">
                      <a:pos x="7" y="5"/>
                    </a:cxn>
                    <a:cxn ang="0">
                      <a:pos x="14" y="3"/>
                    </a:cxn>
                    <a:cxn ang="0">
                      <a:pos x="16" y="1"/>
                    </a:cxn>
                    <a:cxn ang="0">
                      <a:pos x="14" y="0"/>
                    </a:cxn>
                    <a:cxn ang="0">
                      <a:pos x="8" y="0"/>
                    </a:cxn>
                    <a:cxn ang="0">
                      <a:pos x="4" y="0"/>
                    </a:cxn>
                    <a:cxn ang="0">
                      <a:pos x="1" y="2"/>
                    </a:cxn>
                    <a:cxn ang="0">
                      <a:pos x="4" y="2"/>
                    </a:cxn>
                    <a:cxn ang="0">
                      <a:pos x="9" y="1"/>
                    </a:cxn>
                    <a:cxn ang="0">
                      <a:pos x="14" y="1"/>
                    </a:cxn>
                    <a:cxn ang="0">
                      <a:pos x="9" y="3"/>
                    </a:cxn>
                    <a:cxn ang="0">
                      <a:pos x="5" y="3"/>
                    </a:cxn>
                    <a:cxn ang="0">
                      <a:pos x="0" y="3"/>
                    </a:cxn>
                  </a:cxnLst>
                  <a:rect l="0" t="0" r="0" b="0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1" y="50"/>
                </a:cxn>
                <a:cxn ang="0">
                  <a:pos x="1" y="47"/>
                </a:cxn>
                <a:cxn ang="0">
                  <a:pos x="1" y="44"/>
                </a:cxn>
                <a:cxn ang="0">
                  <a:pos x="1" y="41"/>
                </a:cxn>
                <a:cxn ang="0">
                  <a:pos x="1" y="36"/>
                </a:cxn>
                <a:cxn ang="0">
                  <a:pos x="1" y="33"/>
                </a:cxn>
                <a:cxn ang="0">
                  <a:pos x="1" y="31"/>
                </a:cxn>
                <a:cxn ang="0">
                  <a:pos x="1" y="30"/>
                </a:cxn>
                <a:cxn ang="0">
                  <a:pos x="1" y="28"/>
                </a:cxn>
                <a:cxn ang="0">
                  <a:pos x="1" y="25"/>
                </a:cxn>
                <a:cxn ang="0">
                  <a:pos x="1" y="18"/>
                </a:cxn>
                <a:cxn ang="0">
                  <a:pos x="1" y="15"/>
                </a:cxn>
                <a:cxn ang="0">
                  <a:pos x="1" y="11"/>
                </a:cxn>
                <a:cxn ang="0">
                  <a:pos x="1" y="10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0" y="10"/>
                </a:cxn>
                <a:cxn ang="0">
                  <a:pos x="1" y="12"/>
                </a:cxn>
                <a:cxn ang="0">
                  <a:pos x="1" y="13"/>
                </a:cxn>
                <a:cxn ang="0">
                  <a:pos x="1" y="17"/>
                </a:cxn>
                <a:cxn ang="0">
                  <a:pos x="1" y="20"/>
                </a:cxn>
                <a:cxn ang="0">
                  <a:pos x="0" y="26"/>
                </a:cxn>
                <a:cxn ang="0">
                  <a:pos x="0" y="30"/>
                </a:cxn>
                <a:cxn ang="0">
                  <a:pos x="1" y="33"/>
                </a:cxn>
                <a:cxn ang="0">
                  <a:pos x="1" y="35"/>
                </a:cxn>
                <a:cxn ang="0">
                  <a:pos x="0" y="39"/>
                </a:cxn>
                <a:cxn ang="0">
                  <a:pos x="0" y="43"/>
                </a:cxn>
                <a:cxn ang="0">
                  <a:pos x="0" y="48"/>
                </a:cxn>
                <a:cxn ang="0">
                  <a:pos x="1" y="50"/>
                </a:cxn>
                <a:cxn ang="0">
                  <a:pos x="1" y="52"/>
                </a:cxn>
                <a:cxn ang="0">
                  <a:pos x="1" y="50"/>
                </a:cxn>
              </a:cxnLst>
              <a:rect l="0" t="0" r="0" b="0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Freeform 3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1" y="99"/>
                </a:cxn>
                <a:cxn ang="0">
                  <a:pos x="1" y="93"/>
                </a:cxn>
                <a:cxn ang="0">
                  <a:pos x="1" y="87"/>
                </a:cxn>
                <a:cxn ang="0">
                  <a:pos x="1" y="80"/>
                </a:cxn>
                <a:cxn ang="0">
                  <a:pos x="1" y="71"/>
                </a:cxn>
                <a:cxn ang="0">
                  <a:pos x="1" y="65"/>
                </a:cxn>
                <a:cxn ang="0">
                  <a:pos x="1" y="61"/>
                </a:cxn>
                <a:cxn ang="0">
                  <a:pos x="1" y="59"/>
                </a:cxn>
                <a:cxn ang="0">
                  <a:pos x="1" y="55"/>
                </a:cxn>
                <a:cxn ang="0">
                  <a:pos x="1" y="50"/>
                </a:cxn>
                <a:cxn ang="0">
                  <a:pos x="1" y="37"/>
                </a:cxn>
                <a:cxn ang="0">
                  <a:pos x="1" y="30"/>
                </a:cxn>
                <a:cxn ang="0">
                  <a:pos x="1" y="23"/>
                </a:cxn>
                <a:cxn ang="0">
                  <a:pos x="1" y="19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20"/>
                </a:cxn>
                <a:cxn ang="0">
                  <a:pos x="1" y="24"/>
                </a:cxn>
                <a:cxn ang="0">
                  <a:pos x="1" y="27"/>
                </a:cxn>
                <a:cxn ang="0">
                  <a:pos x="1" y="33"/>
                </a:cxn>
                <a:cxn ang="0">
                  <a:pos x="1" y="40"/>
                </a:cxn>
                <a:cxn ang="0">
                  <a:pos x="0" y="52"/>
                </a:cxn>
                <a:cxn ang="0">
                  <a:pos x="0" y="60"/>
                </a:cxn>
                <a:cxn ang="0">
                  <a:pos x="1" y="65"/>
                </a:cxn>
                <a:cxn ang="0">
                  <a:pos x="1" y="69"/>
                </a:cxn>
                <a:cxn ang="0">
                  <a:pos x="0" y="77"/>
                </a:cxn>
                <a:cxn ang="0">
                  <a:pos x="0" y="85"/>
                </a:cxn>
                <a:cxn ang="0">
                  <a:pos x="0" y="94"/>
                </a:cxn>
                <a:cxn ang="0">
                  <a:pos x="1" y="99"/>
                </a:cxn>
                <a:cxn ang="0">
                  <a:pos x="1" y="103"/>
                </a:cxn>
                <a:cxn ang="0">
                  <a:pos x="1" y="99"/>
                </a:cxn>
              </a:cxnLst>
              <a:rect l="0" t="0" r="0" b="0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0" y="5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 userDrawn="1"/>
              </p:nvSpPr>
              <p:spPr>
                <a:xfrm rot="-3172564">
                  <a:off x="4965" y="70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2" name="Freeform 45"/>
                <p:cNvSpPr/>
                <p:nvPr userDrawn="1"/>
              </p:nvSpPr>
              <p:spPr>
                <a:xfrm rot="-3172564">
                  <a:off x="5049" y="328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1" y="2"/>
                    </a:cxn>
                    <a:cxn ang="0">
                      <a:pos x="0" y="4"/>
                    </a:cxn>
                    <a:cxn ang="0">
                      <a:pos x="0" y="6"/>
                    </a:cxn>
                    <a:cxn ang="0">
                      <a:pos x="0" y="7"/>
                    </a:cxn>
                    <a:cxn ang="0">
                      <a:pos x="0" y="7"/>
                    </a:cxn>
                    <a:cxn ang="0">
                      <a:pos x="1" y="5"/>
                    </a:cxn>
                    <a:cxn ang="0">
                      <a:pos x="1" y="3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2"/>
                    </a:cxn>
                    <a:cxn ang="0">
                      <a:pos x="1" y="4"/>
                    </a:cxn>
                    <a:cxn ang="0">
                      <a:pos x="1" y="6"/>
                    </a:cxn>
                    <a:cxn ang="0">
                      <a:pos x="0" y="6"/>
                    </a:cxn>
                    <a:cxn ang="0">
                      <a:pos x="0" y="5"/>
                    </a:cxn>
                    <a:cxn ang="0">
                      <a:pos x="1" y="3"/>
                    </a:cxn>
                    <a:cxn ang="0">
                      <a:pos x="1" y="1"/>
                    </a:cxn>
                    <a:cxn ang="0">
                      <a:pos x="1" y="1"/>
                    </a:cxn>
                  </a:cxnLst>
                  <a:rect l="0" t="0" r="0" b="0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3" name="Freeform 46"/>
                <p:cNvSpPr/>
                <p:nvPr userDrawn="1"/>
              </p:nvSpPr>
              <p:spPr>
                <a:xfrm rot="-3172564">
                  <a:off x="4859" y="178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15"/>
                    </a:cxn>
                    <a:cxn ang="0">
                      <a:pos x="0" y="14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0" b="0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" name="Freeform 47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1" y="16"/>
                    </a:cxn>
                    <a:cxn ang="0">
                      <a:pos x="1" y="17"/>
                    </a:cxn>
                    <a:cxn ang="0">
                      <a:pos x="1" y="16"/>
                    </a:cxn>
                    <a:cxn ang="0">
                      <a:pos x="1" y="15"/>
                    </a:cxn>
                    <a:cxn ang="0">
                      <a:pos x="1" y="16"/>
                    </a:cxn>
                    <a:cxn ang="0">
                      <a:pos x="1" y="16"/>
                    </a:cxn>
                    <a:cxn ang="0">
                      <a:pos x="3" y="2"/>
                    </a:cxn>
                    <a:cxn ang="0">
                      <a:pos x="3" y="1"/>
                    </a:cxn>
                    <a:cxn ang="0">
                      <a:pos x="2" y="0"/>
                    </a:cxn>
                    <a:cxn ang="0">
                      <a:pos x="3" y="0"/>
                    </a:cxn>
                    <a:cxn ang="0">
                      <a:pos x="3" y="2"/>
                    </a:cxn>
                    <a:cxn ang="0">
                      <a:pos x="1" y="19"/>
                    </a:cxn>
                    <a:cxn ang="0">
                      <a:pos x="1" y="20"/>
                    </a:cxn>
                    <a:cxn ang="0">
                      <a:pos x="0" y="22"/>
                    </a:cxn>
                    <a:cxn ang="0">
                      <a:pos x="0" y="21"/>
                    </a:cxn>
                    <a:cxn ang="0">
                      <a:pos x="0" y="21"/>
                    </a:cxn>
                    <a:cxn ang="0">
                      <a:pos x="1" y="20"/>
                    </a:cxn>
                    <a:cxn ang="0">
                      <a:pos x="0" y="19"/>
                    </a:cxn>
                    <a:cxn ang="0">
                      <a:pos x="0" y="18"/>
                    </a:cxn>
                    <a:cxn ang="0">
                      <a:pos x="1" y="19"/>
                    </a:cxn>
                    <a:cxn ang="0">
                      <a:pos x="1" y="18"/>
                    </a:cxn>
                    <a:cxn ang="0">
                      <a:pos x="1" y="19"/>
                    </a:cxn>
                    <a:cxn ang="0">
                      <a:pos x="1" y="18"/>
                    </a:cxn>
                    <a:cxn ang="0">
                      <a:pos x="1" y="18"/>
                    </a:cxn>
                    <a:cxn ang="0">
                      <a:pos x="0" y="16"/>
                    </a:cxn>
                  </a:cxnLst>
                  <a:rect l="0" t="0" r="0" b="0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" name="Freeform 48"/>
                <p:cNvSpPr/>
                <p:nvPr userDrawn="1"/>
              </p:nvSpPr>
              <p:spPr>
                <a:xfrm rot="-3172564">
                  <a:off x="5298" y="893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" name="Freeform 49"/>
                <p:cNvSpPr/>
                <p:nvPr userDrawn="1"/>
              </p:nvSpPr>
              <p:spPr>
                <a:xfrm rot="-3172564">
                  <a:off x="5252" y="802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7" name="Freeform 50"/>
                <p:cNvSpPr/>
                <p:nvPr userDrawn="1"/>
              </p:nvSpPr>
              <p:spPr>
                <a:xfrm rot="-3172564">
                  <a:off x="4984" y="209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3"/>
                    </a:cxn>
                    <a:cxn ang="0">
                      <a:pos x="1" y="2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8" name="Freeform 51"/>
                <p:cNvSpPr/>
                <p:nvPr userDrawn="1"/>
              </p:nvSpPr>
              <p:spPr>
                <a:xfrm rot="-3172564">
                  <a:off x="4948" y="138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7.wav"/><Relationship Id="rId4" Type="http://schemas.openxmlformats.org/officeDocument/2006/relationships/audio" Target="../media/audio6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2.wav"/><Relationship Id="rId4" Type="http://schemas.openxmlformats.org/officeDocument/2006/relationships/audio" Target="../media/audio7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8.wav"/><Relationship Id="rId5" Type="http://schemas.openxmlformats.org/officeDocument/2006/relationships/audio" Target="../media/audio3.wav"/><Relationship Id="rId4" Type="http://schemas.openxmlformats.org/officeDocument/2006/relationships/audio" Target="../media/audio7.wav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8.wav"/><Relationship Id="rId5" Type="http://schemas.openxmlformats.org/officeDocument/2006/relationships/audio" Target="../media/audio6.wav"/><Relationship Id="rId4" Type="http://schemas.openxmlformats.org/officeDocument/2006/relationships/audio" Target="../media/audio7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6.wav"/><Relationship Id="rId4" Type="http://schemas.openxmlformats.org/officeDocument/2006/relationships/audio" Target="../media/audio3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6.wav"/><Relationship Id="rId4" Type="http://schemas.openxmlformats.org/officeDocument/2006/relationships/audio" Target="../media/audio3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6.wav"/><Relationship Id="rId5" Type="http://schemas.openxmlformats.org/officeDocument/2006/relationships/audio" Target="../media/audio5.wav"/><Relationship Id="rId4" Type="http://schemas.openxmlformats.org/officeDocument/2006/relationships/audio" Target="../media/audio3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6.wav"/><Relationship Id="rId5" Type="http://schemas.openxmlformats.org/officeDocument/2006/relationships/audio" Target="../media/audio5.wav"/><Relationship Id="rId4" Type="http://schemas.openxmlformats.org/officeDocument/2006/relationships/audio" Target="../media/audio3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ist.gov/dads/HTML/two34tree.html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ist.gov/dads/HTML/two3tree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3.png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Ch4.Tree(III)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AVL Tree &amp; B-Tree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5"/>
          <p:cNvSpPr txBox="1"/>
          <p:nvPr/>
        </p:nvSpPr>
        <p:spPr>
          <a:xfrm>
            <a:off x="914400" y="2057400"/>
            <a:ext cx="7162800" cy="1127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244600" lvl="0" indent="-124460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Target :</a:t>
            </a:r>
            <a:r>
              <a:rPr lang="en-US" altLang="zh-CN" sz="2400" b="1" dirty="0"/>
              <a:t>  </a:t>
            </a:r>
            <a:r>
              <a:rPr lang="en-US" altLang="zh-CN" sz="2400" dirty="0"/>
              <a:t>Speed up searching (with insertion   </a:t>
            </a:r>
          </a:p>
          <a:p>
            <a:pPr marL="1244600" lvl="0" indent="-1244600" eaLnBrk="1" hangingPunct="1">
              <a:spcBef>
                <a:spcPct val="50000"/>
              </a:spcBef>
              <a:buNone/>
            </a:pPr>
            <a:r>
              <a:rPr lang="en-US" altLang="zh-CN" sz="2400" dirty="0"/>
              <a:t>                      and deletion)</a:t>
            </a:r>
          </a:p>
        </p:txBody>
      </p:sp>
      <p:sp>
        <p:nvSpPr>
          <p:cNvPr id="16387" name="Text Box 8"/>
          <p:cNvSpPr txBox="1"/>
          <p:nvPr/>
        </p:nvSpPr>
        <p:spPr>
          <a:xfrm>
            <a:off x="838200" y="3505200"/>
            <a:ext cx="44958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Tool :</a:t>
            </a:r>
            <a:r>
              <a:rPr lang="en-US" altLang="zh-CN" sz="2400" b="1" dirty="0"/>
              <a:t>  </a:t>
            </a:r>
            <a:r>
              <a:rPr lang="en-US" altLang="zh-CN" sz="2400" dirty="0"/>
              <a:t>Binary search trees</a:t>
            </a:r>
          </a:p>
        </p:txBody>
      </p:sp>
      <p:grpSp>
        <p:nvGrpSpPr>
          <p:cNvPr id="16388" name="Group 9"/>
          <p:cNvGrpSpPr/>
          <p:nvPr/>
        </p:nvGrpSpPr>
        <p:grpSpPr>
          <a:xfrm>
            <a:off x="5791200" y="3429000"/>
            <a:ext cx="2971800" cy="914400"/>
            <a:chOff x="1776" y="3024"/>
            <a:chExt cx="1872" cy="576"/>
          </a:xfrm>
        </p:grpSpPr>
        <p:sp>
          <p:nvSpPr>
            <p:cNvPr id="16390" name="Oval 10"/>
            <p:cNvSpPr/>
            <p:nvPr/>
          </p:nvSpPr>
          <p:spPr>
            <a:xfrm>
              <a:off x="2448" y="3024"/>
              <a:ext cx="528" cy="193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root</a:t>
              </a:r>
            </a:p>
          </p:txBody>
        </p:sp>
        <p:sp>
          <p:nvSpPr>
            <p:cNvPr id="16391" name="Oval 11"/>
            <p:cNvSpPr/>
            <p:nvPr/>
          </p:nvSpPr>
          <p:spPr>
            <a:xfrm>
              <a:off x="1776" y="3360"/>
              <a:ext cx="768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small</a:t>
              </a:r>
            </a:p>
          </p:txBody>
        </p:sp>
        <p:sp>
          <p:nvSpPr>
            <p:cNvPr id="16392" name="Line 12"/>
            <p:cNvSpPr/>
            <p:nvPr/>
          </p:nvSpPr>
          <p:spPr>
            <a:xfrm flipH="1">
              <a:off x="2256" y="3194"/>
              <a:ext cx="288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6393" name="Oval 13"/>
            <p:cNvSpPr/>
            <p:nvPr/>
          </p:nvSpPr>
          <p:spPr>
            <a:xfrm flipH="1">
              <a:off x="2880" y="3360"/>
              <a:ext cx="768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large</a:t>
              </a:r>
            </a:p>
          </p:txBody>
        </p:sp>
        <p:sp>
          <p:nvSpPr>
            <p:cNvPr id="16394" name="Line 14"/>
            <p:cNvSpPr/>
            <p:nvPr/>
          </p:nvSpPr>
          <p:spPr>
            <a:xfrm>
              <a:off x="2880" y="3194"/>
              <a:ext cx="288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6389" name="Text Box 17"/>
          <p:cNvSpPr txBox="1"/>
          <p:nvPr/>
        </p:nvSpPr>
        <p:spPr>
          <a:xfrm>
            <a:off x="914400" y="4800600"/>
            <a:ext cx="7543800" cy="1127125"/>
          </a:xfrm>
          <a:prstGeom prst="rect">
            <a:avLst/>
          </a:prstGeom>
          <a:noFill/>
          <a:ln w="25400">
            <a:noFill/>
          </a:ln>
        </p:spPr>
        <p:txBody>
          <a:bodyPr lIns="90000" tIns="46800" rIns="9000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438275" lvl="0" indent="-1438275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Problem :</a:t>
            </a:r>
            <a:r>
              <a:rPr lang="en-US" altLang="zh-CN" sz="2400" dirty="0"/>
              <a:t> Although </a:t>
            </a:r>
            <a:r>
              <a:rPr lang="en-US" altLang="zh-CN" sz="2400" i="1" dirty="0"/>
              <a:t>T</a:t>
            </a:r>
            <a:r>
              <a:rPr lang="en-US" altLang="zh-CN" sz="2400" i="1" baseline="-25000" dirty="0"/>
              <a:t>p</a:t>
            </a:r>
            <a:r>
              <a:rPr lang="en-US" altLang="zh-CN" sz="2400" dirty="0"/>
              <a:t> = </a:t>
            </a:r>
            <a:r>
              <a:rPr lang="en-US" altLang="zh-CN" sz="2400" dirty="0">
                <a:solidFill>
                  <a:schemeClr val="hlink"/>
                </a:solidFill>
              </a:rPr>
              <a:t>O( height ),</a:t>
            </a:r>
            <a:r>
              <a:rPr lang="en-US" altLang="zh-CN" sz="2400" dirty="0"/>
              <a:t> but the </a:t>
            </a:r>
          </a:p>
          <a:p>
            <a:pPr marL="1438275" lvl="0" indent="-1438275" eaLnBrk="1" hangingPunct="1">
              <a:spcBef>
                <a:spcPct val="50000"/>
              </a:spcBef>
              <a:buNone/>
            </a:pPr>
            <a:r>
              <a:rPr lang="en-US" altLang="zh-CN" sz="2400" dirty="0"/>
              <a:t>                      height can be as bad as </a:t>
            </a:r>
            <a:r>
              <a:rPr lang="en-US" altLang="zh-CN" sz="2400" dirty="0">
                <a:solidFill>
                  <a:schemeClr val="hlink"/>
                </a:solidFill>
              </a:rPr>
              <a:t>O( </a:t>
            </a:r>
            <a:r>
              <a:rPr lang="en-US" altLang="zh-CN" sz="2400" i="1" dirty="0">
                <a:solidFill>
                  <a:schemeClr val="hlink"/>
                </a:solidFill>
              </a:rPr>
              <a:t>N</a:t>
            </a:r>
            <a:r>
              <a:rPr lang="en-US" altLang="zh-CN" sz="2400" dirty="0">
                <a:solidFill>
                  <a:schemeClr val="hlink"/>
                </a:solidFill>
              </a:rPr>
              <a:t> 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6" name="Text Box 60"/>
          <p:cNvSpPr txBox="1"/>
          <p:nvPr/>
        </p:nvSpPr>
        <p:spPr>
          <a:xfrm>
            <a:off x="5257800" y="1295400"/>
            <a:ext cx="3429000" cy="457200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Average search time =  ?</a:t>
            </a:r>
          </a:p>
        </p:txBody>
      </p:sp>
      <p:sp>
        <p:nvSpPr>
          <p:cNvPr id="34877" name="Rectangle 61"/>
          <p:cNvSpPr/>
          <p:nvPr/>
        </p:nvSpPr>
        <p:spPr>
          <a:xfrm>
            <a:off x="8229600" y="1295400"/>
            <a:ext cx="533400" cy="4572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2.4</a:t>
            </a:r>
          </a:p>
        </p:txBody>
      </p:sp>
      <p:sp>
        <p:nvSpPr>
          <p:cNvPr id="34878" name="Text Box 62"/>
          <p:cNvSpPr txBox="1"/>
          <p:nvPr/>
        </p:nvSpPr>
        <p:spPr>
          <a:xfrm>
            <a:off x="5334000" y="4267200"/>
            <a:ext cx="3429000" cy="457200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Average search time =  ?</a:t>
            </a:r>
          </a:p>
        </p:txBody>
      </p:sp>
      <p:sp>
        <p:nvSpPr>
          <p:cNvPr id="34879" name="Rectangle 63"/>
          <p:cNvSpPr/>
          <p:nvPr/>
        </p:nvSpPr>
        <p:spPr>
          <a:xfrm>
            <a:off x="8305800" y="4267200"/>
            <a:ext cx="533400" cy="4572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</a:p>
        </p:txBody>
      </p:sp>
      <p:grpSp>
        <p:nvGrpSpPr>
          <p:cNvPr id="2" name="Group 7"/>
          <p:cNvGrpSpPr/>
          <p:nvPr/>
        </p:nvGrpSpPr>
        <p:grpSpPr>
          <a:xfrm>
            <a:off x="990600" y="914400"/>
            <a:ext cx="2209800" cy="1600200"/>
            <a:chOff x="1584" y="2352"/>
            <a:chExt cx="1392" cy="1008"/>
          </a:xfrm>
        </p:grpSpPr>
        <p:sp>
          <p:nvSpPr>
            <p:cNvPr id="17431" name="Oval 8"/>
            <p:cNvSpPr/>
            <p:nvPr/>
          </p:nvSpPr>
          <p:spPr>
            <a:xfrm>
              <a:off x="2160" y="2352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7432" name="Oval 9"/>
            <p:cNvSpPr/>
            <p:nvPr/>
          </p:nvSpPr>
          <p:spPr>
            <a:xfrm>
              <a:off x="2352" y="31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7433" name="Oval 10"/>
            <p:cNvSpPr/>
            <p:nvPr/>
          </p:nvSpPr>
          <p:spPr>
            <a:xfrm>
              <a:off x="2544" y="2736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7434" name="Line 11"/>
            <p:cNvSpPr/>
            <p:nvPr/>
          </p:nvSpPr>
          <p:spPr>
            <a:xfrm flipH="1">
              <a:off x="2496" y="2952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5" name="Oval 12"/>
            <p:cNvSpPr/>
            <p:nvPr/>
          </p:nvSpPr>
          <p:spPr>
            <a:xfrm flipH="1">
              <a:off x="2736" y="3120"/>
              <a:ext cx="240" cy="240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7436" name="Line 13"/>
            <p:cNvSpPr/>
            <p:nvPr/>
          </p:nvSpPr>
          <p:spPr>
            <a:xfrm>
              <a:off x="2736" y="2952"/>
              <a:ext cx="96" cy="16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7437" name="Group 14"/>
            <p:cNvGrpSpPr/>
            <p:nvPr/>
          </p:nvGrpSpPr>
          <p:grpSpPr>
            <a:xfrm>
              <a:off x="1584" y="2736"/>
              <a:ext cx="624" cy="624"/>
              <a:chOff x="1392" y="2928"/>
              <a:chExt cx="624" cy="624"/>
            </a:xfrm>
          </p:grpSpPr>
          <p:sp>
            <p:nvSpPr>
              <p:cNvPr id="17440" name="Oval 15"/>
              <p:cNvSpPr/>
              <p:nvPr/>
            </p:nvSpPr>
            <p:spPr>
              <a:xfrm>
                <a:off x="1584" y="2928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7441" name="Oval 16"/>
              <p:cNvSpPr/>
              <p:nvPr/>
            </p:nvSpPr>
            <p:spPr>
              <a:xfrm>
                <a:off x="1392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7442" name="Line 17"/>
              <p:cNvSpPr/>
              <p:nvPr/>
            </p:nvSpPr>
            <p:spPr>
              <a:xfrm flipH="1">
                <a:off x="153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43" name="Oval 18"/>
              <p:cNvSpPr/>
              <p:nvPr/>
            </p:nvSpPr>
            <p:spPr>
              <a:xfrm flipH="1">
                <a:off x="1776" y="331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7444" name="Line 19"/>
              <p:cNvSpPr/>
              <p:nvPr/>
            </p:nvSpPr>
            <p:spPr>
              <a:xfrm>
                <a:off x="1776" y="314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7438" name="Line 20"/>
            <p:cNvSpPr/>
            <p:nvPr/>
          </p:nvSpPr>
          <p:spPr>
            <a:xfrm flipH="1">
              <a:off x="1968" y="2544"/>
              <a:ext cx="21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7439" name="Line 21"/>
            <p:cNvSpPr/>
            <p:nvPr/>
          </p:nvSpPr>
          <p:spPr>
            <a:xfrm>
              <a:off x="2375" y="2544"/>
              <a:ext cx="218" cy="21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23"/>
          <p:cNvGrpSpPr/>
          <p:nvPr/>
        </p:nvGrpSpPr>
        <p:grpSpPr>
          <a:xfrm rot="1200000">
            <a:off x="1716088" y="3500438"/>
            <a:ext cx="2633662" cy="2482850"/>
            <a:chOff x="3504" y="2208"/>
            <a:chExt cx="1659" cy="1564"/>
          </a:xfrm>
        </p:grpSpPr>
        <p:grpSp>
          <p:nvGrpSpPr>
            <p:cNvPr id="17416" name="Group 24"/>
            <p:cNvGrpSpPr/>
            <p:nvPr/>
          </p:nvGrpSpPr>
          <p:grpSpPr>
            <a:xfrm rot="-1800000">
              <a:off x="3511" y="2209"/>
              <a:ext cx="819" cy="1443"/>
              <a:chOff x="3216" y="2304"/>
              <a:chExt cx="1008" cy="1776"/>
            </a:xfrm>
          </p:grpSpPr>
          <p:sp>
            <p:nvSpPr>
              <p:cNvPr id="17422" name="Oval 25"/>
              <p:cNvSpPr/>
              <p:nvPr/>
            </p:nvSpPr>
            <p:spPr>
              <a:xfrm>
                <a:off x="3408" y="2688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7423" name="Oval 26"/>
              <p:cNvSpPr/>
              <p:nvPr/>
            </p:nvSpPr>
            <p:spPr>
              <a:xfrm flipH="1">
                <a:off x="3600" y="3072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7424" name="Line 27"/>
              <p:cNvSpPr/>
              <p:nvPr/>
            </p:nvSpPr>
            <p:spPr>
              <a:xfrm>
                <a:off x="3600" y="2904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5" name="Oval 28"/>
              <p:cNvSpPr/>
              <p:nvPr/>
            </p:nvSpPr>
            <p:spPr>
              <a:xfrm>
                <a:off x="3216" y="2304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7426" name="Line 29"/>
              <p:cNvSpPr/>
              <p:nvPr/>
            </p:nvSpPr>
            <p:spPr>
              <a:xfrm>
                <a:off x="3408" y="2520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7" name="Oval 30"/>
              <p:cNvSpPr/>
              <p:nvPr/>
            </p:nvSpPr>
            <p:spPr>
              <a:xfrm>
                <a:off x="3792" y="345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7428" name="Oval 31"/>
              <p:cNvSpPr/>
              <p:nvPr/>
            </p:nvSpPr>
            <p:spPr>
              <a:xfrm flipH="1">
                <a:off x="3984" y="3840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7429" name="Line 32"/>
              <p:cNvSpPr/>
              <p:nvPr/>
            </p:nvSpPr>
            <p:spPr>
              <a:xfrm>
                <a:off x="3984" y="3672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30" name="Line 33"/>
              <p:cNvSpPr/>
              <p:nvPr/>
            </p:nvSpPr>
            <p:spPr>
              <a:xfrm>
                <a:off x="3792" y="3288"/>
                <a:ext cx="96" cy="16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7417" name="Group 34"/>
            <p:cNvGrpSpPr/>
            <p:nvPr/>
          </p:nvGrpSpPr>
          <p:grpSpPr>
            <a:xfrm>
              <a:off x="4603" y="3301"/>
              <a:ext cx="560" cy="471"/>
              <a:chOff x="4435" y="3180"/>
              <a:chExt cx="560" cy="471"/>
            </a:xfrm>
          </p:grpSpPr>
          <p:sp>
            <p:nvSpPr>
              <p:cNvPr id="17418" name="Oval 35"/>
              <p:cNvSpPr/>
              <p:nvPr/>
            </p:nvSpPr>
            <p:spPr>
              <a:xfrm rot="-1800000">
                <a:off x="4510" y="3265"/>
                <a:ext cx="195" cy="195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7419" name="Oval 36"/>
              <p:cNvSpPr/>
              <p:nvPr/>
            </p:nvSpPr>
            <p:spPr>
              <a:xfrm rot="-1800000" flipH="1">
                <a:off x="4800" y="3456"/>
                <a:ext cx="195" cy="195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7420" name="Line 37"/>
              <p:cNvSpPr/>
              <p:nvPr/>
            </p:nvSpPr>
            <p:spPr>
              <a:xfrm rot="-1800000">
                <a:off x="4725" y="3372"/>
                <a:ext cx="78" cy="13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7421" name="Line 38"/>
              <p:cNvSpPr/>
              <p:nvPr/>
            </p:nvSpPr>
            <p:spPr>
              <a:xfrm rot="-1800000">
                <a:off x="4435" y="3180"/>
                <a:ext cx="78" cy="13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76" grpId="0"/>
      <p:bldP spid="34877" grpId="0" animBg="1"/>
      <p:bldP spid="34878" grpId="0"/>
      <p:bldP spid="3487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954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AVL Trees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636588" y="1295400"/>
            <a:ext cx="8050212" cy="490696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400" b="1" dirty="0">
                <a:solidFill>
                  <a:schemeClr val="tx2"/>
                </a:solidFill>
              </a:rPr>
              <a:t>AVL trees </a:t>
            </a:r>
            <a:r>
              <a:rPr lang="en-US" altLang="zh-CN" sz="2400" b="1" dirty="0"/>
              <a:t>(Adelson-Velskii-Landis (AVL) Trees  (1962)) </a:t>
            </a:r>
            <a:r>
              <a:rPr lang="en-US" altLang="zh-CN" sz="2400" dirty="0"/>
              <a:t>are </a:t>
            </a:r>
            <a:r>
              <a:rPr lang="en-US" altLang="zh-CN" sz="2400" dirty="0">
                <a:solidFill>
                  <a:srgbClr val="0066FF"/>
                </a:solidFill>
              </a:rPr>
              <a:t>height-balanced</a:t>
            </a:r>
            <a:r>
              <a:rPr lang="en-US" altLang="zh-CN" sz="2400" dirty="0"/>
              <a:t> binary search trees</a:t>
            </a:r>
          </a:p>
          <a:p>
            <a:pPr eaLnBrk="1" hangingPunct="1"/>
            <a:r>
              <a:rPr lang="en-US" altLang="zh-CN" sz="2400" b="1" dirty="0">
                <a:solidFill>
                  <a:schemeClr val="tx2"/>
                </a:solidFill>
              </a:rPr>
              <a:t>Height Balanced:</a:t>
            </a:r>
            <a:r>
              <a:rPr lang="en-US" altLang="zh-CN" b="1" dirty="0"/>
              <a:t> </a:t>
            </a:r>
            <a:r>
              <a:rPr lang="en-US" altLang="zh-CN" sz="2000" dirty="0"/>
              <a:t>An empty binary tree is height balanced.  If </a:t>
            </a:r>
            <a:r>
              <a:rPr lang="en-US" altLang="zh-CN" sz="2000" i="1" dirty="0"/>
              <a:t>T</a:t>
            </a:r>
            <a:r>
              <a:rPr lang="en-US" altLang="zh-CN" sz="2000" dirty="0"/>
              <a:t> is a nonempty binary tree with </a:t>
            </a:r>
            <a:r>
              <a:rPr lang="en-US" altLang="zh-CN" sz="2000" i="1" dirty="0"/>
              <a:t>T</a:t>
            </a:r>
            <a:r>
              <a:rPr lang="en-US" altLang="zh-CN" sz="2000" i="1" baseline="-25000" dirty="0"/>
              <a:t>L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T</a:t>
            </a:r>
            <a:r>
              <a:rPr lang="en-US" altLang="zh-CN" sz="2000" i="1" baseline="-25000" dirty="0"/>
              <a:t>R</a:t>
            </a:r>
            <a:r>
              <a:rPr lang="en-US" altLang="zh-CN" sz="2000" dirty="0"/>
              <a:t> as its left and right subtrees, then T is </a:t>
            </a:r>
            <a:r>
              <a:rPr lang="en-US" altLang="zh-CN" sz="2000" dirty="0">
                <a:solidFill>
                  <a:schemeClr val="hlink"/>
                </a:solidFill>
              </a:rPr>
              <a:t>height balanced</a:t>
            </a:r>
            <a:r>
              <a:rPr lang="en-US" altLang="zh-CN" sz="2000" dirty="0"/>
              <a:t> iff</a:t>
            </a:r>
          </a:p>
          <a:p>
            <a:pPr eaLnBrk="1" hangingPunct="1">
              <a:buNone/>
            </a:pPr>
            <a:r>
              <a:rPr lang="en-US" altLang="zh-CN" sz="2000" dirty="0"/>
              <a:t>    (1)  </a:t>
            </a:r>
            <a:r>
              <a:rPr lang="en-US" altLang="zh-CN" sz="2000" i="1" dirty="0"/>
              <a:t>T</a:t>
            </a:r>
            <a:r>
              <a:rPr lang="en-US" altLang="zh-CN" sz="2000" i="1" baseline="-25000" dirty="0"/>
              <a:t>L</a:t>
            </a:r>
            <a:r>
              <a:rPr lang="en-US" altLang="zh-CN" sz="2000" dirty="0"/>
              <a:t> and </a:t>
            </a:r>
            <a:r>
              <a:rPr lang="en-US" altLang="zh-CN" sz="2000" i="1" dirty="0"/>
              <a:t>T</a:t>
            </a:r>
            <a:r>
              <a:rPr lang="en-US" altLang="zh-CN" sz="2000" i="1" baseline="-25000" dirty="0"/>
              <a:t>R</a:t>
            </a:r>
            <a:r>
              <a:rPr lang="en-US" altLang="zh-CN" sz="2000" dirty="0"/>
              <a:t> are height balanced, and</a:t>
            </a:r>
          </a:p>
          <a:p>
            <a:pPr eaLnBrk="1" hangingPunct="1">
              <a:buNone/>
            </a:pPr>
            <a:r>
              <a:rPr lang="en-US" altLang="zh-CN" sz="2000" dirty="0"/>
              <a:t>    (2)  | </a:t>
            </a:r>
            <a:r>
              <a:rPr lang="en-US" altLang="zh-CN" sz="2000" i="1" dirty="0"/>
              <a:t>h</a:t>
            </a:r>
            <a:r>
              <a:rPr lang="en-US" altLang="zh-CN" sz="2000" i="1" baseline="-25000" dirty="0"/>
              <a:t>L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</a:t>
            </a:r>
            <a:r>
              <a:rPr lang="en-US" altLang="zh-CN" sz="2000" dirty="0"/>
              <a:t> </a:t>
            </a:r>
            <a:r>
              <a:rPr lang="en-US" altLang="zh-CN" sz="2000" i="1" dirty="0"/>
              <a:t>h</a:t>
            </a:r>
            <a:r>
              <a:rPr lang="en-US" altLang="zh-CN" sz="2000" i="1" baseline="-25000" dirty="0"/>
              <a:t>R</a:t>
            </a:r>
            <a:r>
              <a:rPr lang="en-US" altLang="zh-CN" sz="2000" dirty="0"/>
              <a:t> | </a:t>
            </a:r>
            <a:r>
              <a:rPr lang="en-US" altLang="zh-CN" sz="2000" dirty="0">
                <a:sym typeface="Symbol" panose="05050102010706020507" pitchFamily="18" charset="2"/>
              </a:rPr>
              <a:t> 1 where  </a:t>
            </a:r>
            <a:r>
              <a:rPr lang="en-US" altLang="zh-CN" sz="2000" i="1" dirty="0"/>
              <a:t>h</a:t>
            </a:r>
            <a:r>
              <a:rPr lang="en-US" altLang="zh-CN" sz="2000" i="1" baseline="-25000" dirty="0"/>
              <a:t>L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and</a:t>
            </a:r>
            <a:r>
              <a:rPr lang="en-US" altLang="zh-CN" sz="2000" dirty="0"/>
              <a:t> </a:t>
            </a:r>
            <a:r>
              <a:rPr lang="en-US" altLang="zh-CN" sz="2000" i="1" dirty="0"/>
              <a:t>h</a:t>
            </a:r>
            <a:r>
              <a:rPr lang="en-US" altLang="zh-CN" sz="2000" i="1" baseline="-25000" dirty="0"/>
              <a:t>R</a:t>
            </a:r>
            <a:r>
              <a:rPr lang="en-US" altLang="zh-CN" sz="2000" dirty="0"/>
              <a:t> are the heights of </a:t>
            </a:r>
            <a:r>
              <a:rPr lang="en-US" altLang="zh-CN" sz="2000" i="1" dirty="0"/>
              <a:t>T</a:t>
            </a:r>
            <a:r>
              <a:rPr lang="en-US" altLang="zh-CN" sz="2000" i="1" baseline="-25000" dirty="0"/>
              <a:t>L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and</a:t>
            </a:r>
            <a:r>
              <a:rPr lang="en-US" altLang="zh-CN" sz="2000" dirty="0"/>
              <a:t> </a:t>
            </a:r>
            <a:r>
              <a:rPr lang="en-US" altLang="zh-CN" sz="2000" i="1" dirty="0"/>
              <a:t>T</a:t>
            </a:r>
            <a:r>
              <a:rPr lang="en-US" altLang="zh-CN" sz="2000" i="1" baseline="-25000" dirty="0"/>
              <a:t>R</a:t>
            </a:r>
            <a:r>
              <a:rPr lang="en-US" altLang="zh-CN" sz="2000" baseline="-25000" dirty="0"/>
              <a:t> </a:t>
            </a:r>
            <a:r>
              <a:rPr lang="en-US" altLang="zh-CN" sz="2000" dirty="0"/>
              <a:t>, respectively.</a:t>
            </a:r>
          </a:p>
          <a:p>
            <a:pPr eaLnBrk="1" hangingPunct="1"/>
            <a:r>
              <a:rPr lang="en-US" altLang="zh-CN" sz="2400" b="1" dirty="0">
                <a:solidFill>
                  <a:schemeClr val="tx2"/>
                </a:solidFill>
              </a:rPr>
              <a:t>Balance Factor:</a:t>
            </a:r>
            <a:r>
              <a:rPr lang="en-US" altLang="zh-CN" sz="2000" dirty="0"/>
              <a:t> The balance factor of a node is defined as </a:t>
            </a:r>
            <a:r>
              <a:rPr lang="en-US" altLang="zh-CN" sz="2000" i="1" dirty="0"/>
              <a:t>BF</a:t>
            </a:r>
            <a:r>
              <a:rPr lang="en-US" altLang="zh-CN" sz="2000" dirty="0"/>
              <a:t>( node ) = </a:t>
            </a:r>
            <a:r>
              <a:rPr lang="en-US" altLang="zh-CN" sz="2000" i="1" dirty="0"/>
              <a:t>h</a:t>
            </a:r>
            <a:r>
              <a:rPr lang="en-US" altLang="zh-CN" sz="2000" i="1" baseline="-25000" dirty="0"/>
              <a:t>L</a:t>
            </a:r>
            <a:r>
              <a:rPr lang="en-US" altLang="zh-CN" sz="2000" dirty="0"/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</a:t>
            </a:r>
            <a:r>
              <a:rPr lang="en-US" altLang="zh-CN" sz="2000" dirty="0"/>
              <a:t> </a:t>
            </a:r>
            <a:r>
              <a:rPr lang="en-US" altLang="zh-CN" sz="2000" i="1" dirty="0"/>
              <a:t>h</a:t>
            </a:r>
            <a:r>
              <a:rPr lang="en-US" altLang="zh-CN" sz="2000" i="1" baseline="-25000" dirty="0"/>
              <a:t>R</a:t>
            </a:r>
            <a:r>
              <a:rPr lang="en-US" altLang="zh-CN" sz="2000" dirty="0"/>
              <a:t> .  In an AVL tree, </a:t>
            </a:r>
            <a:r>
              <a:rPr lang="en-US" altLang="zh-CN" sz="2000" i="1" dirty="0"/>
              <a:t>BF</a:t>
            </a:r>
            <a:r>
              <a:rPr lang="en-US" altLang="zh-CN" sz="2000" dirty="0"/>
              <a:t>( node ) = </a:t>
            </a:r>
            <a:r>
              <a:rPr lang="en-US" altLang="zh-CN" sz="2000" dirty="0">
                <a:sym typeface="Symbol" panose="05050102010706020507" pitchFamily="18" charset="2"/>
              </a:rPr>
              <a:t>1, 0, or 1.</a:t>
            </a:r>
            <a:endParaRPr lang="en-US" altLang="zh-CN" sz="2000" dirty="0"/>
          </a:p>
          <a:p>
            <a:pPr eaLnBrk="1" hangingPunct="1">
              <a:buNone/>
            </a:pPr>
            <a:endParaRPr lang="en-US" altLang="zh-CN" sz="2000" dirty="0"/>
          </a:p>
          <a:p>
            <a:pPr eaLnBrk="1" hangingPunct="1"/>
            <a:endParaRPr lang="en-US" altLang="zh-CN" sz="2000" dirty="0"/>
          </a:p>
        </p:txBody>
      </p:sp>
      <p:sp>
        <p:nvSpPr>
          <p:cNvPr id="12293" name="AutoShape 5"/>
          <p:cNvSpPr/>
          <p:nvPr/>
        </p:nvSpPr>
        <p:spPr>
          <a:xfrm>
            <a:off x="5092700" y="3189288"/>
            <a:ext cx="3962400" cy="1371600"/>
          </a:xfrm>
          <a:prstGeom prst="wedgeEllipseCallout">
            <a:avLst>
              <a:gd name="adj1" fmla="val -57653"/>
              <a:gd name="adj2" fmla="val -90972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46800" rIns="3600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The height of an empty tree 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is defined to be –1.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3886200" y="5094288"/>
            <a:ext cx="1524000" cy="1676400"/>
            <a:chOff x="2064" y="2928"/>
            <a:chExt cx="960" cy="1056"/>
          </a:xfrm>
        </p:grpSpPr>
        <p:sp>
          <p:nvSpPr>
            <p:cNvPr id="18477" name="Oval 8"/>
            <p:cNvSpPr/>
            <p:nvPr/>
          </p:nvSpPr>
          <p:spPr>
            <a:xfrm>
              <a:off x="2544" y="292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478" name="Oval 9"/>
            <p:cNvSpPr/>
            <p:nvPr/>
          </p:nvSpPr>
          <p:spPr>
            <a:xfrm>
              <a:off x="2832" y="321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8479" name="Line 10"/>
            <p:cNvSpPr/>
            <p:nvPr/>
          </p:nvSpPr>
          <p:spPr>
            <a:xfrm>
              <a:off x="2736" y="3072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80" name="Oval 11"/>
            <p:cNvSpPr/>
            <p:nvPr/>
          </p:nvSpPr>
          <p:spPr>
            <a:xfrm flipH="1">
              <a:off x="2256" y="321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81" name="Oval 12"/>
            <p:cNvSpPr/>
            <p:nvPr/>
          </p:nvSpPr>
          <p:spPr>
            <a:xfrm flipH="1">
              <a:off x="2064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82" name="Line 13"/>
            <p:cNvSpPr/>
            <p:nvPr/>
          </p:nvSpPr>
          <p:spPr>
            <a:xfrm flipH="1">
              <a:off x="2400" y="3072"/>
              <a:ext cx="144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83" name="Line 14"/>
            <p:cNvSpPr/>
            <p:nvPr/>
          </p:nvSpPr>
          <p:spPr>
            <a:xfrm flipH="1">
              <a:off x="2208" y="340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84" name="Oval 15"/>
            <p:cNvSpPr/>
            <p:nvPr/>
          </p:nvSpPr>
          <p:spPr>
            <a:xfrm>
              <a:off x="2448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485" name="Line 16"/>
            <p:cNvSpPr/>
            <p:nvPr/>
          </p:nvSpPr>
          <p:spPr>
            <a:xfrm>
              <a:off x="2400" y="340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86" name="Oval 17"/>
            <p:cNvSpPr/>
            <p:nvPr/>
          </p:nvSpPr>
          <p:spPr>
            <a:xfrm flipH="1">
              <a:off x="2256" y="379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87" name="Line 18"/>
            <p:cNvSpPr/>
            <p:nvPr/>
          </p:nvSpPr>
          <p:spPr>
            <a:xfrm flipH="1">
              <a:off x="2400" y="3696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88" name="Oval 19"/>
            <p:cNvSpPr/>
            <p:nvPr/>
          </p:nvSpPr>
          <p:spPr>
            <a:xfrm flipH="1">
              <a:off x="2640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8489" name="Line 20"/>
            <p:cNvSpPr/>
            <p:nvPr/>
          </p:nvSpPr>
          <p:spPr>
            <a:xfrm flipH="1">
              <a:off x="2784" y="340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21"/>
          <p:cNvGrpSpPr/>
          <p:nvPr/>
        </p:nvGrpSpPr>
        <p:grpSpPr>
          <a:xfrm>
            <a:off x="6400800" y="5094288"/>
            <a:ext cx="1524000" cy="1676400"/>
            <a:chOff x="3888" y="2928"/>
            <a:chExt cx="960" cy="1056"/>
          </a:xfrm>
        </p:grpSpPr>
        <p:sp>
          <p:nvSpPr>
            <p:cNvPr id="18464" name="Oval 22"/>
            <p:cNvSpPr/>
            <p:nvPr/>
          </p:nvSpPr>
          <p:spPr>
            <a:xfrm>
              <a:off x="4368" y="292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8465" name="Oval 23"/>
            <p:cNvSpPr/>
            <p:nvPr/>
          </p:nvSpPr>
          <p:spPr>
            <a:xfrm>
              <a:off x="4656" y="321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8466" name="Line 24"/>
            <p:cNvSpPr/>
            <p:nvPr/>
          </p:nvSpPr>
          <p:spPr>
            <a:xfrm>
              <a:off x="4560" y="3072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7" name="Oval 25"/>
            <p:cNvSpPr/>
            <p:nvPr/>
          </p:nvSpPr>
          <p:spPr>
            <a:xfrm flipH="1">
              <a:off x="4080" y="321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68" name="Oval 26"/>
            <p:cNvSpPr/>
            <p:nvPr/>
          </p:nvSpPr>
          <p:spPr>
            <a:xfrm flipH="1">
              <a:off x="3888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69" name="Line 27"/>
            <p:cNvSpPr/>
            <p:nvPr/>
          </p:nvSpPr>
          <p:spPr>
            <a:xfrm flipH="1">
              <a:off x="4224" y="3072"/>
              <a:ext cx="144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0" name="Line 28"/>
            <p:cNvSpPr/>
            <p:nvPr/>
          </p:nvSpPr>
          <p:spPr>
            <a:xfrm flipH="1">
              <a:off x="4032" y="340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1" name="Oval 29"/>
            <p:cNvSpPr/>
            <p:nvPr/>
          </p:nvSpPr>
          <p:spPr>
            <a:xfrm>
              <a:off x="4272" y="350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472" name="Line 30"/>
            <p:cNvSpPr/>
            <p:nvPr/>
          </p:nvSpPr>
          <p:spPr>
            <a:xfrm>
              <a:off x="4224" y="340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3" name="Oval 31"/>
            <p:cNvSpPr/>
            <p:nvPr/>
          </p:nvSpPr>
          <p:spPr>
            <a:xfrm flipH="1">
              <a:off x="4080" y="379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74" name="Line 32"/>
            <p:cNvSpPr/>
            <p:nvPr/>
          </p:nvSpPr>
          <p:spPr>
            <a:xfrm flipH="1">
              <a:off x="4224" y="3696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75" name="Oval 33"/>
            <p:cNvSpPr/>
            <p:nvPr/>
          </p:nvSpPr>
          <p:spPr>
            <a:xfrm>
              <a:off x="4464" y="379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476" name="Line 34"/>
            <p:cNvSpPr/>
            <p:nvPr/>
          </p:nvSpPr>
          <p:spPr>
            <a:xfrm>
              <a:off x="4416" y="3696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35"/>
          <p:cNvGrpSpPr/>
          <p:nvPr/>
        </p:nvGrpSpPr>
        <p:grpSpPr>
          <a:xfrm>
            <a:off x="914400" y="5094288"/>
            <a:ext cx="2133600" cy="1676400"/>
            <a:chOff x="432" y="2976"/>
            <a:chExt cx="1344" cy="1056"/>
          </a:xfrm>
        </p:grpSpPr>
        <p:sp>
          <p:nvSpPr>
            <p:cNvPr id="18451" name="Oval 36"/>
            <p:cNvSpPr/>
            <p:nvPr/>
          </p:nvSpPr>
          <p:spPr>
            <a:xfrm>
              <a:off x="1008" y="297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452" name="Oval 37"/>
            <p:cNvSpPr/>
            <p:nvPr/>
          </p:nvSpPr>
          <p:spPr>
            <a:xfrm>
              <a:off x="1200" y="326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453" name="Oval 38"/>
            <p:cNvSpPr/>
            <p:nvPr/>
          </p:nvSpPr>
          <p:spPr>
            <a:xfrm>
              <a:off x="1392" y="355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8454" name="Line 39"/>
            <p:cNvSpPr/>
            <p:nvPr/>
          </p:nvSpPr>
          <p:spPr>
            <a:xfrm>
              <a:off x="1152" y="316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5" name="Line 40"/>
            <p:cNvSpPr/>
            <p:nvPr/>
          </p:nvSpPr>
          <p:spPr>
            <a:xfrm>
              <a:off x="1344" y="3456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6" name="Oval 41"/>
            <p:cNvSpPr/>
            <p:nvPr/>
          </p:nvSpPr>
          <p:spPr>
            <a:xfrm flipH="1">
              <a:off x="816" y="3264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57" name="Oval 42"/>
            <p:cNvSpPr/>
            <p:nvPr/>
          </p:nvSpPr>
          <p:spPr>
            <a:xfrm flipH="1">
              <a:off x="624" y="355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58" name="Line 43"/>
            <p:cNvSpPr/>
            <p:nvPr/>
          </p:nvSpPr>
          <p:spPr>
            <a:xfrm flipH="1">
              <a:off x="960" y="316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59" name="Line 44"/>
            <p:cNvSpPr/>
            <p:nvPr/>
          </p:nvSpPr>
          <p:spPr>
            <a:xfrm flipH="1">
              <a:off x="768" y="3456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0" name="Oval 45"/>
            <p:cNvSpPr/>
            <p:nvPr/>
          </p:nvSpPr>
          <p:spPr>
            <a:xfrm flipH="1">
              <a:off x="432" y="384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461" name="Line 46"/>
            <p:cNvSpPr/>
            <p:nvPr/>
          </p:nvSpPr>
          <p:spPr>
            <a:xfrm flipH="1">
              <a:off x="576" y="3744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8462" name="Oval 47"/>
            <p:cNvSpPr/>
            <p:nvPr/>
          </p:nvSpPr>
          <p:spPr>
            <a:xfrm>
              <a:off x="1584" y="384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8463" name="Line 48"/>
            <p:cNvSpPr/>
            <p:nvPr/>
          </p:nvSpPr>
          <p:spPr>
            <a:xfrm>
              <a:off x="1536" y="3744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49"/>
          <p:cNvGrpSpPr/>
          <p:nvPr/>
        </p:nvGrpSpPr>
        <p:grpSpPr>
          <a:xfrm>
            <a:off x="1676400" y="6465888"/>
            <a:ext cx="457200" cy="409575"/>
            <a:chOff x="1680" y="3744"/>
            <a:chExt cx="288" cy="258"/>
          </a:xfrm>
        </p:grpSpPr>
        <p:sp>
          <p:nvSpPr>
            <p:cNvPr id="18447" name="AutoShape 50"/>
            <p:cNvSpPr/>
            <p:nvPr/>
          </p:nvSpPr>
          <p:spPr>
            <a:xfrm>
              <a:off x="1731" y="3768"/>
              <a:ext cx="226" cy="234"/>
            </a:xfrm>
            <a:prstGeom prst="roundRect">
              <a:avLst>
                <a:gd name="adj" fmla="val 12102"/>
              </a:avLst>
            </a:prstGeom>
            <a:noFill/>
            <a:ln w="952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18448" name="Group 51"/>
            <p:cNvGrpSpPr/>
            <p:nvPr/>
          </p:nvGrpSpPr>
          <p:grpSpPr>
            <a:xfrm rot="-5400000" flipH="1">
              <a:off x="1704" y="3720"/>
              <a:ext cx="240" cy="288"/>
              <a:chOff x="1728" y="3696"/>
              <a:chExt cx="288" cy="288"/>
            </a:xfrm>
          </p:grpSpPr>
          <p:sp>
            <p:nvSpPr>
              <p:cNvPr id="18449" name="Line 52"/>
              <p:cNvSpPr/>
              <p:nvPr/>
            </p:nvSpPr>
            <p:spPr>
              <a:xfrm>
                <a:off x="1728" y="3744"/>
                <a:ext cx="192" cy="240"/>
              </a:xfrm>
              <a:prstGeom prst="line">
                <a:avLst/>
              </a:prstGeom>
              <a:ln w="1016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50" name="Line 53"/>
              <p:cNvSpPr/>
              <p:nvPr/>
            </p:nvSpPr>
            <p:spPr>
              <a:xfrm flipH="1">
                <a:off x="1728" y="3696"/>
                <a:ext cx="288" cy="240"/>
              </a:xfrm>
              <a:prstGeom prst="line">
                <a:avLst/>
              </a:prstGeom>
              <a:ln w="1016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7" name="Group 54"/>
          <p:cNvGrpSpPr/>
          <p:nvPr/>
        </p:nvGrpSpPr>
        <p:grpSpPr>
          <a:xfrm>
            <a:off x="7924800" y="6161088"/>
            <a:ext cx="457200" cy="409575"/>
            <a:chOff x="1680" y="3744"/>
            <a:chExt cx="288" cy="258"/>
          </a:xfrm>
        </p:grpSpPr>
        <p:sp>
          <p:nvSpPr>
            <p:cNvPr id="18443" name="AutoShape 55"/>
            <p:cNvSpPr/>
            <p:nvPr/>
          </p:nvSpPr>
          <p:spPr>
            <a:xfrm>
              <a:off x="1731" y="3768"/>
              <a:ext cx="226" cy="234"/>
            </a:xfrm>
            <a:prstGeom prst="roundRect">
              <a:avLst>
                <a:gd name="adj" fmla="val 12102"/>
              </a:avLst>
            </a:prstGeom>
            <a:noFill/>
            <a:ln w="9525" cap="flat" cmpd="sng">
              <a:solidFill>
                <a:srgbClr val="00FF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18444" name="Group 56"/>
            <p:cNvGrpSpPr/>
            <p:nvPr/>
          </p:nvGrpSpPr>
          <p:grpSpPr>
            <a:xfrm rot="-5400000" flipH="1">
              <a:off x="1704" y="3720"/>
              <a:ext cx="240" cy="288"/>
              <a:chOff x="1728" y="3696"/>
              <a:chExt cx="288" cy="288"/>
            </a:xfrm>
          </p:grpSpPr>
          <p:sp>
            <p:nvSpPr>
              <p:cNvPr id="18445" name="Line 57"/>
              <p:cNvSpPr/>
              <p:nvPr/>
            </p:nvSpPr>
            <p:spPr>
              <a:xfrm>
                <a:off x="1728" y="3744"/>
                <a:ext cx="192" cy="240"/>
              </a:xfrm>
              <a:prstGeom prst="line">
                <a:avLst/>
              </a:prstGeom>
              <a:ln w="1016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46" name="Line 58"/>
              <p:cNvSpPr/>
              <p:nvPr/>
            </p:nvSpPr>
            <p:spPr>
              <a:xfrm flipH="1">
                <a:off x="1728" y="3696"/>
                <a:ext cx="288" cy="240"/>
              </a:xfrm>
              <a:prstGeom prst="line">
                <a:avLst/>
              </a:prstGeom>
              <a:ln w="1016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aphicFrame>
        <p:nvGraphicFramePr>
          <p:cNvPr id="12347" name="Object 59"/>
          <p:cNvGraphicFramePr>
            <a:graphicFrameLocks noChangeAspect="1"/>
          </p:cNvGraphicFramePr>
          <p:nvPr/>
        </p:nvGraphicFramePr>
        <p:xfrm>
          <a:off x="5105400" y="6313488"/>
          <a:ext cx="4143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54480" imgH="2286635" progId="MS_ClipArt_Gallery.2">
                  <p:embed/>
                </p:oleObj>
              </mc:Choice>
              <mc:Fallback>
                <p:oleObj r:id="rId4" imgW="1554480" imgH="2286635" progId="MS_ClipArt_Gallery.2">
                  <p:embed/>
                  <p:pic>
                    <p:nvPicPr>
                      <p:cNvPr id="12347" name="Object 5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05400" y="6313488"/>
                        <a:ext cx="414338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3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>
                <a:solidFill>
                  <a:schemeClr val="folHlink"/>
                </a:solidFill>
              </a:rPr>
              <a:t>B</a:t>
            </a:r>
            <a:r>
              <a:rPr lang="en-US" altLang="zh-CN" dirty="0"/>
              <a:t>alance </a:t>
            </a:r>
            <a:r>
              <a:rPr lang="en-US" altLang="zh-CN" dirty="0">
                <a:solidFill>
                  <a:schemeClr val="folHlink"/>
                </a:solidFill>
              </a:rPr>
              <a:t>F</a:t>
            </a:r>
            <a:r>
              <a:rPr lang="en-US" altLang="zh-CN" dirty="0"/>
              <a:t>actors</a:t>
            </a:r>
          </a:p>
        </p:txBody>
      </p:sp>
      <p:sp>
        <p:nvSpPr>
          <p:cNvPr id="16405" name="Text Box 101"/>
          <p:cNvSpPr txBox="1"/>
          <p:nvPr/>
        </p:nvSpPr>
        <p:spPr>
          <a:xfrm>
            <a:off x="3200400" y="348932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6406" name="Text Box 103"/>
          <p:cNvSpPr txBox="1"/>
          <p:nvPr/>
        </p:nvSpPr>
        <p:spPr>
          <a:xfrm>
            <a:off x="527050" y="417512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6407" name="Text Box 105"/>
          <p:cNvSpPr txBox="1"/>
          <p:nvPr/>
        </p:nvSpPr>
        <p:spPr>
          <a:xfrm>
            <a:off x="1828800" y="417512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462" name="Oval 106"/>
          <p:cNvSpPr/>
          <p:nvPr/>
        </p:nvSpPr>
        <p:spPr>
          <a:xfrm>
            <a:off x="2209800" y="3184525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9463" name="Oval 107"/>
          <p:cNvSpPr/>
          <p:nvPr/>
        </p:nvSpPr>
        <p:spPr>
          <a:xfrm>
            <a:off x="1143000" y="3778250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9464" name="Oval 108"/>
          <p:cNvSpPr/>
          <p:nvPr/>
        </p:nvSpPr>
        <p:spPr>
          <a:xfrm>
            <a:off x="3124200" y="3778250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19465" name="Oval 110"/>
          <p:cNvSpPr/>
          <p:nvPr/>
        </p:nvSpPr>
        <p:spPr>
          <a:xfrm>
            <a:off x="457200" y="4479925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466" name="Oval 111"/>
          <p:cNvSpPr/>
          <p:nvPr/>
        </p:nvSpPr>
        <p:spPr>
          <a:xfrm>
            <a:off x="1752600" y="4479925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5</a:t>
            </a:r>
          </a:p>
        </p:txBody>
      </p:sp>
      <p:cxnSp>
        <p:nvCxnSpPr>
          <p:cNvPr id="19467" name="AutoShape 112"/>
          <p:cNvCxnSpPr>
            <a:stCxn id="19462" idx="3"/>
            <a:endCxn id="19463" idx="7"/>
          </p:cNvCxnSpPr>
          <p:nvPr/>
        </p:nvCxnSpPr>
        <p:spPr>
          <a:xfrm flipH="1">
            <a:off x="1533525" y="3575050"/>
            <a:ext cx="742950" cy="2698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68" name="AutoShape 113"/>
          <p:cNvCxnSpPr>
            <a:stCxn id="19462" idx="5"/>
            <a:endCxn id="19464" idx="1"/>
          </p:cNvCxnSpPr>
          <p:nvPr/>
        </p:nvCxnSpPr>
        <p:spPr>
          <a:xfrm>
            <a:off x="2600325" y="3575050"/>
            <a:ext cx="590550" cy="2698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69" name="AutoShape 114"/>
          <p:cNvCxnSpPr>
            <a:stCxn id="19463" idx="3"/>
            <a:endCxn id="19465" idx="0"/>
          </p:cNvCxnSpPr>
          <p:nvPr/>
        </p:nvCxnSpPr>
        <p:spPr>
          <a:xfrm flipH="1">
            <a:off x="685800" y="4168775"/>
            <a:ext cx="523875" cy="3111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470" name="AutoShape 115"/>
          <p:cNvCxnSpPr>
            <a:stCxn id="19463" idx="5"/>
            <a:endCxn id="19466" idx="0"/>
          </p:cNvCxnSpPr>
          <p:nvPr/>
        </p:nvCxnSpPr>
        <p:spPr>
          <a:xfrm>
            <a:off x="1533525" y="4168775"/>
            <a:ext cx="447675" cy="3111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6417" name="Text Box 118"/>
          <p:cNvSpPr txBox="1"/>
          <p:nvPr/>
        </p:nvSpPr>
        <p:spPr>
          <a:xfrm>
            <a:off x="1212850" y="3473450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9472" name="Text Box 120"/>
          <p:cNvSpPr txBox="1"/>
          <p:nvPr/>
        </p:nvSpPr>
        <p:spPr>
          <a:xfrm>
            <a:off x="1676400" y="2574925"/>
            <a:ext cx="1676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Tree A (AVL)</a:t>
            </a:r>
          </a:p>
        </p:txBody>
      </p:sp>
      <p:grpSp>
        <p:nvGrpSpPr>
          <p:cNvPr id="2" name="Group 37"/>
          <p:cNvGrpSpPr/>
          <p:nvPr/>
        </p:nvGrpSpPr>
        <p:grpSpPr>
          <a:xfrm>
            <a:off x="4405313" y="2574925"/>
            <a:ext cx="3138487" cy="2378075"/>
            <a:chOff x="2775" y="1622"/>
            <a:chExt cx="1977" cy="1498"/>
          </a:xfrm>
        </p:grpSpPr>
        <p:sp>
          <p:nvSpPr>
            <p:cNvPr id="19475" name="Text Box 21"/>
            <p:cNvSpPr txBox="1"/>
            <p:nvPr/>
          </p:nvSpPr>
          <p:spPr>
            <a:xfrm>
              <a:off x="4503" y="2198"/>
              <a:ext cx="196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476" name="Text Box 22"/>
            <p:cNvSpPr txBox="1"/>
            <p:nvPr/>
          </p:nvSpPr>
          <p:spPr>
            <a:xfrm>
              <a:off x="4119" y="2640"/>
              <a:ext cx="196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477" name="Text Box 23"/>
            <p:cNvSpPr txBox="1"/>
            <p:nvPr/>
          </p:nvSpPr>
          <p:spPr>
            <a:xfrm>
              <a:off x="2819" y="2640"/>
              <a:ext cx="196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478" name="Text Box 24"/>
            <p:cNvSpPr txBox="1"/>
            <p:nvPr/>
          </p:nvSpPr>
          <p:spPr>
            <a:xfrm>
              <a:off x="3923" y="1814"/>
              <a:ext cx="196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479" name="Text Box 25"/>
            <p:cNvSpPr txBox="1"/>
            <p:nvPr/>
          </p:nvSpPr>
          <p:spPr>
            <a:xfrm>
              <a:off x="3639" y="2640"/>
              <a:ext cx="196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480" name="Oval 67"/>
            <p:cNvSpPr/>
            <p:nvPr/>
          </p:nvSpPr>
          <p:spPr>
            <a:xfrm>
              <a:off x="3879" y="2016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9481" name="Oval 68"/>
            <p:cNvSpPr/>
            <p:nvPr/>
          </p:nvSpPr>
          <p:spPr>
            <a:xfrm>
              <a:off x="3207" y="2390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9482" name="Oval 69"/>
            <p:cNvSpPr/>
            <p:nvPr/>
          </p:nvSpPr>
          <p:spPr>
            <a:xfrm>
              <a:off x="4455" y="2390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19483" name="Oval 70"/>
            <p:cNvSpPr/>
            <p:nvPr/>
          </p:nvSpPr>
          <p:spPr>
            <a:xfrm>
              <a:off x="4071" y="2832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9484" name="Oval 71"/>
            <p:cNvSpPr/>
            <p:nvPr/>
          </p:nvSpPr>
          <p:spPr>
            <a:xfrm>
              <a:off x="2775" y="2832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485" name="Oval 72"/>
            <p:cNvSpPr/>
            <p:nvPr/>
          </p:nvSpPr>
          <p:spPr>
            <a:xfrm>
              <a:off x="3591" y="2832"/>
              <a:ext cx="288" cy="28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19486" name="AutoShape 73"/>
            <p:cNvCxnSpPr>
              <a:stCxn id="19480" idx="3"/>
              <a:endCxn id="19481" idx="7"/>
            </p:cNvCxnSpPr>
            <p:nvPr/>
          </p:nvCxnSpPr>
          <p:spPr>
            <a:xfrm flipH="1">
              <a:off x="3453" y="2262"/>
              <a:ext cx="468" cy="17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9487" name="AutoShape 74"/>
            <p:cNvCxnSpPr>
              <a:stCxn id="19480" idx="5"/>
              <a:endCxn id="19482" idx="1"/>
            </p:cNvCxnSpPr>
            <p:nvPr/>
          </p:nvCxnSpPr>
          <p:spPr>
            <a:xfrm>
              <a:off x="4125" y="2262"/>
              <a:ext cx="372" cy="17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9488" name="AutoShape 75"/>
            <p:cNvCxnSpPr>
              <a:stCxn id="19481" idx="3"/>
              <a:endCxn id="19484" idx="0"/>
            </p:cNvCxnSpPr>
            <p:nvPr/>
          </p:nvCxnSpPr>
          <p:spPr>
            <a:xfrm flipH="1">
              <a:off x="2919" y="2636"/>
              <a:ext cx="330" cy="196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9489" name="AutoShape 76"/>
            <p:cNvCxnSpPr>
              <a:stCxn id="19481" idx="5"/>
              <a:endCxn id="19485" idx="0"/>
            </p:cNvCxnSpPr>
            <p:nvPr/>
          </p:nvCxnSpPr>
          <p:spPr>
            <a:xfrm>
              <a:off x="3453" y="2636"/>
              <a:ext cx="282" cy="196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19490" name="AutoShape 77"/>
            <p:cNvCxnSpPr>
              <a:stCxn id="19482" idx="3"/>
              <a:endCxn id="19483" idx="0"/>
            </p:cNvCxnSpPr>
            <p:nvPr/>
          </p:nvCxnSpPr>
          <p:spPr>
            <a:xfrm flipH="1">
              <a:off x="4215" y="2636"/>
              <a:ext cx="282" cy="196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9491" name="Text Box 79"/>
            <p:cNvSpPr txBox="1"/>
            <p:nvPr/>
          </p:nvSpPr>
          <p:spPr>
            <a:xfrm>
              <a:off x="3251" y="2198"/>
              <a:ext cx="196" cy="2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9492" name="Text Box 121"/>
            <p:cNvSpPr txBox="1"/>
            <p:nvPr/>
          </p:nvSpPr>
          <p:spPr>
            <a:xfrm>
              <a:off x="3696" y="1622"/>
              <a:ext cx="10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Tree B (AVL)</a:t>
              </a:r>
            </a:p>
          </p:txBody>
        </p:sp>
      </p:grpSp>
      <p:sp>
        <p:nvSpPr>
          <p:cNvPr id="16420" name="Text Box 118"/>
          <p:cNvSpPr txBox="1"/>
          <p:nvPr/>
        </p:nvSpPr>
        <p:spPr>
          <a:xfrm>
            <a:off x="2279650" y="2833688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5" grpId="0"/>
      <p:bldP spid="16406" grpId="0"/>
      <p:bldP spid="16407" grpId="0"/>
      <p:bldP spid="16417" grpId="0"/>
      <p:bldP spid="164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Balance Factors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after Insert 7</a:t>
            </a:r>
          </a:p>
        </p:txBody>
      </p:sp>
      <p:sp>
        <p:nvSpPr>
          <p:cNvPr id="17412" name="Text Box 21"/>
          <p:cNvSpPr txBox="1"/>
          <p:nvPr/>
        </p:nvSpPr>
        <p:spPr>
          <a:xfrm>
            <a:off x="7148513" y="2895600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13" name="Text Box 22"/>
          <p:cNvSpPr txBox="1"/>
          <p:nvPr/>
        </p:nvSpPr>
        <p:spPr>
          <a:xfrm>
            <a:off x="6538913" y="359727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485" name="Text Box 23"/>
          <p:cNvSpPr txBox="1"/>
          <p:nvPr/>
        </p:nvSpPr>
        <p:spPr>
          <a:xfrm>
            <a:off x="4475163" y="359727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7415" name="Text Box 24"/>
          <p:cNvSpPr txBox="1"/>
          <p:nvPr/>
        </p:nvSpPr>
        <p:spPr>
          <a:xfrm>
            <a:off x="6227763" y="2286000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487" name="Text Box 25"/>
          <p:cNvSpPr txBox="1"/>
          <p:nvPr/>
        </p:nvSpPr>
        <p:spPr>
          <a:xfrm>
            <a:off x="5776913" y="359727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488" name="Oval 67"/>
          <p:cNvSpPr/>
          <p:nvPr/>
        </p:nvSpPr>
        <p:spPr>
          <a:xfrm>
            <a:off x="6157913" y="2606675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0489" name="Oval 68"/>
          <p:cNvSpPr/>
          <p:nvPr/>
        </p:nvSpPr>
        <p:spPr>
          <a:xfrm>
            <a:off x="5091113" y="3200400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0490" name="Oval 69"/>
          <p:cNvSpPr/>
          <p:nvPr/>
        </p:nvSpPr>
        <p:spPr>
          <a:xfrm>
            <a:off x="7072313" y="3200400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20491" name="Oval 70"/>
          <p:cNvSpPr/>
          <p:nvPr/>
        </p:nvSpPr>
        <p:spPr>
          <a:xfrm>
            <a:off x="6462713" y="3902075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0492" name="Oval 71"/>
          <p:cNvSpPr/>
          <p:nvPr/>
        </p:nvSpPr>
        <p:spPr>
          <a:xfrm>
            <a:off x="4405313" y="3902075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493" name="Oval 72"/>
          <p:cNvSpPr/>
          <p:nvPr/>
        </p:nvSpPr>
        <p:spPr>
          <a:xfrm>
            <a:off x="5700713" y="3902075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5</a:t>
            </a:r>
          </a:p>
        </p:txBody>
      </p:sp>
      <p:cxnSp>
        <p:nvCxnSpPr>
          <p:cNvPr id="20494" name="AutoShape 73"/>
          <p:cNvCxnSpPr>
            <a:stCxn id="20488" idx="3"/>
            <a:endCxn id="20489" idx="7"/>
          </p:cNvCxnSpPr>
          <p:nvPr/>
        </p:nvCxnSpPr>
        <p:spPr>
          <a:xfrm flipH="1">
            <a:off x="5481638" y="2997200"/>
            <a:ext cx="742950" cy="2698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495" name="AutoShape 74"/>
          <p:cNvCxnSpPr>
            <a:stCxn id="20488" idx="5"/>
            <a:endCxn id="20490" idx="1"/>
          </p:cNvCxnSpPr>
          <p:nvPr/>
        </p:nvCxnSpPr>
        <p:spPr>
          <a:xfrm>
            <a:off x="6548438" y="2997200"/>
            <a:ext cx="590550" cy="2698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496" name="AutoShape 75"/>
          <p:cNvCxnSpPr>
            <a:stCxn id="20489" idx="3"/>
            <a:endCxn id="20492" idx="0"/>
          </p:cNvCxnSpPr>
          <p:nvPr/>
        </p:nvCxnSpPr>
        <p:spPr>
          <a:xfrm flipH="1">
            <a:off x="4633913" y="3590925"/>
            <a:ext cx="523875" cy="3111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497" name="AutoShape 76"/>
          <p:cNvCxnSpPr>
            <a:stCxn id="20489" idx="5"/>
            <a:endCxn id="20493" idx="0"/>
          </p:cNvCxnSpPr>
          <p:nvPr/>
        </p:nvCxnSpPr>
        <p:spPr>
          <a:xfrm>
            <a:off x="5481638" y="3590925"/>
            <a:ext cx="447675" cy="3111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498" name="AutoShape 77"/>
          <p:cNvCxnSpPr>
            <a:stCxn id="20490" idx="3"/>
            <a:endCxn id="20491" idx="0"/>
          </p:cNvCxnSpPr>
          <p:nvPr/>
        </p:nvCxnSpPr>
        <p:spPr>
          <a:xfrm flipH="1">
            <a:off x="6691313" y="3590925"/>
            <a:ext cx="447675" cy="3111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499" name="Text Box 79"/>
          <p:cNvSpPr txBox="1"/>
          <p:nvPr/>
        </p:nvSpPr>
        <p:spPr>
          <a:xfrm>
            <a:off x="5160963" y="2895600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7429" name="Text Box 101"/>
          <p:cNvSpPr txBox="1"/>
          <p:nvPr/>
        </p:nvSpPr>
        <p:spPr>
          <a:xfrm>
            <a:off x="3200400" y="2895600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01" name="Text Box 103"/>
          <p:cNvSpPr txBox="1"/>
          <p:nvPr/>
        </p:nvSpPr>
        <p:spPr>
          <a:xfrm>
            <a:off x="527050" y="3581400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02" name="Text Box 105"/>
          <p:cNvSpPr txBox="1"/>
          <p:nvPr/>
        </p:nvSpPr>
        <p:spPr>
          <a:xfrm>
            <a:off x="1828800" y="3581400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03" name="Oval 106"/>
          <p:cNvSpPr/>
          <p:nvPr/>
        </p:nvSpPr>
        <p:spPr>
          <a:xfrm>
            <a:off x="2209800" y="2590800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0504" name="Oval 107"/>
          <p:cNvSpPr/>
          <p:nvPr/>
        </p:nvSpPr>
        <p:spPr>
          <a:xfrm>
            <a:off x="1143000" y="3184525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0505" name="Oval 108"/>
          <p:cNvSpPr/>
          <p:nvPr/>
        </p:nvSpPr>
        <p:spPr>
          <a:xfrm>
            <a:off x="3124200" y="3184525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11</a:t>
            </a:r>
          </a:p>
        </p:txBody>
      </p:sp>
      <p:sp>
        <p:nvSpPr>
          <p:cNvPr id="20506" name="Oval 110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07" name="Oval 111"/>
          <p:cNvSpPr/>
          <p:nvPr/>
        </p:nvSpPr>
        <p:spPr>
          <a:xfrm>
            <a:off x="1752600" y="3886200"/>
            <a:ext cx="457200" cy="4572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5</a:t>
            </a:r>
          </a:p>
        </p:txBody>
      </p:sp>
      <p:cxnSp>
        <p:nvCxnSpPr>
          <p:cNvPr id="20508" name="AutoShape 112"/>
          <p:cNvCxnSpPr>
            <a:stCxn id="20503" idx="3"/>
            <a:endCxn id="20504" idx="7"/>
          </p:cNvCxnSpPr>
          <p:nvPr/>
        </p:nvCxnSpPr>
        <p:spPr>
          <a:xfrm flipH="1">
            <a:off x="1533525" y="2981325"/>
            <a:ext cx="742950" cy="2698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509" name="AutoShape 113"/>
          <p:cNvCxnSpPr>
            <a:stCxn id="20503" idx="5"/>
            <a:endCxn id="20505" idx="1"/>
          </p:cNvCxnSpPr>
          <p:nvPr/>
        </p:nvCxnSpPr>
        <p:spPr>
          <a:xfrm>
            <a:off x="2600325" y="2981325"/>
            <a:ext cx="590550" cy="2698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510" name="AutoShape 114"/>
          <p:cNvCxnSpPr>
            <a:stCxn id="20504" idx="3"/>
            <a:endCxn id="20506" idx="0"/>
          </p:cNvCxnSpPr>
          <p:nvPr/>
        </p:nvCxnSpPr>
        <p:spPr>
          <a:xfrm flipH="1">
            <a:off x="685800" y="3575050"/>
            <a:ext cx="523875" cy="3111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511" name="AutoShape 115"/>
          <p:cNvCxnSpPr>
            <a:stCxn id="20504" idx="5"/>
            <a:endCxn id="20507" idx="0"/>
          </p:cNvCxnSpPr>
          <p:nvPr/>
        </p:nvCxnSpPr>
        <p:spPr>
          <a:xfrm>
            <a:off x="1533525" y="3575050"/>
            <a:ext cx="447675" cy="3111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0512" name="Text Box 118"/>
          <p:cNvSpPr txBox="1"/>
          <p:nvPr/>
        </p:nvSpPr>
        <p:spPr>
          <a:xfrm>
            <a:off x="1212850" y="287972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0513" name="Text Box 120"/>
          <p:cNvSpPr txBox="1"/>
          <p:nvPr/>
        </p:nvSpPr>
        <p:spPr>
          <a:xfrm>
            <a:off x="1676400" y="1981200"/>
            <a:ext cx="1676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Tree A (AVL)</a:t>
            </a:r>
          </a:p>
        </p:txBody>
      </p:sp>
      <p:sp>
        <p:nvSpPr>
          <p:cNvPr id="20514" name="Text Box 121"/>
          <p:cNvSpPr txBox="1"/>
          <p:nvPr/>
        </p:nvSpPr>
        <p:spPr>
          <a:xfrm>
            <a:off x="5867400" y="1981200"/>
            <a:ext cx="1676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Tree B </a:t>
            </a:r>
          </a:p>
        </p:txBody>
      </p:sp>
      <p:sp>
        <p:nvSpPr>
          <p:cNvPr id="17444" name="Text Box 118"/>
          <p:cNvSpPr txBox="1"/>
          <p:nvPr/>
        </p:nvSpPr>
        <p:spPr>
          <a:xfrm>
            <a:off x="2195513" y="2239963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2" name="Group 39"/>
          <p:cNvGrpSpPr/>
          <p:nvPr/>
        </p:nvGrpSpPr>
        <p:grpSpPr>
          <a:xfrm>
            <a:off x="2524125" y="3575050"/>
            <a:ext cx="666750" cy="758825"/>
            <a:chOff x="1590" y="2252"/>
            <a:chExt cx="420" cy="478"/>
          </a:xfrm>
        </p:grpSpPr>
        <p:sp>
          <p:nvSpPr>
            <p:cNvPr id="20528" name="Oval 53"/>
            <p:cNvSpPr/>
            <p:nvPr/>
          </p:nvSpPr>
          <p:spPr>
            <a:xfrm>
              <a:off x="1590" y="2442"/>
              <a:ext cx="288" cy="28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</a:t>
              </a:r>
            </a:p>
          </p:txBody>
        </p:sp>
        <p:cxnSp>
          <p:nvCxnSpPr>
            <p:cNvPr id="20529" name="AutoShape 54"/>
            <p:cNvCxnSpPr>
              <a:stCxn id="20504" idx="5"/>
              <a:endCxn id="20528" idx="0"/>
            </p:cNvCxnSpPr>
            <p:nvPr/>
          </p:nvCxnSpPr>
          <p:spPr>
            <a:xfrm flipH="1">
              <a:off x="1734" y="2252"/>
              <a:ext cx="276" cy="19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7448" name="Text Box 38"/>
          <p:cNvSpPr txBox="1"/>
          <p:nvPr/>
        </p:nvSpPr>
        <p:spPr>
          <a:xfrm>
            <a:off x="3175000" y="2873375"/>
            <a:ext cx="312738" cy="4000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49" name="Text Box 40"/>
          <p:cNvSpPr txBox="1"/>
          <p:nvPr/>
        </p:nvSpPr>
        <p:spPr>
          <a:xfrm>
            <a:off x="2254250" y="226377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7450" name="Text Box 52"/>
          <p:cNvSpPr txBox="1"/>
          <p:nvPr/>
        </p:nvSpPr>
        <p:spPr>
          <a:xfrm>
            <a:off x="2574925" y="356552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0</a:t>
            </a:r>
          </a:p>
        </p:txBody>
      </p:sp>
      <p:grpSp>
        <p:nvGrpSpPr>
          <p:cNvPr id="3" name="Group 45"/>
          <p:cNvGrpSpPr/>
          <p:nvPr/>
        </p:nvGrpSpPr>
        <p:grpSpPr>
          <a:xfrm>
            <a:off x="6003925" y="4292600"/>
            <a:ext cx="523875" cy="889000"/>
            <a:chOff x="3782" y="2704"/>
            <a:chExt cx="330" cy="560"/>
          </a:xfrm>
        </p:grpSpPr>
        <p:sp>
          <p:nvSpPr>
            <p:cNvPr id="20526" name="Oval 59"/>
            <p:cNvSpPr/>
            <p:nvPr/>
          </p:nvSpPr>
          <p:spPr>
            <a:xfrm>
              <a:off x="3782" y="2976"/>
              <a:ext cx="288" cy="288"/>
            </a:xfrm>
            <a:prstGeom prst="ellipse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7</a:t>
              </a:r>
            </a:p>
          </p:txBody>
        </p:sp>
        <p:cxnSp>
          <p:nvCxnSpPr>
            <p:cNvPr id="20527" name="AutoShape 60"/>
            <p:cNvCxnSpPr>
              <a:stCxn id="20504" idx="5"/>
              <a:endCxn id="20526" idx="0"/>
            </p:cNvCxnSpPr>
            <p:nvPr/>
          </p:nvCxnSpPr>
          <p:spPr>
            <a:xfrm flipH="1">
              <a:off x="3926" y="2704"/>
              <a:ext cx="186" cy="27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17454" name="Text Box 3"/>
          <p:cNvSpPr txBox="1"/>
          <p:nvPr/>
        </p:nvSpPr>
        <p:spPr>
          <a:xfrm>
            <a:off x="7162800" y="287972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7455" name="Text Box 4"/>
          <p:cNvSpPr txBox="1"/>
          <p:nvPr/>
        </p:nvSpPr>
        <p:spPr>
          <a:xfrm>
            <a:off x="6553200" y="3581400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56" name="Text Box 6"/>
          <p:cNvSpPr txBox="1"/>
          <p:nvPr/>
        </p:nvSpPr>
        <p:spPr>
          <a:xfrm>
            <a:off x="6270625" y="2286000"/>
            <a:ext cx="398463" cy="40005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17457" name="Text Box 58"/>
          <p:cNvSpPr txBox="1"/>
          <p:nvPr/>
        </p:nvSpPr>
        <p:spPr>
          <a:xfrm>
            <a:off x="6096000" y="4403725"/>
            <a:ext cx="31115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solidFill>
                  <a:schemeClr val="hlink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7458" name="Rectangle 50" descr="再生纸"/>
          <p:cNvSpPr>
            <a:spLocks noChangeArrowheads="1"/>
          </p:cNvSpPr>
          <p:nvPr/>
        </p:nvSpPr>
        <p:spPr bwMode="auto">
          <a:xfrm>
            <a:off x="520700" y="5334000"/>
            <a:ext cx="8242300" cy="82232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Only nodes on the path from insertion point to root node have possibly changed in BF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7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7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13" grpId="0"/>
      <p:bldP spid="17415" grpId="0"/>
      <p:bldP spid="17429" grpId="0"/>
      <p:bldP spid="17444" grpId="0"/>
      <p:bldP spid="17448" grpId="0"/>
      <p:bldP spid="17449" grpId="0"/>
      <p:bldP spid="17450" grpId="0"/>
      <p:bldP spid="17454" grpId="0"/>
      <p:bldP spid="17455" grpId="0"/>
      <p:bldP spid="17456" grpId="0"/>
      <p:bldP spid="17457" grpId="0"/>
      <p:bldP spid="174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5334000" y="3157538"/>
            <a:ext cx="3657600" cy="3319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391400" cy="13716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Insertion in AVL Trees (I)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operation may cause BF to become 2 or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–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for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some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node (trouble finder)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 after the Insertion,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go back up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the root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node by node, updating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BFs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a new BF of a node is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2 or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–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2,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rebanlance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node by 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rotation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around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it</a:t>
            </a:r>
          </a:p>
        </p:txBody>
      </p:sp>
      <p:grpSp>
        <p:nvGrpSpPr>
          <p:cNvPr id="21509" name="组合 3"/>
          <p:cNvGrpSpPr/>
          <p:nvPr/>
        </p:nvGrpSpPr>
        <p:grpSpPr>
          <a:xfrm>
            <a:off x="5638800" y="3124200"/>
            <a:ext cx="3138488" cy="3200400"/>
            <a:chOff x="4405313" y="1981200"/>
            <a:chExt cx="3138487" cy="3200400"/>
          </a:xfrm>
        </p:grpSpPr>
        <p:sp>
          <p:nvSpPr>
            <p:cNvPr id="21510" name="Text Box 23"/>
            <p:cNvSpPr txBox="1"/>
            <p:nvPr/>
          </p:nvSpPr>
          <p:spPr>
            <a:xfrm>
              <a:off x="4475163" y="3597275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11" name="Text Box 25"/>
            <p:cNvSpPr txBox="1"/>
            <p:nvPr/>
          </p:nvSpPr>
          <p:spPr>
            <a:xfrm>
              <a:off x="5776913" y="3597275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12" name="Oval 67"/>
            <p:cNvSpPr/>
            <p:nvPr/>
          </p:nvSpPr>
          <p:spPr>
            <a:xfrm>
              <a:off x="6157913" y="2606675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1513" name="Oval 68"/>
            <p:cNvSpPr/>
            <p:nvPr/>
          </p:nvSpPr>
          <p:spPr>
            <a:xfrm>
              <a:off x="5091113" y="3200400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1514" name="Oval 69"/>
            <p:cNvSpPr/>
            <p:nvPr/>
          </p:nvSpPr>
          <p:spPr>
            <a:xfrm>
              <a:off x="7072313" y="3200400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21515" name="Oval 70"/>
            <p:cNvSpPr/>
            <p:nvPr/>
          </p:nvSpPr>
          <p:spPr>
            <a:xfrm>
              <a:off x="6462713" y="3902075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1516" name="Oval 71"/>
            <p:cNvSpPr/>
            <p:nvPr/>
          </p:nvSpPr>
          <p:spPr>
            <a:xfrm>
              <a:off x="4405313" y="3902075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17" name="Oval 72"/>
            <p:cNvSpPr/>
            <p:nvPr/>
          </p:nvSpPr>
          <p:spPr>
            <a:xfrm>
              <a:off x="5700713" y="3902075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21518" name="AutoShape 73"/>
            <p:cNvCxnSpPr>
              <a:stCxn id="21512" idx="3"/>
              <a:endCxn id="21513" idx="7"/>
            </p:cNvCxnSpPr>
            <p:nvPr/>
          </p:nvCxnSpPr>
          <p:spPr>
            <a:xfrm flipH="1">
              <a:off x="5481638" y="2997200"/>
              <a:ext cx="742950" cy="269875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519" name="AutoShape 74"/>
            <p:cNvCxnSpPr>
              <a:stCxn id="21512" idx="3"/>
              <a:endCxn id="21514" idx="1"/>
            </p:cNvCxnSpPr>
            <p:nvPr/>
          </p:nvCxnSpPr>
          <p:spPr>
            <a:xfrm>
              <a:off x="6615113" y="2938743"/>
              <a:ext cx="524155" cy="328612"/>
            </a:xfrm>
            <a:prstGeom prst="straightConnector1">
              <a:avLst/>
            </a:prstGeom>
            <a:ln w="254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520" name="AutoShape 75"/>
            <p:cNvCxnSpPr>
              <a:stCxn id="21513" idx="3"/>
              <a:endCxn id="21516" idx="0"/>
            </p:cNvCxnSpPr>
            <p:nvPr/>
          </p:nvCxnSpPr>
          <p:spPr>
            <a:xfrm flipH="1">
              <a:off x="4633913" y="3590925"/>
              <a:ext cx="523875" cy="31115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521" name="AutoShape 76"/>
            <p:cNvCxnSpPr>
              <a:stCxn id="21513" idx="5"/>
              <a:endCxn id="21517" idx="0"/>
            </p:cNvCxnSpPr>
            <p:nvPr/>
          </p:nvCxnSpPr>
          <p:spPr>
            <a:xfrm>
              <a:off x="5481638" y="3590925"/>
              <a:ext cx="447675" cy="31115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1522" name="AutoShape 77"/>
            <p:cNvCxnSpPr>
              <a:stCxn id="21514" idx="3"/>
              <a:endCxn id="21515" idx="7"/>
            </p:cNvCxnSpPr>
            <p:nvPr/>
          </p:nvCxnSpPr>
          <p:spPr>
            <a:xfrm flipH="1">
              <a:off x="6852958" y="3590645"/>
              <a:ext cx="286310" cy="378385"/>
            </a:xfrm>
            <a:prstGeom prst="straightConnector1">
              <a:avLst/>
            </a:prstGeom>
            <a:ln w="254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1523" name="Text Box 79"/>
            <p:cNvSpPr txBox="1"/>
            <p:nvPr/>
          </p:nvSpPr>
          <p:spPr>
            <a:xfrm>
              <a:off x="5160963" y="2895600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24" name="Text Box 121"/>
            <p:cNvSpPr txBox="1"/>
            <p:nvPr/>
          </p:nvSpPr>
          <p:spPr>
            <a:xfrm>
              <a:off x="5867400" y="1981200"/>
              <a:ext cx="16764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Tree B </a:t>
              </a:r>
            </a:p>
          </p:txBody>
        </p:sp>
        <p:grpSp>
          <p:nvGrpSpPr>
            <p:cNvPr id="21525" name="Group 45"/>
            <p:cNvGrpSpPr/>
            <p:nvPr/>
          </p:nvGrpSpPr>
          <p:grpSpPr>
            <a:xfrm>
              <a:off x="6003925" y="4292600"/>
              <a:ext cx="523875" cy="889000"/>
              <a:chOff x="3782" y="2704"/>
              <a:chExt cx="330" cy="560"/>
            </a:xfrm>
          </p:grpSpPr>
          <p:sp>
            <p:nvSpPr>
              <p:cNvPr id="21530" name="Oval 59"/>
              <p:cNvSpPr/>
              <p:nvPr/>
            </p:nvSpPr>
            <p:spPr>
              <a:xfrm>
                <a:off x="3782" y="2976"/>
                <a:ext cx="288" cy="288"/>
              </a:xfrm>
              <a:prstGeom prst="ellipse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21531" name="AutoShape 60"/>
              <p:cNvCxnSpPr>
                <a:stCxn id="21514" idx="3"/>
                <a:endCxn id="21530" idx="0"/>
              </p:cNvCxnSpPr>
              <p:nvPr/>
            </p:nvCxnSpPr>
            <p:spPr>
              <a:xfrm flipH="1">
                <a:off x="3926" y="2704"/>
                <a:ext cx="186" cy="272"/>
              </a:xfrm>
              <a:prstGeom prst="straightConnector1">
                <a:avLst/>
              </a:prstGeom>
              <a:ln w="25400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21526" name="Text Box 3"/>
            <p:cNvSpPr txBox="1"/>
            <p:nvPr/>
          </p:nvSpPr>
          <p:spPr>
            <a:xfrm>
              <a:off x="7162800" y="2879725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1527" name="Text Box 4"/>
            <p:cNvSpPr txBox="1"/>
            <p:nvPr/>
          </p:nvSpPr>
          <p:spPr>
            <a:xfrm>
              <a:off x="6507956" y="3541713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28" name="Text Box 6"/>
            <p:cNvSpPr txBox="1"/>
            <p:nvPr/>
          </p:nvSpPr>
          <p:spPr>
            <a:xfrm>
              <a:off x="6180930" y="2292350"/>
              <a:ext cx="398463" cy="4000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21529" name="Text Box 58"/>
            <p:cNvSpPr txBox="1"/>
            <p:nvPr/>
          </p:nvSpPr>
          <p:spPr>
            <a:xfrm>
              <a:off x="6004417" y="4384675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/>
          <p:nvPr/>
        </p:nvSpPr>
        <p:spPr>
          <a:xfrm>
            <a:off x="685800" y="1682750"/>
            <a:ext cx="7716838" cy="3378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Let the node that needs rebalancing be 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400" dirty="0">
                <a:sym typeface="Symbol" panose="05050102010706020507" pitchFamily="18" charset="2"/>
              </a:rPr>
              <a:t>.</a:t>
            </a:r>
          </a:p>
          <a:p>
            <a:pPr marL="0" lvl="0" indent="0">
              <a:spcBef>
                <a:spcPct val="0"/>
              </a:spcBef>
              <a:buNone/>
            </a:pPr>
            <a:endParaRPr lang="en-US" altLang="zh-CN" sz="2400" dirty="0">
              <a:sym typeface="Symbol" panose="05050102010706020507" pitchFamily="18" charset="2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There are 4 cases: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</a:t>
            </a:r>
            <a:r>
              <a:rPr lang="en-US" altLang="zh-CN" sz="2400" b="1" i="1" dirty="0">
                <a:solidFill>
                  <a:srgbClr val="0066FF"/>
                </a:solidFill>
                <a:sym typeface="Symbol" panose="05050102010706020507" pitchFamily="18" charset="2"/>
              </a:rPr>
              <a:t>Outside Cases</a:t>
            </a:r>
            <a:r>
              <a:rPr lang="en-US" altLang="zh-CN" sz="2400" dirty="0">
                <a:sym typeface="Symbol" panose="05050102010706020507" pitchFamily="18" charset="2"/>
              </a:rPr>
              <a:t> (require single rotation) :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1. Insertion into </a:t>
            </a:r>
            <a:r>
              <a:rPr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left</a:t>
            </a:r>
            <a:r>
              <a:rPr lang="en-US" altLang="zh-CN" sz="2400" dirty="0">
                <a:sym typeface="Symbol" panose="05050102010706020507" pitchFamily="18" charset="2"/>
              </a:rPr>
              <a:t> subtree </a:t>
            </a:r>
            <a:r>
              <a:rPr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of left</a:t>
            </a:r>
            <a:r>
              <a:rPr lang="en-US" altLang="zh-CN" sz="2400" dirty="0">
                <a:sym typeface="Symbol" panose="05050102010706020507" pitchFamily="18" charset="2"/>
              </a:rPr>
              <a:t> child of .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2. Insertion into </a:t>
            </a:r>
            <a:r>
              <a:rPr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right</a:t>
            </a:r>
            <a:r>
              <a:rPr lang="en-US" altLang="zh-CN" sz="2400" dirty="0">
                <a:sym typeface="Symbol" panose="05050102010706020507" pitchFamily="18" charset="2"/>
              </a:rPr>
              <a:t> subtree </a:t>
            </a:r>
            <a:r>
              <a:rPr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of right</a:t>
            </a:r>
            <a:r>
              <a:rPr lang="en-US" altLang="zh-CN" sz="2400" dirty="0">
                <a:sym typeface="Symbol" panose="05050102010706020507" pitchFamily="18" charset="2"/>
              </a:rPr>
              <a:t> child of .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</a:t>
            </a:r>
            <a:r>
              <a:rPr lang="en-US" altLang="zh-CN" sz="2400" b="1" i="1" dirty="0">
                <a:solidFill>
                  <a:srgbClr val="0066FF"/>
                </a:solidFill>
                <a:sym typeface="Symbol" panose="05050102010706020507" pitchFamily="18" charset="2"/>
              </a:rPr>
              <a:t>Inside Cases</a:t>
            </a:r>
            <a:r>
              <a:rPr lang="en-US" altLang="zh-CN" sz="2400" dirty="0">
                <a:sym typeface="Symbol" panose="05050102010706020507" pitchFamily="18" charset="2"/>
              </a:rPr>
              <a:t> (require double rotation) :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3. Insertion into </a:t>
            </a:r>
            <a:r>
              <a:rPr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right</a:t>
            </a:r>
            <a:r>
              <a:rPr lang="en-US" altLang="zh-CN" sz="2400" dirty="0">
                <a:sym typeface="Symbol" panose="05050102010706020507" pitchFamily="18" charset="2"/>
              </a:rPr>
              <a:t> subtree </a:t>
            </a:r>
            <a:r>
              <a:rPr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of left</a:t>
            </a:r>
            <a:r>
              <a:rPr lang="en-US" altLang="zh-CN" sz="2400" dirty="0">
                <a:sym typeface="Symbol" panose="05050102010706020507" pitchFamily="18" charset="2"/>
              </a:rPr>
              <a:t> child of .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4. Insertion into </a:t>
            </a:r>
            <a:r>
              <a:rPr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left</a:t>
            </a:r>
            <a:r>
              <a:rPr lang="en-US" altLang="zh-CN" sz="2400" dirty="0">
                <a:sym typeface="Symbol" panose="05050102010706020507" pitchFamily="18" charset="2"/>
              </a:rPr>
              <a:t> subtree </a:t>
            </a:r>
            <a:r>
              <a:rPr lang="en-US" altLang="zh-CN" sz="2400" dirty="0">
                <a:solidFill>
                  <a:srgbClr val="FF3300"/>
                </a:solidFill>
                <a:sym typeface="Symbol" panose="05050102010706020507" pitchFamily="18" charset="2"/>
              </a:rPr>
              <a:t>of right</a:t>
            </a:r>
            <a:r>
              <a:rPr lang="en-US" altLang="zh-CN" sz="2400" dirty="0">
                <a:sym typeface="Symbol" panose="05050102010706020507" pitchFamily="18" charset="2"/>
              </a:rPr>
              <a:t> child of .</a:t>
            </a:r>
          </a:p>
        </p:txBody>
      </p:sp>
      <p:sp>
        <p:nvSpPr>
          <p:cNvPr id="22531" name="Text Box 3"/>
          <p:cNvSpPr txBox="1"/>
          <p:nvPr/>
        </p:nvSpPr>
        <p:spPr>
          <a:xfrm>
            <a:off x="874713" y="5187950"/>
            <a:ext cx="6389687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The rebalancing is performed through four </a:t>
            </a:r>
            <a:br>
              <a:rPr lang="en-US" altLang="zh-CN" sz="2400" dirty="0"/>
            </a:br>
            <a:r>
              <a:rPr lang="en-US" altLang="zh-CN" sz="2400" dirty="0"/>
              <a:t>separate rotation algorithms.</a:t>
            </a:r>
          </a:p>
        </p:txBody>
      </p:sp>
      <p:sp>
        <p:nvSpPr>
          <p:cNvPr id="22532" name="Rectangle 4"/>
          <p:cNvSpPr/>
          <p:nvPr/>
        </p:nvSpPr>
        <p:spPr>
          <a:xfrm>
            <a:off x="665163" y="646113"/>
            <a:ext cx="7813675" cy="801687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4400" dirty="0"/>
              <a:t>Insertions in AVL Trees (II)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Oval 2"/>
          <p:cNvSpPr/>
          <p:nvPr/>
        </p:nvSpPr>
        <p:spPr>
          <a:xfrm>
            <a:off x="3906838" y="2362200"/>
            <a:ext cx="8382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3555" name="Text Box 3"/>
          <p:cNvSpPr txBox="1"/>
          <p:nvPr/>
        </p:nvSpPr>
        <p:spPr>
          <a:xfrm>
            <a:off x="4135438" y="22098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3556" name="Oval 4"/>
          <p:cNvSpPr/>
          <p:nvPr/>
        </p:nvSpPr>
        <p:spPr>
          <a:xfrm>
            <a:off x="2230438" y="3733800"/>
            <a:ext cx="8382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3557" name="Text Box 5"/>
          <p:cNvSpPr txBox="1"/>
          <p:nvPr/>
        </p:nvSpPr>
        <p:spPr>
          <a:xfrm>
            <a:off x="2459038" y="36576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23558" name="AutoShape 6"/>
          <p:cNvCxnSpPr>
            <a:stCxn id="23554" idx="3"/>
            <a:endCxn id="23556" idx="7"/>
          </p:cNvCxnSpPr>
          <p:nvPr/>
        </p:nvCxnSpPr>
        <p:spPr>
          <a:xfrm flipH="1">
            <a:off x="2946400" y="3078163"/>
            <a:ext cx="1082675" cy="7778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3559" name="AutoShape 7"/>
          <p:cNvSpPr/>
          <p:nvPr/>
        </p:nvSpPr>
        <p:spPr>
          <a:xfrm>
            <a:off x="554038" y="5105400"/>
            <a:ext cx="1600200" cy="12954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23560" name="AutoShape 8"/>
          <p:cNvCxnSpPr>
            <a:stCxn id="23556" idx="3"/>
            <a:endCxn id="23559" idx="0"/>
          </p:cNvCxnSpPr>
          <p:nvPr/>
        </p:nvCxnSpPr>
        <p:spPr>
          <a:xfrm flipH="1">
            <a:off x="1354138" y="4449763"/>
            <a:ext cx="998537" cy="655637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3561" name="Text Box 9"/>
          <p:cNvSpPr txBox="1"/>
          <p:nvPr/>
        </p:nvSpPr>
        <p:spPr>
          <a:xfrm>
            <a:off x="1087438" y="55626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X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3562" name="AutoShape 10"/>
          <p:cNvSpPr/>
          <p:nvPr/>
        </p:nvSpPr>
        <p:spPr>
          <a:xfrm>
            <a:off x="3221038" y="5181600"/>
            <a:ext cx="1524000" cy="1219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3563" name="Text Box 11"/>
          <p:cNvSpPr txBox="1"/>
          <p:nvPr/>
        </p:nvSpPr>
        <p:spPr>
          <a:xfrm>
            <a:off x="3678238" y="55626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Y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3564" name="AutoShape 12"/>
          <p:cNvSpPr/>
          <p:nvPr/>
        </p:nvSpPr>
        <p:spPr>
          <a:xfrm>
            <a:off x="5202238" y="4191000"/>
            <a:ext cx="1600200" cy="12954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3565" name="Text Box 13"/>
          <p:cNvSpPr txBox="1"/>
          <p:nvPr/>
        </p:nvSpPr>
        <p:spPr>
          <a:xfrm>
            <a:off x="5735638" y="44958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23566" name="AutoShape 14"/>
          <p:cNvCxnSpPr>
            <a:stCxn id="23556" idx="5"/>
            <a:endCxn id="23562" idx="0"/>
          </p:cNvCxnSpPr>
          <p:nvPr/>
        </p:nvCxnSpPr>
        <p:spPr>
          <a:xfrm>
            <a:off x="2946400" y="4449763"/>
            <a:ext cx="1036638" cy="731837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3567" name="AutoShape 15"/>
          <p:cNvCxnSpPr>
            <a:stCxn id="23554" idx="5"/>
            <a:endCxn id="23564" idx="0"/>
          </p:cNvCxnSpPr>
          <p:nvPr/>
        </p:nvCxnSpPr>
        <p:spPr>
          <a:xfrm>
            <a:off x="4622800" y="3078163"/>
            <a:ext cx="1379538" cy="1112837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3568" name="Line 16"/>
          <p:cNvSpPr/>
          <p:nvPr/>
        </p:nvSpPr>
        <p:spPr>
          <a:xfrm>
            <a:off x="7183438" y="5486400"/>
            <a:ext cx="1600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3569" name="Line 17"/>
          <p:cNvSpPr/>
          <p:nvPr/>
        </p:nvSpPr>
        <p:spPr>
          <a:xfrm>
            <a:off x="7183438" y="6400800"/>
            <a:ext cx="1600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3570" name="Text Box 18"/>
          <p:cNvSpPr txBox="1"/>
          <p:nvPr/>
        </p:nvSpPr>
        <p:spPr>
          <a:xfrm>
            <a:off x="641350" y="1905000"/>
            <a:ext cx="240347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Consider a valid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AVL subtree</a:t>
            </a:r>
          </a:p>
        </p:txBody>
      </p:sp>
      <p:sp>
        <p:nvSpPr>
          <p:cNvPr id="23571" name="Rectangle 19"/>
          <p:cNvSpPr/>
          <p:nvPr/>
        </p:nvSpPr>
        <p:spPr>
          <a:xfrm>
            <a:off x="665163" y="646113"/>
            <a:ext cx="7813675" cy="801687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4400" dirty="0"/>
              <a:t>AVL Insertion: Outside Case </a:t>
            </a:r>
          </a:p>
        </p:txBody>
      </p:sp>
      <p:sp>
        <p:nvSpPr>
          <p:cNvPr id="23572" name="Text Box 21"/>
          <p:cNvSpPr txBox="1"/>
          <p:nvPr/>
        </p:nvSpPr>
        <p:spPr>
          <a:xfrm>
            <a:off x="6172200" y="4022725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23573" name="Text Box 22"/>
          <p:cNvSpPr txBox="1"/>
          <p:nvPr/>
        </p:nvSpPr>
        <p:spPr>
          <a:xfrm>
            <a:off x="1427163" y="5013325"/>
            <a:ext cx="32543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23574" name="Text Box 23"/>
          <p:cNvSpPr txBox="1"/>
          <p:nvPr/>
        </p:nvSpPr>
        <p:spPr>
          <a:xfrm>
            <a:off x="4114800" y="5013325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23575" name="Text Box 23"/>
          <p:cNvSpPr txBox="1"/>
          <p:nvPr/>
        </p:nvSpPr>
        <p:spPr>
          <a:xfrm>
            <a:off x="2438400" y="3336925"/>
            <a:ext cx="533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23576" name="Text Box 24"/>
          <p:cNvSpPr txBox="1"/>
          <p:nvPr/>
        </p:nvSpPr>
        <p:spPr>
          <a:xfrm>
            <a:off x="4191000" y="2041525"/>
            <a:ext cx="533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2" name="Line 16"/>
          <p:cNvSpPr/>
          <p:nvPr/>
        </p:nvSpPr>
        <p:spPr>
          <a:xfrm>
            <a:off x="6324600" y="4933950"/>
            <a:ext cx="1506538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4593" name="Line 17"/>
          <p:cNvSpPr/>
          <p:nvPr/>
        </p:nvSpPr>
        <p:spPr>
          <a:xfrm>
            <a:off x="6324600" y="5743575"/>
            <a:ext cx="1506538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4594" name="Line 18"/>
          <p:cNvSpPr/>
          <p:nvPr/>
        </p:nvSpPr>
        <p:spPr>
          <a:xfrm>
            <a:off x="6324600" y="6484938"/>
            <a:ext cx="1506538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4595" name="Text Box 19"/>
          <p:cNvSpPr txBox="1"/>
          <p:nvPr/>
        </p:nvSpPr>
        <p:spPr>
          <a:xfrm>
            <a:off x="6096000" y="2325688"/>
            <a:ext cx="2790825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Inserting into X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destroys the AVL 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property at </a:t>
            </a:r>
            <a:r>
              <a:rPr lang="en-US" altLang="zh-CN" sz="2400" dirty="0">
                <a:solidFill>
                  <a:srgbClr val="0066FF"/>
                </a:solidFill>
              </a:rPr>
              <a:t>node j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28600" y="1767205"/>
            <a:ext cx="5884545" cy="4785995"/>
            <a:chOff x="360" y="2783"/>
            <a:chExt cx="9267" cy="7537"/>
          </a:xfrm>
        </p:grpSpPr>
        <p:sp>
          <p:nvSpPr>
            <p:cNvPr id="24578" name="Oval 2"/>
            <p:cNvSpPr/>
            <p:nvPr/>
          </p:nvSpPr>
          <p:spPr>
            <a:xfrm>
              <a:off x="5333" y="3413"/>
              <a:ext cx="1242" cy="117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4579" name="Text Box 3"/>
            <p:cNvSpPr txBox="1"/>
            <p:nvPr/>
          </p:nvSpPr>
          <p:spPr>
            <a:xfrm>
              <a:off x="5668" y="3138"/>
              <a:ext cx="760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j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4580" name="Oval 4"/>
            <p:cNvSpPr/>
            <p:nvPr/>
          </p:nvSpPr>
          <p:spPr>
            <a:xfrm>
              <a:off x="2845" y="5325"/>
              <a:ext cx="1245" cy="117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4581" name="Text Box 5"/>
            <p:cNvSpPr txBox="1"/>
            <p:nvPr/>
          </p:nvSpPr>
          <p:spPr>
            <a:xfrm>
              <a:off x="3045" y="5168"/>
              <a:ext cx="758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k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cxnSp>
          <p:nvCxnSpPr>
            <p:cNvPr id="24582" name="AutoShape 6"/>
            <p:cNvCxnSpPr>
              <a:stCxn id="24578" idx="3"/>
              <a:endCxn id="24580" idx="7"/>
            </p:cNvCxnSpPr>
            <p:nvPr/>
          </p:nvCxnSpPr>
          <p:spPr>
            <a:xfrm flipH="1">
              <a:off x="3908" y="4410"/>
              <a:ext cx="1605" cy="1085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4583" name="AutoShape 7"/>
            <p:cNvSpPr/>
            <p:nvPr/>
          </p:nvSpPr>
          <p:spPr>
            <a:xfrm>
              <a:off x="360" y="7238"/>
              <a:ext cx="2373" cy="3082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cxnSp>
          <p:nvCxnSpPr>
            <p:cNvPr id="24584" name="AutoShape 8"/>
            <p:cNvCxnSpPr>
              <a:stCxn id="24580" idx="3"/>
              <a:endCxn id="24583" idx="0"/>
            </p:cNvCxnSpPr>
            <p:nvPr/>
          </p:nvCxnSpPr>
          <p:spPr>
            <a:xfrm flipH="1">
              <a:off x="1548" y="6325"/>
              <a:ext cx="1480" cy="913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4585" name="Text Box 9"/>
            <p:cNvSpPr txBox="1"/>
            <p:nvPr/>
          </p:nvSpPr>
          <p:spPr>
            <a:xfrm>
              <a:off x="1150" y="8833"/>
              <a:ext cx="760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X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4586" name="AutoShape 10"/>
            <p:cNvSpPr/>
            <p:nvPr/>
          </p:nvSpPr>
          <p:spPr>
            <a:xfrm>
              <a:off x="4315" y="7345"/>
              <a:ext cx="2260" cy="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4587" name="Text Box 11"/>
            <p:cNvSpPr txBox="1"/>
            <p:nvPr/>
          </p:nvSpPr>
          <p:spPr>
            <a:xfrm>
              <a:off x="4958" y="7750"/>
              <a:ext cx="762" cy="14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Y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4588" name="AutoShape 12"/>
            <p:cNvSpPr/>
            <p:nvPr/>
          </p:nvSpPr>
          <p:spPr>
            <a:xfrm>
              <a:off x="7253" y="5963"/>
              <a:ext cx="2375" cy="180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4589" name="Text Box 13"/>
            <p:cNvSpPr txBox="1"/>
            <p:nvPr/>
          </p:nvSpPr>
          <p:spPr>
            <a:xfrm>
              <a:off x="7975" y="6303"/>
              <a:ext cx="760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Z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cxnSp>
          <p:nvCxnSpPr>
            <p:cNvPr id="24590" name="AutoShape 14"/>
            <p:cNvCxnSpPr>
              <a:stCxn id="24580" idx="5"/>
              <a:endCxn id="24586" idx="0"/>
            </p:cNvCxnSpPr>
            <p:nvPr/>
          </p:nvCxnSpPr>
          <p:spPr>
            <a:xfrm>
              <a:off x="3908" y="6325"/>
              <a:ext cx="1537" cy="102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4591" name="AutoShape 15"/>
            <p:cNvCxnSpPr>
              <a:stCxn id="24578" idx="5"/>
              <a:endCxn id="24588" idx="0"/>
            </p:cNvCxnSpPr>
            <p:nvPr/>
          </p:nvCxnSpPr>
          <p:spPr>
            <a:xfrm>
              <a:off x="6395" y="4410"/>
              <a:ext cx="2045" cy="1553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4596" name="Text Box 22"/>
            <p:cNvSpPr txBox="1"/>
            <p:nvPr/>
          </p:nvSpPr>
          <p:spPr>
            <a:xfrm>
              <a:off x="8548" y="5880"/>
              <a:ext cx="512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24597" name="Text Box 25"/>
            <p:cNvSpPr txBox="1"/>
            <p:nvPr/>
          </p:nvSpPr>
          <p:spPr>
            <a:xfrm>
              <a:off x="1708" y="7175"/>
              <a:ext cx="967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h+1</a:t>
              </a:r>
            </a:p>
          </p:txBody>
        </p:sp>
        <p:sp>
          <p:nvSpPr>
            <p:cNvPr id="24598" name="Text Box 26"/>
            <p:cNvSpPr txBox="1"/>
            <p:nvPr/>
          </p:nvSpPr>
          <p:spPr>
            <a:xfrm>
              <a:off x="5548" y="7200"/>
              <a:ext cx="512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24599" name="Text Box 24"/>
            <p:cNvSpPr txBox="1"/>
            <p:nvPr/>
          </p:nvSpPr>
          <p:spPr>
            <a:xfrm>
              <a:off x="3028" y="4823"/>
              <a:ext cx="840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4600" name="Text Box 25"/>
            <p:cNvSpPr txBox="1"/>
            <p:nvPr/>
          </p:nvSpPr>
          <p:spPr>
            <a:xfrm>
              <a:off x="5788" y="2783"/>
              <a:ext cx="840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chemeClr val="hlink"/>
                  </a:solidFill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Oval 2"/>
          <p:cNvSpPr/>
          <p:nvPr/>
        </p:nvSpPr>
        <p:spPr>
          <a:xfrm>
            <a:off x="3368675" y="2243138"/>
            <a:ext cx="788988" cy="742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5603" name="Text Box 3"/>
          <p:cNvSpPr txBox="1"/>
          <p:nvPr/>
        </p:nvSpPr>
        <p:spPr>
          <a:xfrm>
            <a:off x="3640138" y="2028825"/>
            <a:ext cx="48260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5604" name="Oval 4"/>
          <p:cNvSpPr/>
          <p:nvPr/>
        </p:nvSpPr>
        <p:spPr>
          <a:xfrm>
            <a:off x="1789113" y="3457575"/>
            <a:ext cx="790575" cy="742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5605" name="Text Box 5"/>
          <p:cNvSpPr txBox="1"/>
          <p:nvPr/>
        </p:nvSpPr>
        <p:spPr>
          <a:xfrm>
            <a:off x="1916113" y="3357563"/>
            <a:ext cx="481012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25606" name="AutoShape 6"/>
          <p:cNvCxnSpPr>
            <a:stCxn id="25602" idx="3"/>
            <a:endCxn id="25604" idx="7"/>
          </p:cNvCxnSpPr>
          <p:nvPr/>
        </p:nvCxnSpPr>
        <p:spPr>
          <a:xfrm flipH="1">
            <a:off x="2463800" y="2876550"/>
            <a:ext cx="1019175" cy="6889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607" name="AutoShape 7"/>
          <p:cNvSpPr/>
          <p:nvPr/>
        </p:nvSpPr>
        <p:spPr>
          <a:xfrm>
            <a:off x="211138" y="4672013"/>
            <a:ext cx="1506537" cy="1957387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25608" name="AutoShape 8"/>
          <p:cNvCxnSpPr>
            <a:stCxn id="25604" idx="3"/>
            <a:endCxn id="25607" idx="0"/>
          </p:cNvCxnSpPr>
          <p:nvPr/>
        </p:nvCxnSpPr>
        <p:spPr>
          <a:xfrm flipH="1">
            <a:off x="965200" y="4092575"/>
            <a:ext cx="939800" cy="579438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609" name="Text Box 9"/>
          <p:cNvSpPr txBox="1"/>
          <p:nvPr/>
        </p:nvSpPr>
        <p:spPr>
          <a:xfrm>
            <a:off x="712788" y="5684838"/>
            <a:ext cx="48260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X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5610" name="AutoShape 10"/>
          <p:cNvSpPr/>
          <p:nvPr/>
        </p:nvSpPr>
        <p:spPr>
          <a:xfrm>
            <a:off x="2722563" y="4740275"/>
            <a:ext cx="1435100" cy="10795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5611" name="Text Box 11"/>
          <p:cNvSpPr txBox="1"/>
          <p:nvPr/>
        </p:nvSpPr>
        <p:spPr>
          <a:xfrm>
            <a:off x="3130550" y="4997450"/>
            <a:ext cx="484188" cy="915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Y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5612" name="AutoShape 12"/>
          <p:cNvSpPr/>
          <p:nvPr/>
        </p:nvSpPr>
        <p:spPr>
          <a:xfrm>
            <a:off x="4587875" y="3862388"/>
            <a:ext cx="1508125" cy="114776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5613" name="Text Box 13"/>
          <p:cNvSpPr txBox="1"/>
          <p:nvPr/>
        </p:nvSpPr>
        <p:spPr>
          <a:xfrm>
            <a:off x="5046663" y="4078288"/>
            <a:ext cx="48260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25614" name="AutoShape 14"/>
          <p:cNvCxnSpPr>
            <a:stCxn id="25604" idx="5"/>
            <a:endCxn id="25610" idx="0"/>
          </p:cNvCxnSpPr>
          <p:nvPr/>
        </p:nvCxnSpPr>
        <p:spPr>
          <a:xfrm>
            <a:off x="2463800" y="4092575"/>
            <a:ext cx="976313" cy="6477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5615" name="AutoShape 15"/>
          <p:cNvCxnSpPr>
            <a:stCxn id="25602" idx="5"/>
            <a:endCxn id="25612" idx="0"/>
          </p:cNvCxnSpPr>
          <p:nvPr/>
        </p:nvCxnSpPr>
        <p:spPr>
          <a:xfrm>
            <a:off x="4043363" y="2876550"/>
            <a:ext cx="1298575" cy="985838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5616" name="Line 16"/>
          <p:cNvSpPr/>
          <p:nvPr/>
        </p:nvSpPr>
        <p:spPr>
          <a:xfrm>
            <a:off x="6319838" y="5010150"/>
            <a:ext cx="1506537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17" name="Line 17"/>
          <p:cNvSpPr/>
          <p:nvPr/>
        </p:nvSpPr>
        <p:spPr>
          <a:xfrm>
            <a:off x="6319838" y="5819775"/>
            <a:ext cx="1506537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18" name="Line 18"/>
          <p:cNvSpPr/>
          <p:nvPr/>
        </p:nvSpPr>
        <p:spPr>
          <a:xfrm>
            <a:off x="6319838" y="6561138"/>
            <a:ext cx="1506537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5619" name="Text Box 19"/>
          <p:cNvSpPr txBox="1"/>
          <p:nvPr/>
        </p:nvSpPr>
        <p:spPr>
          <a:xfrm>
            <a:off x="4621213" y="976313"/>
            <a:ext cx="4283075" cy="1200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Do a </a:t>
            </a:r>
            <a:r>
              <a:rPr lang="en-US" altLang="zh-CN" sz="2400" dirty="0">
                <a:solidFill>
                  <a:schemeClr val="accent2"/>
                </a:solidFill>
              </a:rPr>
              <a:t>“Right rotation”: rotate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the trouble finder around 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the son of it.</a:t>
            </a:r>
          </a:p>
        </p:txBody>
      </p:sp>
      <p:sp>
        <p:nvSpPr>
          <p:cNvPr id="25620" name="Freeform 21"/>
          <p:cNvSpPr/>
          <p:nvPr/>
        </p:nvSpPr>
        <p:spPr>
          <a:xfrm>
            <a:off x="1981200" y="2352675"/>
            <a:ext cx="1200150" cy="1014413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639" h="579">
                <a:moveTo>
                  <a:pt x="0" y="579"/>
                </a:moveTo>
                <a:cubicBezTo>
                  <a:pt x="31" y="377"/>
                  <a:pt x="63" y="176"/>
                  <a:pt x="169" y="88"/>
                </a:cubicBezTo>
                <a:cubicBezTo>
                  <a:pt x="275" y="0"/>
                  <a:pt x="457" y="26"/>
                  <a:pt x="639" y="52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21" name="Oval 22"/>
          <p:cNvSpPr/>
          <p:nvPr/>
        </p:nvSpPr>
        <p:spPr>
          <a:xfrm rot="-2100000">
            <a:off x="1219200" y="2505075"/>
            <a:ext cx="3429000" cy="1487488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5622" name="Text Box 27"/>
          <p:cNvSpPr txBox="1"/>
          <p:nvPr/>
        </p:nvSpPr>
        <p:spPr>
          <a:xfrm>
            <a:off x="5410200" y="3648075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25623" name="Text Box 28"/>
          <p:cNvSpPr txBox="1"/>
          <p:nvPr/>
        </p:nvSpPr>
        <p:spPr>
          <a:xfrm>
            <a:off x="1066800" y="4638675"/>
            <a:ext cx="6143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h+1</a:t>
            </a:r>
          </a:p>
        </p:txBody>
      </p:sp>
      <p:sp>
        <p:nvSpPr>
          <p:cNvPr id="25624" name="Text Box 29"/>
          <p:cNvSpPr txBox="1"/>
          <p:nvPr/>
        </p:nvSpPr>
        <p:spPr>
          <a:xfrm>
            <a:off x="3581400" y="4562475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25625" name="Text Box 24"/>
          <p:cNvSpPr txBox="1"/>
          <p:nvPr/>
        </p:nvSpPr>
        <p:spPr>
          <a:xfrm>
            <a:off x="1981200" y="3128963"/>
            <a:ext cx="533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5626" name="Text Box 25"/>
          <p:cNvSpPr txBox="1"/>
          <p:nvPr/>
        </p:nvSpPr>
        <p:spPr>
          <a:xfrm>
            <a:off x="3733800" y="1909763"/>
            <a:ext cx="533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8" name="Line 14"/>
          <p:cNvSpPr/>
          <p:nvPr/>
        </p:nvSpPr>
        <p:spPr>
          <a:xfrm>
            <a:off x="7064375" y="4486275"/>
            <a:ext cx="1506538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6639" name="Line 15"/>
          <p:cNvSpPr/>
          <p:nvPr/>
        </p:nvSpPr>
        <p:spPr>
          <a:xfrm>
            <a:off x="7064375" y="5295900"/>
            <a:ext cx="1506538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6640" name="Line 16"/>
          <p:cNvSpPr/>
          <p:nvPr/>
        </p:nvSpPr>
        <p:spPr>
          <a:xfrm>
            <a:off x="7064375" y="6037263"/>
            <a:ext cx="1506538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2" name="组合 1"/>
          <p:cNvGrpSpPr/>
          <p:nvPr/>
        </p:nvGrpSpPr>
        <p:grpSpPr>
          <a:xfrm>
            <a:off x="821055" y="1504950"/>
            <a:ext cx="5883910" cy="4600575"/>
            <a:chOff x="1293" y="2370"/>
            <a:chExt cx="9266" cy="7245"/>
          </a:xfrm>
        </p:grpSpPr>
        <p:sp>
          <p:nvSpPr>
            <p:cNvPr id="26626" name="Oval 2"/>
            <p:cNvSpPr/>
            <p:nvPr/>
          </p:nvSpPr>
          <p:spPr>
            <a:xfrm>
              <a:off x="6265" y="2708"/>
              <a:ext cx="1243" cy="117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6627" name="Text Box 3"/>
            <p:cNvSpPr txBox="1"/>
            <p:nvPr/>
          </p:nvSpPr>
          <p:spPr>
            <a:xfrm>
              <a:off x="6693" y="2370"/>
              <a:ext cx="760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j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6628" name="Oval 4"/>
            <p:cNvSpPr/>
            <p:nvPr/>
          </p:nvSpPr>
          <p:spPr>
            <a:xfrm>
              <a:off x="3778" y="4620"/>
              <a:ext cx="1245" cy="117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6629" name="Text Box 5"/>
            <p:cNvSpPr txBox="1"/>
            <p:nvPr/>
          </p:nvSpPr>
          <p:spPr>
            <a:xfrm>
              <a:off x="3978" y="4463"/>
              <a:ext cx="757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k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6630" name="AutoShape 6"/>
            <p:cNvSpPr/>
            <p:nvPr/>
          </p:nvSpPr>
          <p:spPr>
            <a:xfrm>
              <a:off x="1293" y="6533"/>
              <a:ext cx="2372" cy="3082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cxnSp>
          <p:nvCxnSpPr>
            <p:cNvPr id="26631" name="AutoShape 7"/>
            <p:cNvCxnSpPr>
              <a:stCxn id="26628" idx="3"/>
              <a:endCxn id="26630" idx="0"/>
            </p:cNvCxnSpPr>
            <p:nvPr/>
          </p:nvCxnSpPr>
          <p:spPr>
            <a:xfrm flipH="1">
              <a:off x="2480" y="5620"/>
              <a:ext cx="1480" cy="913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6632" name="Text Box 8"/>
            <p:cNvSpPr txBox="1"/>
            <p:nvPr/>
          </p:nvSpPr>
          <p:spPr>
            <a:xfrm>
              <a:off x="2083" y="8128"/>
              <a:ext cx="760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X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6633" name="AutoShape 9"/>
            <p:cNvSpPr/>
            <p:nvPr/>
          </p:nvSpPr>
          <p:spPr>
            <a:xfrm>
              <a:off x="5248" y="6640"/>
              <a:ext cx="2260" cy="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6634" name="Text Box 10"/>
            <p:cNvSpPr txBox="1"/>
            <p:nvPr/>
          </p:nvSpPr>
          <p:spPr>
            <a:xfrm>
              <a:off x="5890" y="7045"/>
              <a:ext cx="763" cy="14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Y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6635" name="AutoShape 11"/>
            <p:cNvSpPr/>
            <p:nvPr/>
          </p:nvSpPr>
          <p:spPr>
            <a:xfrm>
              <a:off x="8185" y="5258"/>
              <a:ext cx="2375" cy="180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6636" name="Text Box 12"/>
            <p:cNvSpPr txBox="1"/>
            <p:nvPr/>
          </p:nvSpPr>
          <p:spPr>
            <a:xfrm>
              <a:off x="8908" y="5598"/>
              <a:ext cx="760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Z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cxnSp>
          <p:nvCxnSpPr>
            <p:cNvPr id="26637" name="AutoShape 13"/>
            <p:cNvCxnSpPr>
              <a:stCxn id="26626" idx="5"/>
              <a:endCxn id="26635" idx="0"/>
            </p:cNvCxnSpPr>
            <p:nvPr/>
          </p:nvCxnSpPr>
          <p:spPr>
            <a:xfrm>
              <a:off x="7328" y="3705"/>
              <a:ext cx="2045" cy="1553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6641" name="AutoShape 20"/>
            <p:cNvCxnSpPr>
              <a:stCxn id="26626" idx="3"/>
              <a:endCxn id="26635" idx="0"/>
            </p:cNvCxnSpPr>
            <p:nvPr/>
          </p:nvCxnSpPr>
          <p:spPr>
            <a:xfrm flipH="1">
              <a:off x="6375" y="3705"/>
              <a:ext cx="73" cy="3028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6642" name="AutoShape 21"/>
            <p:cNvCxnSpPr>
              <a:stCxn id="26628" idx="7"/>
              <a:endCxn id="26626" idx="3"/>
            </p:cNvCxnSpPr>
            <p:nvPr/>
          </p:nvCxnSpPr>
          <p:spPr>
            <a:xfrm flipV="1">
              <a:off x="4840" y="3705"/>
              <a:ext cx="1608" cy="1088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cxnSp>
        <p:sp>
          <p:nvSpPr>
            <p:cNvPr id="26643" name="Line 23"/>
            <p:cNvSpPr/>
            <p:nvPr/>
          </p:nvSpPr>
          <p:spPr>
            <a:xfrm>
              <a:off x="5400" y="4080"/>
              <a:ext cx="600" cy="36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4" name="Line 24"/>
            <p:cNvSpPr/>
            <p:nvPr/>
          </p:nvSpPr>
          <p:spPr>
            <a:xfrm flipH="1">
              <a:off x="5400" y="3960"/>
              <a:ext cx="480" cy="60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26645" name="AutoShape 25"/>
            <p:cNvCxnSpPr>
              <a:stCxn id="26628" idx="5"/>
              <a:endCxn id="26633" idx="0"/>
            </p:cNvCxnSpPr>
            <p:nvPr/>
          </p:nvCxnSpPr>
          <p:spPr>
            <a:xfrm>
              <a:off x="4840" y="5618"/>
              <a:ext cx="1538" cy="1022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cxnSp>
        <p:sp>
          <p:nvSpPr>
            <p:cNvPr id="26646" name="Line 26"/>
            <p:cNvSpPr/>
            <p:nvPr/>
          </p:nvSpPr>
          <p:spPr>
            <a:xfrm>
              <a:off x="5280" y="6000"/>
              <a:ext cx="600" cy="36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7" name="Line 27"/>
            <p:cNvSpPr/>
            <p:nvPr/>
          </p:nvSpPr>
          <p:spPr>
            <a:xfrm flipH="1">
              <a:off x="5280" y="5880"/>
              <a:ext cx="480" cy="60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48" name="Text Box 32"/>
            <p:cNvSpPr txBox="1"/>
            <p:nvPr/>
          </p:nvSpPr>
          <p:spPr>
            <a:xfrm>
              <a:off x="8160" y="5040"/>
              <a:ext cx="513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26649" name="Text Box 33"/>
            <p:cNvSpPr txBox="1"/>
            <p:nvPr/>
          </p:nvSpPr>
          <p:spPr>
            <a:xfrm>
              <a:off x="2880" y="6360"/>
              <a:ext cx="968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h+1</a:t>
              </a:r>
            </a:p>
          </p:txBody>
        </p:sp>
        <p:sp>
          <p:nvSpPr>
            <p:cNvPr id="26650" name="Text Box 34"/>
            <p:cNvSpPr txBox="1"/>
            <p:nvPr/>
          </p:nvSpPr>
          <p:spPr>
            <a:xfrm>
              <a:off x="6600" y="6360"/>
              <a:ext cx="513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9" name="Line 12"/>
          <p:cNvSpPr/>
          <p:nvPr/>
        </p:nvSpPr>
        <p:spPr>
          <a:xfrm>
            <a:off x="7064375" y="4360863"/>
            <a:ext cx="1506538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7660" name="Line 13"/>
          <p:cNvSpPr/>
          <p:nvPr/>
        </p:nvSpPr>
        <p:spPr>
          <a:xfrm>
            <a:off x="7086600" y="5437188"/>
            <a:ext cx="1506538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7661" name="Text Box 14"/>
          <p:cNvSpPr txBox="1"/>
          <p:nvPr/>
        </p:nvSpPr>
        <p:spPr>
          <a:xfrm>
            <a:off x="5295900" y="1743075"/>
            <a:ext cx="3749675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“Right rotation” done!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(“Left rotation” is mirror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   symmetric)</a:t>
            </a:r>
          </a:p>
        </p:txBody>
      </p:sp>
      <p:sp>
        <p:nvSpPr>
          <p:cNvPr id="27665" name="Text Box 20"/>
          <p:cNvSpPr txBox="1"/>
          <p:nvPr/>
        </p:nvSpPr>
        <p:spPr>
          <a:xfrm>
            <a:off x="1981200" y="5715000"/>
            <a:ext cx="56610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800" dirty="0"/>
              <a:t>AVL property has been restored!</a:t>
            </a:r>
            <a:endParaRPr lang="en-US" altLang="zh-CN" sz="2400" dirty="0"/>
          </a:p>
        </p:txBody>
      </p:sp>
      <p:grpSp>
        <p:nvGrpSpPr>
          <p:cNvPr id="2" name="组合 1"/>
          <p:cNvGrpSpPr/>
          <p:nvPr/>
        </p:nvGrpSpPr>
        <p:grpSpPr>
          <a:xfrm>
            <a:off x="576580" y="1774825"/>
            <a:ext cx="6139815" cy="3760470"/>
            <a:chOff x="908" y="2795"/>
            <a:chExt cx="9669" cy="5922"/>
          </a:xfrm>
        </p:grpSpPr>
        <p:sp>
          <p:nvSpPr>
            <p:cNvPr id="27650" name="Oval 2"/>
            <p:cNvSpPr/>
            <p:nvPr/>
          </p:nvSpPr>
          <p:spPr>
            <a:xfrm>
              <a:off x="7200" y="4560"/>
              <a:ext cx="1243" cy="117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j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27651" name="Oval 4"/>
            <p:cNvSpPr/>
            <p:nvPr/>
          </p:nvSpPr>
          <p:spPr>
            <a:xfrm>
              <a:off x="4340" y="2953"/>
              <a:ext cx="1245" cy="117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7652" name="Text Box 5"/>
            <p:cNvSpPr txBox="1"/>
            <p:nvPr/>
          </p:nvSpPr>
          <p:spPr>
            <a:xfrm>
              <a:off x="4540" y="2795"/>
              <a:ext cx="758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k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7653" name="AutoShape 6"/>
            <p:cNvSpPr/>
            <p:nvPr/>
          </p:nvSpPr>
          <p:spPr>
            <a:xfrm>
              <a:off x="908" y="5498"/>
              <a:ext cx="2372" cy="3082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7654" name="Text Box 7"/>
            <p:cNvSpPr txBox="1"/>
            <p:nvPr/>
          </p:nvSpPr>
          <p:spPr>
            <a:xfrm>
              <a:off x="1698" y="7093"/>
              <a:ext cx="760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X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7655" name="AutoShape 8"/>
            <p:cNvSpPr/>
            <p:nvPr/>
          </p:nvSpPr>
          <p:spPr>
            <a:xfrm>
              <a:off x="5230" y="6870"/>
              <a:ext cx="2260" cy="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7656" name="Text Box 9"/>
            <p:cNvSpPr txBox="1"/>
            <p:nvPr/>
          </p:nvSpPr>
          <p:spPr>
            <a:xfrm>
              <a:off x="5873" y="7275"/>
              <a:ext cx="762" cy="14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Y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7657" name="AutoShape 10"/>
            <p:cNvSpPr/>
            <p:nvPr/>
          </p:nvSpPr>
          <p:spPr>
            <a:xfrm>
              <a:off x="8203" y="6753"/>
              <a:ext cx="2375" cy="180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7658" name="Text Box 11"/>
            <p:cNvSpPr txBox="1"/>
            <p:nvPr/>
          </p:nvSpPr>
          <p:spPr>
            <a:xfrm>
              <a:off x="8925" y="7093"/>
              <a:ext cx="760" cy="1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Z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27662" name="Line 16"/>
            <p:cNvSpPr/>
            <p:nvPr/>
          </p:nvSpPr>
          <p:spPr>
            <a:xfrm flipV="1">
              <a:off x="2090" y="3918"/>
              <a:ext cx="2405" cy="159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3" name="Line 18"/>
            <p:cNvSpPr/>
            <p:nvPr/>
          </p:nvSpPr>
          <p:spPr>
            <a:xfrm flipH="1">
              <a:off x="6358" y="5585"/>
              <a:ext cx="1035" cy="13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4" name="Line 19"/>
            <p:cNvSpPr/>
            <p:nvPr/>
          </p:nvSpPr>
          <p:spPr>
            <a:xfrm>
              <a:off x="8290" y="5550"/>
              <a:ext cx="1105" cy="12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27666" name="AutoShape 21"/>
            <p:cNvCxnSpPr>
              <a:stCxn id="27651" idx="5"/>
              <a:endCxn id="27650" idx="0"/>
            </p:cNvCxnSpPr>
            <p:nvPr/>
          </p:nvCxnSpPr>
          <p:spPr>
            <a:xfrm>
              <a:off x="5403" y="3950"/>
              <a:ext cx="2420" cy="610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7667" name="Oval 23"/>
            <p:cNvSpPr/>
            <p:nvPr/>
          </p:nvSpPr>
          <p:spPr>
            <a:xfrm rot="1680000">
              <a:off x="3720" y="3120"/>
              <a:ext cx="5400" cy="2343"/>
            </a:xfrm>
            <a:prstGeom prst="ellipse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7668" name="Text Box 28"/>
            <p:cNvSpPr txBox="1"/>
            <p:nvPr/>
          </p:nvSpPr>
          <p:spPr>
            <a:xfrm>
              <a:off x="9720" y="6240"/>
              <a:ext cx="513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27669" name="Text Box 29"/>
            <p:cNvSpPr txBox="1"/>
            <p:nvPr/>
          </p:nvSpPr>
          <p:spPr>
            <a:xfrm>
              <a:off x="2520" y="5400"/>
              <a:ext cx="968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h+1</a:t>
              </a:r>
            </a:p>
          </p:txBody>
        </p:sp>
        <p:sp>
          <p:nvSpPr>
            <p:cNvPr id="27670" name="Text Box 30"/>
            <p:cNvSpPr txBox="1"/>
            <p:nvPr/>
          </p:nvSpPr>
          <p:spPr>
            <a:xfrm>
              <a:off x="6600" y="6360"/>
              <a:ext cx="513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框 5"/>
          <p:cNvSpPr txBox="1"/>
          <p:nvPr>
            <p:custDataLst>
              <p:tags r:id="rId2"/>
            </p:custDataLst>
          </p:nvPr>
        </p:nvSpPr>
        <p:spPr>
          <a:xfrm>
            <a:off x="914400" y="428625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Rebalance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the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following BST: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正常使用主观题需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2.0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以上版本雨课堂</a:t>
            </a:r>
          </a:p>
        </p:txBody>
      </p:sp>
      <p:grpSp>
        <p:nvGrpSpPr>
          <p:cNvPr id="28677" name="组合 13"/>
          <p:cNvGrpSpPr/>
          <p:nvPr/>
        </p:nvGrpSpPr>
        <p:grpSpPr>
          <a:xfrm>
            <a:off x="2286000" y="1905000"/>
            <a:ext cx="3138488" cy="3200400"/>
            <a:chOff x="4405313" y="1981200"/>
            <a:chExt cx="3138487" cy="3200400"/>
          </a:xfrm>
        </p:grpSpPr>
        <p:sp>
          <p:nvSpPr>
            <p:cNvPr id="28684" name="Text Box 23"/>
            <p:cNvSpPr txBox="1"/>
            <p:nvPr/>
          </p:nvSpPr>
          <p:spPr>
            <a:xfrm>
              <a:off x="4475163" y="3597275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685" name="Text Box 25"/>
            <p:cNvSpPr txBox="1"/>
            <p:nvPr/>
          </p:nvSpPr>
          <p:spPr>
            <a:xfrm>
              <a:off x="5776913" y="3597275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686" name="Oval 67"/>
            <p:cNvSpPr/>
            <p:nvPr/>
          </p:nvSpPr>
          <p:spPr>
            <a:xfrm>
              <a:off x="6157913" y="2606675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8687" name="Oval 68"/>
            <p:cNvSpPr/>
            <p:nvPr/>
          </p:nvSpPr>
          <p:spPr>
            <a:xfrm>
              <a:off x="5091113" y="3200400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8688" name="Oval 69"/>
            <p:cNvSpPr/>
            <p:nvPr/>
          </p:nvSpPr>
          <p:spPr>
            <a:xfrm>
              <a:off x="7072313" y="3200400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8689" name="Oval 70"/>
            <p:cNvSpPr/>
            <p:nvPr/>
          </p:nvSpPr>
          <p:spPr>
            <a:xfrm>
              <a:off x="6462713" y="3902075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8690" name="Oval 71"/>
            <p:cNvSpPr/>
            <p:nvPr/>
          </p:nvSpPr>
          <p:spPr>
            <a:xfrm>
              <a:off x="4405313" y="3902075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691" name="Oval 72"/>
            <p:cNvSpPr/>
            <p:nvPr/>
          </p:nvSpPr>
          <p:spPr>
            <a:xfrm>
              <a:off x="5700713" y="3902075"/>
              <a:ext cx="457200" cy="45720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5</a:t>
              </a:r>
            </a:p>
          </p:txBody>
        </p:sp>
        <p:cxnSp>
          <p:nvCxnSpPr>
            <p:cNvPr id="28692" name="AutoShape 73"/>
            <p:cNvCxnSpPr>
              <a:stCxn id="28686" idx="3"/>
              <a:endCxn id="28687" idx="7"/>
            </p:cNvCxnSpPr>
            <p:nvPr/>
          </p:nvCxnSpPr>
          <p:spPr>
            <a:xfrm flipH="1">
              <a:off x="5481638" y="2997200"/>
              <a:ext cx="742950" cy="269875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693" name="AutoShape 74"/>
            <p:cNvCxnSpPr>
              <a:stCxn id="28686" idx="3"/>
              <a:endCxn id="28688" idx="1"/>
            </p:cNvCxnSpPr>
            <p:nvPr/>
          </p:nvCxnSpPr>
          <p:spPr>
            <a:xfrm>
              <a:off x="6615113" y="2938743"/>
              <a:ext cx="524155" cy="328612"/>
            </a:xfrm>
            <a:prstGeom prst="straightConnector1">
              <a:avLst/>
            </a:prstGeom>
            <a:ln w="254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694" name="AutoShape 75"/>
            <p:cNvCxnSpPr>
              <a:stCxn id="28687" idx="3"/>
              <a:endCxn id="28690" idx="0"/>
            </p:cNvCxnSpPr>
            <p:nvPr/>
          </p:nvCxnSpPr>
          <p:spPr>
            <a:xfrm flipH="1">
              <a:off x="4633913" y="3590925"/>
              <a:ext cx="523875" cy="31115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695" name="AutoShape 76"/>
            <p:cNvCxnSpPr>
              <a:stCxn id="28687" idx="5"/>
              <a:endCxn id="28691" idx="0"/>
            </p:cNvCxnSpPr>
            <p:nvPr/>
          </p:nvCxnSpPr>
          <p:spPr>
            <a:xfrm>
              <a:off x="5481638" y="3590925"/>
              <a:ext cx="447675" cy="311150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8696" name="AutoShape 77"/>
            <p:cNvCxnSpPr>
              <a:stCxn id="28688" idx="3"/>
              <a:endCxn id="28689" idx="7"/>
            </p:cNvCxnSpPr>
            <p:nvPr/>
          </p:nvCxnSpPr>
          <p:spPr>
            <a:xfrm flipH="1">
              <a:off x="6852958" y="3590645"/>
              <a:ext cx="286310" cy="378385"/>
            </a:xfrm>
            <a:prstGeom prst="straightConnector1">
              <a:avLst/>
            </a:prstGeom>
            <a:ln w="2540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8697" name="Text Box 79"/>
            <p:cNvSpPr txBox="1"/>
            <p:nvPr/>
          </p:nvSpPr>
          <p:spPr>
            <a:xfrm>
              <a:off x="5160963" y="2895600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8698" name="Text Box 121"/>
            <p:cNvSpPr txBox="1"/>
            <p:nvPr/>
          </p:nvSpPr>
          <p:spPr>
            <a:xfrm>
              <a:off x="5867400" y="1981200"/>
              <a:ext cx="1676400" cy="396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Tree B </a:t>
              </a:r>
            </a:p>
          </p:txBody>
        </p:sp>
        <p:grpSp>
          <p:nvGrpSpPr>
            <p:cNvPr id="28699" name="Group 45"/>
            <p:cNvGrpSpPr/>
            <p:nvPr/>
          </p:nvGrpSpPr>
          <p:grpSpPr>
            <a:xfrm>
              <a:off x="6003925" y="4292600"/>
              <a:ext cx="523875" cy="889000"/>
              <a:chOff x="3782" y="2704"/>
              <a:chExt cx="330" cy="560"/>
            </a:xfrm>
          </p:grpSpPr>
          <p:sp>
            <p:nvSpPr>
              <p:cNvPr id="28704" name="Oval 59"/>
              <p:cNvSpPr/>
              <p:nvPr/>
            </p:nvSpPr>
            <p:spPr>
              <a:xfrm>
                <a:off x="3782" y="2976"/>
                <a:ext cx="288" cy="288"/>
              </a:xfrm>
              <a:prstGeom prst="ellipse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28705" name="AutoShape 60"/>
              <p:cNvCxnSpPr>
                <a:stCxn id="28688" idx="3"/>
                <a:endCxn id="28704" idx="0"/>
              </p:cNvCxnSpPr>
              <p:nvPr/>
            </p:nvCxnSpPr>
            <p:spPr>
              <a:xfrm flipH="1">
                <a:off x="3926" y="2704"/>
                <a:ext cx="186" cy="272"/>
              </a:xfrm>
              <a:prstGeom prst="straightConnector1">
                <a:avLst/>
              </a:prstGeom>
              <a:ln w="25400" cap="flat" cmpd="sng">
                <a:solidFill>
                  <a:srgbClr val="009900"/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  <p:sp>
          <p:nvSpPr>
            <p:cNvPr id="28700" name="Text Box 3"/>
            <p:cNvSpPr txBox="1"/>
            <p:nvPr/>
          </p:nvSpPr>
          <p:spPr>
            <a:xfrm>
              <a:off x="7162800" y="2879725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701" name="Text Box 4"/>
            <p:cNvSpPr txBox="1"/>
            <p:nvPr/>
          </p:nvSpPr>
          <p:spPr>
            <a:xfrm>
              <a:off x="6507956" y="3541713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8702" name="Text Box 6"/>
            <p:cNvSpPr txBox="1"/>
            <p:nvPr/>
          </p:nvSpPr>
          <p:spPr>
            <a:xfrm>
              <a:off x="6180930" y="2292350"/>
              <a:ext cx="398463" cy="4000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28703" name="Text Box 58"/>
            <p:cNvSpPr txBox="1"/>
            <p:nvPr/>
          </p:nvSpPr>
          <p:spPr>
            <a:xfrm>
              <a:off x="6004417" y="4384675"/>
              <a:ext cx="311150" cy="39687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8678" name="组合 11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682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28683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28679" name="图片 4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AutoShape 3"/>
          <p:cNvSpPr/>
          <p:nvPr/>
        </p:nvSpPr>
        <p:spPr>
          <a:xfrm>
            <a:off x="457200" y="76200"/>
            <a:ext cx="8458200" cy="3352800"/>
          </a:xfrm>
          <a:prstGeom prst="foldedCorner">
            <a:avLst>
              <a:gd name="adj" fmla="val 9009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08000" tIns="82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Static Position SingleRightRotate(Position K2)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Position K1;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K1=K2-&gt;Left;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K2-&gt;Left=K1-&gt;Right;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K1-&gt;Right=K2;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K2-&gt;Height=Max( Height(K2-&gt;Left), Height(K2-&gt;Right))+1:  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K1-&gt;Height=Max( Height(K1-&gt;Left), K2-&gt;Height)+1:  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rPr>
              <a:t> return K1</a:t>
            </a:r>
            <a:r>
              <a:rPr lang="en-US" altLang="zh-CN" sz="1800" b="1" dirty="0">
                <a:latin typeface="Arial" panose="020B0604020202020204" pitchFamily="34" charset="0"/>
              </a:rPr>
              <a:t>; }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08685" y="4048760"/>
            <a:ext cx="3582670" cy="2421890"/>
            <a:chOff x="360" y="6376"/>
            <a:chExt cx="5642" cy="3814"/>
          </a:xfrm>
        </p:grpSpPr>
        <p:cxnSp>
          <p:nvCxnSpPr>
            <p:cNvPr id="26" name="直接箭头连接符 25"/>
            <p:cNvCxnSpPr/>
            <p:nvPr/>
          </p:nvCxnSpPr>
          <p:spPr>
            <a:xfrm flipH="1">
              <a:off x="3574" y="7146"/>
              <a:ext cx="840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9701" name="文本框 26"/>
            <p:cNvSpPr txBox="1"/>
            <p:nvPr/>
          </p:nvSpPr>
          <p:spPr>
            <a:xfrm>
              <a:off x="4322" y="6796"/>
              <a:ext cx="1680" cy="5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Comic Sans MS" panose="030F0702030302020204" pitchFamily="66" charset="0"/>
                </a:rPr>
                <a:t>K2 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cxnSp>
          <p:nvCxnSpPr>
            <p:cNvPr id="28" name="直接箭头连接符 27"/>
            <p:cNvCxnSpPr/>
            <p:nvPr/>
          </p:nvCxnSpPr>
          <p:spPr>
            <a:xfrm flipH="1">
              <a:off x="2325" y="8087"/>
              <a:ext cx="840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29703" name="文本框 28"/>
            <p:cNvSpPr txBox="1"/>
            <p:nvPr/>
          </p:nvSpPr>
          <p:spPr>
            <a:xfrm>
              <a:off x="3073" y="7737"/>
              <a:ext cx="1680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dirty="0">
                  <a:latin typeface="Comic Sans MS" panose="030F0702030302020204" pitchFamily="66" charset="0"/>
                </a:rPr>
                <a:t>K1 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360" y="6376"/>
              <a:ext cx="4570" cy="3815"/>
              <a:chOff x="360" y="2336"/>
              <a:chExt cx="9268" cy="7984"/>
            </a:xfrm>
          </p:grpSpPr>
          <p:sp>
            <p:nvSpPr>
              <p:cNvPr id="24578" name="Oval 2"/>
              <p:cNvSpPr/>
              <p:nvPr/>
            </p:nvSpPr>
            <p:spPr>
              <a:xfrm>
                <a:off x="5333" y="3413"/>
                <a:ext cx="1242" cy="117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zh-CN" sz="2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579" name="Text Box 3"/>
              <p:cNvSpPr txBox="1"/>
              <p:nvPr/>
            </p:nvSpPr>
            <p:spPr>
              <a:xfrm>
                <a:off x="5560" y="3299"/>
                <a:ext cx="760" cy="15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400" i="1" dirty="0">
                    <a:latin typeface="Arial" panose="020B0604020202020204" pitchFamily="34" charset="0"/>
                  </a:rPr>
                  <a:t>j</a:t>
                </a:r>
              </a:p>
            </p:txBody>
          </p:sp>
          <p:sp>
            <p:nvSpPr>
              <p:cNvPr id="24580" name="Oval 4"/>
              <p:cNvSpPr/>
              <p:nvPr/>
            </p:nvSpPr>
            <p:spPr>
              <a:xfrm>
                <a:off x="2845" y="5325"/>
                <a:ext cx="1245" cy="117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zh-CN" sz="2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581" name="Text Box 5"/>
              <p:cNvSpPr txBox="1"/>
              <p:nvPr/>
            </p:nvSpPr>
            <p:spPr>
              <a:xfrm>
                <a:off x="3045" y="5168"/>
                <a:ext cx="758" cy="15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50000"/>
                  </a:spcBef>
                  <a:buNone/>
                </a:pPr>
                <a:r>
                  <a:rPr lang="en-US" altLang="zh-CN" sz="2400" i="1" dirty="0">
                    <a:latin typeface="Arial" panose="020B0604020202020204" pitchFamily="34" charset="0"/>
                  </a:rPr>
                  <a:t>k</a:t>
                </a:r>
              </a:p>
            </p:txBody>
          </p:sp>
          <p:cxnSp>
            <p:nvCxnSpPr>
              <p:cNvPr id="24582" name="AutoShape 6"/>
              <p:cNvCxnSpPr>
                <a:stCxn id="24578" idx="3"/>
                <a:endCxn id="24580" idx="7"/>
              </p:cNvCxnSpPr>
              <p:nvPr/>
            </p:nvCxnSpPr>
            <p:spPr>
              <a:xfrm flipH="1">
                <a:off x="3908" y="4410"/>
                <a:ext cx="1605" cy="1085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24583" name="AutoShape 7"/>
              <p:cNvSpPr/>
              <p:nvPr/>
            </p:nvSpPr>
            <p:spPr>
              <a:xfrm>
                <a:off x="360" y="7238"/>
                <a:ext cx="2373" cy="3082"/>
              </a:xfrm>
              <a:prstGeom prst="triangle">
                <a:avLst>
                  <a:gd name="adj" fmla="val 50000"/>
                </a:avLst>
              </a:prstGeom>
              <a:solidFill>
                <a:srgbClr val="00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zh-CN" sz="2000" dirty="0">
                  <a:latin typeface="Arial" panose="020B0604020202020204" pitchFamily="34" charset="0"/>
                </a:endParaRPr>
              </a:p>
            </p:txBody>
          </p:sp>
          <p:cxnSp>
            <p:nvCxnSpPr>
              <p:cNvPr id="24584" name="AutoShape 8"/>
              <p:cNvCxnSpPr>
                <a:stCxn id="24580" idx="3"/>
                <a:endCxn id="24583" idx="0"/>
              </p:cNvCxnSpPr>
              <p:nvPr/>
            </p:nvCxnSpPr>
            <p:spPr>
              <a:xfrm flipH="1">
                <a:off x="1548" y="6325"/>
                <a:ext cx="1480" cy="913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24586" name="AutoShape 10"/>
              <p:cNvSpPr/>
              <p:nvPr/>
            </p:nvSpPr>
            <p:spPr>
              <a:xfrm>
                <a:off x="4315" y="7345"/>
                <a:ext cx="2260" cy="17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zh-CN" sz="20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4588" name="AutoShape 12"/>
              <p:cNvSpPr/>
              <p:nvPr/>
            </p:nvSpPr>
            <p:spPr>
              <a:xfrm>
                <a:off x="7253" y="5963"/>
                <a:ext cx="2375" cy="1807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endParaRPr lang="zh-CN" altLang="zh-CN" sz="2000" dirty="0">
                  <a:latin typeface="Arial" panose="020B0604020202020204" pitchFamily="34" charset="0"/>
                </a:endParaRPr>
              </a:p>
            </p:txBody>
          </p:sp>
          <p:cxnSp>
            <p:nvCxnSpPr>
              <p:cNvPr id="24590" name="AutoShape 14"/>
              <p:cNvCxnSpPr>
                <a:stCxn id="24580" idx="5"/>
                <a:endCxn id="24586" idx="0"/>
              </p:cNvCxnSpPr>
              <p:nvPr/>
            </p:nvCxnSpPr>
            <p:spPr>
              <a:xfrm>
                <a:off x="3908" y="6325"/>
                <a:ext cx="1537" cy="1020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id="24591" name="AutoShape 15"/>
              <p:cNvCxnSpPr>
                <a:stCxn id="24578" idx="5"/>
                <a:endCxn id="24588" idx="0"/>
              </p:cNvCxnSpPr>
              <p:nvPr/>
            </p:nvCxnSpPr>
            <p:spPr>
              <a:xfrm>
                <a:off x="6395" y="4410"/>
                <a:ext cx="2045" cy="1553"/>
              </a:xfrm>
              <a:prstGeom prst="straightConnector1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id="24596" name="Text Box 22"/>
              <p:cNvSpPr txBox="1"/>
              <p:nvPr/>
            </p:nvSpPr>
            <p:spPr>
              <a:xfrm>
                <a:off x="8548" y="5880"/>
                <a:ext cx="512" cy="13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24597" name="Text Box 25"/>
              <p:cNvSpPr txBox="1"/>
              <p:nvPr/>
            </p:nvSpPr>
            <p:spPr>
              <a:xfrm>
                <a:off x="1707" y="7175"/>
                <a:ext cx="2383" cy="13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Arial" panose="020B0604020202020204" pitchFamily="34" charset="0"/>
                  </a:rPr>
                  <a:t>h+1</a:t>
                </a:r>
              </a:p>
            </p:txBody>
          </p:sp>
          <p:sp>
            <p:nvSpPr>
              <p:cNvPr id="24598" name="Text Box 26"/>
              <p:cNvSpPr txBox="1"/>
              <p:nvPr/>
            </p:nvSpPr>
            <p:spPr>
              <a:xfrm>
                <a:off x="5548" y="7200"/>
                <a:ext cx="512" cy="13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24599" name="Text Box 24"/>
              <p:cNvSpPr txBox="1"/>
              <p:nvPr/>
            </p:nvSpPr>
            <p:spPr>
              <a:xfrm>
                <a:off x="3003" y="4169"/>
                <a:ext cx="840" cy="1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1800" dirty="0">
                    <a:solidFill>
                      <a:schemeClr val="hlink"/>
                    </a:solidFill>
                  </a:rPr>
                  <a:t>1</a:t>
                </a:r>
              </a:p>
            </p:txBody>
          </p:sp>
          <p:sp>
            <p:nvSpPr>
              <p:cNvPr id="24600" name="Text Box 25"/>
              <p:cNvSpPr txBox="1"/>
              <p:nvPr/>
            </p:nvSpPr>
            <p:spPr>
              <a:xfrm>
                <a:off x="5560" y="2336"/>
                <a:ext cx="840" cy="12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None/>
                </a:pPr>
                <a:r>
                  <a:rPr lang="en-US" altLang="zh-CN" sz="1800" dirty="0">
                    <a:solidFill>
                      <a:schemeClr val="hlink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4979035" y="4417060"/>
            <a:ext cx="3364865" cy="2081272"/>
            <a:chOff x="908" y="2795"/>
            <a:chExt cx="9670" cy="5785"/>
          </a:xfrm>
        </p:grpSpPr>
        <p:sp>
          <p:nvSpPr>
            <p:cNvPr id="27650" name="Oval 2"/>
            <p:cNvSpPr/>
            <p:nvPr/>
          </p:nvSpPr>
          <p:spPr>
            <a:xfrm>
              <a:off x="7200" y="4560"/>
              <a:ext cx="1243" cy="117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i="1" dirty="0">
                  <a:latin typeface="Arial" panose="020B0604020202020204" pitchFamily="34" charset="0"/>
                </a:rPr>
                <a:t>j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27651" name="Oval 4"/>
            <p:cNvSpPr/>
            <p:nvPr/>
          </p:nvSpPr>
          <p:spPr>
            <a:xfrm>
              <a:off x="4340" y="2953"/>
              <a:ext cx="1245" cy="117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7652" name="Text Box 5"/>
            <p:cNvSpPr txBox="1"/>
            <p:nvPr/>
          </p:nvSpPr>
          <p:spPr>
            <a:xfrm>
              <a:off x="4540" y="2795"/>
              <a:ext cx="758" cy="12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400" i="1" dirty="0">
                  <a:latin typeface="Arial" panose="020B0604020202020204" pitchFamily="34" charset="0"/>
                </a:rPr>
                <a:t>k</a:t>
              </a:r>
            </a:p>
          </p:txBody>
        </p:sp>
        <p:sp>
          <p:nvSpPr>
            <p:cNvPr id="27653" name="AutoShape 6"/>
            <p:cNvSpPr/>
            <p:nvPr/>
          </p:nvSpPr>
          <p:spPr>
            <a:xfrm>
              <a:off x="908" y="5498"/>
              <a:ext cx="2372" cy="3082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7655" name="AutoShape 8"/>
            <p:cNvSpPr/>
            <p:nvPr/>
          </p:nvSpPr>
          <p:spPr>
            <a:xfrm>
              <a:off x="5230" y="6870"/>
              <a:ext cx="2260" cy="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7657" name="AutoShape 10"/>
            <p:cNvSpPr/>
            <p:nvPr/>
          </p:nvSpPr>
          <p:spPr>
            <a:xfrm>
              <a:off x="8203" y="6753"/>
              <a:ext cx="2375" cy="180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27662" name="Line 16"/>
            <p:cNvSpPr/>
            <p:nvPr/>
          </p:nvSpPr>
          <p:spPr>
            <a:xfrm flipV="1">
              <a:off x="2090" y="3918"/>
              <a:ext cx="2405" cy="159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3" name="Line 18"/>
            <p:cNvSpPr/>
            <p:nvPr/>
          </p:nvSpPr>
          <p:spPr>
            <a:xfrm flipH="1">
              <a:off x="6358" y="5585"/>
              <a:ext cx="1035" cy="13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4" name="Line 19"/>
            <p:cNvSpPr/>
            <p:nvPr/>
          </p:nvSpPr>
          <p:spPr>
            <a:xfrm>
              <a:off x="8290" y="5550"/>
              <a:ext cx="1105" cy="12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cxnSp>
          <p:nvCxnSpPr>
            <p:cNvPr id="27666" name="AutoShape 21"/>
            <p:cNvCxnSpPr>
              <a:stCxn id="27651" idx="5"/>
              <a:endCxn id="27650" idx="0"/>
            </p:cNvCxnSpPr>
            <p:nvPr/>
          </p:nvCxnSpPr>
          <p:spPr>
            <a:xfrm>
              <a:off x="5403" y="3950"/>
              <a:ext cx="2420" cy="610"/>
            </a:xfrm>
            <a:prstGeom prst="straightConnector1">
              <a:avLst/>
            </a:prstGeom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7667" name="Oval 23"/>
            <p:cNvSpPr/>
            <p:nvPr/>
          </p:nvSpPr>
          <p:spPr>
            <a:xfrm rot="1680000">
              <a:off x="3720" y="3120"/>
              <a:ext cx="5400" cy="2343"/>
            </a:xfrm>
            <a:prstGeom prst="ellipse">
              <a:avLst/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0"/>
          <p:cNvGrpSpPr/>
          <p:nvPr/>
        </p:nvGrpSpPr>
        <p:grpSpPr>
          <a:xfrm flipH="1">
            <a:off x="457200" y="2438400"/>
            <a:ext cx="1828800" cy="2057400"/>
            <a:chOff x="384" y="2688"/>
            <a:chExt cx="1152" cy="1296"/>
          </a:xfrm>
        </p:grpSpPr>
        <p:grpSp>
          <p:nvGrpSpPr>
            <p:cNvPr id="30765" name="Group 81"/>
            <p:cNvGrpSpPr/>
            <p:nvPr/>
          </p:nvGrpSpPr>
          <p:grpSpPr>
            <a:xfrm>
              <a:off x="672" y="2688"/>
              <a:ext cx="240" cy="384"/>
              <a:chOff x="1008" y="2832"/>
              <a:chExt cx="240" cy="384"/>
            </a:xfrm>
          </p:grpSpPr>
          <p:sp>
            <p:nvSpPr>
              <p:cNvPr id="30777" name="Oval 82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A</a:t>
                </a:r>
              </a:p>
            </p:txBody>
          </p:sp>
          <p:sp>
            <p:nvSpPr>
              <p:cNvPr id="30778" name="Rectangle 83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sym typeface="Symbol" panose="05050102010706020507" pitchFamily="18" charset="2"/>
                  </a:rPr>
                  <a:t>1</a:t>
                </a:r>
                <a:endParaRPr lang="en-US" altLang="zh-CN" sz="1800" dirty="0">
                  <a:solidFill>
                    <a:srgbClr val="009900"/>
                  </a:solidFill>
                </a:endParaRPr>
              </a:p>
            </p:txBody>
          </p:sp>
        </p:grpSp>
        <p:grpSp>
          <p:nvGrpSpPr>
            <p:cNvPr id="30766" name="Group 84"/>
            <p:cNvGrpSpPr/>
            <p:nvPr/>
          </p:nvGrpSpPr>
          <p:grpSpPr>
            <a:xfrm>
              <a:off x="1056" y="2976"/>
              <a:ext cx="240" cy="384"/>
              <a:chOff x="1008" y="2832"/>
              <a:chExt cx="240" cy="384"/>
            </a:xfrm>
          </p:grpSpPr>
          <p:sp>
            <p:nvSpPr>
              <p:cNvPr id="30775" name="Oval 85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B</a:t>
                </a:r>
              </a:p>
            </p:txBody>
          </p:sp>
          <p:sp>
            <p:nvSpPr>
              <p:cNvPr id="30776" name="Rectangle 86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sym typeface="Symbol" panose="05050102010706020507" pitchFamily="18" charset="2"/>
                  </a:rPr>
                  <a:t>0</a:t>
                </a:r>
                <a:endParaRPr lang="en-US" altLang="zh-CN" sz="1800" dirty="0">
                  <a:solidFill>
                    <a:srgbClr val="009900"/>
                  </a:solidFill>
                </a:endParaRPr>
              </a:p>
            </p:txBody>
          </p:sp>
        </p:grpSp>
        <p:sp>
          <p:nvSpPr>
            <p:cNvPr id="30767" name="Line 87"/>
            <p:cNvSpPr/>
            <p:nvPr/>
          </p:nvSpPr>
          <p:spPr>
            <a:xfrm>
              <a:off x="864" y="3024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8" name="Line 88"/>
            <p:cNvSpPr/>
            <p:nvPr/>
          </p:nvSpPr>
          <p:spPr>
            <a:xfrm flipH="1">
              <a:off x="480" y="3024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9" name="Line 89"/>
            <p:cNvSpPr/>
            <p:nvPr/>
          </p:nvSpPr>
          <p:spPr>
            <a:xfrm flipH="1">
              <a:off x="960" y="3312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0" name="Line 90"/>
            <p:cNvSpPr/>
            <p:nvPr/>
          </p:nvSpPr>
          <p:spPr>
            <a:xfrm>
              <a:off x="1248" y="3312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71" name="Rectangle 91"/>
            <p:cNvSpPr/>
            <p:nvPr/>
          </p:nvSpPr>
          <p:spPr>
            <a:xfrm>
              <a:off x="816" y="3456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R</a:t>
              </a:r>
              <a:endParaRPr lang="en-US" altLang="zh-CN" sz="1800" dirty="0"/>
            </a:p>
          </p:txBody>
        </p:sp>
        <p:sp>
          <p:nvSpPr>
            <p:cNvPr id="30772" name="Rectangle 92"/>
            <p:cNvSpPr/>
            <p:nvPr/>
          </p:nvSpPr>
          <p:spPr>
            <a:xfrm>
              <a:off x="1296" y="3456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L</a:t>
              </a:r>
              <a:endParaRPr lang="en-US" altLang="zh-CN" sz="1800" dirty="0"/>
            </a:p>
          </p:txBody>
        </p:sp>
        <p:sp>
          <p:nvSpPr>
            <p:cNvPr id="30773" name="Rectangle 93"/>
            <p:cNvSpPr/>
            <p:nvPr/>
          </p:nvSpPr>
          <p:spPr>
            <a:xfrm>
              <a:off x="384" y="3168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R</a:t>
              </a:r>
              <a:endParaRPr lang="en-US" altLang="zh-CN" sz="1800" dirty="0"/>
            </a:p>
          </p:txBody>
        </p:sp>
        <p:sp>
          <p:nvSpPr>
            <p:cNvPr id="30774" name="Rectangle 94"/>
            <p:cNvSpPr/>
            <p:nvPr/>
          </p:nvSpPr>
          <p:spPr>
            <a:xfrm>
              <a:off x="384" y="3696"/>
              <a:ext cx="240" cy="288"/>
            </a:xfrm>
            <a:prstGeom prst="rect">
              <a:avLst/>
            </a:prstGeom>
            <a:noFill/>
            <a:ln w="25400" cap="rnd" cmpd="sng">
              <a:solidFill>
                <a:schemeClr val="tx1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5" name="Group 95"/>
          <p:cNvGrpSpPr/>
          <p:nvPr/>
        </p:nvGrpSpPr>
        <p:grpSpPr>
          <a:xfrm>
            <a:off x="2438400" y="2667000"/>
            <a:ext cx="1371600" cy="762000"/>
            <a:chOff x="1872" y="2976"/>
            <a:chExt cx="864" cy="480"/>
          </a:xfrm>
        </p:grpSpPr>
        <p:sp>
          <p:nvSpPr>
            <p:cNvPr id="30762" name="AutoShape 96"/>
            <p:cNvSpPr/>
            <p:nvPr/>
          </p:nvSpPr>
          <p:spPr>
            <a:xfrm>
              <a:off x="1872" y="3168"/>
              <a:ext cx="864" cy="96"/>
            </a:xfrm>
            <a:prstGeom prst="rightArrow">
              <a:avLst>
                <a:gd name="adj1" fmla="val 50000"/>
                <a:gd name="adj2" fmla="val 225000"/>
              </a:avLst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763" name="Rectangle 97"/>
            <p:cNvSpPr/>
            <p:nvPr/>
          </p:nvSpPr>
          <p:spPr>
            <a:xfrm>
              <a:off x="1968" y="2976"/>
              <a:ext cx="480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LL</a:t>
              </a:r>
              <a:endParaRPr lang="en-US" altLang="zh-CN" sz="2000" dirty="0"/>
            </a:p>
          </p:txBody>
        </p:sp>
        <p:sp>
          <p:nvSpPr>
            <p:cNvPr id="30764" name="Rectangle 98"/>
            <p:cNvSpPr/>
            <p:nvPr/>
          </p:nvSpPr>
          <p:spPr>
            <a:xfrm>
              <a:off x="1968" y="3264"/>
              <a:ext cx="576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Insertion</a:t>
              </a:r>
            </a:p>
          </p:txBody>
        </p:sp>
      </p:grpSp>
      <p:grpSp>
        <p:nvGrpSpPr>
          <p:cNvPr id="6" name="Group 99"/>
          <p:cNvGrpSpPr/>
          <p:nvPr/>
        </p:nvGrpSpPr>
        <p:grpSpPr>
          <a:xfrm flipH="1">
            <a:off x="3581400" y="2438400"/>
            <a:ext cx="1828800" cy="2513013"/>
            <a:chOff x="2304" y="2640"/>
            <a:chExt cx="1152" cy="1583"/>
          </a:xfrm>
        </p:grpSpPr>
        <p:grpSp>
          <p:nvGrpSpPr>
            <p:cNvPr id="30747" name="Group 100"/>
            <p:cNvGrpSpPr/>
            <p:nvPr/>
          </p:nvGrpSpPr>
          <p:grpSpPr>
            <a:xfrm>
              <a:off x="2592" y="2640"/>
              <a:ext cx="240" cy="384"/>
              <a:chOff x="1008" y="2832"/>
              <a:chExt cx="240" cy="384"/>
            </a:xfrm>
          </p:grpSpPr>
          <p:sp>
            <p:nvSpPr>
              <p:cNvPr id="30760" name="Oval 101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A</a:t>
                </a:r>
              </a:p>
            </p:txBody>
          </p:sp>
          <p:sp>
            <p:nvSpPr>
              <p:cNvPr id="30761" name="Rectangle 102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2</a:t>
                </a:r>
                <a:endParaRPr lang="en-US" altLang="zh-CN" sz="1800" dirty="0"/>
              </a:p>
            </p:txBody>
          </p:sp>
        </p:grpSp>
        <p:grpSp>
          <p:nvGrpSpPr>
            <p:cNvPr id="30748" name="Group 103"/>
            <p:cNvGrpSpPr/>
            <p:nvPr/>
          </p:nvGrpSpPr>
          <p:grpSpPr>
            <a:xfrm>
              <a:off x="2976" y="2928"/>
              <a:ext cx="240" cy="384"/>
              <a:chOff x="1008" y="2832"/>
              <a:chExt cx="240" cy="384"/>
            </a:xfrm>
          </p:grpSpPr>
          <p:sp>
            <p:nvSpPr>
              <p:cNvPr id="30758" name="Oval 104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B</a:t>
                </a:r>
              </a:p>
            </p:txBody>
          </p:sp>
          <p:sp>
            <p:nvSpPr>
              <p:cNvPr id="30759" name="Rectangle 105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sym typeface="Symbol" panose="05050102010706020507" pitchFamily="18" charset="2"/>
                  </a:rPr>
                  <a:t>1</a:t>
                </a:r>
              </a:p>
            </p:txBody>
          </p:sp>
        </p:grpSp>
        <p:sp>
          <p:nvSpPr>
            <p:cNvPr id="30749" name="Line 106"/>
            <p:cNvSpPr/>
            <p:nvPr/>
          </p:nvSpPr>
          <p:spPr>
            <a:xfrm>
              <a:off x="2784" y="2976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0" name="Line 107"/>
            <p:cNvSpPr/>
            <p:nvPr/>
          </p:nvSpPr>
          <p:spPr>
            <a:xfrm flipH="1">
              <a:off x="2400" y="2976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1" name="Line 108"/>
            <p:cNvSpPr/>
            <p:nvPr/>
          </p:nvSpPr>
          <p:spPr>
            <a:xfrm flipH="1">
              <a:off x="2880" y="3264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2" name="Line 109"/>
            <p:cNvSpPr/>
            <p:nvPr/>
          </p:nvSpPr>
          <p:spPr>
            <a:xfrm>
              <a:off x="3168" y="3264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3" name="Rectangle 110"/>
            <p:cNvSpPr/>
            <p:nvPr/>
          </p:nvSpPr>
          <p:spPr>
            <a:xfrm>
              <a:off x="2736" y="3408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R</a:t>
              </a:r>
              <a:endParaRPr lang="en-US" altLang="zh-CN" sz="1800" dirty="0"/>
            </a:p>
          </p:txBody>
        </p:sp>
        <p:sp>
          <p:nvSpPr>
            <p:cNvPr id="30754" name="Rectangle 111"/>
            <p:cNvSpPr/>
            <p:nvPr/>
          </p:nvSpPr>
          <p:spPr>
            <a:xfrm>
              <a:off x="3216" y="3408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L</a:t>
              </a:r>
              <a:endParaRPr lang="en-US" altLang="zh-CN" sz="1800" dirty="0"/>
            </a:p>
          </p:txBody>
        </p:sp>
        <p:sp>
          <p:nvSpPr>
            <p:cNvPr id="30755" name="Rectangle 112"/>
            <p:cNvSpPr/>
            <p:nvPr/>
          </p:nvSpPr>
          <p:spPr>
            <a:xfrm>
              <a:off x="2304" y="3120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R</a:t>
              </a:r>
              <a:endParaRPr lang="en-US" altLang="zh-CN" sz="1800" dirty="0"/>
            </a:p>
          </p:txBody>
        </p:sp>
        <p:sp>
          <p:nvSpPr>
            <p:cNvPr id="30756" name="Rectangle 113"/>
            <p:cNvSpPr/>
            <p:nvPr/>
          </p:nvSpPr>
          <p:spPr>
            <a:xfrm>
              <a:off x="2304" y="3648"/>
              <a:ext cx="240" cy="288"/>
            </a:xfrm>
            <a:prstGeom prst="rect">
              <a:avLst/>
            </a:prstGeom>
            <a:noFill/>
            <a:ln w="25400" cap="rnd" cmpd="sng">
              <a:solidFill>
                <a:schemeClr val="tx1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757" name="Rectangle 114"/>
            <p:cNvSpPr/>
            <p:nvPr/>
          </p:nvSpPr>
          <p:spPr>
            <a:xfrm>
              <a:off x="3216" y="3935"/>
              <a:ext cx="240" cy="288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9" name="Group 115"/>
          <p:cNvGrpSpPr/>
          <p:nvPr/>
        </p:nvGrpSpPr>
        <p:grpSpPr>
          <a:xfrm>
            <a:off x="5562600" y="2743200"/>
            <a:ext cx="1371600" cy="762000"/>
            <a:chOff x="1872" y="2976"/>
            <a:chExt cx="864" cy="480"/>
          </a:xfrm>
        </p:grpSpPr>
        <p:sp>
          <p:nvSpPr>
            <p:cNvPr id="30744" name="AutoShape 116"/>
            <p:cNvSpPr/>
            <p:nvPr/>
          </p:nvSpPr>
          <p:spPr>
            <a:xfrm>
              <a:off x="1872" y="3168"/>
              <a:ext cx="864" cy="96"/>
            </a:xfrm>
            <a:prstGeom prst="rightArrow">
              <a:avLst>
                <a:gd name="adj1" fmla="val 50000"/>
                <a:gd name="adj2" fmla="val 225000"/>
              </a:avLst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0745" name="Rectangle 117"/>
            <p:cNvSpPr/>
            <p:nvPr/>
          </p:nvSpPr>
          <p:spPr>
            <a:xfrm>
              <a:off x="1968" y="2976"/>
              <a:ext cx="480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LL</a:t>
              </a:r>
              <a:endParaRPr lang="en-US" altLang="zh-CN" sz="2000" dirty="0"/>
            </a:p>
          </p:txBody>
        </p:sp>
        <p:sp>
          <p:nvSpPr>
            <p:cNvPr id="30746" name="Rectangle 118"/>
            <p:cNvSpPr/>
            <p:nvPr/>
          </p:nvSpPr>
          <p:spPr>
            <a:xfrm>
              <a:off x="1968" y="3264"/>
              <a:ext cx="576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Rotation</a:t>
              </a:r>
            </a:p>
          </p:txBody>
        </p:sp>
      </p:grpSp>
      <p:grpSp>
        <p:nvGrpSpPr>
          <p:cNvPr id="10" name="Group 119"/>
          <p:cNvGrpSpPr/>
          <p:nvPr/>
        </p:nvGrpSpPr>
        <p:grpSpPr>
          <a:xfrm flipH="1">
            <a:off x="7010400" y="2590800"/>
            <a:ext cx="1828800" cy="2057400"/>
            <a:chOff x="4416" y="2592"/>
            <a:chExt cx="1152" cy="1296"/>
          </a:xfrm>
        </p:grpSpPr>
        <p:grpSp>
          <p:nvGrpSpPr>
            <p:cNvPr id="30732" name="Group 120"/>
            <p:cNvGrpSpPr/>
            <p:nvPr/>
          </p:nvGrpSpPr>
          <p:grpSpPr>
            <a:xfrm flipH="1">
              <a:off x="5040" y="2592"/>
              <a:ext cx="240" cy="384"/>
              <a:chOff x="1008" y="2832"/>
              <a:chExt cx="240" cy="384"/>
            </a:xfrm>
          </p:grpSpPr>
          <p:sp>
            <p:nvSpPr>
              <p:cNvPr id="30742" name="Oval 121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B</a:t>
                </a:r>
              </a:p>
            </p:txBody>
          </p:sp>
          <p:sp>
            <p:nvSpPr>
              <p:cNvPr id="30743" name="Rectangle 122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sym typeface="Symbol" panose="05050102010706020507" pitchFamily="18" charset="2"/>
                  </a:rPr>
                  <a:t>0</a:t>
                </a:r>
                <a:endParaRPr lang="en-US" altLang="zh-CN" sz="1800" dirty="0">
                  <a:solidFill>
                    <a:srgbClr val="009900"/>
                  </a:solidFill>
                </a:endParaRPr>
              </a:p>
            </p:txBody>
          </p:sp>
        </p:grpSp>
        <p:grpSp>
          <p:nvGrpSpPr>
            <p:cNvPr id="30733" name="Group 123"/>
            <p:cNvGrpSpPr/>
            <p:nvPr/>
          </p:nvGrpSpPr>
          <p:grpSpPr>
            <a:xfrm flipH="1">
              <a:off x="4656" y="2880"/>
              <a:ext cx="240" cy="384"/>
              <a:chOff x="1008" y="2832"/>
              <a:chExt cx="240" cy="384"/>
            </a:xfrm>
          </p:grpSpPr>
          <p:sp>
            <p:nvSpPr>
              <p:cNvPr id="30740" name="Oval 124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A</a:t>
                </a:r>
              </a:p>
            </p:txBody>
          </p:sp>
          <p:sp>
            <p:nvSpPr>
              <p:cNvPr id="30741" name="Rectangle 125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chemeClr val="accent1"/>
                  </a:solidFill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30734" name="Line 126"/>
            <p:cNvSpPr/>
            <p:nvPr/>
          </p:nvSpPr>
          <p:spPr>
            <a:xfrm flipH="1">
              <a:off x="4848" y="2928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5" name="Line 127"/>
            <p:cNvSpPr/>
            <p:nvPr/>
          </p:nvSpPr>
          <p:spPr>
            <a:xfrm>
              <a:off x="5232" y="2928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6" name="Line 128"/>
            <p:cNvSpPr/>
            <p:nvPr/>
          </p:nvSpPr>
          <p:spPr>
            <a:xfrm flipH="1">
              <a:off x="4560" y="321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7" name="Rectangle 129"/>
            <p:cNvSpPr/>
            <p:nvPr/>
          </p:nvSpPr>
          <p:spPr>
            <a:xfrm flipH="1">
              <a:off x="4416" y="3360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R</a:t>
              </a:r>
              <a:endParaRPr lang="en-US" altLang="zh-CN" sz="1800" dirty="0"/>
            </a:p>
          </p:txBody>
        </p:sp>
        <p:sp>
          <p:nvSpPr>
            <p:cNvPr id="30738" name="Rectangle 130"/>
            <p:cNvSpPr/>
            <p:nvPr/>
          </p:nvSpPr>
          <p:spPr>
            <a:xfrm flipH="1">
              <a:off x="5328" y="3072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L</a:t>
              </a:r>
              <a:endParaRPr lang="en-US" altLang="zh-CN" sz="1800" dirty="0"/>
            </a:p>
          </p:txBody>
        </p:sp>
        <p:sp>
          <p:nvSpPr>
            <p:cNvPr id="30739" name="Rectangle 131"/>
            <p:cNvSpPr/>
            <p:nvPr/>
          </p:nvSpPr>
          <p:spPr>
            <a:xfrm flipH="1">
              <a:off x="5328" y="3600"/>
              <a:ext cx="240" cy="288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3" name="Group 132"/>
          <p:cNvGrpSpPr/>
          <p:nvPr/>
        </p:nvGrpSpPr>
        <p:grpSpPr>
          <a:xfrm flipH="1">
            <a:off x="7697788" y="3581400"/>
            <a:ext cx="457200" cy="1066800"/>
            <a:chOff x="4848" y="3216"/>
            <a:chExt cx="288" cy="672"/>
          </a:xfrm>
        </p:grpSpPr>
        <p:sp>
          <p:nvSpPr>
            <p:cNvPr id="30730" name="Line 133"/>
            <p:cNvSpPr/>
            <p:nvPr/>
          </p:nvSpPr>
          <p:spPr>
            <a:xfrm>
              <a:off x="4848" y="321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31" name="Rectangle 134"/>
            <p:cNvSpPr/>
            <p:nvPr/>
          </p:nvSpPr>
          <p:spPr>
            <a:xfrm flipH="1">
              <a:off x="4896" y="3360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R</a:t>
              </a:r>
              <a:endParaRPr lang="en-US" altLang="zh-CN" sz="1800" dirty="0"/>
            </a:p>
          </p:txBody>
        </p:sp>
      </p:grpSp>
      <p:sp>
        <p:nvSpPr>
          <p:cNvPr id="59" name="Rectangle 135"/>
          <p:cNvSpPr/>
          <p:nvPr/>
        </p:nvSpPr>
        <p:spPr>
          <a:xfrm>
            <a:off x="8077200" y="3048000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60" name="Text Box 47"/>
          <p:cNvSpPr txBox="1"/>
          <p:nvPr/>
        </p:nvSpPr>
        <p:spPr>
          <a:xfrm>
            <a:off x="587375" y="1243013"/>
            <a:ext cx="5661025" cy="525462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b="1" dirty="0"/>
              <a:t>Right Rotation (LL Rotation):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8"/>
          <p:cNvGrpSpPr/>
          <p:nvPr/>
        </p:nvGrpSpPr>
        <p:grpSpPr>
          <a:xfrm>
            <a:off x="533400" y="2530475"/>
            <a:ext cx="1828800" cy="2057400"/>
            <a:chOff x="384" y="2688"/>
            <a:chExt cx="1152" cy="1296"/>
          </a:xfrm>
        </p:grpSpPr>
        <p:grpSp>
          <p:nvGrpSpPr>
            <p:cNvPr id="31790" name="Group 49"/>
            <p:cNvGrpSpPr/>
            <p:nvPr/>
          </p:nvGrpSpPr>
          <p:grpSpPr>
            <a:xfrm>
              <a:off x="672" y="2688"/>
              <a:ext cx="240" cy="384"/>
              <a:chOff x="1008" y="2832"/>
              <a:chExt cx="240" cy="384"/>
            </a:xfrm>
          </p:grpSpPr>
          <p:sp>
            <p:nvSpPr>
              <p:cNvPr id="31802" name="Oval 50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A</a:t>
                </a:r>
              </a:p>
            </p:txBody>
          </p:sp>
          <p:sp>
            <p:nvSpPr>
              <p:cNvPr id="31803" name="Rectangle 51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sym typeface="Symbol" panose="05050102010706020507" pitchFamily="18" charset="2"/>
                  </a:rPr>
                  <a:t>1</a:t>
                </a:r>
                <a:endParaRPr lang="en-US" altLang="zh-CN" sz="1800" dirty="0">
                  <a:solidFill>
                    <a:srgbClr val="009900"/>
                  </a:solidFill>
                </a:endParaRPr>
              </a:p>
            </p:txBody>
          </p:sp>
        </p:grpSp>
        <p:grpSp>
          <p:nvGrpSpPr>
            <p:cNvPr id="31791" name="Group 52"/>
            <p:cNvGrpSpPr/>
            <p:nvPr/>
          </p:nvGrpSpPr>
          <p:grpSpPr>
            <a:xfrm>
              <a:off x="1056" y="2976"/>
              <a:ext cx="240" cy="384"/>
              <a:chOff x="1008" y="2832"/>
              <a:chExt cx="240" cy="384"/>
            </a:xfrm>
          </p:grpSpPr>
          <p:sp>
            <p:nvSpPr>
              <p:cNvPr id="31800" name="Oval 53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B</a:t>
                </a:r>
              </a:p>
            </p:txBody>
          </p:sp>
          <p:sp>
            <p:nvSpPr>
              <p:cNvPr id="31801" name="Rectangle 54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sym typeface="Symbol" panose="05050102010706020507" pitchFamily="18" charset="2"/>
                  </a:rPr>
                  <a:t>0</a:t>
                </a:r>
                <a:endParaRPr lang="en-US" altLang="zh-CN" sz="1800" dirty="0">
                  <a:solidFill>
                    <a:srgbClr val="009900"/>
                  </a:solidFill>
                </a:endParaRPr>
              </a:p>
            </p:txBody>
          </p:sp>
        </p:grpSp>
        <p:sp>
          <p:nvSpPr>
            <p:cNvPr id="31792" name="Line 55"/>
            <p:cNvSpPr/>
            <p:nvPr/>
          </p:nvSpPr>
          <p:spPr>
            <a:xfrm>
              <a:off x="864" y="3024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3" name="Line 56"/>
            <p:cNvSpPr/>
            <p:nvPr/>
          </p:nvSpPr>
          <p:spPr>
            <a:xfrm flipH="1">
              <a:off x="480" y="3024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4" name="Line 57"/>
            <p:cNvSpPr/>
            <p:nvPr/>
          </p:nvSpPr>
          <p:spPr>
            <a:xfrm flipH="1">
              <a:off x="960" y="3312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5" name="Line 58"/>
            <p:cNvSpPr/>
            <p:nvPr/>
          </p:nvSpPr>
          <p:spPr>
            <a:xfrm>
              <a:off x="1248" y="3312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6" name="Rectangle 59"/>
            <p:cNvSpPr/>
            <p:nvPr/>
          </p:nvSpPr>
          <p:spPr>
            <a:xfrm>
              <a:off x="816" y="3456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L</a:t>
              </a:r>
              <a:endParaRPr lang="en-US" altLang="zh-CN" sz="1800" dirty="0"/>
            </a:p>
          </p:txBody>
        </p:sp>
        <p:sp>
          <p:nvSpPr>
            <p:cNvPr id="31797" name="Rectangle 60"/>
            <p:cNvSpPr/>
            <p:nvPr/>
          </p:nvSpPr>
          <p:spPr>
            <a:xfrm>
              <a:off x="1296" y="3456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R</a:t>
              </a:r>
              <a:endParaRPr lang="en-US" altLang="zh-CN" sz="1800" dirty="0"/>
            </a:p>
          </p:txBody>
        </p:sp>
        <p:sp>
          <p:nvSpPr>
            <p:cNvPr id="31798" name="Rectangle 61"/>
            <p:cNvSpPr/>
            <p:nvPr/>
          </p:nvSpPr>
          <p:spPr>
            <a:xfrm>
              <a:off x="384" y="3168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L</a:t>
              </a:r>
              <a:endParaRPr lang="en-US" altLang="zh-CN" sz="1800" dirty="0"/>
            </a:p>
          </p:txBody>
        </p:sp>
        <p:sp>
          <p:nvSpPr>
            <p:cNvPr id="31799" name="Rectangle 62"/>
            <p:cNvSpPr/>
            <p:nvPr/>
          </p:nvSpPr>
          <p:spPr>
            <a:xfrm>
              <a:off x="384" y="3696"/>
              <a:ext cx="240" cy="288"/>
            </a:xfrm>
            <a:prstGeom prst="rect">
              <a:avLst/>
            </a:prstGeom>
            <a:noFill/>
            <a:ln w="25400" cap="rnd" cmpd="sng">
              <a:solidFill>
                <a:schemeClr val="tx1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6" name="Group 63"/>
          <p:cNvGrpSpPr/>
          <p:nvPr/>
        </p:nvGrpSpPr>
        <p:grpSpPr>
          <a:xfrm>
            <a:off x="2209800" y="2606675"/>
            <a:ext cx="1371600" cy="762000"/>
            <a:chOff x="1872" y="2976"/>
            <a:chExt cx="864" cy="480"/>
          </a:xfrm>
        </p:grpSpPr>
        <p:sp>
          <p:nvSpPr>
            <p:cNvPr id="31787" name="AutoShape 64"/>
            <p:cNvSpPr/>
            <p:nvPr/>
          </p:nvSpPr>
          <p:spPr>
            <a:xfrm>
              <a:off x="1872" y="3168"/>
              <a:ext cx="864" cy="96"/>
            </a:xfrm>
            <a:prstGeom prst="rightArrow">
              <a:avLst>
                <a:gd name="adj1" fmla="val 50000"/>
                <a:gd name="adj2" fmla="val 225000"/>
              </a:avLst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788" name="Rectangle 65"/>
            <p:cNvSpPr/>
            <p:nvPr/>
          </p:nvSpPr>
          <p:spPr>
            <a:xfrm>
              <a:off x="1968" y="2976"/>
              <a:ext cx="480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RR</a:t>
              </a:r>
              <a:endParaRPr lang="en-US" altLang="zh-CN" sz="2000" dirty="0"/>
            </a:p>
          </p:txBody>
        </p:sp>
        <p:sp>
          <p:nvSpPr>
            <p:cNvPr id="31789" name="Rectangle 66"/>
            <p:cNvSpPr/>
            <p:nvPr/>
          </p:nvSpPr>
          <p:spPr>
            <a:xfrm>
              <a:off x="1968" y="3264"/>
              <a:ext cx="576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Insertion</a:t>
              </a:r>
            </a:p>
          </p:txBody>
        </p:sp>
      </p:grpSp>
      <p:grpSp>
        <p:nvGrpSpPr>
          <p:cNvPr id="7" name="Group 67"/>
          <p:cNvGrpSpPr/>
          <p:nvPr/>
        </p:nvGrpSpPr>
        <p:grpSpPr>
          <a:xfrm>
            <a:off x="5486400" y="2835275"/>
            <a:ext cx="1371600" cy="762000"/>
            <a:chOff x="1872" y="2976"/>
            <a:chExt cx="864" cy="480"/>
          </a:xfrm>
        </p:grpSpPr>
        <p:sp>
          <p:nvSpPr>
            <p:cNvPr id="31784" name="AutoShape 68"/>
            <p:cNvSpPr/>
            <p:nvPr/>
          </p:nvSpPr>
          <p:spPr>
            <a:xfrm>
              <a:off x="1872" y="3168"/>
              <a:ext cx="864" cy="96"/>
            </a:xfrm>
            <a:prstGeom prst="rightArrow">
              <a:avLst>
                <a:gd name="adj1" fmla="val 50000"/>
                <a:gd name="adj2" fmla="val 225000"/>
              </a:avLst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785" name="Rectangle 69"/>
            <p:cNvSpPr/>
            <p:nvPr/>
          </p:nvSpPr>
          <p:spPr>
            <a:xfrm>
              <a:off x="1968" y="2976"/>
              <a:ext cx="480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RR</a:t>
              </a:r>
              <a:endParaRPr lang="en-US" altLang="zh-CN" sz="2000" dirty="0"/>
            </a:p>
          </p:txBody>
        </p:sp>
        <p:sp>
          <p:nvSpPr>
            <p:cNvPr id="31786" name="Rectangle 70"/>
            <p:cNvSpPr/>
            <p:nvPr/>
          </p:nvSpPr>
          <p:spPr>
            <a:xfrm>
              <a:off x="1968" y="3264"/>
              <a:ext cx="576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chemeClr val="hlink"/>
                  </a:solidFill>
                </a:rPr>
                <a:t>Rotation</a:t>
              </a:r>
            </a:p>
          </p:txBody>
        </p:sp>
      </p:grpSp>
      <p:grpSp>
        <p:nvGrpSpPr>
          <p:cNvPr id="8" name="Group 71"/>
          <p:cNvGrpSpPr/>
          <p:nvPr/>
        </p:nvGrpSpPr>
        <p:grpSpPr>
          <a:xfrm>
            <a:off x="3581400" y="2454275"/>
            <a:ext cx="1828800" cy="2513013"/>
            <a:chOff x="2304" y="2640"/>
            <a:chExt cx="1152" cy="1583"/>
          </a:xfrm>
        </p:grpSpPr>
        <p:grpSp>
          <p:nvGrpSpPr>
            <p:cNvPr id="31769" name="Group 72"/>
            <p:cNvGrpSpPr/>
            <p:nvPr/>
          </p:nvGrpSpPr>
          <p:grpSpPr>
            <a:xfrm>
              <a:off x="2592" y="2640"/>
              <a:ext cx="240" cy="384"/>
              <a:chOff x="1008" y="2832"/>
              <a:chExt cx="240" cy="384"/>
            </a:xfrm>
          </p:grpSpPr>
          <p:sp>
            <p:nvSpPr>
              <p:cNvPr id="31782" name="Oval 73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A</a:t>
                </a:r>
              </a:p>
            </p:txBody>
          </p:sp>
          <p:sp>
            <p:nvSpPr>
              <p:cNvPr id="31783" name="Rectangle 74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2</a:t>
                </a:r>
                <a:endParaRPr lang="en-US" altLang="zh-CN" sz="1800" dirty="0"/>
              </a:p>
            </p:txBody>
          </p:sp>
        </p:grpSp>
        <p:grpSp>
          <p:nvGrpSpPr>
            <p:cNvPr id="31770" name="Group 75"/>
            <p:cNvGrpSpPr/>
            <p:nvPr/>
          </p:nvGrpSpPr>
          <p:grpSpPr>
            <a:xfrm>
              <a:off x="2976" y="2928"/>
              <a:ext cx="240" cy="384"/>
              <a:chOff x="1008" y="2832"/>
              <a:chExt cx="240" cy="384"/>
            </a:xfrm>
          </p:grpSpPr>
          <p:sp>
            <p:nvSpPr>
              <p:cNvPr id="31780" name="Oval 76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B</a:t>
                </a:r>
              </a:p>
            </p:txBody>
          </p:sp>
          <p:sp>
            <p:nvSpPr>
              <p:cNvPr id="31781" name="Rectangle 77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sym typeface="Symbol" panose="05050102010706020507" pitchFamily="18" charset="2"/>
                  </a:rPr>
                  <a:t>1</a:t>
                </a:r>
              </a:p>
            </p:txBody>
          </p:sp>
        </p:grpSp>
        <p:sp>
          <p:nvSpPr>
            <p:cNvPr id="31771" name="Line 78"/>
            <p:cNvSpPr/>
            <p:nvPr/>
          </p:nvSpPr>
          <p:spPr>
            <a:xfrm>
              <a:off x="2784" y="2976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2" name="Line 79"/>
            <p:cNvSpPr/>
            <p:nvPr/>
          </p:nvSpPr>
          <p:spPr>
            <a:xfrm flipH="1">
              <a:off x="2400" y="2976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3" name="Line 80"/>
            <p:cNvSpPr/>
            <p:nvPr/>
          </p:nvSpPr>
          <p:spPr>
            <a:xfrm flipH="1">
              <a:off x="2880" y="3264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4" name="Line 81"/>
            <p:cNvSpPr/>
            <p:nvPr/>
          </p:nvSpPr>
          <p:spPr>
            <a:xfrm>
              <a:off x="3168" y="3264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75" name="Rectangle 82"/>
            <p:cNvSpPr/>
            <p:nvPr/>
          </p:nvSpPr>
          <p:spPr>
            <a:xfrm>
              <a:off x="2736" y="3408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L</a:t>
              </a:r>
              <a:endParaRPr lang="en-US" altLang="zh-CN" sz="1800" dirty="0"/>
            </a:p>
          </p:txBody>
        </p:sp>
        <p:sp>
          <p:nvSpPr>
            <p:cNvPr id="31776" name="Rectangle 83"/>
            <p:cNvSpPr/>
            <p:nvPr/>
          </p:nvSpPr>
          <p:spPr>
            <a:xfrm>
              <a:off x="3216" y="3408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R</a:t>
              </a:r>
              <a:endParaRPr lang="en-US" altLang="zh-CN" sz="1800" dirty="0"/>
            </a:p>
          </p:txBody>
        </p:sp>
        <p:sp>
          <p:nvSpPr>
            <p:cNvPr id="31777" name="Rectangle 84"/>
            <p:cNvSpPr/>
            <p:nvPr/>
          </p:nvSpPr>
          <p:spPr>
            <a:xfrm>
              <a:off x="2304" y="3120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L</a:t>
              </a:r>
              <a:endParaRPr lang="en-US" altLang="zh-CN" sz="1800" dirty="0"/>
            </a:p>
          </p:txBody>
        </p:sp>
        <p:sp>
          <p:nvSpPr>
            <p:cNvPr id="31778" name="Rectangle 85"/>
            <p:cNvSpPr/>
            <p:nvPr/>
          </p:nvSpPr>
          <p:spPr>
            <a:xfrm>
              <a:off x="2304" y="3648"/>
              <a:ext cx="240" cy="288"/>
            </a:xfrm>
            <a:prstGeom prst="rect">
              <a:avLst/>
            </a:prstGeom>
            <a:noFill/>
            <a:ln w="25400" cap="rnd" cmpd="sng">
              <a:solidFill>
                <a:schemeClr val="tx1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1779" name="Rectangle 86"/>
            <p:cNvSpPr/>
            <p:nvPr/>
          </p:nvSpPr>
          <p:spPr>
            <a:xfrm>
              <a:off x="3216" y="3935"/>
              <a:ext cx="240" cy="288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1" name="Group 87"/>
          <p:cNvGrpSpPr/>
          <p:nvPr/>
        </p:nvGrpSpPr>
        <p:grpSpPr>
          <a:xfrm>
            <a:off x="7621588" y="3368675"/>
            <a:ext cx="457200" cy="1066800"/>
            <a:chOff x="4848" y="3216"/>
            <a:chExt cx="288" cy="672"/>
          </a:xfrm>
        </p:grpSpPr>
        <p:sp>
          <p:nvSpPr>
            <p:cNvPr id="31767" name="Line 88"/>
            <p:cNvSpPr/>
            <p:nvPr/>
          </p:nvSpPr>
          <p:spPr>
            <a:xfrm>
              <a:off x="4848" y="321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8" name="Rectangle 89"/>
            <p:cNvSpPr/>
            <p:nvPr/>
          </p:nvSpPr>
          <p:spPr>
            <a:xfrm flipH="1">
              <a:off x="4896" y="3360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L</a:t>
              </a:r>
              <a:endParaRPr lang="en-US" altLang="zh-CN" sz="1800" dirty="0"/>
            </a:p>
          </p:txBody>
        </p:sp>
      </p:grpSp>
      <p:grpSp>
        <p:nvGrpSpPr>
          <p:cNvPr id="12" name="Group 90"/>
          <p:cNvGrpSpPr/>
          <p:nvPr/>
        </p:nvGrpSpPr>
        <p:grpSpPr>
          <a:xfrm>
            <a:off x="6934200" y="2378075"/>
            <a:ext cx="1828800" cy="2057400"/>
            <a:chOff x="4416" y="2592"/>
            <a:chExt cx="1152" cy="1296"/>
          </a:xfrm>
        </p:grpSpPr>
        <p:grpSp>
          <p:nvGrpSpPr>
            <p:cNvPr id="31755" name="Group 91"/>
            <p:cNvGrpSpPr/>
            <p:nvPr/>
          </p:nvGrpSpPr>
          <p:grpSpPr>
            <a:xfrm flipH="1">
              <a:off x="5040" y="2592"/>
              <a:ext cx="240" cy="384"/>
              <a:chOff x="1008" y="2832"/>
              <a:chExt cx="240" cy="384"/>
            </a:xfrm>
          </p:grpSpPr>
          <p:sp>
            <p:nvSpPr>
              <p:cNvPr id="31765" name="Oval 92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B</a:t>
                </a:r>
              </a:p>
            </p:txBody>
          </p:sp>
          <p:sp>
            <p:nvSpPr>
              <p:cNvPr id="31766" name="Rectangle 93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sym typeface="Symbol" panose="05050102010706020507" pitchFamily="18" charset="2"/>
                  </a:rPr>
                  <a:t>0</a:t>
                </a:r>
                <a:endParaRPr lang="en-US" altLang="zh-CN" sz="1800" dirty="0">
                  <a:solidFill>
                    <a:srgbClr val="009900"/>
                  </a:solidFill>
                </a:endParaRPr>
              </a:p>
            </p:txBody>
          </p:sp>
        </p:grpSp>
        <p:grpSp>
          <p:nvGrpSpPr>
            <p:cNvPr id="31756" name="Group 94"/>
            <p:cNvGrpSpPr/>
            <p:nvPr/>
          </p:nvGrpSpPr>
          <p:grpSpPr>
            <a:xfrm flipH="1">
              <a:off x="4656" y="2880"/>
              <a:ext cx="240" cy="384"/>
              <a:chOff x="1008" y="2832"/>
              <a:chExt cx="240" cy="384"/>
            </a:xfrm>
          </p:grpSpPr>
          <p:sp>
            <p:nvSpPr>
              <p:cNvPr id="31763" name="Oval 95"/>
              <p:cNvSpPr/>
              <p:nvPr/>
            </p:nvSpPr>
            <p:spPr>
              <a:xfrm>
                <a:off x="1008" y="2976"/>
                <a:ext cx="240" cy="240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r>
                  <a:rPr lang="en-US" altLang="zh-CN" sz="1800" dirty="0"/>
                  <a:t>A</a:t>
                </a:r>
              </a:p>
            </p:txBody>
          </p:sp>
          <p:sp>
            <p:nvSpPr>
              <p:cNvPr id="31764" name="Rectangle 96"/>
              <p:cNvSpPr/>
              <p:nvPr/>
            </p:nvSpPr>
            <p:spPr>
              <a:xfrm>
                <a:off x="1008" y="2832"/>
                <a:ext cx="240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chemeClr val="accent1"/>
                  </a:solidFill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31757" name="Line 97"/>
            <p:cNvSpPr/>
            <p:nvPr/>
          </p:nvSpPr>
          <p:spPr>
            <a:xfrm flipH="1">
              <a:off x="4848" y="2928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8" name="Line 98"/>
            <p:cNvSpPr/>
            <p:nvPr/>
          </p:nvSpPr>
          <p:spPr>
            <a:xfrm>
              <a:off x="5232" y="2928"/>
              <a:ext cx="24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9" name="Line 99"/>
            <p:cNvSpPr/>
            <p:nvPr/>
          </p:nvSpPr>
          <p:spPr>
            <a:xfrm flipH="1">
              <a:off x="4560" y="3216"/>
              <a:ext cx="14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60" name="Rectangle 100"/>
            <p:cNvSpPr/>
            <p:nvPr/>
          </p:nvSpPr>
          <p:spPr>
            <a:xfrm flipH="1">
              <a:off x="4416" y="3360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A</a:t>
              </a:r>
              <a:r>
                <a:rPr lang="en-US" altLang="zh-CN" sz="2000" baseline="-25000" dirty="0"/>
                <a:t>L</a:t>
              </a:r>
              <a:endParaRPr lang="en-US" altLang="zh-CN" sz="1800" dirty="0"/>
            </a:p>
          </p:txBody>
        </p:sp>
        <p:sp>
          <p:nvSpPr>
            <p:cNvPr id="31761" name="Rectangle 101"/>
            <p:cNvSpPr/>
            <p:nvPr/>
          </p:nvSpPr>
          <p:spPr>
            <a:xfrm flipH="1">
              <a:off x="5328" y="3072"/>
              <a:ext cx="240" cy="52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000" dirty="0"/>
                <a:t>B</a:t>
              </a:r>
              <a:r>
                <a:rPr lang="en-US" altLang="zh-CN" sz="2000" baseline="-25000" dirty="0"/>
                <a:t>R</a:t>
              </a:r>
              <a:endParaRPr lang="en-US" altLang="zh-CN" sz="1800" dirty="0"/>
            </a:p>
          </p:txBody>
        </p:sp>
        <p:sp>
          <p:nvSpPr>
            <p:cNvPr id="31762" name="Rectangle 102"/>
            <p:cNvSpPr/>
            <p:nvPr/>
          </p:nvSpPr>
          <p:spPr>
            <a:xfrm flipH="1">
              <a:off x="5328" y="3600"/>
              <a:ext cx="240" cy="288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58" name="Rectangle 103"/>
          <p:cNvSpPr/>
          <p:nvPr/>
        </p:nvSpPr>
        <p:spPr>
          <a:xfrm>
            <a:off x="7315200" y="2835275"/>
            <a:ext cx="3810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59" name="AutoShape 104"/>
          <p:cNvSpPr/>
          <p:nvPr/>
        </p:nvSpPr>
        <p:spPr>
          <a:xfrm>
            <a:off x="4648200" y="1616075"/>
            <a:ext cx="3276600" cy="990600"/>
          </a:xfrm>
          <a:prstGeom prst="wedgeEllipseCallout">
            <a:avLst>
              <a:gd name="adj1" fmla="val -58431"/>
              <a:gd name="adj2" fmla="val 66829"/>
            </a:avLst>
          </a:prstGeom>
          <a:gradFill rotWithShape="0">
            <a:gsLst>
              <a:gs pos="0">
                <a:srgbClr val="DBDBDB"/>
              </a:gs>
              <a:gs pos="100000">
                <a:srgbClr val="FFFFFF"/>
              </a:gs>
            </a:gsLst>
            <a:lin ang="189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800" dirty="0"/>
              <a:t>A is not necessarily </a:t>
            </a:r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800" dirty="0"/>
              <a:t>the root of the tree</a:t>
            </a:r>
          </a:p>
        </p:txBody>
      </p:sp>
      <p:sp>
        <p:nvSpPr>
          <p:cNvPr id="60" name="Text Box 47"/>
          <p:cNvSpPr txBox="1"/>
          <p:nvPr/>
        </p:nvSpPr>
        <p:spPr>
          <a:xfrm>
            <a:off x="587375" y="1243013"/>
            <a:ext cx="5661025" cy="525462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800" b="1" dirty="0"/>
              <a:t>Left Rotation (RR Rotation):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 animBg="1"/>
      <p:bldP spid="6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 Box 3"/>
          <p:cNvSpPr txBox="1"/>
          <p:nvPr/>
        </p:nvSpPr>
        <p:spPr>
          <a:xfrm>
            <a:off x="381000" y="1905000"/>
            <a:ext cx="792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/>
              <a:t>Input the months</a:t>
            </a:r>
          </a:p>
        </p:txBody>
      </p:sp>
      <p:sp>
        <p:nvSpPr>
          <p:cNvPr id="35844" name="Oval 4"/>
          <p:cNvSpPr/>
          <p:nvPr/>
        </p:nvSpPr>
        <p:spPr>
          <a:xfrm>
            <a:off x="3505200" y="19812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Mar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447800" y="2682875"/>
            <a:ext cx="990600" cy="533400"/>
            <a:chOff x="912" y="624"/>
            <a:chExt cx="624" cy="336"/>
          </a:xfrm>
        </p:grpSpPr>
        <p:sp>
          <p:nvSpPr>
            <p:cNvPr id="32815" name="Oval 6"/>
            <p:cNvSpPr/>
            <p:nvPr/>
          </p:nvSpPr>
          <p:spPr>
            <a:xfrm>
              <a:off x="912" y="768"/>
              <a:ext cx="624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Mar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16" name="Rectangle 7"/>
            <p:cNvSpPr/>
            <p:nvPr/>
          </p:nvSpPr>
          <p:spPr>
            <a:xfrm>
              <a:off x="1056" y="624"/>
              <a:ext cx="288" cy="14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848" name="Rectangle 8"/>
          <p:cNvSpPr/>
          <p:nvPr/>
        </p:nvSpPr>
        <p:spPr>
          <a:xfrm>
            <a:off x="1676400" y="2682875"/>
            <a:ext cx="4572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849" name="Oval 9"/>
          <p:cNvSpPr/>
          <p:nvPr/>
        </p:nvSpPr>
        <p:spPr>
          <a:xfrm>
            <a:off x="4572000" y="19812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May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0"/>
          <p:cNvGrpSpPr/>
          <p:nvPr/>
        </p:nvGrpSpPr>
        <p:grpSpPr>
          <a:xfrm>
            <a:off x="2286000" y="3140075"/>
            <a:ext cx="1066800" cy="609600"/>
            <a:chOff x="1440" y="912"/>
            <a:chExt cx="672" cy="384"/>
          </a:xfrm>
        </p:grpSpPr>
        <p:grpSp>
          <p:nvGrpSpPr>
            <p:cNvPr id="32811" name="Group 11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32813" name="Oval 12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May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4" name="Rectangle 13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32812" name="Line 14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855" name="Oval 15"/>
          <p:cNvSpPr/>
          <p:nvPr/>
        </p:nvSpPr>
        <p:spPr>
          <a:xfrm>
            <a:off x="5638800" y="19812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Nov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16"/>
          <p:cNvGrpSpPr/>
          <p:nvPr/>
        </p:nvGrpSpPr>
        <p:grpSpPr>
          <a:xfrm>
            <a:off x="3200400" y="3709988"/>
            <a:ext cx="1066800" cy="609600"/>
            <a:chOff x="1440" y="912"/>
            <a:chExt cx="672" cy="384"/>
          </a:xfrm>
        </p:grpSpPr>
        <p:grpSp>
          <p:nvGrpSpPr>
            <p:cNvPr id="32807" name="Group 17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32809" name="Oval 18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Nov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10" name="Rectangle 19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32808" name="Line 20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5861" name="Rectangle 21"/>
          <p:cNvSpPr/>
          <p:nvPr/>
        </p:nvSpPr>
        <p:spPr>
          <a:xfrm>
            <a:off x="2590800" y="3216275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5862" name="Rectangle 22"/>
          <p:cNvSpPr/>
          <p:nvPr/>
        </p:nvSpPr>
        <p:spPr>
          <a:xfrm>
            <a:off x="1676400" y="2682875"/>
            <a:ext cx="4572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</a:p>
        </p:txBody>
      </p:sp>
      <p:grpSp>
        <p:nvGrpSpPr>
          <p:cNvPr id="7" name="Group 24"/>
          <p:cNvGrpSpPr/>
          <p:nvPr/>
        </p:nvGrpSpPr>
        <p:grpSpPr>
          <a:xfrm>
            <a:off x="6019800" y="2911475"/>
            <a:ext cx="2819400" cy="1066800"/>
            <a:chOff x="3600" y="768"/>
            <a:chExt cx="1776" cy="672"/>
          </a:xfrm>
        </p:grpSpPr>
        <p:grpSp>
          <p:nvGrpSpPr>
            <p:cNvPr id="32787" name="Group 25"/>
            <p:cNvGrpSpPr/>
            <p:nvPr/>
          </p:nvGrpSpPr>
          <p:grpSpPr>
            <a:xfrm>
              <a:off x="4176" y="768"/>
              <a:ext cx="1200" cy="672"/>
              <a:chOff x="4176" y="768"/>
              <a:chExt cx="1200" cy="672"/>
            </a:xfrm>
          </p:grpSpPr>
          <p:grpSp>
            <p:nvGrpSpPr>
              <p:cNvPr id="32796" name="Group 26"/>
              <p:cNvGrpSpPr/>
              <p:nvPr/>
            </p:nvGrpSpPr>
            <p:grpSpPr>
              <a:xfrm>
                <a:off x="4176" y="768"/>
                <a:ext cx="624" cy="336"/>
                <a:chOff x="912" y="624"/>
                <a:chExt cx="624" cy="336"/>
              </a:xfrm>
            </p:grpSpPr>
            <p:sp>
              <p:nvSpPr>
                <p:cNvPr id="32805" name="Oval 27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May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806" name="Rectangle 28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2797" name="Rectangle 29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798" name="Group 30"/>
              <p:cNvGrpSpPr/>
              <p:nvPr/>
            </p:nvGrpSpPr>
            <p:grpSpPr>
              <a:xfrm>
                <a:off x="4704" y="1056"/>
                <a:ext cx="672" cy="384"/>
                <a:chOff x="1440" y="912"/>
                <a:chExt cx="672" cy="384"/>
              </a:xfrm>
            </p:grpSpPr>
            <p:grpSp>
              <p:nvGrpSpPr>
                <p:cNvPr id="32801" name="Group 31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32803" name="Oval 32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Nov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804" name="Rectangle 33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2802" name="Line 34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2799" name="Rectangle 35"/>
              <p:cNvSpPr/>
              <p:nvPr/>
            </p:nvSpPr>
            <p:spPr>
              <a:xfrm>
                <a:off x="4944" y="1104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tx2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00" name="Rectangle 36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788" name="Rectangle 37"/>
            <p:cNvSpPr/>
            <p:nvPr/>
          </p:nvSpPr>
          <p:spPr>
            <a:xfrm flipH="1">
              <a:off x="4368" y="7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2789" name="Group 38"/>
            <p:cNvGrpSpPr/>
            <p:nvPr/>
          </p:nvGrpSpPr>
          <p:grpSpPr>
            <a:xfrm flipH="1">
              <a:off x="3600" y="1056"/>
              <a:ext cx="672" cy="384"/>
              <a:chOff x="1440" y="912"/>
              <a:chExt cx="672" cy="384"/>
            </a:xfrm>
          </p:grpSpPr>
          <p:grpSp>
            <p:nvGrpSpPr>
              <p:cNvPr id="32792" name="Group 39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32794" name="Oval 40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Mar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795" name="Rectangle 41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2793" name="Line 42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790" name="Rectangle 43"/>
            <p:cNvSpPr/>
            <p:nvPr/>
          </p:nvSpPr>
          <p:spPr>
            <a:xfrm flipH="1">
              <a:off x="3792" y="1104"/>
              <a:ext cx="240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791" name="Rectangle 44"/>
            <p:cNvSpPr/>
            <p:nvPr/>
          </p:nvSpPr>
          <p:spPr>
            <a:xfrm flipH="1">
              <a:off x="4368" y="7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1800" b="1" dirty="0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5885" name="Text Box 45"/>
          <p:cNvSpPr txBox="1"/>
          <p:nvPr/>
        </p:nvSpPr>
        <p:spPr>
          <a:xfrm>
            <a:off x="685800" y="4664075"/>
            <a:ext cx="7924800" cy="1449388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660400" lvl="0" indent="-660400" eaLnBrk="1" hangingPunct="1">
              <a:spcBef>
                <a:spcPct val="50000"/>
              </a:spcBef>
              <a:buNone/>
            </a:pPr>
            <a:r>
              <a:rPr lang="en-US" altLang="zh-CN" sz="4000" dirty="0">
                <a:latin typeface="Times New Roman" panose="02020603050405020304" pitchFamily="18" charset="0"/>
                <a:sym typeface="Webdings" panose="05030102010509060703" pitchFamily="18" charset="2"/>
              </a:rPr>
              <a:t> </a:t>
            </a:r>
            <a:r>
              <a:rPr lang="en-US" altLang="zh-CN" sz="2400" b="1" dirty="0"/>
              <a:t>The trouble maker </a:t>
            </a:r>
            <a:r>
              <a:rPr lang="en-US" altLang="zh-CN" sz="2400" b="1" dirty="0">
                <a:solidFill>
                  <a:schemeClr val="hlink"/>
                </a:solidFill>
              </a:rPr>
              <a:t>Nov </a:t>
            </a:r>
            <a:r>
              <a:rPr lang="en-US" altLang="zh-CN" sz="2400" b="1" dirty="0"/>
              <a:t>is in the </a:t>
            </a:r>
            <a:r>
              <a:rPr lang="en-US" altLang="zh-CN" sz="2400" b="1" dirty="0">
                <a:solidFill>
                  <a:srgbClr val="FF0000"/>
                </a:solidFill>
              </a:rPr>
              <a:t>r</a:t>
            </a:r>
            <a:r>
              <a:rPr lang="en-US" altLang="zh-CN" sz="2400" b="1" dirty="0"/>
              <a:t>ight child’s </a:t>
            </a:r>
            <a:r>
              <a:rPr lang="en-US" altLang="zh-CN" sz="2400" b="1" dirty="0">
                <a:solidFill>
                  <a:srgbClr val="FF0000"/>
                </a:solidFill>
              </a:rPr>
              <a:t>r</a:t>
            </a:r>
            <a:r>
              <a:rPr lang="en-US" altLang="zh-CN" sz="2400" b="1" dirty="0"/>
              <a:t>ight subtree of the trouble finder </a:t>
            </a:r>
            <a:r>
              <a:rPr lang="en-US" altLang="zh-CN" sz="2400" b="1" dirty="0">
                <a:solidFill>
                  <a:schemeClr val="hlink"/>
                </a:solidFill>
              </a:rPr>
              <a:t>Mar</a:t>
            </a:r>
            <a:r>
              <a:rPr lang="en-US" altLang="zh-CN" sz="2400" b="1" dirty="0"/>
              <a:t>.  Hence it is also called an </a:t>
            </a:r>
            <a:r>
              <a:rPr lang="en-US" altLang="zh-CN" sz="2400" b="1" dirty="0">
                <a:solidFill>
                  <a:schemeClr val="hlink"/>
                </a:solidFill>
              </a:rPr>
              <a:t>RR rotation</a:t>
            </a:r>
            <a:r>
              <a:rPr lang="en-US" altLang="zh-CN" sz="2400" b="1" dirty="0"/>
              <a:t>.</a:t>
            </a:r>
          </a:p>
        </p:txBody>
      </p:sp>
      <p:grpSp>
        <p:nvGrpSpPr>
          <p:cNvPr id="14" name="Group 104"/>
          <p:cNvGrpSpPr/>
          <p:nvPr/>
        </p:nvGrpSpPr>
        <p:grpSpPr>
          <a:xfrm>
            <a:off x="3810000" y="3154363"/>
            <a:ext cx="1981200" cy="519112"/>
            <a:chOff x="2400" y="825"/>
            <a:chExt cx="1200" cy="327"/>
          </a:xfrm>
        </p:grpSpPr>
        <p:sp>
          <p:nvSpPr>
            <p:cNvPr id="32785" name="AutoShape 105"/>
            <p:cNvSpPr/>
            <p:nvPr/>
          </p:nvSpPr>
          <p:spPr>
            <a:xfrm>
              <a:off x="2400" y="1008"/>
              <a:ext cx="1200" cy="144"/>
            </a:xfrm>
            <a:prstGeom prst="rightArrow">
              <a:avLst>
                <a:gd name="adj1" fmla="val 50000"/>
                <a:gd name="adj2" fmla="val 208294"/>
              </a:avLst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2786" name="Text Box 106"/>
            <p:cNvSpPr txBox="1"/>
            <p:nvPr/>
          </p:nvSpPr>
          <p:spPr>
            <a:xfrm>
              <a:off x="2400" y="825"/>
              <a:ext cx="1056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Left rotation</a:t>
              </a:r>
            </a:p>
          </p:txBody>
        </p:sp>
      </p:grpSp>
      <p:sp>
        <p:nvSpPr>
          <p:cNvPr id="32783" name="Rectangle 18"/>
          <p:cNvSpPr/>
          <p:nvPr/>
        </p:nvSpPr>
        <p:spPr>
          <a:xfrm>
            <a:off x="665163" y="646113"/>
            <a:ext cx="7813675" cy="801687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4400" dirty="0"/>
              <a:t>Examples of Outside Case</a:t>
            </a:r>
            <a:r>
              <a:rPr lang="en-US" altLang="zh-CN" sz="44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949" name="Oval 23"/>
          <p:cNvSpPr/>
          <p:nvPr/>
        </p:nvSpPr>
        <p:spPr>
          <a:xfrm rot="1680000">
            <a:off x="1066800" y="2733675"/>
            <a:ext cx="2438400" cy="954088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35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35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  <p:bldP spid="35844" grpId="0" animBg="1"/>
      <p:bldP spid="35848" grpId="0" animBg="1"/>
      <p:bldP spid="35849" grpId="0" animBg="1"/>
      <p:bldP spid="35855" grpId="0" animBg="1"/>
      <p:bldP spid="35861" grpId="0" animBg="1"/>
      <p:bldP spid="35862" grpId="0" animBg="1"/>
      <p:bldP spid="35885" grpId="0"/>
      <p:bldP spid="359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Oval 4"/>
          <p:cNvSpPr/>
          <p:nvPr/>
        </p:nvSpPr>
        <p:spPr>
          <a:xfrm>
            <a:off x="609600" y="16764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Aug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828800" y="2209800"/>
            <a:ext cx="2819400" cy="1066800"/>
            <a:chOff x="3600" y="768"/>
            <a:chExt cx="1776" cy="672"/>
          </a:xfrm>
        </p:grpSpPr>
        <p:grpSp>
          <p:nvGrpSpPr>
            <p:cNvPr id="33852" name="Group 7"/>
            <p:cNvGrpSpPr/>
            <p:nvPr/>
          </p:nvGrpSpPr>
          <p:grpSpPr>
            <a:xfrm>
              <a:off x="4176" y="768"/>
              <a:ext cx="1200" cy="672"/>
              <a:chOff x="4176" y="768"/>
              <a:chExt cx="1200" cy="672"/>
            </a:xfrm>
          </p:grpSpPr>
          <p:grpSp>
            <p:nvGrpSpPr>
              <p:cNvPr id="33861" name="Group 8"/>
              <p:cNvGrpSpPr/>
              <p:nvPr/>
            </p:nvGrpSpPr>
            <p:grpSpPr>
              <a:xfrm>
                <a:off x="4176" y="768"/>
                <a:ext cx="624" cy="336"/>
                <a:chOff x="912" y="624"/>
                <a:chExt cx="624" cy="336"/>
              </a:xfrm>
            </p:grpSpPr>
            <p:sp>
              <p:nvSpPr>
                <p:cNvPr id="33870" name="Oval 9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May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71" name="Rectangle 10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862" name="Rectangle 11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3863" name="Group 12"/>
              <p:cNvGrpSpPr/>
              <p:nvPr/>
            </p:nvGrpSpPr>
            <p:grpSpPr>
              <a:xfrm>
                <a:off x="4704" y="1056"/>
                <a:ext cx="672" cy="384"/>
                <a:chOff x="1440" y="912"/>
                <a:chExt cx="672" cy="384"/>
              </a:xfrm>
            </p:grpSpPr>
            <p:grpSp>
              <p:nvGrpSpPr>
                <p:cNvPr id="33866" name="Group 13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33868" name="Oval 14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Nov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869" name="Rectangle 15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3867" name="Line 16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3864" name="Rectangle 17"/>
              <p:cNvSpPr/>
              <p:nvPr/>
            </p:nvSpPr>
            <p:spPr>
              <a:xfrm>
                <a:off x="4944" y="1104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b="1" dirty="0">
                  <a:solidFill>
                    <a:srgbClr val="00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65" name="Rectangle 18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53" name="Rectangle 19"/>
            <p:cNvSpPr/>
            <p:nvPr/>
          </p:nvSpPr>
          <p:spPr>
            <a:xfrm flipH="1">
              <a:off x="4368" y="7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854" name="Group 20"/>
            <p:cNvGrpSpPr/>
            <p:nvPr/>
          </p:nvGrpSpPr>
          <p:grpSpPr>
            <a:xfrm flipH="1">
              <a:off x="3600" y="1056"/>
              <a:ext cx="672" cy="384"/>
              <a:chOff x="1440" y="912"/>
              <a:chExt cx="672" cy="384"/>
            </a:xfrm>
          </p:grpSpPr>
          <p:grpSp>
            <p:nvGrpSpPr>
              <p:cNvPr id="33857" name="Group 21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33859" name="Oval 22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Mar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60" name="Rectangle 23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858" name="Line 24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3855" name="Rectangle 25"/>
            <p:cNvSpPr/>
            <p:nvPr/>
          </p:nvSpPr>
          <p:spPr>
            <a:xfrm flipH="1">
              <a:off x="3792" y="1104"/>
              <a:ext cx="240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56" name="Rectangle 26"/>
            <p:cNvSpPr/>
            <p:nvPr/>
          </p:nvSpPr>
          <p:spPr>
            <a:xfrm flipH="1">
              <a:off x="4368" y="7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27"/>
          <p:cNvGrpSpPr/>
          <p:nvPr/>
        </p:nvGrpSpPr>
        <p:grpSpPr>
          <a:xfrm flipH="1">
            <a:off x="914400" y="3200400"/>
            <a:ext cx="1066800" cy="609600"/>
            <a:chOff x="1440" y="912"/>
            <a:chExt cx="672" cy="384"/>
          </a:xfrm>
        </p:grpSpPr>
        <p:grpSp>
          <p:nvGrpSpPr>
            <p:cNvPr id="33848" name="Group 28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33850" name="Oval 29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Aug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1" name="Rectangle 30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49" name="Line 31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7920" name="Oval 32"/>
          <p:cNvSpPr/>
          <p:nvPr/>
        </p:nvSpPr>
        <p:spPr>
          <a:xfrm>
            <a:off x="1752600" y="16764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Apr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1" name="Group 33"/>
          <p:cNvGrpSpPr/>
          <p:nvPr/>
        </p:nvGrpSpPr>
        <p:grpSpPr>
          <a:xfrm flipH="1">
            <a:off x="304800" y="3810000"/>
            <a:ext cx="1066800" cy="609600"/>
            <a:chOff x="1440" y="912"/>
            <a:chExt cx="672" cy="384"/>
          </a:xfrm>
        </p:grpSpPr>
        <p:grpSp>
          <p:nvGrpSpPr>
            <p:cNvPr id="33844" name="Group 34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33846" name="Oval 35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Apr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7" name="Rectangle 36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33845" name="Line 37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7926" name="Rectangle 38"/>
          <p:cNvSpPr/>
          <p:nvPr/>
        </p:nvSpPr>
        <p:spPr>
          <a:xfrm>
            <a:off x="1295400" y="3200400"/>
            <a:ext cx="304800" cy="304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13" name="Group 42"/>
          <p:cNvGrpSpPr/>
          <p:nvPr/>
        </p:nvGrpSpPr>
        <p:grpSpPr>
          <a:xfrm>
            <a:off x="4572000" y="2209800"/>
            <a:ext cx="1371600" cy="762000"/>
            <a:chOff x="1872" y="2976"/>
            <a:chExt cx="864" cy="480"/>
          </a:xfrm>
        </p:grpSpPr>
        <p:sp>
          <p:nvSpPr>
            <p:cNvPr id="33841" name="AutoShape 43"/>
            <p:cNvSpPr/>
            <p:nvPr/>
          </p:nvSpPr>
          <p:spPr>
            <a:xfrm>
              <a:off x="1872" y="3168"/>
              <a:ext cx="864" cy="96"/>
            </a:xfrm>
            <a:prstGeom prst="rightArrow">
              <a:avLst>
                <a:gd name="adj1" fmla="val 50000"/>
                <a:gd name="adj2" fmla="val 225000"/>
              </a:avLst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33842" name="Rectangle 44"/>
            <p:cNvSpPr/>
            <p:nvPr/>
          </p:nvSpPr>
          <p:spPr>
            <a:xfrm>
              <a:off x="1968" y="2976"/>
              <a:ext cx="480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</a:rPr>
                <a:t>Right</a:t>
              </a:r>
              <a:endParaRPr lang="en-US" altLang="zh-CN" sz="2000" b="1" dirty="0"/>
            </a:p>
          </p:txBody>
        </p:sp>
        <p:sp>
          <p:nvSpPr>
            <p:cNvPr id="33843" name="Rectangle 45"/>
            <p:cNvSpPr/>
            <p:nvPr/>
          </p:nvSpPr>
          <p:spPr>
            <a:xfrm>
              <a:off x="1968" y="3264"/>
              <a:ext cx="576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</a:rPr>
                <a:t>Rotation</a:t>
              </a:r>
            </a:p>
          </p:txBody>
        </p:sp>
      </p:grpSp>
      <p:grpSp>
        <p:nvGrpSpPr>
          <p:cNvPr id="14" name="Group 46"/>
          <p:cNvGrpSpPr/>
          <p:nvPr/>
        </p:nvGrpSpPr>
        <p:grpSpPr>
          <a:xfrm>
            <a:off x="5105400" y="2209800"/>
            <a:ext cx="3733800" cy="1600200"/>
            <a:chOff x="960" y="2352"/>
            <a:chExt cx="2352" cy="1008"/>
          </a:xfrm>
        </p:grpSpPr>
        <p:grpSp>
          <p:nvGrpSpPr>
            <p:cNvPr id="33808" name="Group 47"/>
            <p:cNvGrpSpPr/>
            <p:nvPr/>
          </p:nvGrpSpPr>
          <p:grpSpPr>
            <a:xfrm>
              <a:off x="1536" y="2352"/>
              <a:ext cx="1776" cy="672"/>
              <a:chOff x="3600" y="768"/>
              <a:chExt cx="1776" cy="672"/>
            </a:xfrm>
          </p:grpSpPr>
          <p:grpSp>
            <p:nvGrpSpPr>
              <p:cNvPr id="33821" name="Group 48"/>
              <p:cNvGrpSpPr/>
              <p:nvPr/>
            </p:nvGrpSpPr>
            <p:grpSpPr>
              <a:xfrm>
                <a:off x="4176" y="768"/>
                <a:ext cx="1200" cy="672"/>
                <a:chOff x="4176" y="768"/>
                <a:chExt cx="1200" cy="672"/>
              </a:xfrm>
            </p:grpSpPr>
            <p:grpSp>
              <p:nvGrpSpPr>
                <p:cNvPr id="33830" name="Group 49"/>
                <p:cNvGrpSpPr/>
                <p:nvPr/>
              </p:nvGrpSpPr>
              <p:grpSpPr>
                <a:xfrm>
                  <a:off x="4176" y="768"/>
                  <a:ext cx="624" cy="336"/>
                  <a:chOff x="912" y="624"/>
                  <a:chExt cx="624" cy="336"/>
                </a:xfrm>
              </p:grpSpPr>
              <p:sp>
                <p:nvSpPr>
                  <p:cNvPr id="33839" name="Oval 50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May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840" name="Rectangle 51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3831" name="Rectangle 52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3832" name="Group 53"/>
                <p:cNvGrpSpPr/>
                <p:nvPr/>
              </p:nvGrpSpPr>
              <p:grpSpPr>
                <a:xfrm>
                  <a:off x="4704" y="1056"/>
                  <a:ext cx="672" cy="384"/>
                  <a:chOff x="1440" y="912"/>
                  <a:chExt cx="672" cy="384"/>
                </a:xfrm>
              </p:grpSpPr>
              <p:grpSp>
                <p:nvGrpSpPr>
                  <p:cNvPr id="33835" name="Group 54"/>
                  <p:cNvGrpSpPr/>
                  <p:nvPr/>
                </p:nvGrpSpPr>
                <p:grpSpPr>
                  <a:xfrm>
                    <a:off x="1488" y="960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33837" name="Oval 55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Nov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3838" name="Rectangle 56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33836" name="Line 57"/>
                  <p:cNvSpPr/>
                  <p:nvPr/>
                </p:nvSpPr>
                <p:spPr>
                  <a:xfrm>
                    <a:off x="1440" y="912"/>
                    <a:ext cx="240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3833" name="Rectangle 58"/>
                <p:cNvSpPr/>
                <p:nvPr/>
              </p:nvSpPr>
              <p:spPr>
                <a:xfrm>
                  <a:off x="4932" y="1104"/>
                  <a:ext cx="264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0</a:t>
                  </a:r>
                  <a:endPara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34" name="Rectangle 59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822" name="Rectangle 60"/>
              <p:cNvSpPr/>
              <p:nvPr/>
            </p:nvSpPr>
            <p:spPr>
              <a:xfrm flipH="1">
                <a:off x="4368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3823" name="Group 61"/>
              <p:cNvGrpSpPr/>
              <p:nvPr/>
            </p:nvGrpSpPr>
            <p:grpSpPr>
              <a:xfrm flipH="1">
                <a:off x="3600" y="1056"/>
                <a:ext cx="672" cy="384"/>
                <a:chOff x="1440" y="912"/>
                <a:chExt cx="672" cy="384"/>
              </a:xfrm>
            </p:grpSpPr>
            <p:grpSp>
              <p:nvGrpSpPr>
                <p:cNvPr id="33826" name="Group 62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33828" name="Oval 63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Aug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829" name="Rectangle 64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3827" name="Line 65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3824" name="Rectangle 66"/>
              <p:cNvSpPr/>
              <p:nvPr/>
            </p:nvSpPr>
            <p:spPr>
              <a:xfrm flipH="1">
                <a:off x="3792" y="1104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25" name="Rectangle 67"/>
              <p:cNvSpPr/>
              <p:nvPr/>
            </p:nvSpPr>
            <p:spPr>
              <a:xfrm flipH="1">
                <a:off x="4368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1800" b="1" dirty="0">
                  <a:solidFill>
                    <a:srgbClr val="0099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09" name="Rectangle 68"/>
            <p:cNvSpPr/>
            <p:nvPr/>
          </p:nvSpPr>
          <p:spPr>
            <a:xfrm>
              <a:off x="1680" y="268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810" name="Group 69"/>
            <p:cNvGrpSpPr/>
            <p:nvPr/>
          </p:nvGrpSpPr>
          <p:grpSpPr>
            <a:xfrm>
              <a:off x="2064" y="2976"/>
              <a:ext cx="672" cy="384"/>
              <a:chOff x="1440" y="912"/>
              <a:chExt cx="672" cy="384"/>
            </a:xfrm>
          </p:grpSpPr>
          <p:grpSp>
            <p:nvGrpSpPr>
              <p:cNvPr id="33817" name="Group 70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33819" name="Oval 71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Mar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20" name="Rectangle 72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3818" name="Line 73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3811" name="Rectangle 74"/>
            <p:cNvSpPr/>
            <p:nvPr/>
          </p:nvSpPr>
          <p:spPr>
            <a:xfrm>
              <a:off x="1680" y="268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099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3812" name="Group 75"/>
            <p:cNvGrpSpPr/>
            <p:nvPr/>
          </p:nvGrpSpPr>
          <p:grpSpPr>
            <a:xfrm flipH="1">
              <a:off x="960" y="2976"/>
              <a:ext cx="672" cy="384"/>
              <a:chOff x="1440" y="912"/>
              <a:chExt cx="672" cy="384"/>
            </a:xfrm>
          </p:grpSpPr>
          <p:grpSp>
            <p:nvGrpSpPr>
              <p:cNvPr id="33813" name="Group 76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33815" name="Oval 77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Apr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16" name="Rectangle 78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33814" name="Line 79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7968" name="Rectangle 80"/>
          <p:cNvSpPr/>
          <p:nvPr/>
        </p:nvSpPr>
        <p:spPr>
          <a:xfrm>
            <a:off x="2209800" y="2667000"/>
            <a:ext cx="228600" cy="304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7969" name="Rectangle 81"/>
          <p:cNvSpPr/>
          <p:nvPr/>
        </p:nvSpPr>
        <p:spPr>
          <a:xfrm>
            <a:off x="3048000" y="2133600"/>
            <a:ext cx="304800" cy="304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7927" name="Rectangle 39"/>
          <p:cNvSpPr/>
          <p:nvPr/>
        </p:nvSpPr>
        <p:spPr>
          <a:xfrm>
            <a:off x="2133600" y="2667000"/>
            <a:ext cx="228600" cy="304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7928" name="Rectangle 40"/>
          <p:cNvSpPr/>
          <p:nvPr/>
        </p:nvSpPr>
        <p:spPr>
          <a:xfrm>
            <a:off x="2971800" y="2133600"/>
            <a:ext cx="304800" cy="304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7970" name="Oval 22"/>
          <p:cNvSpPr/>
          <p:nvPr/>
        </p:nvSpPr>
        <p:spPr>
          <a:xfrm rot="-2100000">
            <a:off x="827088" y="2824163"/>
            <a:ext cx="2168525" cy="987425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79" name="Text Box 45"/>
          <p:cNvSpPr txBox="1"/>
          <p:nvPr/>
        </p:nvSpPr>
        <p:spPr>
          <a:xfrm>
            <a:off x="320675" y="4670425"/>
            <a:ext cx="7924800" cy="1449388"/>
          </a:xfrm>
          <a:prstGeom prst="rect">
            <a:avLst/>
          </a:prstGeom>
          <a:noFill/>
          <a:ln w="25400">
            <a:noFill/>
          </a:ln>
        </p:spPr>
        <p:txBody>
          <a:bodyPr lIns="0" tIns="46800" rIns="0" bIns="46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660400" lvl="0" indent="-660400" eaLnBrk="1" hangingPunct="1">
              <a:spcBef>
                <a:spcPct val="50000"/>
              </a:spcBef>
              <a:buNone/>
            </a:pPr>
            <a:r>
              <a:rPr lang="en-US" altLang="zh-CN" sz="4000" dirty="0">
                <a:latin typeface="Times New Roman" panose="02020603050405020304" pitchFamily="18" charset="0"/>
                <a:sym typeface="Webdings" panose="05030102010509060703" pitchFamily="18" charset="2"/>
              </a:rPr>
              <a:t> </a:t>
            </a:r>
            <a:r>
              <a:rPr lang="en-US" altLang="zh-CN" sz="2400" b="1" dirty="0"/>
              <a:t>The trouble maker Apr is in the </a:t>
            </a:r>
            <a:r>
              <a:rPr lang="en-US" altLang="zh-CN" sz="2400" b="1" dirty="0">
                <a:solidFill>
                  <a:srgbClr val="FF0000"/>
                </a:solidFill>
              </a:rPr>
              <a:t>l</a:t>
            </a:r>
            <a:r>
              <a:rPr lang="en-US" altLang="zh-CN" sz="2400" b="1" dirty="0"/>
              <a:t>eft child’s </a:t>
            </a:r>
            <a:r>
              <a:rPr lang="en-US" altLang="zh-CN" sz="2400" b="1" dirty="0">
                <a:solidFill>
                  <a:srgbClr val="FF0000"/>
                </a:solidFill>
              </a:rPr>
              <a:t>l</a:t>
            </a:r>
            <a:r>
              <a:rPr lang="en-US" altLang="zh-CN" sz="2400" b="1" dirty="0"/>
              <a:t>eft subtree of the trouble finder Mar.  Hence </a:t>
            </a:r>
            <a:r>
              <a:rPr lang="en-US" altLang="zh-CN" sz="2400" b="1" dirty="0">
                <a:solidFill>
                  <a:schemeClr val="hlink"/>
                </a:solidFill>
              </a:rPr>
              <a:t>right rotation </a:t>
            </a:r>
            <a:r>
              <a:rPr lang="en-US" altLang="zh-CN" sz="2400" b="1" dirty="0"/>
              <a:t>is also called an </a:t>
            </a:r>
            <a:r>
              <a:rPr lang="en-US" altLang="zh-CN" sz="2400" b="1" dirty="0">
                <a:solidFill>
                  <a:schemeClr val="hlink"/>
                </a:solidFill>
              </a:rPr>
              <a:t>LL rotation</a:t>
            </a:r>
            <a:r>
              <a:rPr lang="en-US" altLang="zh-CN" sz="2400" b="1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379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379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379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37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7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37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  <p:bldP spid="37920" grpId="0" animBg="1"/>
      <p:bldP spid="37926" grpId="0" animBg="1"/>
      <p:bldP spid="37968" grpId="0" animBg="1"/>
      <p:bldP spid="37969" grpId="0" animBg="1"/>
      <p:bldP spid="37927" grpId="0" animBg="1"/>
      <p:bldP spid="37928" grpId="0" animBg="1"/>
      <p:bldP spid="37970" grpId="0" animBg="1"/>
      <p:bldP spid="7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Oval 2"/>
          <p:cNvSpPr/>
          <p:nvPr/>
        </p:nvSpPr>
        <p:spPr>
          <a:xfrm>
            <a:off x="4038600" y="2057400"/>
            <a:ext cx="8382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4819" name="Text Box 3"/>
          <p:cNvSpPr txBox="1"/>
          <p:nvPr/>
        </p:nvSpPr>
        <p:spPr>
          <a:xfrm>
            <a:off x="4267200" y="19050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4820" name="Oval 4"/>
          <p:cNvSpPr/>
          <p:nvPr/>
        </p:nvSpPr>
        <p:spPr>
          <a:xfrm>
            <a:off x="2362200" y="3429000"/>
            <a:ext cx="8382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4821" name="Text Box 5"/>
          <p:cNvSpPr txBox="1"/>
          <p:nvPr/>
        </p:nvSpPr>
        <p:spPr>
          <a:xfrm>
            <a:off x="2590800" y="33528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4822" name="AutoShape 6"/>
          <p:cNvCxnSpPr>
            <a:stCxn id="34818" idx="3"/>
            <a:endCxn id="34820" idx="7"/>
          </p:cNvCxnSpPr>
          <p:nvPr/>
        </p:nvCxnSpPr>
        <p:spPr>
          <a:xfrm flipH="1">
            <a:off x="3078163" y="2773363"/>
            <a:ext cx="1082675" cy="7778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4823" name="AutoShape 7"/>
          <p:cNvSpPr/>
          <p:nvPr/>
        </p:nvSpPr>
        <p:spPr>
          <a:xfrm>
            <a:off x="685800" y="4800600"/>
            <a:ext cx="1600200" cy="12954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34824" name="AutoShape 8"/>
          <p:cNvCxnSpPr>
            <a:stCxn id="34820" idx="3"/>
            <a:endCxn id="34823" idx="0"/>
          </p:cNvCxnSpPr>
          <p:nvPr/>
        </p:nvCxnSpPr>
        <p:spPr>
          <a:xfrm flipH="1">
            <a:off x="1485900" y="4144963"/>
            <a:ext cx="998538" cy="655637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4825" name="Text Box 9"/>
          <p:cNvSpPr txBox="1"/>
          <p:nvPr/>
        </p:nvSpPr>
        <p:spPr>
          <a:xfrm>
            <a:off x="1219200" y="52578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X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4826" name="AutoShape 10"/>
          <p:cNvSpPr/>
          <p:nvPr/>
        </p:nvSpPr>
        <p:spPr>
          <a:xfrm>
            <a:off x="3352800" y="4876800"/>
            <a:ext cx="1524000" cy="1219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4827" name="Text Box 11"/>
          <p:cNvSpPr txBox="1"/>
          <p:nvPr/>
        </p:nvSpPr>
        <p:spPr>
          <a:xfrm>
            <a:off x="3810000" y="52578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Y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4828" name="AutoShape 12"/>
          <p:cNvSpPr/>
          <p:nvPr/>
        </p:nvSpPr>
        <p:spPr>
          <a:xfrm>
            <a:off x="5334000" y="3886200"/>
            <a:ext cx="1600200" cy="12954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4829" name="Text Box 13"/>
          <p:cNvSpPr txBox="1"/>
          <p:nvPr/>
        </p:nvSpPr>
        <p:spPr>
          <a:xfrm>
            <a:off x="5867400" y="4191000"/>
            <a:ext cx="5111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4830" name="AutoShape 14"/>
          <p:cNvCxnSpPr>
            <a:stCxn id="34820" idx="5"/>
            <a:endCxn id="34826" idx="0"/>
          </p:cNvCxnSpPr>
          <p:nvPr/>
        </p:nvCxnSpPr>
        <p:spPr>
          <a:xfrm>
            <a:off x="3078163" y="4144963"/>
            <a:ext cx="1036637" cy="731837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831" name="AutoShape 15"/>
          <p:cNvCxnSpPr>
            <a:stCxn id="34818" idx="5"/>
            <a:endCxn id="34828" idx="0"/>
          </p:cNvCxnSpPr>
          <p:nvPr/>
        </p:nvCxnSpPr>
        <p:spPr>
          <a:xfrm>
            <a:off x="4754563" y="2773363"/>
            <a:ext cx="1379537" cy="1112837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4832" name="Line 16"/>
          <p:cNvSpPr/>
          <p:nvPr/>
        </p:nvSpPr>
        <p:spPr>
          <a:xfrm>
            <a:off x="7315200" y="5181600"/>
            <a:ext cx="1600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4833" name="Line 17"/>
          <p:cNvSpPr/>
          <p:nvPr/>
        </p:nvSpPr>
        <p:spPr>
          <a:xfrm>
            <a:off x="7315200" y="6096000"/>
            <a:ext cx="1600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4834" name="Rectangle 18"/>
          <p:cNvSpPr/>
          <p:nvPr/>
        </p:nvSpPr>
        <p:spPr>
          <a:xfrm>
            <a:off x="665163" y="646113"/>
            <a:ext cx="7813675" cy="801687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4400" dirty="0"/>
              <a:t>AVL Insertion: Inside Case</a:t>
            </a:r>
            <a:r>
              <a:rPr lang="en-US" altLang="zh-CN" sz="44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4835" name="Text Box 19"/>
          <p:cNvSpPr txBox="1"/>
          <p:nvPr/>
        </p:nvSpPr>
        <p:spPr>
          <a:xfrm>
            <a:off x="717550" y="1905000"/>
            <a:ext cx="2403475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Consider a valid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AVL subtree</a:t>
            </a:r>
          </a:p>
        </p:txBody>
      </p:sp>
      <p:sp>
        <p:nvSpPr>
          <p:cNvPr id="34836" name="Text Box 20"/>
          <p:cNvSpPr txBox="1"/>
          <p:nvPr/>
        </p:nvSpPr>
        <p:spPr>
          <a:xfrm>
            <a:off x="6324600" y="3717925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4837" name="Text Box 22"/>
          <p:cNvSpPr txBox="1"/>
          <p:nvPr/>
        </p:nvSpPr>
        <p:spPr>
          <a:xfrm>
            <a:off x="4267200" y="4556125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4838" name="Text Box 23"/>
          <p:cNvSpPr txBox="1"/>
          <p:nvPr/>
        </p:nvSpPr>
        <p:spPr>
          <a:xfrm>
            <a:off x="1752600" y="4632325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4839" name="Text Box 23"/>
          <p:cNvSpPr txBox="1"/>
          <p:nvPr/>
        </p:nvSpPr>
        <p:spPr>
          <a:xfrm>
            <a:off x="2590800" y="3122613"/>
            <a:ext cx="533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0</a:t>
            </a:r>
          </a:p>
        </p:txBody>
      </p:sp>
      <p:sp>
        <p:nvSpPr>
          <p:cNvPr id="34840" name="Text Box 24"/>
          <p:cNvSpPr txBox="1"/>
          <p:nvPr/>
        </p:nvSpPr>
        <p:spPr>
          <a:xfrm>
            <a:off x="4267200" y="1736725"/>
            <a:ext cx="533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tx2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/>
          <p:nvPr/>
        </p:nvSpPr>
        <p:spPr>
          <a:xfrm>
            <a:off x="304800" y="1600200"/>
            <a:ext cx="2536825" cy="1552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Inserting into Y 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destroys the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AVL property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at node j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Oval 3"/>
          <p:cNvSpPr/>
          <p:nvPr/>
        </p:nvSpPr>
        <p:spPr>
          <a:xfrm>
            <a:off x="4535426" y="1830388"/>
            <a:ext cx="693737" cy="669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5844" name="Text Box 4"/>
          <p:cNvSpPr txBox="1"/>
          <p:nvPr/>
        </p:nvSpPr>
        <p:spPr>
          <a:xfrm>
            <a:off x="4735451" y="1608138"/>
            <a:ext cx="42545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5845" name="Oval 5"/>
          <p:cNvSpPr/>
          <p:nvPr/>
        </p:nvSpPr>
        <p:spPr>
          <a:xfrm>
            <a:off x="3147951" y="2927350"/>
            <a:ext cx="693737" cy="669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5846" name="Text Box 6"/>
          <p:cNvSpPr txBox="1"/>
          <p:nvPr/>
        </p:nvSpPr>
        <p:spPr>
          <a:xfrm>
            <a:off x="3270188" y="2811463"/>
            <a:ext cx="4222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5847" name="AutoShape 7"/>
          <p:cNvCxnSpPr>
            <a:stCxn id="35843" idx="3"/>
            <a:endCxn id="35845" idx="7"/>
          </p:cNvCxnSpPr>
          <p:nvPr/>
        </p:nvCxnSpPr>
        <p:spPr>
          <a:xfrm flipH="1">
            <a:off x="3740088" y="2403475"/>
            <a:ext cx="896938" cy="6223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5848" name="AutoShape 8"/>
          <p:cNvSpPr/>
          <p:nvPr/>
        </p:nvSpPr>
        <p:spPr>
          <a:xfrm>
            <a:off x="1758888" y="4024313"/>
            <a:ext cx="1325563" cy="10366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35849" name="AutoShape 9"/>
          <p:cNvCxnSpPr>
            <a:stCxn id="35845" idx="3"/>
            <a:endCxn id="35848" idx="0"/>
          </p:cNvCxnSpPr>
          <p:nvPr/>
        </p:nvCxnSpPr>
        <p:spPr>
          <a:xfrm flipH="1">
            <a:off x="2420876" y="3500438"/>
            <a:ext cx="827087" cy="5238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5850" name="Text Box 10"/>
          <p:cNvSpPr txBox="1"/>
          <p:nvPr/>
        </p:nvSpPr>
        <p:spPr>
          <a:xfrm>
            <a:off x="2111313" y="4244975"/>
            <a:ext cx="423863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X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5851" name="AutoShape 11"/>
          <p:cNvSpPr/>
          <p:nvPr/>
        </p:nvSpPr>
        <p:spPr>
          <a:xfrm>
            <a:off x="3967101" y="4084638"/>
            <a:ext cx="1262062" cy="1768475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5852" name="Text Box 12"/>
          <p:cNvSpPr txBox="1"/>
          <p:nvPr/>
        </p:nvSpPr>
        <p:spPr>
          <a:xfrm>
            <a:off x="4313176" y="4800600"/>
            <a:ext cx="423862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Y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5853" name="AutoShape 13"/>
          <p:cNvSpPr/>
          <p:nvPr/>
        </p:nvSpPr>
        <p:spPr>
          <a:xfrm>
            <a:off x="5608576" y="3292475"/>
            <a:ext cx="1325562" cy="10366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5854" name="Text Box 14"/>
          <p:cNvSpPr txBox="1"/>
          <p:nvPr/>
        </p:nvSpPr>
        <p:spPr>
          <a:xfrm>
            <a:off x="5961001" y="3471863"/>
            <a:ext cx="423862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5855" name="AutoShape 15"/>
          <p:cNvCxnSpPr>
            <a:stCxn id="35845" idx="5"/>
            <a:endCxn id="35851" idx="0"/>
          </p:cNvCxnSpPr>
          <p:nvPr/>
        </p:nvCxnSpPr>
        <p:spPr>
          <a:xfrm>
            <a:off x="3740088" y="3500438"/>
            <a:ext cx="858838" cy="5842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5856" name="AutoShape 16"/>
          <p:cNvCxnSpPr>
            <a:stCxn id="35843" idx="5"/>
            <a:endCxn id="35853" idx="0"/>
          </p:cNvCxnSpPr>
          <p:nvPr/>
        </p:nvCxnSpPr>
        <p:spPr>
          <a:xfrm>
            <a:off x="5129151" y="2403475"/>
            <a:ext cx="1141412" cy="8890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5857" name="Line 17"/>
          <p:cNvSpPr/>
          <p:nvPr/>
        </p:nvSpPr>
        <p:spPr>
          <a:xfrm>
            <a:off x="7191375" y="4329113"/>
            <a:ext cx="132556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5858" name="Line 18"/>
          <p:cNvSpPr/>
          <p:nvPr/>
        </p:nvSpPr>
        <p:spPr>
          <a:xfrm>
            <a:off x="7213600" y="5094288"/>
            <a:ext cx="132556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5859" name="Line 19"/>
          <p:cNvSpPr/>
          <p:nvPr/>
        </p:nvSpPr>
        <p:spPr>
          <a:xfrm>
            <a:off x="7221538" y="5853113"/>
            <a:ext cx="13255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6645" name="Text Box 21"/>
          <p:cNvSpPr txBox="1"/>
          <p:nvPr/>
        </p:nvSpPr>
        <p:spPr>
          <a:xfrm>
            <a:off x="5718175" y="1819275"/>
            <a:ext cx="3214688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Does “Right rotation”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restore balance?</a:t>
            </a:r>
          </a:p>
        </p:txBody>
      </p:sp>
      <p:sp>
        <p:nvSpPr>
          <p:cNvPr id="26646" name="Oval 22"/>
          <p:cNvSpPr/>
          <p:nvPr/>
        </p:nvSpPr>
        <p:spPr>
          <a:xfrm rot="-2100000">
            <a:off x="2419288" y="1981200"/>
            <a:ext cx="3429000" cy="1487488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5862" name="Text Box 23"/>
          <p:cNvSpPr txBox="1"/>
          <p:nvPr/>
        </p:nvSpPr>
        <p:spPr>
          <a:xfrm>
            <a:off x="6381688" y="3048000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5863" name="Text Box 25"/>
          <p:cNvSpPr txBox="1"/>
          <p:nvPr/>
        </p:nvSpPr>
        <p:spPr>
          <a:xfrm>
            <a:off x="4857688" y="3962400"/>
            <a:ext cx="6143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h+1</a:t>
            </a:r>
          </a:p>
        </p:txBody>
      </p:sp>
      <p:sp>
        <p:nvSpPr>
          <p:cNvPr id="35864" name="Text Box 26"/>
          <p:cNvSpPr txBox="1"/>
          <p:nvPr/>
        </p:nvSpPr>
        <p:spPr>
          <a:xfrm>
            <a:off x="2571688" y="3962400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5865" name="Text Box 26"/>
          <p:cNvSpPr txBox="1"/>
          <p:nvPr/>
        </p:nvSpPr>
        <p:spPr>
          <a:xfrm>
            <a:off x="3257488" y="2590800"/>
            <a:ext cx="533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-1</a:t>
            </a:r>
          </a:p>
        </p:txBody>
      </p:sp>
      <p:sp>
        <p:nvSpPr>
          <p:cNvPr id="35866" name="Text Box 27"/>
          <p:cNvSpPr txBox="1"/>
          <p:nvPr/>
        </p:nvSpPr>
        <p:spPr>
          <a:xfrm>
            <a:off x="4705288" y="1447800"/>
            <a:ext cx="533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5" grpId="0"/>
      <p:bldP spid="2664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Oval 2"/>
          <p:cNvSpPr/>
          <p:nvPr/>
        </p:nvSpPr>
        <p:spPr>
          <a:xfrm>
            <a:off x="4643438" y="2676525"/>
            <a:ext cx="777875" cy="7556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6867" name="Text Box 3"/>
          <p:cNvSpPr txBox="1"/>
          <p:nvPr/>
        </p:nvSpPr>
        <p:spPr>
          <a:xfrm>
            <a:off x="4856163" y="2482850"/>
            <a:ext cx="4730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6868" name="Oval 4"/>
          <p:cNvSpPr/>
          <p:nvPr/>
        </p:nvSpPr>
        <p:spPr>
          <a:xfrm>
            <a:off x="2979738" y="1755775"/>
            <a:ext cx="779462" cy="7556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6869" name="Text Box 5"/>
          <p:cNvSpPr txBox="1"/>
          <p:nvPr/>
        </p:nvSpPr>
        <p:spPr>
          <a:xfrm>
            <a:off x="3114675" y="1665288"/>
            <a:ext cx="474663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6870" name="AutoShape 6"/>
          <p:cNvCxnSpPr>
            <a:stCxn id="36866" idx="3"/>
            <a:endCxn id="36874" idx="0"/>
          </p:cNvCxnSpPr>
          <p:nvPr/>
        </p:nvCxnSpPr>
        <p:spPr>
          <a:xfrm flipH="1">
            <a:off x="4006850" y="3322638"/>
            <a:ext cx="749300" cy="522287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6871" name="AutoShape 7"/>
          <p:cNvSpPr/>
          <p:nvPr/>
        </p:nvSpPr>
        <p:spPr>
          <a:xfrm>
            <a:off x="1423988" y="2992438"/>
            <a:ext cx="1450975" cy="112712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36872" name="AutoShape 8"/>
          <p:cNvCxnSpPr>
            <a:stCxn id="36868" idx="3"/>
            <a:endCxn id="36871" idx="0"/>
          </p:cNvCxnSpPr>
          <p:nvPr/>
        </p:nvCxnSpPr>
        <p:spPr>
          <a:xfrm flipH="1">
            <a:off x="2149475" y="2401888"/>
            <a:ext cx="944563" cy="5905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6873" name="Text Box 9"/>
          <p:cNvSpPr txBox="1"/>
          <p:nvPr/>
        </p:nvSpPr>
        <p:spPr>
          <a:xfrm>
            <a:off x="1851025" y="3214688"/>
            <a:ext cx="474663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X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6874" name="AutoShape 10"/>
          <p:cNvSpPr/>
          <p:nvPr/>
        </p:nvSpPr>
        <p:spPr>
          <a:xfrm>
            <a:off x="3298825" y="3844925"/>
            <a:ext cx="1414463" cy="212883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6875" name="Text Box 11"/>
          <p:cNvSpPr txBox="1"/>
          <p:nvPr/>
        </p:nvSpPr>
        <p:spPr>
          <a:xfrm>
            <a:off x="3722688" y="4875213"/>
            <a:ext cx="474662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Y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6876" name="AutoShape 12"/>
          <p:cNvSpPr/>
          <p:nvPr/>
        </p:nvSpPr>
        <p:spPr>
          <a:xfrm>
            <a:off x="5280025" y="3844925"/>
            <a:ext cx="1485900" cy="11668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6877" name="Text Box 13"/>
          <p:cNvSpPr txBox="1"/>
          <p:nvPr/>
        </p:nvSpPr>
        <p:spPr>
          <a:xfrm>
            <a:off x="5730875" y="4119563"/>
            <a:ext cx="474663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6878" name="AutoShape 14"/>
          <p:cNvCxnSpPr>
            <a:stCxn id="36866" idx="5"/>
            <a:endCxn id="36876" idx="0"/>
          </p:cNvCxnSpPr>
          <p:nvPr/>
        </p:nvCxnSpPr>
        <p:spPr>
          <a:xfrm>
            <a:off x="5308600" y="3322638"/>
            <a:ext cx="714375" cy="522287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879" name="AutoShape 15"/>
          <p:cNvCxnSpPr>
            <a:stCxn id="36868" idx="5"/>
            <a:endCxn id="36866" idx="1"/>
          </p:cNvCxnSpPr>
          <p:nvPr/>
        </p:nvCxnSpPr>
        <p:spPr>
          <a:xfrm>
            <a:off x="3644900" y="2401888"/>
            <a:ext cx="1111250" cy="3841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6880" name="Line 16"/>
          <p:cNvSpPr/>
          <p:nvPr/>
        </p:nvSpPr>
        <p:spPr>
          <a:xfrm>
            <a:off x="6978650" y="5011738"/>
            <a:ext cx="148431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6881" name="Line 17"/>
          <p:cNvSpPr/>
          <p:nvPr/>
        </p:nvSpPr>
        <p:spPr>
          <a:xfrm>
            <a:off x="6978650" y="4187825"/>
            <a:ext cx="148431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6882" name="Line 18"/>
          <p:cNvSpPr/>
          <p:nvPr/>
        </p:nvSpPr>
        <p:spPr>
          <a:xfrm flipV="1">
            <a:off x="7048500" y="5894388"/>
            <a:ext cx="1485900" cy="11112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27667" name="Text Box 19"/>
          <p:cNvSpPr txBox="1"/>
          <p:nvPr/>
        </p:nvSpPr>
        <p:spPr>
          <a:xfrm>
            <a:off x="6019800" y="1768475"/>
            <a:ext cx="2649538" cy="1552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“Right rotation”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does not restore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balance… now k is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out of balance</a:t>
            </a:r>
          </a:p>
        </p:txBody>
      </p:sp>
      <p:sp>
        <p:nvSpPr>
          <p:cNvPr id="36884" name="Oval 21"/>
          <p:cNvSpPr/>
          <p:nvPr/>
        </p:nvSpPr>
        <p:spPr>
          <a:xfrm rot="1680000">
            <a:off x="2590800" y="1981200"/>
            <a:ext cx="3429000" cy="1487488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6885" name="Text Box 22"/>
          <p:cNvSpPr txBox="1"/>
          <p:nvPr/>
        </p:nvSpPr>
        <p:spPr>
          <a:xfrm>
            <a:off x="6248400" y="3581400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6886" name="Text Box 24"/>
          <p:cNvSpPr txBox="1"/>
          <p:nvPr/>
        </p:nvSpPr>
        <p:spPr>
          <a:xfrm>
            <a:off x="4191000" y="3733800"/>
            <a:ext cx="6143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h+1</a:t>
            </a:r>
          </a:p>
        </p:txBody>
      </p:sp>
      <p:sp>
        <p:nvSpPr>
          <p:cNvPr id="36887" name="Text Box 25"/>
          <p:cNvSpPr txBox="1"/>
          <p:nvPr/>
        </p:nvSpPr>
        <p:spPr>
          <a:xfrm>
            <a:off x="2438400" y="2819400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27673" name="Text Box 25"/>
          <p:cNvSpPr txBox="1"/>
          <p:nvPr/>
        </p:nvSpPr>
        <p:spPr>
          <a:xfrm>
            <a:off x="4876800" y="2362200"/>
            <a:ext cx="533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27674" name="Text Box 26"/>
          <p:cNvSpPr txBox="1"/>
          <p:nvPr/>
        </p:nvSpPr>
        <p:spPr>
          <a:xfrm>
            <a:off x="3200400" y="1385888"/>
            <a:ext cx="533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-2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7" grpId="0"/>
      <p:bldP spid="27673" grpId="0"/>
      <p:bldP spid="2767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/>
          <p:nvPr/>
        </p:nvSpPr>
        <p:spPr>
          <a:xfrm>
            <a:off x="304800" y="685800"/>
            <a:ext cx="344805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Consider the structure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of subtree Y…</a:t>
            </a:r>
          </a:p>
        </p:txBody>
      </p:sp>
      <p:sp>
        <p:nvSpPr>
          <p:cNvPr id="37891" name="Oval 3"/>
          <p:cNvSpPr/>
          <p:nvPr/>
        </p:nvSpPr>
        <p:spPr>
          <a:xfrm>
            <a:off x="4478338" y="1830388"/>
            <a:ext cx="693737" cy="669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7892" name="Text Box 4"/>
          <p:cNvSpPr txBox="1"/>
          <p:nvPr/>
        </p:nvSpPr>
        <p:spPr>
          <a:xfrm>
            <a:off x="4678363" y="1608138"/>
            <a:ext cx="42545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7893" name="Oval 5"/>
          <p:cNvSpPr/>
          <p:nvPr/>
        </p:nvSpPr>
        <p:spPr>
          <a:xfrm>
            <a:off x="3090863" y="2927350"/>
            <a:ext cx="693737" cy="6699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7894" name="Text Box 6"/>
          <p:cNvSpPr txBox="1"/>
          <p:nvPr/>
        </p:nvSpPr>
        <p:spPr>
          <a:xfrm>
            <a:off x="3213100" y="2811463"/>
            <a:ext cx="42227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7895" name="AutoShape 7"/>
          <p:cNvCxnSpPr>
            <a:stCxn id="37891" idx="3"/>
            <a:endCxn id="37893" idx="7"/>
          </p:cNvCxnSpPr>
          <p:nvPr/>
        </p:nvCxnSpPr>
        <p:spPr>
          <a:xfrm flipH="1">
            <a:off x="3683000" y="2403475"/>
            <a:ext cx="896938" cy="6223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7896" name="AutoShape 8"/>
          <p:cNvSpPr/>
          <p:nvPr/>
        </p:nvSpPr>
        <p:spPr>
          <a:xfrm>
            <a:off x="1701800" y="4024313"/>
            <a:ext cx="1325563" cy="10366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37897" name="AutoShape 9"/>
          <p:cNvCxnSpPr>
            <a:stCxn id="37893" idx="3"/>
            <a:endCxn id="37896" idx="0"/>
          </p:cNvCxnSpPr>
          <p:nvPr/>
        </p:nvCxnSpPr>
        <p:spPr>
          <a:xfrm flipH="1">
            <a:off x="2363788" y="3500438"/>
            <a:ext cx="827087" cy="5238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7898" name="Text Box 10"/>
          <p:cNvSpPr txBox="1"/>
          <p:nvPr/>
        </p:nvSpPr>
        <p:spPr>
          <a:xfrm>
            <a:off x="2054225" y="4244975"/>
            <a:ext cx="423863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X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8683" name="AutoShape 11"/>
          <p:cNvSpPr/>
          <p:nvPr/>
        </p:nvSpPr>
        <p:spPr>
          <a:xfrm>
            <a:off x="3910013" y="4084638"/>
            <a:ext cx="1262062" cy="1768475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28684" name="Text Box 12"/>
          <p:cNvSpPr txBox="1"/>
          <p:nvPr/>
        </p:nvSpPr>
        <p:spPr>
          <a:xfrm>
            <a:off x="4256088" y="4800600"/>
            <a:ext cx="423862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Y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7901" name="AutoShape 13"/>
          <p:cNvSpPr/>
          <p:nvPr/>
        </p:nvSpPr>
        <p:spPr>
          <a:xfrm>
            <a:off x="5551488" y="3292475"/>
            <a:ext cx="1325562" cy="1036638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7902" name="Text Box 14"/>
          <p:cNvSpPr txBox="1"/>
          <p:nvPr/>
        </p:nvSpPr>
        <p:spPr>
          <a:xfrm>
            <a:off x="5903913" y="3471863"/>
            <a:ext cx="423862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7903" name="AutoShape 15"/>
          <p:cNvCxnSpPr>
            <a:stCxn id="37893" idx="5"/>
            <a:endCxn id="28683" idx="0"/>
          </p:cNvCxnSpPr>
          <p:nvPr/>
        </p:nvCxnSpPr>
        <p:spPr>
          <a:xfrm>
            <a:off x="3683000" y="3500438"/>
            <a:ext cx="858838" cy="5842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904" name="AutoShape 16"/>
          <p:cNvCxnSpPr>
            <a:stCxn id="37891" idx="5"/>
            <a:endCxn id="37901" idx="0"/>
          </p:cNvCxnSpPr>
          <p:nvPr/>
        </p:nvCxnSpPr>
        <p:spPr>
          <a:xfrm>
            <a:off x="5072063" y="2403475"/>
            <a:ext cx="1141412" cy="8890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7905" name="Text Box 21"/>
          <p:cNvSpPr txBox="1"/>
          <p:nvPr/>
        </p:nvSpPr>
        <p:spPr>
          <a:xfrm>
            <a:off x="6324600" y="3048000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28694" name="Text Box 23"/>
          <p:cNvSpPr txBox="1"/>
          <p:nvPr/>
        </p:nvSpPr>
        <p:spPr>
          <a:xfrm>
            <a:off x="4800600" y="3962400"/>
            <a:ext cx="6143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h+1</a:t>
            </a:r>
          </a:p>
        </p:txBody>
      </p:sp>
      <p:sp>
        <p:nvSpPr>
          <p:cNvPr id="37907" name="Text Box 24"/>
          <p:cNvSpPr txBox="1"/>
          <p:nvPr/>
        </p:nvSpPr>
        <p:spPr>
          <a:xfrm>
            <a:off x="2514600" y="3962400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7908" name="Text Box 24"/>
          <p:cNvSpPr txBox="1"/>
          <p:nvPr/>
        </p:nvSpPr>
        <p:spPr>
          <a:xfrm>
            <a:off x="3200400" y="2590800"/>
            <a:ext cx="533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-1</a:t>
            </a:r>
          </a:p>
        </p:txBody>
      </p:sp>
      <p:sp>
        <p:nvSpPr>
          <p:cNvPr id="37909" name="Text Box 25"/>
          <p:cNvSpPr txBox="1"/>
          <p:nvPr/>
        </p:nvSpPr>
        <p:spPr>
          <a:xfrm>
            <a:off x="4648200" y="1447800"/>
            <a:ext cx="533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2</a:t>
            </a:r>
          </a:p>
        </p:txBody>
      </p:sp>
      <p:sp>
        <p:nvSpPr>
          <p:cNvPr id="28698" name="Text Box 25"/>
          <p:cNvSpPr txBox="1"/>
          <p:nvPr/>
        </p:nvSpPr>
        <p:spPr>
          <a:xfrm>
            <a:off x="381000" y="1752600"/>
            <a:ext cx="272415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Y = node i and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subtrees V and W</a:t>
            </a:r>
          </a:p>
        </p:txBody>
      </p:sp>
      <p:sp>
        <p:nvSpPr>
          <p:cNvPr id="37911" name="Line 17"/>
          <p:cNvSpPr/>
          <p:nvPr/>
        </p:nvSpPr>
        <p:spPr>
          <a:xfrm>
            <a:off x="7331075" y="4343400"/>
            <a:ext cx="132556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7912" name="Line 18"/>
          <p:cNvSpPr/>
          <p:nvPr/>
        </p:nvSpPr>
        <p:spPr>
          <a:xfrm>
            <a:off x="7353300" y="5108575"/>
            <a:ext cx="132556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7913" name="Line 19"/>
          <p:cNvSpPr/>
          <p:nvPr/>
        </p:nvSpPr>
        <p:spPr>
          <a:xfrm>
            <a:off x="7361238" y="5867400"/>
            <a:ext cx="13255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grpSp>
        <p:nvGrpSpPr>
          <p:cNvPr id="2" name="Group 38"/>
          <p:cNvGrpSpPr/>
          <p:nvPr/>
        </p:nvGrpSpPr>
        <p:grpSpPr>
          <a:xfrm>
            <a:off x="3048000" y="4075113"/>
            <a:ext cx="3049588" cy="2325687"/>
            <a:chOff x="3551" y="2559"/>
            <a:chExt cx="1921" cy="1465"/>
          </a:xfrm>
        </p:grpSpPr>
        <p:sp>
          <p:nvSpPr>
            <p:cNvPr id="37917" name="AutoShape 10"/>
            <p:cNvSpPr/>
            <p:nvPr/>
          </p:nvSpPr>
          <p:spPr>
            <a:xfrm>
              <a:off x="3551" y="3221"/>
              <a:ext cx="830" cy="745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7918" name="Text Box 11"/>
            <p:cNvSpPr txBox="1"/>
            <p:nvPr/>
          </p:nvSpPr>
          <p:spPr>
            <a:xfrm>
              <a:off x="3792" y="3448"/>
              <a:ext cx="293" cy="5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V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37919" name="AutoShape 19"/>
            <p:cNvSpPr/>
            <p:nvPr/>
          </p:nvSpPr>
          <p:spPr>
            <a:xfrm>
              <a:off x="4643" y="3221"/>
              <a:ext cx="829" cy="745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7920" name="Text Box 20"/>
            <p:cNvSpPr txBox="1"/>
            <p:nvPr/>
          </p:nvSpPr>
          <p:spPr>
            <a:xfrm>
              <a:off x="4796" y="3440"/>
              <a:ext cx="292" cy="5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5400" i="1" dirty="0">
                  <a:latin typeface="Arial" panose="020B0604020202020204" pitchFamily="34" charset="0"/>
                </a:rPr>
                <a:t>W</a:t>
              </a:r>
              <a:endParaRPr lang="en-US" altLang="zh-CN" sz="2800" dirty="0">
                <a:latin typeface="Arial" panose="020B0604020202020204" pitchFamily="34" charset="0"/>
              </a:endParaRPr>
            </a:p>
          </p:txBody>
        </p:sp>
        <p:sp>
          <p:nvSpPr>
            <p:cNvPr id="37921" name="Oval 21"/>
            <p:cNvSpPr/>
            <p:nvPr/>
          </p:nvSpPr>
          <p:spPr>
            <a:xfrm>
              <a:off x="4249" y="2559"/>
              <a:ext cx="481" cy="455"/>
            </a:xfrm>
            <a:prstGeom prst="ellipse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cxnSp>
          <p:nvCxnSpPr>
            <p:cNvPr id="37922" name="AutoShape 23"/>
            <p:cNvCxnSpPr>
              <a:stCxn id="37921" idx="3"/>
              <a:endCxn id="37917" idx="0"/>
            </p:cNvCxnSpPr>
            <p:nvPr/>
          </p:nvCxnSpPr>
          <p:spPr>
            <a:xfrm flipH="1">
              <a:off x="3966" y="2947"/>
              <a:ext cx="354" cy="274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7923" name="AutoShape 24"/>
            <p:cNvCxnSpPr>
              <a:stCxn id="37921" idx="5"/>
              <a:endCxn id="37919" idx="0"/>
            </p:cNvCxnSpPr>
            <p:nvPr/>
          </p:nvCxnSpPr>
          <p:spPr>
            <a:xfrm>
              <a:off x="4660" y="2947"/>
              <a:ext cx="398" cy="274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7924" name="Text Box 29"/>
            <p:cNvSpPr txBox="1"/>
            <p:nvPr/>
          </p:nvSpPr>
          <p:spPr>
            <a:xfrm>
              <a:off x="4748" y="2621"/>
              <a:ext cx="38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h+1</a:t>
              </a:r>
            </a:p>
          </p:txBody>
        </p:sp>
        <p:sp>
          <p:nvSpPr>
            <p:cNvPr id="37925" name="Text Box 31"/>
            <p:cNvSpPr txBox="1"/>
            <p:nvPr/>
          </p:nvSpPr>
          <p:spPr>
            <a:xfrm>
              <a:off x="4220" y="3149"/>
              <a:ext cx="6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 or h-1</a:t>
              </a:r>
            </a:p>
          </p:txBody>
        </p:sp>
      </p:grpSp>
      <p:sp>
        <p:nvSpPr>
          <p:cNvPr id="28704" name="Text Box 22"/>
          <p:cNvSpPr txBox="1"/>
          <p:nvPr/>
        </p:nvSpPr>
        <p:spPr>
          <a:xfrm>
            <a:off x="4343400" y="3983038"/>
            <a:ext cx="465138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i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8711" name="Text Box 39"/>
          <p:cNvSpPr txBox="1"/>
          <p:nvPr/>
        </p:nvSpPr>
        <p:spPr>
          <a:xfrm>
            <a:off x="4114800" y="3733800"/>
            <a:ext cx="1143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-1/0/1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3" grpId="0" animBg="1"/>
      <p:bldP spid="28684" grpId="0"/>
      <p:bldP spid="28694" grpId="0"/>
      <p:bldP spid="28698" grpId="0"/>
      <p:bldP spid="28704" grpId="0"/>
      <p:bldP spid="287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Oval 2"/>
          <p:cNvSpPr/>
          <p:nvPr/>
        </p:nvSpPr>
        <p:spPr>
          <a:xfrm>
            <a:off x="4051300" y="1695450"/>
            <a:ext cx="762000" cy="72231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8915" name="Text Box 3"/>
          <p:cNvSpPr txBox="1"/>
          <p:nvPr/>
        </p:nvSpPr>
        <p:spPr>
          <a:xfrm>
            <a:off x="4259263" y="1497013"/>
            <a:ext cx="46672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8916" name="Oval 4"/>
          <p:cNvSpPr/>
          <p:nvPr/>
        </p:nvSpPr>
        <p:spPr>
          <a:xfrm>
            <a:off x="2525713" y="2878138"/>
            <a:ext cx="762000" cy="72231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8917" name="Text Box 5"/>
          <p:cNvSpPr txBox="1"/>
          <p:nvPr/>
        </p:nvSpPr>
        <p:spPr>
          <a:xfrm>
            <a:off x="2678113" y="2755900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8918" name="AutoShape 6"/>
          <p:cNvCxnSpPr>
            <a:stCxn id="38914" idx="3"/>
            <a:endCxn id="38916" idx="7"/>
          </p:cNvCxnSpPr>
          <p:nvPr/>
        </p:nvCxnSpPr>
        <p:spPr>
          <a:xfrm flipH="1">
            <a:off x="3176588" y="2312988"/>
            <a:ext cx="985837" cy="66992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8919" name="AutoShape 7"/>
          <p:cNvSpPr/>
          <p:nvPr/>
        </p:nvSpPr>
        <p:spPr>
          <a:xfrm>
            <a:off x="1000125" y="4060825"/>
            <a:ext cx="1455738" cy="11160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38920" name="AutoShape 8"/>
          <p:cNvCxnSpPr>
            <a:stCxn id="38916" idx="3"/>
            <a:endCxn id="38919" idx="0"/>
          </p:cNvCxnSpPr>
          <p:nvPr/>
        </p:nvCxnSpPr>
        <p:spPr>
          <a:xfrm flipH="1">
            <a:off x="1728788" y="3495675"/>
            <a:ext cx="908050" cy="5651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8921" name="Text Box 9"/>
          <p:cNvSpPr txBox="1"/>
          <p:nvPr/>
        </p:nvSpPr>
        <p:spPr>
          <a:xfrm>
            <a:off x="1462088" y="4298950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X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8922" name="AutoShape 10"/>
          <p:cNvSpPr/>
          <p:nvPr/>
        </p:nvSpPr>
        <p:spPr>
          <a:xfrm>
            <a:off x="2595563" y="4914900"/>
            <a:ext cx="1317625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8923" name="Text Box 11"/>
          <p:cNvSpPr txBox="1"/>
          <p:nvPr/>
        </p:nvSpPr>
        <p:spPr>
          <a:xfrm>
            <a:off x="2978150" y="5275263"/>
            <a:ext cx="465138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V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8924" name="AutoShape 12"/>
          <p:cNvSpPr/>
          <p:nvPr/>
        </p:nvSpPr>
        <p:spPr>
          <a:xfrm>
            <a:off x="5229225" y="3271838"/>
            <a:ext cx="1457325" cy="1117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8925" name="Text Box 13"/>
          <p:cNvSpPr txBox="1"/>
          <p:nvPr/>
        </p:nvSpPr>
        <p:spPr>
          <a:xfrm>
            <a:off x="5646738" y="3546475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8926" name="AutoShape 14"/>
          <p:cNvCxnSpPr>
            <a:stCxn id="38916" idx="5"/>
            <a:endCxn id="38933" idx="1"/>
          </p:cNvCxnSpPr>
          <p:nvPr/>
        </p:nvCxnSpPr>
        <p:spPr>
          <a:xfrm>
            <a:off x="3176588" y="3495675"/>
            <a:ext cx="639762" cy="4730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27" name="AutoShape 15"/>
          <p:cNvCxnSpPr>
            <a:stCxn id="38914" idx="5"/>
            <a:endCxn id="38924" idx="0"/>
          </p:cNvCxnSpPr>
          <p:nvPr/>
        </p:nvCxnSpPr>
        <p:spPr>
          <a:xfrm>
            <a:off x="4702175" y="2312988"/>
            <a:ext cx="1255713" cy="9588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8928" name="Line 16"/>
          <p:cNvSpPr/>
          <p:nvPr/>
        </p:nvSpPr>
        <p:spPr>
          <a:xfrm>
            <a:off x="7032625" y="4389438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8929" name="Line 17"/>
          <p:cNvSpPr/>
          <p:nvPr/>
        </p:nvSpPr>
        <p:spPr>
          <a:xfrm>
            <a:off x="7032625" y="5176838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8930" name="Line 18"/>
          <p:cNvSpPr/>
          <p:nvPr/>
        </p:nvSpPr>
        <p:spPr>
          <a:xfrm>
            <a:off x="7102475" y="6030913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8931" name="AutoShape 19"/>
          <p:cNvSpPr/>
          <p:nvPr/>
        </p:nvSpPr>
        <p:spPr>
          <a:xfrm>
            <a:off x="4329113" y="4914900"/>
            <a:ext cx="1316037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8932" name="Text Box 20"/>
          <p:cNvSpPr txBox="1"/>
          <p:nvPr/>
        </p:nvSpPr>
        <p:spPr>
          <a:xfrm>
            <a:off x="4572000" y="5262563"/>
            <a:ext cx="46355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W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8933" name="Oval 21"/>
          <p:cNvSpPr/>
          <p:nvPr/>
        </p:nvSpPr>
        <p:spPr>
          <a:xfrm>
            <a:off x="3703638" y="3863975"/>
            <a:ext cx="763587" cy="722313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8934" name="Text Box 22"/>
          <p:cNvSpPr txBox="1"/>
          <p:nvPr/>
        </p:nvSpPr>
        <p:spPr>
          <a:xfrm>
            <a:off x="3890963" y="3763963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i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8935" name="AutoShape 23"/>
          <p:cNvCxnSpPr>
            <a:stCxn id="38933" idx="3"/>
            <a:endCxn id="38922" idx="0"/>
          </p:cNvCxnSpPr>
          <p:nvPr/>
        </p:nvCxnSpPr>
        <p:spPr>
          <a:xfrm flipH="1">
            <a:off x="3254375" y="4479925"/>
            <a:ext cx="561975" cy="4349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936" name="AutoShape 24"/>
          <p:cNvCxnSpPr>
            <a:stCxn id="38933" idx="5"/>
            <a:endCxn id="38931" idx="0"/>
          </p:cNvCxnSpPr>
          <p:nvPr/>
        </p:nvCxnSpPr>
        <p:spPr>
          <a:xfrm>
            <a:off x="4356100" y="4479925"/>
            <a:ext cx="631825" cy="43497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8937" name="Text Box 26"/>
          <p:cNvSpPr txBox="1"/>
          <p:nvPr/>
        </p:nvSpPr>
        <p:spPr>
          <a:xfrm>
            <a:off x="5357813" y="1768475"/>
            <a:ext cx="3467100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We will do a </a:t>
            </a:r>
            <a:r>
              <a:rPr lang="en-US" altLang="zh-CN" sz="2400" dirty="0">
                <a:solidFill>
                  <a:schemeClr val="accent2"/>
                </a:solidFill>
              </a:rPr>
              <a:t>left-right 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“double rotation” .</a:t>
            </a:r>
            <a:r>
              <a:rPr lang="en-US" altLang="zh-CN" sz="2400" dirty="0"/>
              <a:t> .</a:t>
            </a:r>
            <a:r>
              <a:rPr lang="en-US" altLang="zh-CN" sz="2400" dirty="0">
                <a:latin typeface="Arial" panose="020B0604020202020204" pitchFamily="34" charset="0"/>
              </a:rPr>
              <a:t> .</a:t>
            </a:r>
          </a:p>
        </p:txBody>
      </p:sp>
      <p:sp>
        <p:nvSpPr>
          <p:cNvPr id="38938" name="Freeform 27"/>
          <p:cNvSpPr/>
          <p:nvPr/>
        </p:nvSpPr>
        <p:spPr>
          <a:xfrm>
            <a:off x="3490913" y="2984500"/>
            <a:ext cx="735012" cy="839788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463" h="529">
                <a:moveTo>
                  <a:pt x="463" y="529"/>
                </a:moveTo>
                <a:cubicBezTo>
                  <a:pt x="452" y="351"/>
                  <a:pt x="442" y="174"/>
                  <a:pt x="365" y="87"/>
                </a:cubicBezTo>
                <a:cubicBezTo>
                  <a:pt x="288" y="0"/>
                  <a:pt x="144" y="5"/>
                  <a:pt x="0" y="1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39" name="Freeform 28"/>
          <p:cNvSpPr/>
          <p:nvPr/>
        </p:nvSpPr>
        <p:spPr>
          <a:xfrm>
            <a:off x="3062288" y="2152650"/>
            <a:ext cx="817562" cy="8255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rect l="0" t="0" r="0" b="0"/>
            <a:pathLst>
              <a:path w="515" h="520">
                <a:moveTo>
                  <a:pt x="206" y="520"/>
                </a:moveTo>
                <a:cubicBezTo>
                  <a:pt x="103" y="349"/>
                  <a:pt x="0" y="178"/>
                  <a:pt x="52" y="91"/>
                </a:cubicBezTo>
                <a:cubicBezTo>
                  <a:pt x="104" y="4"/>
                  <a:pt x="309" y="2"/>
                  <a:pt x="515" y="0"/>
                </a:cubicBez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40" name="Oval 30"/>
          <p:cNvSpPr/>
          <p:nvPr/>
        </p:nvSpPr>
        <p:spPr>
          <a:xfrm rot="1680000">
            <a:off x="1752600" y="3008313"/>
            <a:ext cx="3429000" cy="1487487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8941" name="Oval 31"/>
          <p:cNvSpPr/>
          <p:nvPr/>
        </p:nvSpPr>
        <p:spPr>
          <a:xfrm rot="-2100000">
            <a:off x="1981200" y="1828800"/>
            <a:ext cx="3429000" cy="1487488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8942" name="Text Box 24"/>
          <p:cNvSpPr txBox="1"/>
          <p:nvPr/>
        </p:nvSpPr>
        <p:spPr>
          <a:xfrm>
            <a:off x="2667000" y="2605088"/>
            <a:ext cx="533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-1</a:t>
            </a:r>
          </a:p>
        </p:txBody>
      </p:sp>
      <p:sp>
        <p:nvSpPr>
          <p:cNvPr id="38943" name="Text Box 25"/>
          <p:cNvSpPr txBox="1"/>
          <p:nvPr/>
        </p:nvSpPr>
        <p:spPr>
          <a:xfrm>
            <a:off x="4267200" y="1398588"/>
            <a:ext cx="533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hlink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Oval 2"/>
          <p:cNvSpPr/>
          <p:nvPr/>
        </p:nvSpPr>
        <p:spPr>
          <a:xfrm>
            <a:off x="4051300" y="1695450"/>
            <a:ext cx="762000" cy="72231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9939" name="Text Box 3"/>
          <p:cNvSpPr txBox="1"/>
          <p:nvPr/>
        </p:nvSpPr>
        <p:spPr>
          <a:xfrm>
            <a:off x="4259263" y="1497013"/>
            <a:ext cx="46672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9940" name="Oval 4"/>
          <p:cNvSpPr/>
          <p:nvPr/>
        </p:nvSpPr>
        <p:spPr>
          <a:xfrm>
            <a:off x="1828800" y="3779838"/>
            <a:ext cx="762000" cy="72231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</a:p>
        </p:txBody>
      </p:sp>
      <p:cxnSp>
        <p:nvCxnSpPr>
          <p:cNvPr id="39941" name="AutoShape 6"/>
          <p:cNvCxnSpPr>
            <a:stCxn id="39938" idx="3"/>
            <a:endCxn id="39955" idx="0"/>
          </p:cNvCxnSpPr>
          <p:nvPr/>
        </p:nvCxnSpPr>
        <p:spPr>
          <a:xfrm flipH="1">
            <a:off x="2897188" y="2311400"/>
            <a:ext cx="1265237" cy="5842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9942" name="AutoShape 7"/>
          <p:cNvSpPr/>
          <p:nvPr/>
        </p:nvSpPr>
        <p:spPr>
          <a:xfrm>
            <a:off x="609600" y="4953000"/>
            <a:ext cx="1455738" cy="11160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39943" name="AutoShape 8"/>
          <p:cNvCxnSpPr>
            <a:stCxn id="39940" idx="3"/>
            <a:endCxn id="39942" idx="0"/>
          </p:cNvCxnSpPr>
          <p:nvPr/>
        </p:nvCxnSpPr>
        <p:spPr>
          <a:xfrm flipH="1">
            <a:off x="1338263" y="4395788"/>
            <a:ext cx="601662" cy="557212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9944" name="Text Box 9"/>
          <p:cNvSpPr txBox="1"/>
          <p:nvPr/>
        </p:nvSpPr>
        <p:spPr>
          <a:xfrm>
            <a:off x="1071563" y="5257800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X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9945" name="AutoShape 10"/>
          <p:cNvSpPr/>
          <p:nvPr/>
        </p:nvSpPr>
        <p:spPr>
          <a:xfrm>
            <a:off x="2357438" y="4876800"/>
            <a:ext cx="1317625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39946" name="AutoShape 12"/>
          <p:cNvSpPr/>
          <p:nvPr/>
        </p:nvSpPr>
        <p:spPr>
          <a:xfrm>
            <a:off x="5229225" y="3271838"/>
            <a:ext cx="1457325" cy="1117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9947" name="Text Box 13"/>
          <p:cNvSpPr txBox="1"/>
          <p:nvPr/>
        </p:nvSpPr>
        <p:spPr>
          <a:xfrm>
            <a:off x="5646738" y="3546475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39948" name="AutoShape 14"/>
          <p:cNvCxnSpPr>
            <a:stCxn id="39940" idx="5"/>
            <a:endCxn id="39945" idx="0"/>
          </p:cNvCxnSpPr>
          <p:nvPr/>
        </p:nvCxnSpPr>
        <p:spPr>
          <a:xfrm>
            <a:off x="2479675" y="4395788"/>
            <a:ext cx="536575" cy="481012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949" name="AutoShape 15"/>
          <p:cNvCxnSpPr>
            <a:stCxn id="39938" idx="5"/>
            <a:endCxn id="39946" idx="0"/>
          </p:cNvCxnSpPr>
          <p:nvPr/>
        </p:nvCxnSpPr>
        <p:spPr>
          <a:xfrm>
            <a:off x="4702175" y="2312988"/>
            <a:ext cx="1255713" cy="9588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9950" name="Line 16"/>
          <p:cNvSpPr/>
          <p:nvPr/>
        </p:nvSpPr>
        <p:spPr>
          <a:xfrm>
            <a:off x="7032625" y="4389438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51" name="Line 17"/>
          <p:cNvSpPr/>
          <p:nvPr/>
        </p:nvSpPr>
        <p:spPr>
          <a:xfrm>
            <a:off x="7032625" y="5176838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52" name="Line 18"/>
          <p:cNvSpPr/>
          <p:nvPr/>
        </p:nvSpPr>
        <p:spPr>
          <a:xfrm>
            <a:off x="7102475" y="6030913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39953" name="AutoShape 19"/>
          <p:cNvSpPr/>
          <p:nvPr/>
        </p:nvSpPr>
        <p:spPr>
          <a:xfrm>
            <a:off x="3810000" y="4038600"/>
            <a:ext cx="1316038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9954" name="Text Box 20"/>
          <p:cNvSpPr txBox="1"/>
          <p:nvPr/>
        </p:nvSpPr>
        <p:spPr>
          <a:xfrm>
            <a:off x="4052888" y="4386263"/>
            <a:ext cx="46355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W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9955" name="Oval 21"/>
          <p:cNvSpPr/>
          <p:nvPr/>
        </p:nvSpPr>
        <p:spPr>
          <a:xfrm>
            <a:off x="2514600" y="2895600"/>
            <a:ext cx="763588" cy="722313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i</a:t>
            </a:r>
          </a:p>
        </p:txBody>
      </p:sp>
      <p:cxnSp>
        <p:nvCxnSpPr>
          <p:cNvPr id="39956" name="AutoShape 24"/>
          <p:cNvCxnSpPr>
            <a:stCxn id="39955" idx="5"/>
            <a:endCxn id="39953" idx="0"/>
          </p:cNvCxnSpPr>
          <p:nvPr/>
        </p:nvCxnSpPr>
        <p:spPr>
          <a:xfrm>
            <a:off x="3167063" y="3511550"/>
            <a:ext cx="1301750" cy="5270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9957" name="Rectangle 25"/>
          <p:cNvSpPr/>
          <p:nvPr/>
        </p:nvSpPr>
        <p:spPr>
          <a:xfrm>
            <a:off x="360363" y="457200"/>
            <a:ext cx="8326437" cy="80168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4400" dirty="0"/>
              <a:t>Double rotation : first rotation</a:t>
            </a:r>
          </a:p>
        </p:txBody>
      </p:sp>
      <p:sp>
        <p:nvSpPr>
          <p:cNvPr id="39958" name="Text Box 26"/>
          <p:cNvSpPr txBox="1"/>
          <p:nvPr/>
        </p:nvSpPr>
        <p:spPr>
          <a:xfrm>
            <a:off x="5357813" y="1768475"/>
            <a:ext cx="3346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left rotation complete</a:t>
            </a:r>
          </a:p>
        </p:txBody>
      </p:sp>
      <p:cxnSp>
        <p:nvCxnSpPr>
          <p:cNvPr id="39959" name="AutoShape 31"/>
          <p:cNvCxnSpPr>
            <a:stCxn id="39955" idx="3"/>
            <a:endCxn id="39940" idx="0"/>
          </p:cNvCxnSpPr>
          <p:nvPr/>
        </p:nvCxnSpPr>
        <p:spPr>
          <a:xfrm flipH="1">
            <a:off x="2209800" y="3511550"/>
            <a:ext cx="415925" cy="268288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9960" name="Oval 34"/>
          <p:cNvSpPr/>
          <p:nvPr/>
        </p:nvSpPr>
        <p:spPr>
          <a:xfrm rot="-2100000">
            <a:off x="685800" y="2971800"/>
            <a:ext cx="3429000" cy="1487488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Oval 2"/>
          <p:cNvSpPr/>
          <p:nvPr/>
        </p:nvSpPr>
        <p:spPr>
          <a:xfrm>
            <a:off x="4051300" y="1695450"/>
            <a:ext cx="762000" cy="722313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40963" name="Text Box 3"/>
          <p:cNvSpPr txBox="1"/>
          <p:nvPr/>
        </p:nvSpPr>
        <p:spPr>
          <a:xfrm>
            <a:off x="4259263" y="1497013"/>
            <a:ext cx="466725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40964" name="Oval 4"/>
          <p:cNvSpPr/>
          <p:nvPr/>
        </p:nvSpPr>
        <p:spPr>
          <a:xfrm>
            <a:off x="1828800" y="3779838"/>
            <a:ext cx="762000" cy="72231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</a:p>
        </p:txBody>
      </p:sp>
      <p:cxnSp>
        <p:nvCxnSpPr>
          <p:cNvPr id="40965" name="AutoShape 5"/>
          <p:cNvCxnSpPr>
            <a:stCxn id="40962" idx="3"/>
            <a:endCxn id="40979" idx="0"/>
          </p:cNvCxnSpPr>
          <p:nvPr/>
        </p:nvCxnSpPr>
        <p:spPr>
          <a:xfrm flipH="1">
            <a:off x="2897188" y="2311400"/>
            <a:ext cx="1265237" cy="58420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0966" name="AutoShape 6"/>
          <p:cNvSpPr/>
          <p:nvPr/>
        </p:nvSpPr>
        <p:spPr>
          <a:xfrm>
            <a:off x="609600" y="4953000"/>
            <a:ext cx="1455738" cy="11160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40967" name="AutoShape 7"/>
          <p:cNvCxnSpPr>
            <a:stCxn id="40964" idx="3"/>
            <a:endCxn id="40966" idx="0"/>
          </p:cNvCxnSpPr>
          <p:nvPr/>
        </p:nvCxnSpPr>
        <p:spPr>
          <a:xfrm flipH="1">
            <a:off x="1338263" y="4395788"/>
            <a:ext cx="601662" cy="557212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0968" name="Text Box 8"/>
          <p:cNvSpPr txBox="1"/>
          <p:nvPr/>
        </p:nvSpPr>
        <p:spPr>
          <a:xfrm>
            <a:off x="1071563" y="5257800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X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40969" name="AutoShape 9"/>
          <p:cNvSpPr/>
          <p:nvPr/>
        </p:nvSpPr>
        <p:spPr>
          <a:xfrm>
            <a:off x="2357438" y="4876800"/>
            <a:ext cx="1317625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40970" name="AutoShape 10"/>
          <p:cNvSpPr/>
          <p:nvPr/>
        </p:nvSpPr>
        <p:spPr>
          <a:xfrm>
            <a:off x="5229225" y="3271838"/>
            <a:ext cx="1457325" cy="1117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40971" name="Text Box 11"/>
          <p:cNvSpPr txBox="1"/>
          <p:nvPr/>
        </p:nvSpPr>
        <p:spPr>
          <a:xfrm>
            <a:off x="5646738" y="3546475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40972" name="AutoShape 12"/>
          <p:cNvCxnSpPr>
            <a:stCxn id="40964" idx="5"/>
            <a:endCxn id="40969" idx="0"/>
          </p:cNvCxnSpPr>
          <p:nvPr/>
        </p:nvCxnSpPr>
        <p:spPr>
          <a:xfrm>
            <a:off x="2479675" y="4395788"/>
            <a:ext cx="536575" cy="481012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973" name="AutoShape 13"/>
          <p:cNvCxnSpPr>
            <a:stCxn id="40962" idx="5"/>
            <a:endCxn id="40970" idx="0"/>
          </p:cNvCxnSpPr>
          <p:nvPr/>
        </p:nvCxnSpPr>
        <p:spPr>
          <a:xfrm>
            <a:off x="4702175" y="2312988"/>
            <a:ext cx="1255713" cy="9588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0974" name="Line 14"/>
          <p:cNvSpPr/>
          <p:nvPr/>
        </p:nvSpPr>
        <p:spPr>
          <a:xfrm>
            <a:off x="7032625" y="4389438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5" name="Line 15"/>
          <p:cNvSpPr/>
          <p:nvPr/>
        </p:nvSpPr>
        <p:spPr>
          <a:xfrm>
            <a:off x="7032625" y="5176838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6" name="Line 16"/>
          <p:cNvSpPr/>
          <p:nvPr/>
        </p:nvSpPr>
        <p:spPr>
          <a:xfrm>
            <a:off x="7102475" y="6030913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0977" name="AutoShape 17"/>
          <p:cNvSpPr/>
          <p:nvPr/>
        </p:nvSpPr>
        <p:spPr>
          <a:xfrm>
            <a:off x="3810000" y="4038600"/>
            <a:ext cx="1316038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40978" name="Text Box 18"/>
          <p:cNvSpPr txBox="1"/>
          <p:nvPr/>
        </p:nvSpPr>
        <p:spPr>
          <a:xfrm>
            <a:off x="4052888" y="4386263"/>
            <a:ext cx="46355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W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40979" name="Oval 19"/>
          <p:cNvSpPr/>
          <p:nvPr/>
        </p:nvSpPr>
        <p:spPr>
          <a:xfrm>
            <a:off x="2514600" y="2895600"/>
            <a:ext cx="763588" cy="722313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i</a:t>
            </a:r>
          </a:p>
        </p:txBody>
      </p:sp>
      <p:cxnSp>
        <p:nvCxnSpPr>
          <p:cNvPr id="40980" name="AutoShape 20"/>
          <p:cNvCxnSpPr>
            <a:stCxn id="40979" idx="5"/>
            <a:endCxn id="40977" idx="0"/>
          </p:cNvCxnSpPr>
          <p:nvPr/>
        </p:nvCxnSpPr>
        <p:spPr>
          <a:xfrm>
            <a:off x="3167063" y="3511550"/>
            <a:ext cx="1301750" cy="527050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0981" name="Rectangle 21"/>
          <p:cNvSpPr/>
          <p:nvPr/>
        </p:nvSpPr>
        <p:spPr>
          <a:xfrm>
            <a:off x="152400" y="381000"/>
            <a:ext cx="8763000" cy="80168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4400" dirty="0"/>
              <a:t>Double rotation : second rotation</a:t>
            </a:r>
          </a:p>
        </p:txBody>
      </p:sp>
      <p:cxnSp>
        <p:nvCxnSpPr>
          <p:cNvPr id="40982" name="AutoShape 23"/>
          <p:cNvCxnSpPr>
            <a:stCxn id="40979" idx="3"/>
            <a:endCxn id="40964" idx="0"/>
          </p:cNvCxnSpPr>
          <p:nvPr/>
        </p:nvCxnSpPr>
        <p:spPr>
          <a:xfrm flipH="1">
            <a:off x="2209800" y="3511550"/>
            <a:ext cx="415925" cy="268288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0983" name="Oval 24"/>
          <p:cNvSpPr/>
          <p:nvPr/>
        </p:nvSpPr>
        <p:spPr>
          <a:xfrm rot="-2100000">
            <a:off x="1905000" y="1941513"/>
            <a:ext cx="3429000" cy="1487487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40984" name="Text Box 25"/>
          <p:cNvSpPr txBox="1"/>
          <p:nvPr/>
        </p:nvSpPr>
        <p:spPr>
          <a:xfrm>
            <a:off x="5318125" y="1954213"/>
            <a:ext cx="3519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Now do a right rotation</a:t>
            </a:r>
          </a:p>
        </p:txBody>
      </p:sp>
      <p:sp>
        <p:nvSpPr>
          <p:cNvPr id="40985" name="Text Box 34"/>
          <p:cNvSpPr txBox="1"/>
          <p:nvPr/>
        </p:nvSpPr>
        <p:spPr>
          <a:xfrm>
            <a:off x="2987675" y="4797425"/>
            <a:ext cx="10572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 or h-1</a:t>
            </a:r>
          </a:p>
        </p:txBody>
      </p:sp>
      <p:sp>
        <p:nvSpPr>
          <p:cNvPr id="40986" name="Text Box 34"/>
          <p:cNvSpPr txBox="1"/>
          <p:nvPr/>
        </p:nvSpPr>
        <p:spPr>
          <a:xfrm>
            <a:off x="4500563" y="3860800"/>
            <a:ext cx="10572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 or h-1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Oval 2"/>
          <p:cNvSpPr/>
          <p:nvPr/>
        </p:nvSpPr>
        <p:spPr>
          <a:xfrm>
            <a:off x="4810125" y="3773488"/>
            <a:ext cx="762000" cy="72231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j</a:t>
            </a:r>
          </a:p>
        </p:txBody>
      </p:sp>
      <p:sp>
        <p:nvSpPr>
          <p:cNvPr id="41987" name="Oval 4"/>
          <p:cNvSpPr/>
          <p:nvPr/>
        </p:nvSpPr>
        <p:spPr>
          <a:xfrm>
            <a:off x="1828800" y="3779838"/>
            <a:ext cx="762000" cy="722312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41988" name="AutoShape 6"/>
          <p:cNvSpPr/>
          <p:nvPr/>
        </p:nvSpPr>
        <p:spPr>
          <a:xfrm>
            <a:off x="609600" y="4953000"/>
            <a:ext cx="1455738" cy="111601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cxnSp>
        <p:nvCxnSpPr>
          <p:cNvPr id="41989" name="AutoShape 7"/>
          <p:cNvCxnSpPr>
            <a:stCxn id="41987" idx="3"/>
            <a:endCxn id="41988" idx="0"/>
          </p:cNvCxnSpPr>
          <p:nvPr/>
        </p:nvCxnSpPr>
        <p:spPr>
          <a:xfrm flipH="1">
            <a:off x="1338263" y="4395788"/>
            <a:ext cx="601662" cy="557212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1990" name="Text Box 8"/>
          <p:cNvSpPr txBox="1"/>
          <p:nvPr/>
        </p:nvSpPr>
        <p:spPr>
          <a:xfrm>
            <a:off x="1071563" y="5257800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Times New Roman" panose="02020603050405020304" pitchFamily="18" charset="0"/>
              </a:rPr>
              <a:t>X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41991" name="AutoShape 9"/>
          <p:cNvSpPr/>
          <p:nvPr/>
        </p:nvSpPr>
        <p:spPr>
          <a:xfrm>
            <a:off x="2357438" y="4876800"/>
            <a:ext cx="1317625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41992" name="AutoShape 10"/>
          <p:cNvSpPr/>
          <p:nvPr/>
        </p:nvSpPr>
        <p:spPr>
          <a:xfrm>
            <a:off x="5229225" y="4906963"/>
            <a:ext cx="1457325" cy="1117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41993" name="Text Box 11"/>
          <p:cNvSpPr txBox="1"/>
          <p:nvPr/>
        </p:nvSpPr>
        <p:spPr>
          <a:xfrm>
            <a:off x="5646738" y="5181600"/>
            <a:ext cx="465137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Z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41994" name="AutoShape 12"/>
          <p:cNvCxnSpPr>
            <a:stCxn id="41987" idx="5"/>
            <a:endCxn id="41991" idx="0"/>
          </p:cNvCxnSpPr>
          <p:nvPr/>
        </p:nvCxnSpPr>
        <p:spPr>
          <a:xfrm>
            <a:off x="2479675" y="4395788"/>
            <a:ext cx="536575" cy="481012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95" name="AutoShape 13"/>
          <p:cNvCxnSpPr>
            <a:stCxn id="41986" idx="5"/>
            <a:endCxn id="41992" idx="0"/>
          </p:cNvCxnSpPr>
          <p:nvPr/>
        </p:nvCxnSpPr>
        <p:spPr>
          <a:xfrm>
            <a:off x="5461000" y="4389438"/>
            <a:ext cx="496888" cy="517525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1996" name="Line 14"/>
          <p:cNvSpPr/>
          <p:nvPr/>
        </p:nvSpPr>
        <p:spPr>
          <a:xfrm>
            <a:off x="7032625" y="4389438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1997" name="Line 15"/>
          <p:cNvSpPr/>
          <p:nvPr/>
        </p:nvSpPr>
        <p:spPr>
          <a:xfrm>
            <a:off x="7032625" y="5176838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1998" name="Line 16"/>
          <p:cNvSpPr/>
          <p:nvPr/>
        </p:nvSpPr>
        <p:spPr>
          <a:xfrm>
            <a:off x="7102475" y="6030913"/>
            <a:ext cx="14557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</p:sp>
      <p:sp>
        <p:nvSpPr>
          <p:cNvPr id="41999" name="AutoShape 17"/>
          <p:cNvSpPr/>
          <p:nvPr/>
        </p:nvSpPr>
        <p:spPr>
          <a:xfrm>
            <a:off x="3810000" y="4876800"/>
            <a:ext cx="1316038" cy="1182688"/>
          </a:xfrm>
          <a:prstGeom prst="triangle">
            <a:avLst>
              <a:gd name="adj" fmla="val 50000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42000" name="Text Box 18"/>
          <p:cNvSpPr txBox="1"/>
          <p:nvPr/>
        </p:nvSpPr>
        <p:spPr>
          <a:xfrm>
            <a:off x="4052888" y="5224463"/>
            <a:ext cx="463550" cy="914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W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42001" name="Oval 19"/>
          <p:cNvSpPr/>
          <p:nvPr/>
        </p:nvSpPr>
        <p:spPr>
          <a:xfrm>
            <a:off x="3200400" y="2895600"/>
            <a:ext cx="763588" cy="722313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5400" i="1" dirty="0">
                <a:latin typeface="Arial" panose="020B0604020202020204" pitchFamily="34" charset="0"/>
              </a:rPr>
              <a:t>i</a:t>
            </a:r>
          </a:p>
        </p:txBody>
      </p:sp>
      <p:cxnSp>
        <p:nvCxnSpPr>
          <p:cNvPr id="42002" name="AutoShape 20"/>
          <p:cNvCxnSpPr>
            <a:stCxn id="41986" idx="3"/>
            <a:endCxn id="41999" idx="0"/>
          </p:cNvCxnSpPr>
          <p:nvPr/>
        </p:nvCxnSpPr>
        <p:spPr>
          <a:xfrm flipH="1">
            <a:off x="4468813" y="4389438"/>
            <a:ext cx="452437" cy="487362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2003" name="Rectangle 21"/>
          <p:cNvSpPr/>
          <p:nvPr/>
        </p:nvSpPr>
        <p:spPr>
          <a:xfrm>
            <a:off x="665163" y="381000"/>
            <a:ext cx="7813675" cy="80168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4400" dirty="0"/>
              <a:t>Double rotation : second rotation</a:t>
            </a:r>
          </a:p>
        </p:txBody>
      </p:sp>
      <p:cxnSp>
        <p:nvCxnSpPr>
          <p:cNvPr id="42004" name="AutoShape 22"/>
          <p:cNvCxnSpPr>
            <a:stCxn id="42001" idx="3"/>
            <a:endCxn id="41987" idx="0"/>
          </p:cNvCxnSpPr>
          <p:nvPr/>
        </p:nvCxnSpPr>
        <p:spPr>
          <a:xfrm flipH="1">
            <a:off x="2209800" y="3511550"/>
            <a:ext cx="1101725" cy="268288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005" name="AutoShape 26"/>
          <p:cNvCxnSpPr>
            <a:stCxn id="41986" idx="0"/>
            <a:endCxn id="42001" idx="5"/>
          </p:cNvCxnSpPr>
          <p:nvPr/>
        </p:nvCxnSpPr>
        <p:spPr>
          <a:xfrm flipH="1" flipV="1">
            <a:off x="3852863" y="3511550"/>
            <a:ext cx="1338262" cy="261938"/>
          </a:xfrm>
          <a:prstGeom prst="straightConnector1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2006" name="Oval 27"/>
          <p:cNvSpPr/>
          <p:nvPr/>
        </p:nvSpPr>
        <p:spPr>
          <a:xfrm rot="1680000">
            <a:off x="2743200" y="3008313"/>
            <a:ext cx="3429000" cy="1487487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42007" name="Text Box 28"/>
          <p:cNvSpPr txBox="1"/>
          <p:nvPr/>
        </p:nvSpPr>
        <p:spPr>
          <a:xfrm>
            <a:off x="5181600" y="1954213"/>
            <a:ext cx="35099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>
                <a:solidFill>
                  <a:schemeClr val="accent2"/>
                </a:solidFill>
              </a:rPr>
              <a:t>right rotation complete</a:t>
            </a:r>
          </a:p>
        </p:txBody>
      </p:sp>
      <p:sp>
        <p:nvSpPr>
          <p:cNvPr id="33816" name="Text Box 29"/>
          <p:cNvSpPr txBox="1"/>
          <p:nvPr/>
        </p:nvSpPr>
        <p:spPr>
          <a:xfrm>
            <a:off x="5410200" y="2667000"/>
            <a:ext cx="3429000" cy="822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Balance has been </a:t>
            </a:r>
          </a:p>
          <a:p>
            <a:pPr marL="0" lvl="0" indent="0">
              <a:spcBef>
                <a:spcPct val="0"/>
              </a:spcBef>
              <a:buNone/>
            </a:pPr>
            <a:r>
              <a:rPr lang="en-US" altLang="zh-CN" sz="2400" dirty="0"/>
              <a:t>restored</a:t>
            </a:r>
          </a:p>
        </p:txBody>
      </p:sp>
      <p:sp>
        <p:nvSpPr>
          <p:cNvPr id="42009" name="Text Box 30"/>
          <p:cNvSpPr txBox="1"/>
          <p:nvPr/>
        </p:nvSpPr>
        <p:spPr>
          <a:xfrm>
            <a:off x="6172200" y="4572000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2010" name="Text Box 33"/>
          <p:cNvSpPr txBox="1"/>
          <p:nvPr/>
        </p:nvSpPr>
        <p:spPr>
          <a:xfrm>
            <a:off x="914400" y="4648200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2011" name="Text Box 34"/>
          <p:cNvSpPr txBox="1"/>
          <p:nvPr/>
        </p:nvSpPr>
        <p:spPr>
          <a:xfrm>
            <a:off x="3276600" y="4724400"/>
            <a:ext cx="10572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h or h-1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Examples of Inside Cases</a:t>
            </a:r>
          </a:p>
        </p:txBody>
      </p:sp>
      <p:grpSp>
        <p:nvGrpSpPr>
          <p:cNvPr id="43011" name="Group 4"/>
          <p:cNvGrpSpPr/>
          <p:nvPr/>
        </p:nvGrpSpPr>
        <p:grpSpPr>
          <a:xfrm>
            <a:off x="685800" y="2743200"/>
            <a:ext cx="3733800" cy="1600200"/>
            <a:chOff x="960" y="2352"/>
            <a:chExt cx="2352" cy="1008"/>
          </a:xfrm>
        </p:grpSpPr>
        <p:grpSp>
          <p:nvGrpSpPr>
            <p:cNvPr id="43068" name="Group 5"/>
            <p:cNvGrpSpPr/>
            <p:nvPr/>
          </p:nvGrpSpPr>
          <p:grpSpPr>
            <a:xfrm>
              <a:off x="1536" y="2352"/>
              <a:ext cx="1776" cy="672"/>
              <a:chOff x="3600" y="768"/>
              <a:chExt cx="1776" cy="672"/>
            </a:xfrm>
          </p:grpSpPr>
          <p:grpSp>
            <p:nvGrpSpPr>
              <p:cNvPr id="43081" name="Group 6"/>
              <p:cNvGrpSpPr/>
              <p:nvPr/>
            </p:nvGrpSpPr>
            <p:grpSpPr>
              <a:xfrm>
                <a:off x="4176" y="768"/>
                <a:ext cx="1200" cy="672"/>
                <a:chOff x="4176" y="768"/>
                <a:chExt cx="1200" cy="672"/>
              </a:xfrm>
            </p:grpSpPr>
            <p:grpSp>
              <p:nvGrpSpPr>
                <p:cNvPr id="43090" name="Group 7"/>
                <p:cNvGrpSpPr/>
                <p:nvPr/>
              </p:nvGrpSpPr>
              <p:grpSpPr>
                <a:xfrm>
                  <a:off x="4176" y="768"/>
                  <a:ext cx="624" cy="336"/>
                  <a:chOff x="912" y="624"/>
                  <a:chExt cx="624" cy="336"/>
                </a:xfrm>
              </p:grpSpPr>
              <p:sp>
                <p:nvSpPr>
                  <p:cNvPr id="43099" name="Oval 8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May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100" name="Rectangle 9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3091" name="Rectangle 10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3092" name="Group 11"/>
                <p:cNvGrpSpPr/>
                <p:nvPr/>
              </p:nvGrpSpPr>
              <p:grpSpPr>
                <a:xfrm>
                  <a:off x="4704" y="1056"/>
                  <a:ext cx="672" cy="384"/>
                  <a:chOff x="1440" y="912"/>
                  <a:chExt cx="672" cy="384"/>
                </a:xfrm>
              </p:grpSpPr>
              <p:grpSp>
                <p:nvGrpSpPr>
                  <p:cNvPr id="43095" name="Group 12"/>
                  <p:cNvGrpSpPr/>
                  <p:nvPr/>
                </p:nvGrpSpPr>
                <p:grpSpPr>
                  <a:xfrm>
                    <a:off x="1488" y="960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43097" name="Oval 13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Nov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3098" name="Rectangle 14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3096" name="Line 15"/>
                  <p:cNvSpPr/>
                  <p:nvPr/>
                </p:nvSpPr>
                <p:spPr>
                  <a:xfrm>
                    <a:off x="1440" y="912"/>
                    <a:ext cx="240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43093" name="Rectangle 16"/>
                <p:cNvSpPr/>
                <p:nvPr/>
              </p:nvSpPr>
              <p:spPr>
                <a:xfrm>
                  <a:off x="4944" y="1104"/>
                  <a:ext cx="240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0</a:t>
                  </a:r>
                  <a:endPara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94" name="Rectangle 17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082" name="Rectangle 18"/>
              <p:cNvSpPr/>
              <p:nvPr/>
            </p:nvSpPr>
            <p:spPr>
              <a:xfrm flipH="1">
                <a:off x="4368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3083" name="Group 19"/>
              <p:cNvGrpSpPr/>
              <p:nvPr/>
            </p:nvGrpSpPr>
            <p:grpSpPr>
              <a:xfrm flipH="1">
                <a:off x="3600" y="1056"/>
                <a:ext cx="672" cy="384"/>
                <a:chOff x="1440" y="912"/>
                <a:chExt cx="672" cy="384"/>
              </a:xfrm>
            </p:grpSpPr>
            <p:grpSp>
              <p:nvGrpSpPr>
                <p:cNvPr id="43086" name="Group 20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3088" name="Oval 21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Aug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089" name="Rectangle 22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3087" name="Line 23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084" name="Rectangle 24"/>
              <p:cNvSpPr/>
              <p:nvPr/>
            </p:nvSpPr>
            <p:spPr>
              <a:xfrm flipH="1">
                <a:off x="3792" y="1104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85" name="Rectangle 25"/>
              <p:cNvSpPr/>
              <p:nvPr/>
            </p:nvSpPr>
            <p:spPr>
              <a:xfrm flipH="1">
                <a:off x="4368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3069" name="Rectangle 26"/>
            <p:cNvSpPr/>
            <p:nvPr/>
          </p:nvSpPr>
          <p:spPr>
            <a:xfrm>
              <a:off x="1680" y="268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3070" name="Group 27"/>
            <p:cNvGrpSpPr/>
            <p:nvPr/>
          </p:nvGrpSpPr>
          <p:grpSpPr>
            <a:xfrm>
              <a:off x="2064" y="2976"/>
              <a:ext cx="672" cy="384"/>
              <a:chOff x="1440" y="912"/>
              <a:chExt cx="672" cy="384"/>
            </a:xfrm>
          </p:grpSpPr>
          <p:grpSp>
            <p:nvGrpSpPr>
              <p:cNvPr id="43077" name="Group 28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3079" name="Oval 29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Mar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0" name="Rectangle 30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078" name="Line 31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3071" name="Rectangle 32"/>
            <p:cNvSpPr/>
            <p:nvPr/>
          </p:nvSpPr>
          <p:spPr>
            <a:xfrm>
              <a:off x="1680" y="268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3072" name="Group 33"/>
            <p:cNvGrpSpPr/>
            <p:nvPr/>
          </p:nvGrpSpPr>
          <p:grpSpPr>
            <a:xfrm flipH="1">
              <a:off x="960" y="2976"/>
              <a:ext cx="672" cy="384"/>
              <a:chOff x="1440" y="912"/>
              <a:chExt cx="672" cy="384"/>
            </a:xfrm>
          </p:grpSpPr>
          <p:grpSp>
            <p:nvGrpSpPr>
              <p:cNvPr id="43073" name="Group 34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3075" name="Oval 35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Apr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76" name="Rectangle 36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3074" name="Line 37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8950" name="Oval 38"/>
          <p:cNvSpPr/>
          <p:nvPr/>
        </p:nvSpPr>
        <p:spPr>
          <a:xfrm>
            <a:off x="762000" y="25908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Jan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4" name="Group 39"/>
          <p:cNvGrpSpPr/>
          <p:nvPr/>
        </p:nvGrpSpPr>
        <p:grpSpPr>
          <a:xfrm flipH="1">
            <a:off x="1752600" y="4343400"/>
            <a:ext cx="1066800" cy="609600"/>
            <a:chOff x="1440" y="912"/>
            <a:chExt cx="672" cy="384"/>
          </a:xfrm>
        </p:grpSpPr>
        <p:grpSp>
          <p:nvGrpSpPr>
            <p:cNvPr id="43064" name="Group 40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43066" name="Oval 41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Jan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7" name="Rectangle 42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43065" name="Line 43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8956" name="Rectangle 44"/>
          <p:cNvSpPr/>
          <p:nvPr/>
        </p:nvSpPr>
        <p:spPr>
          <a:xfrm>
            <a:off x="2819400" y="3733800"/>
            <a:ext cx="304800" cy="304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8957" name="Rectangle 45"/>
          <p:cNvSpPr/>
          <p:nvPr/>
        </p:nvSpPr>
        <p:spPr>
          <a:xfrm>
            <a:off x="1905000" y="3200400"/>
            <a:ext cx="304800" cy="304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8958" name="Rectangle 46"/>
          <p:cNvSpPr/>
          <p:nvPr/>
        </p:nvSpPr>
        <p:spPr>
          <a:xfrm>
            <a:off x="2895600" y="2667000"/>
            <a:ext cx="304800" cy="304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grpSp>
        <p:nvGrpSpPr>
          <p:cNvPr id="16" name="Group 49"/>
          <p:cNvGrpSpPr/>
          <p:nvPr/>
        </p:nvGrpSpPr>
        <p:grpSpPr>
          <a:xfrm>
            <a:off x="3505200" y="4343400"/>
            <a:ext cx="1371600" cy="762000"/>
            <a:chOff x="1872" y="2976"/>
            <a:chExt cx="864" cy="480"/>
          </a:xfrm>
        </p:grpSpPr>
        <p:sp>
          <p:nvSpPr>
            <p:cNvPr id="43061" name="AutoShape 50"/>
            <p:cNvSpPr/>
            <p:nvPr/>
          </p:nvSpPr>
          <p:spPr>
            <a:xfrm>
              <a:off x="1872" y="3168"/>
              <a:ext cx="864" cy="96"/>
            </a:xfrm>
            <a:prstGeom prst="rightArrow">
              <a:avLst>
                <a:gd name="adj1" fmla="val 50000"/>
                <a:gd name="adj2" fmla="val 225000"/>
              </a:avLst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3062" name="Rectangle 51"/>
            <p:cNvSpPr/>
            <p:nvPr/>
          </p:nvSpPr>
          <p:spPr>
            <a:xfrm>
              <a:off x="1968" y="2976"/>
              <a:ext cx="480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</a:rPr>
                <a:t>LR</a:t>
              </a:r>
              <a:endParaRPr lang="en-US" altLang="zh-CN" sz="2000" b="1" dirty="0"/>
            </a:p>
          </p:txBody>
        </p:sp>
        <p:sp>
          <p:nvSpPr>
            <p:cNvPr id="43063" name="Rectangle 52"/>
            <p:cNvSpPr/>
            <p:nvPr/>
          </p:nvSpPr>
          <p:spPr>
            <a:xfrm>
              <a:off x="1968" y="3264"/>
              <a:ext cx="576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</a:rPr>
                <a:t>Rotation</a:t>
              </a:r>
            </a:p>
          </p:txBody>
        </p:sp>
      </p:grpSp>
      <p:grpSp>
        <p:nvGrpSpPr>
          <p:cNvPr id="17" name="Group 53"/>
          <p:cNvGrpSpPr/>
          <p:nvPr/>
        </p:nvGrpSpPr>
        <p:grpSpPr>
          <a:xfrm>
            <a:off x="4648200" y="2895600"/>
            <a:ext cx="4419600" cy="1676400"/>
            <a:chOff x="2832" y="528"/>
            <a:chExt cx="2784" cy="1056"/>
          </a:xfrm>
        </p:grpSpPr>
        <p:grpSp>
          <p:nvGrpSpPr>
            <p:cNvPr id="43022" name="Group 54"/>
            <p:cNvGrpSpPr/>
            <p:nvPr/>
          </p:nvGrpSpPr>
          <p:grpSpPr>
            <a:xfrm>
              <a:off x="2832" y="528"/>
              <a:ext cx="2352" cy="1008"/>
              <a:chOff x="960" y="2352"/>
              <a:chExt cx="2352" cy="1008"/>
            </a:xfrm>
          </p:grpSpPr>
          <p:grpSp>
            <p:nvGrpSpPr>
              <p:cNvPr id="43028" name="Group 55"/>
              <p:cNvGrpSpPr/>
              <p:nvPr/>
            </p:nvGrpSpPr>
            <p:grpSpPr>
              <a:xfrm>
                <a:off x="1536" y="2352"/>
                <a:ext cx="1776" cy="672"/>
                <a:chOff x="3600" y="768"/>
                <a:chExt cx="1776" cy="672"/>
              </a:xfrm>
            </p:grpSpPr>
            <p:grpSp>
              <p:nvGrpSpPr>
                <p:cNvPr id="43041" name="Group 56"/>
                <p:cNvGrpSpPr/>
                <p:nvPr/>
              </p:nvGrpSpPr>
              <p:grpSpPr>
                <a:xfrm>
                  <a:off x="4176" y="768"/>
                  <a:ext cx="1200" cy="672"/>
                  <a:chOff x="4176" y="768"/>
                  <a:chExt cx="1200" cy="672"/>
                </a:xfrm>
              </p:grpSpPr>
              <p:grpSp>
                <p:nvGrpSpPr>
                  <p:cNvPr id="43050" name="Group 57"/>
                  <p:cNvGrpSpPr/>
                  <p:nvPr/>
                </p:nvGrpSpPr>
                <p:grpSpPr>
                  <a:xfrm>
                    <a:off x="4176" y="768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43059" name="Oval 58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Mar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3060" name="Rectangle 59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3051" name="Rectangle 60"/>
                  <p:cNvSpPr/>
                  <p:nvPr/>
                </p:nvSpPr>
                <p:spPr>
                  <a:xfrm>
                    <a:off x="4320" y="768"/>
                    <a:ext cx="288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1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3052" name="Group 61"/>
                  <p:cNvGrpSpPr/>
                  <p:nvPr/>
                </p:nvGrpSpPr>
                <p:grpSpPr>
                  <a:xfrm>
                    <a:off x="4704" y="1056"/>
                    <a:ext cx="672" cy="384"/>
                    <a:chOff x="1440" y="912"/>
                    <a:chExt cx="672" cy="384"/>
                  </a:xfrm>
                </p:grpSpPr>
                <p:grpSp>
                  <p:nvGrpSpPr>
                    <p:cNvPr id="43055" name="Group 62"/>
                    <p:cNvGrpSpPr/>
                    <p:nvPr/>
                  </p:nvGrpSpPr>
                  <p:grpSpPr>
                    <a:xfrm>
                      <a:off x="1488" y="960"/>
                      <a:ext cx="624" cy="336"/>
                      <a:chOff x="912" y="624"/>
                      <a:chExt cx="624" cy="336"/>
                    </a:xfrm>
                  </p:grpSpPr>
                  <p:sp>
                    <p:nvSpPr>
                      <p:cNvPr id="43057" name="Oval 63"/>
                      <p:cNvSpPr/>
                      <p:nvPr/>
                    </p:nvSpPr>
                    <p:spPr>
                      <a:xfrm>
                        <a:off x="912" y="768"/>
                        <a:ext cx="624" cy="192"/>
                      </a:xfrm>
                      <a:prstGeom prst="ellipse">
                        <a:avLst/>
                      </a:prstGeom>
                      <a:noFill/>
                      <a:ln w="254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lIns="0" tIns="46800" rIns="0" bIns="46800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algn="ctr" eaLnBrk="1" hangingPunct="1">
                          <a:spcBef>
                            <a:spcPct val="0"/>
                          </a:spcBef>
                          <a:buNone/>
                        </a:pPr>
                        <a:r>
                          <a:rPr lang="en-US" altLang="zh-CN" sz="2000" b="1" dirty="0">
                            <a:latin typeface="Times New Roman" panose="02020603050405020304" pitchFamily="18" charset="0"/>
                          </a:rPr>
                          <a:t>May</a:t>
                        </a:r>
                        <a:endParaRPr lang="en-US" altLang="zh-CN" sz="2400" b="1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3058" name="Rectangle 64"/>
                      <p:cNvSpPr/>
                      <p:nvPr/>
                    </p:nvSpPr>
                    <p:spPr>
                      <a:xfrm>
                        <a:off x="1056" y="624"/>
                        <a:ext cx="288" cy="144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</a:ln>
                    </p:spPr>
                    <p:txBody>
                      <a:bodyPr wrap="none" lIns="0" tIns="46800" rIns="0" bIns="46800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algn="ctr" eaLnBrk="1" hangingPunct="1">
                          <a:spcBef>
                            <a:spcPct val="0"/>
                          </a:spcBef>
                          <a:buNone/>
                        </a:pPr>
                        <a:r>
                          <a:rPr lang="en-US" altLang="zh-CN" sz="1800" b="1" dirty="0">
                            <a:solidFill>
                              <a:schemeClr val="accent1"/>
                            </a:solidFill>
                            <a:latin typeface="Times New Roman" panose="02020603050405020304" pitchFamily="18" charset="0"/>
                          </a:rPr>
                          <a:t>0</a:t>
                        </a:r>
                        <a:endParaRPr lang="en-US" altLang="zh-CN" sz="1800" b="1" dirty="0">
                          <a:latin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43056" name="Line 65"/>
                    <p:cNvSpPr/>
                    <p:nvPr/>
                  </p:nvSpPr>
                  <p:spPr>
                    <a:xfrm>
                      <a:off x="1440" y="912"/>
                      <a:ext cx="240" cy="192"/>
                    </a:xfrm>
                    <a:prstGeom prst="line">
                      <a:avLst/>
                    </a:prstGeom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43053" name="Rectangle 66"/>
                  <p:cNvSpPr/>
                  <p:nvPr/>
                </p:nvSpPr>
                <p:spPr>
                  <a:xfrm>
                    <a:off x="4944" y="1104"/>
                    <a:ext cx="240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43054" name="Rectangle 67"/>
                  <p:cNvSpPr/>
                  <p:nvPr/>
                </p:nvSpPr>
                <p:spPr>
                  <a:xfrm>
                    <a:off x="4320" y="768"/>
                    <a:ext cx="288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2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3042" name="Rectangle 68"/>
                <p:cNvSpPr/>
                <p:nvPr/>
              </p:nvSpPr>
              <p:spPr>
                <a:xfrm flipH="1">
                  <a:off x="4368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3043" name="Group 69"/>
                <p:cNvGrpSpPr/>
                <p:nvPr/>
              </p:nvGrpSpPr>
              <p:grpSpPr>
                <a:xfrm flipH="1">
                  <a:off x="3600" y="1056"/>
                  <a:ext cx="672" cy="384"/>
                  <a:chOff x="1440" y="912"/>
                  <a:chExt cx="672" cy="384"/>
                </a:xfrm>
              </p:grpSpPr>
              <p:grpSp>
                <p:nvGrpSpPr>
                  <p:cNvPr id="43046" name="Group 70"/>
                  <p:cNvGrpSpPr/>
                  <p:nvPr/>
                </p:nvGrpSpPr>
                <p:grpSpPr>
                  <a:xfrm>
                    <a:off x="1488" y="960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43048" name="Oval 71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Aug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3049" name="Rectangle 72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3047" name="Line 73"/>
                  <p:cNvSpPr/>
                  <p:nvPr/>
                </p:nvSpPr>
                <p:spPr>
                  <a:xfrm>
                    <a:off x="1440" y="912"/>
                    <a:ext cx="240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43044" name="Rectangle 74"/>
                <p:cNvSpPr/>
                <p:nvPr/>
              </p:nvSpPr>
              <p:spPr>
                <a:xfrm flipH="1">
                  <a:off x="3792" y="1104"/>
                  <a:ext cx="240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1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45" name="Rectangle 75"/>
                <p:cNvSpPr/>
                <p:nvPr/>
              </p:nvSpPr>
              <p:spPr>
                <a:xfrm flipH="1">
                  <a:off x="4368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0</a:t>
                  </a:r>
                  <a:endPara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029" name="Rectangle 76"/>
              <p:cNvSpPr/>
              <p:nvPr/>
            </p:nvSpPr>
            <p:spPr>
              <a:xfrm>
                <a:off x="1680" y="268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3030" name="Group 77"/>
              <p:cNvGrpSpPr/>
              <p:nvPr/>
            </p:nvGrpSpPr>
            <p:grpSpPr>
              <a:xfrm>
                <a:off x="2064" y="2976"/>
                <a:ext cx="672" cy="384"/>
                <a:chOff x="1440" y="912"/>
                <a:chExt cx="672" cy="384"/>
              </a:xfrm>
            </p:grpSpPr>
            <p:grpSp>
              <p:nvGrpSpPr>
                <p:cNvPr id="43037" name="Group 78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3039" name="Oval 79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Jan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040" name="Rectangle 80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43038" name="Line 81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031" name="Rectangle 82"/>
              <p:cNvSpPr/>
              <p:nvPr/>
            </p:nvSpPr>
            <p:spPr>
              <a:xfrm>
                <a:off x="1680" y="268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b="1" dirty="0">
                  <a:solidFill>
                    <a:srgbClr val="0099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3032" name="Group 83"/>
              <p:cNvGrpSpPr/>
              <p:nvPr/>
            </p:nvGrpSpPr>
            <p:grpSpPr>
              <a:xfrm flipH="1">
                <a:off x="960" y="2976"/>
                <a:ext cx="672" cy="384"/>
                <a:chOff x="1440" y="912"/>
                <a:chExt cx="672" cy="384"/>
              </a:xfrm>
            </p:grpSpPr>
            <p:grpSp>
              <p:nvGrpSpPr>
                <p:cNvPr id="43033" name="Group 84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3035" name="Oval 85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Apr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036" name="Rectangle 86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43034" name="Line 87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43023" name="Group 88"/>
            <p:cNvGrpSpPr/>
            <p:nvPr/>
          </p:nvGrpSpPr>
          <p:grpSpPr>
            <a:xfrm>
              <a:off x="4944" y="1200"/>
              <a:ext cx="672" cy="384"/>
              <a:chOff x="1440" y="912"/>
              <a:chExt cx="672" cy="384"/>
            </a:xfrm>
          </p:grpSpPr>
          <p:grpSp>
            <p:nvGrpSpPr>
              <p:cNvPr id="43024" name="Group 89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3026" name="Oval 90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Nov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27" name="Rectangle 91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3025" name="Line 92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9005" name="Rectangle 93"/>
          <p:cNvSpPr/>
          <p:nvPr/>
        </p:nvSpPr>
        <p:spPr>
          <a:xfrm>
            <a:off x="4191000" y="2667000"/>
            <a:ext cx="2209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</a:rPr>
              <a:t>Double Rotation</a:t>
            </a:r>
          </a:p>
        </p:txBody>
      </p:sp>
      <p:sp>
        <p:nvSpPr>
          <p:cNvPr id="39097" name="Oval 23"/>
          <p:cNvSpPr/>
          <p:nvPr/>
        </p:nvSpPr>
        <p:spPr>
          <a:xfrm rot="1680000">
            <a:off x="1295400" y="3389313"/>
            <a:ext cx="2438400" cy="954087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  <p:sp>
        <p:nvSpPr>
          <p:cNvPr id="39098" name="Oval 24"/>
          <p:cNvSpPr/>
          <p:nvPr/>
        </p:nvSpPr>
        <p:spPr>
          <a:xfrm rot="-1084350">
            <a:off x="1600200" y="2895600"/>
            <a:ext cx="1981200" cy="914400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zh-CN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89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89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89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389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50" grpId="0" animBg="1"/>
      <p:bldP spid="38956" grpId="0" animBg="1"/>
      <p:bldP spid="38957" grpId="0" animBg="1"/>
      <p:bldP spid="38958" grpId="0" animBg="1"/>
      <p:bldP spid="39005" grpId="0"/>
      <p:bldP spid="39097" grpId="0" animBg="1"/>
      <p:bldP spid="3909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0"/>
          <p:cNvGrpSpPr/>
          <p:nvPr/>
        </p:nvGrpSpPr>
        <p:grpSpPr>
          <a:xfrm>
            <a:off x="76200" y="900113"/>
            <a:ext cx="4419600" cy="1676400"/>
            <a:chOff x="2832" y="528"/>
            <a:chExt cx="2784" cy="1056"/>
          </a:xfrm>
        </p:grpSpPr>
        <p:grpSp>
          <p:nvGrpSpPr>
            <p:cNvPr id="44158" name="Group 131"/>
            <p:cNvGrpSpPr/>
            <p:nvPr/>
          </p:nvGrpSpPr>
          <p:grpSpPr>
            <a:xfrm>
              <a:off x="2832" y="528"/>
              <a:ext cx="2352" cy="1008"/>
              <a:chOff x="960" y="2352"/>
              <a:chExt cx="2352" cy="1008"/>
            </a:xfrm>
          </p:grpSpPr>
          <p:grpSp>
            <p:nvGrpSpPr>
              <p:cNvPr id="44164" name="Group 132"/>
              <p:cNvGrpSpPr/>
              <p:nvPr/>
            </p:nvGrpSpPr>
            <p:grpSpPr>
              <a:xfrm>
                <a:off x="1536" y="2352"/>
                <a:ext cx="1776" cy="672"/>
                <a:chOff x="3600" y="768"/>
                <a:chExt cx="1776" cy="672"/>
              </a:xfrm>
            </p:grpSpPr>
            <p:grpSp>
              <p:nvGrpSpPr>
                <p:cNvPr id="44177" name="Group 133"/>
                <p:cNvGrpSpPr/>
                <p:nvPr/>
              </p:nvGrpSpPr>
              <p:grpSpPr>
                <a:xfrm>
                  <a:off x="4176" y="768"/>
                  <a:ext cx="1200" cy="672"/>
                  <a:chOff x="4176" y="768"/>
                  <a:chExt cx="1200" cy="672"/>
                </a:xfrm>
              </p:grpSpPr>
              <p:grpSp>
                <p:nvGrpSpPr>
                  <p:cNvPr id="44186" name="Group 134"/>
                  <p:cNvGrpSpPr/>
                  <p:nvPr/>
                </p:nvGrpSpPr>
                <p:grpSpPr>
                  <a:xfrm>
                    <a:off x="4176" y="768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44195" name="Oval 135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Mar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4196" name="Rectangle 136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4187" name="Rectangle 137"/>
                  <p:cNvSpPr/>
                  <p:nvPr/>
                </p:nvSpPr>
                <p:spPr>
                  <a:xfrm>
                    <a:off x="4320" y="768"/>
                    <a:ext cx="288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1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4188" name="Group 138"/>
                  <p:cNvGrpSpPr/>
                  <p:nvPr/>
                </p:nvGrpSpPr>
                <p:grpSpPr>
                  <a:xfrm>
                    <a:off x="4704" y="1056"/>
                    <a:ext cx="672" cy="384"/>
                    <a:chOff x="1440" y="912"/>
                    <a:chExt cx="672" cy="384"/>
                  </a:xfrm>
                </p:grpSpPr>
                <p:grpSp>
                  <p:nvGrpSpPr>
                    <p:cNvPr id="44191" name="Group 139"/>
                    <p:cNvGrpSpPr/>
                    <p:nvPr/>
                  </p:nvGrpSpPr>
                  <p:grpSpPr>
                    <a:xfrm>
                      <a:off x="1488" y="960"/>
                      <a:ext cx="624" cy="336"/>
                      <a:chOff x="912" y="624"/>
                      <a:chExt cx="624" cy="336"/>
                    </a:xfrm>
                  </p:grpSpPr>
                  <p:sp>
                    <p:nvSpPr>
                      <p:cNvPr id="44193" name="Oval 140"/>
                      <p:cNvSpPr/>
                      <p:nvPr/>
                    </p:nvSpPr>
                    <p:spPr>
                      <a:xfrm>
                        <a:off x="912" y="768"/>
                        <a:ext cx="624" cy="192"/>
                      </a:xfrm>
                      <a:prstGeom prst="ellipse">
                        <a:avLst/>
                      </a:prstGeom>
                      <a:noFill/>
                      <a:ln w="254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lIns="0" tIns="46800" rIns="0" bIns="46800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algn="ctr" eaLnBrk="1" hangingPunct="1">
                          <a:spcBef>
                            <a:spcPct val="0"/>
                          </a:spcBef>
                          <a:buNone/>
                        </a:pPr>
                        <a:r>
                          <a:rPr lang="en-US" altLang="zh-CN" sz="2000" b="1" dirty="0">
                            <a:latin typeface="Times New Roman" panose="02020603050405020304" pitchFamily="18" charset="0"/>
                          </a:rPr>
                          <a:t>May</a:t>
                        </a:r>
                        <a:endParaRPr lang="en-US" altLang="zh-CN" sz="2400" b="1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4194" name="Rectangle 141"/>
                      <p:cNvSpPr/>
                      <p:nvPr/>
                    </p:nvSpPr>
                    <p:spPr>
                      <a:xfrm>
                        <a:off x="1056" y="624"/>
                        <a:ext cx="288" cy="144"/>
                      </a:xfrm>
                      <a:prstGeom prst="rect">
                        <a:avLst/>
                      </a:prstGeom>
                      <a:noFill/>
                      <a:ln w="25400">
                        <a:noFill/>
                      </a:ln>
                    </p:spPr>
                    <p:txBody>
                      <a:bodyPr wrap="none" lIns="0" tIns="46800" rIns="0" bIns="46800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</a:lstStyle>
                      <a:p>
                        <a:pPr marL="0" lvl="0" indent="0" algn="ctr" eaLnBrk="1" hangingPunct="1">
                          <a:spcBef>
                            <a:spcPct val="0"/>
                          </a:spcBef>
                          <a:buNone/>
                        </a:pPr>
                        <a:r>
                          <a:rPr lang="en-US" altLang="zh-CN" sz="1800" b="1" dirty="0">
                            <a:solidFill>
                              <a:schemeClr val="accent1"/>
                            </a:solidFill>
                            <a:latin typeface="Times New Roman" panose="02020603050405020304" pitchFamily="18" charset="0"/>
                          </a:rPr>
                          <a:t>0</a:t>
                        </a:r>
                        <a:endParaRPr lang="en-US" altLang="zh-CN" sz="1800" b="1" dirty="0">
                          <a:latin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44192" name="Line 142"/>
                    <p:cNvSpPr/>
                    <p:nvPr/>
                  </p:nvSpPr>
                  <p:spPr>
                    <a:xfrm>
                      <a:off x="1440" y="912"/>
                      <a:ext cx="240" cy="192"/>
                    </a:xfrm>
                    <a:prstGeom prst="line">
                      <a:avLst/>
                    </a:prstGeom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44189" name="Rectangle 143"/>
                  <p:cNvSpPr/>
                  <p:nvPr/>
                </p:nvSpPr>
                <p:spPr>
                  <a:xfrm>
                    <a:off x="4944" y="1104"/>
                    <a:ext cx="240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44190" name="Rectangle 144"/>
                  <p:cNvSpPr/>
                  <p:nvPr/>
                </p:nvSpPr>
                <p:spPr>
                  <a:xfrm>
                    <a:off x="4320" y="768"/>
                    <a:ext cx="288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</a:t>
                    </a:r>
                    <a:r>
                      <a:rPr lang="en-US" altLang="zh-CN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</a:rPr>
                      <a:t>2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4178" name="Rectangle 145"/>
                <p:cNvSpPr/>
                <p:nvPr/>
              </p:nvSpPr>
              <p:spPr>
                <a:xfrm flipH="1">
                  <a:off x="4368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4179" name="Group 146"/>
                <p:cNvGrpSpPr/>
                <p:nvPr/>
              </p:nvGrpSpPr>
              <p:grpSpPr>
                <a:xfrm flipH="1">
                  <a:off x="3600" y="1056"/>
                  <a:ext cx="672" cy="384"/>
                  <a:chOff x="1440" y="912"/>
                  <a:chExt cx="672" cy="384"/>
                </a:xfrm>
              </p:grpSpPr>
              <p:grpSp>
                <p:nvGrpSpPr>
                  <p:cNvPr id="44182" name="Group 147"/>
                  <p:cNvGrpSpPr/>
                  <p:nvPr/>
                </p:nvGrpSpPr>
                <p:grpSpPr>
                  <a:xfrm>
                    <a:off x="1488" y="960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44184" name="Oval 148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Aug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4185" name="Rectangle 149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4183" name="Line 150"/>
                  <p:cNvSpPr/>
                  <p:nvPr/>
                </p:nvSpPr>
                <p:spPr>
                  <a:xfrm>
                    <a:off x="1440" y="912"/>
                    <a:ext cx="240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44180" name="Rectangle 151"/>
                <p:cNvSpPr/>
                <p:nvPr/>
              </p:nvSpPr>
              <p:spPr>
                <a:xfrm flipH="1">
                  <a:off x="3792" y="1104"/>
                  <a:ext cx="240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1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181" name="Rectangle 152"/>
                <p:cNvSpPr/>
                <p:nvPr/>
              </p:nvSpPr>
              <p:spPr>
                <a:xfrm flipH="1">
                  <a:off x="4368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0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4165" name="Rectangle 153"/>
              <p:cNvSpPr/>
              <p:nvPr/>
            </p:nvSpPr>
            <p:spPr>
              <a:xfrm>
                <a:off x="1680" y="268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4166" name="Group 154"/>
              <p:cNvGrpSpPr/>
              <p:nvPr/>
            </p:nvGrpSpPr>
            <p:grpSpPr>
              <a:xfrm>
                <a:off x="2064" y="2976"/>
                <a:ext cx="672" cy="384"/>
                <a:chOff x="1440" y="912"/>
                <a:chExt cx="672" cy="384"/>
              </a:xfrm>
            </p:grpSpPr>
            <p:grpSp>
              <p:nvGrpSpPr>
                <p:cNvPr id="44173" name="Group 155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4175" name="Oval 156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Jan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176" name="Rectangle 157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4174" name="Line 158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4167" name="Rectangle 159"/>
              <p:cNvSpPr/>
              <p:nvPr/>
            </p:nvSpPr>
            <p:spPr>
              <a:xfrm>
                <a:off x="1680" y="268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4168" name="Group 160"/>
              <p:cNvGrpSpPr/>
              <p:nvPr/>
            </p:nvGrpSpPr>
            <p:grpSpPr>
              <a:xfrm flipH="1">
                <a:off x="960" y="2976"/>
                <a:ext cx="672" cy="384"/>
                <a:chOff x="1440" y="912"/>
                <a:chExt cx="672" cy="384"/>
              </a:xfrm>
            </p:grpSpPr>
            <p:grpSp>
              <p:nvGrpSpPr>
                <p:cNvPr id="44169" name="Group 161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4171" name="Oval 162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Apr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172" name="Rectangle 163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4170" name="Line 164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44159" name="Group 165"/>
            <p:cNvGrpSpPr/>
            <p:nvPr/>
          </p:nvGrpSpPr>
          <p:grpSpPr>
            <a:xfrm>
              <a:off x="4944" y="1200"/>
              <a:ext cx="672" cy="384"/>
              <a:chOff x="1440" y="912"/>
              <a:chExt cx="672" cy="384"/>
            </a:xfrm>
          </p:grpSpPr>
          <p:grpSp>
            <p:nvGrpSpPr>
              <p:cNvPr id="44160" name="Group 166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4162" name="Oval 167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Nov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163" name="Rectangle 168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4161" name="Line 169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9940" name="Oval 4"/>
          <p:cNvSpPr/>
          <p:nvPr/>
        </p:nvSpPr>
        <p:spPr>
          <a:xfrm>
            <a:off x="609600" y="549275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Dec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9941" name="Oval 5"/>
          <p:cNvSpPr/>
          <p:nvPr/>
        </p:nvSpPr>
        <p:spPr>
          <a:xfrm>
            <a:off x="1752600" y="549275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July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7" name="Group 6"/>
          <p:cNvGrpSpPr/>
          <p:nvPr/>
        </p:nvGrpSpPr>
        <p:grpSpPr>
          <a:xfrm>
            <a:off x="76200" y="898525"/>
            <a:ext cx="4419600" cy="2133600"/>
            <a:chOff x="288" y="528"/>
            <a:chExt cx="2784" cy="1344"/>
          </a:xfrm>
        </p:grpSpPr>
        <p:grpSp>
          <p:nvGrpSpPr>
            <p:cNvPr id="44111" name="Group 7"/>
            <p:cNvGrpSpPr/>
            <p:nvPr/>
          </p:nvGrpSpPr>
          <p:grpSpPr>
            <a:xfrm>
              <a:off x="864" y="528"/>
              <a:ext cx="1776" cy="672"/>
              <a:chOff x="3600" y="768"/>
              <a:chExt cx="1776" cy="672"/>
            </a:xfrm>
          </p:grpSpPr>
          <p:grpSp>
            <p:nvGrpSpPr>
              <p:cNvPr id="44138" name="Group 8"/>
              <p:cNvGrpSpPr/>
              <p:nvPr/>
            </p:nvGrpSpPr>
            <p:grpSpPr>
              <a:xfrm>
                <a:off x="4176" y="768"/>
                <a:ext cx="1200" cy="672"/>
                <a:chOff x="4176" y="768"/>
                <a:chExt cx="1200" cy="672"/>
              </a:xfrm>
            </p:grpSpPr>
            <p:grpSp>
              <p:nvGrpSpPr>
                <p:cNvPr id="44147" name="Group 9"/>
                <p:cNvGrpSpPr/>
                <p:nvPr/>
              </p:nvGrpSpPr>
              <p:grpSpPr>
                <a:xfrm>
                  <a:off x="4176" y="768"/>
                  <a:ext cx="624" cy="336"/>
                  <a:chOff x="912" y="624"/>
                  <a:chExt cx="624" cy="336"/>
                </a:xfrm>
              </p:grpSpPr>
              <p:sp>
                <p:nvSpPr>
                  <p:cNvPr id="44156" name="Oval 10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Mar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157" name="Rectangle 11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4148" name="Rectangle 12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4149" name="Group 13"/>
                <p:cNvGrpSpPr/>
                <p:nvPr/>
              </p:nvGrpSpPr>
              <p:grpSpPr>
                <a:xfrm>
                  <a:off x="4704" y="1056"/>
                  <a:ext cx="672" cy="384"/>
                  <a:chOff x="1440" y="912"/>
                  <a:chExt cx="672" cy="384"/>
                </a:xfrm>
              </p:grpSpPr>
              <p:grpSp>
                <p:nvGrpSpPr>
                  <p:cNvPr id="44152" name="Group 14"/>
                  <p:cNvGrpSpPr/>
                  <p:nvPr/>
                </p:nvGrpSpPr>
                <p:grpSpPr>
                  <a:xfrm>
                    <a:off x="1488" y="960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44154" name="Oval 15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May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4155" name="Rectangle 16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4153" name="Line 17"/>
                  <p:cNvSpPr/>
                  <p:nvPr/>
                </p:nvSpPr>
                <p:spPr>
                  <a:xfrm>
                    <a:off x="1440" y="912"/>
                    <a:ext cx="240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44150" name="Rectangle 18"/>
                <p:cNvSpPr/>
                <p:nvPr/>
              </p:nvSpPr>
              <p:spPr>
                <a:xfrm>
                  <a:off x="4944" y="1104"/>
                  <a:ext cx="240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4151" name="Rectangle 19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4139" name="Rectangle 20"/>
              <p:cNvSpPr/>
              <p:nvPr/>
            </p:nvSpPr>
            <p:spPr>
              <a:xfrm flipH="1">
                <a:off x="4368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4140" name="Group 21"/>
              <p:cNvGrpSpPr/>
              <p:nvPr/>
            </p:nvGrpSpPr>
            <p:grpSpPr>
              <a:xfrm flipH="1">
                <a:off x="3600" y="1056"/>
                <a:ext cx="672" cy="384"/>
                <a:chOff x="1440" y="912"/>
                <a:chExt cx="672" cy="384"/>
              </a:xfrm>
            </p:grpSpPr>
            <p:grpSp>
              <p:nvGrpSpPr>
                <p:cNvPr id="44143" name="Group 22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4145" name="Oval 23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Aug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146" name="Rectangle 24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4144" name="Line 25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4141" name="Rectangle 26"/>
              <p:cNvSpPr/>
              <p:nvPr/>
            </p:nvSpPr>
            <p:spPr>
              <a:xfrm flipH="1">
                <a:off x="3792" y="1104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42" name="Rectangle 27"/>
              <p:cNvSpPr/>
              <p:nvPr/>
            </p:nvSpPr>
            <p:spPr>
              <a:xfrm flipH="1">
                <a:off x="4368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4112" name="Rectangle 28"/>
            <p:cNvSpPr/>
            <p:nvPr/>
          </p:nvSpPr>
          <p:spPr>
            <a:xfrm>
              <a:off x="1008" y="864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4113" name="Group 29"/>
            <p:cNvGrpSpPr/>
            <p:nvPr/>
          </p:nvGrpSpPr>
          <p:grpSpPr>
            <a:xfrm>
              <a:off x="1392" y="1152"/>
              <a:ext cx="672" cy="384"/>
              <a:chOff x="1440" y="912"/>
              <a:chExt cx="672" cy="384"/>
            </a:xfrm>
          </p:grpSpPr>
          <p:grpSp>
            <p:nvGrpSpPr>
              <p:cNvPr id="44134" name="Group 30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4136" name="Oval 31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Jan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137" name="Rectangle 32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4135" name="Line 33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114" name="Group 34"/>
            <p:cNvGrpSpPr/>
            <p:nvPr/>
          </p:nvGrpSpPr>
          <p:grpSpPr>
            <a:xfrm flipH="1">
              <a:off x="288" y="1152"/>
              <a:ext cx="672" cy="384"/>
              <a:chOff x="1440" y="912"/>
              <a:chExt cx="672" cy="384"/>
            </a:xfrm>
          </p:grpSpPr>
          <p:grpSp>
            <p:nvGrpSpPr>
              <p:cNvPr id="44130" name="Group 35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4132" name="Oval 36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Apr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133" name="Rectangle 37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4131" name="Line 38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115" name="Group 39"/>
            <p:cNvGrpSpPr/>
            <p:nvPr/>
          </p:nvGrpSpPr>
          <p:grpSpPr>
            <a:xfrm>
              <a:off x="2400" y="1200"/>
              <a:ext cx="672" cy="384"/>
              <a:chOff x="1440" y="912"/>
              <a:chExt cx="672" cy="384"/>
            </a:xfrm>
          </p:grpSpPr>
          <p:grpSp>
            <p:nvGrpSpPr>
              <p:cNvPr id="44126" name="Group 40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4128" name="Oval 41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Nov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129" name="Rectangle 42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4127" name="Line 43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116" name="Group 44"/>
            <p:cNvGrpSpPr/>
            <p:nvPr/>
          </p:nvGrpSpPr>
          <p:grpSpPr>
            <a:xfrm>
              <a:off x="1968" y="1488"/>
              <a:ext cx="672" cy="384"/>
              <a:chOff x="1440" y="912"/>
              <a:chExt cx="672" cy="384"/>
            </a:xfrm>
          </p:grpSpPr>
          <p:grpSp>
            <p:nvGrpSpPr>
              <p:cNvPr id="44122" name="Group 45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4124" name="Oval 46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July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125" name="Rectangle 47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4123" name="Line 48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117" name="Group 49"/>
            <p:cNvGrpSpPr/>
            <p:nvPr/>
          </p:nvGrpSpPr>
          <p:grpSpPr>
            <a:xfrm flipH="1">
              <a:off x="864" y="1488"/>
              <a:ext cx="672" cy="384"/>
              <a:chOff x="1440" y="912"/>
              <a:chExt cx="672" cy="384"/>
            </a:xfrm>
          </p:grpSpPr>
          <p:grpSp>
            <p:nvGrpSpPr>
              <p:cNvPr id="44118" name="Group 50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4120" name="Oval 51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Dec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121" name="Rectangle 52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4119" name="Line 53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9990" name="Oval 54"/>
          <p:cNvSpPr/>
          <p:nvPr/>
        </p:nvSpPr>
        <p:spPr>
          <a:xfrm>
            <a:off x="2971800" y="549275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Feb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42120" name="Group 55"/>
          <p:cNvGrpSpPr/>
          <p:nvPr/>
        </p:nvGrpSpPr>
        <p:grpSpPr>
          <a:xfrm>
            <a:off x="1676400" y="3032125"/>
            <a:ext cx="1066800" cy="609600"/>
            <a:chOff x="1440" y="912"/>
            <a:chExt cx="672" cy="384"/>
          </a:xfrm>
        </p:grpSpPr>
        <p:grpSp>
          <p:nvGrpSpPr>
            <p:cNvPr id="44107" name="Group 56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44109" name="Oval 57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Feb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10" name="Rectangle 58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44108" name="Line 59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996" name="Rectangle 60"/>
          <p:cNvSpPr/>
          <p:nvPr/>
        </p:nvSpPr>
        <p:spPr>
          <a:xfrm>
            <a:off x="1295400" y="2498725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97" name="Rectangle 61"/>
          <p:cNvSpPr/>
          <p:nvPr/>
        </p:nvSpPr>
        <p:spPr>
          <a:xfrm>
            <a:off x="2209800" y="1965325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9998" name="Rectangle 62"/>
          <p:cNvSpPr/>
          <p:nvPr/>
        </p:nvSpPr>
        <p:spPr>
          <a:xfrm>
            <a:off x="1295400" y="1431925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99" name="Rectangle 63"/>
          <p:cNvSpPr/>
          <p:nvPr/>
        </p:nvSpPr>
        <p:spPr>
          <a:xfrm>
            <a:off x="2209800" y="898525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zh-CN" sz="18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2125" name="Group 66"/>
          <p:cNvGrpSpPr/>
          <p:nvPr/>
        </p:nvGrpSpPr>
        <p:grpSpPr>
          <a:xfrm rot="1683507">
            <a:off x="3962400" y="3124200"/>
            <a:ext cx="2209800" cy="762000"/>
            <a:chOff x="1872" y="2976"/>
            <a:chExt cx="864" cy="480"/>
          </a:xfrm>
        </p:grpSpPr>
        <p:sp>
          <p:nvSpPr>
            <p:cNvPr id="44104" name="AutoShape 67"/>
            <p:cNvSpPr/>
            <p:nvPr/>
          </p:nvSpPr>
          <p:spPr>
            <a:xfrm>
              <a:off x="1872" y="3168"/>
              <a:ext cx="864" cy="96"/>
            </a:xfrm>
            <a:prstGeom prst="rightArrow">
              <a:avLst>
                <a:gd name="adj1" fmla="val 50000"/>
                <a:gd name="adj2" fmla="val 225000"/>
              </a:avLst>
            </a:prstGeom>
            <a:solidFill>
              <a:schemeClr val="hlink"/>
            </a:solidFill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4105" name="Rectangle 68"/>
            <p:cNvSpPr/>
            <p:nvPr/>
          </p:nvSpPr>
          <p:spPr>
            <a:xfrm>
              <a:off x="1968" y="2976"/>
              <a:ext cx="480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</a:rPr>
                <a:t>RL</a:t>
              </a:r>
              <a:endParaRPr lang="en-US" altLang="zh-CN" sz="2000" b="1" dirty="0"/>
            </a:p>
          </p:txBody>
        </p:sp>
        <p:sp>
          <p:nvSpPr>
            <p:cNvPr id="44106" name="Rectangle 69"/>
            <p:cNvSpPr/>
            <p:nvPr/>
          </p:nvSpPr>
          <p:spPr>
            <a:xfrm>
              <a:off x="1968" y="3264"/>
              <a:ext cx="576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</a:rPr>
                <a:t>Rotation</a:t>
              </a:r>
            </a:p>
          </p:txBody>
        </p:sp>
      </p:grpSp>
      <p:grpSp>
        <p:nvGrpSpPr>
          <p:cNvPr id="42129" name="Group 71"/>
          <p:cNvGrpSpPr/>
          <p:nvPr/>
        </p:nvGrpSpPr>
        <p:grpSpPr>
          <a:xfrm>
            <a:off x="4038600" y="3962400"/>
            <a:ext cx="5105400" cy="2209800"/>
            <a:chOff x="1152" y="2160"/>
            <a:chExt cx="3216" cy="1392"/>
          </a:xfrm>
        </p:grpSpPr>
        <p:grpSp>
          <p:nvGrpSpPr>
            <p:cNvPr id="44046" name="Group 72"/>
            <p:cNvGrpSpPr/>
            <p:nvPr/>
          </p:nvGrpSpPr>
          <p:grpSpPr>
            <a:xfrm>
              <a:off x="3264" y="3120"/>
              <a:ext cx="672" cy="384"/>
              <a:chOff x="1440" y="912"/>
              <a:chExt cx="672" cy="384"/>
            </a:xfrm>
          </p:grpSpPr>
          <p:grpSp>
            <p:nvGrpSpPr>
              <p:cNvPr id="44100" name="Group 73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4102" name="Oval 74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July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103" name="Rectangle 75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4101" name="Line 76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47" name="Group 77"/>
            <p:cNvGrpSpPr/>
            <p:nvPr/>
          </p:nvGrpSpPr>
          <p:grpSpPr>
            <a:xfrm>
              <a:off x="1152" y="2496"/>
              <a:ext cx="2208" cy="1056"/>
              <a:chOff x="1152" y="2496"/>
              <a:chExt cx="2208" cy="1056"/>
            </a:xfrm>
          </p:grpSpPr>
          <p:grpSp>
            <p:nvGrpSpPr>
              <p:cNvPr id="44068" name="Group 78"/>
              <p:cNvGrpSpPr/>
              <p:nvPr/>
            </p:nvGrpSpPr>
            <p:grpSpPr>
              <a:xfrm flipH="1">
                <a:off x="1584" y="2496"/>
                <a:ext cx="1200" cy="672"/>
                <a:chOff x="4176" y="768"/>
                <a:chExt cx="1200" cy="672"/>
              </a:xfrm>
            </p:grpSpPr>
            <p:grpSp>
              <p:nvGrpSpPr>
                <p:cNvPr id="44089" name="Group 79"/>
                <p:cNvGrpSpPr/>
                <p:nvPr/>
              </p:nvGrpSpPr>
              <p:grpSpPr>
                <a:xfrm>
                  <a:off x="4176" y="768"/>
                  <a:ext cx="624" cy="336"/>
                  <a:chOff x="912" y="624"/>
                  <a:chExt cx="624" cy="336"/>
                </a:xfrm>
              </p:grpSpPr>
              <p:sp>
                <p:nvSpPr>
                  <p:cNvPr id="44098" name="Oval 80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Dec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099" name="Rectangle 81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4090" name="Rectangle 82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4091" name="Group 83"/>
                <p:cNvGrpSpPr/>
                <p:nvPr/>
              </p:nvGrpSpPr>
              <p:grpSpPr>
                <a:xfrm>
                  <a:off x="4704" y="1056"/>
                  <a:ext cx="672" cy="384"/>
                  <a:chOff x="1440" y="912"/>
                  <a:chExt cx="672" cy="384"/>
                </a:xfrm>
              </p:grpSpPr>
              <p:grpSp>
                <p:nvGrpSpPr>
                  <p:cNvPr id="44094" name="Group 84"/>
                  <p:cNvGrpSpPr/>
                  <p:nvPr/>
                </p:nvGrpSpPr>
                <p:grpSpPr>
                  <a:xfrm>
                    <a:off x="1488" y="960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44096" name="Oval 85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Aug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4097" name="Rectangle 86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4095" name="Line 87"/>
                  <p:cNvSpPr/>
                  <p:nvPr/>
                </p:nvSpPr>
                <p:spPr>
                  <a:xfrm>
                    <a:off x="1440" y="912"/>
                    <a:ext cx="240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44092" name="Rectangle 88"/>
                <p:cNvSpPr/>
                <p:nvPr/>
              </p:nvSpPr>
              <p:spPr>
                <a:xfrm>
                  <a:off x="4944" y="1104"/>
                  <a:ext cx="240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4093" name="Rectangle 89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4069" name="Rectangle 90"/>
              <p:cNvSpPr/>
              <p:nvPr/>
            </p:nvSpPr>
            <p:spPr>
              <a:xfrm>
                <a:off x="2304" y="249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4070" name="Group 91"/>
              <p:cNvGrpSpPr/>
              <p:nvPr/>
            </p:nvGrpSpPr>
            <p:grpSpPr>
              <a:xfrm>
                <a:off x="2688" y="2784"/>
                <a:ext cx="672" cy="384"/>
                <a:chOff x="1440" y="912"/>
                <a:chExt cx="672" cy="384"/>
              </a:xfrm>
            </p:grpSpPr>
            <p:grpSp>
              <p:nvGrpSpPr>
                <p:cNvPr id="44085" name="Group 92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4087" name="Oval 93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Jan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088" name="Rectangle 94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4086" name="Line 95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4071" name="Rectangle 96"/>
              <p:cNvSpPr/>
              <p:nvPr/>
            </p:nvSpPr>
            <p:spPr>
              <a:xfrm>
                <a:off x="2928" y="2832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072" name="Rectangle 97"/>
              <p:cNvSpPr/>
              <p:nvPr/>
            </p:nvSpPr>
            <p:spPr>
              <a:xfrm>
                <a:off x="2304" y="249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b="1" dirty="0">
                  <a:solidFill>
                    <a:srgbClr val="0099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073" name="Rectangle 98"/>
              <p:cNvSpPr/>
              <p:nvPr/>
            </p:nvSpPr>
            <p:spPr>
              <a:xfrm flipH="1">
                <a:off x="2928" y="283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4074" name="Group 99"/>
              <p:cNvGrpSpPr/>
              <p:nvPr/>
            </p:nvGrpSpPr>
            <p:grpSpPr>
              <a:xfrm flipH="1">
                <a:off x="2160" y="3120"/>
                <a:ext cx="672" cy="384"/>
                <a:chOff x="1440" y="912"/>
                <a:chExt cx="672" cy="384"/>
              </a:xfrm>
            </p:grpSpPr>
            <p:grpSp>
              <p:nvGrpSpPr>
                <p:cNvPr id="44081" name="Group 100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4083" name="Oval 101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Feb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084" name="Rectangle 102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44082" name="Line 103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4075" name="Rectangle 104"/>
              <p:cNvSpPr/>
              <p:nvPr/>
            </p:nvSpPr>
            <p:spPr>
              <a:xfrm flipH="1">
                <a:off x="2928" y="283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b="1" dirty="0">
                  <a:solidFill>
                    <a:srgbClr val="0099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4076" name="Group 105"/>
              <p:cNvGrpSpPr/>
              <p:nvPr/>
            </p:nvGrpSpPr>
            <p:grpSpPr>
              <a:xfrm flipH="1">
                <a:off x="1152" y="3168"/>
                <a:ext cx="672" cy="384"/>
                <a:chOff x="1440" y="912"/>
                <a:chExt cx="672" cy="384"/>
              </a:xfrm>
            </p:grpSpPr>
            <p:grpSp>
              <p:nvGrpSpPr>
                <p:cNvPr id="44077" name="Group 106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4079" name="Oval 107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Apr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080" name="Rectangle 108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rgbClr val="009900"/>
                        </a:solidFill>
                        <a:latin typeface="Times New Roman" panose="02020603050405020304" pitchFamily="18" charset="0"/>
                      </a:rPr>
                      <a:t>0</a:t>
                    </a:r>
                  </a:p>
                </p:txBody>
              </p:sp>
            </p:grpSp>
            <p:sp>
              <p:nvSpPr>
                <p:cNvPr id="44078" name="Line 109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44048" name="Group 110"/>
            <p:cNvGrpSpPr/>
            <p:nvPr/>
          </p:nvGrpSpPr>
          <p:grpSpPr>
            <a:xfrm>
              <a:off x="2736" y="2160"/>
              <a:ext cx="1200" cy="672"/>
              <a:chOff x="4176" y="768"/>
              <a:chExt cx="1200" cy="672"/>
            </a:xfrm>
          </p:grpSpPr>
          <p:grpSp>
            <p:nvGrpSpPr>
              <p:cNvPr id="44057" name="Group 111"/>
              <p:cNvGrpSpPr/>
              <p:nvPr/>
            </p:nvGrpSpPr>
            <p:grpSpPr>
              <a:xfrm>
                <a:off x="4176" y="768"/>
                <a:ext cx="624" cy="336"/>
                <a:chOff x="912" y="624"/>
                <a:chExt cx="624" cy="336"/>
              </a:xfrm>
            </p:grpSpPr>
            <p:sp>
              <p:nvSpPr>
                <p:cNvPr id="44066" name="Oval 112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Mar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067" name="Rectangle 113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4058" name="Rectangle 114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4059" name="Group 115"/>
              <p:cNvGrpSpPr/>
              <p:nvPr/>
            </p:nvGrpSpPr>
            <p:grpSpPr>
              <a:xfrm>
                <a:off x="4704" y="1056"/>
                <a:ext cx="672" cy="384"/>
                <a:chOff x="1440" y="912"/>
                <a:chExt cx="672" cy="384"/>
              </a:xfrm>
            </p:grpSpPr>
            <p:grpSp>
              <p:nvGrpSpPr>
                <p:cNvPr id="44062" name="Group 116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4064" name="Oval 117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May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065" name="Rectangle 118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b="1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4063" name="Line 119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4060" name="Rectangle 120"/>
              <p:cNvSpPr/>
              <p:nvPr/>
            </p:nvSpPr>
            <p:spPr>
              <a:xfrm>
                <a:off x="4944" y="1104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4061" name="Rectangle 121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4049" name="Rectangle 122"/>
            <p:cNvSpPr/>
            <p:nvPr/>
          </p:nvSpPr>
          <p:spPr>
            <a:xfrm flipH="1">
              <a:off x="2928" y="2160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50" name="Line 123"/>
            <p:cNvSpPr/>
            <p:nvPr/>
          </p:nvSpPr>
          <p:spPr>
            <a:xfrm flipH="1">
              <a:off x="2592" y="2448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1" name="Rectangle 124"/>
            <p:cNvSpPr/>
            <p:nvPr/>
          </p:nvSpPr>
          <p:spPr>
            <a:xfrm flipH="1">
              <a:off x="2928" y="2160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099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4052" name="Group 125"/>
            <p:cNvGrpSpPr/>
            <p:nvPr/>
          </p:nvGrpSpPr>
          <p:grpSpPr>
            <a:xfrm>
              <a:off x="3696" y="2832"/>
              <a:ext cx="672" cy="384"/>
              <a:chOff x="1440" y="912"/>
              <a:chExt cx="672" cy="384"/>
            </a:xfrm>
          </p:grpSpPr>
          <p:grpSp>
            <p:nvGrpSpPr>
              <p:cNvPr id="44053" name="Group 126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4055" name="Oval 127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Nov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056" name="Rectangle 128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b="1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4054" name="Line 129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39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2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399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399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399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99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2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nimBg="1"/>
      <p:bldP spid="39941" grpId="0" animBg="1"/>
      <p:bldP spid="39990" grpId="0" animBg="1"/>
      <p:bldP spid="39996" grpId="0" animBg="1"/>
      <p:bldP spid="39997" grpId="0" animBg="1"/>
      <p:bldP spid="39998" grpId="0" animBg="1"/>
      <p:bldP spid="3999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Group 3"/>
          <p:cNvGrpSpPr/>
          <p:nvPr/>
        </p:nvGrpSpPr>
        <p:grpSpPr>
          <a:xfrm>
            <a:off x="1371600" y="1524000"/>
            <a:ext cx="5105400" cy="2209800"/>
            <a:chOff x="1152" y="2160"/>
            <a:chExt cx="3216" cy="1392"/>
          </a:xfrm>
        </p:grpSpPr>
        <p:grpSp>
          <p:nvGrpSpPr>
            <p:cNvPr id="45202" name="Group 4"/>
            <p:cNvGrpSpPr/>
            <p:nvPr/>
          </p:nvGrpSpPr>
          <p:grpSpPr>
            <a:xfrm>
              <a:off x="3264" y="3120"/>
              <a:ext cx="672" cy="384"/>
              <a:chOff x="1440" y="912"/>
              <a:chExt cx="672" cy="384"/>
            </a:xfrm>
          </p:grpSpPr>
          <p:grpSp>
            <p:nvGrpSpPr>
              <p:cNvPr id="45256" name="Group 5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258" name="Oval 6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July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259" name="Rectangle 7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257" name="Line 8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5203" name="Group 9"/>
            <p:cNvGrpSpPr/>
            <p:nvPr/>
          </p:nvGrpSpPr>
          <p:grpSpPr>
            <a:xfrm>
              <a:off x="1152" y="2496"/>
              <a:ext cx="2208" cy="1056"/>
              <a:chOff x="1152" y="2496"/>
              <a:chExt cx="2208" cy="1056"/>
            </a:xfrm>
          </p:grpSpPr>
          <p:grpSp>
            <p:nvGrpSpPr>
              <p:cNvPr id="45224" name="Group 10"/>
              <p:cNvGrpSpPr/>
              <p:nvPr/>
            </p:nvGrpSpPr>
            <p:grpSpPr>
              <a:xfrm flipH="1">
                <a:off x="1584" y="2496"/>
                <a:ext cx="1200" cy="672"/>
                <a:chOff x="4176" y="768"/>
                <a:chExt cx="1200" cy="672"/>
              </a:xfrm>
            </p:grpSpPr>
            <p:grpSp>
              <p:nvGrpSpPr>
                <p:cNvPr id="45245" name="Group 11"/>
                <p:cNvGrpSpPr/>
                <p:nvPr/>
              </p:nvGrpSpPr>
              <p:grpSpPr>
                <a:xfrm>
                  <a:off x="4176" y="768"/>
                  <a:ext cx="624" cy="336"/>
                  <a:chOff x="912" y="624"/>
                  <a:chExt cx="624" cy="336"/>
                </a:xfrm>
              </p:grpSpPr>
              <p:sp>
                <p:nvSpPr>
                  <p:cNvPr id="45254" name="Oval 12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Dec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255" name="Rectangle 13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5246" name="Rectangle 14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5247" name="Group 15"/>
                <p:cNvGrpSpPr/>
                <p:nvPr/>
              </p:nvGrpSpPr>
              <p:grpSpPr>
                <a:xfrm>
                  <a:off x="4704" y="1056"/>
                  <a:ext cx="672" cy="384"/>
                  <a:chOff x="1440" y="912"/>
                  <a:chExt cx="672" cy="384"/>
                </a:xfrm>
              </p:grpSpPr>
              <p:grpSp>
                <p:nvGrpSpPr>
                  <p:cNvPr id="45250" name="Group 16"/>
                  <p:cNvGrpSpPr/>
                  <p:nvPr/>
                </p:nvGrpSpPr>
                <p:grpSpPr>
                  <a:xfrm>
                    <a:off x="1488" y="960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45252" name="Oval 17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Aug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5253" name="Rectangle 18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5251" name="Line 19"/>
                  <p:cNvSpPr/>
                  <p:nvPr/>
                </p:nvSpPr>
                <p:spPr>
                  <a:xfrm>
                    <a:off x="1440" y="912"/>
                    <a:ext cx="240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45248" name="Rectangle 20"/>
                <p:cNvSpPr/>
                <p:nvPr/>
              </p:nvSpPr>
              <p:spPr>
                <a:xfrm>
                  <a:off x="4944" y="1104"/>
                  <a:ext cx="240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5249" name="Rectangle 21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225" name="Rectangle 22"/>
              <p:cNvSpPr/>
              <p:nvPr/>
            </p:nvSpPr>
            <p:spPr>
              <a:xfrm>
                <a:off x="2304" y="249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5226" name="Group 23"/>
              <p:cNvGrpSpPr/>
              <p:nvPr/>
            </p:nvGrpSpPr>
            <p:grpSpPr>
              <a:xfrm>
                <a:off x="2688" y="2784"/>
                <a:ext cx="672" cy="384"/>
                <a:chOff x="1440" y="912"/>
                <a:chExt cx="672" cy="384"/>
              </a:xfrm>
            </p:grpSpPr>
            <p:grpSp>
              <p:nvGrpSpPr>
                <p:cNvPr id="45241" name="Group 24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5243" name="Oval 25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Jan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244" name="Rectangle 26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5242" name="Line 27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5227" name="Rectangle 28"/>
              <p:cNvSpPr/>
              <p:nvPr/>
            </p:nvSpPr>
            <p:spPr>
              <a:xfrm>
                <a:off x="2928" y="2832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28" name="Rectangle 29"/>
              <p:cNvSpPr/>
              <p:nvPr/>
            </p:nvSpPr>
            <p:spPr>
              <a:xfrm>
                <a:off x="2304" y="249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29" name="Rectangle 30"/>
              <p:cNvSpPr/>
              <p:nvPr/>
            </p:nvSpPr>
            <p:spPr>
              <a:xfrm flipH="1">
                <a:off x="2928" y="283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5230" name="Group 31"/>
              <p:cNvGrpSpPr/>
              <p:nvPr/>
            </p:nvGrpSpPr>
            <p:grpSpPr>
              <a:xfrm flipH="1">
                <a:off x="2160" y="3120"/>
                <a:ext cx="672" cy="384"/>
                <a:chOff x="1440" y="912"/>
                <a:chExt cx="672" cy="384"/>
              </a:xfrm>
            </p:grpSpPr>
            <p:grpSp>
              <p:nvGrpSpPr>
                <p:cNvPr id="45237" name="Group 32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5239" name="Oval 33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Feb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240" name="Rectangle 34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5238" name="Line 35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5231" name="Rectangle 36"/>
              <p:cNvSpPr/>
              <p:nvPr/>
            </p:nvSpPr>
            <p:spPr>
              <a:xfrm flipH="1">
                <a:off x="2928" y="283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5232" name="Group 37"/>
              <p:cNvGrpSpPr/>
              <p:nvPr/>
            </p:nvGrpSpPr>
            <p:grpSpPr>
              <a:xfrm flipH="1">
                <a:off x="1152" y="3168"/>
                <a:ext cx="672" cy="384"/>
                <a:chOff x="1440" y="912"/>
                <a:chExt cx="672" cy="384"/>
              </a:xfrm>
            </p:grpSpPr>
            <p:grpSp>
              <p:nvGrpSpPr>
                <p:cNvPr id="45233" name="Group 38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5235" name="Oval 39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Apr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236" name="Rectangle 40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5234" name="Line 41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45204" name="Group 42"/>
            <p:cNvGrpSpPr/>
            <p:nvPr/>
          </p:nvGrpSpPr>
          <p:grpSpPr>
            <a:xfrm>
              <a:off x="2736" y="2160"/>
              <a:ext cx="1200" cy="672"/>
              <a:chOff x="4176" y="768"/>
              <a:chExt cx="1200" cy="672"/>
            </a:xfrm>
          </p:grpSpPr>
          <p:grpSp>
            <p:nvGrpSpPr>
              <p:cNvPr id="45213" name="Group 43"/>
              <p:cNvGrpSpPr/>
              <p:nvPr/>
            </p:nvGrpSpPr>
            <p:grpSpPr>
              <a:xfrm>
                <a:off x="4176" y="768"/>
                <a:ext cx="624" cy="336"/>
                <a:chOff x="912" y="624"/>
                <a:chExt cx="624" cy="336"/>
              </a:xfrm>
            </p:grpSpPr>
            <p:sp>
              <p:nvSpPr>
                <p:cNvPr id="45222" name="Oval 44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Mar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223" name="Rectangle 45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214" name="Rectangle 46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5215" name="Group 47"/>
              <p:cNvGrpSpPr/>
              <p:nvPr/>
            </p:nvGrpSpPr>
            <p:grpSpPr>
              <a:xfrm>
                <a:off x="4704" y="1056"/>
                <a:ext cx="672" cy="384"/>
                <a:chOff x="1440" y="912"/>
                <a:chExt cx="672" cy="384"/>
              </a:xfrm>
            </p:grpSpPr>
            <p:grpSp>
              <p:nvGrpSpPr>
                <p:cNvPr id="45218" name="Group 48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5220" name="Oval 49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May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221" name="Rectangle 50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5219" name="Line 51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5216" name="Rectangle 52"/>
              <p:cNvSpPr/>
              <p:nvPr/>
            </p:nvSpPr>
            <p:spPr>
              <a:xfrm>
                <a:off x="4944" y="1104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5217" name="Rectangle 53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205" name="Rectangle 54"/>
            <p:cNvSpPr/>
            <p:nvPr/>
          </p:nvSpPr>
          <p:spPr>
            <a:xfrm flipH="1">
              <a:off x="2928" y="2160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5206" name="Line 55"/>
            <p:cNvSpPr/>
            <p:nvPr/>
          </p:nvSpPr>
          <p:spPr>
            <a:xfrm flipH="1">
              <a:off x="2592" y="2448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207" name="Rectangle 56"/>
            <p:cNvSpPr/>
            <p:nvPr/>
          </p:nvSpPr>
          <p:spPr>
            <a:xfrm flipH="1">
              <a:off x="2928" y="2160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208" name="Group 57"/>
            <p:cNvGrpSpPr/>
            <p:nvPr/>
          </p:nvGrpSpPr>
          <p:grpSpPr>
            <a:xfrm>
              <a:off x="3696" y="2832"/>
              <a:ext cx="672" cy="384"/>
              <a:chOff x="1440" y="912"/>
              <a:chExt cx="672" cy="384"/>
            </a:xfrm>
          </p:grpSpPr>
          <p:grpSp>
            <p:nvGrpSpPr>
              <p:cNvPr id="45209" name="Group 58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211" name="Oval 59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Nov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212" name="Rectangle 60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210" name="Line 61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1022" name="Oval 62"/>
          <p:cNvSpPr/>
          <p:nvPr/>
        </p:nvSpPr>
        <p:spPr>
          <a:xfrm>
            <a:off x="609600" y="10668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June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1023" name="Oval 63"/>
          <p:cNvSpPr/>
          <p:nvPr/>
        </p:nvSpPr>
        <p:spPr>
          <a:xfrm>
            <a:off x="1828800" y="10668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Oct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1024" name="Oval 64"/>
          <p:cNvSpPr/>
          <p:nvPr/>
        </p:nvSpPr>
        <p:spPr>
          <a:xfrm>
            <a:off x="2971800" y="10668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Sept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22" name="Group 65"/>
          <p:cNvGrpSpPr/>
          <p:nvPr/>
        </p:nvGrpSpPr>
        <p:grpSpPr>
          <a:xfrm>
            <a:off x="5486400" y="3657600"/>
            <a:ext cx="1066800" cy="609600"/>
            <a:chOff x="1440" y="912"/>
            <a:chExt cx="672" cy="384"/>
          </a:xfrm>
        </p:grpSpPr>
        <p:grpSp>
          <p:nvGrpSpPr>
            <p:cNvPr id="45198" name="Group 66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45200" name="Oval 67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June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201" name="Rectangle 68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199" name="Line 69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030" name="Rectangle 70"/>
          <p:cNvSpPr/>
          <p:nvPr/>
        </p:nvSpPr>
        <p:spPr>
          <a:xfrm>
            <a:off x="5105400" y="31242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1" name="Rectangle 71"/>
          <p:cNvSpPr/>
          <p:nvPr/>
        </p:nvSpPr>
        <p:spPr>
          <a:xfrm>
            <a:off x="4267200" y="25908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2" name="Rectangle 72"/>
          <p:cNvSpPr/>
          <p:nvPr/>
        </p:nvSpPr>
        <p:spPr>
          <a:xfrm>
            <a:off x="3276600" y="20574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3" name="Rectangle 73"/>
          <p:cNvSpPr/>
          <p:nvPr/>
        </p:nvSpPr>
        <p:spPr>
          <a:xfrm>
            <a:off x="4267200" y="15240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zh-CN" sz="1800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34" name="Oval 74"/>
          <p:cNvSpPr/>
          <p:nvPr/>
        </p:nvSpPr>
        <p:spPr>
          <a:xfrm>
            <a:off x="3886200" y="1752600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35" name="Oval 75"/>
          <p:cNvSpPr/>
          <p:nvPr/>
        </p:nvSpPr>
        <p:spPr>
          <a:xfrm>
            <a:off x="2971800" y="2286000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36" name="Oval 76"/>
          <p:cNvSpPr/>
          <p:nvPr/>
        </p:nvSpPr>
        <p:spPr>
          <a:xfrm>
            <a:off x="3886200" y="2819400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37" name="Rectangle 77"/>
          <p:cNvSpPr/>
          <p:nvPr/>
        </p:nvSpPr>
        <p:spPr>
          <a:xfrm>
            <a:off x="1295400" y="1447800"/>
            <a:ext cx="5410200" cy="2895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4" name="Group 78"/>
          <p:cNvGrpSpPr/>
          <p:nvPr/>
        </p:nvGrpSpPr>
        <p:grpSpPr>
          <a:xfrm>
            <a:off x="1066800" y="1524000"/>
            <a:ext cx="6019800" cy="2247900"/>
            <a:chOff x="816" y="2520"/>
            <a:chExt cx="3792" cy="1416"/>
          </a:xfrm>
        </p:grpSpPr>
        <p:grpSp>
          <p:nvGrpSpPr>
            <p:cNvPr id="45148" name="Group 79"/>
            <p:cNvGrpSpPr/>
            <p:nvPr/>
          </p:nvGrpSpPr>
          <p:grpSpPr>
            <a:xfrm>
              <a:off x="3936" y="3552"/>
              <a:ext cx="672" cy="384"/>
              <a:chOff x="1440" y="912"/>
              <a:chExt cx="672" cy="384"/>
            </a:xfrm>
          </p:grpSpPr>
          <p:grpSp>
            <p:nvGrpSpPr>
              <p:cNvPr id="45194" name="Group 80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96" name="Oval 81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Nov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97" name="Rectangle 82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95" name="Line 83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5149" name="Group 84"/>
            <p:cNvGrpSpPr/>
            <p:nvPr/>
          </p:nvGrpSpPr>
          <p:grpSpPr>
            <a:xfrm flipH="1">
              <a:off x="1680" y="2832"/>
              <a:ext cx="624" cy="336"/>
              <a:chOff x="912" y="624"/>
              <a:chExt cx="624" cy="336"/>
            </a:xfrm>
          </p:grpSpPr>
          <p:sp>
            <p:nvSpPr>
              <p:cNvPr id="45192" name="Oval 85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Dec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93" name="Rectangle 86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150" name="Rectangle 87"/>
            <p:cNvSpPr/>
            <p:nvPr/>
          </p:nvSpPr>
          <p:spPr>
            <a:xfrm flipH="1">
              <a:off x="1872" y="2832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151" name="Group 88"/>
            <p:cNvGrpSpPr/>
            <p:nvPr/>
          </p:nvGrpSpPr>
          <p:grpSpPr>
            <a:xfrm flipH="1">
              <a:off x="1248" y="3168"/>
              <a:ext cx="672" cy="384"/>
              <a:chOff x="1440" y="912"/>
              <a:chExt cx="672" cy="384"/>
            </a:xfrm>
          </p:grpSpPr>
          <p:grpSp>
            <p:nvGrpSpPr>
              <p:cNvPr id="45188" name="Group 89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90" name="Oval 90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Aug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91" name="Rectangle 91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89" name="Line 92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152" name="Rectangle 93"/>
            <p:cNvSpPr/>
            <p:nvPr/>
          </p:nvSpPr>
          <p:spPr>
            <a:xfrm flipH="1">
              <a:off x="1872" y="2832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5153" name="Rectangle 94"/>
            <p:cNvSpPr/>
            <p:nvPr/>
          </p:nvSpPr>
          <p:spPr>
            <a:xfrm>
              <a:off x="1824" y="2832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154" name="Group 95"/>
            <p:cNvGrpSpPr/>
            <p:nvPr/>
          </p:nvGrpSpPr>
          <p:grpSpPr>
            <a:xfrm>
              <a:off x="2016" y="3168"/>
              <a:ext cx="672" cy="384"/>
              <a:chOff x="1440" y="912"/>
              <a:chExt cx="672" cy="384"/>
            </a:xfrm>
          </p:grpSpPr>
          <p:grpSp>
            <p:nvGrpSpPr>
              <p:cNvPr id="45184" name="Group 96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86" name="Oval 97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Feb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87" name="Rectangle 98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85" name="Line 99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155" name="Rectangle 100"/>
            <p:cNvSpPr/>
            <p:nvPr/>
          </p:nvSpPr>
          <p:spPr>
            <a:xfrm>
              <a:off x="1824" y="2832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156" name="Group 101"/>
            <p:cNvGrpSpPr/>
            <p:nvPr/>
          </p:nvGrpSpPr>
          <p:grpSpPr>
            <a:xfrm flipH="1">
              <a:off x="2736" y="3168"/>
              <a:ext cx="672" cy="384"/>
              <a:chOff x="1440" y="912"/>
              <a:chExt cx="672" cy="384"/>
            </a:xfrm>
          </p:grpSpPr>
          <p:grpSp>
            <p:nvGrpSpPr>
              <p:cNvPr id="45180" name="Group 102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82" name="Oval 103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July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83" name="Rectangle 104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1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81" name="Line 105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5157" name="Group 106"/>
            <p:cNvGrpSpPr/>
            <p:nvPr/>
          </p:nvGrpSpPr>
          <p:grpSpPr>
            <a:xfrm flipH="1">
              <a:off x="816" y="3552"/>
              <a:ext cx="672" cy="384"/>
              <a:chOff x="1440" y="912"/>
              <a:chExt cx="672" cy="384"/>
            </a:xfrm>
          </p:grpSpPr>
          <p:grpSp>
            <p:nvGrpSpPr>
              <p:cNvPr id="45176" name="Group 107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78" name="Oval 108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Apr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79" name="Rectangle 109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77" name="Line 110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5158" name="Group 111"/>
            <p:cNvGrpSpPr/>
            <p:nvPr/>
          </p:nvGrpSpPr>
          <p:grpSpPr>
            <a:xfrm>
              <a:off x="3120" y="2832"/>
              <a:ext cx="624" cy="336"/>
              <a:chOff x="912" y="624"/>
              <a:chExt cx="624" cy="336"/>
            </a:xfrm>
          </p:grpSpPr>
          <p:sp>
            <p:nvSpPr>
              <p:cNvPr id="45174" name="Oval 112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Mar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75" name="Rectangle 113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159" name="Line 114"/>
            <p:cNvSpPr/>
            <p:nvPr/>
          </p:nvSpPr>
          <p:spPr>
            <a:xfrm>
              <a:off x="2928" y="2832"/>
              <a:ext cx="38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60" name="Line 115"/>
            <p:cNvSpPr/>
            <p:nvPr/>
          </p:nvSpPr>
          <p:spPr>
            <a:xfrm flipH="1">
              <a:off x="2160" y="2832"/>
              <a:ext cx="38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5161" name="Group 116"/>
            <p:cNvGrpSpPr/>
            <p:nvPr/>
          </p:nvGrpSpPr>
          <p:grpSpPr>
            <a:xfrm>
              <a:off x="3504" y="3168"/>
              <a:ext cx="672" cy="384"/>
              <a:chOff x="1440" y="912"/>
              <a:chExt cx="672" cy="384"/>
            </a:xfrm>
          </p:grpSpPr>
          <p:grpSp>
            <p:nvGrpSpPr>
              <p:cNvPr id="45170" name="Group 117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72" name="Oval 118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May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73" name="Rectangle 119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1</a:t>
                  </a:r>
                </a:p>
              </p:txBody>
            </p:sp>
          </p:grpSp>
          <p:sp>
            <p:nvSpPr>
              <p:cNvPr id="45171" name="Line 120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5162" name="Group 121"/>
            <p:cNvGrpSpPr/>
            <p:nvPr/>
          </p:nvGrpSpPr>
          <p:grpSpPr>
            <a:xfrm>
              <a:off x="3168" y="3552"/>
              <a:ext cx="672" cy="384"/>
              <a:chOff x="1440" y="912"/>
              <a:chExt cx="672" cy="384"/>
            </a:xfrm>
          </p:grpSpPr>
          <p:grpSp>
            <p:nvGrpSpPr>
              <p:cNvPr id="45166" name="Group 122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68" name="Oval 123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June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69" name="Rectangle 124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67" name="Line 125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5163" name="Group 126"/>
            <p:cNvGrpSpPr/>
            <p:nvPr/>
          </p:nvGrpSpPr>
          <p:grpSpPr>
            <a:xfrm>
              <a:off x="2448" y="2520"/>
              <a:ext cx="624" cy="336"/>
              <a:chOff x="2448" y="2520"/>
              <a:chExt cx="624" cy="336"/>
            </a:xfrm>
          </p:grpSpPr>
          <p:sp>
            <p:nvSpPr>
              <p:cNvPr id="45164" name="Oval 127"/>
              <p:cNvSpPr/>
              <p:nvPr/>
            </p:nvSpPr>
            <p:spPr>
              <a:xfrm>
                <a:off x="2448" y="2664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Jan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65" name="Rectangle 128"/>
              <p:cNvSpPr/>
              <p:nvPr/>
            </p:nvSpPr>
            <p:spPr>
              <a:xfrm>
                <a:off x="2592" y="2520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3061" name="Group 129"/>
          <p:cNvGrpSpPr/>
          <p:nvPr/>
        </p:nvGrpSpPr>
        <p:grpSpPr>
          <a:xfrm>
            <a:off x="6781800" y="3733800"/>
            <a:ext cx="1066800" cy="609600"/>
            <a:chOff x="1440" y="912"/>
            <a:chExt cx="672" cy="384"/>
          </a:xfrm>
        </p:grpSpPr>
        <p:grpSp>
          <p:nvGrpSpPr>
            <p:cNvPr id="45144" name="Group 130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45146" name="Oval 131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Oct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47" name="Rectangle 132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145" name="Line 133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094" name="Rectangle 134"/>
          <p:cNvSpPr/>
          <p:nvPr/>
        </p:nvSpPr>
        <p:spPr>
          <a:xfrm>
            <a:off x="6400800" y="3236913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095" name="Rectangle 135"/>
          <p:cNvSpPr/>
          <p:nvPr/>
        </p:nvSpPr>
        <p:spPr>
          <a:xfrm>
            <a:off x="5715000" y="25908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2</a:t>
            </a:r>
            <a:endParaRPr lang="en-US" altLang="zh-CN" sz="18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096" name="Rectangle 136"/>
          <p:cNvSpPr/>
          <p:nvPr/>
        </p:nvSpPr>
        <p:spPr>
          <a:xfrm>
            <a:off x="5029200" y="2017713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097" name="Rectangle 137"/>
          <p:cNvSpPr/>
          <p:nvPr/>
        </p:nvSpPr>
        <p:spPr>
          <a:xfrm>
            <a:off x="3962400" y="15240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098" name="Oval 138"/>
          <p:cNvSpPr/>
          <p:nvPr/>
        </p:nvSpPr>
        <p:spPr>
          <a:xfrm>
            <a:off x="5410200" y="2855913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99" name="Oval 139"/>
          <p:cNvSpPr/>
          <p:nvPr/>
        </p:nvSpPr>
        <p:spPr>
          <a:xfrm>
            <a:off x="6096000" y="3463925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100" name="Oval 140"/>
          <p:cNvSpPr/>
          <p:nvPr/>
        </p:nvSpPr>
        <p:spPr>
          <a:xfrm>
            <a:off x="6858000" y="4038600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101" name="Rectangle 141"/>
          <p:cNvSpPr/>
          <p:nvPr/>
        </p:nvSpPr>
        <p:spPr>
          <a:xfrm>
            <a:off x="990600" y="1447800"/>
            <a:ext cx="6934200" cy="2971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43074" name="Group 142"/>
          <p:cNvGrpSpPr/>
          <p:nvPr/>
        </p:nvGrpSpPr>
        <p:grpSpPr>
          <a:xfrm>
            <a:off x="838200" y="1676400"/>
            <a:ext cx="6705600" cy="2286000"/>
            <a:chOff x="432" y="2256"/>
            <a:chExt cx="4224" cy="1440"/>
          </a:xfrm>
        </p:grpSpPr>
        <p:grpSp>
          <p:nvGrpSpPr>
            <p:cNvPr id="45092" name="Group 143"/>
            <p:cNvGrpSpPr/>
            <p:nvPr/>
          </p:nvGrpSpPr>
          <p:grpSpPr>
            <a:xfrm>
              <a:off x="3984" y="3289"/>
              <a:ext cx="672" cy="384"/>
              <a:chOff x="1440" y="912"/>
              <a:chExt cx="672" cy="384"/>
            </a:xfrm>
          </p:grpSpPr>
          <p:grpSp>
            <p:nvGrpSpPr>
              <p:cNvPr id="45140" name="Group 144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42" name="Oval 145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Oct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43" name="Rectangle 146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41" name="Line 147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5093" name="Group 148"/>
            <p:cNvGrpSpPr/>
            <p:nvPr/>
          </p:nvGrpSpPr>
          <p:grpSpPr>
            <a:xfrm flipH="1">
              <a:off x="1296" y="2568"/>
              <a:ext cx="624" cy="336"/>
              <a:chOff x="912" y="624"/>
              <a:chExt cx="624" cy="336"/>
            </a:xfrm>
          </p:grpSpPr>
          <p:sp>
            <p:nvSpPr>
              <p:cNvPr id="45138" name="Oval 149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Dec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39" name="Rectangle 150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094" name="Rectangle 151"/>
            <p:cNvSpPr/>
            <p:nvPr/>
          </p:nvSpPr>
          <p:spPr>
            <a:xfrm flipH="1">
              <a:off x="1488" y="25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095" name="Group 152"/>
            <p:cNvGrpSpPr/>
            <p:nvPr/>
          </p:nvGrpSpPr>
          <p:grpSpPr>
            <a:xfrm flipH="1">
              <a:off x="864" y="2904"/>
              <a:ext cx="672" cy="384"/>
              <a:chOff x="1440" y="912"/>
              <a:chExt cx="672" cy="384"/>
            </a:xfrm>
          </p:grpSpPr>
          <p:grpSp>
            <p:nvGrpSpPr>
              <p:cNvPr id="45134" name="Group 153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36" name="Oval 154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Aug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37" name="Rectangle 155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45135" name="Line 156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096" name="Rectangle 157"/>
            <p:cNvSpPr/>
            <p:nvPr/>
          </p:nvSpPr>
          <p:spPr>
            <a:xfrm flipH="1">
              <a:off x="1488" y="25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5097" name="Rectangle 158"/>
            <p:cNvSpPr/>
            <p:nvPr/>
          </p:nvSpPr>
          <p:spPr>
            <a:xfrm>
              <a:off x="1440" y="25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098" name="Group 159"/>
            <p:cNvGrpSpPr/>
            <p:nvPr/>
          </p:nvGrpSpPr>
          <p:grpSpPr>
            <a:xfrm>
              <a:off x="1632" y="2904"/>
              <a:ext cx="672" cy="384"/>
              <a:chOff x="1440" y="912"/>
              <a:chExt cx="672" cy="384"/>
            </a:xfrm>
          </p:grpSpPr>
          <p:grpSp>
            <p:nvGrpSpPr>
              <p:cNvPr id="45130" name="Group 160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32" name="Oval 161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Feb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33" name="Rectangle 162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5131" name="Line 163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099" name="Rectangle 164"/>
            <p:cNvSpPr/>
            <p:nvPr/>
          </p:nvSpPr>
          <p:spPr>
            <a:xfrm>
              <a:off x="1440" y="25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0099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5100" name="Group 165"/>
            <p:cNvGrpSpPr/>
            <p:nvPr/>
          </p:nvGrpSpPr>
          <p:grpSpPr>
            <a:xfrm flipH="1">
              <a:off x="2352" y="2904"/>
              <a:ext cx="672" cy="384"/>
              <a:chOff x="1440" y="912"/>
              <a:chExt cx="672" cy="384"/>
            </a:xfrm>
          </p:grpSpPr>
          <p:grpSp>
            <p:nvGrpSpPr>
              <p:cNvPr id="45126" name="Group 166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28" name="Oval 167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July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29" name="Rectangle 168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0099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1</a:t>
                  </a:r>
                  <a:endParaRPr lang="en-US" altLang="zh-CN" sz="1800" dirty="0">
                    <a:solidFill>
                      <a:srgbClr val="0099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5127" name="Line 169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5101" name="Group 170"/>
            <p:cNvGrpSpPr/>
            <p:nvPr/>
          </p:nvGrpSpPr>
          <p:grpSpPr>
            <a:xfrm flipH="1">
              <a:off x="432" y="3288"/>
              <a:ext cx="672" cy="384"/>
              <a:chOff x="1440" y="912"/>
              <a:chExt cx="672" cy="384"/>
            </a:xfrm>
          </p:grpSpPr>
          <p:grpSp>
            <p:nvGrpSpPr>
              <p:cNvPr id="45122" name="Group 171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5124" name="Oval 172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Apr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125" name="Rectangle 173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5123" name="Line 174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5102" name="Group 175"/>
            <p:cNvGrpSpPr/>
            <p:nvPr/>
          </p:nvGrpSpPr>
          <p:grpSpPr>
            <a:xfrm>
              <a:off x="2736" y="2568"/>
              <a:ext cx="624" cy="336"/>
              <a:chOff x="912" y="624"/>
              <a:chExt cx="624" cy="336"/>
            </a:xfrm>
          </p:grpSpPr>
          <p:sp>
            <p:nvSpPr>
              <p:cNvPr id="45120" name="Oval 176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Mar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21" name="Rectangle 177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5103" name="Line 178"/>
            <p:cNvSpPr/>
            <p:nvPr/>
          </p:nvSpPr>
          <p:spPr>
            <a:xfrm>
              <a:off x="2544" y="2568"/>
              <a:ext cx="38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104" name="Line 179"/>
            <p:cNvSpPr/>
            <p:nvPr/>
          </p:nvSpPr>
          <p:spPr>
            <a:xfrm flipH="1">
              <a:off x="1776" y="2568"/>
              <a:ext cx="38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5105" name="Group 180"/>
            <p:cNvGrpSpPr/>
            <p:nvPr/>
          </p:nvGrpSpPr>
          <p:grpSpPr>
            <a:xfrm>
              <a:off x="3456" y="2976"/>
              <a:ext cx="624" cy="336"/>
              <a:chOff x="912" y="624"/>
              <a:chExt cx="624" cy="336"/>
            </a:xfrm>
          </p:grpSpPr>
          <p:sp>
            <p:nvSpPr>
              <p:cNvPr id="45118" name="Oval 181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Nov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9" name="Rectangle 182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</a:p>
            </p:txBody>
          </p:sp>
        </p:grpSp>
        <p:sp>
          <p:nvSpPr>
            <p:cNvPr id="45106" name="Line 183"/>
            <p:cNvSpPr/>
            <p:nvPr/>
          </p:nvSpPr>
          <p:spPr>
            <a:xfrm>
              <a:off x="3216" y="2880"/>
              <a:ext cx="43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5107" name="Group 184"/>
            <p:cNvGrpSpPr/>
            <p:nvPr/>
          </p:nvGrpSpPr>
          <p:grpSpPr>
            <a:xfrm>
              <a:off x="2640" y="3360"/>
              <a:ext cx="624" cy="336"/>
              <a:chOff x="912" y="624"/>
              <a:chExt cx="624" cy="336"/>
            </a:xfrm>
          </p:grpSpPr>
          <p:sp>
            <p:nvSpPr>
              <p:cNvPr id="45116" name="Oval 185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June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7" name="Rectangle 186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45108" name="Line 187"/>
            <p:cNvSpPr/>
            <p:nvPr/>
          </p:nvSpPr>
          <p:spPr>
            <a:xfrm>
              <a:off x="2736" y="3289"/>
              <a:ext cx="96" cy="21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5109" name="Group 188"/>
            <p:cNvGrpSpPr/>
            <p:nvPr/>
          </p:nvGrpSpPr>
          <p:grpSpPr>
            <a:xfrm>
              <a:off x="2064" y="2256"/>
              <a:ext cx="624" cy="336"/>
              <a:chOff x="2448" y="2520"/>
              <a:chExt cx="624" cy="336"/>
            </a:xfrm>
          </p:grpSpPr>
          <p:sp>
            <p:nvSpPr>
              <p:cNvPr id="45114" name="Oval 189"/>
              <p:cNvSpPr/>
              <p:nvPr/>
            </p:nvSpPr>
            <p:spPr>
              <a:xfrm>
                <a:off x="2448" y="2664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Jan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5" name="Rectangle 190"/>
              <p:cNvSpPr/>
              <p:nvPr/>
            </p:nvSpPr>
            <p:spPr>
              <a:xfrm>
                <a:off x="2592" y="2520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5110" name="Group 191"/>
            <p:cNvGrpSpPr/>
            <p:nvPr/>
          </p:nvGrpSpPr>
          <p:grpSpPr>
            <a:xfrm flipH="1">
              <a:off x="3312" y="3360"/>
              <a:ext cx="624" cy="336"/>
              <a:chOff x="912" y="624"/>
              <a:chExt cx="624" cy="336"/>
            </a:xfrm>
          </p:grpSpPr>
          <p:sp>
            <p:nvSpPr>
              <p:cNvPr id="45112" name="Oval 192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May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3" name="Rectangle 193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45111" name="Line 194"/>
            <p:cNvSpPr/>
            <p:nvPr/>
          </p:nvSpPr>
          <p:spPr>
            <a:xfrm flipH="1">
              <a:off x="3744" y="3312"/>
              <a:ext cx="48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3122" name="Group 195"/>
          <p:cNvGrpSpPr/>
          <p:nvPr/>
        </p:nvGrpSpPr>
        <p:grpSpPr>
          <a:xfrm>
            <a:off x="7162800" y="3924300"/>
            <a:ext cx="1066800" cy="609600"/>
            <a:chOff x="1440" y="912"/>
            <a:chExt cx="672" cy="384"/>
          </a:xfrm>
        </p:grpSpPr>
        <p:grpSp>
          <p:nvGrpSpPr>
            <p:cNvPr id="45088" name="Group 196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45090" name="Oval 197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Sept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91" name="Rectangle 198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45089" name="Line 199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160" name="Rectangle 200"/>
          <p:cNvSpPr/>
          <p:nvPr/>
        </p:nvSpPr>
        <p:spPr>
          <a:xfrm>
            <a:off x="6858000" y="3352800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161" name="Rectangle 201"/>
          <p:cNvSpPr/>
          <p:nvPr/>
        </p:nvSpPr>
        <p:spPr>
          <a:xfrm>
            <a:off x="5943600" y="2819400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162" name="Rectangle 202"/>
          <p:cNvSpPr/>
          <p:nvPr/>
        </p:nvSpPr>
        <p:spPr>
          <a:xfrm>
            <a:off x="4800600" y="2168525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163" name="Rectangle 203"/>
          <p:cNvSpPr/>
          <p:nvPr/>
        </p:nvSpPr>
        <p:spPr>
          <a:xfrm>
            <a:off x="3657600" y="1676400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164" name="AutoShape 204"/>
          <p:cNvSpPr/>
          <p:nvPr/>
        </p:nvSpPr>
        <p:spPr>
          <a:xfrm>
            <a:off x="1600200" y="4114800"/>
            <a:ext cx="4724400" cy="1905000"/>
          </a:xfrm>
          <a:prstGeom prst="wedgeEllipseCallout">
            <a:avLst>
              <a:gd name="adj1" fmla="val 72815"/>
              <a:gd name="adj2" fmla="val -35583"/>
            </a:avLst>
          </a:prstGeom>
          <a:gradFill rotWithShape="0">
            <a:gsLst>
              <a:gs pos="0">
                <a:srgbClr val="FFFFFF"/>
              </a:gs>
              <a:gs pos="100000">
                <a:srgbClr val="DBDBDB"/>
              </a:gs>
            </a:gsLst>
            <a:lin ang="189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Note: Several bf’s 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might be changed even if 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we don’t need to reconstruct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the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0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10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41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410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410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10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41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41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41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1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3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41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3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3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411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0" dur="500"/>
                                        <p:tgtEl>
                                          <p:spTgt spid="411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4" dur="500"/>
                                        <p:tgtEl>
                                          <p:spTgt spid="411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1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8" dur="500"/>
                                        <p:tgtEl>
                                          <p:spTgt spid="411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3" dur="500"/>
                                        <p:tgtEl>
                                          <p:spTgt spid="411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2" grpId="0" animBg="1"/>
      <p:bldP spid="41023" grpId="0" animBg="1"/>
      <p:bldP spid="41024" grpId="0" animBg="1"/>
      <p:bldP spid="41030" grpId="0" animBg="1"/>
      <p:bldP spid="41031" grpId="0" animBg="1"/>
      <p:bldP spid="41032" grpId="0" animBg="1"/>
      <p:bldP spid="41033" grpId="0" animBg="1"/>
      <p:bldP spid="41034" grpId="0" animBg="1"/>
      <p:bldP spid="41035" grpId="0" animBg="1"/>
      <p:bldP spid="41036" grpId="0" animBg="1"/>
      <p:bldP spid="41037" grpId="0" animBg="1"/>
      <p:bldP spid="41094" grpId="0" animBg="1"/>
      <p:bldP spid="41095" grpId="0" animBg="1"/>
      <p:bldP spid="41096" grpId="0" animBg="1"/>
      <p:bldP spid="41097" grpId="0" animBg="1"/>
      <p:bldP spid="41098" grpId="0" animBg="1"/>
      <p:bldP spid="41099" grpId="0" animBg="1"/>
      <p:bldP spid="41100" grpId="0" animBg="1"/>
      <p:bldP spid="41101" grpId="0" animBg="1"/>
      <p:bldP spid="41160" grpId="0" animBg="1"/>
      <p:bldP spid="41161" grpId="0" animBg="1"/>
      <p:bldP spid="41162" grpId="0" animBg="1"/>
      <p:bldP spid="41163" grpId="0" animBg="1"/>
      <p:bldP spid="4116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3"/>
          <p:cNvGrpSpPr/>
          <p:nvPr/>
        </p:nvGrpSpPr>
        <p:grpSpPr>
          <a:xfrm>
            <a:off x="1371600" y="1524000"/>
            <a:ext cx="5105400" cy="2209800"/>
            <a:chOff x="1152" y="2160"/>
            <a:chExt cx="3216" cy="1392"/>
          </a:xfrm>
        </p:grpSpPr>
        <p:grpSp>
          <p:nvGrpSpPr>
            <p:cNvPr id="46226" name="Group 4"/>
            <p:cNvGrpSpPr/>
            <p:nvPr/>
          </p:nvGrpSpPr>
          <p:grpSpPr>
            <a:xfrm>
              <a:off x="3264" y="3120"/>
              <a:ext cx="672" cy="384"/>
              <a:chOff x="1440" y="912"/>
              <a:chExt cx="672" cy="384"/>
            </a:xfrm>
          </p:grpSpPr>
          <p:grpSp>
            <p:nvGrpSpPr>
              <p:cNvPr id="46280" name="Group 5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282" name="Oval 6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July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283" name="Rectangle 7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81" name="Line 8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227" name="Group 9"/>
            <p:cNvGrpSpPr/>
            <p:nvPr/>
          </p:nvGrpSpPr>
          <p:grpSpPr>
            <a:xfrm>
              <a:off x="1152" y="2496"/>
              <a:ext cx="2208" cy="1056"/>
              <a:chOff x="1152" y="2496"/>
              <a:chExt cx="2208" cy="1056"/>
            </a:xfrm>
          </p:grpSpPr>
          <p:grpSp>
            <p:nvGrpSpPr>
              <p:cNvPr id="46248" name="Group 10"/>
              <p:cNvGrpSpPr/>
              <p:nvPr/>
            </p:nvGrpSpPr>
            <p:grpSpPr>
              <a:xfrm flipH="1">
                <a:off x="1584" y="2496"/>
                <a:ext cx="1200" cy="672"/>
                <a:chOff x="4176" y="768"/>
                <a:chExt cx="1200" cy="672"/>
              </a:xfrm>
            </p:grpSpPr>
            <p:grpSp>
              <p:nvGrpSpPr>
                <p:cNvPr id="46269" name="Group 11"/>
                <p:cNvGrpSpPr/>
                <p:nvPr/>
              </p:nvGrpSpPr>
              <p:grpSpPr>
                <a:xfrm>
                  <a:off x="4176" y="768"/>
                  <a:ext cx="624" cy="336"/>
                  <a:chOff x="912" y="624"/>
                  <a:chExt cx="624" cy="336"/>
                </a:xfrm>
              </p:grpSpPr>
              <p:sp>
                <p:nvSpPr>
                  <p:cNvPr id="46278" name="Oval 12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Dec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279" name="Rectangle 13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270" name="Rectangle 14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6271" name="Group 15"/>
                <p:cNvGrpSpPr/>
                <p:nvPr/>
              </p:nvGrpSpPr>
              <p:grpSpPr>
                <a:xfrm>
                  <a:off x="4704" y="1056"/>
                  <a:ext cx="672" cy="384"/>
                  <a:chOff x="1440" y="912"/>
                  <a:chExt cx="672" cy="384"/>
                </a:xfrm>
              </p:grpSpPr>
              <p:grpSp>
                <p:nvGrpSpPr>
                  <p:cNvPr id="46274" name="Group 16"/>
                  <p:cNvGrpSpPr/>
                  <p:nvPr/>
                </p:nvGrpSpPr>
                <p:grpSpPr>
                  <a:xfrm>
                    <a:off x="1488" y="960"/>
                    <a:ext cx="624" cy="336"/>
                    <a:chOff x="912" y="624"/>
                    <a:chExt cx="624" cy="336"/>
                  </a:xfrm>
                </p:grpSpPr>
                <p:sp>
                  <p:nvSpPr>
                    <p:cNvPr id="46276" name="Oval 17"/>
                    <p:cNvSpPr/>
                    <p:nvPr/>
                  </p:nvSpPr>
                  <p:spPr>
                    <a:xfrm>
                      <a:off x="912" y="768"/>
                      <a:ext cx="624" cy="192"/>
                    </a:xfrm>
                    <a:prstGeom prst="ellipse">
                      <a:avLst/>
                    </a:prstGeom>
                    <a:noFill/>
                    <a:ln w="254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latin typeface="Times New Roman" panose="02020603050405020304" pitchFamily="18" charset="0"/>
                        </a:rPr>
                        <a:t>Aug</a:t>
                      </a:r>
                      <a:endParaRPr lang="en-US" altLang="zh-CN" sz="24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6277" name="Rectangle 18"/>
                    <p:cNvSpPr/>
                    <p:nvPr/>
                  </p:nvSpPr>
                  <p:spPr>
                    <a:xfrm>
                      <a:off x="1056" y="624"/>
                      <a:ext cx="288" cy="144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txBody>
                    <a:bodyPr wrap="none" lIns="0" tIns="46800" rIns="0" bIns="46800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</a:lstStyle>
                    <a:p>
                      <a:pPr marL="0" lvl="0" indent="0" algn="ctr" eaLnBrk="1" hangingPunct="1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46275" name="Line 19"/>
                  <p:cNvSpPr/>
                  <p:nvPr/>
                </p:nvSpPr>
                <p:spPr>
                  <a:xfrm>
                    <a:off x="1440" y="912"/>
                    <a:ext cx="240" cy="192"/>
                  </a:xfrm>
                  <a:prstGeom prst="line">
                    <a:avLst/>
                  </a:prstGeom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46272" name="Rectangle 20"/>
                <p:cNvSpPr/>
                <p:nvPr/>
              </p:nvSpPr>
              <p:spPr>
                <a:xfrm>
                  <a:off x="4944" y="1104"/>
                  <a:ext cx="240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46273" name="Rectangle 21"/>
                <p:cNvSpPr/>
                <p:nvPr/>
              </p:nvSpPr>
              <p:spPr>
                <a:xfrm>
                  <a:off x="4320" y="768"/>
                  <a:ext cx="288" cy="14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</a:t>
                  </a:r>
                  <a:r>
                    <a:rPr lang="en-US" altLang="zh-CN" sz="1800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49" name="Rectangle 22"/>
              <p:cNvSpPr/>
              <p:nvPr/>
            </p:nvSpPr>
            <p:spPr>
              <a:xfrm>
                <a:off x="2304" y="249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6250" name="Group 23"/>
              <p:cNvGrpSpPr/>
              <p:nvPr/>
            </p:nvGrpSpPr>
            <p:grpSpPr>
              <a:xfrm>
                <a:off x="2688" y="2784"/>
                <a:ext cx="672" cy="384"/>
                <a:chOff x="1440" y="912"/>
                <a:chExt cx="672" cy="384"/>
              </a:xfrm>
            </p:grpSpPr>
            <p:grpSp>
              <p:nvGrpSpPr>
                <p:cNvPr id="46265" name="Group 24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6267" name="Oval 25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Jan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268" name="Rectangle 26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266" name="Line 27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6251" name="Rectangle 28"/>
              <p:cNvSpPr/>
              <p:nvPr/>
            </p:nvSpPr>
            <p:spPr>
              <a:xfrm>
                <a:off x="2928" y="2832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252" name="Rectangle 29"/>
              <p:cNvSpPr/>
              <p:nvPr/>
            </p:nvSpPr>
            <p:spPr>
              <a:xfrm>
                <a:off x="2304" y="2496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253" name="Rectangle 30"/>
              <p:cNvSpPr/>
              <p:nvPr/>
            </p:nvSpPr>
            <p:spPr>
              <a:xfrm flipH="1">
                <a:off x="2928" y="283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6254" name="Group 31"/>
              <p:cNvGrpSpPr/>
              <p:nvPr/>
            </p:nvGrpSpPr>
            <p:grpSpPr>
              <a:xfrm flipH="1">
                <a:off x="2160" y="3120"/>
                <a:ext cx="672" cy="384"/>
                <a:chOff x="1440" y="912"/>
                <a:chExt cx="672" cy="384"/>
              </a:xfrm>
            </p:grpSpPr>
            <p:grpSp>
              <p:nvGrpSpPr>
                <p:cNvPr id="46261" name="Group 32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6263" name="Oval 33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Feb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264" name="Rectangle 34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262" name="Line 35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6255" name="Rectangle 36"/>
              <p:cNvSpPr/>
              <p:nvPr/>
            </p:nvSpPr>
            <p:spPr>
              <a:xfrm flipH="1">
                <a:off x="2928" y="2832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6256" name="Group 37"/>
              <p:cNvGrpSpPr/>
              <p:nvPr/>
            </p:nvGrpSpPr>
            <p:grpSpPr>
              <a:xfrm flipH="1">
                <a:off x="1152" y="3168"/>
                <a:ext cx="672" cy="384"/>
                <a:chOff x="1440" y="912"/>
                <a:chExt cx="672" cy="384"/>
              </a:xfrm>
            </p:grpSpPr>
            <p:grpSp>
              <p:nvGrpSpPr>
                <p:cNvPr id="46257" name="Group 38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6259" name="Oval 39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Apr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260" name="Rectangle 40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258" name="Line 41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46228" name="Group 42"/>
            <p:cNvGrpSpPr/>
            <p:nvPr/>
          </p:nvGrpSpPr>
          <p:grpSpPr>
            <a:xfrm>
              <a:off x="2736" y="2160"/>
              <a:ext cx="1200" cy="672"/>
              <a:chOff x="4176" y="768"/>
              <a:chExt cx="1200" cy="672"/>
            </a:xfrm>
          </p:grpSpPr>
          <p:grpSp>
            <p:nvGrpSpPr>
              <p:cNvPr id="46237" name="Group 43"/>
              <p:cNvGrpSpPr/>
              <p:nvPr/>
            </p:nvGrpSpPr>
            <p:grpSpPr>
              <a:xfrm>
                <a:off x="4176" y="768"/>
                <a:ext cx="624" cy="336"/>
                <a:chOff x="912" y="624"/>
                <a:chExt cx="624" cy="336"/>
              </a:xfrm>
            </p:grpSpPr>
            <p:sp>
              <p:nvSpPr>
                <p:cNvPr id="46246" name="Oval 44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Mar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247" name="Rectangle 45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38" name="Rectangle 46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6239" name="Group 47"/>
              <p:cNvGrpSpPr/>
              <p:nvPr/>
            </p:nvGrpSpPr>
            <p:grpSpPr>
              <a:xfrm>
                <a:off x="4704" y="1056"/>
                <a:ext cx="672" cy="384"/>
                <a:chOff x="1440" y="912"/>
                <a:chExt cx="672" cy="384"/>
              </a:xfrm>
            </p:grpSpPr>
            <p:grpSp>
              <p:nvGrpSpPr>
                <p:cNvPr id="46242" name="Group 48"/>
                <p:cNvGrpSpPr/>
                <p:nvPr/>
              </p:nvGrpSpPr>
              <p:grpSpPr>
                <a:xfrm>
                  <a:off x="1488" y="960"/>
                  <a:ext cx="624" cy="336"/>
                  <a:chOff x="912" y="624"/>
                  <a:chExt cx="624" cy="336"/>
                </a:xfrm>
              </p:grpSpPr>
              <p:sp>
                <p:nvSpPr>
                  <p:cNvPr id="46244" name="Oval 49"/>
                  <p:cNvSpPr/>
                  <p:nvPr/>
                </p:nvSpPr>
                <p:spPr>
                  <a:xfrm>
                    <a:off x="912" y="768"/>
                    <a:ext cx="624" cy="192"/>
                  </a:xfrm>
                  <a:prstGeom prst="ellipse">
                    <a:avLst/>
                  </a:prstGeom>
                  <a:noFill/>
                  <a:ln w="254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2000" dirty="0">
                        <a:latin typeface="Times New Roman" panose="02020603050405020304" pitchFamily="18" charset="0"/>
                      </a:rPr>
                      <a:t>May</a:t>
                    </a:r>
                    <a:endParaRPr lang="en-US" altLang="zh-CN" sz="24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245" name="Rectangle 50"/>
                  <p:cNvSpPr/>
                  <p:nvPr/>
                </p:nvSpPr>
                <p:spPr>
                  <a:xfrm>
                    <a:off x="1056" y="624"/>
                    <a:ext cx="288" cy="144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txBody>
                  <a:bodyPr wrap="none" lIns="0" tIns="46800" rIns="0" bIns="46800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</a:lstStyle>
                  <a:p>
                    <a:pPr marL="0" lvl="0" indent="0" algn="ctr" eaLnBrk="1" hangingPunct="1">
                      <a:spcBef>
                        <a:spcPct val="0"/>
                      </a:spcBef>
                      <a:buNone/>
                    </a:pPr>
                    <a:r>
                      <a:rPr lang="en-US" altLang="zh-CN" sz="1800" dirty="0">
                        <a:solidFill>
                          <a:schemeClr val="accent1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1800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243" name="Line 51"/>
                <p:cNvSpPr/>
                <p:nvPr/>
              </p:nvSpPr>
              <p:spPr>
                <a:xfrm>
                  <a:off x="1440" y="912"/>
                  <a:ext cx="240" cy="192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6240" name="Rectangle 52"/>
              <p:cNvSpPr/>
              <p:nvPr/>
            </p:nvSpPr>
            <p:spPr>
              <a:xfrm>
                <a:off x="4944" y="1104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6241" name="Rectangle 53"/>
              <p:cNvSpPr/>
              <p:nvPr/>
            </p:nvSpPr>
            <p:spPr>
              <a:xfrm>
                <a:off x="4320" y="768"/>
                <a:ext cx="288" cy="144"/>
              </a:xfrm>
              <a:prstGeom prst="rect">
                <a:avLst/>
              </a:prstGeom>
              <a:solidFill>
                <a:schemeClr val="bg1"/>
              </a:solidFill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r>
                  <a:rPr lang="en-US" altLang="zh-CN" sz="1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229" name="Rectangle 54"/>
            <p:cNvSpPr/>
            <p:nvPr/>
          </p:nvSpPr>
          <p:spPr>
            <a:xfrm flipH="1">
              <a:off x="2928" y="2160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6230" name="Line 55"/>
            <p:cNvSpPr/>
            <p:nvPr/>
          </p:nvSpPr>
          <p:spPr>
            <a:xfrm flipH="1">
              <a:off x="2592" y="2448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31" name="Rectangle 56"/>
            <p:cNvSpPr/>
            <p:nvPr/>
          </p:nvSpPr>
          <p:spPr>
            <a:xfrm flipH="1">
              <a:off x="2928" y="2160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6232" name="Group 57"/>
            <p:cNvGrpSpPr/>
            <p:nvPr/>
          </p:nvGrpSpPr>
          <p:grpSpPr>
            <a:xfrm>
              <a:off x="3696" y="2832"/>
              <a:ext cx="672" cy="384"/>
              <a:chOff x="1440" y="912"/>
              <a:chExt cx="672" cy="384"/>
            </a:xfrm>
          </p:grpSpPr>
          <p:grpSp>
            <p:nvGrpSpPr>
              <p:cNvPr id="46233" name="Group 58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235" name="Oval 59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Nov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236" name="Rectangle 60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34" name="Line 61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1022" name="Oval 62"/>
          <p:cNvSpPr/>
          <p:nvPr/>
        </p:nvSpPr>
        <p:spPr>
          <a:xfrm>
            <a:off x="609600" y="10668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June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1023" name="Oval 63"/>
          <p:cNvSpPr/>
          <p:nvPr/>
        </p:nvSpPr>
        <p:spPr>
          <a:xfrm>
            <a:off x="1828800" y="10668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Oct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1024" name="Oval 64"/>
          <p:cNvSpPr/>
          <p:nvPr/>
        </p:nvSpPr>
        <p:spPr>
          <a:xfrm>
            <a:off x="2971800" y="1066800"/>
            <a:ext cx="990600" cy="3048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Sept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22" name="Group 65"/>
          <p:cNvGrpSpPr/>
          <p:nvPr/>
        </p:nvGrpSpPr>
        <p:grpSpPr>
          <a:xfrm>
            <a:off x="5486400" y="3657600"/>
            <a:ext cx="1066800" cy="609600"/>
            <a:chOff x="1440" y="912"/>
            <a:chExt cx="672" cy="384"/>
          </a:xfrm>
        </p:grpSpPr>
        <p:grpSp>
          <p:nvGrpSpPr>
            <p:cNvPr id="46222" name="Group 66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46224" name="Oval 67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June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225" name="Rectangle 68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223" name="Line 69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030" name="Rectangle 70"/>
          <p:cNvSpPr/>
          <p:nvPr/>
        </p:nvSpPr>
        <p:spPr>
          <a:xfrm>
            <a:off x="5105400" y="31242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1" name="Rectangle 71"/>
          <p:cNvSpPr/>
          <p:nvPr/>
        </p:nvSpPr>
        <p:spPr>
          <a:xfrm>
            <a:off x="4267200" y="25908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2" name="Rectangle 72"/>
          <p:cNvSpPr/>
          <p:nvPr/>
        </p:nvSpPr>
        <p:spPr>
          <a:xfrm>
            <a:off x="3276600" y="20574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033" name="Rectangle 73"/>
          <p:cNvSpPr/>
          <p:nvPr/>
        </p:nvSpPr>
        <p:spPr>
          <a:xfrm>
            <a:off x="4267200" y="15240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endParaRPr lang="en-US" altLang="zh-CN" sz="1800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34" name="Oval 74"/>
          <p:cNvSpPr/>
          <p:nvPr/>
        </p:nvSpPr>
        <p:spPr>
          <a:xfrm>
            <a:off x="3886200" y="1752600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35" name="Oval 75"/>
          <p:cNvSpPr/>
          <p:nvPr/>
        </p:nvSpPr>
        <p:spPr>
          <a:xfrm>
            <a:off x="2971800" y="2286000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36" name="Oval 76"/>
          <p:cNvSpPr/>
          <p:nvPr/>
        </p:nvSpPr>
        <p:spPr>
          <a:xfrm>
            <a:off x="3886200" y="2819400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37" name="Rectangle 77"/>
          <p:cNvSpPr/>
          <p:nvPr/>
        </p:nvSpPr>
        <p:spPr>
          <a:xfrm>
            <a:off x="1295400" y="1447800"/>
            <a:ext cx="5410200" cy="2895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4" name="Group 78"/>
          <p:cNvGrpSpPr/>
          <p:nvPr/>
        </p:nvGrpSpPr>
        <p:grpSpPr>
          <a:xfrm>
            <a:off x="1066800" y="1524000"/>
            <a:ext cx="6019800" cy="2247900"/>
            <a:chOff x="816" y="2520"/>
            <a:chExt cx="3792" cy="1416"/>
          </a:xfrm>
        </p:grpSpPr>
        <p:grpSp>
          <p:nvGrpSpPr>
            <p:cNvPr id="46172" name="Group 79"/>
            <p:cNvGrpSpPr/>
            <p:nvPr/>
          </p:nvGrpSpPr>
          <p:grpSpPr>
            <a:xfrm>
              <a:off x="3936" y="3552"/>
              <a:ext cx="672" cy="384"/>
              <a:chOff x="1440" y="912"/>
              <a:chExt cx="672" cy="384"/>
            </a:xfrm>
          </p:grpSpPr>
          <p:grpSp>
            <p:nvGrpSpPr>
              <p:cNvPr id="46218" name="Group 80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220" name="Oval 81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Nov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221" name="Rectangle 82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19" name="Line 83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173" name="Group 84"/>
            <p:cNvGrpSpPr/>
            <p:nvPr/>
          </p:nvGrpSpPr>
          <p:grpSpPr>
            <a:xfrm flipH="1">
              <a:off x="1680" y="2832"/>
              <a:ext cx="624" cy="336"/>
              <a:chOff x="912" y="624"/>
              <a:chExt cx="624" cy="336"/>
            </a:xfrm>
          </p:grpSpPr>
          <p:sp>
            <p:nvSpPr>
              <p:cNvPr id="46216" name="Oval 85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Dec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217" name="Rectangle 86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74" name="Rectangle 87"/>
            <p:cNvSpPr/>
            <p:nvPr/>
          </p:nvSpPr>
          <p:spPr>
            <a:xfrm flipH="1">
              <a:off x="1872" y="2832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6175" name="Group 88"/>
            <p:cNvGrpSpPr/>
            <p:nvPr/>
          </p:nvGrpSpPr>
          <p:grpSpPr>
            <a:xfrm flipH="1">
              <a:off x="1248" y="3168"/>
              <a:ext cx="672" cy="384"/>
              <a:chOff x="1440" y="912"/>
              <a:chExt cx="672" cy="384"/>
            </a:xfrm>
          </p:grpSpPr>
          <p:grpSp>
            <p:nvGrpSpPr>
              <p:cNvPr id="46212" name="Group 89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214" name="Oval 90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Aug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215" name="Rectangle 91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13" name="Line 92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6176" name="Rectangle 93"/>
            <p:cNvSpPr/>
            <p:nvPr/>
          </p:nvSpPr>
          <p:spPr>
            <a:xfrm flipH="1">
              <a:off x="1872" y="2832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6177" name="Rectangle 94"/>
            <p:cNvSpPr/>
            <p:nvPr/>
          </p:nvSpPr>
          <p:spPr>
            <a:xfrm>
              <a:off x="1824" y="2832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6178" name="Group 95"/>
            <p:cNvGrpSpPr/>
            <p:nvPr/>
          </p:nvGrpSpPr>
          <p:grpSpPr>
            <a:xfrm>
              <a:off x="2016" y="3168"/>
              <a:ext cx="672" cy="384"/>
              <a:chOff x="1440" y="912"/>
              <a:chExt cx="672" cy="384"/>
            </a:xfrm>
          </p:grpSpPr>
          <p:grpSp>
            <p:nvGrpSpPr>
              <p:cNvPr id="46208" name="Group 96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210" name="Oval 97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Feb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211" name="Rectangle 98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09" name="Line 99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6179" name="Rectangle 100"/>
            <p:cNvSpPr/>
            <p:nvPr/>
          </p:nvSpPr>
          <p:spPr>
            <a:xfrm>
              <a:off x="1824" y="2832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6180" name="Group 101"/>
            <p:cNvGrpSpPr/>
            <p:nvPr/>
          </p:nvGrpSpPr>
          <p:grpSpPr>
            <a:xfrm flipH="1">
              <a:off x="2736" y="3168"/>
              <a:ext cx="672" cy="384"/>
              <a:chOff x="1440" y="912"/>
              <a:chExt cx="672" cy="384"/>
            </a:xfrm>
          </p:grpSpPr>
          <p:grpSp>
            <p:nvGrpSpPr>
              <p:cNvPr id="46204" name="Group 102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206" name="Oval 103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July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207" name="Rectangle 104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1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05" name="Line 105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181" name="Group 106"/>
            <p:cNvGrpSpPr/>
            <p:nvPr/>
          </p:nvGrpSpPr>
          <p:grpSpPr>
            <a:xfrm flipH="1">
              <a:off x="816" y="3552"/>
              <a:ext cx="672" cy="384"/>
              <a:chOff x="1440" y="912"/>
              <a:chExt cx="672" cy="384"/>
            </a:xfrm>
          </p:grpSpPr>
          <p:grpSp>
            <p:nvGrpSpPr>
              <p:cNvPr id="46200" name="Group 107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202" name="Oval 108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Apr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203" name="Rectangle 109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201" name="Line 110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182" name="Group 111"/>
            <p:cNvGrpSpPr/>
            <p:nvPr/>
          </p:nvGrpSpPr>
          <p:grpSpPr>
            <a:xfrm>
              <a:off x="3120" y="2832"/>
              <a:ext cx="624" cy="336"/>
              <a:chOff x="912" y="624"/>
              <a:chExt cx="624" cy="336"/>
            </a:xfrm>
          </p:grpSpPr>
          <p:sp>
            <p:nvSpPr>
              <p:cNvPr id="46198" name="Oval 112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Mar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99" name="Rectangle 113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83" name="Line 114"/>
            <p:cNvSpPr/>
            <p:nvPr/>
          </p:nvSpPr>
          <p:spPr>
            <a:xfrm>
              <a:off x="2928" y="2832"/>
              <a:ext cx="38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84" name="Line 115"/>
            <p:cNvSpPr/>
            <p:nvPr/>
          </p:nvSpPr>
          <p:spPr>
            <a:xfrm flipH="1">
              <a:off x="2160" y="2832"/>
              <a:ext cx="38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6185" name="Group 116"/>
            <p:cNvGrpSpPr/>
            <p:nvPr/>
          </p:nvGrpSpPr>
          <p:grpSpPr>
            <a:xfrm>
              <a:off x="3504" y="3168"/>
              <a:ext cx="672" cy="384"/>
              <a:chOff x="1440" y="912"/>
              <a:chExt cx="672" cy="384"/>
            </a:xfrm>
          </p:grpSpPr>
          <p:grpSp>
            <p:nvGrpSpPr>
              <p:cNvPr id="46194" name="Group 117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196" name="Oval 118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May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97" name="Rectangle 119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1</a:t>
                  </a:r>
                </a:p>
              </p:txBody>
            </p:sp>
          </p:grpSp>
          <p:sp>
            <p:nvSpPr>
              <p:cNvPr id="46195" name="Line 120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186" name="Group 121"/>
            <p:cNvGrpSpPr/>
            <p:nvPr/>
          </p:nvGrpSpPr>
          <p:grpSpPr>
            <a:xfrm>
              <a:off x="3168" y="3552"/>
              <a:ext cx="672" cy="384"/>
              <a:chOff x="1440" y="912"/>
              <a:chExt cx="672" cy="384"/>
            </a:xfrm>
          </p:grpSpPr>
          <p:grpSp>
            <p:nvGrpSpPr>
              <p:cNvPr id="46190" name="Group 122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192" name="Oval 123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June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93" name="Rectangle 124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191" name="Line 125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187" name="Group 126"/>
            <p:cNvGrpSpPr/>
            <p:nvPr/>
          </p:nvGrpSpPr>
          <p:grpSpPr>
            <a:xfrm>
              <a:off x="2448" y="2520"/>
              <a:ext cx="624" cy="336"/>
              <a:chOff x="2448" y="2520"/>
              <a:chExt cx="624" cy="336"/>
            </a:xfrm>
          </p:grpSpPr>
          <p:sp>
            <p:nvSpPr>
              <p:cNvPr id="46188" name="Oval 127"/>
              <p:cNvSpPr/>
              <p:nvPr/>
            </p:nvSpPr>
            <p:spPr>
              <a:xfrm>
                <a:off x="2448" y="2664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Jan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89" name="Rectangle 128"/>
              <p:cNvSpPr/>
              <p:nvPr/>
            </p:nvSpPr>
            <p:spPr>
              <a:xfrm>
                <a:off x="2592" y="2520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3061" name="Group 129"/>
          <p:cNvGrpSpPr/>
          <p:nvPr/>
        </p:nvGrpSpPr>
        <p:grpSpPr>
          <a:xfrm>
            <a:off x="6781800" y="3733800"/>
            <a:ext cx="1066800" cy="609600"/>
            <a:chOff x="1440" y="912"/>
            <a:chExt cx="672" cy="384"/>
          </a:xfrm>
        </p:grpSpPr>
        <p:grpSp>
          <p:nvGrpSpPr>
            <p:cNvPr id="46168" name="Group 130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46170" name="Oval 131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Oct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71" name="Rectangle 132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69" name="Line 133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094" name="Rectangle 134"/>
          <p:cNvSpPr/>
          <p:nvPr/>
        </p:nvSpPr>
        <p:spPr>
          <a:xfrm>
            <a:off x="6400800" y="3236913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095" name="Rectangle 135"/>
          <p:cNvSpPr/>
          <p:nvPr/>
        </p:nvSpPr>
        <p:spPr>
          <a:xfrm>
            <a:off x="5715000" y="25908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2</a:t>
            </a:r>
            <a:endParaRPr lang="en-US" altLang="zh-CN" sz="1800" dirty="0">
              <a:solidFill>
                <a:schemeClr val="accent1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096" name="Rectangle 136"/>
          <p:cNvSpPr/>
          <p:nvPr/>
        </p:nvSpPr>
        <p:spPr>
          <a:xfrm>
            <a:off x="5029200" y="2017713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097" name="Rectangle 137"/>
          <p:cNvSpPr/>
          <p:nvPr/>
        </p:nvSpPr>
        <p:spPr>
          <a:xfrm>
            <a:off x="3962400" y="1524000"/>
            <a:ext cx="3048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098" name="Oval 138"/>
          <p:cNvSpPr/>
          <p:nvPr/>
        </p:nvSpPr>
        <p:spPr>
          <a:xfrm>
            <a:off x="5410200" y="2855913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099" name="Oval 139"/>
          <p:cNvSpPr/>
          <p:nvPr/>
        </p:nvSpPr>
        <p:spPr>
          <a:xfrm>
            <a:off x="6096000" y="3463925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100" name="Oval 140"/>
          <p:cNvSpPr/>
          <p:nvPr/>
        </p:nvSpPr>
        <p:spPr>
          <a:xfrm>
            <a:off x="6858000" y="4038600"/>
            <a:ext cx="9906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1101" name="Rectangle 141"/>
          <p:cNvSpPr/>
          <p:nvPr/>
        </p:nvSpPr>
        <p:spPr>
          <a:xfrm>
            <a:off x="990600" y="1447800"/>
            <a:ext cx="6934200" cy="29718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43074" name="Group 142"/>
          <p:cNvGrpSpPr/>
          <p:nvPr/>
        </p:nvGrpSpPr>
        <p:grpSpPr>
          <a:xfrm>
            <a:off x="838200" y="1676400"/>
            <a:ext cx="6705600" cy="2286000"/>
            <a:chOff x="432" y="2256"/>
            <a:chExt cx="4224" cy="1440"/>
          </a:xfrm>
        </p:grpSpPr>
        <p:grpSp>
          <p:nvGrpSpPr>
            <p:cNvPr id="46116" name="Group 143"/>
            <p:cNvGrpSpPr/>
            <p:nvPr/>
          </p:nvGrpSpPr>
          <p:grpSpPr>
            <a:xfrm>
              <a:off x="3984" y="3289"/>
              <a:ext cx="672" cy="384"/>
              <a:chOff x="1440" y="912"/>
              <a:chExt cx="672" cy="384"/>
            </a:xfrm>
          </p:grpSpPr>
          <p:grpSp>
            <p:nvGrpSpPr>
              <p:cNvPr id="46164" name="Group 144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166" name="Oval 145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Oct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67" name="Rectangle 146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chemeClr val="accent1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18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165" name="Line 147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117" name="Group 148"/>
            <p:cNvGrpSpPr/>
            <p:nvPr/>
          </p:nvGrpSpPr>
          <p:grpSpPr>
            <a:xfrm flipH="1">
              <a:off x="1296" y="2568"/>
              <a:ext cx="624" cy="336"/>
              <a:chOff x="912" y="624"/>
              <a:chExt cx="624" cy="336"/>
            </a:xfrm>
          </p:grpSpPr>
          <p:sp>
            <p:nvSpPr>
              <p:cNvPr id="46162" name="Oval 149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Dec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63" name="Rectangle 150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18" name="Rectangle 151"/>
            <p:cNvSpPr/>
            <p:nvPr/>
          </p:nvSpPr>
          <p:spPr>
            <a:xfrm flipH="1">
              <a:off x="1488" y="25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6119" name="Group 152"/>
            <p:cNvGrpSpPr/>
            <p:nvPr/>
          </p:nvGrpSpPr>
          <p:grpSpPr>
            <a:xfrm flipH="1">
              <a:off x="864" y="2904"/>
              <a:ext cx="672" cy="384"/>
              <a:chOff x="1440" y="912"/>
              <a:chExt cx="672" cy="384"/>
            </a:xfrm>
          </p:grpSpPr>
          <p:grpSp>
            <p:nvGrpSpPr>
              <p:cNvPr id="46158" name="Group 153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160" name="Oval 154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Aug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61" name="Rectangle 155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46159" name="Line 156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6120" name="Rectangle 157"/>
            <p:cNvSpPr/>
            <p:nvPr/>
          </p:nvSpPr>
          <p:spPr>
            <a:xfrm flipH="1">
              <a:off x="1488" y="25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46121" name="Rectangle 158"/>
            <p:cNvSpPr/>
            <p:nvPr/>
          </p:nvSpPr>
          <p:spPr>
            <a:xfrm>
              <a:off x="1440" y="25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r>
                <a:rPr lang="en-US" altLang="zh-CN" sz="18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6122" name="Group 159"/>
            <p:cNvGrpSpPr/>
            <p:nvPr/>
          </p:nvGrpSpPr>
          <p:grpSpPr>
            <a:xfrm>
              <a:off x="1632" y="2904"/>
              <a:ext cx="672" cy="384"/>
              <a:chOff x="1440" y="912"/>
              <a:chExt cx="672" cy="384"/>
            </a:xfrm>
          </p:grpSpPr>
          <p:grpSp>
            <p:nvGrpSpPr>
              <p:cNvPr id="46154" name="Group 160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156" name="Oval 161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Feb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57" name="Rectangle 162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6155" name="Line 163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6123" name="Rectangle 164"/>
            <p:cNvSpPr/>
            <p:nvPr/>
          </p:nvSpPr>
          <p:spPr>
            <a:xfrm>
              <a:off x="1440" y="2568"/>
              <a:ext cx="288" cy="144"/>
            </a:xfrm>
            <a:prstGeom prst="rect">
              <a:avLst/>
            </a:prstGeom>
            <a:solidFill>
              <a:schemeClr val="bg1"/>
            </a:solidFill>
            <a:ln w="25400">
              <a:noFill/>
            </a:ln>
          </p:spPr>
          <p:txBody>
            <a:bodyPr wrap="none" lIns="0" tIns="46800" rIns="0" bIns="46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solidFill>
                    <a:srgbClr val="0099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6124" name="Group 165"/>
            <p:cNvGrpSpPr/>
            <p:nvPr/>
          </p:nvGrpSpPr>
          <p:grpSpPr>
            <a:xfrm flipH="1">
              <a:off x="2352" y="2904"/>
              <a:ext cx="672" cy="384"/>
              <a:chOff x="1440" y="912"/>
              <a:chExt cx="672" cy="384"/>
            </a:xfrm>
          </p:grpSpPr>
          <p:grpSp>
            <p:nvGrpSpPr>
              <p:cNvPr id="46150" name="Group 166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152" name="Oval 167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July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53" name="Rectangle 168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009900"/>
                      </a:solidFill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1</a:t>
                  </a:r>
                  <a:endParaRPr lang="en-US" altLang="zh-CN" sz="1800" dirty="0">
                    <a:solidFill>
                      <a:srgbClr val="0099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151" name="Line 169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125" name="Group 170"/>
            <p:cNvGrpSpPr/>
            <p:nvPr/>
          </p:nvGrpSpPr>
          <p:grpSpPr>
            <a:xfrm flipH="1">
              <a:off x="432" y="3288"/>
              <a:ext cx="672" cy="384"/>
              <a:chOff x="1440" y="912"/>
              <a:chExt cx="672" cy="384"/>
            </a:xfrm>
          </p:grpSpPr>
          <p:grpSp>
            <p:nvGrpSpPr>
              <p:cNvPr id="46146" name="Group 171"/>
              <p:cNvGrpSpPr/>
              <p:nvPr/>
            </p:nvGrpSpPr>
            <p:grpSpPr>
              <a:xfrm>
                <a:off x="1488" y="960"/>
                <a:ext cx="624" cy="336"/>
                <a:chOff x="912" y="624"/>
                <a:chExt cx="624" cy="336"/>
              </a:xfrm>
            </p:grpSpPr>
            <p:sp>
              <p:nvSpPr>
                <p:cNvPr id="46148" name="Oval 172"/>
                <p:cNvSpPr/>
                <p:nvPr/>
              </p:nvSpPr>
              <p:spPr>
                <a:xfrm>
                  <a:off x="912" y="768"/>
                  <a:ext cx="624" cy="192"/>
                </a:xfrm>
                <a:prstGeom prst="ellipse">
                  <a:avLst/>
                </a:prstGeom>
                <a:noFill/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2000" dirty="0">
                      <a:latin typeface="Times New Roman" panose="02020603050405020304" pitchFamily="18" charset="0"/>
                    </a:rPr>
                    <a:t>Apr</a:t>
                  </a:r>
                  <a:endParaRPr lang="en-US" altLang="zh-CN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149" name="Rectangle 173"/>
                <p:cNvSpPr/>
                <p:nvPr/>
              </p:nvSpPr>
              <p:spPr>
                <a:xfrm>
                  <a:off x="1056" y="624"/>
                  <a:ext cx="288" cy="144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txBody>
                <a:bodyPr wrap="none" lIns="0" tIns="46800" rIns="0" bIns="46800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None/>
                  </a:pPr>
                  <a:r>
                    <a:rPr lang="en-US" altLang="zh-CN" sz="1800" dirty="0">
                      <a:solidFill>
                        <a:srgbClr val="009900"/>
                      </a:solidFill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</p:grpSp>
          <p:sp>
            <p:nvSpPr>
              <p:cNvPr id="46147" name="Line 174"/>
              <p:cNvSpPr/>
              <p:nvPr/>
            </p:nvSpPr>
            <p:spPr>
              <a:xfrm>
                <a:off x="1440" y="912"/>
                <a:ext cx="240" cy="19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126" name="Group 175"/>
            <p:cNvGrpSpPr/>
            <p:nvPr/>
          </p:nvGrpSpPr>
          <p:grpSpPr>
            <a:xfrm>
              <a:off x="2736" y="2568"/>
              <a:ext cx="624" cy="336"/>
              <a:chOff x="912" y="624"/>
              <a:chExt cx="624" cy="336"/>
            </a:xfrm>
          </p:grpSpPr>
          <p:sp>
            <p:nvSpPr>
              <p:cNvPr id="46144" name="Oval 176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Mar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45" name="Rectangle 177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127" name="Line 178"/>
            <p:cNvSpPr/>
            <p:nvPr/>
          </p:nvSpPr>
          <p:spPr>
            <a:xfrm>
              <a:off x="2544" y="2568"/>
              <a:ext cx="38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8" name="Line 179"/>
            <p:cNvSpPr/>
            <p:nvPr/>
          </p:nvSpPr>
          <p:spPr>
            <a:xfrm flipH="1">
              <a:off x="1776" y="2568"/>
              <a:ext cx="384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6129" name="Group 180"/>
            <p:cNvGrpSpPr/>
            <p:nvPr/>
          </p:nvGrpSpPr>
          <p:grpSpPr>
            <a:xfrm>
              <a:off x="3456" y="2976"/>
              <a:ext cx="624" cy="336"/>
              <a:chOff x="912" y="624"/>
              <a:chExt cx="624" cy="336"/>
            </a:xfrm>
          </p:grpSpPr>
          <p:sp>
            <p:nvSpPr>
              <p:cNvPr id="46142" name="Oval 181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Nov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43" name="Rectangle 182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0</a:t>
                </a:r>
              </a:p>
            </p:txBody>
          </p:sp>
        </p:grpSp>
        <p:sp>
          <p:nvSpPr>
            <p:cNvPr id="46130" name="Line 183"/>
            <p:cNvSpPr/>
            <p:nvPr/>
          </p:nvSpPr>
          <p:spPr>
            <a:xfrm>
              <a:off x="3216" y="2880"/>
              <a:ext cx="43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6131" name="Group 184"/>
            <p:cNvGrpSpPr/>
            <p:nvPr/>
          </p:nvGrpSpPr>
          <p:grpSpPr>
            <a:xfrm>
              <a:off x="2640" y="3360"/>
              <a:ext cx="624" cy="336"/>
              <a:chOff x="912" y="624"/>
              <a:chExt cx="624" cy="336"/>
            </a:xfrm>
          </p:grpSpPr>
          <p:sp>
            <p:nvSpPr>
              <p:cNvPr id="46140" name="Oval 185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June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41" name="Rectangle 186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46132" name="Line 187"/>
            <p:cNvSpPr/>
            <p:nvPr/>
          </p:nvSpPr>
          <p:spPr>
            <a:xfrm>
              <a:off x="2736" y="3289"/>
              <a:ext cx="96" cy="21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6133" name="Group 188"/>
            <p:cNvGrpSpPr/>
            <p:nvPr/>
          </p:nvGrpSpPr>
          <p:grpSpPr>
            <a:xfrm>
              <a:off x="2064" y="2256"/>
              <a:ext cx="624" cy="336"/>
              <a:chOff x="2448" y="2520"/>
              <a:chExt cx="624" cy="336"/>
            </a:xfrm>
          </p:grpSpPr>
          <p:sp>
            <p:nvSpPr>
              <p:cNvPr id="46138" name="Oval 189"/>
              <p:cNvSpPr/>
              <p:nvPr/>
            </p:nvSpPr>
            <p:spPr>
              <a:xfrm>
                <a:off x="2448" y="2664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Jan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39" name="Rectangle 190"/>
              <p:cNvSpPr/>
              <p:nvPr/>
            </p:nvSpPr>
            <p:spPr>
              <a:xfrm>
                <a:off x="2592" y="2520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8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6134" name="Group 191"/>
            <p:cNvGrpSpPr/>
            <p:nvPr/>
          </p:nvGrpSpPr>
          <p:grpSpPr>
            <a:xfrm flipH="1">
              <a:off x="3312" y="3360"/>
              <a:ext cx="624" cy="336"/>
              <a:chOff x="912" y="624"/>
              <a:chExt cx="624" cy="336"/>
            </a:xfrm>
          </p:grpSpPr>
          <p:sp>
            <p:nvSpPr>
              <p:cNvPr id="46136" name="Oval 192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May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37" name="Rectangle 193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46135" name="Line 194"/>
            <p:cNvSpPr/>
            <p:nvPr/>
          </p:nvSpPr>
          <p:spPr>
            <a:xfrm flipH="1">
              <a:off x="3744" y="3312"/>
              <a:ext cx="48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3122" name="Group 195"/>
          <p:cNvGrpSpPr/>
          <p:nvPr/>
        </p:nvGrpSpPr>
        <p:grpSpPr>
          <a:xfrm>
            <a:off x="7162800" y="3924300"/>
            <a:ext cx="1066800" cy="609600"/>
            <a:chOff x="1440" y="912"/>
            <a:chExt cx="672" cy="384"/>
          </a:xfrm>
        </p:grpSpPr>
        <p:grpSp>
          <p:nvGrpSpPr>
            <p:cNvPr id="46112" name="Group 196"/>
            <p:cNvGrpSpPr/>
            <p:nvPr/>
          </p:nvGrpSpPr>
          <p:grpSpPr>
            <a:xfrm>
              <a:off x="1488" y="960"/>
              <a:ext cx="624" cy="336"/>
              <a:chOff x="912" y="624"/>
              <a:chExt cx="624" cy="336"/>
            </a:xfrm>
          </p:grpSpPr>
          <p:sp>
            <p:nvSpPr>
              <p:cNvPr id="46114" name="Oval 197"/>
              <p:cNvSpPr/>
              <p:nvPr/>
            </p:nvSpPr>
            <p:spPr>
              <a:xfrm>
                <a:off x="912" y="768"/>
                <a:ext cx="624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Sept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115" name="Rectangle 198"/>
              <p:cNvSpPr/>
              <p:nvPr/>
            </p:nvSpPr>
            <p:spPr>
              <a:xfrm>
                <a:off x="1056" y="624"/>
                <a:ext cx="288" cy="14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lIns="0" tIns="46800" rIns="0" bIns="46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dirty="0">
                    <a:solidFill>
                      <a:srgbClr val="0099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</p:grpSp>
        <p:sp>
          <p:nvSpPr>
            <p:cNvPr id="46113" name="Line 199"/>
            <p:cNvSpPr/>
            <p:nvPr/>
          </p:nvSpPr>
          <p:spPr>
            <a:xfrm>
              <a:off x="1440" y="912"/>
              <a:ext cx="24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160" name="Rectangle 200"/>
          <p:cNvSpPr/>
          <p:nvPr/>
        </p:nvSpPr>
        <p:spPr>
          <a:xfrm>
            <a:off x="6858000" y="3352800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161" name="Rectangle 201"/>
          <p:cNvSpPr/>
          <p:nvPr/>
        </p:nvSpPr>
        <p:spPr>
          <a:xfrm>
            <a:off x="5943600" y="2819400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162" name="Rectangle 202"/>
          <p:cNvSpPr/>
          <p:nvPr/>
        </p:nvSpPr>
        <p:spPr>
          <a:xfrm>
            <a:off x="4800600" y="2168525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163" name="Rectangle 203"/>
          <p:cNvSpPr/>
          <p:nvPr/>
        </p:nvSpPr>
        <p:spPr>
          <a:xfrm>
            <a:off x="3657600" y="1676400"/>
            <a:ext cx="381000" cy="228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</a:p>
        </p:txBody>
      </p:sp>
      <p:sp>
        <p:nvSpPr>
          <p:cNvPr id="41164" name="AutoShape 204"/>
          <p:cNvSpPr/>
          <p:nvPr/>
        </p:nvSpPr>
        <p:spPr>
          <a:xfrm>
            <a:off x="1600200" y="4114800"/>
            <a:ext cx="4724400" cy="1905000"/>
          </a:xfrm>
          <a:prstGeom prst="wedgeEllipseCallout">
            <a:avLst>
              <a:gd name="adj1" fmla="val 72815"/>
              <a:gd name="adj2" fmla="val -35583"/>
            </a:avLst>
          </a:prstGeom>
          <a:gradFill rotWithShape="0">
            <a:gsLst>
              <a:gs pos="0">
                <a:srgbClr val="FFFFFF"/>
              </a:gs>
              <a:gs pos="100000">
                <a:srgbClr val="DBDBDB"/>
              </a:gs>
            </a:gsLst>
            <a:lin ang="189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46800" rIns="0" bIns="46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Note: Several bf’s 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might be changed even if 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we don’t need to reconstruct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the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0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10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41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410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410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410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41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41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41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1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3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41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3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3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411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0" dur="500"/>
                                        <p:tgtEl>
                                          <p:spTgt spid="411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4" dur="500"/>
                                        <p:tgtEl>
                                          <p:spTgt spid="411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1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8" dur="500"/>
                                        <p:tgtEl>
                                          <p:spTgt spid="411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3" dur="500"/>
                                        <p:tgtEl>
                                          <p:spTgt spid="411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2" grpId="0" animBg="1"/>
      <p:bldP spid="41023" grpId="0" animBg="1"/>
      <p:bldP spid="41024" grpId="0" animBg="1"/>
      <p:bldP spid="41030" grpId="0" animBg="1"/>
      <p:bldP spid="41031" grpId="0" animBg="1"/>
      <p:bldP spid="41032" grpId="0" animBg="1"/>
      <p:bldP spid="41033" grpId="0" animBg="1"/>
      <p:bldP spid="41034" grpId="0" animBg="1"/>
      <p:bldP spid="41035" grpId="0" animBg="1"/>
      <p:bldP spid="41036" grpId="0" animBg="1"/>
      <p:bldP spid="41037" grpId="0" animBg="1"/>
      <p:bldP spid="41094" grpId="0" animBg="1"/>
      <p:bldP spid="41095" grpId="0" animBg="1"/>
      <p:bldP spid="41096" grpId="0" animBg="1"/>
      <p:bldP spid="41097" grpId="0" animBg="1"/>
      <p:bldP spid="41098" grpId="0" animBg="1"/>
      <p:bldP spid="41099" grpId="0" animBg="1"/>
      <p:bldP spid="41100" grpId="0" animBg="1"/>
      <p:bldP spid="41101" grpId="0" animBg="1"/>
      <p:bldP spid="41160" grpId="0" animBg="1"/>
      <p:bldP spid="41161" grpId="0" animBg="1"/>
      <p:bldP spid="41162" grpId="0" animBg="1"/>
      <p:bldP spid="41163" grpId="0" animBg="1"/>
      <p:bldP spid="4116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AutoShape 3"/>
          <p:cNvSpPr/>
          <p:nvPr/>
        </p:nvSpPr>
        <p:spPr>
          <a:xfrm>
            <a:off x="504190" y="457835"/>
            <a:ext cx="8136255" cy="2498090"/>
          </a:xfrm>
          <a:prstGeom prst="foldedCorner">
            <a:avLst>
              <a:gd name="adj" fmla="val 9009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08000" tIns="82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Static Position DoubleRotateWithLeft(Position K3)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K3-&gt;Left=SingleLeftRotate(K3-&gt;Left);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return SingleRightRotate(K3);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}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02435" y="3168650"/>
            <a:ext cx="4319270" cy="3294380"/>
            <a:chOff x="2680" y="2280"/>
            <a:chExt cx="8150" cy="6938"/>
          </a:xfrm>
        </p:grpSpPr>
        <p:sp>
          <p:nvSpPr>
            <p:cNvPr id="35843" name="Oval 3"/>
            <p:cNvSpPr/>
            <p:nvPr/>
          </p:nvSpPr>
          <p:spPr>
            <a:xfrm>
              <a:off x="7053" y="2883"/>
              <a:ext cx="1092" cy="1055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5844" name="Text Box 4"/>
            <p:cNvSpPr txBox="1"/>
            <p:nvPr/>
          </p:nvSpPr>
          <p:spPr>
            <a:xfrm>
              <a:off x="7368" y="2851"/>
              <a:ext cx="670" cy="9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400" i="1" dirty="0">
                  <a:latin typeface="Arial" panose="020B0604020202020204" pitchFamily="34" charset="0"/>
                </a:rPr>
                <a:t>j</a:t>
              </a:r>
            </a:p>
          </p:txBody>
        </p:sp>
        <p:sp>
          <p:nvSpPr>
            <p:cNvPr id="35845" name="Oval 5"/>
            <p:cNvSpPr/>
            <p:nvPr/>
          </p:nvSpPr>
          <p:spPr>
            <a:xfrm>
              <a:off x="4868" y="4610"/>
              <a:ext cx="1092" cy="1055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5846" name="Text Box 6"/>
            <p:cNvSpPr txBox="1"/>
            <p:nvPr/>
          </p:nvSpPr>
          <p:spPr>
            <a:xfrm>
              <a:off x="5060" y="4587"/>
              <a:ext cx="665" cy="9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2400" i="1" dirty="0">
                  <a:latin typeface="Arial" panose="020B0604020202020204" pitchFamily="34" charset="0"/>
                </a:rPr>
                <a:t>k</a:t>
              </a:r>
            </a:p>
          </p:txBody>
        </p:sp>
        <p:cxnSp>
          <p:nvCxnSpPr>
            <p:cNvPr id="35847" name="AutoShape 7"/>
            <p:cNvCxnSpPr>
              <a:stCxn id="35843" idx="3"/>
              <a:endCxn id="35845" idx="7"/>
            </p:cNvCxnSpPr>
            <p:nvPr/>
          </p:nvCxnSpPr>
          <p:spPr>
            <a:xfrm flipH="1">
              <a:off x="5800" y="3785"/>
              <a:ext cx="1413" cy="98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5848" name="AutoShape 8"/>
            <p:cNvSpPr/>
            <p:nvPr/>
          </p:nvSpPr>
          <p:spPr>
            <a:xfrm>
              <a:off x="2680" y="6338"/>
              <a:ext cx="2088" cy="163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cxnSp>
          <p:nvCxnSpPr>
            <p:cNvPr id="35849" name="AutoShape 9"/>
            <p:cNvCxnSpPr>
              <a:stCxn id="35845" idx="3"/>
              <a:endCxn id="35848" idx="0"/>
            </p:cNvCxnSpPr>
            <p:nvPr/>
          </p:nvCxnSpPr>
          <p:spPr>
            <a:xfrm flipH="1">
              <a:off x="3723" y="5513"/>
              <a:ext cx="1302" cy="825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5851" name="AutoShape 11"/>
            <p:cNvSpPr/>
            <p:nvPr/>
          </p:nvSpPr>
          <p:spPr>
            <a:xfrm>
              <a:off x="6158" y="6433"/>
              <a:ext cx="1987" cy="2785"/>
            </a:xfrm>
            <a:prstGeom prst="triangle">
              <a:avLst>
                <a:gd name="adj" fmla="val 50000"/>
              </a:avLst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5853" name="AutoShape 13"/>
            <p:cNvSpPr/>
            <p:nvPr/>
          </p:nvSpPr>
          <p:spPr>
            <a:xfrm>
              <a:off x="8743" y="5185"/>
              <a:ext cx="2087" cy="163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cxnSp>
          <p:nvCxnSpPr>
            <p:cNvPr id="35855" name="AutoShape 15"/>
            <p:cNvCxnSpPr>
              <a:stCxn id="35845" idx="5"/>
              <a:endCxn id="35851" idx="0"/>
            </p:cNvCxnSpPr>
            <p:nvPr/>
          </p:nvCxnSpPr>
          <p:spPr>
            <a:xfrm>
              <a:off x="5800" y="5513"/>
              <a:ext cx="1353" cy="92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5856" name="AutoShape 16"/>
            <p:cNvCxnSpPr>
              <a:stCxn id="35843" idx="5"/>
              <a:endCxn id="35853" idx="0"/>
            </p:cNvCxnSpPr>
            <p:nvPr/>
          </p:nvCxnSpPr>
          <p:spPr>
            <a:xfrm>
              <a:off x="7988" y="3785"/>
              <a:ext cx="1797" cy="1400"/>
            </a:xfrm>
            <a:prstGeom prst="straightConnector1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35862" name="Text Box 23"/>
            <p:cNvSpPr txBox="1"/>
            <p:nvPr/>
          </p:nvSpPr>
          <p:spPr>
            <a:xfrm>
              <a:off x="9960" y="4800"/>
              <a:ext cx="513" cy="8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35863" name="Text Box 25"/>
            <p:cNvSpPr txBox="1"/>
            <p:nvPr/>
          </p:nvSpPr>
          <p:spPr>
            <a:xfrm>
              <a:off x="7560" y="6240"/>
              <a:ext cx="1335" cy="8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h+1</a:t>
              </a:r>
            </a:p>
          </p:txBody>
        </p:sp>
        <p:sp>
          <p:nvSpPr>
            <p:cNvPr id="35864" name="Text Box 26"/>
            <p:cNvSpPr txBox="1"/>
            <p:nvPr/>
          </p:nvSpPr>
          <p:spPr>
            <a:xfrm>
              <a:off x="3960" y="6240"/>
              <a:ext cx="513" cy="84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35865" name="Text Box 26"/>
            <p:cNvSpPr txBox="1"/>
            <p:nvPr/>
          </p:nvSpPr>
          <p:spPr>
            <a:xfrm>
              <a:off x="5040" y="4080"/>
              <a:ext cx="840" cy="7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chemeClr val="hlink"/>
                  </a:solidFill>
                </a:rPr>
                <a:t>-1</a:t>
              </a:r>
            </a:p>
          </p:txBody>
        </p:sp>
        <p:sp>
          <p:nvSpPr>
            <p:cNvPr id="35866" name="Text Box 27"/>
            <p:cNvSpPr txBox="1"/>
            <p:nvPr/>
          </p:nvSpPr>
          <p:spPr>
            <a:xfrm>
              <a:off x="7320" y="2280"/>
              <a:ext cx="840" cy="7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chemeClr val="hlink"/>
                  </a:solidFill>
                </a:rPr>
                <a:t>2</a:t>
              </a:r>
            </a:p>
          </p:txBody>
        </p:sp>
      </p:grpSp>
      <p:cxnSp>
        <p:nvCxnSpPr>
          <p:cNvPr id="26" name="直接箭头连接符 25"/>
          <p:cNvCxnSpPr/>
          <p:nvPr/>
        </p:nvCxnSpPr>
        <p:spPr>
          <a:xfrm flipH="1">
            <a:off x="4612005" y="3706495"/>
            <a:ext cx="533400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9701" name="文本框 26"/>
          <p:cNvSpPr txBox="1"/>
          <p:nvPr/>
        </p:nvSpPr>
        <p:spPr>
          <a:xfrm>
            <a:off x="5086668" y="3484245"/>
            <a:ext cx="1066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</a:rPr>
              <a:t>K3 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AutoShape 3"/>
          <p:cNvSpPr/>
          <p:nvPr/>
        </p:nvSpPr>
        <p:spPr>
          <a:xfrm>
            <a:off x="228600" y="76200"/>
            <a:ext cx="8458200" cy="6705600"/>
          </a:xfrm>
          <a:prstGeom prst="foldedCorner">
            <a:avLst>
              <a:gd name="adj" fmla="val 9009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08000" tIns="82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AvlTree  Insert( ElementType X, AvlTree T 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{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 == NULL ) {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Create and return a one-node tree */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T = malloc(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sizeof</a:t>
            </a:r>
            <a:r>
              <a:rPr lang="en-US" altLang="zh-CN" sz="1800" b="1" dirty="0">
                <a:latin typeface="Arial" panose="020B0604020202020204" pitchFamily="34" charset="0"/>
              </a:rPr>
              <a:t>(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sz="1800" b="1" dirty="0">
                <a:latin typeface="Arial" panose="020B0604020202020204" pitchFamily="34" charset="0"/>
              </a:rPr>
              <a:t> AvlNode )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T == NULL )  FatalError( "Out of space!!!"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{  T-&gt;Data = X; T-&gt;Left = T-&gt;Right = NULL; }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}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End creating a one-node tree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	if</a:t>
            </a:r>
            <a:r>
              <a:rPr lang="en-US" altLang="zh-CN" sz="1800" b="1" dirty="0">
                <a:latin typeface="Arial" panose="020B0604020202020204" pitchFamily="34" charset="0"/>
              </a:rPr>
              <a:t> ( X &lt; T-&gt;Data) {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handle left insertion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T-&gt;Left = Insert( X, T-&gt;Left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Height( T-&gt;Left ) - Height( T-&gt;Right ) == 2 )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not balanced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X &lt; T-&gt;Left-&gt;Data)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LL Rotation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	T = SingleRotateWithLeft( T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LR Rotation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	T = DoubleRotateWithLeft( T ); }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End left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 if</a:t>
            </a:r>
            <a:r>
              <a:rPr lang="en-US" altLang="zh-CN" sz="1800" b="1" dirty="0">
                <a:latin typeface="Arial" panose="020B0604020202020204" pitchFamily="34" charset="0"/>
              </a:rPr>
              <a:t>( X &gt; T-&gt;Data ) {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handle right insertion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T-&gt;Right = Insert( X, T-&gt;Right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 dirty="0">
                <a:latin typeface="Arial" panose="020B0604020202020204" pitchFamily="34" charset="0"/>
              </a:rPr>
              <a:t>( Height( T-&gt;Right ) - Height( T-&gt;Left ) == 2 )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not balanced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b="1" dirty="0">
                <a:latin typeface="Arial" panose="020B0604020202020204" pitchFamily="34" charset="0"/>
              </a:rPr>
              <a:t> ( X &gt; T-&gt;Right-&gt;Element )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RR Rotation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	T = SingleRotateWithRight( T );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  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 dirty="0">
                <a:latin typeface="Arial" panose="020B0604020202020204" pitchFamily="34" charset="0"/>
              </a:rPr>
              <a:t>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RL Rotation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		T = DoubleRotateWithRight( T ); }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End right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	         </a:t>
            </a:r>
            <a:r>
              <a:rPr lang="en-US" altLang="zh-CN" sz="1800" b="1" dirty="0">
                <a:solidFill>
                  <a:srgbClr val="008000"/>
                </a:solidFill>
                <a:latin typeface="Arial" panose="020B0604020202020204" pitchFamily="34" charset="0"/>
              </a:rPr>
              <a:t>/* Else X is in the tree already; we'll do nothing */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    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 dirty="0">
                <a:latin typeface="Arial" panose="020B0604020202020204" pitchFamily="34" charset="0"/>
              </a:rPr>
              <a:t> T;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AutoShape 3"/>
          <p:cNvSpPr/>
          <p:nvPr/>
        </p:nvSpPr>
        <p:spPr>
          <a:xfrm>
            <a:off x="533400" y="457200"/>
            <a:ext cx="5715000" cy="4419600"/>
          </a:xfrm>
          <a:prstGeom prst="foldedCorner">
            <a:avLst>
              <a:gd name="adj" fmla="val 9009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08000" tIns="82800" rIns="36000" bIns="46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Height(Tree T)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{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int hL, hR;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if (T==NULL)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      return -1;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else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   {    hL=Height(T-&gt;Left);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       hR=Height(T-&gt;Right);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       return hL&gt;hR? hL+1:hR+1;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           }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49155" name="文本框 2"/>
          <p:cNvSpPr txBox="1"/>
          <p:nvPr/>
        </p:nvSpPr>
        <p:spPr>
          <a:xfrm>
            <a:off x="228600" y="5029200"/>
            <a:ext cx="8077200" cy="212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/>
              <a:t>Notice: for some text book the height of an empty tree is defined as 0 ( which is defined as -1 int our text book), then the statement </a:t>
            </a:r>
            <a:r>
              <a:rPr lang="en-US" altLang="zh-CN" sz="2400" b="1" dirty="0">
                <a:solidFill>
                  <a:srgbClr val="0066FF"/>
                </a:solidFill>
                <a:latin typeface="Arial" panose="020B0604020202020204" pitchFamily="34" charset="0"/>
              </a:rPr>
              <a:t>if(T==NULL) return -1;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en-US" altLang="zh-CN" sz="2400" dirty="0"/>
              <a:t>should be changed to</a:t>
            </a:r>
            <a:r>
              <a:rPr lang="en-US" altLang="zh-CN" sz="2400" dirty="0">
                <a:solidFill>
                  <a:srgbClr val="0066FF"/>
                </a:solidFill>
              </a:rPr>
              <a:t>: </a:t>
            </a:r>
            <a:r>
              <a:rPr lang="en-US" altLang="zh-CN" sz="2400" b="1" dirty="0">
                <a:solidFill>
                  <a:srgbClr val="0066FF"/>
                </a:solidFill>
                <a:latin typeface="Arial" panose="020B0604020202020204" pitchFamily="34" charset="0"/>
              </a:rPr>
              <a:t>if (T==NULL) return 0;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1800" b="1" dirty="0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AVL Tree Deletion</a:t>
            </a:r>
          </a:p>
        </p:txBody>
      </p:sp>
      <p:sp>
        <p:nvSpPr>
          <p:cNvPr id="50179" name="Rectangle 3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Similar but more complex than insertion</a:t>
            </a:r>
          </a:p>
          <a:p>
            <a:pPr lvl="1" eaLnBrk="1" hangingPunct="1"/>
            <a:r>
              <a:rPr lang="en-US" altLang="zh-CN" dirty="0"/>
              <a:t>Rotations and double rotations needed to rebalance</a:t>
            </a:r>
          </a:p>
          <a:p>
            <a:pPr lvl="1" eaLnBrk="1" hangingPunct="1"/>
            <a:r>
              <a:rPr lang="en-US" altLang="zh-CN" dirty="0"/>
              <a:t>Imbalance may propagate upward so that many rotations may be needed.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AVL Exercise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Given the key sequence </a:t>
            </a:r>
            <a:r>
              <a:rPr kumimoji="0" lang="en-US" altLang="zh-CN" sz="32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4,5,7,2,1,3,6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generate a 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binary search tree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an 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AVL tree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 inserting the keys one by one into an originally empty tree.</a:t>
            </a:r>
          </a:p>
          <a:p>
            <a:pPr marL="514350" marR="0" lvl="0" indent="-514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calculate the 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average searching times</a:t>
            </a:r>
            <a:r>
              <a:rPr kumimoji="0" lang="en-US" altLang="zh-CN" sz="2800" b="0" i="0" u="sng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 the trees obtained in the above question.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en-US" dirty="0"/>
              <a:t>Multi-way Search Trees</a:t>
            </a:r>
          </a:p>
        </p:txBody>
      </p:sp>
      <p:sp>
        <p:nvSpPr>
          <p:cNvPr id="46083" name="Rectangle 3"/>
          <p:cNvSpPr>
            <a:spLocks noGrp="1"/>
          </p:cNvSpPr>
          <p:nvPr>
            <p:ph type="body" sz="half" idx="1"/>
          </p:nvPr>
        </p:nvSpPr>
        <p:spPr>
          <a:xfrm>
            <a:off x="755650" y="1412875"/>
            <a:ext cx="7848600" cy="45720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ClrTx/>
              <a:buSzTx/>
              <a:buFontTx/>
            </a:pPr>
            <a:r>
              <a:rPr lang="en-US" altLang="en-US" sz="2400" dirty="0"/>
              <a:t>Each internal node of a </a:t>
            </a:r>
            <a:r>
              <a:rPr lang="en-US" altLang="en-US" sz="2400" b="1" i="1" dirty="0">
                <a:solidFill>
                  <a:srgbClr val="0066FF"/>
                </a:solidFill>
              </a:rPr>
              <a:t>m</a:t>
            </a:r>
            <a:r>
              <a:rPr lang="en-US" altLang="zh-CN" sz="2400" b="1" i="1" dirty="0">
                <a:solidFill>
                  <a:srgbClr val="0066FF"/>
                </a:solidFill>
              </a:rPr>
              <a:t>-</a:t>
            </a:r>
            <a:r>
              <a:rPr lang="en-US" altLang="en-US" sz="2400" b="1" i="1" dirty="0">
                <a:solidFill>
                  <a:srgbClr val="0066FF"/>
                </a:solidFill>
              </a:rPr>
              <a:t>way</a:t>
            </a:r>
            <a:r>
              <a:rPr lang="en-US" altLang="en-US" sz="2400" dirty="0"/>
              <a:t> search tree T:</a:t>
            </a:r>
          </a:p>
          <a:p>
            <a:pPr lvl="1" eaLnBrk="1" hangingPunct="1"/>
            <a:r>
              <a:rPr lang="en-US" altLang="en-US" sz="2000" dirty="0"/>
              <a:t>has at </a:t>
            </a:r>
            <a:r>
              <a:rPr lang="en-US" altLang="zh-CN" sz="2000" dirty="0"/>
              <a:t>most m</a:t>
            </a:r>
            <a:r>
              <a:rPr lang="en-US" altLang="en-US" sz="2000" dirty="0"/>
              <a:t> children</a:t>
            </a:r>
            <a:r>
              <a:rPr lang="en-US" altLang="zh-CN" sz="2000" dirty="0"/>
              <a:t> (links) and m-1 keys</a:t>
            </a:r>
            <a:endParaRPr lang="en-US" altLang="en-US" sz="2000" dirty="0"/>
          </a:p>
          <a:p>
            <a:pPr lvl="1" eaLnBrk="1" hangingPunct="1"/>
            <a:r>
              <a:rPr lang="en-US" altLang="en-US" sz="2000" dirty="0"/>
              <a:t>stores a collection of items of the form</a:t>
            </a:r>
            <a:r>
              <a:rPr lang="en-US" altLang="zh-CN" sz="2000" dirty="0"/>
              <a:t>: </a:t>
            </a:r>
            <a:r>
              <a:rPr lang="en-US" altLang="zh-CN" sz="2000" dirty="0">
                <a:latin typeface="Times New Roman" panose="02020603050405020304" pitchFamily="18" charset="0"/>
              </a:rPr>
              <a:t>P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,</a:t>
            </a:r>
            <a:r>
              <a:rPr lang="en-US" altLang="en-US" sz="2000" dirty="0">
                <a:latin typeface="Times New Roman" panose="02020603050405020304" pitchFamily="18" charset="0"/>
              </a:rPr>
              <a:t> k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latin typeface="Times New Roman" panose="02020603050405020304" pitchFamily="18" charset="0"/>
              </a:rPr>
              <a:t>,</a:t>
            </a:r>
            <a:r>
              <a:rPr lang="en-US" altLang="zh-CN" sz="2000" dirty="0">
                <a:latin typeface="Times New Roman" panose="02020603050405020304" pitchFamily="18" charset="0"/>
              </a:rPr>
              <a:t> P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</a:rPr>
              <a:t>, </a:t>
            </a:r>
            <a:r>
              <a:rPr lang="en-US" altLang="zh-CN" sz="2000" dirty="0">
                <a:latin typeface="Times New Roman" panose="02020603050405020304" pitchFamily="18" charset="0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, …, P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m-1</a:t>
            </a:r>
            <a:r>
              <a:rPr lang="en-US" altLang="zh-CN" sz="2000" dirty="0">
                <a:latin typeface="Times New Roman" panose="02020603050405020304" pitchFamily="18" charset="0"/>
              </a:rPr>
              <a:t>, k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m-1</a:t>
            </a:r>
            <a:r>
              <a:rPr lang="en-US" altLang="zh-CN" sz="2000" dirty="0">
                <a:latin typeface="Times New Roman" panose="02020603050405020304" pitchFamily="18" charset="0"/>
              </a:rPr>
              <a:t>, P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sz="2000" dirty="0">
                <a:latin typeface="Times New Roman" panose="02020603050405020304" pitchFamily="18" charset="0"/>
              </a:rPr>
              <a:t>,</a:t>
            </a:r>
            <a:r>
              <a:rPr lang="en-US" altLang="zh-CN" sz="2000" dirty="0"/>
              <a:t> </a:t>
            </a:r>
            <a:r>
              <a:rPr lang="en-US" altLang="en-US" sz="2000" dirty="0"/>
              <a:t>where</a:t>
            </a:r>
            <a:r>
              <a:rPr lang="en-US" altLang="en-US" sz="2000" dirty="0">
                <a:latin typeface="Times New Roman" panose="02020603050405020304" pitchFamily="18" charset="0"/>
              </a:rPr>
              <a:t> k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2000" dirty="0"/>
              <a:t> is a key and </a:t>
            </a:r>
            <a:r>
              <a:rPr lang="en-US" altLang="zh-CN" sz="2000" dirty="0">
                <a:latin typeface="Times New Roman" panose="02020603050405020304" pitchFamily="18" charset="0"/>
              </a:rPr>
              <a:t>P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2000" dirty="0"/>
              <a:t> is a</a:t>
            </a:r>
            <a:r>
              <a:rPr lang="en-US" altLang="zh-CN" sz="2000" dirty="0"/>
              <a:t> pointer to subtree </a:t>
            </a:r>
          </a:p>
          <a:p>
            <a:pPr lvl="1" eaLnBrk="1" hangingPunct="1"/>
            <a:r>
              <a:rPr lang="en-US" altLang="zh-CN" sz="2000" dirty="0">
                <a:latin typeface="Times New Roman" panose="02020603050405020304" pitchFamily="18" charset="0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&lt;k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i+1</a:t>
            </a:r>
            <a:r>
              <a:rPr lang="en-US" altLang="zh-CN" sz="2000" dirty="0">
                <a:latin typeface="Times New Roman" panose="02020603050405020304" pitchFamily="18" charset="0"/>
              </a:rPr>
              <a:t>, 1&lt;=i&lt;n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87413" y="4306888"/>
            <a:ext cx="7723187" cy="2322512"/>
            <a:chOff x="887413" y="4306888"/>
            <a:chExt cx="7723187" cy="2322512"/>
          </a:xfrm>
        </p:grpSpPr>
        <p:sp>
          <p:nvSpPr>
            <p:cNvPr id="52254" name="Oval 9"/>
            <p:cNvSpPr/>
            <p:nvPr/>
          </p:nvSpPr>
          <p:spPr>
            <a:xfrm>
              <a:off x="887413" y="5599113"/>
              <a:ext cx="2008187" cy="1030287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55" name="Oval 10"/>
            <p:cNvSpPr/>
            <p:nvPr/>
          </p:nvSpPr>
          <p:spPr>
            <a:xfrm>
              <a:off x="3679825" y="5572125"/>
              <a:ext cx="2008188" cy="103028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56" name="Oval 11"/>
            <p:cNvSpPr/>
            <p:nvPr/>
          </p:nvSpPr>
          <p:spPr>
            <a:xfrm>
              <a:off x="6602413" y="5502275"/>
              <a:ext cx="2008187" cy="103028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57" name="Line 18"/>
            <p:cNvSpPr/>
            <p:nvPr/>
          </p:nvSpPr>
          <p:spPr>
            <a:xfrm flipH="1">
              <a:off x="2060575" y="4306888"/>
              <a:ext cx="968375" cy="11747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52258" name="Line 19"/>
            <p:cNvSpPr/>
            <p:nvPr/>
          </p:nvSpPr>
          <p:spPr>
            <a:xfrm flipH="1">
              <a:off x="3216275" y="4314825"/>
              <a:ext cx="520700" cy="14890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52259" name="Line 20"/>
            <p:cNvSpPr/>
            <p:nvPr/>
          </p:nvSpPr>
          <p:spPr>
            <a:xfrm>
              <a:off x="4418013" y="4343400"/>
              <a:ext cx="258762" cy="11303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52260" name="Line 21"/>
            <p:cNvSpPr/>
            <p:nvPr/>
          </p:nvSpPr>
          <p:spPr>
            <a:xfrm>
              <a:off x="5780088" y="4371975"/>
              <a:ext cx="681037" cy="14255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52261" name="Line 22"/>
            <p:cNvSpPr/>
            <p:nvPr/>
          </p:nvSpPr>
          <p:spPr>
            <a:xfrm>
              <a:off x="6516688" y="4343400"/>
              <a:ext cx="1219200" cy="107632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lg" len="lg"/>
            </a:ln>
          </p:spPr>
        </p:sp>
        <p:sp>
          <p:nvSpPr>
            <p:cNvPr id="52262" name="Line 23"/>
            <p:cNvSpPr/>
            <p:nvPr/>
          </p:nvSpPr>
          <p:spPr>
            <a:xfrm>
              <a:off x="3028950" y="6127750"/>
              <a:ext cx="54610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2263" name="Line 24"/>
            <p:cNvSpPr/>
            <p:nvPr/>
          </p:nvSpPr>
          <p:spPr>
            <a:xfrm>
              <a:off x="5907088" y="6046788"/>
              <a:ext cx="385762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2264" name="Text Box 25"/>
            <p:cNvSpPr txBox="1"/>
            <p:nvPr/>
          </p:nvSpPr>
          <p:spPr>
            <a:xfrm>
              <a:off x="1430338" y="5945188"/>
              <a:ext cx="1049337" cy="3365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keys &lt; k1</a:t>
              </a:r>
            </a:p>
          </p:txBody>
        </p:sp>
        <p:sp>
          <p:nvSpPr>
            <p:cNvPr id="52265" name="Text Box 26"/>
            <p:cNvSpPr txBox="1"/>
            <p:nvPr/>
          </p:nvSpPr>
          <p:spPr>
            <a:xfrm>
              <a:off x="3849688" y="5899150"/>
              <a:ext cx="1497012" cy="3365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k2 &lt; keys &lt; k3</a:t>
              </a:r>
            </a:p>
          </p:txBody>
        </p:sp>
        <p:sp>
          <p:nvSpPr>
            <p:cNvPr id="52266" name="Text Box 27"/>
            <p:cNvSpPr txBox="1"/>
            <p:nvPr/>
          </p:nvSpPr>
          <p:spPr>
            <a:xfrm>
              <a:off x="6915150" y="5826125"/>
              <a:ext cx="1049338" cy="3365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dirty="0">
                  <a:latin typeface="Arial" panose="020B0604020202020204" pitchFamily="34" charset="0"/>
                </a:rPr>
                <a:t>k5 &lt; keys</a:t>
              </a:r>
            </a:p>
          </p:txBody>
        </p:sp>
        <p:sp>
          <p:nvSpPr>
            <p:cNvPr id="52267" name="Line 36"/>
            <p:cNvSpPr/>
            <p:nvPr/>
          </p:nvSpPr>
          <p:spPr>
            <a:xfrm>
              <a:off x="1082675" y="4594225"/>
              <a:ext cx="323850" cy="89693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2" name="组合 1"/>
          <p:cNvGrpSpPr/>
          <p:nvPr/>
        </p:nvGrpSpPr>
        <p:grpSpPr>
          <a:xfrm>
            <a:off x="390525" y="3581400"/>
            <a:ext cx="7461250" cy="1308100"/>
            <a:chOff x="390525" y="3581400"/>
            <a:chExt cx="7461250" cy="1308100"/>
          </a:xfrm>
        </p:grpSpPr>
        <p:sp>
          <p:nvSpPr>
            <p:cNvPr id="52230" name="Rectangle 3"/>
            <p:cNvSpPr/>
            <p:nvPr/>
          </p:nvSpPr>
          <p:spPr>
            <a:xfrm>
              <a:off x="2911475" y="4021138"/>
              <a:ext cx="3657600" cy="50165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31" name="Rectangle 4"/>
            <p:cNvSpPr/>
            <p:nvPr/>
          </p:nvSpPr>
          <p:spPr>
            <a:xfrm>
              <a:off x="3243263" y="3814763"/>
              <a:ext cx="420687" cy="70802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32" name="Rectangle 5"/>
            <p:cNvSpPr/>
            <p:nvPr/>
          </p:nvSpPr>
          <p:spPr>
            <a:xfrm>
              <a:off x="3906838" y="3814763"/>
              <a:ext cx="420687" cy="70802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33" name="Rectangle 6"/>
            <p:cNvSpPr/>
            <p:nvPr/>
          </p:nvSpPr>
          <p:spPr>
            <a:xfrm>
              <a:off x="4552950" y="3813175"/>
              <a:ext cx="420688" cy="70802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34" name="Rectangle 7"/>
            <p:cNvSpPr/>
            <p:nvPr/>
          </p:nvSpPr>
          <p:spPr>
            <a:xfrm>
              <a:off x="5199063" y="3813175"/>
              <a:ext cx="420687" cy="70802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35" name="Rectangle 8"/>
            <p:cNvSpPr/>
            <p:nvPr/>
          </p:nvSpPr>
          <p:spPr>
            <a:xfrm>
              <a:off x="5905500" y="3814763"/>
              <a:ext cx="420688" cy="708025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36" name="Oval 12"/>
            <p:cNvSpPr/>
            <p:nvPr/>
          </p:nvSpPr>
          <p:spPr>
            <a:xfrm>
              <a:off x="6399213" y="4208463"/>
              <a:ext cx="88900" cy="88900"/>
            </a:xfrm>
            <a:prstGeom prst="ellipse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37" name="Oval 13"/>
            <p:cNvSpPr/>
            <p:nvPr/>
          </p:nvSpPr>
          <p:spPr>
            <a:xfrm>
              <a:off x="5691188" y="4216400"/>
              <a:ext cx="88900" cy="88900"/>
            </a:xfrm>
            <a:prstGeom prst="ellipse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38" name="Oval 14"/>
            <p:cNvSpPr/>
            <p:nvPr/>
          </p:nvSpPr>
          <p:spPr>
            <a:xfrm>
              <a:off x="5064125" y="4208463"/>
              <a:ext cx="88900" cy="88900"/>
            </a:xfrm>
            <a:prstGeom prst="ellipse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39" name="Oval 15"/>
            <p:cNvSpPr/>
            <p:nvPr/>
          </p:nvSpPr>
          <p:spPr>
            <a:xfrm>
              <a:off x="4383088" y="4198938"/>
              <a:ext cx="88900" cy="88900"/>
            </a:xfrm>
            <a:prstGeom prst="ellipse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40" name="Oval 16"/>
            <p:cNvSpPr/>
            <p:nvPr/>
          </p:nvSpPr>
          <p:spPr>
            <a:xfrm>
              <a:off x="3709988" y="4191000"/>
              <a:ext cx="88900" cy="88900"/>
            </a:xfrm>
            <a:prstGeom prst="ellipse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41" name="Oval 17"/>
            <p:cNvSpPr/>
            <p:nvPr/>
          </p:nvSpPr>
          <p:spPr>
            <a:xfrm>
              <a:off x="3027363" y="4198938"/>
              <a:ext cx="88900" cy="88900"/>
            </a:xfrm>
            <a:prstGeom prst="ellipse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42" name="Text Box 28"/>
            <p:cNvSpPr txBox="1"/>
            <p:nvPr/>
          </p:nvSpPr>
          <p:spPr>
            <a:xfrm>
              <a:off x="3251200" y="4013200"/>
              <a:ext cx="425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latin typeface="Arial" panose="020B0604020202020204" pitchFamily="34" charset="0"/>
                </a:rPr>
                <a:t>k1</a:t>
              </a:r>
            </a:p>
          </p:txBody>
        </p:sp>
        <p:sp>
          <p:nvSpPr>
            <p:cNvPr id="52243" name="Text Box 29"/>
            <p:cNvSpPr txBox="1"/>
            <p:nvPr/>
          </p:nvSpPr>
          <p:spPr>
            <a:xfrm>
              <a:off x="3940175" y="3994150"/>
              <a:ext cx="425450" cy="3667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latin typeface="Arial" panose="020B0604020202020204" pitchFamily="34" charset="0"/>
                </a:rPr>
                <a:t>k2</a:t>
              </a:r>
            </a:p>
          </p:txBody>
        </p:sp>
        <p:sp>
          <p:nvSpPr>
            <p:cNvPr id="52244" name="Text Box 30"/>
            <p:cNvSpPr txBox="1"/>
            <p:nvPr/>
          </p:nvSpPr>
          <p:spPr>
            <a:xfrm>
              <a:off x="4549775" y="4011613"/>
              <a:ext cx="425450" cy="3667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latin typeface="Arial" panose="020B0604020202020204" pitchFamily="34" charset="0"/>
                </a:rPr>
                <a:t>k3</a:t>
              </a:r>
            </a:p>
          </p:txBody>
        </p:sp>
        <p:sp>
          <p:nvSpPr>
            <p:cNvPr id="52245" name="Text Box 31"/>
            <p:cNvSpPr txBox="1"/>
            <p:nvPr/>
          </p:nvSpPr>
          <p:spPr>
            <a:xfrm>
              <a:off x="5186363" y="3995738"/>
              <a:ext cx="425450" cy="3667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latin typeface="Arial" panose="020B0604020202020204" pitchFamily="34" charset="0"/>
                </a:rPr>
                <a:t>k4</a:t>
              </a:r>
            </a:p>
          </p:txBody>
        </p:sp>
        <p:sp>
          <p:nvSpPr>
            <p:cNvPr id="52246" name="Text Box 32"/>
            <p:cNvSpPr txBox="1"/>
            <p:nvPr/>
          </p:nvSpPr>
          <p:spPr>
            <a:xfrm>
              <a:off x="5921375" y="4002088"/>
              <a:ext cx="425450" cy="3667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800" dirty="0">
                  <a:latin typeface="Arial" panose="020B0604020202020204" pitchFamily="34" charset="0"/>
                </a:rPr>
                <a:t>k5</a:t>
              </a:r>
            </a:p>
          </p:txBody>
        </p:sp>
        <p:sp>
          <p:nvSpPr>
            <p:cNvPr id="52247" name="Oval 33"/>
            <p:cNvSpPr/>
            <p:nvPr/>
          </p:nvSpPr>
          <p:spPr>
            <a:xfrm>
              <a:off x="1881188" y="3581400"/>
              <a:ext cx="5970587" cy="130810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2248" name="Text Box 34"/>
            <p:cNvSpPr txBox="1"/>
            <p:nvPr/>
          </p:nvSpPr>
          <p:spPr>
            <a:xfrm>
              <a:off x="390525" y="3892550"/>
              <a:ext cx="1225550" cy="8255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Arial" panose="020B0604020202020204" pitchFamily="34" charset="0"/>
                </a:rPr>
                <a:t>Nodes in</a:t>
              </a: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Arial" panose="020B0604020202020204" pitchFamily="34" charset="0"/>
                </a:rPr>
                <a:t>a multiway</a:t>
              </a:r>
            </a:p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i="1" dirty="0">
                  <a:latin typeface="Arial" panose="020B0604020202020204" pitchFamily="34" charset="0"/>
                </a:rPr>
                <a:t>tree</a:t>
              </a:r>
            </a:p>
          </p:txBody>
        </p:sp>
        <p:sp>
          <p:nvSpPr>
            <p:cNvPr id="52249" name="Line 35"/>
            <p:cNvSpPr/>
            <p:nvPr/>
          </p:nvSpPr>
          <p:spPr>
            <a:xfrm flipV="1">
              <a:off x="1495425" y="4387850"/>
              <a:ext cx="395288" cy="12541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50" name="Text Box 37"/>
            <p:cNvSpPr txBox="1"/>
            <p:nvPr/>
          </p:nvSpPr>
          <p:spPr>
            <a:xfrm>
              <a:off x="2844800" y="3708400"/>
              <a:ext cx="381000" cy="3365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</a:rPr>
                <a:t>P</a:t>
              </a:r>
              <a:r>
                <a:rPr lang="en-US" altLang="zh-CN" sz="1600" b="1" baseline="-25000" dirty="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52251" name="Text Box 38"/>
            <p:cNvSpPr txBox="1"/>
            <p:nvPr/>
          </p:nvSpPr>
          <p:spPr>
            <a:xfrm>
              <a:off x="3595688" y="3675063"/>
              <a:ext cx="381000" cy="3365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</a:rPr>
                <a:t>P</a:t>
              </a:r>
              <a:r>
                <a:rPr lang="en-US" altLang="zh-CN" sz="1600" b="1" baseline="-25000" dirty="0">
                  <a:solidFill>
                    <a:schemeClr val="hlink"/>
                  </a:solidFill>
                </a:rPr>
                <a:t>2</a:t>
              </a:r>
            </a:p>
          </p:txBody>
        </p:sp>
        <p:sp>
          <p:nvSpPr>
            <p:cNvPr id="52252" name="Rectangle 39"/>
            <p:cNvSpPr/>
            <p:nvPr/>
          </p:nvSpPr>
          <p:spPr>
            <a:xfrm>
              <a:off x="4273550" y="3665538"/>
              <a:ext cx="400050" cy="3667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r>
                <a:rPr lang="en-US" altLang="zh-CN" sz="1800" b="1" baseline="-25000" dirty="0">
                  <a:solidFill>
                    <a:schemeClr val="hlink"/>
                  </a:solidFill>
                </a:rPr>
                <a:t>3</a:t>
              </a:r>
            </a:p>
          </p:txBody>
        </p:sp>
        <p:sp>
          <p:nvSpPr>
            <p:cNvPr id="52253" name="Rectangle 40"/>
            <p:cNvSpPr/>
            <p:nvPr/>
          </p:nvSpPr>
          <p:spPr>
            <a:xfrm>
              <a:off x="6273800" y="3632200"/>
              <a:ext cx="4000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r>
                <a:rPr lang="en-US" altLang="zh-CN" sz="1800" b="1" baseline="-25000" dirty="0">
                  <a:solidFill>
                    <a:schemeClr val="hlink"/>
                  </a:solidFill>
                </a:rPr>
                <a:t>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 bldLvl="2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文本占位符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28800"/>
            <a:ext cx="7467600" cy="3657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 key values in the sub-tree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are less than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i+1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greater than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 key values in the sub-tree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are greater than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m-1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those in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are less than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k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subtrees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are also m-way search trees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en-US" dirty="0"/>
              <a:t>Multi-way Search Trees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14400" y="5695950"/>
            <a:ext cx="6659563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66FF"/>
                </a:solidFill>
              </a:rPr>
              <a:t>The height of a m-way search tree is at least log</a:t>
            </a:r>
            <a:r>
              <a:rPr lang="en-US" altLang="zh-CN" sz="1800" baseline="-25000" dirty="0">
                <a:solidFill>
                  <a:srgbClr val="0066FF"/>
                </a:solidFill>
              </a:rPr>
              <a:t>m</a:t>
            </a:r>
            <a:r>
              <a:rPr lang="en-US" altLang="zh-CN" sz="1800" dirty="0">
                <a:solidFill>
                  <a:srgbClr val="0066FF"/>
                </a:solidFill>
              </a:rPr>
              <a:t>n, n is the number of nodes. The number of keys is larger than n. </a:t>
            </a:r>
            <a:endParaRPr lang="zh-CN" altLang="en-US" sz="1800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/>
          <p:nvPr/>
        </p:nvSpPr>
        <p:spPr>
          <a:xfrm>
            <a:off x="323850" y="5521325"/>
            <a:ext cx="8362950" cy="749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Clr>
                <a:srgbClr val="0962B3"/>
              </a:buClr>
              <a:buNone/>
            </a:pPr>
            <a:r>
              <a:rPr lang="en-US" altLang="zh-CN" sz="2400" dirty="0"/>
              <a:t>A 3-way search tree in which each node has </a:t>
            </a:r>
            <a:r>
              <a:rPr lang="en-US" altLang="zh-CN" sz="2400" dirty="0">
                <a:solidFill>
                  <a:srgbClr val="0066FF"/>
                </a:solidFill>
              </a:rPr>
              <a:t>0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66FF"/>
                </a:solidFill>
              </a:rPr>
              <a:t> </a:t>
            </a:r>
            <a:r>
              <a:rPr lang="en-US" altLang="zh-CN" sz="2400" dirty="0">
                <a:solidFill>
                  <a:srgbClr val="0066FF"/>
                </a:solidFill>
              </a:rPr>
              <a:t>1</a:t>
            </a:r>
            <a:r>
              <a:rPr lang="zh-CN" altLang="en-US" sz="2400" dirty="0"/>
              <a:t>，</a:t>
            </a:r>
            <a:r>
              <a:rPr lang="en-US" altLang="zh-CN" sz="2400" dirty="0">
                <a:solidFill>
                  <a:srgbClr val="0066FF"/>
                </a:solidFill>
              </a:rPr>
              <a:t>2</a:t>
            </a:r>
            <a:r>
              <a:rPr lang="en-US" altLang="zh-CN" sz="2400" dirty="0"/>
              <a:t> or </a:t>
            </a:r>
            <a:r>
              <a:rPr lang="en-US" altLang="zh-CN" sz="2400" dirty="0">
                <a:solidFill>
                  <a:srgbClr val="0066FF"/>
                </a:solidFill>
              </a:rPr>
              <a:t>3</a:t>
            </a:r>
            <a:r>
              <a:rPr lang="en-US" altLang="zh-CN" sz="2400" dirty="0"/>
              <a:t> children</a:t>
            </a:r>
          </a:p>
        </p:txBody>
      </p:sp>
      <p:sp>
        <p:nvSpPr>
          <p:cNvPr id="54275" name="Rectangle 4"/>
          <p:cNvSpPr/>
          <p:nvPr/>
        </p:nvSpPr>
        <p:spPr>
          <a:xfrm>
            <a:off x="3708400" y="1357313"/>
            <a:ext cx="1368425" cy="4318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276" name="Text Box 5"/>
          <p:cNvSpPr txBox="1"/>
          <p:nvPr/>
        </p:nvSpPr>
        <p:spPr>
          <a:xfrm>
            <a:off x="3995738" y="1357313"/>
            <a:ext cx="792162" cy="4159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54277" name="Rectangle 6"/>
          <p:cNvSpPr/>
          <p:nvPr/>
        </p:nvSpPr>
        <p:spPr>
          <a:xfrm>
            <a:off x="2555875" y="2076450"/>
            <a:ext cx="1368425" cy="4318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278" name="Text Box 7"/>
          <p:cNvSpPr txBox="1"/>
          <p:nvPr/>
        </p:nvSpPr>
        <p:spPr>
          <a:xfrm>
            <a:off x="2843213" y="2076450"/>
            <a:ext cx="792162" cy="4159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54279" name="Line 8"/>
          <p:cNvSpPr/>
          <p:nvPr/>
        </p:nvSpPr>
        <p:spPr>
          <a:xfrm flipH="1">
            <a:off x="3132138" y="1500188"/>
            <a:ext cx="647700" cy="5762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0" name="Rectangle 9"/>
          <p:cNvSpPr/>
          <p:nvPr/>
        </p:nvSpPr>
        <p:spPr>
          <a:xfrm>
            <a:off x="4572000" y="2076450"/>
            <a:ext cx="1728788" cy="4318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281" name="Text Box 10"/>
          <p:cNvSpPr txBox="1"/>
          <p:nvPr/>
        </p:nvSpPr>
        <p:spPr>
          <a:xfrm>
            <a:off x="4859338" y="2076450"/>
            <a:ext cx="576262" cy="4159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54282" name="Text Box 11"/>
          <p:cNvSpPr txBox="1"/>
          <p:nvPr/>
        </p:nvSpPr>
        <p:spPr>
          <a:xfrm>
            <a:off x="5795963" y="2089150"/>
            <a:ext cx="792162" cy="4159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82</a:t>
            </a:r>
          </a:p>
        </p:txBody>
      </p:sp>
      <p:sp>
        <p:nvSpPr>
          <p:cNvPr id="54283" name="Text Box 13"/>
          <p:cNvSpPr txBox="1"/>
          <p:nvPr/>
        </p:nvSpPr>
        <p:spPr>
          <a:xfrm>
            <a:off x="466725" y="3228975"/>
            <a:ext cx="792163" cy="4159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22</a:t>
            </a:r>
          </a:p>
        </p:txBody>
      </p:sp>
      <p:sp>
        <p:nvSpPr>
          <p:cNvPr id="54284" name="Line 14"/>
          <p:cNvSpPr/>
          <p:nvPr/>
        </p:nvSpPr>
        <p:spPr>
          <a:xfrm>
            <a:off x="4857750" y="1498600"/>
            <a:ext cx="719138" cy="5762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85" name="Line 15"/>
          <p:cNvSpPr/>
          <p:nvPr/>
        </p:nvSpPr>
        <p:spPr>
          <a:xfrm flipH="1">
            <a:off x="827088" y="2292350"/>
            <a:ext cx="1873250" cy="9366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4286" name="Group 61"/>
          <p:cNvGrpSpPr/>
          <p:nvPr/>
        </p:nvGrpSpPr>
        <p:grpSpPr>
          <a:xfrm>
            <a:off x="2195513" y="3240088"/>
            <a:ext cx="1373187" cy="417512"/>
            <a:chOff x="1383" y="2303"/>
            <a:chExt cx="865" cy="263"/>
          </a:xfrm>
        </p:grpSpPr>
        <p:sp>
          <p:nvSpPr>
            <p:cNvPr id="54304" name="Text Box 17"/>
            <p:cNvSpPr txBox="1"/>
            <p:nvPr/>
          </p:nvSpPr>
          <p:spPr>
            <a:xfrm>
              <a:off x="1383" y="2303"/>
              <a:ext cx="363" cy="26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35</a:t>
              </a:r>
            </a:p>
          </p:txBody>
        </p:sp>
        <p:sp>
          <p:nvSpPr>
            <p:cNvPr id="54305" name="Text Box 18"/>
            <p:cNvSpPr txBox="1"/>
            <p:nvPr/>
          </p:nvSpPr>
          <p:spPr>
            <a:xfrm>
              <a:off x="1749" y="2304"/>
              <a:ext cx="499" cy="26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40</a:t>
              </a:r>
            </a:p>
          </p:txBody>
        </p:sp>
      </p:grpSp>
      <p:sp>
        <p:nvSpPr>
          <p:cNvPr id="54287" name="Line 19"/>
          <p:cNvSpPr/>
          <p:nvPr/>
        </p:nvSpPr>
        <p:spPr>
          <a:xfrm flipH="1">
            <a:off x="3059113" y="2365375"/>
            <a:ext cx="720725" cy="863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4288" name="Group 62"/>
          <p:cNvGrpSpPr/>
          <p:nvPr/>
        </p:nvGrpSpPr>
        <p:grpSpPr>
          <a:xfrm>
            <a:off x="3886200" y="3228975"/>
            <a:ext cx="1366838" cy="417513"/>
            <a:chOff x="2744" y="2296"/>
            <a:chExt cx="861" cy="263"/>
          </a:xfrm>
        </p:grpSpPr>
        <p:sp>
          <p:nvSpPr>
            <p:cNvPr id="54302" name="Text Box 21"/>
            <p:cNvSpPr txBox="1"/>
            <p:nvPr/>
          </p:nvSpPr>
          <p:spPr>
            <a:xfrm>
              <a:off x="2744" y="2296"/>
              <a:ext cx="363" cy="26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51</a:t>
              </a:r>
            </a:p>
          </p:txBody>
        </p:sp>
        <p:sp>
          <p:nvSpPr>
            <p:cNvPr id="54303" name="Text Box 22"/>
            <p:cNvSpPr txBox="1"/>
            <p:nvPr/>
          </p:nvSpPr>
          <p:spPr>
            <a:xfrm>
              <a:off x="3106" y="2297"/>
              <a:ext cx="499" cy="26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dirty="0">
                  <a:latin typeface="Arial" panose="020B0604020202020204" pitchFamily="34" charset="0"/>
                </a:rPr>
                <a:t>55</a:t>
              </a:r>
            </a:p>
          </p:txBody>
        </p:sp>
      </p:grpSp>
      <p:sp>
        <p:nvSpPr>
          <p:cNvPr id="54289" name="Line 23"/>
          <p:cNvSpPr/>
          <p:nvPr/>
        </p:nvSpPr>
        <p:spPr>
          <a:xfrm flipH="1">
            <a:off x="4419600" y="2292350"/>
            <a:ext cx="223838" cy="9493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90" name="Text Box 25"/>
          <p:cNvSpPr txBox="1"/>
          <p:nvPr/>
        </p:nvSpPr>
        <p:spPr>
          <a:xfrm>
            <a:off x="6443663" y="3228975"/>
            <a:ext cx="792162" cy="4159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75</a:t>
            </a:r>
          </a:p>
        </p:txBody>
      </p:sp>
      <p:sp>
        <p:nvSpPr>
          <p:cNvPr id="54291" name="Text Box 27"/>
          <p:cNvSpPr txBox="1"/>
          <p:nvPr/>
        </p:nvSpPr>
        <p:spPr>
          <a:xfrm>
            <a:off x="7883525" y="3228975"/>
            <a:ext cx="792163" cy="415925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87</a:t>
            </a:r>
          </a:p>
        </p:txBody>
      </p:sp>
      <p:sp>
        <p:nvSpPr>
          <p:cNvPr id="54292" name="Line 28"/>
          <p:cNvSpPr/>
          <p:nvPr/>
        </p:nvSpPr>
        <p:spPr>
          <a:xfrm>
            <a:off x="5580063" y="2292350"/>
            <a:ext cx="1152525" cy="9366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93" name="Line 29"/>
          <p:cNvSpPr/>
          <p:nvPr/>
        </p:nvSpPr>
        <p:spPr>
          <a:xfrm>
            <a:off x="6443663" y="2292350"/>
            <a:ext cx="1944687" cy="9366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4294" name="Oval 54"/>
          <p:cNvSpPr/>
          <p:nvPr/>
        </p:nvSpPr>
        <p:spPr>
          <a:xfrm>
            <a:off x="3819525" y="1501775"/>
            <a:ext cx="71438" cy="71438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295" name="Oval 55"/>
          <p:cNvSpPr/>
          <p:nvPr/>
        </p:nvSpPr>
        <p:spPr>
          <a:xfrm>
            <a:off x="4860925" y="1500188"/>
            <a:ext cx="71438" cy="71437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296" name="Oval 56"/>
          <p:cNvSpPr/>
          <p:nvPr/>
        </p:nvSpPr>
        <p:spPr>
          <a:xfrm>
            <a:off x="2667000" y="2220913"/>
            <a:ext cx="71438" cy="71437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297" name="Oval 57"/>
          <p:cNvSpPr/>
          <p:nvPr/>
        </p:nvSpPr>
        <p:spPr>
          <a:xfrm>
            <a:off x="3708400" y="2219325"/>
            <a:ext cx="71438" cy="71438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298" name="Oval 58"/>
          <p:cNvSpPr/>
          <p:nvPr/>
        </p:nvSpPr>
        <p:spPr>
          <a:xfrm>
            <a:off x="4611688" y="2220913"/>
            <a:ext cx="71437" cy="71437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299" name="Oval 59"/>
          <p:cNvSpPr/>
          <p:nvPr/>
        </p:nvSpPr>
        <p:spPr>
          <a:xfrm>
            <a:off x="5508625" y="2219325"/>
            <a:ext cx="71438" cy="71438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300" name="Oval 60"/>
          <p:cNvSpPr/>
          <p:nvPr/>
        </p:nvSpPr>
        <p:spPr>
          <a:xfrm>
            <a:off x="6372225" y="2220913"/>
            <a:ext cx="71438" cy="71437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4301" name="Rectangle 63"/>
          <p:cNvSpPr/>
          <p:nvPr/>
        </p:nvSpPr>
        <p:spPr>
          <a:xfrm>
            <a:off x="3389313" y="3748088"/>
            <a:ext cx="2365375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/>
              <a:t>A 3-way search tree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Definition Of A B-Tree</a:t>
            </a:r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A B-Tree of order  </a:t>
            </a:r>
            <a:r>
              <a:rPr lang="en-US" altLang="zh-CN" dirty="0"/>
              <a:t>m</a:t>
            </a:r>
            <a:r>
              <a:rPr lang="en-US" altLang="zh-CN" sz="2800" dirty="0"/>
              <a:t>  is a </a:t>
            </a:r>
            <a:r>
              <a:rPr lang="en-US" altLang="zh-CN" dirty="0">
                <a:solidFill>
                  <a:schemeClr val="tx2"/>
                </a:solidFill>
              </a:rPr>
              <a:t>m</a:t>
            </a:r>
            <a:r>
              <a:rPr lang="en-US" altLang="zh-CN" sz="2800" dirty="0">
                <a:solidFill>
                  <a:schemeClr val="tx2"/>
                </a:solidFill>
              </a:rPr>
              <a:t>-way search tree</a:t>
            </a:r>
            <a:r>
              <a:rPr lang="en-US" altLang="zh-CN" sz="2800" dirty="0"/>
              <a:t> such that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 dirty="0"/>
              <a:t>All leaves are on the same level</a:t>
            </a:r>
          </a:p>
          <a:p>
            <a:pPr lvl="1" eaLnBrk="1" hangingPunct="1">
              <a:lnSpc>
                <a:spcPct val="80000"/>
              </a:lnSpc>
            </a:pPr>
            <a:endParaRPr lang="en-US" altLang="zh-CN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100" dirty="0"/>
              <a:t>The </a:t>
            </a:r>
            <a:r>
              <a:rPr lang="en-US" altLang="zh-CN" sz="2100" b="1" dirty="0">
                <a:solidFill>
                  <a:srgbClr val="0066FF"/>
                </a:solidFill>
              </a:rPr>
              <a:t>root</a:t>
            </a:r>
            <a:r>
              <a:rPr lang="en-US" altLang="zh-CN" sz="2100" dirty="0"/>
              <a:t> node has </a:t>
            </a:r>
            <a:r>
              <a:rPr lang="en-US" altLang="zh-CN" sz="2100" b="1" dirty="0">
                <a:solidFill>
                  <a:schemeClr val="tx2"/>
                </a:solidFill>
              </a:rPr>
              <a:t>betweem two and m children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100" b="1" dirty="0">
                <a:solidFill>
                  <a:schemeClr val="tx2"/>
                </a:solidFill>
              </a:rPr>
              <a:t>                       between  one and m-1 keys</a:t>
            </a:r>
            <a:endParaRPr lang="en-US" altLang="zh-CN" sz="2100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 dirty="0"/>
              <a:t>All </a:t>
            </a:r>
            <a:r>
              <a:rPr lang="en-US" altLang="zh-CN" sz="2100" b="1" dirty="0">
                <a:solidFill>
                  <a:srgbClr val="0066FF"/>
                </a:solidFill>
              </a:rPr>
              <a:t>nonleaf</a:t>
            </a:r>
            <a:r>
              <a:rPr lang="en-US" altLang="zh-CN" sz="2100" dirty="0"/>
              <a:t> nodes except the root node have 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        between 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</a:t>
            </a:r>
            <a:r>
              <a:rPr lang="en-US" altLang="zh-CN" sz="2000" b="1" dirty="0">
                <a:solidFill>
                  <a:srgbClr val="FF0000"/>
                </a:solidFill>
              </a:rPr>
              <a:t>m/2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</a:t>
            </a:r>
            <a:r>
              <a:rPr lang="en-US" altLang="zh-CN" sz="2000" b="1" dirty="0">
                <a:solidFill>
                  <a:srgbClr val="FF0000"/>
                </a:solidFill>
              </a:rPr>
              <a:t>    and  m   children 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        between 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m</a:t>
            </a:r>
            <a:r>
              <a:rPr lang="en-US" altLang="zh-CN" sz="2000" b="1" dirty="0">
                <a:solidFill>
                  <a:srgbClr val="FF0000"/>
                </a:solidFill>
              </a:rPr>
              <a:t>/2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-1</a:t>
            </a:r>
            <a:r>
              <a:rPr lang="en-US" altLang="zh-CN" sz="2000" b="1" dirty="0">
                <a:solidFill>
                  <a:srgbClr val="FF0000"/>
                </a:solidFill>
              </a:rPr>
              <a:t>  and m-1 keys </a:t>
            </a:r>
            <a:r>
              <a:rPr lang="en-US" altLang="zh-CN" sz="2000" b="1" dirty="0"/>
              <a:t>.</a:t>
            </a:r>
            <a:endParaRPr lang="en-US" altLang="zh-CN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100" dirty="0"/>
              <a:t>A </a:t>
            </a:r>
            <a:r>
              <a:rPr lang="en-US" altLang="zh-CN" sz="2100" b="1" dirty="0">
                <a:solidFill>
                  <a:srgbClr val="0066FF"/>
                </a:solidFill>
              </a:rPr>
              <a:t>nonroot leaf </a:t>
            </a:r>
            <a:r>
              <a:rPr lang="en-US" altLang="zh-CN" sz="2100" dirty="0"/>
              <a:t>has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         between  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</a:t>
            </a:r>
            <a:r>
              <a:rPr lang="en-US" altLang="zh-CN" sz="2000" b="1" dirty="0">
                <a:solidFill>
                  <a:srgbClr val="FF0000"/>
                </a:solidFill>
              </a:rPr>
              <a:t>m/2</a:t>
            </a:r>
            <a:r>
              <a:rPr lang="en-US" altLang="zh-CN" sz="2000" b="1" dirty="0">
                <a:solidFill>
                  <a:srgbClr val="FF0000"/>
                </a:solidFill>
                <a:sym typeface="Symbol" panose="05050102010706020507" pitchFamily="18" charset="2"/>
              </a:rPr>
              <a:t></a:t>
            </a:r>
            <a:r>
              <a:rPr lang="en-US" altLang="zh-CN" sz="2000" b="1" dirty="0">
                <a:solidFill>
                  <a:srgbClr val="FF0000"/>
                </a:solidFill>
              </a:rPr>
              <a:t>  and  m keys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41425" y="5791200"/>
            <a:ext cx="66611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0066FF"/>
                </a:solidFill>
              </a:rPr>
              <a:t>The height of a B-tree is at most </a:t>
            </a:r>
            <a:r>
              <a:rPr lang="en-US" altLang="zh-CN" sz="1800" b="1" dirty="0">
                <a:solidFill>
                  <a:srgbClr val="0066FF"/>
                </a:solidFill>
              </a:rPr>
              <a:t> </a:t>
            </a:r>
            <a:r>
              <a:rPr lang="en-US" altLang="zh-CN" sz="1800" b="1" dirty="0">
                <a:solidFill>
                  <a:srgbClr val="0066FF"/>
                </a:solidFill>
                <a:sym typeface="Symbol" panose="05050102010706020507" pitchFamily="18" charset="2"/>
              </a:rPr>
              <a:t></a:t>
            </a:r>
            <a:r>
              <a:rPr lang="en-US" altLang="zh-CN" sz="1800" dirty="0">
                <a:solidFill>
                  <a:srgbClr val="0066FF"/>
                </a:solidFill>
              </a:rPr>
              <a:t>log┌</a:t>
            </a:r>
            <a:r>
              <a:rPr lang="en-US" altLang="zh-CN" sz="1800" baseline="-25000" dirty="0">
                <a:solidFill>
                  <a:srgbClr val="0066FF"/>
                </a:solidFill>
              </a:rPr>
              <a:t>m/2</a:t>
            </a:r>
            <a:r>
              <a:rPr lang="en-US" altLang="zh-CN" sz="1800" dirty="0">
                <a:solidFill>
                  <a:srgbClr val="0066FF"/>
                </a:solidFill>
              </a:rPr>
              <a:t>┐n</a:t>
            </a:r>
            <a:r>
              <a:rPr lang="en-US" altLang="zh-CN" sz="1800" b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1800" b="1" dirty="0">
                <a:solidFill>
                  <a:srgbClr val="0066FF"/>
                </a:solidFill>
                <a:sym typeface="Symbol" panose="05050102010706020507" pitchFamily="18" charset="2"/>
              </a:rPr>
              <a:t></a:t>
            </a:r>
            <a:r>
              <a:rPr lang="en-US" altLang="zh-CN" sz="1800" dirty="0">
                <a:solidFill>
                  <a:srgbClr val="0066FF"/>
                </a:solidFill>
              </a:rPr>
              <a:t>, n is the number of nodes. The number of keys is larger than n. </a:t>
            </a:r>
            <a:endParaRPr lang="zh-CN" altLang="en-US" sz="1800" dirty="0">
              <a:solidFill>
                <a:srgbClr val="00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43"/>
          <p:cNvSpPr txBox="1"/>
          <p:nvPr/>
        </p:nvSpPr>
        <p:spPr>
          <a:xfrm>
            <a:off x="228600" y="606425"/>
            <a:ext cx="7620000" cy="219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The definition of B-tree in our text book is a little different: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 1. The leaves contain </a:t>
            </a:r>
            <a:r>
              <a:rPr lang="en-US" altLang="zh-CN" sz="2000" b="1" dirty="0">
                <a:solidFill>
                  <a:schemeClr val="hlink"/>
                </a:solidFill>
              </a:rPr>
              <a:t>all the actual data</a:t>
            </a:r>
            <a:r>
              <a:rPr lang="en-US" altLang="zh-CN" sz="2000" dirty="0"/>
              <a:t> </a:t>
            </a:r>
            <a:endParaRPr lang="en-US" altLang="zh-CN" sz="20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 2. </a:t>
            </a:r>
            <a:r>
              <a:rPr lang="en-US" altLang="zh-CN" sz="2000" b="1" dirty="0">
                <a:latin typeface="Times New Roman" panose="02020603050405020304" pitchFamily="18" charset="0"/>
              </a:rPr>
              <a:t>k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/>
              <a:t>is the smallest key found in the subtree </a:t>
            </a:r>
            <a:r>
              <a:rPr lang="en-US" altLang="zh-CN" sz="2000" b="1" dirty="0">
                <a:latin typeface="Times New Roman" panose="02020603050405020304" pitchFamily="18" charset="0"/>
              </a:rPr>
              <a:t>P</a:t>
            </a:r>
            <a:r>
              <a:rPr lang="en-US" altLang="zh-CN" sz="2000" b="1" baseline="-25000" dirty="0">
                <a:latin typeface="Times New Roman" panose="02020603050405020304" pitchFamily="18" charset="0"/>
              </a:rPr>
              <a:t>i+1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dirty="0"/>
              <a:t> </a:t>
            </a:r>
            <a:r>
              <a:rPr lang="en-US" altLang="zh-CN" sz="2000" b="1" dirty="0"/>
              <a:t>3. The number of keys in leaves is between </a:t>
            </a:r>
            <a:r>
              <a:rPr lang="en-US" altLang="zh-CN" sz="2000" b="1" dirty="0">
                <a:sym typeface="Symbol" panose="05050102010706020507" pitchFamily="18" charset="2"/>
              </a:rPr>
              <a:t></a:t>
            </a:r>
            <a:r>
              <a:rPr lang="en-US" altLang="zh-CN" sz="2000" b="1" dirty="0"/>
              <a:t>M/2</a:t>
            </a:r>
            <a:r>
              <a:rPr lang="en-US" altLang="zh-CN" sz="2000" b="1" dirty="0">
                <a:sym typeface="Symbol" panose="05050102010706020507" pitchFamily="18" charset="2"/>
              </a:rPr>
              <a:t></a:t>
            </a:r>
            <a:r>
              <a:rPr lang="en-US" altLang="zh-CN" sz="2000" b="1" dirty="0"/>
              <a:t> and M</a:t>
            </a:r>
            <a:r>
              <a:rPr lang="en-US" altLang="zh-CN" sz="1800" dirty="0"/>
              <a:t> </a:t>
            </a:r>
            <a:r>
              <a:rPr lang="en-US" altLang="zh-CN" sz="1800" b="1" dirty="0"/>
              <a:t> </a:t>
            </a:r>
          </a:p>
        </p:txBody>
      </p:sp>
      <p:sp>
        <p:nvSpPr>
          <p:cNvPr id="57347" name="Text Box 44"/>
          <p:cNvSpPr txBox="1"/>
          <p:nvPr/>
        </p:nvSpPr>
        <p:spPr>
          <a:xfrm>
            <a:off x="3068638" y="3406775"/>
            <a:ext cx="612775" cy="3603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   3</a:t>
            </a:r>
          </a:p>
        </p:txBody>
      </p:sp>
      <p:sp>
        <p:nvSpPr>
          <p:cNvPr id="57348" name="Text Box 45"/>
          <p:cNvSpPr txBox="1"/>
          <p:nvPr/>
        </p:nvSpPr>
        <p:spPr>
          <a:xfrm>
            <a:off x="3681413" y="3406775"/>
            <a:ext cx="477837" cy="3603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7349" name="Text Box 46"/>
          <p:cNvSpPr txBox="1"/>
          <p:nvPr/>
        </p:nvSpPr>
        <p:spPr>
          <a:xfrm>
            <a:off x="4114800" y="3406775"/>
            <a:ext cx="481013" cy="3603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7350" name="Text Box 47"/>
          <p:cNvSpPr txBox="1"/>
          <p:nvPr/>
        </p:nvSpPr>
        <p:spPr>
          <a:xfrm>
            <a:off x="4595813" y="3406775"/>
            <a:ext cx="477837" cy="36036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48</a:t>
            </a:r>
          </a:p>
        </p:txBody>
      </p:sp>
      <p:sp>
        <p:nvSpPr>
          <p:cNvPr id="57351" name="Text Box 49"/>
          <p:cNvSpPr txBox="1"/>
          <p:nvPr/>
        </p:nvSpPr>
        <p:spPr>
          <a:xfrm>
            <a:off x="7346950" y="4506913"/>
            <a:ext cx="422275" cy="30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52</a:t>
            </a:r>
          </a:p>
        </p:txBody>
      </p:sp>
      <p:sp>
        <p:nvSpPr>
          <p:cNvPr id="57352" name="Text Box 50"/>
          <p:cNvSpPr txBox="1"/>
          <p:nvPr/>
        </p:nvSpPr>
        <p:spPr>
          <a:xfrm>
            <a:off x="7769225" y="4506913"/>
            <a:ext cx="419100" cy="30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53</a:t>
            </a:r>
          </a:p>
        </p:txBody>
      </p:sp>
      <p:sp>
        <p:nvSpPr>
          <p:cNvPr id="57353" name="Text Box 51"/>
          <p:cNvSpPr txBox="1"/>
          <p:nvPr/>
        </p:nvSpPr>
        <p:spPr>
          <a:xfrm>
            <a:off x="8150225" y="4506913"/>
            <a:ext cx="422275" cy="30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55</a:t>
            </a:r>
          </a:p>
        </p:txBody>
      </p:sp>
      <p:sp>
        <p:nvSpPr>
          <p:cNvPr id="57354" name="Text Box 52"/>
          <p:cNvSpPr txBox="1"/>
          <p:nvPr/>
        </p:nvSpPr>
        <p:spPr>
          <a:xfrm>
            <a:off x="8572500" y="4506913"/>
            <a:ext cx="419100" cy="30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68</a:t>
            </a:r>
          </a:p>
        </p:txBody>
      </p:sp>
      <p:sp>
        <p:nvSpPr>
          <p:cNvPr id="57355" name="Text Box 54"/>
          <p:cNvSpPr txBox="1"/>
          <p:nvPr/>
        </p:nvSpPr>
        <p:spPr>
          <a:xfrm>
            <a:off x="5105400" y="4484688"/>
            <a:ext cx="449263" cy="3270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25</a:t>
            </a:r>
          </a:p>
        </p:txBody>
      </p:sp>
      <p:sp>
        <p:nvSpPr>
          <p:cNvPr id="57356" name="Text Box 55"/>
          <p:cNvSpPr txBox="1"/>
          <p:nvPr/>
        </p:nvSpPr>
        <p:spPr>
          <a:xfrm>
            <a:off x="5554663" y="4484688"/>
            <a:ext cx="447675" cy="3270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26</a:t>
            </a:r>
          </a:p>
        </p:txBody>
      </p:sp>
      <p:sp>
        <p:nvSpPr>
          <p:cNvPr id="57357" name="Text Box 56"/>
          <p:cNvSpPr txBox="1"/>
          <p:nvPr/>
        </p:nvSpPr>
        <p:spPr>
          <a:xfrm>
            <a:off x="5961063" y="4484688"/>
            <a:ext cx="449262" cy="3270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28</a:t>
            </a:r>
          </a:p>
        </p:txBody>
      </p:sp>
      <p:sp>
        <p:nvSpPr>
          <p:cNvPr id="57358" name="Text Box 57"/>
          <p:cNvSpPr txBox="1"/>
          <p:nvPr/>
        </p:nvSpPr>
        <p:spPr>
          <a:xfrm>
            <a:off x="6410325" y="4484688"/>
            <a:ext cx="447675" cy="3270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29</a:t>
            </a:r>
          </a:p>
        </p:txBody>
      </p:sp>
      <p:grpSp>
        <p:nvGrpSpPr>
          <p:cNvPr id="57359" name="Group 58"/>
          <p:cNvGrpSpPr/>
          <p:nvPr/>
        </p:nvGrpSpPr>
        <p:grpSpPr>
          <a:xfrm>
            <a:off x="488950" y="4549775"/>
            <a:ext cx="730250" cy="304800"/>
            <a:chOff x="68" y="864"/>
            <a:chExt cx="604" cy="227"/>
          </a:xfrm>
        </p:grpSpPr>
        <p:sp>
          <p:nvSpPr>
            <p:cNvPr id="57387" name="Text Box 59"/>
            <p:cNvSpPr txBox="1"/>
            <p:nvPr/>
          </p:nvSpPr>
          <p:spPr>
            <a:xfrm>
              <a:off x="68" y="864"/>
              <a:ext cx="303" cy="22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7388" name="Text Box 60"/>
            <p:cNvSpPr txBox="1"/>
            <p:nvPr/>
          </p:nvSpPr>
          <p:spPr>
            <a:xfrm>
              <a:off x="371" y="864"/>
              <a:ext cx="301" cy="22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57360" name="Text Box 62"/>
          <p:cNvSpPr txBox="1"/>
          <p:nvPr/>
        </p:nvSpPr>
        <p:spPr>
          <a:xfrm>
            <a:off x="1752600" y="4549775"/>
            <a:ext cx="344488" cy="30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7361" name="Text Box 63"/>
          <p:cNvSpPr txBox="1"/>
          <p:nvPr/>
        </p:nvSpPr>
        <p:spPr>
          <a:xfrm>
            <a:off x="2097088" y="4549775"/>
            <a:ext cx="341312" cy="30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7</a:t>
            </a:r>
          </a:p>
        </p:txBody>
      </p:sp>
      <p:grpSp>
        <p:nvGrpSpPr>
          <p:cNvPr id="57362" name="Group 64"/>
          <p:cNvGrpSpPr/>
          <p:nvPr/>
        </p:nvGrpSpPr>
        <p:grpSpPr>
          <a:xfrm>
            <a:off x="3048000" y="4529138"/>
            <a:ext cx="1219200" cy="304800"/>
            <a:chOff x="1872" y="864"/>
            <a:chExt cx="877" cy="227"/>
          </a:xfrm>
        </p:grpSpPr>
        <p:sp>
          <p:nvSpPr>
            <p:cNvPr id="57384" name="Text Box 65"/>
            <p:cNvSpPr txBox="1"/>
            <p:nvPr/>
          </p:nvSpPr>
          <p:spPr>
            <a:xfrm>
              <a:off x="1872" y="864"/>
              <a:ext cx="303" cy="22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57385" name="Text Box 66"/>
            <p:cNvSpPr txBox="1"/>
            <p:nvPr/>
          </p:nvSpPr>
          <p:spPr>
            <a:xfrm>
              <a:off x="2175" y="864"/>
              <a:ext cx="301" cy="22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57386" name="Text Box 67"/>
            <p:cNvSpPr txBox="1"/>
            <p:nvPr/>
          </p:nvSpPr>
          <p:spPr>
            <a:xfrm>
              <a:off x="2448" y="864"/>
              <a:ext cx="301" cy="22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16</a:t>
              </a:r>
            </a:p>
          </p:txBody>
        </p:sp>
      </p:grpSp>
      <p:sp>
        <p:nvSpPr>
          <p:cNvPr id="57363" name="Line 68"/>
          <p:cNvSpPr/>
          <p:nvPr/>
        </p:nvSpPr>
        <p:spPr>
          <a:xfrm>
            <a:off x="3282950" y="3406775"/>
            <a:ext cx="0" cy="3603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64" name="Line 69"/>
          <p:cNvSpPr/>
          <p:nvPr/>
        </p:nvSpPr>
        <p:spPr>
          <a:xfrm>
            <a:off x="3571875" y="3406775"/>
            <a:ext cx="0" cy="358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65" name="Line 70"/>
          <p:cNvSpPr/>
          <p:nvPr/>
        </p:nvSpPr>
        <p:spPr>
          <a:xfrm flipH="1">
            <a:off x="2209800" y="3622675"/>
            <a:ext cx="1435100" cy="9271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366" name="Line 71"/>
          <p:cNvSpPr/>
          <p:nvPr/>
        </p:nvSpPr>
        <p:spPr>
          <a:xfrm flipH="1">
            <a:off x="762000" y="3549650"/>
            <a:ext cx="2490788" cy="10001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367" name="Line 72"/>
          <p:cNvSpPr/>
          <p:nvPr/>
        </p:nvSpPr>
        <p:spPr>
          <a:xfrm>
            <a:off x="3932238" y="3406775"/>
            <a:ext cx="0" cy="358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68" name="Line 73"/>
          <p:cNvSpPr/>
          <p:nvPr/>
        </p:nvSpPr>
        <p:spPr>
          <a:xfrm flipH="1">
            <a:off x="3886200" y="3549650"/>
            <a:ext cx="117475" cy="9461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369" name="Line 74"/>
          <p:cNvSpPr/>
          <p:nvPr/>
        </p:nvSpPr>
        <p:spPr>
          <a:xfrm>
            <a:off x="4437063" y="3406775"/>
            <a:ext cx="0" cy="358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70" name="Line 75"/>
          <p:cNvSpPr/>
          <p:nvPr/>
        </p:nvSpPr>
        <p:spPr>
          <a:xfrm>
            <a:off x="4508500" y="3622675"/>
            <a:ext cx="1054100" cy="8509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371" name="Line 76"/>
          <p:cNvSpPr/>
          <p:nvPr/>
        </p:nvSpPr>
        <p:spPr>
          <a:xfrm>
            <a:off x="4940300" y="3406775"/>
            <a:ext cx="0" cy="358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7372" name="Line 77"/>
          <p:cNvSpPr/>
          <p:nvPr/>
        </p:nvSpPr>
        <p:spPr>
          <a:xfrm>
            <a:off x="5011738" y="3622675"/>
            <a:ext cx="2836862" cy="8731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373" name="Oval 78"/>
          <p:cNvSpPr/>
          <p:nvPr/>
        </p:nvSpPr>
        <p:spPr>
          <a:xfrm>
            <a:off x="3201988" y="3527425"/>
            <a:ext cx="71437" cy="71438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7374" name="Oval 79"/>
          <p:cNvSpPr/>
          <p:nvPr/>
        </p:nvSpPr>
        <p:spPr>
          <a:xfrm>
            <a:off x="3605213" y="3567113"/>
            <a:ext cx="71437" cy="71437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7375" name="Oval 80"/>
          <p:cNvSpPr/>
          <p:nvPr/>
        </p:nvSpPr>
        <p:spPr>
          <a:xfrm>
            <a:off x="3971925" y="3549650"/>
            <a:ext cx="71438" cy="71438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7376" name="Oval 81"/>
          <p:cNvSpPr/>
          <p:nvPr/>
        </p:nvSpPr>
        <p:spPr>
          <a:xfrm>
            <a:off x="4470400" y="3549650"/>
            <a:ext cx="71438" cy="71438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7377" name="Oval 82"/>
          <p:cNvSpPr/>
          <p:nvPr/>
        </p:nvSpPr>
        <p:spPr>
          <a:xfrm>
            <a:off x="4962525" y="3560763"/>
            <a:ext cx="71438" cy="71437"/>
          </a:xfrm>
          <a:prstGeom prst="ellipse">
            <a:avLst/>
          </a:prstGeom>
          <a:solidFill>
            <a:schemeClr val="tx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53370" name="Text Box 122"/>
          <p:cNvSpPr txBox="1"/>
          <p:nvPr/>
        </p:nvSpPr>
        <p:spPr>
          <a:xfrm>
            <a:off x="1408113" y="4549775"/>
            <a:ext cx="344487" cy="30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3371" name="Text Box 123"/>
          <p:cNvSpPr txBox="1"/>
          <p:nvPr/>
        </p:nvSpPr>
        <p:spPr>
          <a:xfrm>
            <a:off x="2703513" y="4527550"/>
            <a:ext cx="344487" cy="30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53373" name="Text Box 125"/>
          <p:cNvSpPr txBox="1"/>
          <p:nvPr/>
        </p:nvSpPr>
        <p:spPr>
          <a:xfrm>
            <a:off x="4659313" y="4484688"/>
            <a:ext cx="449262" cy="3270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</a:rPr>
              <a:t>17</a:t>
            </a:r>
          </a:p>
        </p:txBody>
      </p:sp>
      <p:sp>
        <p:nvSpPr>
          <p:cNvPr id="53374" name="Text Box 126"/>
          <p:cNvSpPr txBox="1"/>
          <p:nvPr/>
        </p:nvSpPr>
        <p:spPr>
          <a:xfrm>
            <a:off x="6934200" y="4506913"/>
            <a:ext cx="422275" cy="30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solidFill>
                  <a:schemeClr val="tx2"/>
                </a:solidFill>
                <a:latin typeface="Times New Roman" panose="02020603050405020304" pitchFamily="18" charset="0"/>
              </a:rPr>
              <a:t>48</a:t>
            </a:r>
          </a:p>
        </p:txBody>
      </p:sp>
      <p:sp>
        <p:nvSpPr>
          <p:cNvPr id="57382" name="Rectangle 127"/>
          <p:cNvSpPr/>
          <p:nvPr/>
        </p:nvSpPr>
        <p:spPr>
          <a:xfrm>
            <a:off x="2895600" y="5126038"/>
            <a:ext cx="2895600" cy="36036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dirty="0"/>
              <a:t>A B-Tree of order 5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57383" name="Text Box 129"/>
          <p:cNvSpPr txBox="1"/>
          <p:nvPr/>
        </p:nvSpPr>
        <p:spPr>
          <a:xfrm>
            <a:off x="131763" y="4551363"/>
            <a:ext cx="366712" cy="304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70" grpId="0" animBg="1"/>
      <p:bldP spid="53371" grpId="0" animBg="1"/>
      <p:bldP spid="53373" grpId="0" animBg="1"/>
      <p:bldP spid="5337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Specialization (I)</a:t>
            </a:r>
          </a:p>
        </p:txBody>
      </p:sp>
      <p:sp>
        <p:nvSpPr>
          <p:cNvPr id="93187" name="Rectangle 3"/>
          <p:cNvSpPr/>
          <p:nvPr/>
        </p:nvSpPr>
        <p:spPr>
          <a:xfrm>
            <a:off x="468313" y="1700213"/>
            <a:ext cx="8523287" cy="216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hlinkClick r:id="rId2"/>
              </a:rPr>
              <a:t>2-3-4 tree</a:t>
            </a:r>
            <a:r>
              <a:rPr lang="en-US" altLang="zh-CN" sz="2800" b="1" i="1" dirty="0"/>
              <a:t> (</a:t>
            </a:r>
            <a:r>
              <a:rPr lang="en-US" altLang="zh-CN" sz="2400" b="1" i="1" dirty="0"/>
              <a:t>A B-tree of order 4):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/>
              <a:t>i.e. internal nodes have </a:t>
            </a:r>
            <a:r>
              <a:rPr lang="en-US" altLang="zh-CN" sz="2400" b="1" i="1" dirty="0">
                <a:solidFill>
                  <a:srgbClr val="0066FF"/>
                </a:solidFill>
              </a:rPr>
              <a:t>two</a:t>
            </a:r>
            <a:r>
              <a:rPr lang="en-US" altLang="zh-CN" sz="2400" b="1" i="1" dirty="0"/>
              <a:t>, </a:t>
            </a:r>
            <a:r>
              <a:rPr lang="en-US" altLang="zh-CN" sz="2400" b="1" i="1" dirty="0">
                <a:solidFill>
                  <a:srgbClr val="0066FF"/>
                </a:solidFill>
              </a:rPr>
              <a:t>three</a:t>
            </a:r>
            <a:r>
              <a:rPr lang="en-US" altLang="zh-CN" sz="2400" b="1" i="1" dirty="0"/>
              <a:t>, or </a:t>
            </a:r>
            <a:r>
              <a:rPr lang="en-US" altLang="zh-CN" sz="2400" b="1" i="1" dirty="0">
                <a:solidFill>
                  <a:srgbClr val="0066FF"/>
                </a:solidFill>
              </a:rPr>
              <a:t>four</a:t>
            </a:r>
            <a:r>
              <a:rPr lang="en-US" altLang="zh-CN" sz="2400" b="1" i="1" dirty="0"/>
              <a:t> children.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/>
              <a:t>                            </a:t>
            </a:r>
            <a:r>
              <a:rPr lang="en-US" altLang="zh-CN" sz="2400" b="1" i="1" dirty="0">
                <a:solidFill>
                  <a:srgbClr val="0066FF"/>
                </a:solidFill>
              </a:rPr>
              <a:t>one</a:t>
            </a:r>
            <a:r>
              <a:rPr lang="en-US" altLang="zh-CN" sz="2400" b="1" i="1" dirty="0"/>
              <a:t>, </a:t>
            </a:r>
            <a:r>
              <a:rPr lang="en-US" altLang="zh-CN" sz="2400" b="1" i="1" dirty="0">
                <a:solidFill>
                  <a:srgbClr val="0066FF"/>
                </a:solidFill>
              </a:rPr>
              <a:t>two</a:t>
            </a:r>
            <a:r>
              <a:rPr lang="en-US" altLang="zh-CN" sz="2400" b="1" i="1" dirty="0"/>
              <a:t>    or </a:t>
            </a:r>
            <a:r>
              <a:rPr lang="en-US" altLang="zh-CN" sz="2400" b="1" i="1" dirty="0">
                <a:solidFill>
                  <a:srgbClr val="0066FF"/>
                </a:solidFill>
              </a:rPr>
              <a:t>three</a:t>
            </a:r>
            <a:r>
              <a:rPr lang="en-US" altLang="zh-CN" sz="2400" b="1" i="1" dirty="0"/>
              <a:t> keys   </a:t>
            </a:r>
            <a:r>
              <a:rPr lang="en-US" altLang="zh-CN" sz="2800" b="1" i="1" dirty="0"/>
              <a:t> 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i="1" dirty="0">
                <a:latin typeface="Arial" panose="020B0604020202020204" pitchFamily="34" charset="0"/>
              </a:rPr>
              <a:t>   </a:t>
            </a:r>
            <a:endParaRPr lang="en-US" altLang="zh-CN" sz="2800" i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 </a:t>
            </a:r>
            <a:endParaRPr lang="en-US" altLang="zh-CN" sz="2800" b="1" i="1" dirty="0">
              <a:latin typeface="Arial" panose="020B0604020202020204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0" y="3854450"/>
            <a:ext cx="8845550" cy="2393950"/>
            <a:chOff x="96" y="1920"/>
            <a:chExt cx="5572" cy="1508"/>
          </a:xfrm>
        </p:grpSpPr>
        <p:sp>
          <p:nvSpPr>
            <p:cNvPr id="59412" name="Rectangle 5"/>
            <p:cNvSpPr>
              <a:spLocks noChangeAspect="1"/>
            </p:cNvSpPr>
            <p:nvPr/>
          </p:nvSpPr>
          <p:spPr>
            <a:xfrm>
              <a:off x="413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13" name="Rectangle 6"/>
            <p:cNvSpPr>
              <a:spLocks noChangeAspect="1"/>
            </p:cNvSpPr>
            <p:nvPr/>
          </p:nvSpPr>
          <p:spPr>
            <a:xfrm>
              <a:off x="528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59414" name="Rectangle 7"/>
            <p:cNvSpPr>
              <a:spLocks noChangeAspect="1"/>
            </p:cNvSpPr>
            <p:nvPr/>
          </p:nvSpPr>
          <p:spPr>
            <a:xfrm>
              <a:off x="701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15" name="Rectangle 8"/>
            <p:cNvSpPr>
              <a:spLocks noChangeAspect="1"/>
            </p:cNvSpPr>
            <p:nvPr/>
          </p:nvSpPr>
          <p:spPr>
            <a:xfrm>
              <a:off x="816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59416" name="Rectangle 9"/>
            <p:cNvSpPr>
              <a:spLocks noChangeAspect="1"/>
            </p:cNvSpPr>
            <p:nvPr/>
          </p:nvSpPr>
          <p:spPr>
            <a:xfrm>
              <a:off x="989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17" name="Rectangle 10"/>
            <p:cNvSpPr>
              <a:spLocks noChangeAspect="1"/>
            </p:cNvSpPr>
            <p:nvPr/>
          </p:nvSpPr>
          <p:spPr>
            <a:xfrm>
              <a:off x="1104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18" name="Rectangle 11"/>
            <p:cNvSpPr>
              <a:spLocks noChangeAspect="1"/>
            </p:cNvSpPr>
            <p:nvPr/>
          </p:nvSpPr>
          <p:spPr>
            <a:xfrm>
              <a:off x="1277" y="2640"/>
              <a:ext cx="115" cy="230"/>
            </a:xfrm>
            <a:prstGeom prst="rect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59419" name="Group 12"/>
            <p:cNvGrpSpPr>
              <a:grpSpLocks noChangeAspect="1"/>
            </p:cNvGrpSpPr>
            <p:nvPr/>
          </p:nvGrpSpPr>
          <p:grpSpPr>
            <a:xfrm>
              <a:off x="1776" y="2640"/>
              <a:ext cx="980" cy="230"/>
              <a:chOff x="1872" y="2112"/>
              <a:chExt cx="816" cy="192"/>
            </a:xfrm>
          </p:grpSpPr>
          <p:sp>
            <p:nvSpPr>
              <p:cNvPr id="59471" name="Rectangle 13"/>
              <p:cNvSpPr>
                <a:spLocks noChangeAspect="1"/>
              </p:cNvSpPr>
              <p:nvPr/>
            </p:nvSpPr>
            <p:spPr>
              <a:xfrm>
                <a:off x="187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59472" name="Rectangle 14"/>
              <p:cNvSpPr>
                <a:spLocks noChangeAspect="1"/>
              </p:cNvSpPr>
              <p:nvPr/>
            </p:nvSpPr>
            <p:spPr>
              <a:xfrm>
                <a:off x="196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25</a:t>
                </a:r>
              </a:p>
            </p:txBody>
          </p:sp>
          <p:sp>
            <p:nvSpPr>
              <p:cNvPr id="59473" name="Rectangle 15"/>
              <p:cNvSpPr>
                <a:spLocks noChangeAspect="1"/>
              </p:cNvSpPr>
              <p:nvPr/>
            </p:nvSpPr>
            <p:spPr>
              <a:xfrm>
                <a:off x="211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59474" name="Rectangle 16"/>
              <p:cNvSpPr>
                <a:spLocks noChangeAspect="1"/>
              </p:cNvSpPr>
              <p:nvPr/>
            </p:nvSpPr>
            <p:spPr>
              <a:xfrm>
                <a:off x="220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31</a:t>
                </a:r>
              </a:p>
            </p:txBody>
          </p:sp>
          <p:sp>
            <p:nvSpPr>
              <p:cNvPr id="59475" name="Rectangle 17"/>
              <p:cNvSpPr>
                <a:spLocks noChangeAspect="1"/>
              </p:cNvSpPr>
              <p:nvPr/>
            </p:nvSpPr>
            <p:spPr>
              <a:xfrm>
                <a:off x="235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59476" name="Rectangle 18"/>
              <p:cNvSpPr>
                <a:spLocks noChangeAspect="1"/>
              </p:cNvSpPr>
              <p:nvPr/>
            </p:nvSpPr>
            <p:spPr>
              <a:xfrm>
                <a:off x="244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chemeClr val="hlink"/>
                    </a:solidFill>
                    <a:latin typeface="Times New Roman" panose="02020603050405020304" pitchFamily="18" charset="0"/>
                  </a:rPr>
                  <a:t>41</a:t>
                </a:r>
              </a:p>
            </p:txBody>
          </p:sp>
          <p:sp>
            <p:nvSpPr>
              <p:cNvPr id="59477" name="Rectangle 19"/>
              <p:cNvSpPr>
                <a:spLocks noChangeAspect="1"/>
              </p:cNvSpPr>
              <p:nvPr/>
            </p:nvSpPr>
            <p:spPr>
              <a:xfrm>
                <a:off x="259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59420" name="Rectangle 20"/>
            <p:cNvSpPr>
              <a:spLocks noChangeAspect="1"/>
            </p:cNvSpPr>
            <p:nvPr/>
          </p:nvSpPr>
          <p:spPr>
            <a:xfrm>
              <a:off x="3120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21" name="Rectangle 21"/>
            <p:cNvSpPr>
              <a:spLocks noChangeAspect="1"/>
            </p:cNvSpPr>
            <p:nvPr/>
          </p:nvSpPr>
          <p:spPr>
            <a:xfrm>
              <a:off x="3235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59</a:t>
              </a:r>
            </a:p>
          </p:txBody>
        </p:sp>
        <p:sp>
          <p:nvSpPr>
            <p:cNvPr id="59422" name="Rectangle 22"/>
            <p:cNvSpPr>
              <a:spLocks noChangeAspect="1"/>
            </p:cNvSpPr>
            <p:nvPr/>
          </p:nvSpPr>
          <p:spPr>
            <a:xfrm>
              <a:off x="3408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23" name="Rectangle 23"/>
            <p:cNvSpPr>
              <a:spLocks noChangeAspect="1"/>
            </p:cNvSpPr>
            <p:nvPr/>
          </p:nvSpPr>
          <p:spPr>
            <a:xfrm>
              <a:off x="3523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24" name="Rectangle 24"/>
            <p:cNvSpPr>
              <a:spLocks noChangeAspect="1"/>
            </p:cNvSpPr>
            <p:nvPr/>
          </p:nvSpPr>
          <p:spPr>
            <a:xfrm>
              <a:off x="3696" y="2640"/>
              <a:ext cx="115" cy="230"/>
            </a:xfrm>
            <a:prstGeom prst="rect">
              <a:avLst/>
            </a:prstGeom>
            <a:solidFill>
              <a:schemeClr val="tx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25" name="Rectangle 25"/>
            <p:cNvSpPr>
              <a:spLocks noChangeAspect="1"/>
            </p:cNvSpPr>
            <p:nvPr/>
          </p:nvSpPr>
          <p:spPr>
            <a:xfrm>
              <a:off x="3811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26" name="Rectangle 26"/>
            <p:cNvSpPr>
              <a:spLocks noChangeAspect="1"/>
            </p:cNvSpPr>
            <p:nvPr/>
          </p:nvSpPr>
          <p:spPr>
            <a:xfrm>
              <a:off x="3984" y="2640"/>
              <a:ext cx="115" cy="230"/>
            </a:xfrm>
            <a:prstGeom prst="rect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27" name="Rectangle 27"/>
            <p:cNvSpPr>
              <a:spLocks noChangeAspect="1"/>
            </p:cNvSpPr>
            <p:nvPr/>
          </p:nvSpPr>
          <p:spPr>
            <a:xfrm>
              <a:off x="4416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28" name="Rectangle 28"/>
            <p:cNvSpPr>
              <a:spLocks noChangeAspect="1"/>
            </p:cNvSpPr>
            <p:nvPr/>
          </p:nvSpPr>
          <p:spPr>
            <a:xfrm>
              <a:off x="4531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84</a:t>
              </a:r>
            </a:p>
          </p:txBody>
        </p:sp>
        <p:sp>
          <p:nvSpPr>
            <p:cNvPr id="59429" name="Rectangle 29"/>
            <p:cNvSpPr>
              <a:spLocks noChangeAspect="1"/>
            </p:cNvSpPr>
            <p:nvPr/>
          </p:nvSpPr>
          <p:spPr>
            <a:xfrm>
              <a:off x="4704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30" name="Rectangle 30"/>
            <p:cNvSpPr>
              <a:spLocks noChangeAspect="1"/>
            </p:cNvSpPr>
            <p:nvPr/>
          </p:nvSpPr>
          <p:spPr>
            <a:xfrm>
              <a:off x="4819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91</a:t>
              </a:r>
            </a:p>
          </p:txBody>
        </p:sp>
        <p:sp>
          <p:nvSpPr>
            <p:cNvPr id="59431" name="Rectangle 31"/>
            <p:cNvSpPr>
              <a:spLocks noChangeAspect="1"/>
            </p:cNvSpPr>
            <p:nvPr/>
          </p:nvSpPr>
          <p:spPr>
            <a:xfrm>
              <a:off x="4992" y="2640"/>
              <a:ext cx="115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59432" name="Rectangle 32"/>
            <p:cNvSpPr>
              <a:spLocks noChangeAspect="1"/>
            </p:cNvSpPr>
            <p:nvPr/>
          </p:nvSpPr>
          <p:spPr>
            <a:xfrm>
              <a:off x="5107" y="2640"/>
              <a:ext cx="173" cy="23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9433" name="Rectangle 33"/>
            <p:cNvSpPr>
              <a:spLocks noChangeAspect="1"/>
            </p:cNvSpPr>
            <p:nvPr/>
          </p:nvSpPr>
          <p:spPr>
            <a:xfrm>
              <a:off x="5280" y="2640"/>
              <a:ext cx="115" cy="230"/>
            </a:xfrm>
            <a:prstGeom prst="rect">
              <a:avLst/>
            </a:prstGeom>
            <a:solidFill>
              <a:srgbClr val="000000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59434" name="Group 34"/>
            <p:cNvGrpSpPr>
              <a:grpSpLocks noChangeAspect="1"/>
            </p:cNvGrpSpPr>
            <p:nvPr/>
          </p:nvGrpSpPr>
          <p:grpSpPr>
            <a:xfrm>
              <a:off x="96" y="3216"/>
              <a:ext cx="5572" cy="212"/>
              <a:chOff x="288" y="3216"/>
              <a:chExt cx="5040" cy="192"/>
            </a:xfrm>
          </p:grpSpPr>
          <p:sp>
            <p:nvSpPr>
              <p:cNvPr id="59459" name="Rectangle 35"/>
              <p:cNvSpPr>
                <a:spLocks noChangeAspect="1"/>
              </p:cNvSpPr>
              <p:nvPr/>
            </p:nvSpPr>
            <p:spPr>
              <a:xfrm>
                <a:off x="288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1,4,8,11</a:t>
                </a:r>
              </a:p>
            </p:txBody>
          </p:sp>
          <p:sp>
            <p:nvSpPr>
              <p:cNvPr id="59460" name="Rectangle 36"/>
              <p:cNvSpPr>
                <a:spLocks noChangeAspect="1"/>
              </p:cNvSpPr>
              <p:nvPr/>
            </p:nvSpPr>
            <p:spPr>
              <a:xfrm>
                <a:off x="768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12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,13</a:t>
                </a:r>
              </a:p>
            </p:txBody>
          </p:sp>
          <p:sp>
            <p:nvSpPr>
              <p:cNvPr id="59461" name="Rectangle 37"/>
              <p:cNvSpPr>
                <a:spLocks noChangeAspect="1"/>
              </p:cNvSpPr>
              <p:nvPr/>
            </p:nvSpPr>
            <p:spPr>
              <a:xfrm>
                <a:off x="1152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15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,18,19</a:t>
                </a:r>
              </a:p>
            </p:txBody>
          </p:sp>
          <p:sp>
            <p:nvSpPr>
              <p:cNvPr id="59462" name="Rectangle 38"/>
              <p:cNvSpPr>
                <a:spLocks noChangeAspect="1"/>
              </p:cNvSpPr>
              <p:nvPr/>
            </p:nvSpPr>
            <p:spPr>
              <a:xfrm>
                <a:off x="1632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21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,24</a:t>
                </a:r>
              </a:p>
            </p:txBody>
          </p:sp>
          <p:sp>
            <p:nvSpPr>
              <p:cNvPr id="59463" name="Rectangle 39"/>
              <p:cNvSpPr>
                <a:spLocks noChangeAspect="1"/>
              </p:cNvSpPr>
              <p:nvPr/>
            </p:nvSpPr>
            <p:spPr>
              <a:xfrm>
                <a:off x="2016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25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,26</a:t>
                </a:r>
              </a:p>
            </p:txBody>
          </p:sp>
          <p:sp>
            <p:nvSpPr>
              <p:cNvPr id="59464" name="Rectangle 40"/>
              <p:cNvSpPr>
                <a:spLocks noChangeAspect="1"/>
              </p:cNvSpPr>
              <p:nvPr/>
            </p:nvSpPr>
            <p:spPr>
              <a:xfrm>
                <a:off x="2400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31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,38</a:t>
                </a:r>
              </a:p>
            </p:txBody>
          </p:sp>
          <p:sp>
            <p:nvSpPr>
              <p:cNvPr id="59465" name="Rectangle 41"/>
              <p:cNvSpPr>
                <a:spLocks noChangeAspect="1"/>
              </p:cNvSpPr>
              <p:nvPr/>
            </p:nvSpPr>
            <p:spPr>
              <a:xfrm>
                <a:off x="2784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41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,43,46</a:t>
                </a:r>
              </a:p>
            </p:txBody>
          </p:sp>
          <p:sp>
            <p:nvSpPr>
              <p:cNvPr id="59466" name="Rectangle 42"/>
              <p:cNvSpPr>
                <a:spLocks noChangeAspect="1"/>
              </p:cNvSpPr>
              <p:nvPr/>
            </p:nvSpPr>
            <p:spPr>
              <a:xfrm>
                <a:off x="3264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48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,49,50</a:t>
                </a:r>
              </a:p>
            </p:txBody>
          </p:sp>
          <p:sp>
            <p:nvSpPr>
              <p:cNvPr id="59467" name="Rectangle 43"/>
              <p:cNvSpPr>
                <a:spLocks noChangeAspect="1"/>
              </p:cNvSpPr>
              <p:nvPr/>
            </p:nvSpPr>
            <p:spPr>
              <a:xfrm>
                <a:off x="3744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59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,68</a:t>
                </a:r>
              </a:p>
            </p:txBody>
          </p:sp>
          <p:sp>
            <p:nvSpPr>
              <p:cNvPr id="59468" name="Rectangle 44"/>
              <p:cNvSpPr>
                <a:spLocks noChangeAspect="1"/>
              </p:cNvSpPr>
              <p:nvPr/>
            </p:nvSpPr>
            <p:spPr>
              <a:xfrm>
                <a:off x="4128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72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,78</a:t>
                </a:r>
              </a:p>
            </p:txBody>
          </p:sp>
          <p:sp>
            <p:nvSpPr>
              <p:cNvPr id="59469" name="Rectangle 45"/>
              <p:cNvSpPr>
                <a:spLocks noChangeAspect="1"/>
              </p:cNvSpPr>
              <p:nvPr/>
            </p:nvSpPr>
            <p:spPr>
              <a:xfrm>
                <a:off x="4512" y="3216"/>
                <a:ext cx="33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84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,88</a:t>
                </a:r>
              </a:p>
            </p:txBody>
          </p:sp>
          <p:sp>
            <p:nvSpPr>
              <p:cNvPr id="59470" name="Rectangle 46"/>
              <p:cNvSpPr>
                <a:spLocks noChangeAspect="1"/>
              </p:cNvSpPr>
              <p:nvPr/>
            </p:nvSpPr>
            <p:spPr>
              <a:xfrm>
                <a:off x="4896" y="3216"/>
                <a:ext cx="432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91</a:t>
                </a:r>
                <a:r>
                  <a:rPr lang="en-US" altLang="zh-CN" sz="1600" b="1" dirty="0">
                    <a:latin typeface="Times New Roman" panose="02020603050405020304" pitchFamily="18" charset="0"/>
                  </a:rPr>
                  <a:t>,92,99</a:t>
                </a:r>
              </a:p>
            </p:txBody>
          </p:sp>
        </p:grpSp>
        <p:grpSp>
          <p:nvGrpSpPr>
            <p:cNvPr id="59435" name="Group 47"/>
            <p:cNvGrpSpPr>
              <a:grpSpLocks noChangeAspect="1"/>
            </p:cNvGrpSpPr>
            <p:nvPr/>
          </p:nvGrpSpPr>
          <p:grpSpPr>
            <a:xfrm>
              <a:off x="2208" y="1920"/>
              <a:ext cx="979" cy="230"/>
              <a:chOff x="1872" y="2112"/>
              <a:chExt cx="816" cy="192"/>
            </a:xfrm>
          </p:grpSpPr>
          <p:sp>
            <p:nvSpPr>
              <p:cNvPr id="59452" name="Rectangle 48"/>
              <p:cNvSpPr>
                <a:spLocks noChangeAspect="1"/>
              </p:cNvSpPr>
              <p:nvPr/>
            </p:nvSpPr>
            <p:spPr>
              <a:xfrm>
                <a:off x="187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59453" name="Rectangle 49"/>
              <p:cNvSpPr>
                <a:spLocks noChangeAspect="1"/>
              </p:cNvSpPr>
              <p:nvPr/>
            </p:nvSpPr>
            <p:spPr>
              <a:xfrm>
                <a:off x="196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21</a:t>
                </a:r>
              </a:p>
            </p:txBody>
          </p:sp>
          <p:sp>
            <p:nvSpPr>
              <p:cNvPr id="59454" name="Rectangle 50"/>
              <p:cNvSpPr>
                <a:spLocks noChangeAspect="1"/>
              </p:cNvSpPr>
              <p:nvPr/>
            </p:nvSpPr>
            <p:spPr>
              <a:xfrm>
                <a:off x="211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59455" name="Rectangle 51"/>
              <p:cNvSpPr>
                <a:spLocks noChangeAspect="1"/>
              </p:cNvSpPr>
              <p:nvPr/>
            </p:nvSpPr>
            <p:spPr>
              <a:xfrm>
                <a:off x="220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48</a:t>
                </a:r>
              </a:p>
            </p:txBody>
          </p:sp>
          <p:sp>
            <p:nvSpPr>
              <p:cNvPr id="59456" name="Rectangle 52"/>
              <p:cNvSpPr>
                <a:spLocks noChangeAspect="1"/>
              </p:cNvSpPr>
              <p:nvPr/>
            </p:nvSpPr>
            <p:spPr>
              <a:xfrm>
                <a:off x="235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59457" name="Rectangle 53"/>
              <p:cNvSpPr>
                <a:spLocks noChangeAspect="1"/>
              </p:cNvSpPr>
              <p:nvPr/>
            </p:nvSpPr>
            <p:spPr>
              <a:xfrm>
                <a:off x="2448" y="2112"/>
                <a:ext cx="144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72</a:t>
                </a:r>
              </a:p>
            </p:txBody>
          </p:sp>
          <p:sp>
            <p:nvSpPr>
              <p:cNvPr id="59458" name="Rectangle 54"/>
              <p:cNvSpPr>
                <a:spLocks noChangeAspect="1"/>
              </p:cNvSpPr>
              <p:nvPr/>
            </p:nvSpPr>
            <p:spPr>
              <a:xfrm>
                <a:off x="2592" y="2112"/>
                <a:ext cx="96" cy="192"/>
              </a:xfrm>
              <a:prstGeom prst="rect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59436" name="Line 55"/>
            <p:cNvSpPr/>
            <p:nvPr/>
          </p:nvSpPr>
          <p:spPr>
            <a:xfrm flipH="1">
              <a:off x="960" y="2064"/>
              <a:ext cx="1296" cy="57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37" name="Line 56"/>
            <p:cNvSpPr/>
            <p:nvPr/>
          </p:nvSpPr>
          <p:spPr>
            <a:xfrm flipH="1">
              <a:off x="2304" y="2064"/>
              <a:ext cx="240" cy="57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38" name="Line 57"/>
            <p:cNvSpPr/>
            <p:nvPr/>
          </p:nvSpPr>
          <p:spPr>
            <a:xfrm>
              <a:off x="2832" y="2064"/>
              <a:ext cx="672" cy="57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39" name="Line 58"/>
            <p:cNvSpPr/>
            <p:nvPr/>
          </p:nvSpPr>
          <p:spPr>
            <a:xfrm>
              <a:off x="3120" y="2064"/>
              <a:ext cx="1776" cy="57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0" name="Line 59"/>
            <p:cNvSpPr/>
            <p:nvPr/>
          </p:nvSpPr>
          <p:spPr>
            <a:xfrm flipH="1">
              <a:off x="336" y="2784"/>
              <a:ext cx="144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1" name="Line 60"/>
            <p:cNvSpPr/>
            <p:nvPr/>
          </p:nvSpPr>
          <p:spPr>
            <a:xfrm>
              <a:off x="768" y="2784"/>
              <a:ext cx="48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2" name="Line 61"/>
            <p:cNvSpPr/>
            <p:nvPr/>
          </p:nvSpPr>
          <p:spPr>
            <a:xfrm>
              <a:off x="1056" y="2784"/>
              <a:ext cx="240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3" name="Line 62"/>
            <p:cNvSpPr/>
            <p:nvPr/>
          </p:nvSpPr>
          <p:spPr>
            <a:xfrm flipH="1">
              <a:off x="1776" y="2784"/>
              <a:ext cx="48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4" name="Line 63"/>
            <p:cNvSpPr/>
            <p:nvPr/>
          </p:nvSpPr>
          <p:spPr>
            <a:xfrm>
              <a:off x="2112" y="2784"/>
              <a:ext cx="96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5" name="Line 64"/>
            <p:cNvSpPr/>
            <p:nvPr/>
          </p:nvSpPr>
          <p:spPr>
            <a:xfrm>
              <a:off x="2400" y="2784"/>
              <a:ext cx="192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6" name="Line 65"/>
            <p:cNvSpPr/>
            <p:nvPr/>
          </p:nvSpPr>
          <p:spPr>
            <a:xfrm>
              <a:off x="2688" y="2784"/>
              <a:ext cx="384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7" name="Line 66"/>
            <p:cNvSpPr/>
            <p:nvPr/>
          </p:nvSpPr>
          <p:spPr>
            <a:xfrm>
              <a:off x="3168" y="2784"/>
              <a:ext cx="336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8" name="Line 67"/>
            <p:cNvSpPr/>
            <p:nvPr/>
          </p:nvSpPr>
          <p:spPr>
            <a:xfrm>
              <a:off x="3456" y="2784"/>
              <a:ext cx="624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49" name="Line 68"/>
            <p:cNvSpPr/>
            <p:nvPr/>
          </p:nvSpPr>
          <p:spPr>
            <a:xfrm>
              <a:off x="4464" y="2784"/>
              <a:ext cx="48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50" name="Line 69"/>
            <p:cNvSpPr/>
            <p:nvPr/>
          </p:nvSpPr>
          <p:spPr>
            <a:xfrm>
              <a:off x="4752" y="2784"/>
              <a:ext cx="192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9451" name="Line 70"/>
            <p:cNvSpPr/>
            <p:nvPr/>
          </p:nvSpPr>
          <p:spPr>
            <a:xfrm>
              <a:off x="5040" y="2784"/>
              <a:ext cx="336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" name="Group 74"/>
          <p:cNvGrpSpPr/>
          <p:nvPr/>
        </p:nvGrpSpPr>
        <p:grpSpPr>
          <a:xfrm>
            <a:off x="457200" y="6172200"/>
            <a:ext cx="7924800" cy="457200"/>
            <a:chOff x="384" y="3600"/>
            <a:chExt cx="4992" cy="288"/>
          </a:xfrm>
        </p:grpSpPr>
        <p:sp>
          <p:nvSpPr>
            <p:cNvPr id="59401" name="Text Box 75"/>
            <p:cNvSpPr txBox="1"/>
            <p:nvPr/>
          </p:nvSpPr>
          <p:spPr>
            <a:xfrm>
              <a:off x="384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02" name="Text Box 76"/>
            <p:cNvSpPr txBox="1"/>
            <p:nvPr/>
          </p:nvSpPr>
          <p:spPr>
            <a:xfrm>
              <a:off x="816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03" name="Text Box 77"/>
            <p:cNvSpPr txBox="1"/>
            <p:nvPr/>
          </p:nvSpPr>
          <p:spPr>
            <a:xfrm>
              <a:off x="1344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04" name="Text Box 78"/>
            <p:cNvSpPr txBox="1"/>
            <p:nvPr/>
          </p:nvSpPr>
          <p:spPr>
            <a:xfrm>
              <a:off x="1776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05" name="Text Box 79"/>
            <p:cNvSpPr txBox="1"/>
            <p:nvPr/>
          </p:nvSpPr>
          <p:spPr>
            <a:xfrm>
              <a:off x="2160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06" name="Text Box 80"/>
            <p:cNvSpPr txBox="1"/>
            <p:nvPr/>
          </p:nvSpPr>
          <p:spPr>
            <a:xfrm>
              <a:off x="2592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07" name="Text Box 81"/>
            <p:cNvSpPr txBox="1"/>
            <p:nvPr/>
          </p:nvSpPr>
          <p:spPr>
            <a:xfrm>
              <a:off x="3120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08" name="Text Box 82"/>
            <p:cNvSpPr txBox="1"/>
            <p:nvPr/>
          </p:nvSpPr>
          <p:spPr>
            <a:xfrm>
              <a:off x="3648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09" name="Text Box 83"/>
            <p:cNvSpPr txBox="1"/>
            <p:nvPr/>
          </p:nvSpPr>
          <p:spPr>
            <a:xfrm>
              <a:off x="4080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10" name="Text Box 84"/>
            <p:cNvSpPr txBox="1"/>
            <p:nvPr/>
          </p:nvSpPr>
          <p:spPr>
            <a:xfrm>
              <a:off x="4512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  <p:sp>
          <p:nvSpPr>
            <p:cNvPr id="59411" name="Text Box 85"/>
            <p:cNvSpPr txBox="1"/>
            <p:nvPr/>
          </p:nvSpPr>
          <p:spPr>
            <a:xfrm>
              <a:off x="4944" y="3600"/>
              <a:ext cx="432" cy="28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</a:t>
              </a:r>
            </a:p>
          </p:txBody>
        </p:sp>
      </p:grpSp>
      <p:sp>
        <p:nvSpPr>
          <p:cNvPr id="93271" name="AutoShape 87"/>
          <p:cNvSpPr/>
          <p:nvPr/>
        </p:nvSpPr>
        <p:spPr>
          <a:xfrm>
            <a:off x="5410200" y="3124200"/>
            <a:ext cx="2971800" cy="1524000"/>
          </a:xfrm>
          <a:prstGeom prst="wedgeEllipseCallout">
            <a:avLst>
              <a:gd name="adj1" fmla="val -37981"/>
              <a:gd name="adj2" fmla="val 133856"/>
            </a:avLst>
          </a:prstGeom>
          <a:gradFill rotWithShape="0">
            <a:gsLst>
              <a:gs pos="0">
                <a:srgbClr val="DDDDDD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All the actual data are stored at the leaves.</a:t>
            </a:r>
          </a:p>
        </p:txBody>
      </p:sp>
      <p:sp>
        <p:nvSpPr>
          <p:cNvPr id="93272" name="AutoShape 88"/>
          <p:cNvSpPr/>
          <p:nvPr/>
        </p:nvSpPr>
        <p:spPr>
          <a:xfrm>
            <a:off x="5410200" y="3505200"/>
            <a:ext cx="3276600" cy="1524000"/>
          </a:xfrm>
          <a:prstGeom prst="wedgeEllipseCallout">
            <a:avLst>
              <a:gd name="adj1" fmla="val -86241"/>
              <a:gd name="adj2" fmla="val 103958"/>
            </a:avLst>
          </a:prstGeom>
          <a:gradFill rotWithShape="0">
            <a:gsLst>
              <a:gs pos="0">
                <a:srgbClr val="DDDDDD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Each leaf node conatians at most 4 keys and at least 2 keys</a:t>
            </a:r>
          </a:p>
        </p:txBody>
      </p:sp>
      <p:sp>
        <p:nvSpPr>
          <p:cNvPr id="93273" name="AutoShape 89"/>
          <p:cNvSpPr/>
          <p:nvPr/>
        </p:nvSpPr>
        <p:spPr>
          <a:xfrm>
            <a:off x="5029200" y="2590800"/>
            <a:ext cx="3276600" cy="1524000"/>
          </a:xfrm>
          <a:prstGeom prst="wedgeEllipseCallout">
            <a:avLst>
              <a:gd name="adj1" fmla="val -79556"/>
              <a:gd name="adj2" fmla="val 107917"/>
            </a:avLst>
          </a:prstGeom>
          <a:gradFill rotWithShape="0">
            <a:gsLst>
              <a:gs pos="0">
                <a:srgbClr val="DDDDDD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Each internal node contains at most 3 keys.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93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932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932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271" grpId="0" animBg="1"/>
      <p:bldP spid="93272" grpId="0" animBg="1"/>
      <p:bldP spid="9327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Specialization</a:t>
            </a:r>
          </a:p>
        </p:txBody>
      </p:sp>
      <p:sp>
        <p:nvSpPr>
          <p:cNvPr id="54275" name="Rectangle 3"/>
          <p:cNvSpPr/>
          <p:nvPr/>
        </p:nvSpPr>
        <p:spPr>
          <a:xfrm>
            <a:off x="468313" y="1700213"/>
            <a:ext cx="78486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b="1" i="1" dirty="0">
                <a:hlinkClick r:id="rId2"/>
              </a:rPr>
              <a:t>2-3 tree</a:t>
            </a:r>
            <a:r>
              <a:rPr lang="en-US" altLang="zh-CN" sz="2800" b="1" i="1" dirty="0"/>
              <a:t> (A B-tree of order 3)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/>
              <a:t>i.e. internal nodes have</a:t>
            </a:r>
            <a:r>
              <a:rPr lang="en-US" altLang="zh-CN" sz="2400" b="1" i="1" dirty="0">
                <a:solidFill>
                  <a:srgbClr val="0066FF"/>
                </a:solidFill>
              </a:rPr>
              <a:t> two</a:t>
            </a:r>
            <a:r>
              <a:rPr lang="en-US" altLang="zh-CN" sz="2400" b="1" i="1" dirty="0"/>
              <a:t> or</a:t>
            </a:r>
            <a:r>
              <a:rPr lang="en-US" altLang="zh-CN" sz="2400" b="1" i="1" dirty="0">
                <a:solidFill>
                  <a:srgbClr val="0066FF"/>
                </a:solidFill>
              </a:rPr>
              <a:t> three</a:t>
            </a:r>
            <a:r>
              <a:rPr lang="en-US" altLang="zh-CN" sz="2400" b="1" i="1" dirty="0"/>
              <a:t> children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i="1" dirty="0"/>
              <a:t>     leaf nedes have </a:t>
            </a:r>
            <a:r>
              <a:rPr lang="en-US" altLang="zh-CN" sz="2400" b="1" i="1" dirty="0">
                <a:solidFill>
                  <a:srgbClr val="0066FF"/>
                </a:solidFill>
                <a:sym typeface="+mn-ea"/>
              </a:rPr>
              <a:t>two</a:t>
            </a:r>
            <a:r>
              <a:rPr lang="en-US" altLang="zh-CN" sz="2400" b="1" i="1" dirty="0">
                <a:sym typeface="+mn-ea"/>
              </a:rPr>
              <a:t> or</a:t>
            </a:r>
            <a:r>
              <a:rPr lang="en-US" altLang="zh-CN" sz="2400" b="1" i="1" dirty="0">
                <a:solidFill>
                  <a:srgbClr val="0066FF"/>
                </a:solidFill>
                <a:sym typeface="+mn-ea"/>
              </a:rPr>
              <a:t> three</a:t>
            </a:r>
            <a:r>
              <a:rPr lang="en-US" altLang="zh-CN" sz="2400" b="1" i="1" dirty="0">
                <a:sym typeface="+mn-ea"/>
              </a:rPr>
              <a:t> keys</a:t>
            </a:r>
            <a:endParaRPr lang="en-US" altLang="zh-CN" sz="2400" b="1" i="1" dirty="0"/>
          </a:p>
        </p:txBody>
      </p:sp>
      <p:grpSp>
        <p:nvGrpSpPr>
          <p:cNvPr id="2" name="Group 23"/>
          <p:cNvGrpSpPr/>
          <p:nvPr/>
        </p:nvGrpSpPr>
        <p:grpSpPr>
          <a:xfrm>
            <a:off x="1219200" y="3352800"/>
            <a:ext cx="7086600" cy="1905000"/>
            <a:chOff x="768" y="2112"/>
            <a:chExt cx="4464" cy="1200"/>
          </a:xfrm>
        </p:grpSpPr>
        <p:sp>
          <p:nvSpPr>
            <p:cNvPr id="60421" name="Rectangle 6"/>
            <p:cNvSpPr/>
            <p:nvPr/>
          </p:nvSpPr>
          <p:spPr>
            <a:xfrm>
              <a:off x="2928" y="307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22,23,31</a:t>
              </a:r>
            </a:p>
          </p:txBody>
        </p:sp>
        <p:sp>
          <p:nvSpPr>
            <p:cNvPr id="60422" name="Rectangle 7"/>
            <p:cNvSpPr/>
            <p:nvPr/>
          </p:nvSpPr>
          <p:spPr>
            <a:xfrm>
              <a:off x="3744" y="307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41,52</a:t>
              </a:r>
            </a:p>
          </p:txBody>
        </p:sp>
        <p:sp>
          <p:nvSpPr>
            <p:cNvPr id="60423" name="Rectangle 8"/>
            <p:cNvSpPr/>
            <p:nvPr/>
          </p:nvSpPr>
          <p:spPr>
            <a:xfrm>
              <a:off x="4560" y="307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58,59,61</a:t>
              </a:r>
            </a:p>
          </p:txBody>
        </p:sp>
        <p:sp>
          <p:nvSpPr>
            <p:cNvPr id="60424" name="Oval 9"/>
            <p:cNvSpPr/>
            <p:nvPr/>
          </p:nvSpPr>
          <p:spPr>
            <a:xfrm>
              <a:off x="1392" y="254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16:-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0425" name="Oval 10"/>
            <p:cNvSpPr/>
            <p:nvPr/>
          </p:nvSpPr>
          <p:spPr>
            <a:xfrm>
              <a:off x="3696" y="254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41:58</a:t>
              </a:r>
            </a:p>
          </p:txBody>
        </p:sp>
        <p:sp>
          <p:nvSpPr>
            <p:cNvPr id="60426" name="Line 11"/>
            <p:cNvSpPr/>
            <p:nvPr/>
          </p:nvSpPr>
          <p:spPr>
            <a:xfrm flipH="1">
              <a:off x="1104" y="2784"/>
              <a:ext cx="384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27" name="Line 12"/>
            <p:cNvSpPr/>
            <p:nvPr/>
          </p:nvSpPr>
          <p:spPr>
            <a:xfrm>
              <a:off x="1920" y="2784"/>
              <a:ext cx="19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28" name="Line 13"/>
            <p:cNvSpPr/>
            <p:nvPr/>
          </p:nvSpPr>
          <p:spPr>
            <a:xfrm flipH="1">
              <a:off x="3312" y="2784"/>
              <a:ext cx="48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29" name="Line 14"/>
            <p:cNvSpPr/>
            <p:nvPr/>
          </p:nvSpPr>
          <p:spPr>
            <a:xfrm>
              <a:off x="4032" y="2832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30" name="Line 15"/>
            <p:cNvSpPr/>
            <p:nvPr/>
          </p:nvSpPr>
          <p:spPr>
            <a:xfrm>
              <a:off x="4224" y="2784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0431" name="Group 16"/>
            <p:cNvGrpSpPr/>
            <p:nvPr/>
          </p:nvGrpSpPr>
          <p:grpSpPr>
            <a:xfrm>
              <a:off x="1920" y="2112"/>
              <a:ext cx="1872" cy="480"/>
              <a:chOff x="1728" y="528"/>
              <a:chExt cx="1872" cy="480"/>
            </a:xfrm>
          </p:grpSpPr>
          <p:sp>
            <p:nvSpPr>
              <p:cNvPr id="60434" name="Oval 17"/>
              <p:cNvSpPr/>
              <p:nvPr/>
            </p:nvSpPr>
            <p:spPr>
              <a:xfrm>
                <a:off x="2400" y="528"/>
                <a:ext cx="624" cy="288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22:</a:t>
                </a:r>
                <a:r>
                  <a:rPr lang="en-US" altLang="zh-CN" sz="1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35" name="Line 18"/>
              <p:cNvSpPr/>
              <p:nvPr/>
            </p:nvSpPr>
            <p:spPr>
              <a:xfrm flipH="1">
                <a:off x="1728" y="720"/>
                <a:ext cx="672" cy="28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0436" name="Line 19"/>
              <p:cNvSpPr/>
              <p:nvPr/>
            </p:nvSpPr>
            <p:spPr>
              <a:xfrm>
                <a:off x="3024" y="720"/>
                <a:ext cx="576" cy="28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0432" name="Rectangle 20"/>
            <p:cNvSpPr/>
            <p:nvPr/>
          </p:nvSpPr>
          <p:spPr>
            <a:xfrm>
              <a:off x="1728" y="3072"/>
              <a:ext cx="672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16,17</a:t>
              </a:r>
              <a:endPara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33" name="Rectangle 21"/>
            <p:cNvSpPr/>
            <p:nvPr/>
          </p:nvSpPr>
          <p:spPr>
            <a:xfrm>
              <a:off x="768" y="307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 8,11,12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/>
          <p:nvPr/>
        </p:nvSpPr>
        <p:spPr>
          <a:xfrm>
            <a:off x="457200" y="1828800"/>
            <a:ext cx="327660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66FF"/>
                </a:solidFill>
              </a:rPr>
              <a:t>A B-tree of order 3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66FF"/>
                </a:solidFill>
              </a:rPr>
              <a:t>(2-3 tree)</a:t>
            </a:r>
          </a:p>
        </p:txBody>
      </p:sp>
      <p:sp>
        <p:nvSpPr>
          <p:cNvPr id="61443" name="Line 4"/>
          <p:cNvSpPr/>
          <p:nvPr/>
        </p:nvSpPr>
        <p:spPr>
          <a:xfrm>
            <a:off x="4267200" y="457200"/>
            <a:ext cx="0" cy="3810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444" name="Rectangle 5"/>
          <p:cNvSpPr/>
          <p:nvPr/>
        </p:nvSpPr>
        <p:spPr>
          <a:xfrm>
            <a:off x="3581400" y="304800"/>
            <a:ext cx="1371600" cy="990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1445" name="Rectangle 29"/>
          <p:cNvSpPr/>
          <p:nvPr/>
        </p:nvSpPr>
        <p:spPr>
          <a:xfrm>
            <a:off x="685800" y="152400"/>
            <a:ext cx="76200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/>
              <a:t>Searching For A Target In B-Trees</a:t>
            </a:r>
          </a:p>
        </p:txBody>
      </p:sp>
      <p:grpSp>
        <p:nvGrpSpPr>
          <p:cNvPr id="2" name="Group 30"/>
          <p:cNvGrpSpPr/>
          <p:nvPr/>
        </p:nvGrpSpPr>
        <p:grpSpPr>
          <a:xfrm>
            <a:off x="990600" y="3429000"/>
            <a:ext cx="7086600" cy="1905000"/>
            <a:chOff x="768" y="2112"/>
            <a:chExt cx="4464" cy="1200"/>
          </a:xfrm>
        </p:grpSpPr>
        <p:sp>
          <p:nvSpPr>
            <p:cNvPr id="61447" name="Rectangle 31"/>
            <p:cNvSpPr/>
            <p:nvPr/>
          </p:nvSpPr>
          <p:spPr>
            <a:xfrm>
              <a:off x="2928" y="307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22,23,31</a:t>
              </a:r>
            </a:p>
          </p:txBody>
        </p:sp>
        <p:sp>
          <p:nvSpPr>
            <p:cNvPr id="61448" name="Rectangle 32"/>
            <p:cNvSpPr/>
            <p:nvPr/>
          </p:nvSpPr>
          <p:spPr>
            <a:xfrm>
              <a:off x="3744" y="307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41,52</a:t>
              </a:r>
            </a:p>
          </p:txBody>
        </p:sp>
        <p:sp>
          <p:nvSpPr>
            <p:cNvPr id="61449" name="Rectangle 33"/>
            <p:cNvSpPr/>
            <p:nvPr/>
          </p:nvSpPr>
          <p:spPr>
            <a:xfrm>
              <a:off x="4560" y="307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58,59,61</a:t>
              </a:r>
            </a:p>
          </p:txBody>
        </p:sp>
        <p:sp>
          <p:nvSpPr>
            <p:cNvPr id="61450" name="Oval 34"/>
            <p:cNvSpPr/>
            <p:nvPr/>
          </p:nvSpPr>
          <p:spPr>
            <a:xfrm>
              <a:off x="1392" y="254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16:-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1451" name="Oval 35"/>
            <p:cNvSpPr/>
            <p:nvPr/>
          </p:nvSpPr>
          <p:spPr>
            <a:xfrm>
              <a:off x="3696" y="254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41:58</a:t>
              </a:r>
            </a:p>
          </p:txBody>
        </p:sp>
        <p:sp>
          <p:nvSpPr>
            <p:cNvPr id="61452" name="Line 36"/>
            <p:cNvSpPr/>
            <p:nvPr/>
          </p:nvSpPr>
          <p:spPr>
            <a:xfrm flipH="1">
              <a:off x="1104" y="2784"/>
              <a:ext cx="384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53" name="Line 37"/>
            <p:cNvSpPr/>
            <p:nvPr/>
          </p:nvSpPr>
          <p:spPr>
            <a:xfrm>
              <a:off x="1920" y="2784"/>
              <a:ext cx="19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54" name="Line 38"/>
            <p:cNvSpPr/>
            <p:nvPr/>
          </p:nvSpPr>
          <p:spPr>
            <a:xfrm flipH="1">
              <a:off x="3312" y="2784"/>
              <a:ext cx="48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55" name="Line 39"/>
            <p:cNvSpPr/>
            <p:nvPr/>
          </p:nvSpPr>
          <p:spPr>
            <a:xfrm>
              <a:off x="4032" y="2832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456" name="Line 40"/>
            <p:cNvSpPr/>
            <p:nvPr/>
          </p:nvSpPr>
          <p:spPr>
            <a:xfrm>
              <a:off x="4224" y="2784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1457" name="Group 41"/>
            <p:cNvGrpSpPr/>
            <p:nvPr/>
          </p:nvGrpSpPr>
          <p:grpSpPr>
            <a:xfrm>
              <a:off x="1920" y="2112"/>
              <a:ext cx="1872" cy="480"/>
              <a:chOff x="1728" y="528"/>
              <a:chExt cx="1872" cy="480"/>
            </a:xfrm>
          </p:grpSpPr>
          <p:sp>
            <p:nvSpPr>
              <p:cNvPr id="61460" name="Oval 42"/>
              <p:cNvSpPr/>
              <p:nvPr/>
            </p:nvSpPr>
            <p:spPr>
              <a:xfrm>
                <a:off x="2400" y="528"/>
                <a:ext cx="624" cy="288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</a:rPr>
                  <a:t>22:</a:t>
                </a:r>
                <a:r>
                  <a:rPr lang="en-US" altLang="zh-CN" sz="1800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</a:t>
                </a:r>
                <a:endParaRPr lang="en-US" altLang="zh-CN" sz="1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461" name="Line 43"/>
              <p:cNvSpPr/>
              <p:nvPr/>
            </p:nvSpPr>
            <p:spPr>
              <a:xfrm flipH="1">
                <a:off x="1728" y="720"/>
                <a:ext cx="672" cy="28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462" name="Line 44"/>
              <p:cNvSpPr/>
              <p:nvPr/>
            </p:nvSpPr>
            <p:spPr>
              <a:xfrm>
                <a:off x="3024" y="720"/>
                <a:ext cx="576" cy="28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1458" name="Rectangle 45"/>
            <p:cNvSpPr/>
            <p:nvPr/>
          </p:nvSpPr>
          <p:spPr>
            <a:xfrm>
              <a:off x="1728" y="3072"/>
              <a:ext cx="672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16,17</a:t>
              </a:r>
              <a:endPara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59" name="Rectangle 46"/>
            <p:cNvSpPr/>
            <p:nvPr/>
          </p:nvSpPr>
          <p:spPr>
            <a:xfrm>
              <a:off x="768" y="307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 8,11,12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/>
          <p:nvPr/>
        </p:nvSpPr>
        <p:spPr>
          <a:xfrm>
            <a:off x="457200" y="1828800"/>
            <a:ext cx="327660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66FF"/>
                </a:solidFill>
              </a:rPr>
              <a:t>A B-tree of order 3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0066FF"/>
                </a:solidFill>
              </a:rPr>
              <a:t>(2-3 tree)</a:t>
            </a:r>
          </a:p>
        </p:txBody>
      </p:sp>
      <p:sp>
        <p:nvSpPr>
          <p:cNvPr id="62467" name="Text Box 22"/>
          <p:cNvSpPr txBox="1"/>
          <p:nvPr/>
        </p:nvSpPr>
        <p:spPr>
          <a:xfrm>
            <a:off x="533400" y="2590800"/>
            <a:ext cx="20574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 dirty="0">
                <a:solidFill>
                  <a:schemeClr val="hlink"/>
                </a:solidFill>
              </a:rPr>
              <a:t>Find: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52</a:t>
            </a:r>
          </a:p>
        </p:txBody>
      </p:sp>
      <p:sp>
        <p:nvSpPr>
          <p:cNvPr id="62468" name="Line 23"/>
          <p:cNvSpPr/>
          <p:nvPr/>
        </p:nvSpPr>
        <p:spPr>
          <a:xfrm>
            <a:off x="4267200" y="457200"/>
            <a:ext cx="0" cy="38100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2469" name="Rectangle 36"/>
          <p:cNvSpPr/>
          <p:nvPr/>
        </p:nvSpPr>
        <p:spPr>
          <a:xfrm>
            <a:off x="3581400" y="304800"/>
            <a:ext cx="1371600" cy="990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470" name="Rectangle 89"/>
          <p:cNvSpPr/>
          <p:nvPr/>
        </p:nvSpPr>
        <p:spPr>
          <a:xfrm>
            <a:off x="4648200" y="48768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22,23,31</a:t>
            </a:r>
          </a:p>
        </p:txBody>
      </p:sp>
      <p:sp>
        <p:nvSpPr>
          <p:cNvPr id="62471" name="Rectangle 90"/>
          <p:cNvSpPr/>
          <p:nvPr/>
        </p:nvSpPr>
        <p:spPr>
          <a:xfrm>
            <a:off x="5943600" y="48768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41,52</a:t>
            </a:r>
          </a:p>
        </p:txBody>
      </p:sp>
      <p:sp>
        <p:nvSpPr>
          <p:cNvPr id="62472" name="Rectangle 91"/>
          <p:cNvSpPr/>
          <p:nvPr/>
        </p:nvSpPr>
        <p:spPr>
          <a:xfrm>
            <a:off x="7239000" y="48768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58,59,61</a:t>
            </a:r>
          </a:p>
        </p:txBody>
      </p:sp>
      <p:sp>
        <p:nvSpPr>
          <p:cNvPr id="62473" name="Oval 92"/>
          <p:cNvSpPr/>
          <p:nvPr/>
        </p:nvSpPr>
        <p:spPr>
          <a:xfrm>
            <a:off x="2209800" y="4038600"/>
            <a:ext cx="990600" cy="4572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16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62474" name="Oval 93"/>
          <p:cNvSpPr/>
          <p:nvPr/>
        </p:nvSpPr>
        <p:spPr>
          <a:xfrm>
            <a:off x="5867400" y="4038600"/>
            <a:ext cx="990600" cy="4572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41:58</a:t>
            </a:r>
          </a:p>
        </p:txBody>
      </p:sp>
      <p:sp>
        <p:nvSpPr>
          <p:cNvPr id="62475" name="Line 94"/>
          <p:cNvSpPr/>
          <p:nvPr/>
        </p:nvSpPr>
        <p:spPr>
          <a:xfrm flipH="1">
            <a:off x="1752600" y="4419600"/>
            <a:ext cx="609600" cy="533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6" name="Line 95"/>
          <p:cNvSpPr/>
          <p:nvPr/>
        </p:nvSpPr>
        <p:spPr>
          <a:xfrm>
            <a:off x="3048000" y="4419600"/>
            <a:ext cx="381000" cy="5334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7" name="Line 96"/>
          <p:cNvSpPr/>
          <p:nvPr/>
        </p:nvSpPr>
        <p:spPr>
          <a:xfrm flipH="1">
            <a:off x="5257800" y="4419600"/>
            <a:ext cx="7620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8" name="Line 97"/>
          <p:cNvSpPr/>
          <p:nvPr/>
        </p:nvSpPr>
        <p:spPr>
          <a:xfrm>
            <a:off x="6400800" y="4495800"/>
            <a:ext cx="7620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479" name="Line 98"/>
          <p:cNvSpPr/>
          <p:nvPr/>
        </p:nvSpPr>
        <p:spPr>
          <a:xfrm>
            <a:off x="6705600" y="4419600"/>
            <a:ext cx="10668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2480" name="Group 99"/>
          <p:cNvGrpSpPr/>
          <p:nvPr/>
        </p:nvGrpSpPr>
        <p:grpSpPr>
          <a:xfrm>
            <a:off x="3048000" y="3352800"/>
            <a:ext cx="2971800" cy="762000"/>
            <a:chOff x="1728" y="528"/>
            <a:chExt cx="1872" cy="480"/>
          </a:xfrm>
        </p:grpSpPr>
        <p:sp>
          <p:nvSpPr>
            <p:cNvPr id="62491" name="Oval 100"/>
            <p:cNvSpPr/>
            <p:nvPr/>
          </p:nvSpPr>
          <p:spPr>
            <a:xfrm>
              <a:off x="2400" y="528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22: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2492" name="Line 101"/>
            <p:cNvSpPr/>
            <p:nvPr/>
          </p:nvSpPr>
          <p:spPr>
            <a:xfrm flipH="1">
              <a:off x="1728" y="720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93" name="Line 102"/>
            <p:cNvSpPr/>
            <p:nvPr/>
          </p:nvSpPr>
          <p:spPr>
            <a:xfrm>
              <a:off x="3024" y="720"/>
              <a:ext cx="576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2481" name="Rectangle 103"/>
          <p:cNvSpPr/>
          <p:nvPr/>
        </p:nvSpPr>
        <p:spPr>
          <a:xfrm>
            <a:off x="2895600" y="4953000"/>
            <a:ext cx="10668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16,17</a:t>
            </a:r>
            <a:endParaRPr lang="en-US" altLang="zh-CN" sz="1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82" name="Rectangle 104"/>
          <p:cNvSpPr/>
          <p:nvPr/>
        </p:nvSpPr>
        <p:spPr>
          <a:xfrm>
            <a:off x="1219200" y="49530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8,11,12</a:t>
            </a:r>
          </a:p>
        </p:txBody>
      </p:sp>
      <p:sp>
        <p:nvSpPr>
          <p:cNvPr id="95338" name="Line 106"/>
          <p:cNvSpPr/>
          <p:nvPr/>
        </p:nvSpPr>
        <p:spPr>
          <a:xfrm>
            <a:off x="5105400" y="3657600"/>
            <a:ext cx="914400" cy="4572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339" name="Line 107"/>
          <p:cNvSpPr/>
          <p:nvPr/>
        </p:nvSpPr>
        <p:spPr>
          <a:xfrm>
            <a:off x="6400800" y="4495800"/>
            <a:ext cx="76200" cy="3810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340" name="Oval 108"/>
          <p:cNvSpPr/>
          <p:nvPr/>
        </p:nvSpPr>
        <p:spPr>
          <a:xfrm>
            <a:off x="6488113" y="4910138"/>
            <a:ext cx="304800" cy="304800"/>
          </a:xfrm>
          <a:prstGeom prst="ellipse">
            <a:avLst/>
          </a:prstGeom>
          <a:solidFill>
            <a:schemeClr val="tx2">
              <a:alpha val="32941"/>
            </a:schemeClr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5341" name="Text Box 109"/>
          <p:cNvSpPr txBox="1"/>
          <p:nvPr/>
        </p:nvSpPr>
        <p:spPr>
          <a:xfrm>
            <a:off x="533400" y="3138488"/>
            <a:ext cx="20574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 dirty="0">
                <a:solidFill>
                  <a:schemeClr val="hlink"/>
                </a:solidFill>
              </a:rPr>
              <a:t>Find: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22</a:t>
            </a:r>
          </a:p>
        </p:txBody>
      </p:sp>
      <p:sp>
        <p:nvSpPr>
          <p:cNvPr id="95342" name="Line 110"/>
          <p:cNvSpPr/>
          <p:nvPr/>
        </p:nvSpPr>
        <p:spPr>
          <a:xfrm>
            <a:off x="4572000" y="2971800"/>
            <a:ext cx="0" cy="3810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triangle" w="lg" len="lg"/>
          </a:ln>
        </p:spPr>
      </p:sp>
      <p:sp>
        <p:nvSpPr>
          <p:cNvPr id="95343" name="Line 111"/>
          <p:cNvSpPr/>
          <p:nvPr/>
        </p:nvSpPr>
        <p:spPr>
          <a:xfrm flipH="1">
            <a:off x="5257800" y="4419600"/>
            <a:ext cx="762000" cy="4572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344" name="Oval 112"/>
          <p:cNvSpPr/>
          <p:nvPr/>
        </p:nvSpPr>
        <p:spPr>
          <a:xfrm>
            <a:off x="4746625" y="4910138"/>
            <a:ext cx="304800" cy="304800"/>
          </a:xfrm>
          <a:prstGeom prst="ellipse">
            <a:avLst/>
          </a:prstGeom>
          <a:solidFill>
            <a:schemeClr val="tx2">
              <a:alpha val="32941"/>
            </a:schemeClr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2490" name="Rectangle 113"/>
          <p:cNvSpPr/>
          <p:nvPr/>
        </p:nvSpPr>
        <p:spPr>
          <a:xfrm>
            <a:off x="685800" y="152400"/>
            <a:ext cx="76200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/>
              <a:t>Searching For A Target In B-Trees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5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5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5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5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95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" dur="500"/>
                                        <p:tgtEl>
                                          <p:spTgt spid="95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95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95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5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5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5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5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9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340" grpId="0" animBg="1"/>
      <p:bldP spid="95340" grpId="1" animBg="1"/>
      <p:bldP spid="95341" grpId="0"/>
      <p:bldP spid="9534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9"/>
          <p:cNvSpPr/>
          <p:nvPr/>
        </p:nvSpPr>
        <p:spPr>
          <a:xfrm>
            <a:off x="4572000" y="28956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22,23,31</a:t>
            </a:r>
          </a:p>
        </p:txBody>
      </p:sp>
      <p:sp>
        <p:nvSpPr>
          <p:cNvPr id="63491" name="Rectangle 30"/>
          <p:cNvSpPr/>
          <p:nvPr/>
        </p:nvSpPr>
        <p:spPr>
          <a:xfrm>
            <a:off x="5867400" y="28956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41,52</a:t>
            </a:r>
          </a:p>
        </p:txBody>
      </p:sp>
      <p:sp>
        <p:nvSpPr>
          <p:cNvPr id="63492" name="Rectangle 31"/>
          <p:cNvSpPr/>
          <p:nvPr/>
        </p:nvSpPr>
        <p:spPr>
          <a:xfrm>
            <a:off x="7162800" y="28956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58,59,61</a:t>
            </a:r>
          </a:p>
        </p:txBody>
      </p:sp>
      <p:sp>
        <p:nvSpPr>
          <p:cNvPr id="63493" name="Oval 32"/>
          <p:cNvSpPr/>
          <p:nvPr/>
        </p:nvSpPr>
        <p:spPr>
          <a:xfrm>
            <a:off x="2133600" y="2057400"/>
            <a:ext cx="990600" cy="4572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16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63494" name="Oval 33"/>
          <p:cNvSpPr/>
          <p:nvPr/>
        </p:nvSpPr>
        <p:spPr>
          <a:xfrm>
            <a:off x="5791200" y="2057400"/>
            <a:ext cx="990600" cy="4572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41:58</a:t>
            </a:r>
          </a:p>
        </p:txBody>
      </p:sp>
      <p:sp>
        <p:nvSpPr>
          <p:cNvPr id="59426" name="Line 34"/>
          <p:cNvSpPr/>
          <p:nvPr/>
        </p:nvSpPr>
        <p:spPr>
          <a:xfrm flipH="1">
            <a:off x="1676400" y="2438400"/>
            <a:ext cx="6096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6" name="Line 35"/>
          <p:cNvSpPr/>
          <p:nvPr/>
        </p:nvSpPr>
        <p:spPr>
          <a:xfrm>
            <a:off x="2971800" y="2438400"/>
            <a:ext cx="8382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7" name="Line 36"/>
          <p:cNvSpPr/>
          <p:nvPr/>
        </p:nvSpPr>
        <p:spPr>
          <a:xfrm flipH="1">
            <a:off x="5181600" y="2438400"/>
            <a:ext cx="7620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8" name="Line 37"/>
          <p:cNvSpPr/>
          <p:nvPr/>
        </p:nvSpPr>
        <p:spPr>
          <a:xfrm>
            <a:off x="6324600" y="2514600"/>
            <a:ext cx="7620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499" name="Line 38"/>
          <p:cNvSpPr/>
          <p:nvPr/>
        </p:nvSpPr>
        <p:spPr>
          <a:xfrm>
            <a:off x="6629400" y="2438400"/>
            <a:ext cx="10668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3500" name="Group 39"/>
          <p:cNvGrpSpPr/>
          <p:nvPr/>
        </p:nvGrpSpPr>
        <p:grpSpPr>
          <a:xfrm>
            <a:off x="2971800" y="1371600"/>
            <a:ext cx="2971800" cy="762000"/>
            <a:chOff x="1728" y="528"/>
            <a:chExt cx="1872" cy="480"/>
          </a:xfrm>
        </p:grpSpPr>
        <p:sp>
          <p:nvSpPr>
            <p:cNvPr id="63516" name="Oval 40"/>
            <p:cNvSpPr/>
            <p:nvPr/>
          </p:nvSpPr>
          <p:spPr>
            <a:xfrm>
              <a:off x="2400" y="528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22: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3517" name="Line 41"/>
            <p:cNvSpPr/>
            <p:nvPr/>
          </p:nvSpPr>
          <p:spPr>
            <a:xfrm flipH="1">
              <a:off x="1728" y="720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3518" name="Line 42"/>
            <p:cNvSpPr/>
            <p:nvPr/>
          </p:nvSpPr>
          <p:spPr>
            <a:xfrm>
              <a:off x="3024" y="720"/>
              <a:ext cx="576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3501" name="Rectangle 43"/>
          <p:cNvSpPr/>
          <p:nvPr/>
        </p:nvSpPr>
        <p:spPr>
          <a:xfrm>
            <a:off x="3352800" y="2895600"/>
            <a:ext cx="10668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16,17</a:t>
            </a:r>
            <a:endParaRPr lang="en-US" altLang="zh-CN" sz="1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436" name="Rectangle 44"/>
          <p:cNvSpPr/>
          <p:nvPr/>
        </p:nvSpPr>
        <p:spPr>
          <a:xfrm>
            <a:off x="1143000" y="28956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 8,11,12</a:t>
            </a:r>
          </a:p>
        </p:txBody>
      </p:sp>
      <p:sp>
        <p:nvSpPr>
          <p:cNvPr id="59437" name="Text Box 45"/>
          <p:cNvSpPr txBox="1"/>
          <p:nvPr/>
        </p:nvSpPr>
        <p:spPr>
          <a:xfrm>
            <a:off x="3733800" y="4281488"/>
            <a:ext cx="23622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 dirty="0">
                <a:solidFill>
                  <a:schemeClr val="hlink"/>
                </a:solidFill>
              </a:rPr>
              <a:t>Insert:18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59439" name="Line 47"/>
          <p:cNvSpPr/>
          <p:nvPr/>
        </p:nvSpPr>
        <p:spPr>
          <a:xfrm flipH="1">
            <a:off x="2971800" y="1676400"/>
            <a:ext cx="1066800" cy="4572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40" name="Line 48"/>
          <p:cNvSpPr/>
          <p:nvPr/>
        </p:nvSpPr>
        <p:spPr>
          <a:xfrm>
            <a:off x="2971800" y="2438400"/>
            <a:ext cx="838200" cy="457200"/>
          </a:xfrm>
          <a:prstGeom prst="line">
            <a:avLst/>
          </a:prstGeom>
          <a:ln w="254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41" name="Rectangle 49"/>
          <p:cNvSpPr/>
          <p:nvPr/>
        </p:nvSpPr>
        <p:spPr>
          <a:xfrm>
            <a:off x="3352800" y="2895600"/>
            <a:ext cx="10668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16,17,</a:t>
            </a:r>
            <a:r>
              <a:rPr lang="en-US" altLang="zh-CN" sz="1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18</a:t>
            </a:r>
          </a:p>
        </p:txBody>
      </p:sp>
      <p:sp>
        <p:nvSpPr>
          <p:cNvPr id="59442" name="Text Box 50"/>
          <p:cNvSpPr txBox="1"/>
          <p:nvPr/>
        </p:nvSpPr>
        <p:spPr>
          <a:xfrm>
            <a:off x="3810000" y="5119688"/>
            <a:ext cx="2362200" cy="5191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 dirty="0">
                <a:solidFill>
                  <a:schemeClr val="hlink"/>
                </a:solidFill>
              </a:rPr>
              <a:t>Insert:1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59443" name="Rectangle 51"/>
          <p:cNvSpPr/>
          <p:nvPr/>
        </p:nvSpPr>
        <p:spPr>
          <a:xfrm>
            <a:off x="1143000" y="2895600"/>
            <a:ext cx="1066800" cy="381000"/>
          </a:xfrm>
          <a:prstGeom prst="rect">
            <a:avLst/>
          </a:prstGeom>
          <a:solidFill>
            <a:srgbClr val="99CCFF"/>
          </a:solidFill>
          <a:ln w="25400" cap="flat" cmpd="sng">
            <a:solidFill>
              <a:srgbClr val="99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 1,8,11,12</a:t>
            </a:r>
          </a:p>
        </p:txBody>
      </p:sp>
      <p:sp>
        <p:nvSpPr>
          <p:cNvPr id="59445" name="Rectangle 53"/>
          <p:cNvSpPr/>
          <p:nvPr/>
        </p:nvSpPr>
        <p:spPr>
          <a:xfrm>
            <a:off x="762000" y="4419600"/>
            <a:ext cx="685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rgbClr val="660033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1800" b="1" dirty="0">
                <a:latin typeface="Times New Roman" panose="02020603050405020304" pitchFamily="18" charset="0"/>
              </a:rPr>
              <a:t>, 8</a:t>
            </a:r>
          </a:p>
        </p:txBody>
      </p:sp>
      <p:sp>
        <p:nvSpPr>
          <p:cNvPr id="59446" name="Rectangle 54"/>
          <p:cNvSpPr/>
          <p:nvPr/>
        </p:nvSpPr>
        <p:spPr>
          <a:xfrm>
            <a:off x="1752600" y="4419600"/>
            <a:ext cx="685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11, 12</a:t>
            </a:r>
          </a:p>
        </p:txBody>
      </p:sp>
      <p:sp>
        <p:nvSpPr>
          <p:cNvPr id="59447" name="Oval 55"/>
          <p:cNvSpPr/>
          <p:nvPr/>
        </p:nvSpPr>
        <p:spPr>
          <a:xfrm>
            <a:off x="1447800" y="3581400"/>
            <a:ext cx="990600" cy="4572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11    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59448" name="Line 56"/>
          <p:cNvSpPr/>
          <p:nvPr/>
        </p:nvSpPr>
        <p:spPr>
          <a:xfrm flipH="1">
            <a:off x="1293813" y="3962400"/>
            <a:ext cx="3048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49" name="Line 57"/>
          <p:cNvSpPr/>
          <p:nvPr/>
        </p:nvSpPr>
        <p:spPr>
          <a:xfrm>
            <a:off x="1981200" y="4038600"/>
            <a:ext cx="7620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3514" name="Rectangle 2"/>
          <p:cNvSpPr/>
          <p:nvPr/>
        </p:nvSpPr>
        <p:spPr>
          <a:xfrm>
            <a:off x="685800" y="152400"/>
            <a:ext cx="6870700" cy="960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/>
              <a:t>Insertion</a:t>
            </a:r>
          </a:p>
        </p:txBody>
      </p:sp>
      <p:sp>
        <p:nvSpPr>
          <p:cNvPr id="59477" name="Rectangle 85"/>
          <p:cNvSpPr/>
          <p:nvPr/>
        </p:nvSpPr>
        <p:spPr>
          <a:xfrm>
            <a:off x="-228600" y="1143000"/>
            <a:ext cx="3276600" cy="641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A B-tree of order 3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(2-3 tree)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9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9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9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2000" fill="hold"/>
                                        <p:tgtEl>
                                          <p:spTgt spid="594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9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9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9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9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9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9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9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9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5 -0.22222 " pathEditMode="relative" ptsTypes="AA">
                                      <p:cBhvr>
                                        <p:cTn id="84" dur="2000" fill="hold"/>
                                        <p:tgtEl>
                                          <p:spTgt spid="594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5 -0.22222 " pathEditMode="relative" ptsTypes="AA">
                                      <p:cBhvr>
                                        <p:cTn id="86" dur="2000" fill="hold"/>
                                        <p:tgtEl>
                                          <p:spTgt spid="594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4.44444E-6 L 0.075 -0.22223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59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00" y="-1110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5 -0.22222 " pathEditMode="relative" ptsTypes="AA">
                                      <p:cBhvr>
                                        <p:cTn id="90" dur="2000" fill="hold"/>
                                        <p:tgtEl>
                                          <p:spTgt spid="594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5 -0.22222 " pathEditMode="relative" ptsTypes="AA">
                                      <p:cBhvr>
                                        <p:cTn id="92" dur="2000" fill="hold"/>
                                        <p:tgtEl>
                                          <p:spTgt spid="59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6" grpId="0" animBg="1"/>
      <p:bldP spid="59437" grpId="0"/>
      <p:bldP spid="59441" grpId="0" animBg="1"/>
      <p:bldP spid="59442" grpId="0"/>
      <p:bldP spid="59443" grpId="0" animBg="1"/>
      <p:bldP spid="59443" grpId="1" animBg="1"/>
      <p:bldP spid="59443" grpId="2" animBg="1"/>
      <p:bldP spid="59445" grpId="0" animBg="1"/>
      <p:bldP spid="59445" grpId="1" animBg="1"/>
      <p:bldP spid="59446" grpId="0" animBg="1"/>
      <p:bldP spid="59446" grpId="1" animBg="1"/>
      <p:bldP spid="59447" grpId="0" animBg="1"/>
      <p:bldP spid="59447" grpId="1" animBg="1"/>
      <p:bldP spid="5947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5"/>
          <p:cNvSpPr/>
          <p:nvPr/>
        </p:nvSpPr>
        <p:spPr>
          <a:xfrm>
            <a:off x="4114800" y="27432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22,23,31</a:t>
            </a:r>
          </a:p>
        </p:txBody>
      </p:sp>
      <p:sp>
        <p:nvSpPr>
          <p:cNvPr id="64515" name="Rectangle 6"/>
          <p:cNvSpPr/>
          <p:nvPr/>
        </p:nvSpPr>
        <p:spPr>
          <a:xfrm>
            <a:off x="5410200" y="27432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41,52</a:t>
            </a:r>
          </a:p>
        </p:txBody>
      </p:sp>
      <p:sp>
        <p:nvSpPr>
          <p:cNvPr id="64516" name="Rectangle 7"/>
          <p:cNvSpPr/>
          <p:nvPr/>
        </p:nvSpPr>
        <p:spPr>
          <a:xfrm>
            <a:off x="6705600" y="2743200"/>
            <a:ext cx="1066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58,59,61</a:t>
            </a:r>
          </a:p>
        </p:txBody>
      </p:sp>
      <p:sp>
        <p:nvSpPr>
          <p:cNvPr id="64517" name="Oval 8"/>
          <p:cNvSpPr/>
          <p:nvPr/>
        </p:nvSpPr>
        <p:spPr>
          <a:xfrm>
            <a:off x="1676400" y="1905000"/>
            <a:ext cx="990600" cy="4572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11,16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64518" name="Oval 9"/>
          <p:cNvSpPr/>
          <p:nvPr/>
        </p:nvSpPr>
        <p:spPr>
          <a:xfrm>
            <a:off x="5334000" y="1905000"/>
            <a:ext cx="990600" cy="4572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41:58</a:t>
            </a:r>
          </a:p>
        </p:txBody>
      </p:sp>
      <p:sp>
        <p:nvSpPr>
          <p:cNvPr id="64519" name="Line 10"/>
          <p:cNvSpPr/>
          <p:nvPr/>
        </p:nvSpPr>
        <p:spPr>
          <a:xfrm flipH="1">
            <a:off x="4724400" y="2286000"/>
            <a:ext cx="7620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0" name="Line 11"/>
          <p:cNvSpPr/>
          <p:nvPr/>
        </p:nvSpPr>
        <p:spPr>
          <a:xfrm>
            <a:off x="5867400" y="2362200"/>
            <a:ext cx="7620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1" name="Line 12"/>
          <p:cNvSpPr/>
          <p:nvPr/>
        </p:nvSpPr>
        <p:spPr>
          <a:xfrm>
            <a:off x="6172200" y="2286000"/>
            <a:ext cx="10668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4522" name="Group 13"/>
          <p:cNvGrpSpPr/>
          <p:nvPr/>
        </p:nvGrpSpPr>
        <p:grpSpPr>
          <a:xfrm>
            <a:off x="2514600" y="1219200"/>
            <a:ext cx="2971800" cy="762000"/>
            <a:chOff x="1728" y="528"/>
            <a:chExt cx="1872" cy="480"/>
          </a:xfrm>
        </p:grpSpPr>
        <p:sp>
          <p:nvSpPr>
            <p:cNvPr id="64559" name="Oval 14"/>
            <p:cNvSpPr/>
            <p:nvPr/>
          </p:nvSpPr>
          <p:spPr>
            <a:xfrm>
              <a:off x="2400" y="528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22: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4560" name="Line 15"/>
            <p:cNvSpPr/>
            <p:nvPr/>
          </p:nvSpPr>
          <p:spPr>
            <a:xfrm flipH="1">
              <a:off x="1728" y="720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61" name="Line 16"/>
            <p:cNvSpPr/>
            <p:nvPr/>
          </p:nvSpPr>
          <p:spPr>
            <a:xfrm>
              <a:off x="3024" y="720"/>
              <a:ext cx="576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4523" name="Line 17"/>
          <p:cNvSpPr/>
          <p:nvPr/>
        </p:nvSpPr>
        <p:spPr>
          <a:xfrm>
            <a:off x="2514600" y="2286000"/>
            <a:ext cx="6858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4" name="Rectangle 18"/>
          <p:cNvSpPr/>
          <p:nvPr/>
        </p:nvSpPr>
        <p:spPr>
          <a:xfrm>
            <a:off x="2743200" y="2743200"/>
            <a:ext cx="1066800" cy="3810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16,17,18</a:t>
            </a:r>
            <a:endParaRPr lang="en-US" altLang="zh-CN" sz="1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25" name="Rectangle 19"/>
          <p:cNvSpPr/>
          <p:nvPr/>
        </p:nvSpPr>
        <p:spPr>
          <a:xfrm>
            <a:off x="1066800" y="2743200"/>
            <a:ext cx="685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 1, 8</a:t>
            </a:r>
          </a:p>
        </p:txBody>
      </p:sp>
      <p:sp>
        <p:nvSpPr>
          <p:cNvPr id="64526" name="Rectangle 20"/>
          <p:cNvSpPr/>
          <p:nvPr/>
        </p:nvSpPr>
        <p:spPr>
          <a:xfrm>
            <a:off x="1938338" y="2743200"/>
            <a:ext cx="685800" cy="3810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11, 12</a:t>
            </a:r>
          </a:p>
        </p:txBody>
      </p:sp>
      <p:sp>
        <p:nvSpPr>
          <p:cNvPr id="64527" name="Line 21"/>
          <p:cNvSpPr/>
          <p:nvPr/>
        </p:nvSpPr>
        <p:spPr>
          <a:xfrm flipH="1">
            <a:off x="1555750" y="2286000"/>
            <a:ext cx="30480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8" name="Line 22"/>
          <p:cNvSpPr/>
          <p:nvPr/>
        </p:nvSpPr>
        <p:spPr>
          <a:xfrm>
            <a:off x="2209800" y="23622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7303" name="Text Box 23"/>
          <p:cNvSpPr txBox="1"/>
          <p:nvPr/>
        </p:nvSpPr>
        <p:spPr>
          <a:xfrm>
            <a:off x="609600" y="533400"/>
            <a:ext cx="23622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 dirty="0">
                <a:solidFill>
                  <a:schemeClr val="hlink"/>
                </a:solidFill>
              </a:rPr>
              <a:t>Insert:19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97305" name="Oval 25"/>
          <p:cNvSpPr/>
          <p:nvPr/>
        </p:nvSpPr>
        <p:spPr>
          <a:xfrm>
            <a:off x="1676400" y="1905000"/>
            <a:ext cx="990600" cy="457200"/>
          </a:xfrm>
          <a:prstGeom prst="ellipse">
            <a:avLst/>
          </a:prstGeom>
          <a:solidFill>
            <a:schemeClr val="folHlink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  <a:sym typeface="Symbol" panose="05050102010706020507" pitchFamily="18" charset="2"/>
              </a:rPr>
              <a:t>11,16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  <p:sp>
        <p:nvSpPr>
          <p:cNvPr id="97306" name="Rectangle 26"/>
          <p:cNvSpPr/>
          <p:nvPr/>
        </p:nvSpPr>
        <p:spPr>
          <a:xfrm>
            <a:off x="2743200" y="2743200"/>
            <a:ext cx="1066800" cy="381000"/>
          </a:xfrm>
          <a:prstGeom prst="rect">
            <a:avLst/>
          </a:prstGeom>
          <a:solidFill>
            <a:schemeClr val="folHlink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16,17,18</a:t>
            </a:r>
            <a:endParaRPr lang="en-US" altLang="zh-CN" sz="1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914400" y="3962400"/>
            <a:ext cx="7543800" cy="2057400"/>
            <a:chOff x="432" y="2256"/>
            <a:chExt cx="4752" cy="1296"/>
          </a:xfrm>
        </p:grpSpPr>
        <p:sp>
          <p:nvSpPr>
            <p:cNvPr id="64538" name="Rectangle 29"/>
            <p:cNvSpPr/>
            <p:nvPr/>
          </p:nvSpPr>
          <p:spPr>
            <a:xfrm>
              <a:off x="912" y="3312"/>
              <a:ext cx="480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11,12</a:t>
              </a:r>
            </a:p>
          </p:txBody>
        </p:sp>
        <p:sp>
          <p:nvSpPr>
            <p:cNvPr id="64539" name="Rectangle 30"/>
            <p:cNvSpPr/>
            <p:nvPr/>
          </p:nvSpPr>
          <p:spPr>
            <a:xfrm>
              <a:off x="2880" y="331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22,23,31</a:t>
              </a:r>
            </a:p>
          </p:txBody>
        </p:sp>
        <p:sp>
          <p:nvSpPr>
            <p:cNvPr id="64540" name="Rectangle 31"/>
            <p:cNvSpPr/>
            <p:nvPr/>
          </p:nvSpPr>
          <p:spPr>
            <a:xfrm>
              <a:off x="3696" y="331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41,52</a:t>
              </a:r>
            </a:p>
          </p:txBody>
        </p:sp>
        <p:sp>
          <p:nvSpPr>
            <p:cNvPr id="64541" name="Rectangle 32"/>
            <p:cNvSpPr/>
            <p:nvPr/>
          </p:nvSpPr>
          <p:spPr>
            <a:xfrm>
              <a:off x="4512" y="331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58,59,61</a:t>
              </a:r>
            </a:p>
          </p:txBody>
        </p:sp>
        <p:sp>
          <p:nvSpPr>
            <p:cNvPr id="64542" name="Oval 33"/>
            <p:cNvSpPr/>
            <p:nvPr/>
          </p:nvSpPr>
          <p:spPr>
            <a:xfrm>
              <a:off x="672" y="278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11: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4543" name="Oval 34"/>
            <p:cNvSpPr/>
            <p:nvPr/>
          </p:nvSpPr>
          <p:spPr>
            <a:xfrm>
              <a:off x="3648" y="278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41:58</a:t>
              </a:r>
            </a:p>
          </p:txBody>
        </p:sp>
        <p:sp>
          <p:nvSpPr>
            <p:cNvPr id="64544" name="Line 35"/>
            <p:cNvSpPr/>
            <p:nvPr/>
          </p:nvSpPr>
          <p:spPr>
            <a:xfrm flipH="1">
              <a:off x="672" y="3072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45" name="Line 36"/>
            <p:cNvSpPr/>
            <p:nvPr/>
          </p:nvSpPr>
          <p:spPr>
            <a:xfrm>
              <a:off x="2304" y="3072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46" name="Line 37"/>
            <p:cNvSpPr/>
            <p:nvPr/>
          </p:nvSpPr>
          <p:spPr>
            <a:xfrm flipH="1">
              <a:off x="3264" y="3024"/>
              <a:ext cx="48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47" name="Line 38"/>
            <p:cNvSpPr/>
            <p:nvPr/>
          </p:nvSpPr>
          <p:spPr>
            <a:xfrm>
              <a:off x="3984" y="3072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48" name="Line 39"/>
            <p:cNvSpPr/>
            <p:nvPr/>
          </p:nvSpPr>
          <p:spPr>
            <a:xfrm>
              <a:off x="4176" y="3024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49" name="Oval 40"/>
            <p:cNvSpPr/>
            <p:nvPr/>
          </p:nvSpPr>
          <p:spPr>
            <a:xfrm>
              <a:off x="2160" y="2256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16: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22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4550" name="Line 41"/>
            <p:cNvSpPr/>
            <p:nvPr/>
          </p:nvSpPr>
          <p:spPr>
            <a:xfrm flipH="1">
              <a:off x="1152" y="2448"/>
              <a:ext cx="1008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51" name="Line 42"/>
            <p:cNvSpPr/>
            <p:nvPr/>
          </p:nvSpPr>
          <p:spPr>
            <a:xfrm>
              <a:off x="2784" y="2448"/>
              <a:ext cx="960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52" name="Rectangle 43"/>
            <p:cNvSpPr/>
            <p:nvPr/>
          </p:nvSpPr>
          <p:spPr>
            <a:xfrm>
              <a:off x="1584" y="3312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16,17</a:t>
              </a:r>
              <a:endPara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553" name="Rectangle 44"/>
            <p:cNvSpPr/>
            <p:nvPr/>
          </p:nvSpPr>
          <p:spPr>
            <a:xfrm>
              <a:off x="432" y="3312"/>
              <a:ext cx="43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990099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 8</a:t>
              </a:r>
            </a:p>
          </p:txBody>
        </p:sp>
        <p:sp>
          <p:nvSpPr>
            <p:cNvPr id="64554" name="Line 45"/>
            <p:cNvSpPr/>
            <p:nvPr/>
          </p:nvSpPr>
          <p:spPr>
            <a:xfrm>
              <a:off x="1104" y="3072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55" name="Rectangle 46"/>
            <p:cNvSpPr/>
            <p:nvPr/>
          </p:nvSpPr>
          <p:spPr>
            <a:xfrm>
              <a:off x="2160" y="3312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18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</a:t>
              </a:r>
              <a:r>
                <a:rPr lang="en-US" altLang="zh-CN" sz="18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19</a:t>
              </a:r>
            </a:p>
          </p:txBody>
        </p:sp>
        <p:sp>
          <p:nvSpPr>
            <p:cNvPr id="64556" name="Oval 47"/>
            <p:cNvSpPr/>
            <p:nvPr/>
          </p:nvSpPr>
          <p:spPr>
            <a:xfrm>
              <a:off x="1824" y="278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18: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4557" name="Line 48"/>
            <p:cNvSpPr/>
            <p:nvPr/>
          </p:nvSpPr>
          <p:spPr>
            <a:xfrm flipH="1">
              <a:off x="1872" y="3072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4558" name="Line 49"/>
            <p:cNvSpPr/>
            <p:nvPr/>
          </p:nvSpPr>
          <p:spPr>
            <a:xfrm flipH="1">
              <a:off x="2208" y="2544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7330" name="Text Box 50"/>
          <p:cNvSpPr txBox="1"/>
          <p:nvPr/>
        </p:nvSpPr>
        <p:spPr>
          <a:xfrm>
            <a:off x="685800" y="3581400"/>
            <a:ext cx="26670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 dirty="0">
                <a:solidFill>
                  <a:schemeClr val="hlink"/>
                </a:solidFill>
              </a:rPr>
              <a:t>Insert: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28</a:t>
            </a:r>
          </a:p>
        </p:txBody>
      </p:sp>
      <p:sp>
        <p:nvSpPr>
          <p:cNvPr id="97331" name="Rectangle 51"/>
          <p:cNvSpPr/>
          <p:nvPr/>
        </p:nvSpPr>
        <p:spPr>
          <a:xfrm>
            <a:off x="4800600" y="5638800"/>
            <a:ext cx="1066800" cy="381000"/>
          </a:xfrm>
          <a:prstGeom prst="rect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7332" name="Oval 52"/>
          <p:cNvSpPr/>
          <p:nvPr/>
        </p:nvSpPr>
        <p:spPr>
          <a:xfrm>
            <a:off x="6019800" y="4800600"/>
            <a:ext cx="990600" cy="4572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97333" name="Oval 53"/>
          <p:cNvSpPr/>
          <p:nvPr/>
        </p:nvSpPr>
        <p:spPr>
          <a:xfrm>
            <a:off x="3657600" y="3962400"/>
            <a:ext cx="990600" cy="4572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49" name="Text Box 50"/>
          <p:cNvSpPr txBox="1"/>
          <p:nvPr/>
        </p:nvSpPr>
        <p:spPr>
          <a:xfrm>
            <a:off x="2857500" y="527050"/>
            <a:ext cx="2667000" cy="5191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  <a:sym typeface="Wingdings" panose="05000000000000000000" pitchFamily="2" charset="2"/>
              </a:rPr>
              <a:t> </a:t>
            </a:r>
            <a:r>
              <a:rPr lang="en-US" altLang="zh-CN" sz="2400" b="1" dirty="0">
                <a:solidFill>
                  <a:schemeClr val="hlink"/>
                </a:solidFill>
              </a:rPr>
              <a:t>Insert: 15</a:t>
            </a:r>
            <a:r>
              <a:rPr lang="zh-CN" altLang="en-US" sz="2400" b="1" dirty="0">
                <a:solidFill>
                  <a:schemeClr val="hlink"/>
                </a:solidFill>
              </a:rPr>
              <a:t>？</a:t>
            </a:r>
            <a:endParaRPr lang="en-US" altLang="zh-CN" sz="2400" b="1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7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7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7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7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7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7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7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7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7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7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03" grpId="0"/>
      <p:bldP spid="97305" grpId="0" animBg="1"/>
      <p:bldP spid="97306" grpId="0" animBg="1"/>
      <p:bldP spid="97330" grpId="0"/>
      <p:bldP spid="97331" grpId="0" animBg="1"/>
      <p:bldP spid="97332" grpId="0" animBg="1"/>
      <p:bldP spid="97333" grpId="0" animBg="1"/>
      <p:bldP spid="4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文本框 5"/>
          <p:cNvSpPr txBox="1"/>
          <p:nvPr>
            <p:custDataLst>
              <p:tags r:id="rId2"/>
            </p:custDataLst>
          </p:nvPr>
        </p:nvSpPr>
        <p:spPr>
          <a:xfrm>
            <a:off x="838200" y="385763"/>
            <a:ext cx="7315200" cy="2143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Insert key 28 into the following 2-3 Tree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矩形: 圆角 6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163"/>
          </a:xfrm>
          <a:prstGeom prst="roundRect">
            <a:avLst/>
          </a:prstGeom>
          <a:solidFill>
            <a:srgbClr val="808080"/>
          </a:solidFill>
          <a:ln w="381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正常使用主观题需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2.0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84F4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以上版本雨课堂</a:t>
            </a:r>
          </a:p>
        </p:txBody>
      </p:sp>
      <p:grpSp>
        <p:nvGrpSpPr>
          <p:cNvPr id="14" name="Group 28"/>
          <p:cNvGrpSpPr/>
          <p:nvPr/>
        </p:nvGrpSpPr>
        <p:grpSpPr>
          <a:xfrm>
            <a:off x="838200" y="2400300"/>
            <a:ext cx="7543800" cy="2057400"/>
            <a:chOff x="432" y="2256"/>
            <a:chExt cx="4752" cy="1296"/>
          </a:xfrm>
        </p:grpSpPr>
        <p:sp>
          <p:nvSpPr>
            <p:cNvPr id="65548" name="Rectangle 29"/>
            <p:cNvSpPr/>
            <p:nvPr/>
          </p:nvSpPr>
          <p:spPr>
            <a:xfrm>
              <a:off x="912" y="3312"/>
              <a:ext cx="480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11,12</a:t>
              </a:r>
            </a:p>
          </p:txBody>
        </p:sp>
        <p:sp>
          <p:nvSpPr>
            <p:cNvPr id="65549" name="Rectangle 30"/>
            <p:cNvSpPr/>
            <p:nvPr/>
          </p:nvSpPr>
          <p:spPr>
            <a:xfrm>
              <a:off x="2880" y="331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22,23,31</a:t>
              </a:r>
            </a:p>
          </p:txBody>
        </p:sp>
        <p:sp>
          <p:nvSpPr>
            <p:cNvPr id="65550" name="Rectangle 31"/>
            <p:cNvSpPr/>
            <p:nvPr/>
          </p:nvSpPr>
          <p:spPr>
            <a:xfrm>
              <a:off x="3696" y="331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41,52</a:t>
              </a:r>
            </a:p>
          </p:txBody>
        </p:sp>
        <p:sp>
          <p:nvSpPr>
            <p:cNvPr id="65551" name="Rectangle 32"/>
            <p:cNvSpPr/>
            <p:nvPr/>
          </p:nvSpPr>
          <p:spPr>
            <a:xfrm>
              <a:off x="4512" y="3312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58,59,61</a:t>
              </a:r>
            </a:p>
          </p:txBody>
        </p:sp>
        <p:sp>
          <p:nvSpPr>
            <p:cNvPr id="65552" name="Oval 33"/>
            <p:cNvSpPr/>
            <p:nvPr/>
          </p:nvSpPr>
          <p:spPr>
            <a:xfrm>
              <a:off x="672" y="278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11: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5553" name="Oval 34"/>
            <p:cNvSpPr/>
            <p:nvPr/>
          </p:nvSpPr>
          <p:spPr>
            <a:xfrm>
              <a:off x="3648" y="278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41:58</a:t>
              </a:r>
            </a:p>
          </p:txBody>
        </p:sp>
        <p:sp>
          <p:nvSpPr>
            <p:cNvPr id="65554" name="Line 35"/>
            <p:cNvSpPr/>
            <p:nvPr/>
          </p:nvSpPr>
          <p:spPr>
            <a:xfrm flipH="1">
              <a:off x="672" y="3072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5" name="Line 36"/>
            <p:cNvSpPr/>
            <p:nvPr/>
          </p:nvSpPr>
          <p:spPr>
            <a:xfrm>
              <a:off x="2304" y="3072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6" name="Line 37"/>
            <p:cNvSpPr/>
            <p:nvPr/>
          </p:nvSpPr>
          <p:spPr>
            <a:xfrm flipH="1">
              <a:off x="3264" y="3024"/>
              <a:ext cx="48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7" name="Line 38"/>
            <p:cNvSpPr/>
            <p:nvPr/>
          </p:nvSpPr>
          <p:spPr>
            <a:xfrm>
              <a:off x="3984" y="3072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8" name="Line 39"/>
            <p:cNvSpPr/>
            <p:nvPr/>
          </p:nvSpPr>
          <p:spPr>
            <a:xfrm>
              <a:off x="4176" y="3024"/>
              <a:ext cx="672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59" name="Oval 40"/>
            <p:cNvSpPr/>
            <p:nvPr/>
          </p:nvSpPr>
          <p:spPr>
            <a:xfrm>
              <a:off x="2160" y="2256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16: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22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65560" name="Line 41"/>
            <p:cNvSpPr/>
            <p:nvPr/>
          </p:nvSpPr>
          <p:spPr>
            <a:xfrm flipH="1">
              <a:off x="1152" y="2448"/>
              <a:ext cx="1008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1" name="Line 42"/>
            <p:cNvSpPr/>
            <p:nvPr/>
          </p:nvSpPr>
          <p:spPr>
            <a:xfrm>
              <a:off x="2784" y="2448"/>
              <a:ext cx="960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2" name="Rectangle 43"/>
            <p:cNvSpPr/>
            <p:nvPr/>
          </p:nvSpPr>
          <p:spPr>
            <a:xfrm>
              <a:off x="1584" y="3312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16,17</a:t>
              </a:r>
              <a:endPara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63" name="Rectangle 44"/>
            <p:cNvSpPr/>
            <p:nvPr/>
          </p:nvSpPr>
          <p:spPr>
            <a:xfrm>
              <a:off x="432" y="3312"/>
              <a:ext cx="43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990099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 8</a:t>
              </a:r>
            </a:p>
          </p:txBody>
        </p:sp>
        <p:sp>
          <p:nvSpPr>
            <p:cNvPr id="65564" name="Line 45"/>
            <p:cNvSpPr/>
            <p:nvPr/>
          </p:nvSpPr>
          <p:spPr>
            <a:xfrm>
              <a:off x="1104" y="3072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5" name="Rectangle 46"/>
            <p:cNvSpPr/>
            <p:nvPr/>
          </p:nvSpPr>
          <p:spPr>
            <a:xfrm>
              <a:off x="2160" y="3312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18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</a:t>
              </a:r>
              <a:r>
                <a:rPr lang="en-US" altLang="zh-CN" sz="18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19</a:t>
              </a:r>
            </a:p>
          </p:txBody>
        </p:sp>
        <p:sp>
          <p:nvSpPr>
            <p:cNvPr id="65566" name="Oval 47"/>
            <p:cNvSpPr/>
            <p:nvPr/>
          </p:nvSpPr>
          <p:spPr>
            <a:xfrm>
              <a:off x="1824" y="2784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18: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5567" name="Line 48"/>
            <p:cNvSpPr/>
            <p:nvPr/>
          </p:nvSpPr>
          <p:spPr>
            <a:xfrm flipH="1">
              <a:off x="1872" y="3072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5568" name="Line 49"/>
            <p:cNvSpPr/>
            <p:nvPr/>
          </p:nvSpPr>
          <p:spPr>
            <a:xfrm flipH="1">
              <a:off x="2208" y="2544"/>
              <a:ext cx="28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5542" name="组合 11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546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主观题</a:t>
              </a:r>
            </a:p>
          </p:txBody>
        </p:sp>
        <p:sp>
          <p:nvSpPr>
            <p:cNvPr id="65547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</a:p>
          </p:txBody>
        </p:sp>
      </p:grpSp>
      <p:pic>
        <p:nvPicPr>
          <p:cNvPr id="65543" name="图片 4"/>
          <p:cNvPicPr/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2" name="Group 27"/>
          <p:cNvGrpSpPr/>
          <p:nvPr/>
        </p:nvGrpSpPr>
        <p:grpSpPr>
          <a:xfrm>
            <a:off x="685800" y="1524000"/>
            <a:ext cx="7543800" cy="2819400"/>
            <a:chOff x="432" y="192"/>
            <a:chExt cx="4752" cy="1776"/>
          </a:xfrm>
        </p:grpSpPr>
        <p:sp>
          <p:nvSpPr>
            <p:cNvPr id="66563" name="Rectangle 28"/>
            <p:cNvSpPr/>
            <p:nvPr/>
          </p:nvSpPr>
          <p:spPr>
            <a:xfrm>
              <a:off x="912" y="1728"/>
              <a:ext cx="480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11,12</a:t>
              </a:r>
            </a:p>
          </p:txBody>
        </p:sp>
        <p:sp>
          <p:nvSpPr>
            <p:cNvPr id="66564" name="Rectangle 29"/>
            <p:cNvSpPr/>
            <p:nvPr/>
          </p:nvSpPr>
          <p:spPr>
            <a:xfrm>
              <a:off x="2736" y="1728"/>
              <a:ext cx="528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22,23</a:t>
              </a:r>
            </a:p>
          </p:txBody>
        </p:sp>
        <p:sp>
          <p:nvSpPr>
            <p:cNvPr id="66565" name="Rectangle 30"/>
            <p:cNvSpPr/>
            <p:nvPr/>
          </p:nvSpPr>
          <p:spPr>
            <a:xfrm>
              <a:off x="3936" y="1728"/>
              <a:ext cx="528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41,52</a:t>
              </a:r>
            </a:p>
          </p:txBody>
        </p:sp>
        <p:sp>
          <p:nvSpPr>
            <p:cNvPr id="66566" name="Rectangle 31"/>
            <p:cNvSpPr/>
            <p:nvPr/>
          </p:nvSpPr>
          <p:spPr>
            <a:xfrm>
              <a:off x="4512" y="1728"/>
              <a:ext cx="67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58,59,61</a:t>
              </a:r>
            </a:p>
          </p:txBody>
        </p:sp>
        <p:sp>
          <p:nvSpPr>
            <p:cNvPr id="66567" name="Oval 32"/>
            <p:cNvSpPr/>
            <p:nvPr/>
          </p:nvSpPr>
          <p:spPr>
            <a:xfrm>
              <a:off x="672" y="120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11: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6568" name="Oval 33"/>
            <p:cNvSpPr/>
            <p:nvPr/>
          </p:nvSpPr>
          <p:spPr>
            <a:xfrm>
              <a:off x="4176" y="120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58: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6569" name="Line 34"/>
            <p:cNvSpPr/>
            <p:nvPr/>
          </p:nvSpPr>
          <p:spPr>
            <a:xfrm flipH="1">
              <a:off x="672" y="1488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0" name="Line 35"/>
            <p:cNvSpPr/>
            <p:nvPr/>
          </p:nvSpPr>
          <p:spPr>
            <a:xfrm>
              <a:off x="2208" y="1488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1" name="Line 36"/>
            <p:cNvSpPr/>
            <p:nvPr/>
          </p:nvSpPr>
          <p:spPr>
            <a:xfrm flipH="1">
              <a:off x="2976" y="1488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2" name="Line 37"/>
            <p:cNvSpPr/>
            <p:nvPr/>
          </p:nvSpPr>
          <p:spPr>
            <a:xfrm>
              <a:off x="3408" y="1488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3" name="Line 38"/>
            <p:cNvSpPr/>
            <p:nvPr/>
          </p:nvSpPr>
          <p:spPr>
            <a:xfrm>
              <a:off x="4656" y="1488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4" name="Oval 39"/>
            <p:cNvSpPr/>
            <p:nvPr/>
          </p:nvSpPr>
          <p:spPr>
            <a:xfrm>
              <a:off x="1248" y="672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16: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6575" name="Line 40"/>
            <p:cNvSpPr/>
            <p:nvPr/>
          </p:nvSpPr>
          <p:spPr>
            <a:xfrm flipH="1">
              <a:off x="960" y="912"/>
              <a:ext cx="384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6" name="Line 41"/>
            <p:cNvSpPr/>
            <p:nvPr/>
          </p:nvSpPr>
          <p:spPr>
            <a:xfrm>
              <a:off x="4128" y="912"/>
              <a:ext cx="336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77" name="Rectangle 42"/>
            <p:cNvSpPr/>
            <p:nvPr/>
          </p:nvSpPr>
          <p:spPr>
            <a:xfrm>
              <a:off x="1488" y="1728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16,17</a:t>
              </a:r>
              <a:endParaRPr lang="en-US" altLang="zh-CN" sz="1800" b="1" dirty="0">
                <a:solidFill>
                  <a:srgbClr val="008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578" name="Rectangle 43"/>
            <p:cNvSpPr/>
            <p:nvPr/>
          </p:nvSpPr>
          <p:spPr>
            <a:xfrm>
              <a:off x="432" y="1728"/>
              <a:ext cx="432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990099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 8</a:t>
              </a:r>
            </a:p>
          </p:txBody>
        </p:sp>
        <p:sp>
          <p:nvSpPr>
            <p:cNvPr id="66579" name="Line 44"/>
            <p:cNvSpPr/>
            <p:nvPr/>
          </p:nvSpPr>
          <p:spPr>
            <a:xfrm>
              <a:off x="1104" y="1488"/>
              <a:ext cx="48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0" name="Rectangle 45"/>
            <p:cNvSpPr/>
            <p:nvPr/>
          </p:nvSpPr>
          <p:spPr>
            <a:xfrm>
              <a:off x="2064" y="1728"/>
              <a:ext cx="528" cy="240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008000"/>
                  </a:solidFill>
                  <a:latin typeface="Times New Roman" panose="02020603050405020304" pitchFamily="18" charset="0"/>
                </a:rPr>
                <a:t>18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</a:t>
              </a:r>
              <a:r>
                <a:rPr lang="en-US" altLang="zh-CN" sz="1800" b="1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19</a:t>
              </a:r>
            </a:p>
          </p:txBody>
        </p:sp>
        <p:sp>
          <p:nvSpPr>
            <p:cNvPr id="66581" name="Oval 46"/>
            <p:cNvSpPr/>
            <p:nvPr/>
          </p:nvSpPr>
          <p:spPr>
            <a:xfrm>
              <a:off x="1728" y="120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18: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6582" name="Line 47"/>
            <p:cNvSpPr/>
            <p:nvPr/>
          </p:nvSpPr>
          <p:spPr>
            <a:xfrm flipH="1">
              <a:off x="1776" y="1488"/>
              <a:ext cx="144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3" name="Line 48"/>
            <p:cNvSpPr/>
            <p:nvPr/>
          </p:nvSpPr>
          <p:spPr>
            <a:xfrm>
              <a:off x="1824" y="912"/>
              <a:ext cx="24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4" name="Rectangle 49"/>
            <p:cNvSpPr/>
            <p:nvPr/>
          </p:nvSpPr>
          <p:spPr>
            <a:xfrm>
              <a:off x="3312" y="1728"/>
              <a:ext cx="528" cy="240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28</a:t>
              </a:r>
              <a:r>
                <a:rPr lang="en-US" altLang="zh-CN" sz="1800" b="1" dirty="0">
                  <a:latin typeface="Times New Roman" panose="02020603050405020304" pitchFamily="18" charset="0"/>
                </a:rPr>
                <a:t>,31</a:t>
              </a:r>
            </a:p>
          </p:txBody>
        </p:sp>
        <p:sp>
          <p:nvSpPr>
            <p:cNvPr id="66585" name="Oval 50"/>
            <p:cNvSpPr/>
            <p:nvPr/>
          </p:nvSpPr>
          <p:spPr>
            <a:xfrm>
              <a:off x="2928" y="1200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28: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6586" name="Line 51"/>
            <p:cNvSpPr/>
            <p:nvPr/>
          </p:nvSpPr>
          <p:spPr>
            <a:xfrm flipH="1">
              <a:off x="4176" y="1488"/>
              <a:ext cx="192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87" name="Oval 52"/>
            <p:cNvSpPr/>
            <p:nvPr/>
          </p:nvSpPr>
          <p:spPr>
            <a:xfrm>
              <a:off x="2304" y="192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22: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6588" name="Oval 53"/>
            <p:cNvSpPr/>
            <p:nvPr/>
          </p:nvSpPr>
          <p:spPr>
            <a:xfrm>
              <a:off x="3552" y="672"/>
              <a:ext cx="624" cy="288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41:</a:t>
              </a:r>
              <a:r>
                <a:rPr lang="en-US" altLang="zh-CN" sz="18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6589" name="Line 54"/>
            <p:cNvSpPr/>
            <p:nvPr/>
          </p:nvSpPr>
          <p:spPr>
            <a:xfrm flipH="1">
              <a:off x="3264" y="912"/>
              <a:ext cx="384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0" name="Line 55"/>
            <p:cNvSpPr/>
            <p:nvPr/>
          </p:nvSpPr>
          <p:spPr>
            <a:xfrm flipH="1">
              <a:off x="1776" y="432"/>
              <a:ext cx="624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6591" name="Line 56"/>
            <p:cNvSpPr/>
            <p:nvPr/>
          </p:nvSpPr>
          <p:spPr>
            <a:xfrm>
              <a:off x="2832" y="432"/>
              <a:ext cx="768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960438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Insertion</a:t>
            </a:r>
          </a:p>
        </p:txBody>
      </p:sp>
      <p:sp>
        <p:nvSpPr>
          <p:cNvPr id="67587" name="Rectangle 3"/>
          <p:cNvSpPr>
            <a:spLocks noGrp="1"/>
          </p:cNvSpPr>
          <p:nvPr>
            <p:ph type="body"/>
          </p:nvPr>
        </p:nvSpPr>
        <p:spPr>
          <a:xfrm>
            <a:off x="684213" y="1052513"/>
            <a:ext cx="7772400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800" dirty="0"/>
              <a:t>Insert k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 into B-tree of order m.</a:t>
            </a:r>
          </a:p>
          <a:p>
            <a:pPr lvl="1" eaLnBrk="1" hangingPunct="1">
              <a:buFontTx/>
              <a:buChar char="-"/>
            </a:pPr>
            <a:r>
              <a:rPr lang="en-US" altLang="zh-CN" sz="2400" dirty="0">
                <a:solidFill>
                  <a:schemeClr val="accent2"/>
                </a:solidFill>
              </a:rPr>
              <a:t>We find the insertion point (</a:t>
            </a:r>
            <a:r>
              <a:rPr lang="en-US" altLang="zh-CN" sz="2400" dirty="0">
                <a:solidFill>
                  <a:srgbClr val="FF0000"/>
                </a:solidFill>
              </a:rPr>
              <a:t>in a</a:t>
            </a:r>
            <a:r>
              <a:rPr lang="en-US" altLang="zh-CN" sz="2400" dirty="0">
                <a:solidFill>
                  <a:schemeClr val="accent2"/>
                </a:solidFill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leaf</a:t>
            </a:r>
            <a:r>
              <a:rPr lang="en-US" altLang="zh-CN" sz="2400" dirty="0">
                <a:solidFill>
                  <a:schemeClr val="accent2"/>
                </a:solidFill>
              </a:rPr>
              <a:t>) by doing a search.</a:t>
            </a:r>
          </a:p>
          <a:p>
            <a:pPr lvl="1" eaLnBrk="1" hangingPunct="1">
              <a:buFontTx/>
              <a:buChar char="-"/>
            </a:pPr>
            <a:r>
              <a:rPr lang="en-US" altLang="zh-CN" sz="2400" dirty="0">
                <a:solidFill>
                  <a:schemeClr val="accent2"/>
                </a:solidFill>
              </a:rPr>
              <a:t>If there is room then enter k</a:t>
            </a:r>
            <a:r>
              <a:rPr lang="en-US" altLang="zh-CN" sz="2400" baseline="-25000" dirty="0">
                <a:solidFill>
                  <a:schemeClr val="accent2"/>
                </a:solidFill>
              </a:rPr>
              <a:t>i</a:t>
            </a:r>
            <a:r>
              <a:rPr lang="en-US" altLang="zh-CN" sz="2400" dirty="0">
                <a:solidFill>
                  <a:schemeClr val="accent2"/>
                </a:solidFill>
              </a:rPr>
              <a:t>.</a:t>
            </a:r>
          </a:p>
          <a:p>
            <a:pPr lvl="1" eaLnBrk="1" hangingPunct="1">
              <a:buFontTx/>
              <a:buChar char="-"/>
            </a:pPr>
            <a:r>
              <a:rPr lang="en-US" altLang="zh-CN" sz="2400" dirty="0">
                <a:solidFill>
                  <a:schemeClr val="accent2"/>
                </a:solidFill>
              </a:rPr>
              <a:t>Else, promote the </a:t>
            </a:r>
            <a:r>
              <a:rPr lang="en-US" altLang="zh-CN" sz="2400" b="1" dirty="0">
                <a:solidFill>
                  <a:srgbClr val="009900"/>
                </a:solidFill>
              </a:rPr>
              <a:t>middle key </a:t>
            </a:r>
            <a:r>
              <a:rPr lang="en-US" altLang="zh-CN" sz="2400" dirty="0">
                <a:solidFill>
                  <a:schemeClr val="accent2"/>
                </a:solidFill>
              </a:rPr>
              <a:t>to the parent &amp; split the node into nodes around the middle key.</a:t>
            </a:r>
          </a:p>
          <a:p>
            <a:pPr eaLnBrk="1" hangingPunct="1"/>
            <a:r>
              <a:rPr lang="en-US" altLang="zh-CN" sz="2800" dirty="0"/>
              <a:t>If the splitting backs up to the root, then</a:t>
            </a:r>
          </a:p>
          <a:p>
            <a:pPr lvl="1" eaLnBrk="1" hangingPunct="1"/>
            <a:r>
              <a:rPr lang="en-US" altLang="zh-CN" sz="2400" dirty="0">
                <a:solidFill>
                  <a:schemeClr val="accent2"/>
                </a:solidFill>
              </a:rPr>
              <a:t>Make a new root containing the middle key.</a:t>
            </a:r>
            <a:endParaRPr lang="en-US" altLang="zh-CN" sz="2400" dirty="0"/>
          </a:p>
          <a:p>
            <a:pPr eaLnBrk="1" hangingPunct="1"/>
            <a:r>
              <a:rPr lang="en-US" altLang="zh-CN" sz="2800" b="1" dirty="0"/>
              <a:t>Note: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rgbClr val="FF0000"/>
                </a:solidFill>
              </a:rPr>
              <a:t>the tree grows from the leaves, balance is always maintained</a:t>
            </a:r>
            <a:r>
              <a:rPr lang="en-US" altLang="zh-CN" sz="2800" dirty="0"/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Deletion</a:t>
            </a:r>
          </a:p>
        </p:txBody>
      </p:sp>
      <p:grpSp>
        <p:nvGrpSpPr>
          <p:cNvPr id="2" name="Group 38"/>
          <p:cNvGrpSpPr/>
          <p:nvPr/>
        </p:nvGrpSpPr>
        <p:grpSpPr>
          <a:xfrm>
            <a:off x="5853113" y="2940050"/>
            <a:ext cx="2224087" cy="1185863"/>
            <a:chOff x="2247" y="2284"/>
            <a:chExt cx="1401" cy="747"/>
          </a:xfrm>
        </p:grpSpPr>
        <p:sp>
          <p:nvSpPr>
            <p:cNvPr id="68632" name="AutoShape 7"/>
            <p:cNvSpPr/>
            <p:nvPr/>
          </p:nvSpPr>
          <p:spPr>
            <a:xfrm>
              <a:off x="2967" y="2796"/>
              <a:ext cx="681" cy="231"/>
            </a:xfrm>
            <a:prstGeom prst="wedgeEllipseCallout">
              <a:avLst>
                <a:gd name="adj1" fmla="val 51287"/>
                <a:gd name="adj2" fmla="val -1597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Times New Roman" panose="02020603050405020304" pitchFamily="18" charset="0"/>
                </a:rPr>
                <a:t>C | </a:t>
              </a:r>
              <a:r>
                <a:rPr lang="en-US" altLang="zh-CN" sz="12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 | E</a:t>
              </a:r>
            </a:p>
          </p:txBody>
        </p:sp>
        <p:sp>
          <p:nvSpPr>
            <p:cNvPr id="68633" name="AutoShape 6"/>
            <p:cNvSpPr/>
            <p:nvPr/>
          </p:nvSpPr>
          <p:spPr>
            <a:xfrm>
              <a:off x="2785" y="2284"/>
              <a:ext cx="403" cy="230"/>
            </a:xfrm>
            <a:prstGeom prst="wedgeEllipseCallout">
              <a:avLst>
                <a:gd name="adj1" fmla="val 51486"/>
                <a:gd name="adj2" fmla="val -156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8634" name="AutoShape 8"/>
            <p:cNvSpPr/>
            <p:nvPr/>
          </p:nvSpPr>
          <p:spPr>
            <a:xfrm>
              <a:off x="2247" y="2801"/>
              <a:ext cx="595" cy="230"/>
            </a:xfrm>
            <a:prstGeom prst="wedgeEllipseCallout">
              <a:avLst>
                <a:gd name="adj1" fmla="val 51009"/>
                <a:gd name="adj2" fmla="val -1741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A | B</a:t>
              </a:r>
            </a:p>
          </p:txBody>
        </p:sp>
        <p:sp>
          <p:nvSpPr>
            <p:cNvPr id="68635" name="Line 9"/>
            <p:cNvSpPr/>
            <p:nvPr/>
          </p:nvSpPr>
          <p:spPr>
            <a:xfrm flipH="1">
              <a:off x="2661" y="2469"/>
              <a:ext cx="181" cy="30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36" name="Line 10"/>
            <p:cNvSpPr/>
            <p:nvPr/>
          </p:nvSpPr>
          <p:spPr>
            <a:xfrm>
              <a:off x="3129" y="2472"/>
              <a:ext cx="174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39"/>
          <p:cNvGrpSpPr/>
          <p:nvPr/>
        </p:nvGrpSpPr>
        <p:grpSpPr>
          <a:xfrm>
            <a:off x="6011863" y="4670425"/>
            <a:ext cx="1912937" cy="1196975"/>
            <a:chOff x="2347" y="3374"/>
            <a:chExt cx="1205" cy="754"/>
          </a:xfrm>
        </p:grpSpPr>
        <p:sp>
          <p:nvSpPr>
            <p:cNvPr id="68627" name="AutoShape 21"/>
            <p:cNvSpPr/>
            <p:nvPr/>
          </p:nvSpPr>
          <p:spPr>
            <a:xfrm>
              <a:off x="2741" y="3374"/>
              <a:ext cx="403" cy="230"/>
            </a:xfrm>
            <a:prstGeom prst="wedgeEllipseCallout">
              <a:avLst>
                <a:gd name="adj1" fmla="val 51486"/>
                <a:gd name="adj2" fmla="val -156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68628" name="AutoShape 22"/>
            <p:cNvSpPr/>
            <p:nvPr/>
          </p:nvSpPr>
          <p:spPr>
            <a:xfrm>
              <a:off x="2875" y="3879"/>
              <a:ext cx="677" cy="249"/>
            </a:xfrm>
            <a:prstGeom prst="wedgeEllipseCallout">
              <a:avLst>
                <a:gd name="adj1" fmla="val 51181"/>
                <a:gd name="adj2" fmla="val -1407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 | D | E</a:t>
              </a:r>
            </a:p>
          </p:txBody>
        </p:sp>
        <p:sp>
          <p:nvSpPr>
            <p:cNvPr id="68629" name="AutoShape 23"/>
            <p:cNvSpPr/>
            <p:nvPr/>
          </p:nvSpPr>
          <p:spPr>
            <a:xfrm>
              <a:off x="2347" y="3868"/>
              <a:ext cx="480" cy="230"/>
            </a:xfrm>
            <a:prstGeom prst="wedgeEllipseCallout">
              <a:avLst>
                <a:gd name="adj1" fmla="val 52292"/>
                <a:gd name="adj2" fmla="val -3477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A | B</a:t>
              </a:r>
            </a:p>
          </p:txBody>
        </p:sp>
        <p:sp>
          <p:nvSpPr>
            <p:cNvPr id="68630" name="Line 24"/>
            <p:cNvSpPr/>
            <p:nvPr/>
          </p:nvSpPr>
          <p:spPr>
            <a:xfrm flipH="1">
              <a:off x="2617" y="3573"/>
              <a:ext cx="181" cy="30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31" name="Line 25"/>
            <p:cNvSpPr/>
            <p:nvPr/>
          </p:nvSpPr>
          <p:spPr>
            <a:xfrm>
              <a:off x="3085" y="3576"/>
              <a:ext cx="174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8613" name="Rectangle 32"/>
          <p:cNvSpPr/>
          <p:nvPr/>
        </p:nvSpPr>
        <p:spPr>
          <a:xfrm>
            <a:off x="381000" y="1371600"/>
            <a:ext cx="7851775" cy="140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en-GB" altLang="zh-CN" sz="2400" b="1" dirty="0">
                <a:solidFill>
                  <a:srgbClr val="0066FF"/>
                </a:solidFill>
              </a:rPr>
              <a:t>Rule 1:</a:t>
            </a:r>
            <a:r>
              <a:rPr lang="en-GB" altLang="zh-CN" sz="2400" dirty="0"/>
              <a:t> If removing the key doesn</a:t>
            </a:r>
            <a:r>
              <a:rPr lang="en-GB" altLang="zh-CN" sz="2400" dirty="0">
                <a:latin typeface="Arial" panose="020B0604020202020204" pitchFamily="34" charset="0"/>
              </a:rPr>
              <a:t>’</a:t>
            </a:r>
            <a:r>
              <a:rPr lang="en-GB" altLang="zh-CN" sz="2400" dirty="0"/>
              <a:t>t cause that leaf node to have </a:t>
            </a:r>
            <a:r>
              <a:rPr lang="en-GB" altLang="zh-CN" sz="2400" i="1" dirty="0"/>
              <a:t>too few keys</a:t>
            </a:r>
            <a:r>
              <a:rPr lang="en-GB" altLang="zh-CN" sz="2400" dirty="0"/>
              <a:t>, then simply remove the key to be deleted. </a:t>
            </a:r>
            <a:r>
              <a:rPr lang="en-GB" altLang="zh-CN" sz="2400" dirty="0">
                <a:solidFill>
                  <a:srgbClr val="FF0066"/>
                </a:solidFill>
              </a:rPr>
              <a:t>Remember to update the corresponding internal node.</a:t>
            </a:r>
          </a:p>
        </p:txBody>
      </p:sp>
      <p:sp>
        <p:nvSpPr>
          <p:cNvPr id="67617" name="Rectangle 33"/>
          <p:cNvSpPr/>
          <p:nvPr/>
        </p:nvSpPr>
        <p:spPr>
          <a:xfrm>
            <a:off x="0" y="2895600"/>
            <a:ext cx="3276600" cy="641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A B-tree of order 3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(2-3 tree)</a:t>
            </a:r>
          </a:p>
        </p:txBody>
      </p:sp>
      <p:sp>
        <p:nvSpPr>
          <p:cNvPr id="67618" name="Text Box 34"/>
          <p:cNvSpPr txBox="1"/>
          <p:nvPr/>
        </p:nvSpPr>
        <p:spPr>
          <a:xfrm>
            <a:off x="3962400" y="2895600"/>
            <a:ext cx="1676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Delete D:</a:t>
            </a:r>
          </a:p>
        </p:txBody>
      </p:sp>
      <p:sp>
        <p:nvSpPr>
          <p:cNvPr id="67619" name="Text Box 35"/>
          <p:cNvSpPr txBox="1"/>
          <p:nvPr/>
        </p:nvSpPr>
        <p:spPr>
          <a:xfrm>
            <a:off x="3962400" y="4052888"/>
            <a:ext cx="1447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Delete C:</a:t>
            </a:r>
          </a:p>
        </p:txBody>
      </p:sp>
      <p:sp>
        <p:nvSpPr>
          <p:cNvPr id="67620" name="AutoShape 35"/>
          <p:cNvSpPr/>
          <p:nvPr/>
        </p:nvSpPr>
        <p:spPr>
          <a:xfrm>
            <a:off x="6846888" y="5475288"/>
            <a:ext cx="1077912" cy="392112"/>
          </a:xfrm>
          <a:prstGeom prst="wedgeEllipseCallout">
            <a:avLst>
              <a:gd name="adj1" fmla="val 37042"/>
              <a:gd name="adj2" fmla="val -50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dirty="0">
                <a:latin typeface="Times New Roman" panose="02020603050405020304" pitchFamily="18" charset="0"/>
              </a:rPr>
              <a:t>D | E</a:t>
            </a:r>
          </a:p>
        </p:txBody>
      </p:sp>
      <p:sp>
        <p:nvSpPr>
          <p:cNvPr id="67621" name="AutoShape 21"/>
          <p:cNvSpPr/>
          <p:nvPr/>
        </p:nvSpPr>
        <p:spPr>
          <a:xfrm>
            <a:off x="6640513" y="4670425"/>
            <a:ext cx="639762" cy="365125"/>
          </a:xfrm>
          <a:prstGeom prst="wedgeEllipseCallout">
            <a:avLst>
              <a:gd name="adj1" fmla="val 51486"/>
              <a:gd name="adj2" fmla="val -15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D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grpSp>
        <p:nvGrpSpPr>
          <p:cNvPr id="4" name="Group 40"/>
          <p:cNvGrpSpPr/>
          <p:nvPr/>
        </p:nvGrpSpPr>
        <p:grpSpPr>
          <a:xfrm>
            <a:off x="785813" y="4038600"/>
            <a:ext cx="1914525" cy="1196975"/>
            <a:chOff x="2347" y="3374"/>
            <a:chExt cx="1205" cy="754"/>
          </a:xfrm>
        </p:grpSpPr>
        <p:sp>
          <p:nvSpPr>
            <p:cNvPr id="68622" name="AutoShape 21"/>
            <p:cNvSpPr/>
            <p:nvPr/>
          </p:nvSpPr>
          <p:spPr>
            <a:xfrm>
              <a:off x="2741" y="3374"/>
              <a:ext cx="403" cy="230"/>
            </a:xfrm>
            <a:prstGeom prst="wedgeEllipseCallout">
              <a:avLst>
                <a:gd name="adj1" fmla="val 51486"/>
                <a:gd name="adj2" fmla="val -156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68623" name="AutoShape 22"/>
            <p:cNvSpPr/>
            <p:nvPr/>
          </p:nvSpPr>
          <p:spPr>
            <a:xfrm>
              <a:off x="2875" y="3879"/>
              <a:ext cx="677" cy="249"/>
            </a:xfrm>
            <a:prstGeom prst="wedgeEllipseCallout">
              <a:avLst>
                <a:gd name="adj1" fmla="val 51181"/>
                <a:gd name="adj2" fmla="val -1407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1200" dirty="0">
                  <a:latin typeface="Times New Roman" panose="02020603050405020304" pitchFamily="18" charset="0"/>
                </a:rPr>
                <a:t> | D | E</a:t>
              </a:r>
            </a:p>
          </p:txBody>
        </p:sp>
        <p:sp>
          <p:nvSpPr>
            <p:cNvPr id="68624" name="AutoShape 23"/>
            <p:cNvSpPr/>
            <p:nvPr/>
          </p:nvSpPr>
          <p:spPr>
            <a:xfrm>
              <a:off x="2347" y="3868"/>
              <a:ext cx="480" cy="230"/>
            </a:xfrm>
            <a:prstGeom prst="wedgeEllipseCallout">
              <a:avLst>
                <a:gd name="adj1" fmla="val 52292"/>
                <a:gd name="adj2" fmla="val -3477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A | B</a:t>
              </a:r>
            </a:p>
          </p:txBody>
        </p:sp>
        <p:sp>
          <p:nvSpPr>
            <p:cNvPr id="68625" name="Line 24"/>
            <p:cNvSpPr/>
            <p:nvPr/>
          </p:nvSpPr>
          <p:spPr>
            <a:xfrm flipH="1">
              <a:off x="2617" y="3573"/>
              <a:ext cx="181" cy="30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26" name="Line 25"/>
            <p:cNvSpPr/>
            <p:nvPr/>
          </p:nvSpPr>
          <p:spPr>
            <a:xfrm>
              <a:off x="3085" y="3576"/>
              <a:ext cx="174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7630" name="Text Box 46"/>
          <p:cNvSpPr txBox="1"/>
          <p:nvPr/>
        </p:nvSpPr>
        <p:spPr>
          <a:xfrm>
            <a:off x="3992563" y="6096000"/>
            <a:ext cx="1752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Delete A </a:t>
            </a:r>
            <a:r>
              <a:rPr lang="en-US" altLang="zh-CN" sz="2000" b="1" dirty="0">
                <a:solidFill>
                  <a:srgbClr val="FF0066"/>
                </a:solidFill>
              </a:rPr>
              <a:t>?</a:t>
            </a:r>
          </a:p>
        </p:txBody>
      </p:sp>
      <p:sp>
        <p:nvSpPr>
          <p:cNvPr id="67596" name="AutoShape 12"/>
          <p:cNvSpPr/>
          <p:nvPr/>
        </p:nvSpPr>
        <p:spPr>
          <a:xfrm>
            <a:off x="6988175" y="3760788"/>
            <a:ext cx="1089025" cy="349250"/>
          </a:xfrm>
          <a:prstGeom prst="wedgeEllipseCallout">
            <a:avLst>
              <a:gd name="adj1" fmla="val 51106"/>
              <a:gd name="adj2" fmla="val 1741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dirty="0">
                <a:latin typeface="Times New Roman" panose="02020603050405020304" pitchFamily="18" charset="0"/>
              </a:rPr>
              <a:t>C | 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17" grpId="0"/>
      <p:bldP spid="67618" grpId="0"/>
      <p:bldP spid="67619" grpId="0"/>
      <p:bldP spid="67620" grpId="0" animBg="1"/>
      <p:bldP spid="67621" grpId="0" animBg="1"/>
      <p:bldP spid="67630" grpId="0"/>
      <p:bldP spid="6759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0668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Deletion Example 2</a:t>
            </a:r>
          </a:p>
        </p:txBody>
      </p:sp>
      <p:sp>
        <p:nvSpPr>
          <p:cNvPr id="69635" name="AutoShape 4"/>
          <p:cNvSpPr/>
          <p:nvPr/>
        </p:nvSpPr>
        <p:spPr>
          <a:xfrm>
            <a:off x="1844675" y="2209800"/>
            <a:ext cx="639763" cy="365125"/>
          </a:xfrm>
          <a:prstGeom prst="wedgeEllipseCallout">
            <a:avLst>
              <a:gd name="adj1" fmla="val 51486"/>
              <a:gd name="adj2" fmla="val -15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C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9636" name="AutoShape 5"/>
          <p:cNvSpPr/>
          <p:nvPr/>
        </p:nvSpPr>
        <p:spPr>
          <a:xfrm>
            <a:off x="2239963" y="3030538"/>
            <a:ext cx="960437" cy="365125"/>
          </a:xfrm>
          <a:prstGeom prst="wedgeEllipseCallout">
            <a:avLst>
              <a:gd name="adj1" fmla="val 50991"/>
              <a:gd name="adj2" fmla="val -1741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dirty="0">
                <a:latin typeface="Times New Roman" panose="02020603050405020304" pitchFamily="18" charset="0"/>
              </a:rPr>
              <a:t>C |D | E</a:t>
            </a:r>
          </a:p>
        </p:txBody>
      </p:sp>
      <p:sp>
        <p:nvSpPr>
          <p:cNvPr id="69637" name="AutoShape 6"/>
          <p:cNvSpPr/>
          <p:nvPr/>
        </p:nvSpPr>
        <p:spPr>
          <a:xfrm>
            <a:off x="1143000" y="3030538"/>
            <a:ext cx="792163" cy="365125"/>
          </a:xfrm>
          <a:prstGeom prst="wedgeEllipseCallout">
            <a:avLst>
              <a:gd name="adj1" fmla="val 51204"/>
              <a:gd name="adj2" fmla="val -1741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1200" b="1" dirty="0">
                <a:latin typeface="Times New Roman" panose="02020603050405020304" pitchFamily="18" charset="0"/>
              </a:rPr>
              <a:t>| B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9638" name="Line 7"/>
          <p:cNvSpPr/>
          <p:nvPr/>
        </p:nvSpPr>
        <p:spPr>
          <a:xfrm flipH="1">
            <a:off x="1647825" y="2503488"/>
            <a:ext cx="287338" cy="4841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39" name="Line 8"/>
          <p:cNvSpPr/>
          <p:nvPr/>
        </p:nvSpPr>
        <p:spPr>
          <a:xfrm>
            <a:off x="2390775" y="2508250"/>
            <a:ext cx="276225" cy="4889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9640" name="AutoShape 15"/>
          <p:cNvSpPr/>
          <p:nvPr/>
        </p:nvSpPr>
        <p:spPr>
          <a:xfrm>
            <a:off x="3635375" y="2852738"/>
            <a:ext cx="1066800" cy="228600"/>
          </a:xfrm>
          <a:prstGeom prst="rightArrow">
            <a:avLst>
              <a:gd name="adj1" fmla="val 50000"/>
              <a:gd name="adj2" fmla="val 1166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en-CA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9641" name="Text Box 16"/>
          <p:cNvSpPr txBox="1"/>
          <p:nvPr/>
        </p:nvSpPr>
        <p:spPr>
          <a:xfrm>
            <a:off x="3657600" y="2514600"/>
            <a:ext cx="100330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Delete A</a:t>
            </a:r>
          </a:p>
        </p:txBody>
      </p:sp>
      <p:grpSp>
        <p:nvGrpSpPr>
          <p:cNvPr id="2" name="Group 35"/>
          <p:cNvGrpSpPr/>
          <p:nvPr/>
        </p:nvGrpSpPr>
        <p:grpSpPr>
          <a:xfrm>
            <a:off x="4648200" y="4757738"/>
            <a:ext cx="2057400" cy="1160462"/>
            <a:chOff x="2928" y="2997"/>
            <a:chExt cx="1296" cy="731"/>
          </a:xfrm>
        </p:grpSpPr>
        <p:sp>
          <p:nvSpPr>
            <p:cNvPr id="69651" name="AutoShape 12"/>
            <p:cNvSpPr/>
            <p:nvPr/>
          </p:nvSpPr>
          <p:spPr>
            <a:xfrm>
              <a:off x="2928" y="3477"/>
              <a:ext cx="595" cy="230"/>
            </a:xfrm>
            <a:prstGeom prst="wedgeEllipseCallout">
              <a:avLst>
                <a:gd name="adj1" fmla="val 51009"/>
                <a:gd name="adj2" fmla="val -1741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B | C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69652" name="AutoShape 21"/>
            <p:cNvSpPr/>
            <p:nvPr/>
          </p:nvSpPr>
          <p:spPr>
            <a:xfrm>
              <a:off x="3456" y="2997"/>
              <a:ext cx="440" cy="230"/>
            </a:xfrm>
            <a:prstGeom prst="wedgeEllipseCallout">
              <a:avLst>
                <a:gd name="adj1" fmla="val 42954"/>
                <a:gd name="adj2" fmla="val -1741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Times New Roman" panose="02020603050405020304" pitchFamily="18" charset="0"/>
                </a:rPr>
                <a:t>D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69653" name="AutoShape 22"/>
            <p:cNvSpPr/>
            <p:nvPr/>
          </p:nvSpPr>
          <p:spPr>
            <a:xfrm>
              <a:off x="3773" y="3498"/>
              <a:ext cx="451" cy="230"/>
            </a:xfrm>
            <a:prstGeom prst="wedgeEllipseCallout">
              <a:avLst>
                <a:gd name="adj1" fmla="val 51329"/>
                <a:gd name="adj2" fmla="val -1741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D | E</a:t>
              </a:r>
            </a:p>
          </p:txBody>
        </p:sp>
        <p:sp>
          <p:nvSpPr>
            <p:cNvPr id="69654" name="Line 23"/>
            <p:cNvSpPr/>
            <p:nvPr/>
          </p:nvSpPr>
          <p:spPr>
            <a:xfrm flipH="1">
              <a:off x="3332" y="3182"/>
              <a:ext cx="181" cy="30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55" name="Line 24"/>
            <p:cNvSpPr/>
            <p:nvPr/>
          </p:nvSpPr>
          <p:spPr>
            <a:xfrm>
              <a:off x="3800" y="3185"/>
              <a:ext cx="174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3" name="Group 34"/>
          <p:cNvGrpSpPr/>
          <p:nvPr/>
        </p:nvGrpSpPr>
        <p:grpSpPr>
          <a:xfrm>
            <a:off x="4876800" y="2133600"/>
            <a:ext cx="1981200" cy="1143000"/>
            <a:chOff x="3072" y="1344"/>
            <a:chExt cx="1248" cy="720"/>
          </a:xfrm>
        </p:grpSpPr>
        <p:sp>
          <p:nvSpPr>
            <p:cNvPr id="69646" name="AutoShape 10"/>
            <p:cNvSpPr/>
            <p:nvPr/>
          </p:nvSpPr>
          <p:spPr>
            <a:xfrm>
              <a:off x="3418" y="1344"/>
              <a:ext cx="403" cy="230"/>
            </a:xfrm>
            <a:prstGeom prst="wedgeEllipseCallout">
              <a:avLst>
                <a:gd name="adj1" fmla="val 51486"/>
                <a:gd name="adj2" fmla="val -156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Times New Roman" panose="02020603050405020304" pitchFamily="18" charset="0"/>
                </a:rPr>
                <a:t>C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69647" name="Line 13"/>
            <p:cNvSpPr/>
            <p:nvPr/>
          </p:nvSpPr>
          <p:spPr>
            <a:xfrm flipH="1">
              <a:off x="3294" y="1529"/>
              <a:ext cx="181" cy="30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48" name="Line 14"/>
            <p:cNvSpPr/>
            <p:nvPr/>
          </p:nvSpPr>
          <p:spPr>
            <a:xfrm>
              <a:off x="3762" y="1532"/>
              <a:ext cx="174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9649" name="AutoShape 5"/>
            <p:cNvSpPr/>
            <p:nvPr/>
          </p:nvSpPr>
          <p:spPr>
            <a:xfrm>
              <a:off x="3648" y="1815"/>
              <a:ext cx="672" cy="249"/>
            </a:xfrm>
            <a:prstGeom prst="wedgeEllipseCallout">
              <a:avLst>
                <a:gd name="adj1" fmla="val 50991"/>
                <a:gd name="adj2" fmla="val -1741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C | D | E</a:t>
              </a:r>
            </a:p>
          </p:txBody>
        </p:sp>
        <p:sp>
          <p:nvSpPr>
            <p:cNvPr id="69650" name="AutoShape 6"/>
            <p:cNvSpPr/>
            <p:nvPr/>
          </p:nvSpPr>
          <p:spPr>
            <a:xfrm>
              <a:off x="3072" y="1834"/>
              <a:ext cx="499" cy="230"/>
            </a:xfrm>
            <a:prstGeom prst="wedgeEllipseCallout">
              <a:avLst>
                <a:gd name="adj1" fmla="val 51204"/>
                <a:gd name="adj2" fmla="val -1741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Times New Roman" panose="02020603050405020304" pitchFamily="18" charset="0"/>
                </a:rPr>
                <a:t>B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9644" name="AutoShape 15"/>
          <p:cNvSpPr/>
          <p:nvPr/>
        </p:nvSpPr>
        <p:spPr>
          <a:xfrm rot="5254829">
            <a:off x="5295900" y="3771900"/>
            <a:ext cx="1066800" cy="228600"/>
          </a:xfrm>
          <a:prstGeom prst="rightArrow">
            <a:avLst>
              <a:gd name="adj1" fmla="val 50000"/>
              <a:gd name="adj2" fmla="val 1166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en-CA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9645" name="Rectangle 33"/>
          <p:cNvSpPr/>
          <p:nvPr/>
        </p:nvSpPr>
        <p:spPr>
          <a:xfrm>
            <a:off x="0" y="1295400"/>
            <a:ext cx="3276600" cy="641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A B-tree of order 3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(2-3 tree)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5"/>
          <p:cNvSpPr txBox="1">
            <a:spLocks noGrp="1"/>
          </p:cNvSpPr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>
              <a:spcBef>
                <a:spcPct val="0"/>
              </a:spcBef>
              <a:buNone/>
            </a:pPr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  <a:t>53</a:t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Deletion Cont...</a:t>
            </a:r>
          </a:p>
        </p:txBody>
      </p:sp>
      <p:sp>
        <p:nvSpPr>
          <p:cNvPr id="70660" name="Rectangle 3"/>
          <p:cNvSpPr>
            <a:spLocks noGrp="1"/>
          </p:cNvSpPr>
          <p:nvPr>
            <p:ph type="body"/>
          </p:nvPr>
        </p:nvSpPr>
        <p:spPr>
          <a:xfrm>
            <a:off x="914400" y="1447800"/>
            <a:ext cx="7267575" cy="3509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solidFill>
                  <a:srgbClr val="0066FF"/>
                </a:solidFill>
              </a:rPr>
              <a:t>  Rule 2: </a:t>
            </a:r>
            <a:r>
              <a:rPr lang="en-US" altLang="zh-CN" sz="2400" dirty="0"/>
              <a:t>If the node contains the minimum number of entries, consider the siblings: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If one of these siblings has more than the minimum number of entries, then borrow one entry from this sibling, and </a:t>
            </a:r>
            <a:r>
              <a:rPr lang="en-GB" altLang="zh-CN" sz="2400" dirty="0"/>
              <a:t>update the corresponding internal node.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800" dirty="0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solidFill>
                  <a:srgbClr val="FF3300"/>
                </a:solidFill>
              </a:rPr>
              <a:t>   Note: all nodes must comply with minimum entry restriction.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0668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Deletion Example 3</a:t>
            </a:r>
          </a:p>
        </p:txBody>
      </p:sp>
      <p:sp>
        <p:nvSpPr>
          <p:cNvPr id="71683" name="AutoShape 4"/>
          <p:cNvSpPr/>
          <p:nvPr/>
        </p:nvSpPr>
        <p:spPr>
          <a:xfrm>
            <a:off x="1844675" y="2209800"/>
            <a:ext cx="639763" cy="365125"/>
          </a:xfrm>
          <a:prstGeom prst="wedgeEllipseCallout">
            <a:avLst>
              <a:gd name="adj1" fmla="val 51486"/>
              <a:gd name="adj2" fmla="val -15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D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71684" name="AutoShape 5"/>
          <p:cNvSpPr/>
          <p:nvPr/>
        </p:nvSpPr>
        <p:spPr>
          <a:xfrm>
            <a:off x="2239963" y="3030538"/>
            <a:ext cx="960437" cy="365125"/>
          </a:xfrm>
          <a:prstGeom prst="wedgeEllipseCallout">
            <a:avLst>
              <a:gd name="adj1" fmla="val 50991"/>
              <a:gd name="adj2" fmla="val -1741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dirty="0">
                <a:latin typeface="Times New Roman" panose="02020603050405020304" pitchFamily="18" charset="0"/>
              </a:rPr>
              <a:t>D | E </a:t>
            </a:r>
          </a:p>
        </p:txBody>
      </p:sp>
      <p:sp>
        <p:nvSpPr>
          <p:cNvPr id="71685" name="AutoShape 6"/>
          <p:cNvSpPr/>
          <p:nvPr/>
        </p:nvSpPr>
        <p:spPr>
          <a:xfrm>
            <a:off x="1143000" y="3030538"/>
            <a:ext cx="792163" cy="365125"/>
          </a:xfrm>
          <a:prstGeom prst="wedgeEllipseCallout">
            <a:avLst>
              <a:gd name="adj1" fmla="val 51204"/>
              <a:gd name="adj2" fmla="val -1741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b="1" dirty="0">
                <a:latin typeface="Times New Roman" panose="02020603050405020304" pitchFamily="18" charset="0"/>
              </a:rPr>
              <a:t>B | C</a:t>
            </a:r>
          </a:p>
        </p:txBody>
      </p:sp>
      <p:sp>
        <p:nvSpPr>
          <p:cNvPr id="71686" name="Line 7"/>
          <p:cNvSpPr/>
          <p:nvPr/>
        </p:nvSpPr>
        <p:spPr>
          <a:xfrm flipH="1">
            <a:off x="1647825" y="2503488"/>
            <a:ext cx="287338" cy="4841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687" name="Line 8"/>
          <p:cNvSpPr/>
          <p:nvPr/>
        </p:nvSpPr>
        <p:spPr>
          <a:xfrm>
            <a:off x="2390775" y="2508250"/>
            <a:ext cx="276225" cy="4889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688" name="AutoShape 15"/>
          <p:cNvSpPr/>
          <p:nvPr/>
        </p:nvSpPr>
        <p:spPr>
          <a:xfrm>
            <a:off x="3635375" y="2852738"/>
            <a:ext cx="1066800" cy="228600"/>
          </a:xfrm>
          <a:prstGeom prst="rightArrow">
            <a:avLst>
              <a:gd name="adj1" fmla="val 50000"/>
              <a:gd name="adj2" fmla="val 1166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en-CA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71689" name="Text Box 16"/>
          <p:cNvSpPr txBox="1"/>
          <p:nvPr/>
        </p:nvSpPr>
        <p:spPr>
          <a:xfrm>
            <a:off x="3657600" y="2514600"/>
            <a:ext cx="99060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Delete B</a:t>
            </a:r>
          </a:p>
        </p:txBody>
      </p:sp>
      <p:sp>
        <p:nvSpPr>
          <p:cNvPr id="102415" name="AutoShape 22"/>
          <p:cNvSpPr/>
          <p:nvPr/>
        </p:nvSpPr>
        <p:spPr>
          <a:xfrm>
            <a:off x="5105400" y="5553075"/>
            <a:ext cx="1600200" cy="365125"/>
          </a:xfrm>
          <a:prstGeom prst="wedgeEllipseCallout">
            <a:avLst>
              <a:gd name="adj1" fmla="val 50597"/>
              <a:gd name="adj2" fmla="val -1741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200" dirty="0">
                <a:latin typeface="Times New Roman" panose="02020603050405020304" pitchFamily="18" charset="0"/>
              </a:rPr>
              <a:t>C | D | E</a:t>
            </a:r>
          </a:p>
        </p:txBody>
      </p:sp>
      <p:grpSp>
        <p:nvGrpSpPr>
          <p:cNvPr id="2" name="Group 22"/>
          <p:cNvGrpSpPr/>
          <p:nvPr/>
        </p:nvGrpSpPr>
        <p:grpSpPr>
          <a:xfrm>
            <a:off x="4876800" y="2133600"/>
            <a:ext cx="1874838" cy="1143000"/>
            <a:chOff x="3072" y="1344"/>
            <a:chExt cx="1181" cy="720"/>
          </a:xfrm>
        </p:grpSpPr>
        <p:sp>
          <p:nvSpPr>
            <p:cNvPr id="71694" name="AutoShape 10"/>
            <p:cNvSpPr/>
            <p:nvPr/>
          </p:nvSpPr>
          <p:spPr>
            <a:xfrm>
              <a:off x="3418" y="1344"/>
              <a:ext cx="403" cy="230"/>
            </a:xfrm>
            <a:prstGeom prst="wedgeEllipseCallout">
              <a:avLst>
                <a:gd name="adj1" fmla="val 51486"/>
                <a:gd name="adj2" fmla="val -156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Times New Roman" panose="02020603050405020304" pitchFamily="18" charset="0"/>
                </a:rPr>
                <a:t>D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  <p:sp>
          <p:nvSpPr>
            <p:cNvPr id="71695" name="Line 13"/>
            <p:cNvSpPr/>
            <p:nvPr/>
          </p:nvSpPr>
          <p:spPr>
            <a:xfrm flipH="1">
              <a:off x="3294" y="1529"/>
              <a:ext cx="181" cy="30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696" name="Line 14"/>
            <p:cNvSpPr/>
            <p:nvPr/>
          </p:nvSpPr>
          <p:spPr>
            <a:xfrm>
              <a:off x="3762" y="1532"/>
              <a:ext cx="174" cy="30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1697" name="AutoShape 5"/>
            <p:cNvSpPr/>
            <p:nvPr/>
          </p:nvSpPr>
          <p:spPr>
            <a:xfrm>
              <a:off x="3648" y="1834"/>
              <a:ext cx="605" cy="230"/>
            </a:xfrm>
            <a:prstGeom prst="wedgeEllipseCallout">
              <a:avLst>
                <a:gd name="adj1" fmla="val 50991"/>
                <a:gd name="adj2" fmla="val -1741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dirty="0">
                  <a:latin typeface="Times New Roman" panose="02020603050405020304" pitchFamily="18" charset="0"/>
                </a:rPr>
                <a:t> D | E </a:t>
              </a:r>
            </a:p>
          </p:txBody>
        </p:sp>
        <p:sp>
          <p:nvSpPr>
            <p:cNvPr id="71698" name="AutoShape 6"/>
            <p:cNvSpPr/>
            <p:nvPr/>
          </p:nvSpPr>
          <p:spPr>
            <a:xfrm>
              <a:off x="3072" y="1834"/>
              <a:ext cx="499" cy="230"/>
            </a:xfrm>
            <a:prstGeom prst="wedgeEllipseCallout">
              <a:avLst>
                <a:gd name="adj1" fmla="val 51204"/>
                <a:gd name="adj2" fmla="val -1741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200" b="1" dirty="0">
                  <a:latin typeface="Times New Roman" panose="02020603050405020304" pitchFamily="18" charset="0"/>
                </a:rPr>
                <a:t>C</a:t>
              </a:r>
              <a:endParaRPr lang="en-US" altLang="zh-CN" sz="1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71692" name="AutoShape 15"/>
          <p:cNvSpPr/>
          <p:nvPr/>
        </p:nvSpPr>
        <p:spPr>
          <a:xfrm rot="5254829">
            <a:off x="5219700" y="4381500"/>
            <a:ext cx="1066800" cy="228600"/>
          </a:xfrm>
          <a:prstGeom prst="rightArrow">
            <a:avLst>
              <a:gd name="adj1" fmla="val 50000"/>
              <a:gd name="adj2" fmla="val 1166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en-CA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71693" name="Rectangle 21"/>
          <p:cNvSpPr/>
          <p:nvPr/>
        </p:nvSpPr>
        <p:spPr>
          <a:xfrm>
            <a:off x="0" y="1295400"/>
            <a:ext cx="3276600" cy="641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A B-tree of order 3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(2-3 tree)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5" grpId="0" animBg="1"/>
      <p:bldP spid="7169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Deletion Cont...</a:t>
            </a:r>
          </a:p>
        </p:txBody>
      </p:sp>
      <p:sp>
        <p:nvSpPr>
          <p:cNvPr id="70660" name="Rectangle 3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0066FF"/>
                </a:solidFill>
              </a:rPr>
              <a:t>  Rule 3: </a:t>
            </a:r>
            <a:r>
              <a:rPr lang="en-US" altLang="zh-CN" sz="2400" dirty="0"/>
              <a:t>If both immediate siblings have exactly the minimum number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of entries, then merge the deficient node with one of the immediate sibling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node and 1 key from the parent.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GB" altLang="zh-CN" sz="2400" dirty="0"/>
              <a:t>    </a:t>
            </a:r>
            <a:r>
              <a:rPr lang="en-GB" altLang="zh-CN" sz="2400" dirty="0">
                <a:solidFill>
                  <a:srgbClr val="009900"/>
                </a:solidFill>
              </a:rPr>
              <a:t>Update the corresponding internal node (i.e. the parent node).</a:t>
            </a:r>
            <a:endParaRPr lang="en-US" altLang="zh-CN" sz="2400" dirty="0">
              <a:solidFill>
                <a:srgbClr val="00990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If this leaves the parent node with insufficient entries,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then merge the parent node with one of the sibling node and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one entry from the grandparent node.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dirty="0"/>
              <a:t>    The process is propagated upward.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6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/>
          </p:cNvSpPr>
          <p:nvPr>
            <p:ph type="title"/>
          </p:nvPr>
        </p:nvSpPr>
        <p:spPr>
          <a:xfrm>
            <a:off x="876300" y="514350"/>
            <a:ext cx="6489700" cy="854075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Deletion Example 4</a:t>
            </a:r>
          </a:p>
        </p:txBody>
      </p:sp>
      <p:sp>
        <p:nvSpPr>
          <p:cNvPr id="73731" name="AutoShape 5"/>
          <p:cNvSpPr/>
          <p:nvPr/>
        </p:nvSpPr>
        <p:spPr>
          <a:xfrm>
            <a:off x="2111375" y="1952625"/>
            <a:ext cx="831850" cy="460375"/>
          </a:xfrm>
          <a:prstGeom prst="wedgeEllipseCallout">
            <a:avLst>
              <a:gd name="adj1" fmla="val 310"/>
              <a:gd name="adj2" fmla="val -1449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G | K</a:t>
            </a:r>
          </a:p>
        </p:txBody>
      </p:sp>
      <p:sp>
        <p:nvSpPr>
          <p:cNvPr id="73732" name="AutoShape 6"/>
          <p:cNvSpPr/>
          <p:nvPr/>
        </p:nvSpPr>
        <p:spPr>
          <a:xfrm>
            <a:off x="3592513" y="3067050"/>
            <a:ext cx="384175" cy="439738"/>
          </a:xfrm>
          <a:prstGeom prst="wedgeEllipseCallout">
            <a:avLst>
              <a:gd name="adj1" fmla="val -19940"/>
              <a:gd name="adj2" fmla="val -15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73733" name="AutoShape 7"/>
          <p:cNvSpPr/>
          <p:nvPr/>
        </p:nvSpPr>
        <p:spPr>
          <a:xfrm>
            <a:off x="3505200" y="4032250"/>
            <a:ext cx="762000" cy="438150"/>
          </a:xfrm>
          <a:prstGeom prst="wedgeEllipseCallout">
            <a:avLst>
              <a:gd name="adj1" fmla="val 20833"/>
              <a:gd name="adj2" fmla="val -1449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K |L</a:t>
            </a:r>
          </a:p>
        </p:txBody>
      </p:sp>
      <p:sp>
        <p:nvSpPr>
          <p:cNvPr id="73734" name="AutoShape 8"/>
          <p:cNvSpPr/>
          <p:nvPr/>
        </p:nvSpPr>
        <p:spPr>
          <a:xfrm>
            <a:off x="1231900" y="3068638"/>
            <a:ext cx="385763" cy="438150"/>
          </a:xfrm>
          <a:prstGeom prst="wedgeEllipseCallout">
            <a:avLst>
              <a:gd name="adj1" fmla="val 51486"/>
              <a:gd name="adj2" fmla="val -15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3735" name="AutoShape 9"/>
          <p:cNvSpPr/>
          <p:nvPr/>
        </p:nvSpPr>
        <p:spPr>
          <a:xfrm>
            <a:off x="973138" y="4024313"/>
            <a:ext cx="1023937" cy="409575"/>
          </a:xfrm>
          <a:prstGeom prst="wedgeEllipseCallout">
            <a:avLst>
              <a:gd name="adj1" fmla="val 30921"/>
              <a:gd name="adj2" fmla="val -1449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C|D | E</a:t>
            </a:r>
          </a:p>
        </p:txBody>
      </p:sp>
      <p:sp>
        <p:nvSpPr>
          <p:cNvPr id="73736" name="AutoShape 10"/>
          <p:cNvSpPr/>
          <p:nvPr/>
        </p:nvSpPr>
        <p:spPr>
          <a:xfrm>
            <a:off x="76200" y="4032250"/>
            <a:ext cx="858838" cy="438150"/>
          </a:xfrm>
          <a:prstGeom prst="wedgeEllipseCallout">
            <a:avLst>
              <a:gd name="adj1" fmla="val 50829"/>
              <a:gd name="adj2" fmla="val -1449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A | B</a:t>
            </a:r>
          </a:p>
        </p:txBody>
      </p:sp>
      <p:sp>
        <p:nvSpPr>
          <p:cNvPr id="73737" name="AutoShape 11"/>
          <p:cNvSpPr/>
          <p:nvPr/>
        </p:nvSpPr>
        <p:spPr>
          <a:xfrm>
            <a:off x="2024063" y="3978275"/>
            <a:ext cx="685800" cy="438150"/>
          </a:xfrm>
          <a:prstGeom prst="wedgeEllipseCallout">
            <a:avLst>
              <a:gd name="adj1" fmla="val 38426"/>
              <a:gd name="adj2" fmla="val -1449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G|</a:t>
            </a:r>
            <a:r>
              <a:rPr lang="en-US" altLang="zh-CN" sz="1400" dirty="0">
                <a:solidFill>
                  <a:srgbClr val="FF3300"/>
                </a:solidFill>
                <a:latin typeface="Times New Roman" panose="02020603050405020304" pitchFamily="18" charset="0"/>
              </a:rPr>
              <a:t>H</a:t>
            </a:r>
            <a:endParaRPr lang="en-US" altLang="zh-CN" sz="1400" dirty="0">
              <a:latin typeface="Times New Roman" panose="02020603050405020304" pitchFamily="18" charset="0"/>
            </a:endParaRPr>
          </a:p>
        </p:txBody>
      </p:sp>
      <p:sp>
        <p:nvSpPr>
          <p:cNvPr id="73738" name="AutoShape 12"/>
          <p:cNvSpPr/>
          <p:nvPr/>
        </p:nvSpPr>
        <p:spPr>
          <a:xfrm>
            <a:off x="4267200" y="4032250"/>
            <a:ext cx="1219200" cy="423863"/>
          </a:xfrm>
          <a:prstGeom prst="wedgeEllipseCallout">
            <a:avLst>
              <a:gd name="adj1" fmla="val 27866"/>
              <a:gd name="adj2" fmla="val -1685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M |N | O</a:t>
            </a:r>
          </a:p>
        </p:txBody>
      </p:sp>
      <p:sp>
        <p:nvSpPr>
          <p:cNvPr id="73739" name="Line 13"/>
          <p:cNvSpPr/>
          <p:nvPr/>
        </p:nvSpPr>
        <p:spPr>
          <a:xfrm flipH="1">
            <a:off x="1562100" y="2301875"/>
            <a:ext cx="581025" cy="7905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0" name="Line 14"/>
          <p:cNvSpPr/>
          <p:nvPr/>
        </p:nvSpPr>
        <p:spPr>
          <a:xfrm>
            <a:off x="2808288" y="2355850"/>
            <a:ext cx="892175" cy="69373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1" name="Line 15"/>
          <p:cNvSpPr/>
          <p:nvPr/>
        </p:nvSpPr>
        <p:spPr>
          <a:xfrm flipH="1">
            <a:off x="573088" y="3421063"/>
            <a:ext cx="714375" cy="6064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2" name="Line 16"/>
          <p:cNvSpPr/>
          <p:nvPr/>
        </p:nvSpPr>
        <p:spPr>
          <a:xfrm flipH="1">
            <a:off x="1514475" y="3425825"/>
            <a:ext cx="46038" cy="5984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3" name="Line 17"/>
          <p:cNvSpPr/>
          <p:nvPr/>
        </p:nvSpPr>
        <p:spPr>
          <a:xfrm flipH="1">
            <a:off x="2354263" y="3482975"/>
            <a:ext cx="115887" cy="4953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4" name="Line 18"/>
          <p:cNvSpPr/>
          <p:nvPr/>
        </p:nvSpPr>
        <p:spPr>
          <a:xfrm flipH="1">
            <a:off x="3700463" y="3498850"/>
            <a:ext cx="33337" cy="5334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5" name="Line 19"/>
          <p:cNvSpPr/>
          <p:nvPr/>
        </p:nvSpPr>
        <p:spPr>
          <a:xfrm>
            <a:off x="3933825" y="3424238"/>
            <a:ext cx="638175" cy="6080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6" name="AutoShape 20"/>
          <p:cNvSpPr/>
          <p:nvPr/>
        </p:nvSpPr>
        <p:spPr>
          <a:xfrm>
            <a:off x="2384425" y="3067050"/>
            <a:ext cx="384175" cy="439738"/>
          </a:xfrm>
          <a:prstGeom prst="wedgeEllipseCallout">
            <a:avLst>
              <a:gd name="adj1" fmla="val 51486"/>
              <a:gd name="adj2" fmla="val -15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73747" name="AutoShape 21"/>
          <p:cNvSpPr/>
          <p:nvPr/>
        </p:nvSpPr>
        <p:spPr>
          <a:xfrm>
            <a:off x="2768600" y="4027488"/>
            <a:ext cx="660400" cy="438150"/>
          </a:xfrm>
          <a:prstGeom prst="wedgeEllipseCallout">
            <a:avLst>
              <a:gd name="adj1" fmla="val 11718"/>
              <a:gd name="adj2" fmla="val 40218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I | J</a:t>
            </a:r>
          </a:p>
        </p:txBody>
      </p:sp>
      <p:sp>
        <p:nvSpPr>
          <p:cNvPr id="73748" name="Line 22"/>
          <p:cNvSpPr/>
          <p:nvPr/>
        </p:nvSpPr>
        <p:spPr>
          <a:xfrm>
            <a:off x="2503488" y="2432050"/>
            <a:ext cx="63500" cy="58261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749" name="Line 23"/>
          <p:cNvSpPr/>
          <p:nvPr/>
        </p:nvSpPr>
        <p:spPr>
          <a:xfrm>
            <a:off x="2743200" y="3422650"/>
            <a:ext cx="423863" cy="6318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" name="Group 72"/>
          <p:cNvGrpSpPr/>
          <p:nvPr/>
        </p:nvGrpSpPr>
        <p:grpSpPr>
          <a:xfrm>
            <a:off x="4377055" y="2644775"/>
            <a:ext cx="1295400" cy="838200"/>
            <a:chOff x="2256" y="1056"/>
            <a:chExt cx="816" cy="528"/>
          </a:xfrm>
        </p:grpSpPr>
        <p:sp>
          <p:nvSpPr>
            <p:cNvPr id="73773" name="Text Box 43"/>
            <p:cNvSpPr txBox="1"/>
            <p:nvPr/>
          </p:nvSpPr>
          <p:spPr>
            <a:xfrm>
              <a:off x="2256" y="1056"/>
              <a:ext cx="816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50000"/>
                </a:spcBef>
                <a:buNone/>
              </a:pPr>
              <a:r>
                <a:rPr lang="en-US" altLang="zh-CN" sz="16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Delete H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73774" name="AutoShape 44"/>
            <p:cNvSpPr/>
            <p:nvPr/>
          </p:nvSpPr>
          <p:spPr>
            <a:xfrm>
              <a:off x="2496" y="1440"/>
              <a:ext cx="432" cy="144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en-CA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97"/>
          <p:cNvGrpSpPr/>
          <p:nvPr/>
        </p:nvGrpSpPr>
        <p:grpSpPr>
          <a:xfrm>
            <a:off x="3733800" y="3959225"/>
            <a:ext cx="5410200" cy="2517775"/>
            <a:chOff x="2352" y="2494"/>
            <a:chExt cx="3408" cy="1586"/>
          </a:xfrm>
        </p:grpSpPr>
        <p:sp>
          <p:nvSpPr>
            <p:cNvPr id="73754" name="AutoShape 5"/>
            <p:cNvSpPr/>
            <p:nvPr/>
          </p:nvSpPr>
          <p:spPr>
            <a:xfrm>
              <a:off x="3634" y="2494"/>
              <a:ext cx="524" cy="290"/>
            </a:xfrm>
            <a:prstGeom prst="wedgeEllipseCallout">
              <a:avLst>
                <a:gd name="adj1" fmla="val 310"/>
                <a:gd name="adj2" fmla="val -144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G | K</a:t>
              </a:r>
            </a:p>
          </p:txBody>
        </p:sp>
        <p:sp>
          <p:nvSpPr>
            <p:cNvPr id="73755" name="AutoShape 6"/>
            <p:cNvSpPr/>
            <p:nvPr/>
          </p:nvSpPr>
          <p:spPr>
            <a:xfrm>
              <a:off x="4567" y="3196"/>
              <a:ext cx="242" cy="277"/>
            </a:xfrm>
            <a:prstGeom prst="wedgeEllipseCallout">
              <a:avLst>
                <a:gd name="adj1" fmla="val -19940"/>
                <a:gd name="adj2" fmla="val -156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73756" name="AutoShape 7"/>
            <p:cNvSpPr/>
            <p:nvPr/>
          </p:nvSpPr>
          <p:spPr>
            <a:xfrm>
              <a:off x="4464" y="3804"/>
              <a:ext cx="480" cy="276"/>
            </a:xfrm>
            <a:prstGeom prst="wedgeEllipseCallout">
              <a:avLst>
                <a:gd name="adj1" fmla="val 20833"/>
                <a:gd name="adj2" fmla="val -144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K |L</a:t>
              </a:r>
            </a:p>
          </p:txBody>
        </p:sp>
        <p:sp>
          <p:nvSpPr>
            <p:cNvPr id="73757" name="AutoShape 8"/>
            <p:cNvSpPr/>
            <p:nvPr/>
          </p:nvSpPr>
          <p:spPr>
            <a:xfrm>
              <a:off x="3080" y="3197"/>
              <a:ext cx="243" cy="276"/>
            </a:xfrm>
            <a:prstGeom prst="wedgeEllipseCallout">
              <a:avLst>
                <a:gd name="adj1" fmla="val 51486"/>
                <a:gd name="adj2" fmla="val -156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3758" name="AutoShape 9"/>
            <p:cNvSpPr/>
            <p:nvPr/>
          </p:nvSpPr>
          <p:spPr>
            <a:xfrm>
              <a:off x="2921" y="3756"/>
              <a:ext cx="652" cy="276"/>
            </a:xfrm>
            <a:prstGeom prst="wedgeEllipseCallout">
              <a:avLst>
                <a:gd name="adj1" fmla="val 30921"/>
                <a:gd name="adj2" fmla="val -144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C|D | E</a:t>
              </a:r>
            </a:p>
          </p:txBody>
        </p:sp>
        <p:sp>
          <p:nvSpPr>
            <p:cNvPr id="73759" name="AutoShape 10"/>
            <p:cNvSpPr/>
            <p:nvPr/>
          </p:nvSpPr>
          <p:spPr>
            <a:xfrm>
              <a:off x="2352" y="3804"/>
              <a:ext cx="528" cy="276"/>
            </a:xfrm>
            <a:prstGeom prst="wedgeEllipseCallout">
              <a:avLst>
                <a:gd name="adj1" fmla="val 50829"/>
                <a:gd name="adj2" fmla="val -144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A | B</a:t>
              </a:r>
            </a:p>
          </p:txBody>
        </p:sp>
        <p:sp>
          <p:nvSpPr>
            <p:cNvPr id="73760" name="AutoShape 11"/>
            <p:cNvSpPr/>
            <p:nvPr/>
          </p:nvSpPr>
          <p:spPr>
            <a:xfrm>
              <a:off x="3600" y="3801"/>
              <a:ext cx="432" cy="276"/>
            </a:xfrm>
            <a:prstGeom prst="wedgeEllipseCallout">
              <a:avLst>
                <a:gd name="adj1" fmla="val 38426"/>
                <a:gd name="adj2" fmla="val -144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73761" name="AutoShape 12"/>
            <p:cNvSpPr/>
            <p:nvPr/>
          </p:nvSpPr>
          <p:spPr>
            <a:xfrm>
              <a:off x="4992" y="3804"/>
              <a:ext cx="768" cy="267"/>
            </a:xfrm>
            <a:prstGeom prst="wedgeEllipseCallout">
              <a:avLst>
                <a:gd name="adj1" fmla="val 27866"/>
                <a:gd name="adj2" fmla="val -1685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M |N | O</a:t>
              </a:r>
            </a:p>
          </p:txBody>
        </p:sp>
        <p:sp>
          <p:nvSpPr>
            <p:cNvPr id="73762" name="Line 13"/>
            <p:cNvSpPr/>
            <p:nvPr/>
          </p:nvSpPr>
          <p:spPr>
            <a:xfrm flipH="1">
              <a:off x="3288" y="2714"/>
              <a:ext cx="366" cy="4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63" name="Line 14"/>
            <p:cNvSpPr/>
            <p:nvPr/>
          </p:nvSpPr>
          <p:spPr>
            <a:xfrm>
              <a:off x="4073" y="2748"/>
              <a:ext cx="562" cy="43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64" name="Line 15"/>
            <p:cNvSpPr/>
            <p:nvPr/>
          </p:nvSpPr>
          <p:spPr>
            <a:xfrm flipH="1">
              <a:off x="2601" y="3419"/>
              <a:ext cx="514" cy="382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65" name="Line 16"/>
            <p:cNvSpPr/>
            <p:nvPr/>
          </p:nvSpPr>
          <p:spPr>
            <a:xfrm>
              <a:off x="3287" y="3422"/>
              <a:ext cx="25" cy="33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66" name="Line 17"/>
            <p:cNvSpPr/>
            <p:nvPr/>
          </p:nvSpPr>
          <p:spPr>
            <a:xfrm flipH="1">
              <a:off x="3738" y="3458"/>
              <a:ext cx="122" cy="35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67" name="Line 18"/>
            <p:cNvSpPr/>
            <p:nvPr/>
          </p:nvSpPr>
          <p:spPr>
            <a:xfrm flipH="1">
              <a:off x="4608" y="3468"/>
              <a:ext cx="48" cy="336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68" name="Line 19"/>
            <p:cNvSpPr/>
            <p:nvPr/>
          </p:nvSpPr>
          <p:spPr>
            <a:xfrm>
              <a:off x="4782" y="3421"/>
              <a:ext cx="402" cy="38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69" name="AutoShape 20"/>
            <p:cNvSpPr/>
            <p:nvPr/>
          </p:nvSpPr>
          <p:spPr>
            <a:xfrm>
              <a:off x="3806" y="3196"/>
              <a:ext cx="242" cy="277"/>
            </a:xfrm>
            <a:prstGeom prst="wedgeEllipseCallout">
              <a:avLst>
                <a:gd name="adj1" fmla="val 51486"/>
                <a:gd name="adj2" fmla="val -156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73770" name="AutoShape 21"/>
            <p:cNvSpPr/>
            <p:nvPr/>
          </p:nvSpPr>
          <p:spPr>
            <a:xfrm>
              <a:off x="4046" y="3801"/>
              <a:ext cx="418" cy="276"/>
            </a:xfrm>
            <a:prstGeom prst="wedgeEllipseCallout">
              <a:avLst>
                <a:gd name="adj1" fmla="val 11718"/>
                <a:gd name="adj2" fmla="val 40218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I | J</a:t>
              </a:r>
            </a:p>
          </p:txBody>
        </p:sp>
        <p:sp>
          <p:nvSpPr>
            <p:cNvPr id="73771" name="Line 22"/>
            <p:cNvSpPr/>
            <p:nvPr/>
          </p:nvSpPr>
          <p:spPr>
            <a:xfrm>
              <a:off x="3881" y="2796"/>
              <a:ext cx="40" cy="36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3772" name="Line 23"/>
            <p:cNvSpPr/>
            <p:nvPr/>
          </p:nvSpPr>
          <p:spPr>
            <a:xfrm>
              <a:off x="4032" y="3420"/>
              <a:ext cx="267" cy="39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1775" name="Oval 95"/>
          <p:cNvSpPr/>
          <p:nvPr/>
        </p:nvSpPr>
        <p:spPr>
          <a:xfrm>
            <a:off x="5638800" y="5867400"/>
            <a:ext cx="990600" cy="838200"/>
          </a:xfrm>
          <a:prstGeom prst="ellipse">
            <a:avLst/>
          </a:prstGeom>
          <a:noFill/>
          <a:ln w="25400" cap="flat" cmpd="sng">
            <a:solidFill>
              <a:schemeClr val="folHlink"/>
            </a:solidFill>
            <a:prstDash val="dash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71776" name="Oval 96"/>
          <p:cNvSpPr/>
          <p:nvPr/>
        </p:nvSpPr>
        <p:spPr>
          <a:xfrm>
            <a:off x="5638800" y="5791200"/>
            <a:ext cx="1447800" cy="914400"/>
          </a:xfrm>
          <a:prstGeom prst="ellipse">
            <a:avLst/>
          </a:prstGeom>
          <a:noFill/>
          <a:ln w="25400" cap="flat" cmpd="sng">
            <a:solidFill>
              <a:schemeClr val="tx2"/>
            </a:solidFill>
            <a:prstDash val="dashDot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69645" name="Rectangle 33"/>
          <p:cNvSpPr/>
          <p:nvPr/>
        </p:nvSpPr>
        <p:spPr>
          <a:xfrm>
            <a:off x="74930" y="1294765"/>
            <a:ext cx="3276600" cy="641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A B-tree of order 3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66FF"/>
                </a:solidFill>
              </a:rPr>
              <a:t>(2-3 tree)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5" grpId="0" animBg="1"/>
      <p:bldP spid="7177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/>
          </p:cNvSpPr>
          <p:nvPr>
            <p:ph type="title"/>
          </p:nvPr>
        </p:nvSpPr>
        <p:spPr>
          <a:xfrm>
            <a:off x="812800" y="407988"/>
            <a:ext cx="8102600" cy="746125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Deletion Example 4 Cont..</a:t>
            </a:r>
          </a:p>
        </p:txBody>
      </p:sp>
      <p:sp>
        <p:nvSpPr>
          <p:cNvPr id="74755" name="AutoShape 4"/>
          <p:cNvSpPr/>
          <p:nvPr/>
        </p:nvSpPr>
        <p:spPr>
          <a:xfrm>
            <a:off x="1666875" y="1196975"/>
            <a:ext cx="823913" cy="455613"/>
          </a:xfrm>
          <a:prstGeom prst="wedgeEllipseCallout">
            <a:avLst>
              <a:gd name="adj1" fmla="val 310"/>
              <a:gd name="adj2" fmla="val -1449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G | K</a:t>
            </a:r>
          </a:p>
        </p:txBody>
      </p:sp>
      <p:sp>
        <p:nvSpPr>
          <p:cNvPr id="74756" name="AutoShape 5"/>
          <p:cNvSpPr/>
          <p:nvPr/>
        </p:nvSpPr>
        <p:spPr>
          <a:xfrm>
            <a:off x="3243263" y="2332038"/>
            <a:ext cx="409575" cy="457200"/>
          </a:xfrm>
          <a:prstGeom prst="wedgeEllipseCallout">
            <a:avLst>
              <a:gd name="adj1" fmla="val -19940"/>
              <a:gd name="adj2" fmla="val -15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74757" name="AutoShape 6"/>
          <p:cNvSpPr/>
          <p:nvPr/>
        </p:nvSpPr>
        <p:spPr>
          <a:xfrm>
            <a:off x="2833688" y="3330575"/>
            <a:ext cx="773112" cy="454025"/>
          </a:xfrm>
          <a:prstGeom prst="wedgeEllipseCallout">
            <a:avLst>
              <a:gd name="adj1" fmla="val 19866"/>
              <a:gd name="adj2" fmla="val -1398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K|L</a:t>
            </a:r>
          </a:p>
        </p:txBody>
      </p:sp>
      <p:sp>
        <p:nvSpPr>
          <p:cNvPr id="74758" name="AutoShape 7"/>
          <p:cNvSpPr/>
          <p:nvPr/>
        </p:nvSpPr>
        <p:spPr>
          <a:xfrm>
            <a:off x="730250" y="2333625"/>
            <a:ext cx="411163" cy="455613"/>
          </a:xfrm>
          <a:prstGeom prst="wedgeEllipseCallout">
            <a:avLst>
              <a:gd name="adj1" fmla="val 51486"/>
              <a:gd name="adj2" fmla="val -15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4759" name="AutoShape 8"/>
          <p:cNvSpPr/>
          <p:nvPr/>
        </p:nvSpPr>
        <p:spPr>
          <a:xfrm>
            <a:off x="796925" y="3354388"/>
            <a:ext cx="1081088" cy="455612"/>
          </a:xfrm>
          <a:prstGeom prst="wedgeEllipseCallout">
            <a:avLst>
              <a:gd name="adj1" fmla="val 12153"/>
              <a:gd name="adj2" fmla="val -1569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C| D | E</a:t>
            </a:r>
          </a:p>
        </p:txBody>
      </p:sp>
      <p:sp>
        <p:nvSpPr>
          <p:cNvPr id="74760" name="AutoShape 9"/>
          <p:cNvSpPr/>
          <p:nvPr/>
        </p:nvSpPr>
        <p:spPr>
          <a:xfrm>
            <a:off x="0" y="3354388"/>
            <a:ext cx="790575" cy="455612"/>
          </a:xfrm>
          <a:prstGeom prst="wedgeEllipseCallout">
            <a:avLst>
              <a:gd name="adj1" fmla="val 50801"/>
              <a:gd name="adj2" fmla="val -1569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A|B</a:t>
            </a:r>
          </a:p>
        </p:txBody>
      </p:sp>
      <p:sp>
        <p:nvSpPr>
          <p:cNvPr id="74761" name="AutoShape 10"/>
          <p:cNvSpPr/>
          <p:nvPr/>
        </p:nvSpPr>
        <p:spPr>
          <a:xfrm>
            <a:off x="3525838" y="3330575"/>
            <a:ext cx="1198562" cy="452438"/>
          </a:xfrm>
          <a:prstGeom prst="wedgeEllipseCallout">
            <a:avLst>
              <a:gd name="adj1" fmla="val 4968"/>
              <a:gd name="adj2" fmla="val -1579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M| N | O</a:t>
            </a:r>
          </a:p>
        </p:txBody>
      </p:sp>
      <p:sp>
        <p:nvSpPr>
          <p:cNvPr id="74762" name="Line 11"/>
          <p:cNvSpPr/>
          <p:nvPr/>
        </p:nvSpPr>
        <p:spPr>
          <a:xfrm flipH="1">
            <a:off x="1082675" y="1536700"/>
            <a:ext cx="617538" cy="8223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63" name="Line 12"/>
          <p:cNvSpPr/>
          <p:nvPr/>
        </p:nvSpPr>
        <p:spPr>
          <a:xfrm>
            <a:off x="2409825" y="1592263"/>
            <a:ext cx="949325" cy="7207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64" name="Line 13"/>
          <p:cNvSpPr/>
          <p:nvPr/>
        </p:nvSpPr>
        <p:spPr>
          <a:xfrm flipH="1">
            <a:off x="606425" y="2700338"/>
            <a:ext cx="184150" cy="60166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65" name="Line 14"/>
          <p:cNvSpPr/>
          <p:nvPr/>
        </p:nvSpPr>
        <p:spPr>
          <a:xfrm>
            <a:off x="1081088" y="2705100"/>
            <a:ext cx="174625" cy="60801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66" name="Line 15"/>
          <p:cNvSpPr/>
          <p:nvPr/>
        </p:nvSpPr>
        <p:spPr>
          <a:xfrm flipH="1">
            <a:off x="3090863" y="2744788"/>
            <a:ext cx="212725" cy="5445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67" name="Line 16"/>
          <p:cNvSpPr/>
          <p:nvPr/>
        </p:nvSpPr>
        <p:spPr>
          <a:xfrm>
            <a:off x="3606800" y="2703513"/>
            <a:ext cx="293688" cy="671512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68" name="Line 17"/>
          <p:cNvSpPr/>
          <p:nvPr/>
        </p:nvSpPr>
        <p:spPr>
          <a:xfrm>
            <a:off x="2084388" y="1671638"/>
            <a:ext cx="80962" cy="158432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769" name="AutoShape 18"/>
          <p:cNvSpPr/>
          <p:nvPr/>
        </p:nvSpPr>
        <p:spPr>
          <a:xfrm>
            <a:off x="1828800" y="3276600"/>
            <a:ext cx="977900" cy="454025"/>
          </a:xfrm>
          <a:prstGeom prst="wedgeEllipseCallout">
            <a:avLst>
              <a:gd name="adj1" fmla="val -27273"/>
              <a:gd name="adj2" fmla="val 41606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1400" dirty="0">
                <a:latin typeface="Times New Roman" panose="02020603050405020304" pitchFamily="18" charset="0"/>
              </a:rPr>
              <a:t>G| I | J</a:t>
            </a:r>
          </a:p>
        </p:txBody>
      </p:sp>
      <p:grpSp>
        <p:nvGrpSpPr>
          <p:cNvPr id="2" name="Group 21"/>
          <p:cNvGrpSpPr/>
          <p:nvPr/>
        </p:nvGrpSpPr>
        <p:grpSpPr>
          <a:xfrm>
            <a:off x="1633538" y="1143000"/>
            <a:ext cx="2819400" cy="1828800"/>
            <a:chOff x="1008" y="720"/>
            <a:chExt cx="1776" cy="1152"/>
          </a:xfrm>
        </p:grpSpPr>
        <p:sp>
          <p:nvSpPr>
            <p:cNvPr id="74797" name="Oval 19"/>
            <p:cNvSpPr/>
            <p:nvPr/>
          </p:nvSpPr>
          <p:spPr>
            <a:xfrm>
              <a:off x="1008" y="1392"/>
              <a:ext cx="528" cy="480"/>
            </a:xfrm>
            <a:prstGeom prst="ellipse">
              <a:avLst/>
            </a:prstGeom>
            <a:noFill/>
            <a:ln w="25400" cap="flat" cmpd="sng">
              <a:solidFill>
                <a:schemeClr val="accent2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en-CA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4798" name="AutoShape 20"/>
            <p:cNvSpPr/>
            <p:nvPr/>
          </p:nvSpPr>
          <p:spPr>
            <a:xfrm>
              <a:off x="1872" y="720"/>
              <a:ext cx="912" cy="384"/>
            </a:xfrm>
            <a:prstGeom prst="wedgeRoundRectCallout">
              <a:avLst>
                <a:gd name="adj1" fmla="val -89144"/>
                <a:gd name="adj2" fmla="val 146875"/>
                <a:gd name="adj3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600" dirty="0"/>
                <a:t>Node is now deficient</a:t>
              </a:r>
              <a:endParaRPr lang="en-US" altLang="zh-CN" sz="2400" dirty="0"/>
            </a:p>
          </p:txBody>
        </p:sp>
      </p:grpSp>
      <p:grpSp>
        <p:nvGrpSpPr>
          <p:cNvPr id="3" name="Group 49"/>
          <p:cNvGrpSpPr/>
          <p:nvPr/>
        </p:nvGrpSpPr>
        <p:grpSpPr>
          <a:xfrm>
            <a:off x="1600200" y="2133600"/>
            <a:ext cx="6781800" cy="992188"/>
            <a:chOff x="1008" y="1344"/>
            <a:chExt cx="4272" cy="625"/>
          </a:xfrm>
        </p:grpSpPr>
        <p:sp>
          <p:nvSpPr>
            <p:cNvPr id="74795" name="Text Box 39"/>
            <p:cNvSpPr txBox="1"/>
            <p:nvPr/>
          </p:nvSpPr>
          <p:spPr>
            <a:xfrm>
              <a:off x="3264" y="1392"/>
              <a:ext cx="2016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chemeClr val="accent2"/>
                  </a:solidFill>
                </a:rPr>
                <a:t>Deficient node is combined with a sibling and 1 key from the parent</a:t>
              </a:r>
              <a:r>
                <a:rPr lang="en-US" altLang="zh-CN" sz="1800" dirty="0"/>
                <a:t> </a:t>
              </a:r>
            </a:p>
          </p:txBody>
        </p:sp>
        <p:sp>
          <p:nvSpPr>
            <p:cNvPr id="74796" name="Oval 41"/>
            <p:cNvSpPr/>
            <p:nvPr/>
          </p:nvSpPr>
          <p:spPr>
            <a:xfrm>
              <a:off x="1008" y="1344"/>
              <a:ext cx="576" cy="624"/>
            </a:xfrm>
            <a:prstGeom prst="ellipse">
              <a:avLst/>
            </a:prstGeom>
            <a:noFill/>
            <a:ln w="635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en-CA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50"/>
          <p:cNvGrpSpPr/>
          <p:nvPr/>
        </p:nvGrpSpPr>
        <p:grpSpPr>
          <a:xfrm>
            <a:off x="2046288" y="1143000"/>
            <a:ext cx="1828800" cy="1828800"/>
            <a:chOff x="1200" y="768"/>
            <a:chExt cx="1152" cy="1152"/>
          </a:xfrm>
        </p:grpSpPr>
        <p:sp>
          <p:nvSpPr>
            <p:cNvPr id="74793" name="Oval 42"/>
            <p:cNvSpPr/>
            <p:nvPr/>
          </p:nvSpPr>
          <p:spPr>
            <a:xfrm>
              <a:off x="1776" y="1296"/>
              <a:ext cx="576" cy="624"/>
            </a:xfrm>
            <a:prstGeom prst="ellipse">
              <a:avLst/>
            </a:prstGeom>
            <a:noFill/>
            <a:ln w="635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en-CA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4794" name="Oval 43"/>
            <p:cNvSpPr/>
            <p:nvPr/>
          </p:nvSpPr>
          <p:spPr>
            <a:xfrm>
              <a:off x="1200" y="768"/>
              <a:ext cx="288" cy="384"/>
            </a:xfrm>
            <a:prstGeom prst="ellipse">
              <a:avLst/>
            </a:prstGeom>
            <a:noFill/>
            <a:ln w="635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endParaRPr lang="en-CA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" name="Oval 44"/>
          <p:cNvSpPr/>
          <p:nvPr/>
        </p:nvSpPr>
        <p:spPr>
          <a:xfrm>
            <a:off x="6781800" y="4038600"/>
            <a:ext cx="914400" cy="990600"/>
          </a:xfrm>
          <a:prstGeom prst="ellipse">
            <a:avLst/>
          </a:prstGeom>
          <a:noFill/>
          <a:ln w="63500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en-CA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72751" name="AutoShape 45"/>
          <p:cNvSpPr/>
          <p:nvPr/>
        </p:nvSpPr>
        <p:spPr>
          <a:xfrm rot="1842796">
            <a:off x="4114800" y="3505200"/>
            <a:ext cx="1752600" cy="304800"/>
          </a:xfrm>
          <a:prstGeom prst="rightArrow">
            <a:avLst>
              <a:gd name="adj1" fmla="val 50000"/>
              <a:gd name="adj2" fmla="val 14375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en-CA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8479" name="Text Box 47"/>
          <p:cNvSpPr txBox="1"/>
          <p:nvPr/>
        </p:nvSpPr>
        <p:spPr>
          <a:xfrm>
            <a:off x="609600" y="5257800"/>
            <a:ext cx="3581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chemeClr val="accent2"/>
                </a:solidFill>
              </a:rPr>
              <a:t>Node G is legal so propagation up the tree stops.</a:t>
            </a:r>
            <a:endParaRPr lang="en-US" altLang="zh-CN" sz="2400" dirty="0"/>
          </a:p>
        </p:txBody>
      </p:sp>
      <p:grpSp>
        <p:nvGrpSpPr>
          <p:cNvPr id="6" name="Group 51"/>
          <p:cNvGrpSpPr/>
          <p:nvPr/>
        </p:nvGrpSpPr>
        <p:grpSpPr>
          <a:xfrm>
            <a:off x="4267200" y="3429000"/>
            <a:ext cx="4876800" cy="2590800"/>
            <a:chOff x="2688" y="2160"/>
            <a:chExt cx="3072" cy="1632"/>
          </a:xfrm>
        </p:grpSpPr>
        <p:sp>
          <p:nvSpPr>
            <p:cNvPr id="74778" name="AutoShape 23"/>
            <p:cNvSpPr/>
            <p:nvPr/>
          </p:nvSpPr>
          <p:spPr>
            <a:xfrm>
              <a:off x="3934" y="2160"/>
              <a:ext cx="352" cy="284"/>
            </a:xfrm>
            <a:prstGeom prst="wedgeEllipseCallout">
              <a:avLst>
                <a:gd name="adj1" fmla="val 21431"/>
                <a:gd name="adj2" fmla="val -144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74779" name="AutoShape 25"/>
            <p:cNvSpPr/>
            <p:nvPr/>
          </p:nvSpPr>
          <p:spPr>
            <a:xfrm>
              <a:off x="4560" y="3492"/>
              <a:ext cx="519" cy="285"/>
            </a:xfrm>
            <a:prstGeom prst="wedgeEllipseCallout">
              <a:avLst>
                <a:gd name="adj1" fmla="val 27778"/>
                <a:gd name="adj2" fmla="val -157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K |L</a:t>
              </a:r>
            </a:p>
          </p:txBody>
        </p:sp>
        <p:sp>
          <p:nvSpPr>
            <p:cNvPr id="74780" name="AutoShape 26"/>
            <p:cNvSpPr/>
            <p:nvPr/>
          </p:nvSpPr>
          <p:spPr>
            <a:xfrm>
              <a:off x="3365" y="2870"/>
              <a:ext cx="249" cy="284"/>
            </a:xfrm>
            <a:prstGeom prst="wedgeEllipseCallout">
              <a:avLst>
                <a:gd name="adj1" fmla="val 51486"/>
                <a:gd name="adj2" fmla="val -156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4781" name="AutoShape 27"/>
            <p:cNvSpPr/>
            <p:nvPr/>
          </p:nvSpPr>
          <p:spPr>
            <a:xfrm>
              <a:off x="3216" y="3508"/>
              <a:ext cx="693" cy="284"/>
            </a:xfrm>
            <a:prstGeom prst="wedgeEllipseCallout">
              <a:avLst>
                <a:gd name="adj1" fmla="val 33551"/>
                <a:gd name="adj2" fmla="val -1407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C| D | E</a:t>
              </a:r>
            </a:p>
          </p:txBody>
        </p:sp>
        <p:sp>
          <p:nvSpPr>
            <p:cNvPr id="74782" name="AutoShape 29"/>
            <p:cNvSpPr/>
            <p:nvPr/>
          </p:nvSpPr>
          <p:spPr>
            <a:xfrm>
              <a:off x="5064" y="3492"/>
              <a:ext cx="696" cy="284"/>
            </a:xfrm>
            <a:prstGeom prst="wedgeEllipseCallout">
              <a:avLst>
                <a:gd name="adj1" fmla="val 7329"/>
                <a:gd name="adj2" fmla="val -175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M|N | O</a:t>
              </a:r>
            </a:p>
          </p:txBody>
        </p:sp>
        <p:sp>
          <p:nvSpPr>
            <p:cNvPr id="74783" name="Line 30"/>
            <p:cNvSpPr/>
            <p:nvPr/>
          </p:nvSpPr>
          <p:spPr>
            <a:xfrm flipH="1">
              <a:off x="3578" y="2372"/>
              <a:ext cx="376" cy="51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4784" name="Line 31"/>
            <p:cNvSpPr/>
            <p:nvPr/>
          </p:nvSpPr>
          <p:spPr>
            <a:xfrm>
              <a:off x="4286" y="2407"/>
              <a:ext cx="148" cy="297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4785" name="Line 32"/>
            <p:cNvSpPr/>
            <p:nvPr/>
          </p:nvSpPr>
          <p:spPr>
            <a:xfrm flipH="1">
              <a:off x="2976" y="3099"/>
              <a:ext cx="425" cy="40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4786" name="Line 33"/>
            <p:cNvSpPr/>
            <p:nvPr/>
          </p:nvSpPr>
          <p:spPr>
            <a:xfrm>
              <a:off x="3577" y="3102"/>
              <a:ext cx="107" cy="38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4787" name="Line 34"/>
            <p:cNvSpPr/>
            <p:nvPr/>
          </p:nvSpPr>
          <p:spPr>
            <a:xfrm>
              <a:off x="4533" y="3001"/>
              <a:ext cx="266" cy="46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4788" name="Line 35"/>
            <p:cNvSpPr/>
            <p:nvPr/>
          </p:nvSpPr>
          <p:spPr>
            <a:xfrm>
              <a:off x="4730" y="2902"/>
              <a:ext cx="591" cy="593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4789" name="Line 36"/>
            <p:cNvSpPr/>
            <p:nvPr/>
          </p:nvSpPr>
          <p:spPr>
            <a:xfrm flipH="1">
              <a:off x="4237" y="3001"/>
              <a:ext cx="148" cy="445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4790" name="AutoShape 37"/>
            <p:cNvSpPr/>
            <p:nvPr/>
          </p:nvSpPr>
          <p:spPr>
            <a:xfrm>
              <a:off x="3936" y="3446"/>
              <a:ext cx="608" cy="283"/>
            </a:xfrm>
            <a:prstGeom prst="wedgeEllipseCallout">
              <a:avLst>
                <a:gd name="adj1" fmla="val -10856"/>
                <a:gd name="adj2" fmla="val 4151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G| I | J</a:t>
              </a:r>
            </a:p>
          </p:txBody>
        </p:sp>
        <p:sp>
          <p:nvSpPr>
            <p:cNvPr id="74791" name="AutoShape 38"/>
            <p:cNvSpPr/>
            <p:nvPr/>
          </p:nvSpPr>
          <p:spPr>
            <a:xfrm>
              <a:off x="4237" y="2704"/>
              <a:ext cx="549" cy="284"/>
            </a:xfrm>
            <a:prstGeom prst="wedgeEllipseCallout">
              <a:avLst>
                <a:gd name="adj1" fmla="val 3458"/>
                <a:gd name="adj2" fmla="val -1449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K | M</a:t>
              </a:r>
            </a:p>
          </p:txBody>
        </p:sp>
        <p:sp>
          <p:nvSpPr>
            <p:cNvPr id="74792" name="AutoShape 9"/>
            <p:cNvSpPr/>
            <p:nvPr/>
          </p:nvSpPr>
          <p:spPr>
            <a:xfrm>
              <a:off x="2688" y="3504"/>
              <a:ext cx="498" cy="287"/>
            </a:xfrm>
            <a:prstGeom prst="wedgeEllipseCallout">
              <a:avLst>
                <a:gd name="adj1" fmla="val -18273"/>
                <a:gd name="adj2" fmla="val 1481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400" dirty="0">
                  <a:latin typeface="Times New Roman" panose="02020603050405020304" pitchFamily="18" charset="0"/>
                </a:rPr>
                <a:t>A|B</a:t>
              </a:r>
            </a:p>
          </p:txBody>
        </p:sp>
      </p:grpSp>
      <p:sp>
        <p:nvSpPr>
          <p:cNvPr id="74777" name="AutoShape 7"/>
          <p:cNvSpPr/>
          <p:nvPr/>
        </p:nvSpPr>
        <p:spPr>
          <a:xfrm>
            <a:off x="1905000" y="2286000"/>
            <a:ext cx="411163" cy="455613"/>
          </a:xfrm>
          <a:prstGeom prst="wedgeEllipseCallout">
            <a:avLst>
              <a:gd name="adj1" fmla="val 51486"/>
              <a:gd name="adj2" fmla="val -1560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endParaRPr lang="zh-CN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2751" grpId="0" animBg="1"/>
      <p:bldP spid="1847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76600" y="1947863"/>
            <a:ext cx="1295400" cy="609600"/>
            <a:chOff x="0" y="0"/>
            <a:chExt cx="816" cy="384"/>
          </a:xfrm>
        </p:grpSpPr>
        <p:sp>
          <p:nvSpPr>
            <p:cNvPr id="75832" name="Rectangle 3"/>
            <p:cNvSpPr/>
            <p:nvPr/>
          </p:nvSpPr>
          <p:spPr>
            <a:xfrm>
              <a:off x="96" y="0"/>
              <a:ext cx="544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Delete q</a:t>
              </a:r>
            </a:p>
          </p:txBody>
        </p:sp>
        <p:sp>
          <p:nvSpPr>
            <p:cNvPr id="75833" name="AutoShape 4"/>
            <p:cNvSpPr/>
            <p:nvPr/>
          </p:nvSpPr>
          <p:spPr>
            <a:xfrm>
              <a:off x="0" y="248"/>
              <a:ext cx="816" cy="136"/>
            </a:xfrm>
            <a:prstGeom prst="rightArrow">
              <a:avLst>
                <a:gd name="adj1" fmla="val 50000"/>
                <a:gd name="adj2" fmla="val 150000"/>
              </a:avLst>
            </a:prstGeom>
            <a:solidFill>
              <a:schemeClr val="folHlink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75779" name="Line 6"/>
          <p:cNvSpPr/>
          <p:nvPr/>
        </p:nvSpPr>
        <p:spPr>
          <a:xfrm flipH="1">
            <a:off x="723900" y="2825750"/>
            <a:ext cx="263525" cy="3952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0" name="Oval 7"/>
          <p:cNvSpPr/>
          <p:nvPr/>
        </p:nvSpPr>
        <p:spPr>
          <a:xfrm>
            <a:off x="1981200" y="3208338"/>
            <a:ext cx="914400" cy="468312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h l m</a:t>
            </a:r>
          </a:p>
        </p:txBody>
      </p:sp>
      <p:sp>
        <p:nvSpPr>
          <p:cNvPr id="75781" name="Oval 8"/>
          <p:cNvSpPr/>
          <p:nvPr/>
        </p:nvSpPr>
        <p:spPr>
          <a:xfrm>
            <a:off x="0" y="3232150"/>
            <a:ext cx="1066800" cy="46831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b d</a:t>
            </a:r>
          </a:p>
        </p:txBody>
      </p:sp>
      <p:sp>
        <p:nvSpPr>
          <p:cNvPr id="75782" name="Line 9"/>
          <p:cNvSpPr/>
          <p:nvPr/>
        </p:nvSpPr>
        <p:spPr>
          <a:xfrm flipH="1">
            <a:off x="2349500" y="2819400"/>
            <a:ext cx="263525" cy="3952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3" name="Oval 10"/>
          <p:cNvSpPr/>
          <p:nvPr/>
        </p:nvSpPr>
        <p:spPr>
          <a:xfrm>
            <a:off x="2994025" y="3182938"/>
            <a:ext cx="663575" cy="468312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p q</a:t>
            </a:r>
          </a:p>
        </p:txBody>
      </p:sp>
      <p:sp>
        <p:nvSpPr>
          <p:cNvPr id="75784" name="Oval 11"/>
          <p:cNvSpPr/>
          <p:nvPr/>
        </p:nvSpPr>
        <p:spPr>
          <a:xfrm>
            <a:off x="1066800" y="3232150"/>
            <a:ext cx="892175" cy="46831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f e g</a:t>
            </a:r>
          </a:p>
        </p:txBody>
      </p:sp>
      <p:sp>
        <p:nvSpPr>
          <p:cNvPr id="75785" name="Line 12"/>
          <p:cNvSpPr/>
          <p:nvPr/>
        </p:nvSpPr>
        <p:spPr>
          <a:xfrm>
            <a:off x="2882900" y="2800350"/>
            <a:ext cx="3048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86" name="Oval 13"/>
          <p:cNvSpPr/>
          <p:nvPr/>
        </p:nvSpPr>
        <p:spPr>
          <a:xfrm>
            <a:off x="1524000" y="1555750"/>
            <a:ext cx="663575" cy="46831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75787" name="Oval 14"/>
          <p:cNvSpPr/>
          <p:nvPr/>
        </p:nvSpPr>
        <p:spPr>
          <a:xfrm>
            <a:off x="838200" y="2393950"/>
            <a:ext cx="663575" cy="46831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75788" name="Oval 15"/>
          <p:cNvSpPr/>
          <p:nvPr/>
        </p:nvSpPr>
        <p:spPr>
          <a:xfrm>
            <a:off x="2371725" y="2368550"/>
            <a:ext cx="663575" cy="468313"/>
          </a:xfrm>
          <a:prstGeom prst="ellipse">
            <a:avLst/>
          </a:pr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75789" name="Line 16"/>
          <p:cNvSpPr/>
          <p:nvPr/>
        </p:nvSpPr>
        <p:spPr>
          <a:xfrm flipH="1">
            <a:off x="1295400" y="1993900"/>
            <a:ext cx="415925" cy="400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90" name="Line 17"/>
          <p:cNvSpPr/>
          <p:nvPr/>
        </p:nvSpPr>
        <p:spPr>
          <a:xfrm>
            <a:off x="2019300" y="2000250"/>
            <a:ext cx="495300" cy="3952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791" name="Line 18"/>
          <p:cNvSpPr/>
          <p:nvPr/>
        </p:nvSpPr>
        <p:spPr>
          <a:xfrm>
            <a:off x="1244600" y="2851150"/>
            <a:ext cx="3048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" name="Group 125"/>
          <p:cNvGrpSpPr/>
          <p:nvPr/>
        </p:nvGrpSpPr>
        <p:grpSpPr>
          <a:xfrm>
            <a:off x="4038600" y="1566863"/>
            <a:ext cx="3733800" cy="2144712"/>
            <a:chOff x="2544" y="171"/>
            <a:chExt cx="2352" cy="1351"/>
          </a:xfrm>
        </p:grpSpPr>
        <p:sp>
          <p:nvSpPr>
            <p:cNvPr id="75819" name="Line 20"/>
            <p:cNvSpPr/>
            <p:nvPr/>
          </p:nvSpPr>
          <p:spPr>
            <a:xfrm flipH="1">
              <a:off x="3000" y="971"/>
              <a:ext cx="166" cy="2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0" name="Oval 21"/>
            <p:cNvSpPr/>
            <p:nvPr/>
          </p:nvSpPr>
          <p:spPr>
            <a:xfrm>
              <a:off x="3880" y="1212"/>
              <a:ext cx="48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h l</a:t>
              </a:r>
            </a:p>
          </p:txBody>
        </p:sp>
        <p:sp>
          <p:nvSpPr>
            <p:cNvPr id="75821" name="Oval 22"/>
            <p:cNvSpPr/>
            <p:nvPr/>
          </p:nvSpPr>
          <p:spPr>
            <a:xfrm>
              <a:off x="2544" y="1219"/>
              <a:ext cx="672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b d</a:t>
              </a:r>
            </a:p>
          </p:txBody>
        </p:sp>
        <p:sp>
          <p:nvSpPr>
            <p:cNvPr id="75822" name="Line 23"/>
            <p:cNvSpPr/>
            <p:nvPr/>
          </p:nvSpPr>
          <p:spPr>
            <a:xfrm flipH="1">
              <a:off x="4024" y="967"/>
              <a:ext cx="166" cy="2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3" name="Oval 24"/>
            <p:cNvSpPr/>
            <p:nvPr/>
          </p:nvSpPr>
          <p:spPr>
            <a:xfrm>
              <a:off x="4430" y="1196"/>
              <a:ext cx="466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m p</a:t>
              </a:r>
            </a:p>
          </p:txBody>
        </p:sp>
        <p:sp>
          <p:nvSpPr>
            <p:cNvPr id="75824" name="Oval 25"/>
            <p:cNvSpPr/>
            <p:nvPr/>
          </p:nvSpPr>
          <p:spPr>
            <a:xfrm>
              <a:off x="3264" y="1227"/>
              <a:ext cx="576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f e g</a:t>
              </a:r>
            </a:p>
          </p:txBody>
        </p:sp>
        <p:sp>
          <p:nvSpPr>
            <p:cNvPr id="75825" name="Line 26"/>
            <p:cNvSpPr/>
            <p:nvPr/>
          </p:nvSpPr>
          <p:spPr>
            <a:xfrm>
              <a:off x="4360" y="955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26" name="Oval 27"/>
            <p:cNvSpPr/>
            <p:nvPr/>
          </p:nvSpPr>
          <p:spPr>
            <a:xfrm>
              <a:off x="3504" y="171"/>
              <a:ext cx="41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75827" name="Oval 28"/>
            <p:cNvSpPr/>
            <p:nvPr/>
          </p:nvSpPr>
          <p:spPr>
            <a:xfrm>
              <a:off x="3072" y="699"/>
              <a:ext cx="41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75828" name="Oval 29"/>
            <p:cNvSpPr/>
            <p:nvPr/>
          </p:nvSpPr>
          <p:spPr>
            <a:xfrm>
              <a:off x="4038" y="683"/>
              <a:ext cx="41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75829" name="Line 30"/>
            <p:cNvSpPr/>
            <p:nvPr/>
          </p:nvSpPr>
          <p:spPr>
            <a:xfrm flipH="1">
              <a:off x="3360" y="447"/>
              <a:ext cx="262" cy="25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30" name="Line 31"/>
            <p:cNvSpPr/>
            <p:nvPr/>
          </p:nvSpPr>
          <p:spPr>
            <a:xfrm>
              <a:off x="3816" y="451"/>
              <a:ext cx="312" cy="2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31" name="Line 32"/>
            <p:cNvSpPr/>
            <p:nvPr/>
          </p:nvSpPr>
          <p:spPr>
            <a:xfrm>
              <a:off x="3328" y="987"/>
              <a:ext cx="192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33"/>
          <p:cNvGrpSpPr/>
          <p:nvPr/>
        </p:nvGrpSpPr>
        <p:grpSpPr>
          <a:xfrm>
            <a:off x="7302500" y="2124075"/>
            <a:ext cx="1079500" cy="585788"/>
            <a:chOff x="0" y="0"/>
            <a:chExt cx="680" cy="369"/>
          </a:xfrm>
        </p:grpSpPr>
        <p:sp>
          <p:nvSpPr>
            <p:cNvPr id="75817" name="Rectangle 34"/>
            <p:cNvSpPr/>
            <p:nvPr/>
          </p:nvSpPr>
          <p:spPr>
            <a:xfrm>
              <a:off x="44" y="0"/>
              <a:ext cx="484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Delete h</a:t>
              </a:r>
            </a:p>
          </p:txBody>
        </p:sp>
        <p:sp>
          <p:nvSpPr>
            <p:cNvPr id="75818" name="AutoShape 35"/>
            <p:cNvSpPr/>
            <p:nvPr/>
          </p:nvSpPr>
          <p:spPr>
            <a:xfrm>
              <a:off x="0" y="233"/>
              <a:ext cx="680" cy="136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chemeClr val="folHlink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5" name="Group 36"/>
          <p:cNvGrpSpPr/>
          <p:nvPr/>
        </p:nvGrpSpPr>
        <p:grpSpPr>
          <a:xfrm>
            <a:off x="5638800" y="4635500"/>
            <a:ext cx="1079500" cy="585788"/>
            <a:chOff x="0" y="0"/>
            <a:chExt cx="680" cy="369"/>
          </a:xfrm>
        </p:grpSpPr>
        <p:sp>
          <p:nvSpPr>
            <p:cNvPr id="75815" name="Rectangle 37"/>
            <p:cNvSpPr/>
            <p:nvPr/>
          </p:nvSpPr>
          <p:spPr>
            <a:xfrm>
              <a:off x="44" y="0"/>
              <a:ext cx="484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Delete e</a:t>
              </a:r>
            </a:p>
          </p:txBody>
        </p:sp>
        <p:sp>
          <p:nvSpPr>
            <p:cNvPr id="75816" name="AutoShape 38"/>
            <p:cNvSpPr/>
            <p:nvPr/>
          </p:nvSpPr>
          <p:spPr>
            <a:xfrm>
              <a:off x="0" y="233"/>
              <a:ext cx="680" cy="136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chemeClr val="folHlink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6" name="Group 67"/>
          <p:cNvGrpSpPr/>
          <p:nvPr/>
        </p:nvGrpSpPr>
        <p:grpSpPr>
          <a:xfrm>
            <a:off x="2590800" y="4864100"/>
            <a:ext cx="1079500" cy="585788"/>
            <a:chOff x="0" y="0"/>
            <a:chExt cx="680" cy="369"/>
          </a:xfrm>
        </p:grpSpPr>
        <p:sp>
          <p:nvSpPr>
            <p:cNvPr id="75813" name="Rectangle 68"/>
            <p:cNvSpPr/>
            <p:nvPr/>
          </p:nvSpPr>
          <p:spPr>
            <a:xfrm>
              <a:off x="44" y="0"/>
              <a:ext cx="484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Delete d</a:t>
              </a:r>
            </a:p>
          </p:txBody>
        </p:sp>
        <p:sp>
          <p:nvSpPr>
            <p:cNvPr id="75814" name="AutoShape 69"/>
            <p:cNvSpPr/>
            <p:nvPr/>
          </p:nvSpPr>
          <p:spPr>
            <a:xfrm>
              <a:off x="0" y="233"/>
              <a:ext cx="680" cy="136"/>
            </a:xfrm>
            <a:prstGeom prst="rightArrow">
              <a:avLst>
                <a:gd name="adj1" fmla="val 50000"/>
                <a:gd name="adj2" fmla="val 125000"/>
              </a:avLst>
            </a:prstGeom>
            <a:solidFill>
              <a:schemeClr val="folHlink"/>
            </a:solidFill>
            <a:ln w="9525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7" name="Group 93"/>
          <p:cNvGrpSpPr/>
          <p:nvPr/>
        </p:nvGrpSpPr>
        <p:grpSpPr>
          <a:xfrm>
            <a:off x="0" y="4876800"/>
            <a:ext cx="2971800" cy="1447800"/>
            <a:chOff x="0" y="2256"/>
            <a:chExt cx="1872" cy="912"/>
          </a:xfrm>
        </p:grpSpPr>
        <p:sp>
          <p:nvSpPr>
            <p:cNvPr id="75806" name="Line 79"/>
            <p:cNvSpPr/>
            <p:nvPr/>
          </p:nvSpPr>
          <p:spPr>
            <a:xfrm flipH="1">
              <a:off x="312" y="2544"/>
              <a:ext cx="264" cy="3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07" name="Oval 80"/>
            <p:cNvSpPr/>
            <p:nvPr/>
          </p:nvSpPr>
          <p:spPr>
            <a:xfrm>
              <a:off x="1192" y="2858"/>
              <a:ext cx="680" cy="31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l m p</a:t>
              </a:r>
            </a:p>
          </p:txBody>
        </p:sp>
        <p:sp>
          <p:nvSpPr>
            <p:cNvPr id="75808" name="Oval 81"/>
            <p:cNvSpPr/>
            <p:nvPr/>
          </p:nvSpPr>
          <p:spPr>
            <a:xfrm>
              <a:off x="0" y="2865"/>
              <a:ext cx="52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 b d</a:t>
              </a:r>
            </a:p>
          </p:txBody>
        </p:sp>
        <p:sp>
          <p:nvSpPr>
            <p:cNvPr id="75809" name="Oval 84"/>
            <p:cNvSpPr/>
            <p:nvPr/>
          </p:nvSpPr>
          <p:spPr>
            <a:xfrm>
              <a:off x="603" y="2873"/>
              <a:ext cx="52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f e g</a:t>
              </a:r>
            </a:p>
          </p:txBody>
        </p:sp>
        <p:sp>
          <p:nvSpPr>
            <p:cNvPr id="75810" name="Oval 87"/>
            <p:cNvSpPr/>
            <p:nvPr/>
          </p:nvSpPr>
          <p:spPr>
            <a:xfrm>
              <a:off x="432" y="2256"/>
              <a:ext cx="76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f  l</a:t>
              </a:r>
            </a:p>
          </p:txBody>
        </p:sp>
        <p:sp>
          <p:nvSpPr>
            <p:cNvPr id="75811" name="Line 91"/>
            <p:cNvSpPr/>
            <p:nvPr/>
          </p:nvSpPr>
          <p:spPr>
            <a:xfrm>
              <a:off x="1104" y="2496"/>
              <a:ext cx="384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12" name="Line 92"/>
            <p:cNvSpPr/>
            <p:nvPr/>
          </p:nvSpPr>
          <p:spPr>
            <a:xfrm>
              <a:off x="864" y="254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108"/>
          <p:cNvGrpSpPr/>
          <p:nvPr/>
        </p:nvGrpSpPr>
        <p:grpSpPr>
          <a:xfrm>
            <a:off x="3200400" y="4876800"/>
            <a:ext cx="2971800" cy="1447800"/>
            <a:chOff x="0" y="2256"/>
            <a:chExt cx="1872" cy="912"/>
          </a:xfrm>
        </p:grpSpPr>
        <p:sp>
          <p:nvSpPr>
            <p:cNvPr id="75799" name="Line 109"/>
            <p:cNvSpPr/>
            <p:nvPr/>
          </p:nvSpPr>
          <p:spPr>
            <a:xfrm flipH="1">
              <a:off x="312" y="2544"/>
              <a:ext cx="264" cy="3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00" name="Oval 110"/>
            <p:cNvSpPr/>
            <p:nvPr/>
          </p:nvSpPr>
          <p:spPr>
            <a:xfrm>
              <a:off x="1192" y="2858"/>
              <a:ext cx="680" cy="310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l m p</a:t>
              </a:r>
            </a:p>
          </p:txBody>
        </p:sp>
        <p:sp>
          <p:nvSpPr>
            <p:cNvPr id="75801" name="Oval 111"/>
            <p:cNvSpPr/>
            <p:nvPr/>
          </p:nvSpPr>
          <p:spPr>
            <a:xfrm>
              <a:off x="0" y="2865"/>
              <a:ext cx="52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 b f</a:t>
              </a:r>
            </a:p>
          </p:txBody>
        </p:sp>
        <p:sp>
          <p:nvSpPr>
            <p:cNvPr id="75802" name="Oval 112"/>
            <p:cNvSpPr/>
            <p:nvPr/>
          </p:nvSpPr>
          <p:spPr>
            <a:xfrm>
              <a:off x="603" y="2873"/>
              <a:ext cx="52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e g</a:t>
              </a:r>
            </a:p>
          </p:txBody>
        </p:sp>
        <p:sp>
          <p:nvSpPr>
            <p:cNvPr id="75803" name="Oval 113"/>
            <p:cNvSpPr/>
            <p:nvPr/>
          </p:nvSpPr>
          <p:spPr>
            <a:xfrm>
              <a:off x="432" y="2256"/>
              <a:ext cx="768" cy="295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e  l</a:t>
              </a:r>
            </a:p>
          </p:txBody>
        </p:sp>
        <p:sp>
          <p:nvSpPr>
            <p:cNvPr id="75804" name="Line 114"/>
            <p:cNvSpPr/>
            <p:nvPr/>
          </p:nvSpPr>
          <p:spPr>
            <a:xfrm>
              <a:off x="1104" y="2496"/>
              <a:ext cx="384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5805" name="Line 115"/>
            <p:cNvSpPr/>
            <p:nvPr/>
          </p:nvSpPr>
          <p:spPr>
            <a:xfrm>
              <a:off x="864" y="254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5798" name="Text Box 126"/>
          <p:cNvSpPr txBox="1"/>
          <p:nvPr/>
        </p:nvSpPr>
        <p:spPr>
          <a:xfrm>
            <a:off x="381000" y="533400"/>
            <a:ext cx="480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/>
              <a:t>Example: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内容占位符 2"/>
          <p:cNvSpPr>
            <a:spLocks noGrp="1"/>
          </p:cNvSpPr>
          <p:nvPr>
            <p:ph idx="1"/>
          </p:nvPr>
        </p:nvSpPr>
        <p:spPr>
          <a:xfrm>
            <a:off x="685800" y="457200"/>
            <a:ext cx="7696200" cy="5029200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/>
              <a:t>B-Tree: self balanced tree</a:t>
            </a:r>
          </a:p>
          <a:p>
            <a:endParaRPr lang="en-US" altLang="zh-CN" dirty="0"/>
          </a:p>
          <a:p>
            <a:pPr lvl="1"/>
            <a:r>
              <a:rPr lang="en-US" altLang="zh-CN" dirty="0"/>
              <a:t>2-3-4 tree (B-tree of order 4)</a:t>
            </a:r>
          </a:p>
          <a:p>
            <a:pPr lvl="2"/>
            <a:r>
              <a:rPr lang="en-US" altLang="zh-CN" dirty="0"/>
              <a:t>The root node contains 2~4 children</a:t>
            </a:r>
          </a:p>
          <a:p>
            <a:pPr lvl="2"/>
            <a:r>
              <a:rPr lang="en-US" altLang="zh-CN" dirty="0"/>
              <a:t>The internal nodes contain </a:t>
            </a:r>
            <a:r>
              <a:rPr lang="en-US" altLang="zh-CN" dirty="0">
                <a:sym typeface="+mn-ea"/>
              </a:rPr>
              <a:t>2~4 children</a:t>
            </a:r>
            <a:endParaRPr lang="en-US" altLang="zh-CN" dirty="0"/>
          </a:p>
          <a:p>
            <a:pPr lvl="2"/>
            <a:r>
              <a:rPr lang="en-US" altLang="zh-CN" dirty="0"/>
              <a:t>The leaf nodes contain 2~4 keys </a:t>
            </a:r>
          </a:p>
          <a:p>
            <a:pPr lvl="1"/>
            <a:r>
              <a:rPr lang="en-US" altLang="zh-CN" dirty="0"/>
              <a:t>2-3 tree (B-tree of order 3)</a:t>
            </a:r>
          </a:p>
          <a:p>
            <a:pPr lvl="2"/>
            <a:r>
              <a:rPr lang="en-US" altLang="zh-CN" dirty="0"/>
              <a:t>The root node conatins </a:t>
            </a:r>
            <a:r>
              <a:rPr lang="en-US" altLang="zh-CN" dirty="0">
                <a:sym typeface="+mn-ea"/>
              </a:rPr>
              <a:t>2~3 children</a:t>
            </a:r>
            <a:endParaRPr lang="en-US" altLang="zh-CN" dirty="0"/>
          </a:p>
          <a:p>
            <a:pPr lvl="2"/>
            <a:r>
              <a:rPr lang="en-US" altLang="zh-CN" dirty="0"/>
              <a:t>The internal nodes contain </a:t>
            </a:r>
            <a:r>
              <a:rPr lang="en-US" altLang="zh-CN" dirty="0">
                <a:sym typeface="+mn-ea"/>
              </a:rPr>
              <a:t>2~3 children</a:t>
            </a:r>
            <a:endParaRPr lang="en-US" altLang="zh-CN" dirty="0"/>
          </a:p>
          <a:p>
            <a:pPr lvl="2"/>
            <a:r>
              <a:rPr lang="en-US" altLang="zh-CN" dirty="0"/>
              <a:t>The leaf nodes contain 2~3 keys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8263" y="247650"/>
            <a:ext cx="2514600" cy="63388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BST</a:t>
            </a: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Definition</a:t>
            </a: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 typeface="+mj-lt"/>
              <a:buAutoNum type="romanUcPeriod" startAt="2"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Insertion: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1. search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2. if not fount,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insert into the 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last spot</a:t>
            </a: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 typeface="+mj-lt"/>
              <a:buAutoNum type="romanUcPeriod" startAt="3"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Deletion: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3 cases</a:t>
            </a: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: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1. no child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2. one child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3. two children</a:t>
            </a: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zh-CN" altLang="en-US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2863" y="247650"/>
            <a:ext cx="3200400" cy="63388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AVL Tree</a:t>
            </a: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Definition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1. BST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2. height balanced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(balance factor)</a:t>
            </a: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 typeface="+mj-lt"/>
              <a:buAutoNum type="romanUcPeriod" startAt="2"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Insertion: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1. search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2. if not fount, insert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into the last spot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3. if necessary, rotate.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inside cases</a:t>
            </a: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: 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       single rotation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outside cases</a:t>
            </a: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: 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      double rotation</a:t>
            </a:r>
          </a:p>
          <a:p>
            <a:pPr marL="400050" marR="0" indent="-400050" defTabSz="914400">
              <a:buClrTx/>
              <a:buSzTx/>
              <a:buFont typeface="+mj-lt"/>
              <a:buAutoNum type="romanUcPeriod" startAt="3"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Deletion:</a:t>
            </a:r>
          </a:p>
          <a:p>
            <a:pPr marL="400050" marR="0" indent="-400050" defTabSz="914400">
              <a:buClrTx/>
              <a:buSzTx/>
              <a:buFont typeface="+mj-lt"/>
              <a:buAutoNum type="romanUcPeriod" startAt="3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 typeface="+mj-lt"/>
              <a:buAutoNum type="romanUcPeriod" startAt="3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 typeface="+mj-lt"/>
              <a:buAutoNum type="romanUcPeriod" startAt="3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 typeface="+mj-lt"/>
              <a:buAutoNum type="romanUcPeriod" startAt="3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 typeface="+mj-lt"/>
              <a:buAutoNum type="romanUcPeriod" startAt="3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</a:t>
            </a:r>
            <a:endParaRPr kumimoji="0" lang="zh-CN" altLang="en-US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83263" y="247650"/>
            <a:ext cx="3276600" cy="63388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en-US" altLang="zh-CN" sz="2800" b="1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B-Tree</a:t>
            </a: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Definition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1. m-way search tree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2. all leaves on same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level 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(self-balanced)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3. number of keys</a:t>
            </a:r>
          </a:p>
          <a:p>
            <a:pPr marL="400050" marR="0" indent="-400050" defTabSz="914400">
              <a:buClrTx/>
              <a:buSzTx/>
              <a:buFont typeface="+mj-lt"/>
              <a:buAutoNum type="romanUcPeriod" startAt="2"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Insertion: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1. search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2. if not fount, insert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into the leaf node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3. if necessary, 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split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4. split may </a:t>
            </a:r>
            <a:r>
              <a:rPr kumimoji="0" lang="en-US" altLang="zh-CN" kern="1200" cap="none" spc="0" normalizeH="0" baseline="0" noProof="0" dirty="0" err="1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propogate</a:t>
            </a: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up along the </a:t>
            </a: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Tx/>
              <a:buAutoNum type="romanUcPeriod"/>
              <a:defRPr/>
            </a:pP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L="400050" marR="0" indent="-400050" defTabSz="914400">
              <a:buClrTx/>
              <a:buSzTx/>
              <a:buFont typeface="+mj-lt"/>
              <a:buAutoNum type="romanUcPeriod" startAt="3"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0000FF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Deletion: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1. delete from the leaf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2. if necessary, merge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3. </a:t>
            </a:r>
            <a:r>
              <a:rPr kumimoji="0" lang="en-US" altLang="zh-CN" kern="1200" cap="none" spc="0" normalizeH="0" baseline="0" noProof="0" dirty="0">
                <a:solidFill>
                  <a:srgbClr val="FF0000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merge</a:t>
            </a: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may </a:t>
            </a:r>
            <a:r>
              <a:rPr kumimoji="0" lang="en-US" altLang="zh-CN" kern="1200" cap="none" spc="0" normalizeH="0" baseline="0" noProof="0" dirty="0" err="1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propogate</a:t>
            </a:r>
            <a:endParaRPr kumimoji="0" lang="en-US" altLang="zh-CN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up along the path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4. if necessary, update</a:t>
            </a: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         the key in the parent       </a:t>
            </a:r>
            <a:endParaRPr kumimoji="0" lang="zh-CN" altLang="en-US" kern="1200" cap="none" spc="0" normalizeH="0" baseline="0" noProof="0" dirty="0"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Homework</a:t>
            </a:r>
          </a:p>
        </p:txBody>
      </p:sp>
      <p:sp>
        <p:nvSpPr>
          <p:cNvPr id="78851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7696200" cy="45720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1800" dirty="0"/>
              <a:t>Insert keys 5</a:t>
            </a:r>
            <a:r>
              <a:rPr lang="zh-CN" altLang="en-US" sz="1800" dirty="0"/>
              <a:t>，</a:t>
            </a:r>
            <a:r>
              <a:rPr lang="en-US" altLang="zh-CN" sz="1800" dirty="0"/>
              <a:t>21</a:t>
            </a:r>
            <a:r>
              <a:rPr lang="zh-CN" altLang="en-US" sz="1800" dirty="0"/>
              <a:t>，</a:t>
            </a:r>
            <a:r>
              <a:rPr lang="en-US" altLang="zh-CN" sz="1800" dirty="0"/>
              <a:t>9</a:t>
            </a:r>
            <a:r>
              <a:rPr lang="zh-CN" altLang="en-US" sz="1800" dirty="0"/>
              <a:t>，</a:t>
            </a:r>
            <a:r>
              <a:rPr lang="en-US" altLang="zh-CN" sz="1800" dirty="0"/>
              <a:t>3</a:t>
            </a:r>
            <a:r>
              <a:rPr lang="zh-CN" altLang="en-US" sz="1800" dirty="0"/>
              <a:t>，</a:t>
            </a:r>
            <a:r>
              <a:rPr lang="en-US" altLang="zh-CN" sz="1800" dirty="0"/>
              <a:t>1, 13, 2, 7, 10, 12, 4, 8 into an</a:t>
            </a:r>
            <a:r>
              <a:rPr lang="zh-CN" altLang="en-US" sz="1800" dirty="0"/>
              <a:t> </a:t>
            </a:r>
            <a:r>
              <a:rPr lang="en-US" altLang="zh-CN" sz="1800" dirty="0"/>
              <a:t>original</a:t>
            </a:r>
            <a:r>
              <a:rPr lang="zh-CN" altLang="en-US" sz="1800" dirty="0"/>
              <a:t> </a:t>
            </a:r>
            <a:r>
              <a:rPr lang="en-US" altLang="zh-CN" sz="1800" dirty="0"/>
              <a:t>empty</a:t>
            </a:r>
            <a:r>
              <a:rPr lang="zh-CN" altLang="en-US" sz="1800" dirty="0"/>
              <a:t> </a:t>
            </a:r>
            <a:r>
              <a:rPr lang="en-US" altLang="zh-CN" sz="1800" dirty="0"/>
              <a:t>BST</a:t>
            </a:r>
            <a:r>
              <a:rPr lang="zh-CN" altLang="en-US" sz="1800" dirty="0"/>
              <a:t> </a:t>
            </a:r>
            <a:r>
              <a:rPr lang="en-US" altLang="zh-CN" sz="1800" dirty="0"/>
              <a:t>and</a:t>
            </a:r>
            <a:r>
              <a:rPr lang="zh-CN" altLang="en-US" sz="1800" dirty="0"/>
              <a:t> </a:t>
            </a:r>
            <a:r>
              <a:rPr lang="en-US" altLang="zh-CN" sz="1800" dirty="0"/>
              <a:t>AVL</a:t>
            </a:r>
            <a:r>
              <a:rPr lang="zh-CN" altLang="en-US" sz="1800" dirty="0"/>
              <a:t> </a:t>
            </a:r>
            <a:r>
              <a:rPr lang="en-US" altLang="zh-CN" sz="1800" dirty="0"/>
              <a:t>tree.</a:t>
            </a:r>
          </a:p>
          <a:p>
            <a:pPr eaLnBrk="1" hangingPunct="1"/>
            <a:endParaRPr lang="en-US" altLang="zh-CN" sz="1800" dirty="0"/>
          </a:p>
          <a:p>
            <a:pPr eaLnBrk="1" hangingPunct="1"/>
            <a:r>
              <a:rPr lang="en-US" altLang="zh-CN" sz="1800" dirty="0"/>
              <a:t>Insert keys into the following 2-3 tree: 1, 13, 2, 7, 10, 12, 4, 8</a:t>
            </a:r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r>
              <a:rPr lang="en-US" altLang="zh-CN" sz="1800" dirty="0"/>
              <a:t>Delete keys from the above BST and B-tree: 2, 21, 10, 3, 4</a:t>
            </a:r>
          </a:p>
          <a:p>
            <a:pPr eaLnBrk="1" hangingPunct="1"/>
            <a:endParaRPr lang="en-US" altLang="zh-CN" sz="1800" dirty="0"/>
          </a:p>
        </p:txBody>
      </p:sp>
      <p:sp>
        <p:nvSpPr>
          <p:cNvPr id="2" name="椭圆 1"/>
          <p:cNvSpPr/>
          <p:nvPr/>
        </p:nvSpPr>
        <p:spPr>
          <a:xfrm>
            <a:off x="3200400" y="3429000"/>
            <a:ext cx="1219200" cy="533400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3086100" y="3962400"/>
            <a:ext cx="533400" cy="533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038600" y="3962400"/>
            <a:ext cx="381000" cy="533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286000" y="4495800"/>
            <a:ext cx="1066800" cy="533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3, 5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76675" y="4497388"/>
            <a:ext cx="1066800" cy="533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9, 21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25</TotalTime>
  <Words>3930</Words>
  <Application>Microsoft Office PowerPoint</Application>
  <PresentationFormat>全屏显示(4:3)</PresentationFormat>
  <Paragraphs>1353</Paragraphs>
  <Slides>61</Slides>
  <Notes>2</Notes>
  <HiddenSlides>1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69" baseType="lpstr">
      <vt:lpstr>微软雅黑</vt:lpstr>
      <vt:lpstr>Arial</vt:lpstr>
      <vt:lpstr>Comic Sans MS</vt:lpstr>
      <vt:lpstr>Symbol</vt:lpstr>
      <vt:lpstr>Times New Roman</vt:lpstr>
      <vt:lpstr>Wingdings</vt:lpstr>
      <vt:lpstr>Crayons</vt:lpstr>
      <vt:lpstr>MS_ClipArt_Gallery.2</vt:lpstr>
      <vt:lpstr>Ch4.Tree(III)</vt:lpstr>
      <vt:lpstr>PowerPoint 演示文稿</vt:lpstr>
      <vt:lpstr>PowerPoint 演示文稿</vt:lpstr>
      <vt:lpstr>AVL Trees</vt:lpstr>
      <vt:lpstr>Balance Factors</vt:lpstr>
      <vt:lpstr>Balance Factors after Insert 7</vt:lpstr>
      <vt:lpstr>Insertion in AVL Trees (I)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Examples of Inside Cases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AVL Tree Deletion</vt:lpstr>
      <vt:lpstr>AVL Exercise</vt:lpstr>
      <vt:lpstr>Multi-way Search Trees</vt:lpstr>
      <vt:lpstr>Multi-way Search Trees</vt:lpstr>
      <vt:lpstr>PowerPoint 演示文稿</vt:lpstr>
      <vt:lpstr>Definition Of A B-Tree</vt:lpstr>
      <vt:lpstr>PowerPoint 演示文稿</vt:lpstr>
      <vt:lpstr>Specialization (I)</vt:lpstr>
      <vt:lpstr>Specialization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Insertion</vt:lpstr>
      <vt:lpstr>Deletion</vt:lpstr>
      <vt:lpstr>Deletion Example 2</vt:lpstr>
      <vt:lpstr>Deletion Cont...</vt:lpstr>
      <vt:lpstr>Deletion Example 3</vt:lpstr>
      <vt:lpstr>Deletion Cont...</vt:lpstr>
      <vt:lpstr>Deletion Example 4</vt:lpstr>
      <vt:lpstr>Deletion Example 4 Cont..</vt:lpstr>
      <vt:lpstr>PowerPoint 演示文稿</vt:lpstr>
      <vt:lpstr>PowerPoint 演示文稿</vt:lpstr>
      <vt:lpstr>PowerPoint 演示文稿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yuchang</dc:creator>
  <cp:lastModifiedBy>by 的</cp:lastModifiedBy>
  <cp:revision>152</cp:revision>
  <dcterms:created xsi:type="dcterms:W3CDTF">2019-10-23T08:36:00Z</dcterms:created>
  <dcterms:modified xsi:type="dcterms:W3CDTF">2026-01-01T11:58:25Z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E06C6756D9DB4EBA84CBDD5B0C2AD430_12</vt:lpwstr>
  </property>
</Properties>
</file>