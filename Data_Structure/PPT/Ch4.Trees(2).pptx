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3" r:id="rId19"/>
    <p:sldId id="272" r:id="rId20"/>
    <p:sldId id="280" r:id="rId21"/>
    <p:sldId id="281" r:id="rId22"/>
    <p:sldId id="275" r:id="rId23"/>
    <p:sldId id="276" r:id="rId24"/>
    <p:sldId id="277" r:id="rId25"/>
    <p:sldId id="282" r:id="rId26"/>
    <p:sldId id="283" r:id="rId27"/>
    <p:sldId id="284" r:id="rId28"/>
    <p:sldId id="285" r:id="rId29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56"/>
    <p:restoredTop sz="87318"/>
  </p:normalViewPr>
  <p:slideViewPr>
    <p:cSldViewPr showGuides="1">
      <p:cViewPr varScale="1">
        <p:scale>
          <a:sx n="85" d="100"/>
          <a:sy n="85" d="100"/>
        </p:scale>
        <p:origin x="1157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52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1165081" y="213170"/>
                </a:cxn>
                <a:cxn ang="0">
                  <a:pos x="1041929" y="171664"/>
                </a:cxn>
                <a:cxn ang="0">
                  <a:pos x="816104" y="113430"/>
                </a:cxn>
                <a:cxn ang="0">
                  <a:pos x="104152" y="0"/>
                </a:cxn>
                <a:cxn ang="0">
                  <a:pos x="33591" y="10747"/>
                </a:cxn>
                <a:cxn ang="0">
                  <a:pos x="0" y="44832"/>
                </a:cxn>
                <a:cxn ang="0">
                  <a:pos x="40936" y="83723"/>
                </a:cxn>
                <a:cxn ang="0">
                  <a:pos x="836357" y="220863"/>
                </a:cxn>
                <a:cxn ang="0">
                  <a:pos x="1010635" y="212081"/>
                </a:cxn>
                <a:cxn ang="0">
                  <a:pos x="1151541" y="223440"/>
                </a:cxn>
                <a:cxn ang="0">
                  <a:pos x="1165081" y="213170"/>
                </a:cxn>
                <a:cxn ang="0">
                  <a:pos x="1165081" y="21317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1555" y="0"/>
                </a:cxn>
                <a:cxn ang="0">
                  <a:pos x="15107" y="2167"/>
                </a:cxn>
                <a:cxn ang="0">
                  <a:pos x="16207" y="2664"/>
                </a:cxn>
                <a:cxn ang="0">
                  <a:pos x="18003" y="3307"/>
                </a:cxn>
                <a:cxn ang="0">
                  <a:pos x="17765" y="3428"/>
                </a:cxn>
                <a:cxn ang="0">
                  <a:pos x="15320" y="3286"/>
                </a:cxn>
                <a:cxn ang="0">
                  <a:pos x="12994" y="3387"/>
                </a:cxn>
                <a:cxn ang="0">
                  <a:pos x="470" y="1247"/>
                </a:cxn>
                <a:cxn ang="0">
                  <a:pos x="0" y="627"/>
                </a:cxn>
                <a:cxn ang="0">
                  <a:pos x="521" y="132"/>
                </a:cxn>
                <a:cxn ang="0">
                  <a:pos x="1555" y="0"/>
                </a:cxn>
                <a:cxn ang="0">
                  <a:pos x="1555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1385"/>
                </a:cxn>
                <a:cxn ang="0">
                  <a:pos x="10653" y="3186"/>
                </a:cxn>
                <a:cxn ang="0">
                  <a:pos x="10851" y="2278"/>
                </a:cxn>
                <a:cxn ang="0">
                  <a:pos x="12121" y="1801"/>
                </a:cxn>
                <a:cxn ang="0">
                  <a:pos x="901" y="0"/>
                </a:cxn>
                <a:cxn ang="0">
                  <a:pos x="0" y="540"/>
                </a:cxn>
                <a:cxn ang="0">
                  <a:pos x="0" y="1385"/>
                </a:cxn>
                <a:cxn ang="0">
                  <a:pos x="0" y="1385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5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56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237" y="0"/>
                  </a:cxn>
                  <a:cxn ang="0">
                    <a:pos x="455" y="294"/>
                  </a:cxn>
                  <a:cxn ang="0">
                    <a:pos x="0" y="768"/>
                  </a:cxn>
                  <a:cxn ang="0">
                    <a:pos x="900" y="710"/>
                  </a:cxn>
                  <a:cxn ang="0">
                    <a:pos x="1160" y="375"/>
                  </a:cxn>
                  <a:cxn ang="0">
                    <a:pos x="1692" y="119"/>
                  </a:cxn>
                  <a:cxn ang="0">
                    <a:pos x="1237" y="0"/>
                  </a:cxn>
                  <a:cxn ang="0">
                    <a:pos x="1237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7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1787" y="0"/>
                  </a:cxn>
                  <a:cxn ang="0">
                    <a:pos x="723" y="220"/>
                  </a:cxn>
                  <a:cxn ang="0">
                    <a:pos x="0" y="878"/>
                  </a:cxn>
                  <a:cxn ang="0">
                    <a:pos x="771" y="1515"/>
                  </a:cxn>
                  <a:cxn ang="0">
                    <a:pos x="13548" y="3659"/>
                  </a:cxn>
                  <a:cxn ang="0">
                    <a:pos x="16301" y="3526"/>
                  </a:cxn>
                  <a:cxn ang="0">
                    <a:pos x="18531" y="3715"/>
                  </a:cxn>
                  <a:cxn ang="0">
                    <a:pos x="19305" y="3414"/>
                  </a:cxn>
                  <a:cxn ang="0">
                    <a:pos x="17216" y="2802"/>
                  </a:cxn>
                  <a:cxn ang="0">
                    <a:pos x="16368" y="2164"/>
                  </a:cxn>
                  <a:cxn ang="0">
                    <a:pos x="15699" y="2225"/>
                  </a:cxn>
                  <a:cxn ang="0">
                    <a:pos x="16494" y="2802"/>
                  </a:cxn>
                  <a:cxn ang="0">
                    <a:pos x="18089" y="3417"/>
                  </a:cxn>
                  <a:cxn ang="0">
                    <a:pos x="16200" y="3322"/>
                  </a:cxn>
                  <a:cxn ang="0">
                    <a:pos x="13972" y="3433"/>
                  </a:cxn>
                  <a:cxn ang="0">
                    <a:pos x="14384" y="2742"/>
                  </a:cxn>
                  <a:cxn ang="0">
                    <a:pos x="15339" y="2271"/>
                  </a:cxn>
                  <a:cxn ang="0">
                    <a:pos x="14221" y="2330"/>
                  </a:cxn>
                  <a:cxn ang="0">
                    <a:pos x="13354" y="2779"/>
                  </a:cxn>
                  <a:cxn ang="0">
                    <a:pos x="13059" y="3341"/>
                  </a:cxn>
                  <a:cxn ang="0">
                    <a:pos x="1228" y="1308"/>
                  </a:cxn>
                  <a:cxn ang="0">
                    <a:pos x="915" y="907"/>
                  </a:cxn>
                  <a:cxn ang="0">
                    <a:pos x="1180" y="403"/>
                  </a:cxn>
                  <a:cxn ang="0">
                    <a:pos x="2484" y="0"/>
                  </a:cxn>
                  <a:cxn ang="0">
                    <a:pos x="1787" y="0"/>
                  </a:cxn>
                  <a:cxn ang="0">
                    <a:pos x="1787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8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148" y="0"/>
                  </a:cxn>
                  <a:cxn ang="0">
                    <a:pos x="13640" y="2063"/>
                  </a:cxn>
                  <a:cxn ang="0">
                    <a:pos x="12325" y="2105"/>
                  </a:cxn>
                  <a:cxn ang="0">
                    <a:pos x="0" y="113"/>
                  </a:cxn>
                  <a:cxn ang="0">
                    <a:pos x="1148" y="0"/>
                  </a:cxn>
                  <a:cxn ang="0">
                    <a:pos x="1148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9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345" y="0"/>
                  </a:cxn>
                  <a:cxn ang="0">
                    <a:pos x="220" y="439"/>
                  </a:cxn>
                  <a:cxn ang="0">
                    <a:pos x="0" y="944"/>
                  </a:cxn>
                  <a:cxn ang="0">
                    <a:pos x="386" y="1291"/>
                  </a:cxn>
                  <a:cxn ang="0">
                    <a:pos x="1085" y="1377"/>
                  </a:cxn>
                  <a:cxn ang="0">
                    <a:pos x="880" y="630"/>
                  </a:cxn>
                  <a:cxn ang="0">
                    <a:pos x="1850" y="72"/>
                  </a:cxn>
                  <a:cxn ang="0">
                    <a:pos x="1345" y="0"/>
                  </a:cxn>
                  <a:cxn ang="0">
                    <a:pos x="1345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0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161" y="146"/>
                  </a:cxn>
                  <a:cxn ang="0">
                    <a:pos x="1797" y="282"/>
                  </a:cxn>
                  <a:cxn ang="0">
                    <a:pos x="3646" y="584"/>
                  </a:cxn>
                  <a:cxn ang="0">
                    <a:pos x="4951" y="1035"/>
                  </a:cxn>
                  <a:cxn ang="0">
                    <a:pos x="3668" y="979"/>
                  </a:cxn>
                  <a:cxn ang="0">
                    <a:pos x="1560" y="621"/>
                  </a:cxn>
                  <a:cxn ang="0">
                    <a:pos x="561" y="341"/>
                  </a:cxn>
                  <a:cxn ang="0">
                    <a:pos x="1200" y="694"/>
                  </a:cxn>
                  <a:cxn ang="0">
                    <a:pos x="3059" y="1147"/>
                  </a:cxn>
                  <a:cxn ang="0">
                    <a:pos x="5240" y="1262"/>
                  </a:cxn>
                  <a:cxn ang="0">
                    <a:pos x="5500" y="953"/>
                  </a:cxn>
                  <a:cxn ang="0">
                    <a:pos x="4433" y="512"/>
                  </a:cxn>
                  <a:cxn ang="0">
                    <a:pos x="1910" y="73"/>
                  </a:cxn>
                  <a:cxn ang="0">
                    <a:pos x="0" y="0"/>
                  </a:cxn>
                  <a:cxn ang="0">
                    <a:pos x="161" y="146"/>
                  </a:cxn>
                  <a:cxn ang="0">
                    <a:pos x="161" y="146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61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2" name="Freeform 19"/>
            <p:cNvSpPr/>
            <p:nvPr userDrawn="1"/>
          </p:nvSpPr>
          <p:spPr>
            <a:xfrm rot="7320404">
              <a:off x="4908" y="2935"/>
              <a:ext cx="629" cy="293"/>
            </a:xfrm>
            <a:custGeom>
              <a:avLst/>
              <a:gdLst/>
              <a:ahLst/>
              <a:cxnLst>
                <a:cxn ang="0">
                  <a:pos x="155" y="35"/>
                </a:cxn>
                <a:cxn ang="0">
                  <a:pos x="139" y="28"/>
                </a:cxn>
                <a:cxn ang="0">
                  <a:pos x="109" y="18"/>
                </a:cxn>
                <a:cxn ang="0">
                  <a:pos x="13" y="0"/>
                </a:cxn>
                <a:cxn ang="0">
                  <a:pos x="5" y="2"/>
                </a:cxn>
                <a:cxn ang="0">
                  <a:pos x="0" y="8"/>
                </a:cxn>
                <a:cxn ang="0">
                  <a:pos x="5" y="14"/>
                </a:cxn>
                <a:cxn ang="0">
                  <a:pos x="112" y="37"/>
                </a:cxn>
                <a:cxn ang="0">
                  <a:pos x="135" y="35"/>
                </a:cxn>
                <a:cxn ang="0">
                  <a:pos x="154" y="37"/>
                </a:cxn>
                <a:cxn ang="0">
                  <a:pos x="155" y="35"/>
                </a:cxn>
                <a:cxn ang="0">
                  <a:pos x="155" y="35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Freeform 20"/>
            <p:cNvSpPr/>
            <p:nvPr userDrawn="1"/>
          </p:nvSpPr>
          <p:spPr>
            <a:xfrm rot="7320404">
              <a:off x="4892" y="2921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Freeform 21"/>
            <p:cNvSpPr/>
            <p:nvPr userDrawn="1"/>
          </p:nvSpPr>
          <p:spPr>
            <a:xfrm rot="7320404">
              <a:off x="4998" y="2912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5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66" name="Freeform 23"/>
              <p:cNvSpPr/>
              <p:nvPr userDrawn="1"/>
            </p:nvSpPr>
            <p:spPr>
              <a:xfrm rot="7320404">
                <a:off x="4986" y="3189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4"/>
              <p:cNvSpPr/>
              <p:nvPr userDrawn="1"/>
            </p:nvSpPr>
            <p:spPr>
              <a:xfrm rot="7320404">
                <a:off x="4886" y="2929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" y="1"/>
                  </a:cxn>
                  <a:cxn ang="0">
                    <a:pos x="2" y="1"/>
                  </a:cxn>
                  <a:cxn ang="0">
                    <a:pos x="2" y="1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" name="Freeform 26"/>
              <p:cNvSpPr/>
              <p:nvPr userDrawn="1"/>
            </p:nvSpPr>
            <p:spPr>
              <a:xfrm rot="7320404">
                <a:off x="5363" y="2871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0" name="Freeform 27"/>
              <p:cNvSpPr/>
              <p:nvPr userDrawn="1"/>
            </p:nvSpPr>
            <p:spPr>
              <a:xfrm rot="7320404">
                <a:off x="5136" y="2998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71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72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28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2888" y="22225"/>
            <a:ext cx="1165225" cy="2097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35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3" y="10"/>
                </a:cxn>
                <a:cxn ang="0">
                  <a:pos x="12" y="9"/>
                </a:cxn>
                <a:cxn ang="0">
                  <a:pos x="11" y="4"/>
                </a:cxn>
                <a:cxn ang="0">
                  <a:pos x="17" y="3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0" y="2"/>
                </a:cxn>
                <a:cxn ang="0">
                  <a:pos x="10" y="1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7" y="1"/>
                </a:cxn>
                <a:cxn ang="0">
                  <a:pos x="8" y="3"/>
                </a:cxn>
                <a:cxn ang="0">
                  <a:pos x="6" y="4"/>
                </a:cxn>
                <a:cxn ang="0">
                  <a:pos x="8" y="4"/>
                </a:cxn>
                <a:cxn ang="0">
                  <a:pos x="9" y="7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9" y="11"/>
                </a:cxn>
                <a:cxn ang="0">
                  <a:pos x="11" y="10"/>
                </a:cxn>
                <a:cxn ang="0">
                  <a:pos x="13" y="11"/>
                </a:cxn>
                <a:cxn ang="0">
                  <a:pos x="13" y="10"/>
                </a:cxn>
                <a:cxn ang="0">
                  <a:pos x="13" y="10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0" y="4"/>
                </a:cxn>
                <a:cxn ang="0">
                  <a:pos x="11" y="4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0" y="6"/>
                </a:cxn>
                <a:cxn ang="0">
                  <a:pos x="8" y="6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8" y="6"/>
                </a:cxn>
                <a:cxn ang="0">
                  <a:pos x="8" y="5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4" y="6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6" y="2"/>
                </a:cxn>
                <a:cxn ang="0">
                  <a:pos x="6" y="1"/>
                </a:cxn>
                <a:cxn ang="0">
                  <a:pos x="6" y="0"/>
                </a:cxn>
                <a:cxn ang="0">
                  <a:pos x="6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44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45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6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" y="3"/>
                    </a:cxn>
                    <a:cxn ang="0">
                      <a:pos x="2" y="2"/>
                    </a:cxn>
                    <a:cxn ang="0">
                      <a:pos x="2" y="1"/>
                    </a:cxn>
                    <a:cxn ang="0">
                      <a:pos x="2" y="0"/>
                    </a:cxn>
                    <a:cxn ang="0">
                      <a:pos x="2" y="2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49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0" y="4"/>
                  </a:cxn>
                  <a:cxn ang="0">
                    <a:pos x="9" y="4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1"/>
                  </a:cxn>
                  <a:cxn ang="0">
                    <a:pos x="2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1" y="2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2" y="3"/>
                  </a:cxn>
                  <a:cxn ang="0">
                    <a:pos x="3" y="3"/>
                  </a:cxn>
                  <a:cxn ang="0">
                    <a:pos x="3" y="2"/>
                  </a:cxn>
                  <a:cxn ang="0">
                    <a:pos x="3" y="1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2"/>
                  </a:cxn>
                  <a:cxn ang="0">
                    <a:pos x="2" y="3"/>
                  </a:cxn>
                  <a:cxn ang="0">
                    <a:pos x="1" y="3"/>
                  </a:cxn>
                  <a:cxn ang="0">
                    <a:pos x="1" y="2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52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53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4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" y="1"/>
                    </a:cxn>
                    <a:cxn ang="0">
                      <a:pos x="0" y="2"/>
                    </a:cxn>
                    <a:cxn ang="0">
                      <a:pos x="1" y="3"/>
                    </a:cxn>
                    <a:cxn ang="0">
                      <a:pos x="10" y="7"/>
                    </a:cxn>
                    <a:cxn ang="0">
                      <a:pos x="12" y="7"/>
                    </a:cxn>
                    <a:cxn ang="0">
                      <a:pos x="13" y="7"/>
                    </a:cxn>
                    <a:cxn ang="0">
                      <a:pos x="14" y="7"/>
                    </a:cxn>
                    <a:cxn ang="0">
                      <a:pos x="12" y="6"/>
                    </a:cxn>
                    <a:cxn ang="0">
                      <a:pos x="12" y="4"/>
                    </a:cxn>
                    <a:cxn ang="0">
                      <a:pos x="11" y="5"/>
                    </a:cxn>
                    <a:cxn ang="0">
                      <a:pos x="12" y="6"/>
                    </a:cxn>
                    <a:cxn ang="0">
                      <a:pos x="13" y="7"/>
                    </a:cxn>
                    <a:cxn ang="0">
                      <a:pos x="12" y="7"/>
                    </a:cxn>
                    <a:cxn ang="0">
                      <a:pos x="10" y="7"/>
                    </a:cxn>
                    <a:cxn ang="0">
                      <a:pos x="10" y="6"/>
                    </a:cxn>
                    <a:cxn ang="0">
                      <a:pos x="11" y="5"/>
                    </a:cxn>
                    <a:cxn ang="0">
                      <a:pos x="10" y="5"/>
                    </a:cxn>
                    <a:cxn ang="0">
                      <a:pos x="10" y="6"/>
                    </a:cxn>
                    <a:cxn ang="0">
                      <a:pos x="9" y="7"/>
                    </a:cxn>
                    <a:cxn ang="0">
                      <a:pos x="1" y="3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5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6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2" y="7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3" y="0"/>
                    </a:cxn>
                    <a:cxn ang="0">
                      <a:pos x="4" y="1"/>
                    </a:cxn>
                    <a:cxn ang="0">
                      <a:pos x="6" y="10"/>
                    </a:cxn>
                    <a:cxn ang="0">
                      <a:pos x="5" y="9"/>
                    </a:cxn>
                    <a:cxn ang="0">
                      <a:pos x="3" y="1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3" y="8"/>
                    </a:cxn>
                    <a:cxn ang="0">
                      <a:pos x="2" y="7"/>
                    </a:cxn>
                    <a:cxn ang="0">
                      <a:pos x="2" y="7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7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3"/>
                    </a:cxn>
                    <a:cxn ang="0">
                      <a:pos x="1" y="4"/>
                    </a:cxn>
                    <a:cxn ang="0">
                      <a:pos x="2" y="4"/>
                    </a:cxn>
                    <a:cxn ang="0">
                      <a:pos x="2" y="3"/>
                    </a:cxn>
                    <a:cxn ang="0">
                      <a:pos x="2" y="2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8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3" y="1"/>
                    </a:cxn>
                    <a:cxn ang="0">
                      <a:pos x="2" y="1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3" y="2"/>
                    </a:cxn>
                    <a:cxn ang="0">
                      <a:pos x="3" y="3"/>
                    </a:cxn>
                    <a:cxn ang="0">
                      <a:pos x="4" y="3"/>
                    </a:cxn>
                    <a:cxn ang="0">
                      <a:pos x="3" y="2"/>
                    </a:cxn>
                    <a:cxn ang="0">
                      <a:pos x="1" y="2"/>
                    </a:cxn>
                    <a:cxn ang="0">
                      <a:pos x="3" y="1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59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7" y="0"/>
                    </a:cxn>
                    <a:cxn ang="0">
                      <a:pos x="8" y="1"/>
                    </a:cxn>
                    <a:cxn ang="0">
                      <a:pos x="8" y="2"/>
                    </a:cxn>
                    <a:cxn ang="0">
                      <a:pos x="8" y="3"/>
                    </a:cxn>
                    <a:cxn ang="0">
                      <a:pos x="1" y="4"/>
                    </a:cxn>
                    <a:cxn ang="0">
                      <a:pos x="1" y="3"/>
                    </a:cxn>
                    <a:cxn ang="0">
                      <a:pos x="7" y="2"/>
                    </a:cxn>
                    <a:cxn ang="0">
                      <a:pos x="7" y="2"/>
                    </a:cxn>
                    <a:cxn ang="0">
                      <a:pos x="7" y="1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0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3" y="0"/>
                    </a:cxn>
                    <a:cxn ang="0">
                      <a:pos x="4" y="0"/>
                    </a:cxn>
                    <a:cxn ang="0">
                      <a:pos x="3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61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2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9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7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3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0" y="18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0" y="14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0" y="26"/>
                </a:cxn>
                <a:cxn ang="0">
                  <a:pos x="0" y="25"/>
                </a:cxn>
                <a:cxn ang="0">
                  <a:pos x="0" y="25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64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65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6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7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8" name="Freeform 44"/>
                <p:cNvSpPr/>
                <p:nvPr userDrawn="1"/>
              </p:nvSpPr>
              <p:spPr>
                <a:xfrm rot="-3172564">
                  <a:off x="4965" y="70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45"/>
                <p:cNvSpPr/>
                <p:nvPr userDrawn="1"/>
              </p:nvSpPr>
              <p:spPr>
                <a:xfrm rot="-3172564">
                  <a:off x="5051" y="326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46"/>
                <p:cNvSpPr/>
                <p:nvPr userDrawn="1"/>
              </p:nvSpPr>
              <p:spPr>
                <a:xfrm rot="-3172564">
                  <a:off x="4861" y="176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3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48"/>
                <p:cNvSpPr/>
                <p:nvPr userDrawn="1"/>
              </p:nvSpPr>
              <p:spPr>
                <a:xfrm rot="-3172564">
                  <a:off x="5300" y="891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49"/>
                <p:cNvSpPr/>
                <p:nvPr userDrawn="1"/>
              </p:nvSpPr>
              <p:spPr>
                <a:xfrm rot="-3172564">
                  <a:off x="5252" y="800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4" name="Freeform 50"/>
                <p:cNvSpPr/>
                <p:nvPr userDrawn="1"/>
              </p:nvSpPr>
              <p:spPr>
                <a:xfrm rot="-3172564">
                  <a:off x="4984" y="209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5" name="Freeform 51"/>
                <p:cNvSpPr/>
                <p:nvPr userDrawn="1"/>
              </p:nvSpPr>
              <p:spPr>
                <a:xfrm rot="-3172564">
                  <a:off x="4950" y="136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76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4.wav"/><Relationship Id="rId1" Type="http://schemas.openxmlformats.org/officeDocument/2006/relationships/audio" Target="../media/audio3.wav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6.wav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8.xml"/><Relationship Id="rId2" Type="http://schemas.openxmlformats.org/officeDocument/2006/relationships/tags" Target="../tags/tag11.xml"/><Relationship Id="rId19" Type="http://schemas.openxmlformats.org/officeDocument/2006/relationships/image" Target="../media/image10.png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47.xml"/><Relationship Id="rId2" Type="http://schemas.openxmlformats.org/officeDocument/2006/relationships/tags" Target="../tags/tag30.xml"/><Relationship Id="rId19" Type="http://schemas.openxmlformats.org/officeDocument/2006/relationships/image" Target="../media/image10.png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9.wav"/><Relationship Id="rId5" Type="http://schemas.openxmlformats.org/officeDocument/2006/relationships/audio" Target="../media/audio8.wav"/><Relationship Id="rId4" Type="http://schemas.openxmlformats.org/officeDocument/2006/relationships/audio" Target="../media/audio7.wav"/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audio" Target="../media/audio4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59.xml"/><Relationship Id="rId12" Type="http://schemas.openxmlformats.org/officeDocument/2006/relationships/image" Target="../media/image10.png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71.xml"/><Relationship Id="rId12" Type="http://schemas.openxmlformats.org/officeDocument/2006/relationships/image" Target="../media/image10.png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8.wav"/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audio" Target="../media/audio7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Trees II</a:t>
            </a:r>
            <a:endParaRPr kumimoji="0" lang="en-US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Tree Traversal</a:t>
            </a:r>
            <a:endParaRPr lang="zh-CN" altLang="en-US" dirty="0"/>
          </a:p>
        </p:txBody>
      </p:sp>
      <p:pic>
        <p:nvPicPr>
          <p:cNvPr id="143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5038"/>
            <a:ext cx="6480175" cy="3962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TextBox 5"/>
          <p:cNvSpPr txBox="1"/>
          <p:nvPr/>
        </p:nvSpPr>
        <p:spPr>
          <a:xfrm>
            <a:off x="6227763" y="2205038"/>
            <a:ext cx="15843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Preorder</a:t>
            </a:r>
            <a:endParaRPr lang="zh-CN" altLang="en-US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340" name="TextBox 7"/>
          <p:cNvSpPr txBox="1"/>
          <p:nvPr/>
        </p:nvSpPr>
        <p:spPr>
          <a:xfrm>
            <a:off x="6227763" y="2679700"/>
            <a:ext cx="1584325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Inorder</a:t>
            </a:r>
            <a:endParaRPr lang="zh-CN" altLang="en-US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341" name="TextBox 8"/>
          <p:cNvSpPr txBox="1"/>
          <p:nvPr/>
        </p:nvSpPr>
        <p:spPr>
          <a:xfrm>
            <a:off x="6227763" y="3182938"/>
            <a:ext cx="20891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Postorder</a:t>
            </a:r>
            <a:endParaRPr lang="zh-CN" altLang="en-US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1536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638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6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638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1638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740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741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17412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843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43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18436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437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945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945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19460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9461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9462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048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2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20484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5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6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7" name="Oval 8"/>
          <p:cNvSpPr/>
          <p:nvPr/>
        </p:nvSpPr>
        <p:spPr>
          <a:xfrm>
            <a:off x="5375275" y="3916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150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6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0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21508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09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10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11" name="Oval 8"/>
          <p:cNvSpPr/>
          <p:nvPr/>
        </p:nvSpPr>
        <p:spPr>
          <a:xfrm>
            <a:off x="5375275" y="3916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12" name="Oval 9"/>
          <p:cNvSpPr/>
          <p:nvPr/>
        </p:nvSpPr>
        <p:spPr>
          <a:xfrm>
            <a:off x="7689850" y="389413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252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22532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3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4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5" name="Oval 8"/>
          <p:cNvSpPr/>
          <p:nvPr/>
        </p:nvSpPr>
        <p:spPr>
          <a:xfrm>
            <a:off x="5375275" y="3916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6" name="Oval 9"/>
          <p:cNvSpPr/>
          <p:nvPr/>
        </p:nvSpPr>
        <p:spPr>
          <a:xfrm>
            <a:off x="7689850" y="389413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7" name="Oval 10"/>
          <p:cNvSpPr/>
          <p:nvPr/>
        </p:nvSpPr>
        <p:spPr>
          <a:xfrm>
            <a:off x="1247775" y="496411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355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4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23556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57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58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59" name="Oval 8"/>
          <p:cNvSpPr/>
          <p:nvPr/>
        </p:nvSpPr>
        <p:spPr>
          <a:xfrm>
            <a:off x="5375275" y="3916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60" name="Oval 9"/>
          <p:cNvSpPr/>
          <p:nvPr/>
        </p:nvSpPr>
        <p:spPr>
          <a:xfrm>
            <a:off x="7689850" y="389413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61" name="Oval 10"/>
          <p:cNvSpPr/>
          <p:nvPr/>
        </p:nvSpPr>
        <p:spPr>
          <a:xfrm>
            <a:off x="1247775" y="496411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562" name="Oval 11"/>
          <p:cNvSpPr/>
          <p:nvPr/>
        </p:nvSpPr>
        <p:spPr>
          <a:xfrm>
            <a:off x="4598988" y="50466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457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8" name="Oval 3"/>
          <p:cNvSpPr/>
          <p:nvPr/>
        </p:nvSpPr>
        <p:spPr>
          <a:xfrm>
            <a:off x="4040188" y="2011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sp>
        <p:nvSpPr>
          <p:cNvPr id="24580" name="Oval 5"/>
          <p:cNvSpPr/>
          <p:nvPr/>
        </p:nvSpPr>
        <p:spPr>
          <a:xfrm>
            <a:off x="1908175" y="294798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1" name="Oval 6"/>
          <p:cNvSpPr/>
          <p:nvPr/>
        </p:nvSpPr>
        <p:spPr>
          <a:xfrm>
            <a:off x="6477000" y="29527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2" name="Oval 7"/>
          <p:cNvSpPr/>
          <p:nvPr/>
        </p:nvSpPr>
        <p:spPr>
          <a:xfrm>
            <a:off x="588963" y="3867150"/>
            <a:ext cx="720725" cy="6143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3" name="Oval 8"/>
          <p:cNvSpPr/>
          <p:nvPr/>
        </p:nvSpPr>
        <p:spPr>
          <a:xfrm>
            <a:off x="5375275" y="39163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4" name="Oval 9"/>
          <p:cNvSpPr/>
          <p:nvPr/>
        </p:nvSpPr>
        <p:spPr>
          <a:xfrm>
            <a:off x="7689850" y="3894138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5" name="Oval 10"/>
          <p:cNvSpPr/>
          <p:nvPr/>
        </p:nvSpPr>
        <p:spPr>
          <a:xfrm>
            <a:off x="1247775" y="496411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6" name="Oval 11"/>
          <p:cNvSpPr/>
          <p:nvPr/>
        </p:nvSpPr>
        <p:spPr>
          <a:xfrm>
            <a:off x="4598988" y="50466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4587" name="Oval 12"/>
          <p:cNvSpPr/>
          <p:nvPr/>
        </p:nvSpPr>
        <p:spPr>
          <a:xfrm>
            <a:off x="6011863" y="5046663"/>
            <a:ext cx="720725" cy="6143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Breadth-first (level order) Traversal</a:t>
            </a:r>
            <a:endParaRPr lang="en-US" altLang="zh-CN" sz="4000" dirty="0"/>
          </a:p>
        </p:txBody>
      </p:sp>
      <p:pic>
        <p:nvPicPr>
          <p:cNvPr id="2560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箭头连接符 1"/>
          <p:cNvCxnSpPr/>
          <p:nvPr/>
        </p:nvCxnSpPr>
        <p:spPr>
          <a:xfrm>
            <a:off x="3060700" y="2276475"/>
            <a:ext cx="1006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604" name="文本框 2"/>
          <p:cNvSpPr txBox="1"/>
          <p:nvPr/>
        </p:nvSpPr>
        <p:spPr>
          <a:xfrm>
            <a:off x="2482850" y="2060575"/>
            <a:ext cx="7635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ptr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5" name="Rectangle 2"/>
          <p:cNvSpPr/>
          <p:nvPr/>
        </p:nvSpPr>
        <p:spPr>
          <a:xfrm>
            <a:off x="179388" y="188913"/>
            <a:ext cx="91630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level_order(Tree ptr)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/* level order tree traversal */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int front= 0, rear=-1;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PtrToNode Queue[MAX_QUEUE_SIZE];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if (!ptr) return; /* empty tree */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Tx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Queue[++rear]=ptr;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/>
          <p:nvPr/>
        </p:nvSpPr>
        <p:spPr>
          <a:xfrm>
            <a:off x="287338" y="2708275"/>
            <a:ext cx="8534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 (;;) {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ptr =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Queue[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++]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TW" altLang="en-US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endParaRPr lang="zh-TW" altLang="zh-CN" sz="20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(ptr) {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printf(“%d”, ptr-&gt;data);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(ptr-&gt;left)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Queue[++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rear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]=ptr-&gt;left;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(ptr-&gt;right)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Queue[++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rear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]=ptr-&gt;right;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else break;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}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TW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649" name="Rectangle 2"/>
          <p:cNvSpPr/>
          <p:nvPr/>
        </p:nvSpPr>
        <p:spPr>
          <a:xfrm>
            <a:off x="844550" y="269875"/>
            <a:ext cx="8983663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Threaded Binary Trees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/>
          <p:nvPr/>
        </p:nvSpPr>
        <p:spPr>
          <a:xfrm>
            <a:off x="323850" y="1628775"/>
            <a:ext cx="6480175" cy="46799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spcBef>
                <a:spcPct val="20000"/>
              </a:spcBef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o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o many null pointers in current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representation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of binary trees</a:t>
            </a:r>
            <a:b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Replace these null pointers with some useful </a:t>
            </a:r>
            <a:r>
              <a:rPr lang="en-US" altLang="zh-TW" sz="2800" dirty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threads</a:t>
            </a:r>
            <a:r>
              <a:rPr lang="en-US" altLang="zh-TW" sz="2800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.</a:t>
            </a:r>
            <a:endParaRPr lang="en-US" altLang="zh-TW" sz="2800" i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1125538" y="2668588"/>
            <a:ext cx="5030787" cy="1552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</a:t>
            </a:r>
            <a: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n: number of nodes</a:t>
            </a:r>
            <a:b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number of non-null links: </a:t>
            </a:r>
            <a:r>
              <a:rPr lang="en-US" altLang="zh-CN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n-1</a:t>
            </a:r>
            <a:b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total links: 2n</a:t>
            </a:r>
            <a:b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4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</a:t>
            </a:r>
            <a:r>
              <a:rPr lang="en-US" altLang="zh-TW" sz="24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null links: 2n-(n-1)=n+1</a:t>
            </a:r>
            <a:endParaRPr lang="en-US" altLang="zh-TW" sz="2400" dirty="0">
              <a:solidFill>
                <a:srgbClr val="CC33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27652" name="Group 5"/>
          <p:cNvGrpSpPr/>
          <p:nvPr/>
        </p:nvGrpSpPr>
        <p:grpSpPr>
          <a:xfrm>
            <a:off x="5988050" y="2219325"/>
            <a:ext cx="2687638" cy="3081338"/>
            <a:chOff x="2973" y="1188"/>
            <a:chExt cx="1693" cy="1941"/>
          </a:xfrm>
        </p:grpSpPr>
        <p:grpSp>
          <p:nvGrpSpPr>
            <p:cNvPr id="27653" name="Group 6"/>
            <p:cNvGrpSpPr/>
            <p:nvPr/>
          </p:nvGrpSpPr>
          <p:grpSpPr>
            <a:xfrm>
              <a:off x="3584" y="1318"/>
              <a:ext cx="589" cy="227"/>
              <a:chOff x="0" y="0"/>
              <a:chExt cx="589" cy="227"/>
            </a:xfrm>
          </p:grpSpPr>
          <p:sp>
            <p:nvSpPr>
              <p:cNvPr id="27654" name="Rectangle 7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55" name="Line 8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56" name="Line 9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57" name="Group 10"/>
            <p:cNvGrpSpPr/>
            <p:nvPr/>
          </p:nvGrpSpPr>
          <p:grpSpPr>
            <a:xfrm>
              <a:off x="3261" y="1710"/>
              <a:ext cx="589" cy="227"/>
              <a:chOff x="0" y="0"/>
              <a:chExt cx="589" cy="227"/>
            </a:xfrm>
          </p:grpSpPr>
          <p:sp>
            <p:nvSpPr>
              <p:cNvPr id="27658" name="Rectangle 11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59" name="Line 12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0" name="Line 13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61" name="Group 14"/>
            <p:cNvGrpSpPr/>
            <p:nvPr/>
          </p:nvGrpSpPr>
          <p:grpSpPr>
            <a:xfrm>
              <a:off x="2973" y="2102"/>
              <a:ext cx="589" cy="227"/>
              <a:chOff x="0" y="0"/>
              <a:chExt cx="589" cy="227"/>
            </a:xfrm>
          </p:grpSpPr>
          <p:sp>
            <p:nvSpPr>
              <p:cNvPr id="27662" name="Rectangle 15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63" name="Line 16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4" name="Line 17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65" name="Group 18"/>
            <p:cNvGrpSpPr/>
            <p:nvPr/>
          </p:nvGrpSpPr>
          <p:grpSpPr>
            <a:xfrm>
              <a:off x="3693" y="2110"/>
              <a:ext cx="589" cy="227"/>
              <a:chOff x="0" y="0"/>
              <a:chExt cx="589" cy="227"/>
            </a:xfrm>
          </p:grpSpPr>
          <p:sp>
            <p:nvSpPr>
              <p:cNvPr id="27666" name="Rectangle 19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67" name="Line 20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8" name="Line 21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69" name="Group 22"/>
            <p:cNvGrpSpPr/>
            <p:nvPr/>
          </p:nvGrpSpPr>
          <p:grpSpPr>
            <a:xfrm>
              <a:off x="3357" y="2518"/>
              <a:ext cx="589" cy="227"/>
              <a:chOff x="0" y="0"/>
              <a:chExt cx="589" cy="227"/>
            </a:xfrm>
          </p:grpSpPr>
          <p:sp>
            <p:nvSpPr>
              <p:cNvPr id="27670" name="Rectangle 23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71" name="Line 24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2" name="Line 25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73" name="Group 26"/>
            <p:cNvGrpSpPr/>
            <p:nvPr/>
          </p:nvGrpSpPr>
          <p:grpSpPr>
            <a:xfrm>
              <a:off x="3741" y="2902"/>
              <a:ext cx="589" cy="227"/>
              <a:chOff x="0" y="0"/>
              <a:chExt cx="589" cy="227"/>
            </a:xfrm>
          </p:grpSpPr>
          <p:sp>
            <p:nvSpPr>
              <p:cNvPr id="27674" name="Rectangle 27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75" name="Line 28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6" name="Line 29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77" name="Group 30"/>
            <p:cNvGrpSpPr/>
            <p:nvPr/>
          </p:nvGrpSpPr>
          <p:grpSpPr>
            <a:xfrm>
              <a:off x="4077" y="2515"/>
              <a:ext cx="589" cy="227"/>
              <a:chOff x="0" y="0"/>
              <a:chExt cx="589" cy="227"/>
            </a:xfrm>
          </p:grpSpPr>
          <p:sp>
            <p:nvSpPr>
              <p:cNvPr id="27678" name="Rectangle 31"/>
              <p:cNvSpPr/>
              <p:nvPr/>
            </p:nvSpPr>
            <p:spPr>
              <a:xfrm>
                <a:off x="0" y="0"/>
                <a:ext cx="589" cy="2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Arial Unicode MS" pitchFamily="34" charset="-122"/>
                  </a:rPr>
                  <a:t>⋀</a:t>
                </a:r>
                <a:endParaRPr lang="en-US" altLang="zh-CN" sz="2400" dirty="0"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27679" name="Line 32"/>
              <p:cNvSpPr/>
              <p:nvPr/>
            </p:nvSpPr>
            <p:spPr>
              <a:xfrm>
                <a:off x="192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0" name="Line 33"/>
              <p:cNvSpPr/>
              <p:nvPr/>
            </p:nvSpPr>
            <p:spPr>
              <a:xfrm>
                <a:off x="384" y="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81" name="Line 34"/>
            <p:cNvSpPr/>
            <p:nvPr/>
          </p:nvSpPr>
          <p:spPr>
            <a:xfrm flipH="1">
              <a:off x="3549" y="1454"/>
              <a:ext cx="136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2" name="Line 35"/>
            <p:cNvSpPr/>
            <p:nvPr/>
          </p:nvSpPr>
          <p:spPr>
            <a:xfrm flipH="1">
              <a:off x="3261" y="1853"/>
              <a:ext cx="136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3" name="Line 36"/>
            <p:cNvSpPr/>
            <p:nvPr/>
          </p:nvSpPr>
          <p:spPr>
            <a:xfrm>
              <a:off x="3749" y="1862"/>
              <a:ext cx="181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4" name="Line 37"/>
            <p:cNvSpPr/>
            <p:nvPr/>
          </p:nvSpPr>
          <p:spPr>
            <a:xfrm flipH="1">
              <a:off x="3656" y="2261"/>
              <a:ext cx="136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5" name="Line 38"/>
            <p:cNvSpPr/>
            <p:nvPr/>
          </p:nvSpPr>
          <p:spPr>
            <a:xfrm>
              <a:off x="4136" y="2270"/>
              <a:ext cx="181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6" name="Line 39"/>
            <p:cNvSpPr/>
            <p:nvPr/>
          </p:nvSpPr>
          <p:spPr>
            <a:xfrm>
              <a:off x="3837" y="2653"/>
              <a:ext cx="181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7" name="Rectangle 40"/>
            <p:cNvSpPr/>
            <p:nvPr/>
          </p:nvSpPr>
          <p:spPr>
            <a:xfrm>
              <a:off x="3133" y="1188"/>
              <a:ext cx="22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8" name="Line 41"/>
            <p:cNvSpPr/>
            <p:nvPr/>
          </p:nvSpPr>
          <p:spPr>
            <a:xfrm>
              <a:off x="3272" y="143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73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charRg st="73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31" name="Text Box 3"/>
          <p:cNvSpPr txBox="1"/>
          <p:nvPr/>
        </p:nvSpPr>
        <p:spPr>
          <a:xfrm>
            <a:off x="250825" y="457200"/>
            <a:ext cx="5186363" cy="155257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marL="1049655" indent="-1049655">
              <a:spcBef>
                <a:spcPct val="5000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Rule 1:  If </a:t>
            </a: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PtrToNode-&gt;Left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is null, replace it with a pointer to the inorder 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predecessor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of the node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2" name="Text Box 4"/>
          <p:cNvSpPr txBox="1"/>
          <p:nvPr/>
        </p:nvSpPr>
        <p:spPr>
          <a:xfrm>
            <a:off x="250825" y="2349500"/>
            <a:ext cx="5186363" cy="155257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marL="1049655" indent="-1049655">
              <a:spcBef>
                <a:spcPct val="5000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Rule 2:  If </a:t>
            </a:r>
            <a:r>
              <a:rPr lang="en-US" altLang="zh-CN" sz="20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PtrToNode-&gt;Right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is null, replace it with a pointer to the inorder </a:t>
            </a:r>
            <a:r>
              <a:rPr lang="en-US" altLang="zh-CN" sz="24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successor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of the node.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33" name="Text Box 5"/>
          <p:cNvSpPr txBox="1"/>
          <p:nvPr/>
        </p:nvSpPr>
        <p:spPr>
          <a:xfrm>
            <a:off x="250825" y="4181475"/>
            <a:ext cx="5186363" cy="228282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marL="1049655" indent="-1049655">
              <a:spcBef>
                <a:spcPct val="5000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Rule 3:  There must not be any loose threads.  Therefore a threaded binary tree must have a </a:t>
            </a:r>
            <a:r>
              <a:rPr lang="en-US" altLang="zh-CN" sz="2400" b="1" dirty="0">
                <a:solidFill>
                  <a:schemeClr val="fol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head node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of which the left child points to the first node.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28676" name="Group 11"/>
          <p:cNvGrpSpPr/>
          <p:nvPr/>
        </p:nvGrpSpPr>
        <p:grpSpPr>
          <a:xfrm>
            <a:off x="6694488" y="2051050"/>
            <a:ext cx="935037" cy="360363"/>
            <a:chOff x="0" y="0"/>
            <a:chExt cx="589" cy="227"/>
          </a:xfrm>
        </p:grpSpPr>
        <p:sp>
          <p:nvSpPr>
            <p:cNvPr id="28677" name="Rectangle 12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678" name="Line 13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79" name="Line 14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80" name="Group 15"/>
          <p:cNvGrpSpPr/>
          <p:nvPr/>
        </p:nvGrpSpPr>
        <p:grpSpPr>
          <a:xfrm>
            <a:off x="6181725" y="2673350"/>
            <a:ext cx="935038" cy="360363"/>
            <a:chOff x="0" y="0"/>
            <a:chExt cx="589" cy="227"/>
          </a:xfrm>
        </p:grpSpPr>
        <p:sp>
          <p:nvSpPr>
            <p:cNvPr id="28681" name="Rectangle 16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682" name="Line 17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3" name="Line 18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84" name="Group 19"/>
          <p:cNvGrpSpPr/>
          <p:nvPr/>
        </p:nvGrpSpPr>
        <p:grpSpPr>
          <a:xfrm>
            <a:off x="5580063" y="3295650"/>
            <a:ext cx="935037" cy="360363"/>
            <a:chOff x="0" y="0"/>
            <a:chExt cx="589" cy="227"/>
          </a:xfrm>
        </p:grpSpPr>
        <p:sp>
          <p:nvSpPr>
            <p:cNvPr id="28685" name="Rectangle 20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686" name="Line 21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7" name="Line 22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88" name="Group 23"/>
          <p:cNvGrpSpPr/>
          <p:nvPr/>
        </p:nvGrpSpPr>
        <p:grpSpPr>
          <a:xfrm>
            <a:off x="7131050" y="3308350"/>
            <a:ext cx="935038" cy="360363"/>
            <a:chOff x="0" y="0"/>
            <a:chExt cx="589" cy="227"/>
          </a:xfrm>
        </p:grpSpPr>
        <p:sp>
          <p:nvSpPr>
            <p:cNvPr id="28689" name="Rectangle 24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690" name="Line 25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1" name="Line 26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92" name="Group 47"/>
          <p:cNvGrpSpPr/>
          <p:nvPr/>
        </p:nvGrpSpPr>
        <p:grpSpPr>
          <a:xfrm>
            <a:off x="6443663" y="3933825"/>
            <a:ext cx="935037" cy="360363"/>
            <a:chOff x="4195" y="2478"/>
            <a:chExt cx="589" cy="227"/>
          </a:xfrm>
        </p:grpSpPr>
        <p:sp>
          <p:nvSpPr>
            <p:cNvPr id="28693" name="Rectangle 28"/>
            <p:cNvSpPr/>
            <p:nvPr/>
          </p:nvSpPr>
          <p:spPr>
            <a:xfrm>
              <a:off x="4195" y="2478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Line 29"/>
            <p:cNvSpPr/>
            <p:nvPr/>
          </p:nvSpPr>
          <p:spPr>
            <a:xfrm>
              <a:off x="4373" y="247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5" name="Line 30"/>
            <p:cNvSpPr/>
            <p:nvPr/>
          </p:nvSpPr>
          <p:spPr>
            <a:xfrm>
              <a:off x="4565" y="247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96" name="Group 31"/>
          <p:cNvGrpSpPr/>
          <p:nvPr/>
        </p:nvGrpSpPr>
        <p:grpSpPr>
          <a:xfrm>
            <a:off x="7207250" y="4565650"/>
            <a:ext cx="935038" cy="360363"/>
            <a:chOff x="0" y="0"/>
            <a:chExt cx="589" cy="227"/>
          </a:xfrm>
        </p:grpSpPr>
        <p:sp>
          <p:nvSpPr>
            <p:cNvPr id="28697" name="Rectangle 32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698" name="Line 33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9" name="Line 34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700" name="Group 35"/>
          <p:cNvGrpSpPr/>
          <p:nvPr/>
        </p:nvGrpSpPr>
        <p:grpSpPr>
          <a:xfrm>
            <a:off x="7958138" y="3951288"/>
            <a:ext cx="935037" cy="360362"/>
            <a:chOff x="0" y="0"/>
            <a:chExt cx="589" cy="227"/>
          </a:xfrm>
        </p:grpSpPr>
        <p:sp>
          <p:nvSpPr>
            <p:cNvPr id="28701" name="Rectangle 36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702" name="Line 37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3" name="Line 38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8704" name="Line 39"/>
          <p:cNvSpPr/>
          <p:nvPr/>
        </p:nvSpPr>
        <p:spPr>
          <a:xfrm flipH="1">
            <a:off x="6638925" y="2266950"/>
            <a:ext cx="215900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05" name="Line 40"/>
          <p:cNvSpPr/>
          <p:nvPr/>
        </p:nvSpPr>
        <p:spPr>
          <a:xfrm flipH="1">
            <a:off x="6011863" y="2900363"/>
            <a:ext cx="215900" cy="395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06" name="Line 41"/>
          <p:cNvSpPr/>
          <p:nvPr/>
        </p:nvSpPr>
        <p:spPr>
          <a:xfrm>
            <a:off x="6956425" y="2914650"/>
            <a:ext cx="287338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07" name="Line 42"/>
          <p:cNvSpPr/>
          <p:nvPr/>
        </p:nvSpPr>
        <p:spPr>
          <a:xfrm flipH="1">
            <a:off x="7072313" y="3548063"/>
            <a:ext cx="215900" cy="395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08" name="Line 43"/>
          <p:cNvSpPr/>
          <p:nvPr/>
        </p:nvSpPr>
        <p:spPr>
          <a:xfrm>
            <a:off x="7834313" y="3562350"/>
            <a:ext cx="287337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09" name="Line 44"/>
          <p:cNvSpPr/>
          <p:nvPr/>
        </p:nvSpPr>
        <p:spPr>
          <a:xfrm>
            <a:off x="7235825" y="4149725"/>
            <a:ext cx="411163" cy="4159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73" name="Rectangle 45"/>
          <p:cNvSpPr/>
          <p:nvPr/>
        </p:nvSpPr>
        <p:spPr>
          <a:xfrm>
            <a:off x="5978525" y="1844675"/>
            <a:ext cx="360363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4" name="Line 46"/>
          <p:cNvSpPr/>
          <p:nvPr/>
        </p:nvSpPr>
        <p:spPr>
          <a:xfrm>
            <a:off x="6199188" y="2235200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22577" name="AutoShape 49"/>
          <p:cNvCxnSpPr/>
          <p:nvPr/>
        </p:nvCxnSpPr>
        <p:spPr>
          <a:xfrm rot="-10800000" flipH="1">
            <a:off x="6526213" y="3033713"/>
            <a:ext cx="206375" cy="1081087"/>
          </a:xfrm>
          <a:prstGeom prst="curvedConnector4">
            <a:avLst>
              <a:gd name="adj1" fmla="val -110769"/>
              <a:gd name="adj2" fmla="val 58444"/>
            </a:avLst>
          </a:prstGeom>
          <a:ln w="25400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717" name="AutoShape 50"/>
          <p:cNvCxnSpPr>
            <a:stCxn id="28697" idx="1"/>
            <a:endCxn id="28693" idx="2"/>
          </p:cNvCxnSpPr>
          <p:nvPr/>
        </p:nvCxnSpPr>
        <p:spPr>
          <a:xfrm rot="10800000">
            <a:off x="6911975" y="4294188"/>
            <a:ext cx="295275" cy="452437"/>
          </a:xfrm>
          <a:prstGeom prst="curvedConnector2">
            <a:avLst/>
          </a:prstGeom>
          <a:ln w="25400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579" name="AutoShape 51"/>
          <p:cNvCxnSpPr>
            <a:endCxn id="28689" idx="2"/>
          </p:cNvCxnSpPr>
          <p:nvPr/>
        </p:nvCxnSpPr>
        <p:spPr>
          <a:xfrm rot="5400000" flipH="1">
            <a:off x="7600950" y="3667125"/>
            <a:ext cx="498475" cy="501650"/>
          </a:xfrm>
          <a:prstGeom prst="curvedConnector3">
            <a:avLst>
              <a:gd name="adj1" fmla="val 50157"/>
            </a:avLst>
          </a:prstGeom>
          <a:ln w="25400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580" name="AutoShape 52"/>
          <p:cNvCxnSpPr>
            <a:endCxn id="28681" idx="1"/>
          </p:cNvCxnSpPr>
          <p:nvPr/>
        </p:nvCxnSpPr>
        <p:spPr>
          <a:xfrm rot="5400000" flipH="1">
            <a:off x="5953125" y="3082925"/>
            <a:ext cx="620713" cy="163513"/>
          </a:xfrm>
          <a:prstGeom prst="curvedConnector4">
            <a:avLst>
              <a:gd name="adj1" fmla="val 35551"/>
              <a:gd name="adj2" fmla="val 239806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581" name="AutoShape 53"/>
          <p:cNvCxnSpPr>
            <a:stCxn id="28697" idx="3"/>
          </p:cNvCxnSpPr>
          <p:nvPr/>
        </p:nvCxnSpPr>
        <p:spPr>
          <a:xfrm flipH="1" flipV="1">
            <a:off x="7451725" y="3716338"/>
            <a:ext cx="690563" cy="1030287"/>
          </a:xfrm>
          <a:prstGeom prst="curvedConnector4">
            <a:avLst>
              <a:gd name="adj1" fmla="val -32875"/>
              <a:gd name="adj2" fmla="val 58861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721" name="AutoShape 54"/>
          <p:cNvCxnSpPr>
            <a:endCxn id="28677" idx="3"/>
          </p:cNvCxnSpPr>
          <p:nvPr/>
        </p:nvCxnSpPr>
        <p:spPr>
          <a:xfrm rot="5400000" flipH="1">
            <a:off x="7219950" y="2636838"/>
            <a:ext cx="1900238" cy="1085850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9" name="Group 55"/>
          <p:cNvGrpSpPr/>
          <p:nvPr/>
        </p:nvGrpSpPr>
        <p:grpSpPr>
          <a:xfrm>
            <a:off x="6659563" y="1341438"/>
            <a:ext cx="935037" cy="360362"/>
            <a:chOff x="0" y="0"/>
            <a:chExt cx="589" cy="227"/>
          </a:xfrm>
        </p:grpSpPr>
        <p:sp>
          <p:nvSpPr>
            <p:cNvPr id="28719" name="Rectangle 56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28720" name="Line 57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21" name="Line 58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22587" name="AutoShape 59"/>
          <p:cNvCxnSpPr>
            <a:stCxn id="28685" idx="1"/>
            <a:endCxn id="28719" idx="1"/>
          </p:cNvCxnSpPr>
          <p:nvPr/>
        </p:nvCxnSpPr>
        <p:spPr>
          <a:xfrm rot="-10800000" flipH="1">
            <a:off x="5580063" y="1522413"/>
            <a:ext cx="1079500" cy="1954212"/>
          </a:xfrm>
          <a:prstGeom prst="curvedConnector3">
            <a:avLst>
              <a:gd name="adj1" fmla="val -21176"/>
            </a:avLst>
          </a:prstGeom>
          <a:ln w="25400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588" name="AutoShape 60"/>
          <p:cNvCxnSpPr>
            <a:stCxn id="28677" idx="3"/>
            <a:endCxn id="28719" idx="3"/>
          </p:cNvCxnSpPr>
          <p:nvPr/>
        </p:nvCxnSpPr>
        <p:spPr>
          <a:xfrm flipH="1" flipV="1">
            <a:off x="7594600" y="1522413"/>
            <a:ext cx="34925" cy="709612"/>
          </a:xfrm>
          <a:prstGeom prst="curvedConnector3">
            <a:avLst>
              <a:gd name="adj1" fmla="val -650000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589" name="Line 61"/>
          <p:cNvSpPr/>
          <p:nvPr/>
        </p:nvSpPr>
        <p:spPr>
          <a:xfrm>
            <a:off x="6877050" y="1628775"/>
            <a:ext cx="0" cy="431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91" name="Arc 63"/>
          <p:cNvSpPr/>
          <p:nvPr/>
        </p:nvSpPr>
        <p:spPr>
          <a:xfrm rot="5400000" flipV="1">
            <a:off x="7380288" y="1074738"/>
            <a:ext cx="914400" cy="9144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3200" h="43200" fill="none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3213"/>
                  <a:pt x="4854" y="5584"/>
                  <a:pt x="12451" y="2032"/>
                </a:cubicBezTo>
              </a:path>
              <a:path w="43200" h="43200" stroke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3213"/>
                  <a:pt x="4854" y="5584"/>
                  <a:pt x="12451" y="2032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22593" name="Text Box 65"/>
          <p:cNvSpPr txBox="1"/>
          <p:nvPr/>
        </p:nvSpPr>
        <p:spPr>
          <a:xfrm>
            <a:off x="5076825" y="5013325"/>
            <a:ext cx="51847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sz="1600" dirty="0">
                <a:latin typeface="Comic Sans MS" panose="030F0702030302020204" pitchFamily="66" charset="0"/>
                <a:ea typeface="宋体" panose="02010600030101010101" pitchFamily="2" charset="-122"/>
              </a:rPr>
              <a:t>Solid lines represent links</a:t>
            </a:r>
            <a:endParaRPr lang="en-US" altLang="zh-CN" sz="16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1600" dirty="0">
                <a:latin typeface="Comic Sans MS" panose="030F0702030302020204" pitchFamily="66" charset="0"/>
                <a:ea typeface="宋体" panose="02010600030101010101" pitchFamily="2" charset="-122"/>
              </a:rPr>
              <a:t>            Dashed lines represent threads</a:t>
            </a:r>
            <a:endParaRPr lang="en-US" altLang="zh-CN" sz="16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95" name="Rectangle 67"/>
          <p:cNvSpPr/>
          <p:nvPr/>
        </p:nvSpPr>
        <p:spPr>
          <a:xfrm>
            <a:off x="5981700" y="1052513"/>
            <a:ext cx="360363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96" name="Line 68"/>
          <p:cNvSpPr/>
          <p:nvPr/>
        </p:nvSpPr>
        <p:spPr>
          <a:xfrm>
            <a:off x="6202363" y="1443038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225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22532" grpId="0"/>
      <p:bldP spid="22533" grpId="0"/>
      <p:bldP spid="22573" grpId="0"/>
      <p:bldP spid="22593" grpId="0"/>
      <p:bldP spid="225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533400" y="476250"/>
            <a:ext cx="8077200" cy="2971800"/>
            <a:chOff x="2304" y="240"/>
            <a:chExt cx="3216" cy="2160"/>
          </a:xfrm>
        </p:grpSpPr>
        <p:sp>
          <p:nvSpPr>
            <p:cNvPr id="29698" name="AutoShape 5"/>
            <p:cNvSpPr/>
            <p:nvPr/>
          </p:nvSpPr>
          <p:spPr>
            <a:xfrm>
              <a:off x="2304" y="240"/>
              <a:ext cx="3207" cy="216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9699" name="Text Box 6"/>
            <p:cNvSpPr txBox="1"/>
            <p:nvPr/>
          </p:nvSpPr>
          <p:spPr>
            <a:xfrm>
              <a:off x="2304" y="240"/>
              <a:ext cx="3216" cy="20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typedef  struct  ThreadedTreeNode  *PtrTo  ThreadedNode;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typedef  struct  PtrToThreadedNode  ThreadedTree;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typedef  struct  ThreadedTreeNode {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</a:t>
              </a:r>
              <a:r>
                <a:rPr lang="en-US" altLang="zh-CN" sz="20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int 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   		LeftThread;   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/* if it is TRUE, then Left */</a:t>
              </a:r>
              <a:endPara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ThreadedTree  	Left;      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/* is a thread, not a child ptr.   */</a:t>
              </a:r>
              <a:endPara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ElementType	Element;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   int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    		RightThread; 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/* if it is TRUE, then Right */</a:t>
              </a:r>
              <a:endPara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 ThreadedTree  	Right;    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/* is a thread, not a child ptr.   */</a:t>
              </a:r>
              <a:endPara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92100" indent="-292100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}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1187450" y="3824288"/>
            <a:ext cx="6192838" cy="396875"/>
            <a:chOff x="340" y="2341"/>
            <a:chExt cx="3901" cy="250"/>
          </a:xfrm>
        </p:grpSpPr>
        <p:sp>
          <p:nvSpPr>
            <p:cNvPr id="29701" name="Rectangle 9"/>
            <p:cNvSpPr/>
            <p:nvPr/>
          </p:nvSpPr>
          <p:spPr>
            <a:xfrm>
              <a:off x="340" y="2341"/>
              <a:ext cx="3901" cy="25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LeftThread    Left       data    Right   RightThread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Line 10"/>
            <p:cNvSpPr/>
            <p:nvPr/>
          </p:nvSpPr>
          <p:spPr>
            <a:xfrm>
              <a:off x="1319" y="2341"/>
              <a:ext cx="0" cy="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3" name="Line 11"/>
            <p:cNvSpPr/>
            <p:nvPr/>
          </p:nvSpPr>
          <p:spPr>
            <a:xfrm>
              <a:off x="1927" y="2341"/>
              <a:ext cx="0" cy="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4" name="Line 12"/>
            <p:cNvSpPr/>
            <p:nvPr/>
          </p:nvSpPr>
          <p:spPr>
            <a:xfrm>
              <a:off x="2517" y="2341"/>
              <a:ext cx="0" cy="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5" name="Line 13"/>
            <p:cNvSpPr/>
            <p:nvPr/>
          </p:nvSpPr>
          <p:spPr>
            <a:xfrm>
              <a:off x="3152" y="2341"/>
              <a:ext cx="0" cy="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26"/>
          <p:cNvGrpSpPr/>
          <p:nvPr/>
        </p:nvGrpSpPr>
        <p:grpSpPr>
          <a:xfrm>
            <a:off x="1042988" y="5014913"/>
            <a:ext cx="6696075" cy="1438275"/>
            <a:chOff x="476" y="2932"/>
            <a:chExt cx="4445" cy="1178"/>
          </a:xfrm>
        </p:grpSpPr>
        <p:sp>
          <p:nvSpPr>
            <p:cNvPr id="29707" name="Rectangle 16"/>
            <p:cNvSpPr/>
            <p:nvPr/>
          </p:nvSpPr>
          <p:spPr>
            <a:xfrm>
              <a:off x="1945" y="2932"/>
              <a:ext cx="297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Left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is a link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08" name="Rectangle 17"/>
            <p:cNvSpPr/>
            <p:nvPr/>
          </p:nvSpPr>
          <p:spPr>
            <a:xfrm>
              <a:off x="1945" y="3257"/>
              <a:ext cx="275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Left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is a thread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09" name="Rectangle 18"/>
            <p:cNvSpPr/>
            <p:nvPr/>
          </p:nvSpPr>
          <p:spPr>
            <a:xfrm>
              <a:off x="485" y="3108"/>
              <a:ext cx="55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LeftThread=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AutoShape 19"/>
            <p:cNvSpPr/>
            <p:nvPr/>
          </p:nvSpPr>
          <p:spPr>
            <a:xfrm>
              <a:off x="1793" y="3013"/>
              <a:ext cx="89" cy="422"/>
            </a:xfrm>
            <a:prstGeom prst="leftBrace">
              <a:avLst>
                <a:gd name="adj1" fmla="val 3949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Rectangle 21"/>
            <p:cNvSpPr/>
            <p:nvPr/>
          </p:nvSpPr>
          <p:spPr>
            <a:xfrm>
              <a:off x="1945" y="3555"/>
              <a:ext cx="297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Rchild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is a link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12" name="Rectangle 22"/>
            <p:cNvSpPr/>
            <p:nvPr/>
          </p:nvSpPr>
          <p:spPr>
            <a:xfrm>
              <a:off x="1945" y="3880"/>
              <a:ext cx="275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Rchild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is a thread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13" name="Rectangle 23"/>
            <p:cNvSpPr/>
            <p:nvPr/>
          </p:nvSpPr>
          <p:spPr>
            <a:xfrm>
              <a:off x="476" y="3731"/>
              <a:ext cx="55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RightThread=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AutoShape 24"/>
            <p:cNvSpPr/>
            <p:nvPr/>
          </p:nvSpPr>
          <p:spPr>
            <a:xfrm>
              <a:off x="1793" y="3636"/>
              <a:ext cx="89" cy="422"/>
            </a:xfrm>
            <a:prstGeom prst="leftBrace">
              <a:avLst>
                <a:gd name="adj1" fmla="val 3949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15" name="Rectangle 28"/>
          <p:cNvSpPr/>
          <p:nvPr/>
        </p:nvSpPr>
        <p:spPr>
          <a:xfrm>
            <a:off x="2268538" y="4221163"/>
            <a:ext cx="4033837" cy="3603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The node structure of threaded BT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914400" y="1639888"/>
            <a:ext cx="1471613" cy="1905000"/>
            <a:chOff x="609" y="2928"/>
            <a:chExt cx="927" cy="1200"/>
          </a:xfrm>
        </p:grpSpPr>
        <p:grpSp>
          <p:nvGrpSpPr>
            <p:cNvPr id="31746" name="Group 4"/>
            <p:cNvGrpSpPr/>
            <p:nvPr/>
          </p:nvGrpSpPr>
          <p:grpSpPr>
            <a:xfrm>
              <a:off x="624" y="2928"/>
              <a:ext cx="672" cy="480"/>
              <a:chOff x="624" y="2928"/>
              <a:chExt cx="672" cy="480"/>
            </a:xfrm>
          </p:grpSpPr>
          <p:sp>
            <p:nvSpPr>
              <p:cNvPr id="31747" name="Oval 5"/>
              <p:cNvSpPr/>
              <p:nvPr/>
            </p:nvSpPr>
            <p:spPr>
              <a:xfrm>
                <a:off x="864" y="292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+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48" name="Oval 6"/>
              <p:cNvSpPr/>
              <p:nvPr/>
            </p:nvSpPr>
            <p:spPr>
              <a:xfrm>
                <a:off x="62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49" name="Line 7"/>
              <p:cNvSpPr/>
              <p:nvPr/>
            </p:nvSpPr>
            <p:spPr>
              <a:xfrm flipH="1">
                <a:off x="745" y="3094"/>
                <a:ext cx="144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50" name="Oval 8"/>
              <p:cNvSpPr/>
              <p:nvPr/>
            </p:nvSpPr>
            <p:spPr>
              <a:xfrm flipH="1">
                <a:off x="110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</a:t>
                </a:r>
                <a:endPara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1751" name="Line 9"/>
              <p:cNvSpPr/>
              <p:nvPr/>
            </p:nvSpPr>
            <p:spPr>
              <a:xfrm>
                <a:off x="1031" y="3094"/>
                <a:ext cx="122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1752" name="Oval 10"/>
            <p:cNvSpPr/>
            <p:nvPr/>
          </p:nvSpPr>
          <p:spPr>
            <a:xfrm>
              <a:off x="86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53" name="Line 11"/>
            <p:cNvSpPr/>
            <p:nvPr/>
          </p:nvSpPr>
          <p:spPr>
            <a:xfrm flipH="1">
              <a:off x="985" y="3382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4" name="Oval 12"/>
            <p:cNvSpPr/>
            <p:nvPr/>
          </p:nvSpPr>
          <p:spPr>
            <a:xfrm flipH="1">
              <a:off x="134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55" name="Line 13"/>
            <p:cNvSpPr/>
            <p:nvPr/>
          </p:nvSpPr>
          <p:spPr>
            <a:xfrm>
              <a:off x="1271" y="3382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6" name="Oval 14"/>
            <p:cNvSpPr/>
            <p:nvPr/>
          </p:nvSpPr>
          <p:spPr>
            <a:xfrm>
              <a:off x="62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Line 15"/>
            <p:cNvSpPr/>
            <p:nvPr/>
          </p:nvSpPr>
          <p:spPr>
            <a:xfrm flipH="1">
              <a:off x="745" y="3670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8" name="Oval 16"/>
            <p:cNvSpPr/>
            <p:nvPr/>
          </p:nvSpPr>
          <p:spPr>
            <a:xfrm flipH="1">
              <a:off x="110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59" name="Line 17"/>
            <p:cNvSpPr/>
            <p:nvPr/>
          </p:nvSpPr>
          <p:spPr>
            <a:xfrm>
              <a:off x="1031" y="3670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1760" name="Group 18"/>
            <p:cNvGrpSpPr/>
            <p:nvPr/>
          </p:nvGrpSpPr>
          <p:grpSpPr>
            <a:xfrm>
              <a:off x="609" y="3408"/>
              <a:ext cx="220" cy="144"/>
              <a:chOff x="2352" y="3648"/>
              <a:chExt cx="288" cy="144"/>
            </a:xfrm>
          </p:grpSpPr>
          <p:sp>
            <p:nvSpPr>
              <p:cNvPr id="31761" name="Line 19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2" name="Line 20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3" name="Oval 21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4" name="Oval 22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65" name="Group 23"/>
            <p:cNvGrpSpPr/>
            <p:nvPr/>
          </p:nvGrpSpPr>
          <p:grpSpPr>
            <a:xfrm>
              <a:off x="1310" y="3696"/>
              <a:ext cx="220" cy="144"/>
              <a:chOff x="2352" y="3648"/>
              <a:chExt cx="288" cy="144"/>
            </a:xfrm>
          </p:grpSpPr>
          <p:sp>
            <p:nvSpPr>
              <p:cNvPr id="31766" name="Line 24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7" name="Line 25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8" name="Oval 26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9" name="Oval 27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70" name="Group 28"/>
            <p:cNvGrpSpPr/>
            <p:nvPr/>
          </p:nvGrpSpPr>
          <p:grpSpPr>
            <a:xfrm>
              <a:off x="609" y="3984"/>
              <a:ext cx="220" cy="144"/>
              <a:chOff x="2352" y="3648"/>
              <a:chExt cx="288" cy="144"/>
            </a:xfrm>
          </p:grpSpPr>
          <p:sp>
            <p:nvSpPr>
              <p:cNvPr id="31771" name="Line 29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2" name="Line 30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3" name="Oval 31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4" name="Oval 32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75" name="Group 33"/>
            <p:cNvGrpSpPr/>
            <p:nvPr/>
          </p:nvGrpSpPr>
          <p:grpSpPr>
            <a:xfrm>
              <a:off x="1070" y="3984"/>
              <a:ext cx="220" cy="144"/>
              <a:chOff x="2352" y="3648"/>
              <a:chExt cx="288" cy="144"/>
            </a:xfrm>
          </p:grpSpPr>
          <p:sp>
            <p:nvSpPr>
              <p:cNvPr id="31776" name="Line 34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7" name="Line 35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8" name="Oval 36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9" name="Oval 37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3590" name="Text Box 38"/>
          <p:cNvSpPr txBox="1"/>
          <p:nvPr/>
        </p:nvSpPr>
        <p:spPr>
          <a:xfrm>
            <a:off x="533400" y="115888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Given the syntax tree of an expression (infix)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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1" name="Rectangle 40"/>
          <p:cNvSpPr/>
          <p:nvPr/>
        </p:nvSpPr>
        <p:spPr>
          <a:xfrm>
            <a:off x="4876800" y="168592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2" name="Rectangle 41"/>
          <p:cNvSpPr/>
          <p:nvPr/>
        </p:nvSpPr>
        <p:spPr>
          <a:xfrm>
            <a:off x="5151438" y="1685925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3" name="Rectangle 42"/>
          <p:cNvSpPr/>
          <p:nvPr/>
        </p:nvSpPr>
        <p:spPr>
          <a:xfrm>
            <a:off x="5426075" y="1685925"/>
            <a:ext cx="273050" cy="274638"/>
          </a:xfrm>
          <a:prstGeom prst="rect">
            <a:avLst/>
          </a:prstGeom>
          <a:solidFill>
            <a:schemeClr val="tx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4" name="Rectangle 43"/>
          <p:cNvSpPr/>
          <p:nvPr/>
        </p:nvSpPr>
        <p:spPr>
          <a:xfrm>
            <a:off x="5699125" y="168592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5" name="Rectangle 44"/>
          <p:cNvSpPr/>
          <p:nvPr/>
        </p:nvSpPr>
        <p:spPr>
          <a:xfrm>
            <a:off x="5973763" y="1685925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6" name="Rectangle 45"/>
          <p:cNvSpPr/>
          <p:nvPr/>
        </p:nvSpPr>
        <p:spPr>
          <a:xfrm>
            <a:off x="4419600" y="2508250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7" name="Rectangle 46"/>
          <p:cNvSpPr/>
          <p:nvPr/>
        </p:nvSpPr>
        <p:spPr>
          <a:xfrm>
            <a:off x="4694238" y="2508250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8" name="Rectangle 47"/>
          <p:cNvSpPr/>
          <p:nvPr/>
        </p:nvSpPr>
        <p:spPr>
          <a:xfrm>
            <a:off x="4968875" y="2508250"/>
            <a:ext cx="273050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89" name="Rectangle 48"/>
          <p:cNvSpPr/>
          <p:nvPr/>
        </p:nvSpPr>
        <p:spPr>
          <a:xfrm>
            <a:off x="5241925" y="2508250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0" name="Rectangle 49"/>
          <p:cNvSpPr/>
          <p:nvPr/>
        </p:nvSpPr>
        <p:spPr>
          <a:xfrm>
            <a:off x="5516563" y="2508250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1" name="Rectangle 50"/>
          <p:cNvSpPr/>
          <p:nvPr/>
        </p:nvSpPr>
        <p:spPr>
          <a:xfrm>
            <a:off x="3413125" y="3332163"/>
            <a:ext cx="274638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2" name="Rectangle 51"/>
          <p:cNvSpPr/>
          <p:nvPr/>
        </p:nvSpPr>
        <p:spPr>
          <a:xfrm>
            <a:off x="3687763" y="3332163"/>
            <a:ext cx="274637" cy="273050"/>
          </a:xfrm>
          <a:prstGeom prst="rect">
            <a:avLst/>
          </a:prstGeom>
          <a:solidFill>
            <a:srgbClr val="FFCC99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3" name="Rectangle 52"/>
          <p:cNvSpPr/>
          <p:nvPr/>
        </p:nvSpPr>
        <p:spPr>
          <a:xfrm>
            <a:off x="3962400" y="3332163"/>
            <a:ext cx="274638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4" name="Rectangle 53"/>
          <p:cNvSpPr/>
          <p:nvPr/>
        </p:nvSpPr>
        <p:spPr>
          <a:xfrm>
            <a:off x="4237038" y="3332163"/>
            <a:ext cx="274637" cy="273050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5" name="Rectangle 54"/>
          <p:cNvSpPr/>
          <p:nvPr/>
        </p:nvSpPr>
        <p:spPr>
          <a:xfrm>
            <a:off x="4511675" y="3332163"/>
            <a:ext cx="273050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6" name="Rectangle 55"/>
          <p:cNvSpPr/>
          <p:nvPr/>
        </p:nvSpPr>
        <p:spPr>
          <a:xfrm>
            <a:off x="5516563" y="3332163"/>
            <a:ext cx="274637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7" name="Rectangle 56"/>
          <p:cNvSpPr/>
          <p:nvPr/>
        </p:nvSpPr>
        <p:spPr>
          <a:xfrm>
            <a:off x="5791200" y="3332163"/>
            <a:ext cx="274638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98" name="Rectangle 57"/>
          <p:cNvSpPr/>
          <p:nvPr/>
        </p:nvSpPr>
        <p:spPr>
          <a:xfrm>
            <a:off x="6065838" y="3332163"/>
            <a:ext cx="274637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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799" name="Rectangle 58"/>
          <p:cNvSpPr/>
          <p:nvPr/>
        </p:nvSpPr>
        <p:spPr>
          <a:xfrm>
            <a:off x="6340475" y="3332163"/>
            <a:ext cx="274638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0" name="Rectangle 59"/>
          <p:cNvSpPr/>
          <p:nvPr/>
        </p:nvSpPr>
        <p:spPr>
          <a:xfrm>
            <a:off x="6615113" y="3332163"/>
            <a:ext cx="273050" cy="2730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1" name="Rectangle 60"/>
          <p:cNvSpPr/>
          <p:nvPr/>
        </p:nvSpPr>
        <p:spPr>
          <a:xfrm>
            <a:off x="4694238" y="4244975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2" name="Rectangle 61"/>
          <p:cNvSpPr/>
          <p:nvPr/>
        </p:nvSpPr>
        <p:spPr>
          <a:xfrm>
            <a:off x="4968875" y="4244975"/>
            <a:ext cx="273050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3" name="Rectangle 62"/>
          <p:cNvSpPr/>
          <p:nvPr/>
        </p:nvSpPr>
        <p:spPr>
          <a:xfrm>
            <a:off x="5241925" y="424497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804" name="Rectangle 63"/>
          <p:cNvSpPr/>
          <p:nvPr/>
        </p:nvSpPr>
        <p:spPr>
          <a:xfrm>
            <a:off x="5516563" y="4244975"/>
            <a:ext cx="274637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5" name="Rectangle 64"/>
          <p:cNvSpPr/>
          <p:nvPr/>
        </p:nvSpPr>
        <p:spPr>
          <a:xfrm>
            <a:off x="5791200" y="424497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6" name="Rectangle 65"/>
          <p:cNvSpPr/>
          <p:nvPr/>
        </p:nvSpPr>
        <p:spPr>
          <a:xfrm>
            <a:off x="6615113" y="4244975"/>
            <a:ext cx="273050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7" name="Rectangle 66"/>
          <p:cNvSpPr/>
          <p:nvPr/>
        </p:nvSpPr>
        <p:spPr>
          <a:xfrm>
            <a:off x="6888163" y="4244975"/>
            <a:ext cx="274637" cy="274638"/>
          </a:xfrm>
          <a:prstGeom prst="rect">
            <a:avLst/>
          </a:prstGeom>
          <a:solidFill>
            <a:srgbClr val="FFCC99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8" name="Rectangle 67"/>
          <p:cNvSpPr/>
          <p:nvPr/>
        </p:nvSpPr>
        <p:spPr>
          <a:xfrm>
            <a:off x="7162800" y="424497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09" name="Rectangle 68"/>
          <p:cNvSpPr/>
          <p:nvPr/>
        </p:nvSpPr>
        <p:spPr>
          <a:xfrm>
            <a:off x="7437438" y="4244975"/>
            <a:ext cx="274637" cy="274638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0" name="Rectangle 69"/>
          <p:cNvSpPr/>
          <p:nvPr/>
        </p:nvSpPr>
        <p:spPr>
          <a:xfrm>
            <a:off x="7712075" y="4244975"/>
            <a:ext cx="274638" cy="27463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1" name="Rectangle 70"/>
          <p:cNvSpPr/>
          <p:nvPr/>
        </p:nvSpPr>
        <p:spPr>
          <a:xfrm>
            <a:off x="3962400" y="5068888"/>
            <a:ext cx="274638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2" name="Rectangle 71"/>
          <p:cNvSpPr/>
          <p:nvPr/>
        </p:nvSpPr>
        <p:spPr>
          <a:xfrm>
            <a:off x="4237038" y="5068888"/>
            <a:ext cx="274637" cy="274637"/>
          </a:xfrm>
          <a:prstGeom prst="rect">
            <a:avLst/>
          </a:prstGeom>
          <a:solidFill>
            <a:srgbClr val="FFCC99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3" name="Rectangle 72"/>
          <p:cNvSpPr/>
          <p:nvPr/>
        </p:nvSpPr>
        <p:spPr>
          <a:xfrm>
            <a:off x="4511675" y="5068888"/>
            <a:ext cx="273050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4" name="Rectangle 73"/>
          <p:cNvSpPr/>
          <p:nvPr/>
        </p:nvSpPr>
        <p:spPr>
          <a:xfrm>
            <a:off x="4784725" y="5068888"/>
            <a:ext cx="274638" cy="274637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5" name="Rectangle 74"/>
          <p:cNvSpPr/>
          <p:nvPr/>
        </p:nvSpPr>
        <p:spPr>
          <a:xfrm>
            <a:off x="5059363" y="5068888"/>
            <a:ext cx="274637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6" name="Rectangle 75"/>
          <p:cNvSpPr/>
          <p:nvPr/>
        </p:nvSpPr>
        <p:spPr>
          <a:xfrm>
            <a:off x="5699125" y="5068888"/>
            <a:ext cx="274638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7" name="Rectangle 76"/>
          <p:cNvSpPr/>
          <p:nvPr/>
        </p:nvSpPr>
        <p:spPr>
          <a:xfrm>
            <a:off x="5973763" y="5068888"/>
            <a:ext cx="274637" cy="274637"/>
          </a:xfrm>
          <a:prstGeom prst="rect">
            <a:avLst/>
          </a:prstGeom>
          <a:solidFill>
            <a:srgbClr val="FFCC99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8" name="Rectangle 77"/>
          <p:cNvSpPr/>
          <p:nvPr/>
        </p:nvSpPr>
        <p:spPr>
          <a:xfrm>
            <a:off x="6248400" y="5068888"/>
            <a:ext cx="274638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19" name="Rectangle 78"/>
          <p:cNvSpPr/>
          <p:nvPr/>
        </p:nvSpPr>
        <p:spPr>
          <a:xfrm>
            <a:off x="6523038" y="5068888"/>
            <a:ext cx="274637" cy="274637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0" name="Rectangle 79"/>
          <p:cNvSpPr/>
          <p:nvPr/>
        </p:nvSpPr>
        <p:spPr>
          <a:xfrm>
            <a:off x="6797675" y="5068888"/>
            <a:ext cx="274638" cy="2746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1" name="Rectangle 80"/>
          <p:cNvSpPr/>
          <p:nvPr/>
        </p:nvSpPr>
        <p:spPr>
          <a:xfrm>
            <a:off x="5241925" y="954088"/>
            <a:ext cx="1373188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head node</a:t>
            </a:r>
            <a:endParaRPr lang="en-US" altLang="zh-CN" sz="2000" b="1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2" name="Line 81"/>
          <p:cNvSpPr/>
          <p:nvPr/>
        </p:nvSpPr>
        <p:spPr>
          <a:xfrm flipH="1">
            <a:off x="5516563" y="1319213"/>
            <a:ext cx="366712" cy="366712"/>
          </a:xfrm>
          <a:prstGeom prst="line">
            <a:avLst/>
          </a:prstGeom>
          <a:ln w="25400" cap="flat" cmpd="sng">
            <a:solidFill>
              <a:srgbClr val="0000CC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3" name="Line 82"/>
          <p:cNvSpPr/>
          <p:nvPr/>
        </p:nvSpPr>
        <p:spPr>
          <a:xfrm flipH="1">
            <a:off x="5151438" y="1868488"/>
            <a:ext cx="133350" cy="639762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4" name="Arc 83"/>
          <p:cNvSpPr/>
          <p:nvPr/>
        </p:nvSpPr>
        <p:spPr>
          <a:xfrm rot="5400000" flipV="1">
            <a:off x="5883275" y="1411288"/>
            <a:ext cx="914400" cy="9144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3200" h="43200" fill="none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3213"/>
                  <a:pt x="4854" y="5584"/>
                  <a:pt x="12451" y="2032"/>
                </a:cubicBezTo>
              </a:path>
              <a:path w="43200" h="43200" stroke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3213"/>
                  <a:pt x="4854" y="5584"/>
                  <a:pt x="12451" y="2032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25" name="Line 84"/>
          <p:cNvSpPr/>
          <p:nvPr/>
        </p:nvSpPr>
        <p:spPr>
          <a:xfrm flipH="1">
            <a:off x="4054475" y="2690813"/>
            <a:ext cx="730250" cy="64135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6" name="Line 85"/>
          <p:cNvSpPr/>
          <p:nvPr/>
        </p:nvSpPr>
        <p:spPr>
          <a:xfrm>
            <a:off x="5373688" y="2690813"/>
            <a:ext cx="823912" cy="6413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7" name="Line 86"/>
          <p:cNvSpPr/>
          <p:nvPr/>
        </p:nvSpPr>
        <p:spPr>
          <a:xfrm flipH="1">
            <a:off x="5334000" y="3514725"/>
            <a:ext cx="639763" cy="73025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8" name="Line 87"/>
          <p:cNvSpPr/>
          <p:nvPr/>
        </p:nvSpPr>
        <p:spPr>
          <a:xfrm>
            <a:off x="6430963" y="3514725"/>
            <a:ext cx="914400" cy="7302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29" name="Line 88"/>
          <p:cNvSpPr/>
          <p:nvPr/>
        </p:nvSpPr>
        <p:spPr>
          <a:xfrm flipH="1">
            <a:off x="4694238" y="4429125"/>
            <a:ext cx="457200" cy="639763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30" name="Line 89"/>
          <p:cNvSpPr/>
          <p:nvPr/>
        </p:nvSpPr>
        <p:spPr>
          <a:xfrm>
            <a:off x="5649913" y="4429125"/>
            <a:ext cx="731837" cy="6397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831" name="Freeform 90"/>
          <p:cNvSpPr/>
          <p:nvPr/>
        </p:nvSpPr>
        <p:spPr>
          <a:xfrm>
            <a:off x="2895600" y="1381125"/>
            <a:ext cx="2620963" cy="24225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376" h="1272">
                <a:moveTo>
                  <a:pt x="464" y="1120"/>
                </a:moveTo>
                <a:cubicBezTo>
                  <a:pt x="400" y="1188"/>
                  <a:pt x="336" y="1256"/>
                  <a:pt x="272" y="1264"/>
                </a:cubicBezTo>
                <a:cubicBezTo>
                  <a:pt x="208" y="1272"/>
                  <a:pt x="112" y="1232"/>
                  <a:pt x="80" y="1168"/>
                </a:cubicBezTo>
                <a:cubicBezTo>
                  <a:pt x="48" y="1104"/>
                  <a:pt x="0" y="1032"/>
                  <a:pt x="80" y="880"/>
                </a:cubicBezTo>
                <a:cubicBezTo>
                  <a:pt x="160" y="728"/>
                  <a:pt x="392" y="400"/>
                  <a:pt x="560" y="256"/>
                </a:cubicBezTo>
                <a:cubicBezTo>
                  <a:pt x="728" y="112"/>
                  <a:pt x="952" y="32"/>
                  <a:pt x="1088" y="16"/>
                </a:cubicBezTo>
                <a:cubicBezTo>
                  <a:pt x="1224" y="0"/>
                  <a:pt x="1300" y="80"/>
                  <a:pt x="1376" y="16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2" name="Freeform 91"/>
          <p:cNvSpPr/>
          <p:nvPr/>
        </p:nvSpPr>
        <p:spPr>
          <a:xfrm>
            <a:off x="4327525" y="2782888"/>
            <a:ext cx="731838" cy="10207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84" h="536">
                <a:moveTo>
                  <a:pt x="0" y="384"/>
                </a:moveTo>
                <a:cubicBezTo>
                  <a:pt x="68" y="452"/>
                  <a:pt x="136" y="520"/>
                  <a:pt x="192" y="528"/>
                </a:cubicBezTo>
                <a:cubicBezTo>
                  <a:pt x="248" y="536"/>
                  <a:pt x="304" y="520"/>
                  <a:pt x="336" y="432"/>
                </a:cubicBezTo>
                <a:cubicBezTo>
                  <a:pt x="368" y="344"/>
                  <a:pt x="376" y="172"/>
                  <a:pt x="384" y="0"/>
                </a:cubicBezTo>
              </a:path>
            </a:pathLst>
          </a:custGeom>
          <a:noFill/>
          <a:ln w="25400" cap="flat" cmpd="sng">
            <a:solidFill>
              <a:schemeClr val="hlink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3" name="Freeform 92"/>
          <p:cNvSpPr/>
          <p:nvPr/>
        </p:nvSpPr>
        <p:spPr>
          <a:xfrm>
            <a:off x="3382963" y="2782888"/>
            <a:ext cx="1814512" cy="28797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952" h="1512">
                <a:moveTo>
                  <a:pt x="496" y="1296"/>
                </a:moveTo>
                <a:cubicBezTo>
                  <a:pt x="432" y="1380"/>
                  <a:pt x="368" y="1464"/>
                  <a:pt x="304" y="1488"/>
                </a:cubicBezTo>
                <a:cubicBezTo>
                  <a:pt x="240" y="1512"/>
                  <a:pt x="144" y="1504"/>
                  <a:pt x="112" y="1440"/>
                </a:cubicBezTo>
                <a:cubicBezTo>
                  <a:pt x="80" y="1376"/>
                  <a:pt x="0" y="1240"/>
                  <a:pt x="112" y="1104"/>
                </a:cubicBezTo>
                <a:cubicBezTo>
                  <a:pt x="224" y="968"/>
                  <a:pt x="648" y="744"/>
                  <a:pt x="784" y="624"/>
                </a:cubicBezTo>
                <a:cubicBezTo>
                  <a:pt x="920" y="504"/>
                  <a:pt x="904" y="488"/>
                  <a:pt x="928" y="384"/>
                </a:cubicBezTo>
                <a:cubicBezTo>
                  <a:pt x="952" y="280"/>
                  <a:pt x="940" y="140"/>
                  <a:pt x="928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4" name="Freeform 93"/>
          <p:cNvSpPr/>
          <p:nvPr/>
        </p:nvSpPr>
        <p:spPr>
          <a:xfrm>
            <a:off x="5426075" y="4519613"/>
            <a:ext cx="639763" cy="11890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384" h="624">
                <a:moveTo>
                  <a:pt x="384" y="384"/>
                </a:moveTo>
                <a:cubicBezTo>
                  <a:pt x="316" y="468"/>
                  <a:pt x="248" y="552"/>
                  <a:pt x="192" y="576"/>
                </a:cubicBezTo>
                <a:cubicBezTo>
                  <a:pt x="136" y="600"/>
                  <a:pt x="80" y="624"/>
                  <a:pt x="48" y="528"/>
                </a:cubicBezTo>
                <a:cubicBezTo>
                  <a:pt x="16" y="432"/>
                  <a:pt x="8" y="216"/>
                  <a:pt x="0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5" name="Freeform 94"/>
          <p:cNvSpPr/>
          <p:nvPr/>
        </p:nvSpPr>
        <p:spPr>
          <a:xfrm flipH="1">
            <a:off x="4876800" y="4519613"/>
            <a:ext cx="549275" cy="11890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384" h="624">
                <a:moveTo>
                  <a:pt x="384" y="384"/>
                </a:moveTo>
                <a:cubicBezTo>
                  <a:pt x="316" y="468"/>
                  <a:pt x="248" y="552"/>
                  <a:pt x="192" y="576"/>
                </a:cubicBezTo>
                <a:cubicBezTo>
                  <a:pt x="136" y="600"/>
                  <a:pt x="80" y="624"/>
                  <a:pt x="48" y="528"/>
                </a:cubicBezTo>
                <a:cubicBezTo>
                  <a:pt x="16" y="432"/>
                  <a:pt x="8" y="216"/>
                  <a:pt x="0" y="0"/>
                </a:cubicBezTo>
              </a:path>
            </a:pathLst>
          </a:custGeom>
          <a:noFill/>
          <a:ln w="25400" cap="flat" cmpd="sng">
            <a:solidFill>
              <a:schemeClr val="hlink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6" name="Freeform 95"/>
          <p:cNvSpPr/>
          <p:nvPr/>
        </p:nvSpPr>
        <p:spPr>
          <a:xfrm>
            <a:off x="6096000" y="3605213"/>
            <a:ext cx="1493838" cy="21034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784" h="1104">
                <a:moveTo>
                  <a:pt x="272" y="864"/>
                </a:moveTo>
                <a:cubicBezTo>
                  <a:pt x="332" y="944"/>
                  <a:pt x="392" y="1024"/>
                  <a:pt x="464" y="1056"/>
                </a:cubicBezTo>
                <a:cubicBezTo>
                  <a:pt x="536" y="1088"/>
                  <a:pt x="664" y="1104"/>
                  <a:pt x="704" y="1056"/>
                </a:cubicBezTo>
                <a:cubicBezTo>
                  <a:pt x="744" y="1008"/>
                  <a:pt x="784" y="840"/>
                  <a:pt x="704" y="768"/>
                </a:cubicBezTo>
                <a:cubicBezTo>
                  <a:pt x="624" y="696"/>
                  <a:pt x="336" y="704"/>
                  <a:pt x="224" y="624"/>
                </a:cubicBezTo>
                <a:cubicBezTo>
                  <a:pt x="112" y="544"/>
                  <a:pt x="64" y="392"/>
                  <a:pt x="32" y="288"/>
                </a:cubicBezTo>
                <a:cubicBezTo>
                  <a:pt x="0" y="184"/>
                  <a:pt x="16" y="92"/>
                  <a:pt x="32" y="0"/>
                </a:cubicBezTo>
              </a:path>
            </a:pathLst>
          </a:custGeom>
          <a:noFill/>
          <a:ln w="25400" cap="flat" cmpd="sng">
            <a:solidFill>
              <a:schemeClr val="hlink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7" name="Freeform 96"/>
          <p:cNvSpPr/>
          <p:nvPr/>
        </p:nvSpPr>
        <p:spPr>
          <a:xfrm>
            <a:off x="6218238" y="3605213"/>
            <a:ext cx="762000" cy="12192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400" h="640">
                <a:moveTo>
                  <a:pt x="400" y="432"/>
                </a:moveTo>
                <a:cubicBezTo>
                  <a:pt x="400" y="520"/>
                  <a:pt x="400" y="608"/>
                  <a:pt x="352" y="624"/>
                </a:cubicBezTo>
                <a:cubicBezTo>
                  <a:pt x="304" y="640"/>
                  <a:pt x="168" y="600"/>
                  <a:pt x="112" y="528"/>
                </a:cubicBezTo>
                <a:cubicBezTo>
                  <a:pt x="56" y="456"/>
                  <a:pt x="32" y="280"/>
                  <a:pt x="16" y="192"/>
                </a:cubicBezTo>
                <a:cubicBezTo>
                  <a:pt x="0" y="104"/>
                  <a:pt x="8" y="52"/>
                  <a:pt x="1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31838" name="Freeform 97"/>
          <p:cNvSpPr/>
          <p:nvPr/>
        </p:nvSpPr>
        <p:spPr>
          <a:xfrm>
            <a:off x="5883275" y="1289050"/>
            <a:ext cx="2925763" cy="36115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1536" h="1896">
                <a:moveTo>
                  <a:pt x="864" y="1648"/>
                </a:moveTo>
                <a:cubicBezTo>
                  <a:pt x="924" y="1712"/>
                  <a:pt x="984" y="1776"/>
                  <a:pt x="1056" y="1792"/>
                </a:cubicBezTo>
                <a:cubicBezTo>
                  <a:pt x="1128" y="1808"/>
                  <a:pt x="1240" y="1896"/>
                  <a:pt x="1296" y="1744"/>
                </a:cubicBezTo>
                <a:cubicBezTo>
                  <a:pt x="1352" y="1592"/>
                  <a:pt x="1536" y="1152"/>
                  <a:pt x="1392" y="880"/>
                </a:cubicBezTo>
                <a:cubicBezTo>
                  <a:pt x="1248" y="608"/>
                  <a:pt x="664" y="224"/>
                  <a:pt x="432" y="112"/>
                </a:cubicBezTo>
                <a:cubicBezTo>
                  <a:pt x="200" y="0"/>
                  <a:pt x="100" y="104"/>
                  <a:pt x="0" y="208"/>
                </a:cubicBezTo>
              </a:path>
            </a:pathLst>
          </a:custGeom>
          <a:noFill/>
          <a:ln w="25400" cap="flat" cmpd="sng">
            <a:solidFill>
              <a:schemeClr val="hlink"/>
            </a:solidFill>
            <a:prstDash val="dashDot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23651" name="Text Box 99"/>
          <p:cNvSpPr txBox="1"/>
          <p:nvPr/>
        </p:nvSpPr>
        <p:spPr>
          <a:xfrm>
            <a:off x="-541337" y="5516563"/>
            <a:ext cx="8888412" cy="985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dirty="0">
                <a:latin typeface="Comic Sans MS" panose="030F0702030302020204" pitchFamily="66" charset="0"/>
                <a:ea typeface="宋体" panose="02010600030101010101" pitchFamily="2" charset="-122"/>
              </a:rPr>
              <a:t>Solid lines represent links</a:t>
            </a:r>
            <a:endParaRPr lang="en-US" altLang="zh-CN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宋体" panose="02010600030101010101" pitchFamily="2" charset="-122"/>
              </a:rPr>
              <a:t>            Dashed lines represent threads</a:t>
            </a:r>
            <a:endParaRPr lang="en-US" altLang="zh-CN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0" grpId="0"/>
      <p:bldP spid="236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1" name="TextBox 4"/>
          <p:cNvSpPr txBox="1"/>
          <p:nvPr>
            <p:custDataLst>
              <p:tags r:id="rId1"/>
            </p:custDataLst>
          </p:nvPr>
        </p:nvSpPr>
        <p:spPr>
          <a:xfrm>
            <a:off x="914400" y="428625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宋体" panose="02010600030101010101" pitchFamily="2" charset="-122"/>
                <a:sym typeface="微软雅黑" panose="020B0503020204020204" charset="-122"/>
              </a:rPr>
              <a:t>Draw out the </a:t>
            </a:r>
            <a:r>
              <a:rPr lang="en-US" altLang="zh-CN" sz="2600" b="1" i="1" dirty="0">
                <a:solidFill>
                  <a:srgbClr val="FF0000"/>
                </a:solidFill>
                <a:latin typeface="微软雅黑" panose="020B0503020204020204" charset="-122"/>
                <a:ea typeface="宋体" panose="02010600030101010101" pitchFamily="2" charset="-122"/>
                <a:sym typeface="微软雅黑" panose="020B0503020204020204" charset="-122"/>
              </a:rPr>
              <a:t>inorder threaded binary tree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宋体" panose="02010600030101010101" pitchFamily="2" charset="-122"/>
                <a:sym typeface="微软雅黑" panose="020B0503020204020204" charset="-122"/>
              </a:rPr>
              <a:t>of the following binary tree: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  <a:sym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  <a:sym typeface="微软雅黑" panose="020B0503020204020204" charset="-122"/>
              </a:rPr>
              <a:t>以上版本雨课堂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84F41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  <a:sym typeface="微软雅黑" panose="020B0503020204020204" charset="-122"/>
            </a:endParaRPr>
          </a:p>
        </p:txBody>
      </p:sp>
      <p:pic>
        <p:nvPicPr>
          <p:cNvPr id="3072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5" y="2143125"/>
            <a:ext cx="4176713" cy="3022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25" name="组合 1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728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宋体" panose="02010600030101010101" pitchFamily="2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30729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宋体" panose="02010600030101010101" pitchFamily="2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宋体" panose="02010600030101010101" pitchFamily="2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pic>
        <p:nvPicPr>
          <p:cNvPr id="30730" name="图片 3" descr="tmp5727.tmp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7013" cy="1600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Inorder Traverse Threaded BT</a:t>
            </a:r>
            <a:endParaRPr lang="en-US" altLang="zh-CN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311150" y="1704975"/>
            <a:ext cx="5399088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b="1" i="1" dirty="0"/>
              <a:t>Find the first node</a:t>
            </a:r>
            <a:r>
              <a:rPr lang="en-US" altLang="zh-CN" sz="2400" dirty="0"/>
              <a:t>: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</a:t>
            </a:r>
            <a:r>
              <a:rPr lang="en-US" altLang="zh-CN" sz="2000" b="1" dirty="0">
                <a:solidFill>
                  <a:schemeClr val="tx2"/>
                </a:solidFill>
              </a:rPr>
              <a:t>The left most node in the tree.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From the head node, following the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tx2"/>
                </a:solidFill>
              </a:rPr>
              <a:t>Left</a:t>
            </a:r>
            <a:r>
              <a:rPr lang="en-US" altLang="zh-CN" sz="2000" dirty="0"/>
              <a:t> link untill a node with </a:t>
            </a:r>
            <a:r>
              <a:rPr lang="en-US" altLang="zh-CN" sz="2000" dirty="0">
                <a:solidFill>
                  <a:schemeClr val="tx2"/>
                </a:solidFill>
              </a:rPr>
              <a:t>Leftthread=1 </a:t>
            </a:r>
            <a:r>
              <a:rPr lang="en-US" altLang="zh-CN" sz="2000" dirty="0"/>
              <a:t>is reached</a:t>
            </a:r>
            <a:endParaRPr lang="en-US" altLang="zh-CN" sz="2000" dirty="0"/>
          </a:p>
          <a:p>
            <a:pPr marL="914400" lvl="2" indent="0" eaLnBrk="1" hangingPunct="1">
              <a:lnSpc>
                <a:spcPct val="90000"/>
              </a:lnSpc>
              <a:buNone/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grpSp>
        <p:nvGrpSpPr>
          <p:cNvPr id="32771" name="Group 25"/>
          <p:cNvGrpSpPr/>
          <p:nvPr/>
        </p:nvGrpSpPr>
        <p:grpSpPr>
          <a:xfrm>
            <a:off x="6156325" y="2205038"/>
            <a:ext cx="2374900" cy="3168650"/>
            <a:chOff x="4015" y="890"/>
            <a:chExt cx="1496" cy="1996"/>
          </a:xfrm>
        </p:grpSpPr>
        <p:sp>
          <p:nvSpPr>
            <p:cNvPr id="32772" name="Oval 5"/>
            <p:cNvSpPr/>
            <p:nvPr/>
          </p:nvSpPr>
          <p:spPr>
            <a:xfrm>
              <a:off x="4494" y="1344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3" name="Oval 6"/>
            <p:cNvSpPr/>
            <p:nvPr/>
          </p:nvSpPr>
          <p:spPr>
            <a:xfrm>
              <a:off x="5009" y="2223"/>
              <a:ext cx="259" cy="221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Oval 7"/>
            <p:cNvSpPr/>
            <p:nvPr/>
          </p:nvSpPr>
          <p:spPr>
            <a:xfrm>
              <a:off x="4766" y="2657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5" name="Oval 8"/>
            <p:cNvSpPr/>
            <p:nvPr/>
          </p:nvSpPr>
          <p:spPr>
            <a:xfrm>
              <a:off x="5253" y="2657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6" name="Line 9"/>
            <p:cNvSpPr/>
            <p:nvPr/>
          </p:nvSpPr>
          <p:spPr>
            <a:xfrm flipH="1">
              <a:off x="4904" y="2415"/>
              <a:ext cx="152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7" name="Oval 10"/>
            <p:cNvSpPr/>
            <p:nvPr/>
          </p:nvSpPr>
          <p:spPr>
            <a:xfrm>
              <a:off x="4538" y="2230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8" name="Oval 11"/>
            <p:cNvSpPr/>
            <p:nvPr/>
          </p:nvSpPr>
          <p:spPr>
            <a:xfrm>
              <a:off x="4295" y="2664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Oval 12"/>
            <p:cNvSpPr/>
            <p:nvPr/>
          </p:nvSpPr>
          <p:spPr>
            <a:xfrm>
              <a:off x="4258" y="1787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0" name="Oval 13"/>
            <p:cNvSpPr/>
            <p:nvPr/>
          </p:nvSpPr>
          <p:spPr>
            <a:xfrm>
              <a:off x="4015" y="2228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1" name="Oval 14"/>
            <p:cNvSpPr/>
            <p:nvPr/>
          </p:nvSpPr>
          <p:spPr>
            <a:xfrm>
              <a:off x="4769" y="1781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Line 15"/>
            <p:cNvSpPr/>
            <p:nvPr/>
          </p:nvSpPr>
          <p:spPr>
            <a:xfrm>
              <a:off x="4974" y="1988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3" name="Line 16"/>
            <p:cNvSpPr/>
            <p:nvPr/>
          </p:nvSpPr>
          <p:spPr>
            <a:xfrm flipH="1">
              <a:off x="4440" y="2429"/>
              <a:ext cx="150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4" name="Line 17"/>
            <p:cNvSpPr/>
            <p:nvPr/>
          </p:nvSpPr>
          <p:spPr>
            <a:xfrm flipH="1">
              <a:off x="4691" y="1988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5" name="Line 18"/>
            <p:cNvSpPr/>
            <p:nvPr/>
          </p:nvSpPr>
          <p:spPr>
            <a:xfrm flipH="1">
              <a:off x="4176" y="1994"/>
              <a:ext cx="150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6" name="Line 19"/>
            <p:cNvSpPr/>
            <p:nvPr/>
          </p:nvSpPr>
          <p:spPr>
            <a:xfrm flipH="1">
              <a:off x="4411" y="1552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7" name="Line 20"/>
            <p:cNvSpPr/>
            <p:nvPr/>
          </p:nvSpPr>
          <p:spPr>
            <a:xfrm>
              <a:off x="5207" y="2423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8" name="Line 21"/>
            <p:cNvSpPr/>
            <p:nvPr/>
          </p:nvSpPr>
          <p:spPr>
            <a:xfrm>
              <a:off x="4699" y="1545"/>
              <a:ext cx="151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9" name="Oval 22"/>
            <p:cNvSpPr/>
            <p:nvPr/>
          </p:nvSpPr>
          <p:spPr>
            <a:xfrm>
              <a:off x="4761" y="890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Line 23"/>
            <p:cNvSpPr/>
            <p:nvPr/>
          </p:nvSpPr>
          <p:spPr>
            <a:xfrm flipH="1">
              <a:off x="4672" y="1106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1" name="Freeform 24"/>
            <p:cNvSpPr/>
            <p:nvPr/>
          </p:nvSpPr>
          <p:spPr>
            <a:xfrm>
              <a:off x="4921" y="951"/>
              <a:ext cx="371" cy="234"/>
            </a:xfrm>
            <a:custGeom>
              <a:avLst/>
              <a:gdLst/>
              <a:ahLst/>
              <a:cxnLst>
                <a:cxn ang="0">
                  <a:pos x="0" y="166"/>
                </a:cxn>
                <a:cxn ang="0">
                  <a:pos x="318" y="211"/>
                </a:cxn>
                <a:cxn ang="0">
                  <a:pos x="318" y="30"/>
                </a:cxn>
                <a:cxn ang="0">
                  <a:pos x="136" y="30"/>
                </a:cxn>
                <a:cxn ang="0">
                  <a:pos x="91" y="30"/>
                </a:cxn>
              </a:cxnLst>
              <a:pathLst>
                <a:path w="371" h="234">
                  <a:moveTo>
                    <a:pt x="0" y="166"/>
                  </a:moveTo>
                  <a:cubicBezTo>
                    <a:pt x="132" y="200"/>
                    <a:pt x="265" y="234"/>
                    <a:pt x="318" y="211"/>
                  </a:cubicBezTo>
                  <a:cubicBezTo>
                    <a:pt x="371" y="188"/>
                    <a:pt x="348" y="60"/>
                    <a:pt x="318" y="30"/>
                  </a:cubicBezTo>
                  <a:cubicBezTo>
                    <a:pt x="288" y="0"/>
                    <a:pt x="174" y="30"/>
                    <a:pt x="136" y="30"/>
                  </a:cubicBezTo>
                  <a:cubicBezTo>
                    <a:pt x="98" y="30"/>
                    <a:pt x="94" y="30"/>
                    <a:pt x="91" y="3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cxnSp>
        <p:nvCxnSpPr>
          <p:cNvPr id="32792" name="AutoShape 28"/>
          <p:cNvCxnSpPr>
            <a:stCxn id="32780" idx="6"/>
            <a:endCxn id="32779" idx="5"/>
          </p:cNvCxnSpPr>
          <p:nvPr/>
        </p:nvCxnSpPr>
        <p:spPr>
          <a:xfrm flipV="1">
            <a:off x="6565900" y="39290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2793" name="AutoShape 31"/>
          <p:cNvCxnSpPr>
            <a:endCxn id="32772" idx="4"/>
          </p:cNvCxnSpPr>
          <p:nvPr/>
        </p:nvCxnSpPr>
        <p:spPr>
          <a:xfrm rot="-5400000">
            <a:off x="6762750" y="3446463"/>
            <a:ext cx="527050" cy="190500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2794" name="AutoShape 32"/>
          <p:cNvCxnSpPr/>
          <p:nvPr/>
        </p:nvCxnSpPr>
        <p:spPr>
          <a:xfrm flipV="1">
            <a:off x="6981825" y="46529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2795" name="AutoShape 33"/>
          <p:cNvCxnSpPr/>
          <p:nvPr/>
        </p:nvCxnSpPr>
        <p:spPr>
          <a:xfrm flipV="1">
            <a:off x="7340600" y="3933825"/>
            <a:ext cx="327025" cy="576263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2796" name="AutoShape 34"/>
          <p:cNvCxnSpPr/>
          <p:nvPr/>
        </p:nvCxnSpPr>
        <p:spPr>
          <a:xfrm flipV="1">
            <a:off x="7667625" y="46529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2797" name="AutoShape 35"/>
          <p:cNvCxnSpPr>
            <a:stCxn id="32775" idx="6"/>
            <a:endCxn id="32791" idx="3"/>
          </p:cNvCxnSpPr>
          <p:nvPr/>
        </p:nvCxnSpPr>
        <p:spPr>
          <a:xfrm flipH="1" flipV="1">
            <a:off x="7810500" y="2349500"/>
            <a:ext cx="720725" cy="2836863"/>
          </a:xfrm>
          <a:prstGeom prst="curvedConnector4">
            <a:avLst>
              <a:gd name="adj1" fmla="val -31718"/>
              <a:gd name="adj2" fmla="val 109736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sp>
        <p:nvSpPr>
          <p:cNvPr id="32798" name="Line 36"/>
          <p:cNvSpPr/>
          <p:nvPr/>
        </p:nvSpPr>
        <p:spPr>
          <a:xfrm>
            <a:off x="6877050" y="2276475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61" name="Rectangle 37"/>
          <p:cNvSpPr/>
          <p:nvPr/>
        </p:nvSpPr>
        <p:spPr>
          <a:xfrm>
            <a:off x="6659563" y="1916113"/>
            <a:ext cx="360362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1875" y="4032250"/>
            <a:ext cx="4822825" cy="708025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p=T;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 (p-&gt;LeftThread==0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   p=p-&gt;Left;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22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charRg st="22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61" grpId="0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7013" cy="1600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Inorder Traverse Threaded BT</a:t>
            </a:r>
            <a:endParaRPr lang="en-US" altLang="zh-CN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323850" y="1557338"/>
            <a:ext cx="6208713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b="1" i="1" dirty="0"/>
              <a:t>Find the next node</a:t>
            </a:r>
            <a:endParaRPr lang="en-US" altLang="zh-CN" sz="2400" b="1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dirty="0"/>
              <a:t>All the </a:t>
            </a:r>
            <a:r>
              <a:rPr lang="en-US" altLang="zh-CN" sz="1800" b="1" dirty="0">
                <a:solidFill>
                  <a:schemeClr val="tx2"/>
                </a:solidFill>
              </a:rPr>
              <a:t>Right</a:t>
            </a:r>
            <a:r>
              <a:rPr lang="en-US" altLang="zh-CN" sz="1800" dirty="0"/>
              <a:t> links of</a:t>
            </a:r>
            <a:r>
              <a:rPr lang="en-US" altLang="zh-CN" sz="1800" dirty="0">
                <a:solidFill>
                  <a:srgbClr val="0066FF"/>
                </a:solidFill>
              </a:rPr>
              <a:t> </a:t>
            </a:r>
            <a:r>
              <a:rPr lang="en-US" altLang="zh-CN" sz="1800" dirty="0"/>
              <a:t>nodes with </a:t>
            </a:r>
            <a:r>
              <a:rPr lang="en-US" altLang="zh-CN" sz="1800" dirty="0">
                <a:solidFill>
                  <a:schemeClr val="tx2"/>
                </a:solidFill>
              </a:rPr>
              <a:t>RightThread=1 </a:t>
            </a:r>
            <a:r>
              <a:rPr lang="en-US" altLang="zh-CN" sz="1800" dirty="0"/>
              <a:t>are </a:t>
            </a:r>
            <a:r>
              <a:rPr lang="en-US" altLang="zh-CN" sz="1800" dirty="0">
                <a:solidFill>
                  <a:schemeClr val="tx2"/>
                </a:solidFill>
              </a:rPr>
              <a:t>threads</a:t>
            </a:r>
            <a:r>
              <a:rPr lang="en-US" altLang="zh-CN" sz="1800" dirty="0"/>
              <a:t>, point to the successor of the node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dirty="0"/>
              <a:t>For nodes with</a:t>
            </a:r>
            <a:r>
              <a:rPr lang="en-US" altLang="zh-CN" sz="1800" dirty="0">
                <a:solidFill>
                  <a:srgbClr val="0066FF"/>
                </a:solidFill>
              </a:rPr>
              <a:t> </a:t>
            </a:r>
            <a:r>
              <a:rPr lang="en-US" altLang="zh-CN" sz="1800" dirty="0">
                <a:solidFill>
                  <a:schemeClr val="tx2"/>
                </a:solidFill>
              </a:rPr>
              <a:t>RightThread=0,</a:t>
            </a:r>
            <a:r>
              <a:rPr lang="en-US" altLang="zh-CN" sz="1800" dirty="0"/>
              <a:t> the successor is </a:t>
            </a:r>
            <a:r>
              <a:rPr lang="en-US" altLang="zh-CN" sz="1800" b="1" dirty="0">
                <a:solidFill>
                  <a:schemeClr val="tx2"/>
                </a:solidFill>
              </a:rPr>
              <a:t>the left most node in the right subtree</a:t>
            </a:r>
            <a:r>
              <a:rPr lang="en-US" altLang="zh-CN" sz="1800" dirty="0">
                <a:solidFill>
                  <a:schemeClr val="tx2"/>
                </a:solidFill>
              </a:rPr>
              <a:t> </a:t>
            </a:r>
            <a:r>
              <a:rPr lang="en-US" altLang="zh-CN" sz="1800" dirty="0"/>
              <a:t>of the node(i.e. search following the Left link of the right subtree untill the node with leftthread=1 reached)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grpSp>
        <p:nvGrpSpPr>
          <p:cNvPr id="33795" name="Group 25"/>
          <p:cNvGrpSpPr/>
          <p:nvPr/>
        </p:nvGrpSpPr>
        <p:grpSpPr>
          <a:xfrm>
            <a:off x="6156325" y="2205038"/>
            <a:ext cx="2374900" cy="3168650"/>
            <a:chOff x="4015" y="890"/>
            <a:chExt cx="1496" cy="1996"/>
          </a:xfrm>
        </p:grpSpPr>
        <p:sp>
          <p:nvSpPr>
            <p:cNvPr id="33796" name="Oval 5"/>
            <p:cNvSpPr/>
            <p:nvPr/>
          </p:nvSpPr>
          <p:spPr>
            <a:xfrm>
              <a:off x="4494" y="1344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7" name="Oval 6"/>
            <p:cNvSpPr/>
            <p:nvPr/>
          </p:nvSpPr>
          <p:spPr>
            <a:xfrm>
              <a:off x="5009" y="2223"/>
              <a:ext cx="259" cy="221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8" name="Oval 7"/>
            <p:cNvSpPr/>
            <p:nvPr/>
          </p:nvSpPr>
          <p:spPr>
            <a:xfrm>
              <a:off x="4766" y="2657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9" name="Oval 8"/>
            <p:cNvSpPr/>
            <p:nvPr/>
          </p:nvSpPr>
          <p:spPr>
            <a:xfrm>
              <a:off x="5253" y="2657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0" name="Line 9"/>
            <p:cNvSpPr/>
            <p:nvPr/>
          </p:nvSpPr>
          <p:spPr>
            <a:xfrm flipH="1">
              <a:off x="4904" y="2415"/>
              <a:ext cx="152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1" name="Oval 10"/>
            <p:cNvSpPr/>
            <p:nvPr/>
          </p:nvSpPr>
          <p:spPr>
            <a:xfrm>
              <a:off x="4538" y="2230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2" name="Oval 11"/>
            <p:cNvSpPr/>
            <p:nvPr/>
          </p:nvSpPr>
          <p:spPr>
            <a:xfrm>
              <a:off x="4295" y="2664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3" name="Oval 12"/>
            <p:cNvSpPr/>
            <p:nvPr/>
          </p:nvSpPr>
          <p:spPr>
            <a:xfrm>
              <a:off x="4258" y="1787"/>
              <a:ext cx="259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4" name="Oval 13"/>
            <p:cNvSpPr/>
            <p:nvPr/>
          </p:nvSpPr>
          <p:spPr>
            <a:xfrm>
              <a:off x="4015" y="2228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5" name="Oval 14"/>
            <p:cNvSpPr/>
            <p:nvPr/>
          </p:nvSpPr>
          <p:spPr>
            <a:xfrm>
              <a:off x="4769" y="1781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Line 15"/>
            <p:cNvSpPr/>
            <p:nvPr/>
          </p:nvSpPr>
          <p:spPr>
            <a:xfrm>
              <a:off x="4974" y="1988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7" name="Line 16"/>
            <p:cNvSpPr/>
            <p:nvPr/>
          </p:nvSpPr>
          <p:spPr>
            <a:xfrm flipH="1">
              <a:off x="4440" y="2429"/>
              <a:ext cx="150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8" name="Line 17"/>
            <p:cNvSpPr/>
            <p:nvPr/>
          </p:nvSpPr>
          <p:spPr>
            <a:xfrm flipH="1">
              <a:off x="4691" y="1988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9" name="Line 18"/>
            <p:cNvSpPr/>
            <p:nvPr/>
          </p:nvSpPr>
          <p:spPr>
            <a:xfrm flipH="1">
              <a:off x="4176" y="1994"/>
              <a:ext cx="150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0" name="Line 19"/>
            <p:cNvSpPr/>
            <p:nvPr/>
          </p:nvSpPr>
          <p:spPr>
            <a:xfrm flipH="1">
              <a:off x="4411" y="1552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1" name="Line 20"/>
            <p:cNvSpPr/>
            <p:nvPr/>
          </p:nvSpPr>
          <p:spPr>
            <a:xfrm>
              <a:off x="5207" y="2423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2" name="Line 21"/>
            <p:cNvSpPr/>
            <p:nvPr/>
          </p:nvSpPr>
          <p:spPr>
            <a:xfrm>
              <a:off x="4699" y="1545"/>
              <a:ext cx="151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3" name="Oval 22"/>
            <p:cNvSpPr/>
            <p:nvPr/>
          </p:nvSpPr>
          <p:spPr>
            <a:xfrm>
              <a:off x="4761" y="890"/>
              <a:ext cx="258" cy="22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4" name="Line 23"/>
            <p:cNvSpPr/>
            <p:nvPr/>
          </p:nvSpPr>
          <p:spPr>
            <a:xfrm flipH="1">
              <a:off x="4672" y="1106"/>
              <a:ext cx="151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5" name="Freeform 24"/>
            <p:cNvSpPr/>
            <p:nvPr/>
          </p:nvSpPr>
          <p:spPr>
            <a:xfrm>
              <a:off x="4921" y="951"/>
              <a:ext cx="371" cy="234"/>
            </a:xfrm>
            <a:custGeom>
              <a:avLst/>
              <a:gdLst/>
              <a:ahLst/>
              <a:cxnLst>
                <a:cxn ang="0">
                  <a:pos x="0" y="166"/>
                </a:cxn>
                <a:cxn ang="0">
                  <a:pos x="318" y="211"/>
                </a:cxn>
                <a:cxn ang="0">
                  <a:pos x="318" y="30"/>
                </a:cxn>
                <a:cxn ang="0">
                  <a:pos x="136" y="30"/>
                </a:cxn>
                <a:cxn ang="0">
                  <a:pos x="91" y="30"/>
                </a:cxn>
              </a:cxnLst>
              <a:pathLst>
                <a:path w="371" h="234">
                  <a:moveTo>
                    <a:pt x="0" y="166"/>
                  </a:moveTo>
                  <a:cubicBezTo>
                    <a:pt x="132" y="200"/>
                    <a:pt x="265" y="234"/>
                    <a:pt x="318" y="211"/>
                  </a:cubicBezTo>
                  <a:cubicBezTo>
                    <a:pt x="371" y="188"/>
                    <a:pt x="348" y="60"/>
                    <a:pt x="318" y="30"/>
                  </a:cubicBezTo>
                  <a:cubicBezTo>
                    <a:pt x="288" y="0"/>
                    <a:pt x="174" y="30"/>
                    <a:pt x="136" y="30"/>
                  </a:cubicBezTo>
                  <a:cubicBezTo>
                    <a:pt x="98" y="30"/>
                    <a:pt x="94" y="30"/>
                    <a:pt x="91" y="3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cxnSp>
        <p:nvCxnSpPr>
          <p:cNvPr id="33816" name="AutoShape 28"/>
          <p:cNvCxnSpPr>
            <a:stCxn id="33804" idx="6"/>
            <a:endCxn id="33803" idx="5"/>
          </p:cNvCxnSpPr>
          <p:nvPr/>
        </p:nvCxnSpPr>
        <p:spPr>
          <a:xfrm flipV="1">
            <a:off x="6565900" y="39290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3817" name="AutoShape 31"/>
          <p:cNvCxnSpPr>
            <a:endCxn id="33796" idx="4"/>
          </p:cNvCxnSpPr>
          <p:nvPr/>
        </p:nvCxnSpPr>
        <p:spPr>
          <a:xfrm rot="-5400000">
            <a:off x="6762750" y="3446463"/>
            <a:ext cx="527050" cy="190500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3818" name="AutoShape 32"/>
          <p:cNvCxnSpPr/>
          <p:nvPr/>
        </p:nvCxnSpPr>
        <p:spPr>
          <a:xfrm flipV="1">
            <a:off x="6981825" y="46529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3819" name="AutoShape 33"/>
          <p:cNvCxnSpPr/>
          <p:nvPr/>
        </p:nvCxnSpPr>
        <p:spPr>
          <a:xfrm flipV="1">
            <a:off x="7340600" y="3933825"/>
            <a:ext cx="327025" cy="576263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3820" name="AutoShape 34"/>
          <p:cNvCxnSpPr/>
          <p:nvPr/>
        </p:nvCxnSpPr>
        <p:spPr>
          <a:xfrm flipV="1">
            <a:off x="7667625" y="4652963"/>
            <a:ext cx="327025" cy="576262"/>
          </a:xfrm>
          <a:prstGeom prst="curvedConnector2">
            <a:avLst/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cxnSp>
        <p:nvCxnSpPr>
          <p:cNvPr id="33821" name="AutoShape 35"/>
          <p:cNvCxnSpPr>
            <a:stCxn id="33799" idx="6"/>
            <a:endCxn id="33815" idx="3"/>
          </p:cNvCxnSpPr>
          <p:nvPr/>
        </p:nvCxnSpPr>
        <p:spPr>
          <a:xfrm flipH="1" flipV="1">
            <a:off x="7810500" y="2349500"/>
            <a:ext cx="720725" cy="2836863"/>
          </a:xfrm>
          <a:prstGeom prst="curvedConnector4">
            <a:avLst>
              <a:gd name="adj1" fmla="val -31718"/>
              <a:gd name="adj2" fmla="val 109736"/>
            </a:avLst>
          </a:prstGeom>
          <a:ln w="25400" cap="flat" cmpd="sng">
            <a:solidFill>
              <a:schemeClr val="hlink"/>
            </a:solidFill>
            <a:prstDash val="dash"/>
            <a:round/>
            <a:headEnd type="none" w="med" len="med"/>
            <a:tailEnd type="triangle" w="lg" len="lg"/>
          </a:ln>
        </p:spPr>
      </p:cxnSp>
      <p:sp>
        <p:nvSpPr>
          <p:cNvPr id="33822" name="Line 36"/>
          <p:cNvSpPr/>
          <p:nvPr/>
        </p:nvSpPr>
        <p:spPr>
          <a:xfrm>
            <a:off x="6877050" y="2276475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61" name="Rectangle 37"/>
          <p:cNvSpPr/>
          <p:nvPr/>
        </p:nvSpPr>
        <p:spPr>
          <a:xfrm>
            <a:off x="6659563" y="1916113"/>
            <a:ext cx="360362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6263" y="3943350"/>
            <a:ext cx="5441950" cy="2740025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 (p-&gt;RightThread==1) p=p-&gt;Right ;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 find the successor with right thread*/ 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else          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 otherwise the left most node of the      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right  subtree is the successor*/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{  p=p-&gt;Right ;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while (p-&gt;LeftThread==0 )  p=p-&gt;Left;   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charRg st="19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15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charRg st="115" end="3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61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50688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Find the first node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p=T;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while  (p-&gt;LeftThread==0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p=p-&gt;Left;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/>
              <a:t>Find the successor nodes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3600" b="1" dirty="0"/>
              <a:t>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if  (p-&gt;RightThread==1) p=p-&gt;Right ;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            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/*  find the successor with right thread*/ 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else         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/*  otherwise the left most node of the      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                    right  subtree is the successor*/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      {  p=p-&gt;Right ;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          while (p-&gt;LeftThread==0 )  p=p-&gt;Left;  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charRg st="4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94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charRg st="94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19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charRg st="119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63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651">
                                            <p:txEl>
                                              <p:charRg st="163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235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charRg st="235" end="3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310" end="3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651">
                                            <p:txEl>
                                              <p:charRg st="310" end="3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376" end="4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651">
                                            <p:txEl>
                                              <p:charRg st="376" end="4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14" end="4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charRg st="414" end="4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81" end="5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651">
                                            <p:txEl>
                                              <p:charRg st="481" end="5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1" name="Text Box 2"/>
          <p:cNvSpPr txBox="1"/>
          <p:nvPr/>
        </p:nvSpPr>
        <p:spPr>
          <a:xfrm>
            <a:off x="152400" y="231775"/>
            <a:ext cx="8562975" cy="6783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1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Comic Sans MS" panose="030F0702030302020204" pitchFamily="66" charset="0"/>
                <a:ea typeface="宋体" panose="02010600030101010101" pitchFamily="2" charset="-122"/>
              </a:rPr>
              <a:t>Traverse Inorder Threaded BT</a:t>
            </a:r>
            <a:endParaRPr lang="en-US" altLang="zh-CN" sz="28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inorder_Thread_bt(ThreadTree T)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{ PtrToThreadedNode</a:t>
            </a: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 ;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 (T!=NULL)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{   p=T;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while  (p-&gt;LeftThread==0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  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p=p-&gt;Left;   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 find the left most node  */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 (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p!=T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{   visit(p-&gt;data)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 (p-&gt;RightThread==1)     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p=p-&gt;Right ;    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 find the successor 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with right thread  */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else    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 otherwise the 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left most node of the right subtree is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the successor*/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{  p=p-&gt;Right ;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while (p-&gt;LeftThread==0 )  p=p-&gt;Left;    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}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079500" lvl="3" indent="0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}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55600" lvl="1" indent="0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}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42" name="组合 60"/>
          <p:cNvGrpSpPr/>
          <p:nvPr/>
        </p:nvGrpSpPr>
        <p:grpSpPr>
          <a:xfrm>
            <a:off x="5407025" y="642938"/>
            <a:ext cx="3736975" cy="3786187"/>
            <a:chOff x="2895600" y="954088"/>
            <a:chExt cx="5913438" cy="4754562"/>
          </a:xfrm>
        </p:grpSpPr>
        <p:sp>
          <p:nvSpPr>
            <p:cNvPr id="35843" name="Rectangle 40"/>
            <p:cNvSpPr/>
            <p:nvPr/>
          </p:nvSpPr>
          <p:spPr>
            <a:xfrm>
              <a:off x="4876800" y="168592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4" name="Rectangle 41"/>
            <p:cNvSpPr/>
            <p:nvPr/>
          </p:nvSpPr>
          <p:spPr>
            <a:xfrm>
              <a:off x="5151438" y="1685925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5" name="Rectangle 42"/>
            <p:cNvSpPr/>
            <p:nvPr/>
          </p:nvSpPr>
          <p:spPr>
            <a:xfrm>
              <a:off x="5426075" y="1685925"/>
              <a:ext cx="273050" cy="274638"/>
            </a:xfrm>
            <a:prstGeom prst="rect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6" name="Rectangle 43"/>
            <p:cNvSpPr/>
            <p:nvPr/>
          </p:nvSpPr>
          <p:spPr>
            <a:xfrm>
              <a:off x="5699125" y="168592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7" name="Rectangle 44"/>
            <p:cNvSpPr/>
            <p:nvPr/>
          </p:nvSpPr>
          <p:spPr>
            <a:xfrm>
              <a:off x="5973763" y="1685925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Rectangle 45"/>
            <p:cNvSpPr/>
            <p:nvPr/>
          </p:nvSpPr>
          <p:spPr>
            <a:xfrm>
              <a:off x="4419600" y="2508250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Rectangle 46"/>
            <p:cNvSpPr/>
            <p:nvPr/>
          </p:nvSpPr>
          <p:spPr>
            <a:xfrm>
              <a:off x="4694238" y="2508250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Rectangle 47"/>
            <p:cNvSpPr/>
            <p:nvPr/>
          </p:nvSpPr>
          <p:spPr>
            <a:xfrm>
              <a:off x="4968875" y="2508250"/>
              <a:ext cx="273050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Rectangle 48"/>
            <p:cNvSpPr/>
            <p:nvPr/>
          </p:nvSpPr>
          <p:spPr>
            <a:xfrm>
              <a:off x="5241925" y="2508250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Rectangle 49"/>
            <p:cNvSpPr/>
            <p:nvPr/>
          </p:nvSpPr>
          <p:spPr>
            <a:xfrm>
              <a:off x="5516563" y="2508250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3" name="Rectangle 50"/>
            <p:cNvSpPr/>
            <p:nvPr/>
          </p:nvSpPr>
          <p:spPr>
            <a:xfrm>
              <a:off x="3413125" y="3332163"/>
              <a:ext cx="274638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4" name="Rectangle 51"/>
            <p:cNvSpPr/>
            <p:nvPr/>
          </p:nvSpPr>
          <p:spPr>
            <a:xfrm>
              <a:off x="3687763" y="3332163"/>
              <a:ext cx="274637" cy="273050"/>
            </a:xfrm>
            <a:prstGeom prst="rect">
              <a:avLst/>
            </a:prstGeom>
            <a:solidFill>
              <a:srgbClr val="FFCC99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5" name="Rectangle 52"/>
            <p:cNvSpPr/>
            <p:nvPr/>
          </p:nvSpPr>
          <p:spPr>
            <a:xfrm>
              <a:off x="3962400" y="3332163"/>
              <a:ext cx="274638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6" name="Rectangle 53"/>
            <p:cNvSpPr/>
            <p:nvPr/>
          </p:nvSpPr>
          <p:spPr>
            <a:xfrm>
              <a:off x="4237038" y="3332163"/>
              <a:ext cx="274637" cy="273050"/>
            </a:xfrm>
            <a:prstGeom prst="rect">
              <a:avLst/>
            </a:prstGeom>
            <a:solidFill>
              <a:srgbClr val="CC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7" name="Rectangle 54"/>
            <p:cNvSpPr/>
            <p:nvPr/>
          </p:nvSpPr>
          <p:spPr>
            <a:xfrm>
              <a:off x="4511675" y="3332163"/>
              <a:ext cx="273050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8" name="Rectangle 55"/>
            <p:cNvSpPr/>
            <p:nvPr/>
          </p:nvSpPr>
          <p:spPr>
            <a:xfrm>
              <a:off x="5516563" y="3332163"/>
              <a:ext cx="274637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9" name="Rectangle 56"/>
            <p:cNvSpPr/>
            <p:nvPr/>
          </p:nvSpPr>
          <p:spPr>
            <a:xfrm>
              <a:off x="5791200" y="3332163"/>
              <a:ext cx="274638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0" name="Rectangle 57"/>
            <p:cNvSpPr/>
            <p:nvPr/>
          </p:nvSpPr>
          <p:spPr>
            <a:xfrm>
              <a:off x="6065838" y="3332163"/>
              <a:ext cx="274637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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1" name="Rectangle 58"/>
            <p:cNvSpPr/>
            <p:nvPr/>
          </p:nvSpPr>
          <p:spPr>
            <a:xfrm>
              <a:off x="6340475" y="3332163"/>
              <a:ext cx="274638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2" name="Rectangle 59"/>
            <p:cNvSpPr/>
            <p:nvPr/>
          </p:nvSpPr>
          <p:spPr>
            <a:xfrm>
              <a:off x="6615113" y="3332163"/>
              <a:ext cx="273050" cy="27305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3" name="Rectangle 60"/>
            <p:cNvSpPr/>
            <p:nvPr/>
          </p:nvSpPr>
          <p:spPr>
            <a:xfrm>
              <a:off x="4694238" y="4244975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4" name="Rectangle 61"/>
            <p:cNvSpPr/>
            <p:nvPr/>
          </p:nvSpPr>
          <p:spPr>
            <a:xfrm>
              <a:off x="4968875" y="4244975"/>
              <a:ext cx="273050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5" name="Rectangle 62"/>
            <p:cNvSpPr/>
            <p:nvPr/>
          </p:nvSpPr>
          <p:spPr>
            <a:xfrm>
              <a:off x="5241925" y="424497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endPara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6" name="Rectangle 63"/>
            <p:cNvSpPr/>
            <p:nvPr/>
          </p:nvSpPr>
          <p:spPr>
            <a:xfrm>
              <a:off x="5516563" y="4244975"/>
              <a:ext cx="274637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7" name="Rectangle 64"/>
            <p:cNvSpPr/>
            <p:nvPr/>
          </p:nvSpPr>
          <p:spPr>
            <a:xfrm>
              <a:off x="5791200" y="424497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8" name="Rectangle 65"/>
            <p:cNvSpPr/>
            <p:nvPr/>
          </p:nvSpPr>
          <p:spPr>
            <a:xfrm>
              <a:off x="6615113" y="4244975"/>
              <a:ext cx="273050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9" name="Rectangle 66"/>
            <p:cNvSpPr/>
            <p:nvPr/>
          </p:nvSpPr>
          <p:spPr>
            <a:xfrm>
              <a:off x="6888163" y="4244975"/>
              <a:ext cx="274637" cy="274638"/>
            </a:xfrm>
            <a:prstGeom prst="rect">
              <a:avLst/>
            </a:prstGeom>
            <a:solidFill>
              <a:srgbClr val="FFCC99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0" name="Rectangle 67"/>
            <p:cNvSpPr/>
            <p:nvPr/>
          </p:nvSpPr>
          <p:spPr>
            <a:xfrm>
              <a:off x="7162800" y="424497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1" name="Rectangle 68"/>
            <p:cNvSpPr/>
            <p:nvPr/>
          </p:nvSpPr>
          <p:spPr>
            <a:xfrm>
              <a:off x="7437438" y="4244975"/>
              <a:ext cx="274637" cy="274638"/>
            </a:xfrm>
            <a:prstGeom prst="rect">
              <a:avLst/>
            </a:prstGeom>
            <a:solidFill>
              <a:srgbClr val="CC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2" name="Rectangle 69"/>
            <p:cNvSpPr/>
            <p:nvPr/>
          </p:nvSpPr>
          <p:spPr>
            <a:xfrm>
              <a:off x="7712075" y="4244975"/>
              <a:ext cx="274638" cy="27463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3" name="Rectangle 70"/>
            <p:cNvSpPr/>
            <p:nvPr/>
          </p:nvSpPr>
          <p:spPr>
            <a:xfrm>
              <a:off x="3962400" y="5068888"/>
              <a:ext cx="274638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4" name="Rectangle 71"/>
            <p:cNvSpPr/>
            <p:nvPr/>
          </p:nvSpPr>
          <p:spPr>
            <a:xfrm>
              <a:off x="4237038" y="5068888"/>
              <a:ext cx="274637" cy="274637"/>
            </a:xfrm>
            <a:prstGeom prst="rect">
              <a:avLst/>
            </a:prstGeom>
            <a:solidFill>
              <a:srgbClr val="FFCC99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5" name="Rectangle 72"/>
            <p:cNvSpPr/>
            <p:nvPr/>
          </p:nvSpPr>
          <p:spPr>
            <a:xfrm>
              <a:off x="4511675" y="5068888"/>
              <a:ext cx="273050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6" name="Rectangle 73"/>
            <p:cNvSpPr/>
            <p:nvPr/>
          </p:nvSpPr>
          <p:spPr>
            <a:xfrm>
              <a:off x="4784725" y="5068888"/>
              <a:ext cx="274638" cy="274637"/>
            </a:xfrm>
            <a:prstGeom prst="rect">
              <a:avLst/>
            </a:prstGeom>
            <a:solidFill>
              <a:srgbClr val="CC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7" name="Rectangle 74"/>
            <p:cNvSpPr/>
            <p:nvPr/>
          </p:nvSpPr>
          <p:spPr>
            <a:xfrm>
              <a:off x="5059363" y="5068888"/>
              <a:ext cx="274637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8" name="Rectangle 75"/>
            <p:cNvSpPr/>
            <p:nvPr/>
          </p:nvSpPr>
          <p:spPr>
            <a:xfrm>
              <a:off x="5699125" y="5068888"/>
              <a:ext cx="274638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9" name="Rectangle 76"/>
            <p:cNvSpPr/>
            <p:nvPr/>
          </p:nvSpPr>
          <p:spPr>
            <a:xfrm>
              <a:off x="5973763" y="5068888"/>
              <a:ext cx="274637" cy="274637"/>
            </a:xfrm>
            <a:prstGeom prst="rect">
              <a:avLst/>
            </a:prstGeom>
            <a:solidFill>
              <a:srgbClr val="FFCC99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0" name="Rectangle 77"/>
            <p:cNvSpPr/>
            <p:nvPr/>
          </p:nvSpPr>
          <p:spPr>
            <a:xfrm>
              <a:off x="6248400" y="5068888"/>
              <a:ext cx="274638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1" name="Rectangle 78"/>
            <p:cNvSpPr/>
            <p:nvPr/>
          </p:nvSpPr>
          <p:spPr>
            <a:xfrm>
              <a:off x="6523038" y="5068888"/>
              <a:ext cx="274637" cy="274637"/>
            </a:xfrm>
            <a:prstGeom prst="rect">
              <a:avLst/>
            </a:prstGeom>
            <a:solidFill>
              <a:srgbClr val="CC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2" name="Rectangle 79"/>
            <p:cNvSpPr/>
            <p:nvPr/>
          </p:nvSpPr>
          <p:spPr>
            <a:xfrm>
              <a:off x="6797675" y="5068888"/>
              <a:ext cx="274638" cy="27463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3" name="Rectangle 80"/>
            <p:cNvSpPr/>
            <p:nvPr/>
          </p:nvSpPr>
          <p:spPr>
            <a:xfrm>
              <a:off x="5241925" y="954088"/>
              <a:ext cx="1373188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4" name="Line 81"/>
            <p:cNvSpPr/>
            <p:nvPr/>
          </p:nvSpPr>
          <p:spPr>
            <a:xfrm flipH="1">
              <a:off x="5516563" y="1319213"/>
              <a:ext cx="366712" cy="366712"/>
            </a:xfrm>
            <a:prstGeom prst="line">
              <a:avLst/>
            </a:prstGeom>
            <a:ln w="25400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85" name="Line 82"/>
            <p:cNvSpPr/>
            <p:nvPr/>
          </p:nvSpPr>
          <p:spPr>
            <a:xfrm flipH="1">
              <a:off x="5151438" y="1868488"/>
              <a:ext cx="133350" cy="63976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86" name="Arc 83"/>
            <p:cNvSpPr/>
            <p:nvPr/>
          </p:nvSpPr>
          <p:spPr>
            <a:xfrm rot="5400000" flipV="1">
              <a:off x="5883275" y="1411288"/>
              <a:ext cx="914400" cy="914400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3200" h="43200" fill="none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3213"/>
                    <a:pt x="4854" y="5584"/>
                    <a:pt x="12451" y="2032"/>
                  </a:cubicBezTo>
                </a:path>
                <a:path w="43200" h="43200" stroke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3213"/>
                    <a:pt x="4854" y="5584"/>
                    <a:pt x="12451" y="2032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87" name="Line 84"/>
            <p:cNvSpPr/>
            <p:nvPr/>
          </p:nvSpPr>
          <p:spPr>
            <a:xfrm flipH="1">
              <a:off x="4054475" y="2690813"/>
              <a:ext cx="730250" cy="64135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88" name="Line 85"/>
            <p:cNvSpPr/>
            <p:nvPr/>
          </p:nvSpPr>
          <p:spPr>
            <a:xfrm>
              <a:off x="5373688" y="2690813"/>
              <a:ext cx="823912" cy="64135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89" name="Line 86"/>
            <p:cNvSpPr/>
            <p:nvPr/>
          </p:nvSpPr>
          <p:spPr>
            <a:xfrm flipH="1">
              <a:off x="5334000" y="3514725"/>
              <a:ext cx="639763" cy="73025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90" name="Line 87"/>
            <p:cNvSpPr/>
            <p:nvPr/>
          </p:nvSpPr>
          <p:spPr>
            <a:xfrm>
              <a:off x="6430963" y="3514725"/>
              <a:ext cx="914400" cy="73025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91" name="Line 88"/>
            <p:cNvSpPr/>
            <p:nvPr/>
          </p:nvSpPr>
          <p:spPr>
            <a:xfrm flipH="1">
              <a:off x="4694238" y="4429125"/>
              <a:ext cx="457200" cy="639763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92" name="Line 89"/>
            <p:cNvSpPr/>
            <p:nvPr/>
          </p:nvSpPr>
          <p:spPr>
            <a:xfrm>
              <a:off x="5649913" y="4429125"/>
              <a:ext cx="731837" cy="639763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5893" name="Freeform 90"/>
            <p:cNvSpPr/>
            <p:nvPr/>
          </p:nvSpPr>
          <p:spPr>
            <a:xfrm>
              <a:off x="2895600" y="1381125"/>
              <a:ext cx="2620963" cy="24225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376" h="1272">
                  <a:moveTo>
                    <a:pt x="464" y="1120"/>
                  </a:moveTo>
                  <a:cubicBezTo>
                    <a:pt x="400" y="1188"/>
                    <a:pt x="336" y="1256"/>
                    <a:pt x="272" y="1264"/>
                  </a:cubicBezTo>
                  <a:cubicBezTo>
                    <a:pt x="208" y="1272"/>
                    <a:pt x="112" y="1232"/>
                    <a:pt x="80" y="1168"/>
                  </a:cubicBezTo>
                  <a:cubicBezTo>
                    <a:pt x="48" y="1104"/>
                    <a:pt x="0" y="1032"/>
                    <a:pt x="80" y="880"/>
                  </a:cubicBezTo>
                  <a:cubicBezTo>
                    <a:pt x="160" y="728"/>
                    <a:pt x="392" y="400"/>
                    <a:pt x="560" y="256"/>
                  </a:cubicBezTo>
                  <a:cubicBezTo>
                    <a:pt x="728" y="112"/>
                    <a:pt x="952" y="32"/>
                    <a:pt x="1088" y="16"/>
                  </a:cubicBezTo>
                  <a:cubicBezTo>
                    <a:pt x="1224" y="0"/>
                    <a:pt x="1300" y="80"/>
                    <a:pt x="1376" y="16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4" name="Freeform 91"/>
            <p:cNvSpPr/>
            <p:nvPr/>
          </p:nvSpPr>
          <p:spPr>
            <a:xfrm>
              <a:off x="4327525" y="2782888"/>
              <a:ext cx="731838" cy="1020762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pathLst>
                <a:path w="384" h="536">
                  <a:moveTo>
                    <a:pt x="0" y="384"/>
                  </a:moveTo>
                  <a:cubicBezTo>
                    <a:pt x="68" y="452"/>
                    <a:pt x="136" y="520"/>
                    <a:pt x="192" y="528"/>
                  </a:cubicBezTo>
                  <a:cubicBezTo>
                    <a:pt x="248" y="536"/>
                    <a:pt x="304" y="520"/>
                    <a:pt x="336" y="432"/>
                  </a:cubicBezTo>
                  <a:cubicBezTo>
                    <a:pt x="368" y="344"/>
                    <a:pt x="376" y="172"/>
                    <a:pt x="384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5" name="Freeform 92"/>
            <p:cNvSpPr/>
            <p:nvPr/>
          </p:nvSpPr>
          <p:spPr>
            <a:xfrm>
              <a:off x="3382963" y="2782888"/>
              <a:ext cx="1814512" cy="28797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pathLst>
                <a:path w="952" h="1512">
                  <a:moveTo>
                    <a:pt x="496" y="1296"/>
                  </a:moveTo>
                  <a:cubicBezTo>
                    <a:pt x="432" y="1380"/>
                    <a:pt x="368" y="1464"/>
                    <a:pt x="304" y="1488"/>
                  </a:cubicBezTo>
                  <a:cubicBezTo>
                    <a:pt x="240" y="1512"/>
                    <a:pt x="144" y="1504"/>
                    <a:pt x="112" y="1440"/>
                  </a:cubicBezTo>
                  <a:cubicBezTo>
                    <a:pt x="80" y="1376"/>
                    <a:pt x="0" y="1240"/>
                    <a:pt x="112" y="1104"/>
                  </a:cubicBezTo>
                  <a:cubicBezTo>
                    <a:pt x="224" y="968"/>
                    <a:pt x="648" y="744"/>
                    <a:pt x="784" y="624"/>
                  </a:cubicBezTo>
                  <a:cubicBezTo>
                    <a:pt x="920" y="504"/>
                    <a:pt x="904" y="488"/>
                    <a:pt x="928" y="384"/>
                  </a:cubicBezTo>
                  <a:cubicBezTo>
                    <a:pt x="952" y="280"/>
                    <a:pt x="940" y="140"/>
                    <a:pt x="928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6" name="Freeform 93"/>
            <p:cNvSpPr/>
            <p:nvPr/>
          </p:nvSpPr>
          <p:spPr>
            <a:xfrm>
              <a:off x="5426075" y="4519613"/>
              <a:ext cx="639763" cy="1189037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384" h="624">
                  <a:moveTo>
                    <a:pt x="384" y="384"/>
                  </a:moveTo>
                  <a:cubicBezTo>
                    <a:pt x="316" y="468"/>
                    <a:pt x="248" y="552"/>
                    <a:pt x="192" y="576"/>
                  </a:cubicBezTo>
                  <a:cubicBezTo>
                    <a:pt x="136" y="600"/>
                    <a:pt x="80" y="624"/>
                    <a:pt x="48" y="528"/>
                  </a:cubicBezTo>
                  <a:cubicBezTo>
                    <a:pt x="16" y="432"/>
                    <a:pt x="8" y="216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7" name="Freeform 94"/>
            <p:cNvSpPr/>
            <p:nvPr/>
          </p:nvSpPr>
          <p:spPr>
            <a:xfrm flipH="1">
              <a:off x="4876800" y="4519613"/>
              <a:ext cx="549275" cy="1189037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384" h="624">
                  <a:moveTo>
                    <a:pt x="384" y="384"/>
                  </a:moveTo>
                  <a:cubicBezTo>
                    <a:pt x="316" y="468"/>
                    <a:pt x="248" y="552"/>
                    <a:pt x="192" y="576"/>
                  </a:cubicBezTo>
                  <a:cubicBezTo>
                    <a:pt x="136" y="600"/>
                    <a:pt x="80" y="624"/>
                    <a:pt x="48" y="528"/>
                  </a:cubicBezTo>
                  <a:cubicBezTo>
                    <a:pt x="16" y="432"/>
                    <a:pt x="8" y="216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8" name="Freeform 95"/>
            <p:cNvSpPr/>
            <p:nvPr/>
          </p:nvSpPr>
          <p:spPr>
            <a:xfrm>
              <a:off x="6096000" y="3605213"/>
              <a:ext cx="1493838" cy="2103437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pathLst>
                <a:path w="784" h="1104">
                  <a:moveTo>
                    <a:pt x="272" y="864"/>
                  </a:moveTo>
                  <a:cubicBezTo>
                    <a:pt x="332" y="944"/>
                    <a:pt x="392" y="1024"/>
                    <a:pt x="464" y="1056"/>
                  </a:cubicBezTo>
                  <a:cubicBezTo>
                    <a:pt x="536" y="1088"/>
                    <a:pt x="664" y="1104"/>
                    <a:pt x="704" y="1056"/>
                  </a:cubicBezTo>
                  <a:cubicBezTo>
                    <a:pt x="744" y="1008"/>
                    <a:pt x="784" y="840"/>
                    <a:pt x="704" y="768"/>
                  </a:cubicBezTo>
                  <a:cubicBezTo>
                    <a:pt x="624" y="696"/>
                    <a:pt x="336" y="704"/>
                    <a:pt x="224" y="624"/>
                  </a:cubicBezTo>
                  <a:cubicBezTo>
                    <a:pt x="112" y="544"/>
                    <a:pt x="64" y="392"/>
                    <a:pt x="32" y="288"/>
                  </a:cubicBezTo>
                  <a:cubicBezTo>
                    <a:pt x="0" y="184"/>
                    <a:pt x="16" y="92"/>
                    <a:pt x="32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99" name="Freeform 96"/>
            <p:cNvSpPr/>
            <p:nvPr/>
          </p:nvSpPr>
          <p:spPr>
            <a:xfrm>
              <a:off x="6218238" y="3605213"/>
              <a:ext cx="762000" cy="12192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pathLst>
                <a:path w="400" h="640">
                  <a:moveTo>
                    <a:pt x="400" y="432"/>
                  </a:moveTo>
                  <a:cubicBezTo>
                    <a:pt x="400" y="520"/>
                    <a:pt x="400" y="608"/>
                    <a:pt x="352" y="624"/>
                  </a:cubicBezTo>
                  <a:cubicBezTo>
                    <a:pt x="304" y="640"/>
                    <a:pt x="168" y="600"/>
                    <a:pt x="112" y="528"/>
                  </a:cubicBezTo>
                  <a:cubicBezTo>
                    <a:pt x="56" y="456"/>
                    <a:pt x="32" y="280"/>
                    <a:pt x="16" y="192"/>
                  </a:cubicBezTo>
                  <a:cubicBezTo>
                    <a:pt x="0" y="104"/>
                    <a:pt x="8" y="52"/>
                    <a:pt x="16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900" name="Freeform 97"/>
            <p:cNvSpPr/>
            <p:nvPr/>
          </p:nvSpPr>
          <p:spPr>
            <a:xfrm>
              <a:off x="5883275" y="1289050"/>
              <a:ext cx="2925763" cy="36115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1536" h="1896">
                  <a:moveTo>
                    <a:pt x="864" y="1648"/>
                  </a:moveTo>
                  <a:cubicBezTo>
                    <a:pt x="924" y="1712"/>
                    <a:pt x="984" y="1776"/>
                    <a:pt x="1056" y="1792"/>
                  </a:cubicBezTo>
                  <a:cubicBezTo>
                    <a:pt x="1128" y="1808"/>
                    <a:pt x="1240" y="1896"/>
                    <a:pt x="1296" y="1744"/>
                  </a:cubicBezTo>
                  <a:cubicBezTo>
                    <a:pt x="1352" y="1592"/>
                    <a:pt x="1536" y="1152"/>
                    <a:pt x="1392" y="880"/>
                  </a:cubicBezTo>
                  <a:cubicBezTo>
                    <a:pt x="1248" y="608"/>
                    <a:pt x="664" y="224"/>
                    <a:pt x="432" y="112"/>
                  </a:cubicBezTo>
                  <a:cubicBezTo>
                    <a:pt x="200" y="0"/>
                    <a:pt x="100" y="104"/>
                    <a:pt x="0" y="208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dashDot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762000" y="762000"/>
            <a:ext cx="6870700" cy="762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Binary Search Tree</a:t>
            </a:r>
            <a:br>
              <a:rPr lang="en-US" altLang="zh-CN" dirty="0"/>
            </a:br>
            <a:r>
              <a:rPr lang="zh-CN" altLang="zh-CN" sz="2800" dirty="0"/>
              <a:t>（二叉排序树）</a:t>
            </a:r>
            <a:endParaRPr lang="zh-CN" altLang="zh-CN" sz="28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696200" cy="5334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binary search tree may be empty.  If it is not empty,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suppose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every node has a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which is an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integer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the keys are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distinct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For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EVERY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node 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All the keys in its left </a:t>
            </a:r>
            <a:b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</a:b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subtree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are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smaller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than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the key value in X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All the keys in its right </a:t>
            </a:r>
            <a:b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</a:b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subtree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are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larger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than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Times New Roman" panose="02020603050405020304" pitchFamily="18" charset="0"/>
              </a:rPr>
              <a:t>   the  key value in X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4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3030538"/>
            <a:ext cx="4038600" cy="3141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0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33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charRg st="133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53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charRg st="153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0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charRg st="200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2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243">
                                            <p:txEl>
                                              <p:charRg st="227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79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243">
                                            <p:txEl>
                                              <p:charRg st="279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028700" y="2590800"/>
            <a:ext cx="1905000" cy="1600200"/>
            <a:chOff x="624" y="2784"/>
            <a:chExt cx="1200" cy="1008"/>
          </a:xfrm>
        </p:grpSpPr>
        <p:sp>
          <p:nvSpPr>
            <p:cNvPr id="6177" name="Oval 5"/>
            <p:cNvSpPr/>
            <p:nvPr/>
          </p:nvSpPr>
          <p:spPr>
            <a:xfrm>
              <a:off x="1296" y="278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8" name="Oval 6"/>
            <p:cNvSpPr/>
            <p:nvPr/>
          </p:nvSpPr>
          <p:spPr>
            <a:xfrm>
              <a:off x="912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9" name="Oval 7"/>
            <p:cNvSpPr/>
            <p:nvPr/>
          </p:nvSpPr>
          <p:spPr>
            <a:xfrm>
              <a:off x="624" y="35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0" name="Line 8"/>
            <p:cNvSpPr/>
            <p:nvPr/>
          </p:nvSpPr>
          <p:spPr>
            <a:xfrm flipH="1">
              <a:off x="793" y="338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1" name="Line 9"/>
            <p:cNvSpPr/>
            <p:nvPr/>
          </p:nvSpPr>
          <p:spPr>
            <a:xfrm flipH="1">
              <a:off x="1078" y="2976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2" name="Oval 10"/>
            <p:cNvSpPr/>
            <p:nvPr/>
          </p:nvSpPr>
          <p:spPr>
            <a:xfrm flipH="1">
              <a:off x="1584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3" name="Line 11"/>
            <p:cNvSpPr/>
            <p:nvPr/>
          </p:nvSpPr>
          <p:spPr>
            <a:xfrm>
              <a:off x="1509" y="297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2"/>
          <p:cNvGrpSpPr/>
          <p:nvPr/>
        </p:nvGrpSpPr>
        <p:grpSpPr>
          <a:xfrm>
            <a:off x="6362700" y="2667000"/>
            <a:ext cx="2247900" cy="1600200"/>
            <a:chOff x="720" y="2880"/>
            <a:chExt cx="1416" cy="1008"/>
          </a:xfrm>
        </p:grpSpPr>
        <p:sp>
          <p:nvSpPr>
            <p:cNvPr id="6165" name="Oval 13"/>
            <p:cNvSpPr/>
            <p:nvPr/>
          </p:nvSpPr>
          <p:spPr>
            <a:xfrm>
              <a:off x="1392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6" name="Oval 14"/>
            <p:cNvSpPr/>
            <p:nvPr/>
          </p:nvSpPr>
          <p:spPr>
            <a:xfrm>
              <a:off x="100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7" name="Oval 15"/>
            <p:cNvSpPr/>
            <p:nvPr/>
          </p:nvSpPr>
          <p:spPr>
            <a:xfrm>
              <a:off x="720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8" name="Line 16"/>
            <p:cNvSpPr/>
            <p:nvPr/>
          </p:nvSpPr>
          <p:spPr>
            <a:xfrm flipH="1">
              <a:off x="889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9" name="Line 17"/>
            <p:cNvSpPr/>
            <p:nvPr/>
          </p:nvSpPr>
          <p:spPr>
            <a:xfrm flipH="1">
              <a:off x="1174" y="3072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0" name="Oval 18"/>
            <p:cNvSpPr/>
            <p:nvPr/>
          </p:nvSpPr>
          <p:spPr>
            <a:xfrm flipH="1">
              <a:off x="1680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1" name="Line 19"/>
            <p:cNvSpPr/>
            <p:nvPr/>
          </p:nvSpPr>
          <p:spPr>
            <a:xfrm>
              <a:off x="1605" y="307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2" name="Oval 20"/>
            <p:cNvSpPr/>
            <p:nvPr/>
          </p:nvSpPr>
          <p:spPr>
            <a:xfrm flipH="1">
              <a:off x="1200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3" name="Line 21"/>
            <p:cNvSpPr/>
            <p:nvPr/>
          </p:nvSpPr>
          <p:spPr>
            <a:xfrm>
              <a:off x="1177" y="3482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174" name="Group 22"/>
            <p:cNvGrpSpPr/>
            <p:nvPr/>
          </p:nvGrpSpPr>
          <p:grpSpPr>
            <a:xfrm>
              <a:off x="1873" y="3460"/>
              <a:ext cx="263" cy="406"/>
              <a:chOff x="1801" y="3386"/>
              <a:chExt cx="263" cy="406"/>
            </a:xfrm>
          </p:grpSpPr>
          <p:sp>
            <p:nvSpPr>
              <p:cNvPr id="6175" name="Oval 23"/>
              <p:cNvSpPr/>
              <p:nvPr/>
            </p:nvSpPr>
            <p:spPr>
              <a:xfrm flipH="1">
                <a:off x="1824" y="355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76" name="Line 24"/>
              <p:cNvSpPr/>
              <p:nvPr/>
            </p:nvSpPr>
            <p:spPr>
              <a:xfrm>
                <a:off x="1801" y="3386"/>
                <a:ext cx="145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" name="Group 25"/>
          <p:cNvGrpSpPr/>
          <p:nvPr/>
        </p:nvGrpSpPr>
        <p:grpSpPr>
          <a:xfrm>
            <a:off x="3924300" y="2667000"/>
            <a:ext cx="1412875" cy="1566863"/>
            <a:chOff x="2446" y="2901"/>
            <a:chExt cx="890" cy="987"/>
          </a:xfrm>
        </p:grpSpPr>
        <p:sp>
          <p:nvSpPr>
            <p:cNvPr id="6158" name="Oval 26"/>
            <p:cNvSpPr/>
            <p:nvPr/>
          </p:nvSpPr>
          <p:spPr>
            <a:xfrm flipH="1">
              <a:off x="2446" y="2901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9" name="Oval 27"/>
            <p:cNvSpPr/>
            <p:nvPr/>
          </p:nvSpPr>
          <p:spPr>
            <a:xfrm flipH="1">
              <a:off x="280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0" name="Oval 28"/>
            <p:cNvSpPr/>
            <p:nvPr/>
          </p:nvSpPr>
          <p:spPr>
            <a:xfrm flipH="1">
              <a:off x="3096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1" name="Line 29"/>
            <p:cNvSpPr/>
            <p:nvPr/>
          </p:nvSpPr>
          <p:spPr>
            <a:xfrm>
              <a:off x="2977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2" name="Line 30"/>
            <p:cNvSpPr/>
            <p:nvPr/>
          </p:nvSpPr>
          <p:spPr>
            <a:xfrm>
              <a:off x="2664" y="3072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3" name="Oval 31"/>
            <p:cNvSpPr/>
            <p:nvPr/>
          </p:nvSpPr>
          <p:spPr>
            <a:xfrm>
              <a:off x="2616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4" name="Line 32"/>
            <p:cNvSpPr/>
            <p:nvPr/>
          </p:nvSpPr>
          <p:spPr>
            <a:xfrm flipH="1">
              <a:off x="2734" y="3482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1297" name="Object 33"/>
          <p:cNvGraphicFramePr>
            <a:graphicFrameLocks noChangeAspect="1"/>
          </p:cNvGraphicFramePr>
          <p:nvPr/>
        </p:nvGraphicFramePr>
        <p:xfrm>
          <a:off x="1981200" y="4495800"/>
          <a:ext cx="4143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54480" imgH="2286635" progId="MS_ClipArt_Gallery.2">
                  <p:embed/>
                </p:oleObj>
              </mc:Choice>
              <mc:Fallback>
                <p:oleObj name="" r:id="rId1" imgW="1554480" imgH="2286635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4495800"/>
                        <a:ext cx="41433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8" name="Object 34"/>
          <p:cNvGraphicFramePr>
            <a:graphicFrameLocks noChangeAspect="1"/>
          </p:cNvGraphicFramePr>
          <p:nvPr/>
        </p:nvGraphicFramePr>
        <p:xfrm>
          <a:off x="4572000" y="4495800"/>
          <a:ext cx="4143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554480" imgH="2286635" progId="MS_ClipArt_Gallery.2">
                  <p:embed/>
                </p:oleObj>
              </mc:Choice>
              <mc:Fallback>
                <p:oleObj name="" r:id="rId3" imgW="1554480" imgH="2286635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4495800"/>
                        <a:ext cx="41433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5"/>
          <p:cNvGrpSpPr/>
          <p:nvPr/>
        </p:nvGrpSpPr>
        <p:grpSpPr>
          <a:xfrm>
            <a:off x="7391400" y="4648200"/>
            <a:ext cx="457200" cy="409575"/>
            <a:chOff x="1680" y="3744"/>
            <a:chExt cx="288" cy="258"/>
          </a:xfrm>
        </p:grpSpPr>
        <p:sp>
          <p:nvSpPr>
            <p:cNvPr id="6154" name="AutoShape 36"/>
            <p:cNvSpPr/>
            <p:nvPr/>
          </p:nvSpPr>
          <p:spPr>
            <a:xfrm>
              <a:off x="1731" y="3768"/>
              <a:ext cx="226" cy="234"/>
            </a:xfrm>
            <a:prstGeom prst="roundRect">
              <a:avLst>
                <a:gd name="adj" fmla="val 12102"/>
              </a:avLst>
            </a:prstGeom>
            <a:noFill/>
            <a:ln w="952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6155" name="Group 37"/>
            <p:cNvGrpSpPr/>
            <p:nvPr/>
          </p:nvGrpSpPr>
          <p:grpSpPr>
            <a:xfrm rot="-5400000" flipH="1">
              <a:off x="1704" y="3720"/>
              <a:ext cx="240" cy="288"/>
              <a:chOff x="1728" y="3696"/>
              <a:chExt cx="288" cy="288"/>
            </a:xfrm>
          </p:grpSpPr>
          <p:sp>
            <p:nvSpPr>
              <p:cNvPr id="6156" name="Line 38"/>
              <p:cNvSpPr/>
              <p:nvPr/>
            </p:nvSpPr>
            <p:spPr>
              <a:xfrm>
                <a:off x="1728" y="3744"/>
                <a:ext cx="192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7" name="Line 39"/>
              <p:cNvSpPr/>
              <p:nvPr/>
            </p:nvSpPr>
            <p:spPr>
              <a:xfrm flipH="1">
                <a:off x="1728" y="3696"/>
                <a:ext cx="288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Text Box 4"/>
          <p:cNvSpPr txBox="1"/>
          <p:nvPr/>
        </p:nvSpPr>
        <p:spPr>
          <a:xfrm>
            <a:off x="609600" y="1531938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Objects</a:t>
            </a:r>
            <a:r>
              <a:rPr lang="en-US" altLang="zh-CN" sz="2400" b="1" dirty="0"/>
              <a:t>:  A finite ordered list with zero or more elements.</a:t>
            </a:r>
            <a:endParaRPr lang="en-US" altLang="zh-CN" sz="2400" b="1" dirty="0"/>
          </a:p>
        </p:txBody>
      </p:sp>
      <p:sp>
        <p:nvSpPr>
          <p:cNvPr id="12293" name="Rectangle 5"/>
          <p:cNvSpPr/>
          <p:nvPr/>
        </p:nvSpPr>
        <p:spPr>
          <a:xfrm>
            <a:off x="609600" y="2446338"/>
            <a:ext cx="7543800" cy="4106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spcAft>
                <a:spcPct val="40000"/>
              </a:spcAft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Operations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2000" b="1" dirty="0"/>
              <a:t>SearchTree  </a:t>
            </a:r>
            <a:r>
              <a:rPr lang="en-US" altLang="zh-CN" sz="2000" b="1" dirty="0">
                <a:solidFill>
                  <a:srgbClr val="008000"/>
                </a:solidFill>
              </a:rPr>
              <a:t>MakeEmpty</a:t>
            </a:r>
            <a:r>
              <a:rPr lang="en-US" altLang="zh-CN" sz="2000" b="1" dirty="0"/>
              <a:t>(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2000" b="1" dirty="0"/>
              <a:t>PtrToNode  </a:t>
            </a:r>
            <a:r>
              <a:rPr lang="en-US" altLang="zh-CN" sz="2000" b="1" dirty="0">
                <a:solidFill>
                  <a:srgbClr val="008000"/>
                </a:solidFill>
              </a:rPr>
              <a:t>Search</a:t>
            </a:r>
            <a:r>
              <a:rPr lang="en-US" altLang="zh-CN" sz="2000" b="1" dirty="0"/>
              <a:t>( int X,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1800" b="1" dirty="0"/>
              <a:t>PtrToNode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</a:rPr>
              <a:t>FindMin</a:t>
            </a:r>
            <a:r>
              <a:rPr lang="en-US" altLang="zh-CN" sz="2000" b="1" dirty="0"/>
              <a:t>(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1800" b="1" dirty="0"/>
              <a:t>PtrToNode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</a:rPr>
              <a:t>FindMax</a:t>
            </a:r>
            <a:r>
              <a:rPr lang="en-US" altLang="zh-CN" sz="2000" b="1" dirty="0"/>
              <a:t>(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2000" b="1" dirty="0"/>
              <a:t>SearchTree  </a:t>
            </a:r>
            <a:r>
              <a:rPr lang="en-US" altLang="zh-CN" sz="2000" b="1" dirty="0">
                <a:solidFill>
                  <a:srgbClr val="008000"/>
                </a:solidFill>
              </a:rPr>
              <a:t>Insert</a:t>
            </a:r>
            <a:r>
              <a:rPr lang="en-US" altLang="zh-CN" sz="2000" b="1" dirty="0"/>
              <a:t>( int X,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2000" b="1" dirty="0"/>
              <a:t>SearchTree  </a:t>
            </a:r>
            <a:r>
              <a:rPr lang="en-US" altLang="zh-CN" sz="2000" b="1" dirty="0">
                <a:solidFill>
                  <a:srgbClr val="008000"/>
                </a:solidFill>
              </a:rPr>
              <a:t>Delete</a:t>
            </a:r>
            <a:r>
              <a:rPr lang="en-US" altLang="zh-CN" sz="2000" b="1" dirty="0"/>
              <a:t>( int X, SearchTree T ); </a:t>
            </a:r>
            <a:endParaRPr lang="en-US" altLang="zh-CN" sz="2000" b="1" dirty="0"/>
          </a:p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 </a:t>
            </a:r>
            <a:r>
              <a:rPr lang="en-US" altLang="zh-CN" sz="2000" b="1" dirty="0"/>
              <a:t>int  </a:t>
            </a:r>
            <a:r>
              <a:rPr lang="en-US" altLang="zh-CN" sz="2000" b="1" dirty="0">
                <a:solidFill>
                  <a:srgbClr val="008000"/>
                </a:solidFill>
              </a:rPr>
              <a:t>Retrieve</a:t>
            </a:r>
            <a:r>
              <a:rPr lang="en-US" altLang="zh-CN" sz="2000" b="1" dirty="0"/>
              <a:t>( Position P ); </a:t>
            </a:r>
            <a:endParaRPr lang="en-US" altLang="zh-CN" sz="2000" b="1" dirty="0"/>
          </a:p>
        </p:txBody>
      </p:sp>
      <p:sp>
        <p:nvSpPr>
          <p:cNvPr id="7172" name="Rectangle 7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ADT of BST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122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0" y="1143000"/>
          <a:ext cx="5410200" cy="392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781425" imgH="2905125" progId="Paint.Picture">
                  <p:embed/>
                </p:oleObj>
              </mc:Choice>
              <mc:Fallback>
                <p:oleObj name="" r:id="rId1" imgW="3781425" imgH="29051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43000"/>
                        <a:ext cx="5410200" cy="3927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4038600" y="4394200"/>
          <a:ext cx="49530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3695700" imgH="1647825" progId="Paint.Picture">
                  <p:embed/>
                </p:oleObj>
              </mc:Choice>
              <mc:Fallback>
                <p:oleObj name="" r:id="rId3" imgW="3695700" imgH="164782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8600" y="4394200"/>
                        <a:ext cx="495300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/>
          <p:nvPr/>
        </p:nvSpPr>
        <p:spPr>
          <a:xfrm>
            <a:off x="685800" y="152400"/>
            <a:ext cx="68707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Searching BST</a:t>
            </a:r>
            <a:endParaRPr lang="en-US" altLang="zh-CN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2025" y="685800"/>
            <a:ext cx="3038475" cy="3133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AutoShape 5"/>
          <p:cNvSpPr/>
          <p:nvPr/>
        </p:nvSpPr>
        <p:spPr>
          <a:xfrm>
            <a:off x="22225" y="914400"/>
            <a:ext cx="6019800" cy="44196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216000" tIns="190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PtrToNode  Search( int X,  SearchTree 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T == NULL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 NULL;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not found in an empty tree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X &lt; T-&gt;Data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if smaller than root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return</a:t>
            </a:r>
            <a:r>
              <a:rPr lang="en-US" altLang="zh-CN" sz="1800" b="1" dirty="0">
                <a:latin typeface="Arial" panose="020B0604020202020204" pitchFamily="34" charset="0"/>
              </a:rPr>
              <a:t>  Search( X, T-&gt;Left );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search left subtree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else </a:t>
            </a: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if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 dirty="0">
                <a:latin typeface="Arial" panose="020B0604020202020204" pitchFamily="34" charset="0"/>
              </a:rPr>
              <a:t>( X &gt; T-&gt;Data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if larger than root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return </a:t>
            </a:r>
            <a:r>
              <a:rPr lang="en-US" altLang="zh-CN" sz="1800" b="1" dirty="0">
                <a:latin typeface="Arial" panose="020B0604020202020204" pitchFamily="34" charset="0"/>
              </a:rPr>
              <a:t> Search( X, T-&gt;Right );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search right subtree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if X == root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	  return</a:t>
            </a:r>
            <a:r>
              <a:rPr lang="en-US" altLang="zh-CN" sz="1800" b="1" dirty="0">
                <a:latin typeface="Arial" panose="020B0604020202020204" pitchFamily="34" charset="0"/>
              </a:rPr>
              <a:t>  T;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found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7414" name="Rectangle 6"/>
          <p:cNvSpPr/>
          <p:nvPr/>
        </p:nvSpPr>
        <p:spPr>
          <a:xfrm>
            <a:off x="1371600" y="61722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</a:t>
            </a:r>
            <a:endParaRPr lang="en-US" altLang="zh-CN" sz="20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0245" name="Rectangle 7"/>
          <p:cNvSpPr/>
          <p:nvPr/>
        </p:nvSpPr>
        <p:spPr>
          <a:xfrm>
            <a:off x="3276600" y="6172200"/>
            <a:ext cx="4114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O(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 where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the depth of X</a:t>
            </a:r>
            <a:endParaRPr lang="en-US" altLang="zh-CN" sz="20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/>
      <p:bldP spid="102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5" name="AutoShape 3"/>
          <p:cNvSpPr/>
          <p:nvPr/>
        </p:nvSpPr>
        <p:spPr>
          <a:xfrm>
            <a:off x="685800" y="685800"/>
            <a:ext cx="7772400" cy="47244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216000" tIns="190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PtrToNode  Iter_Find( int X,  SearchTree T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{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iterative version of Find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2000" b="1" dirty="0">
                <a:latin typeface="Arial" panose="020B0604020202020204" pitchFamily="34" charset="0"/>
              </a:rPr>
              <a:t>  ( T )   {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2000" b="1" dirty="0">
                <a:latin typeface="Arial" panose="020B0604020202020204" pitchFamily="34" charset="0"/>
              </a:rPr>
              <a:t> ( X == T-&gt;Data ) 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2000" b="1" dirty="0">
                <a:latin typeface="Arial" panose="020B0604020202020204" pitchFamily="34" charset="0"/>
              </a:rPr>
              <a:t> T ; 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found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if</a:t>
            </a:r>
            <a:r>
              <a:rPr lang="en-US" altLang="zh-CN" sz="2000" b="1" dirty="0">
                <a:latin typeface="Arial" panose="020B0604020202020204" pitchFamily="34" charset="0"/>
              </a:rPr>
              <a:t>  ( X &lt; T-&gt;Data )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       T = T-&gt;Left ;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/*move down along left path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else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	T = T-&gt; Right ;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move down along right path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} 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end while-loop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     return</a:t>
            </a:r>
            <a:r>
              <a:rPr lang="en-US" altLang="zh-CN" sz="2000" b="1" dirty="0">
                <a:latin typeface="Arial" panose="020B0604020202020204" pitchFamily="34" charset="0"/>
              </a:rPr>
              <a:t>  NULL ;  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not found */</a:t>
            </a:r>
            <a:endParaRPr lang="en-US" altLang="zh-CN" sz="20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 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TW" dirty="0">
                <a:ea typeface="PMingLiU" pitchFamily="18" charset="-120"/>
              </a:rPr>
              <a:t>Find</a:t>
            </a:r>
            <a:r>
              <a:rPr lang="en-US" altLang="zh-CN" dirty="0">
                <a:ea typeface="PMingLiU" pitchFamily="18" charset="-120"/>
              </a:rPr>
              <a:t> </a:t>
            </a:r>
            <a:r>
              <a:rPr lang="en-US" altLang="zh-TW" dirty="0">
                <a:ea typeface="PMingLiU" pitchFamily="18" charset="-120"/>
              </a:rPr>
              <a:t>Min/ </a:t>
            </a:r>
            <a:r>
              <a:rPr lang="en-US" altLang="zh-CN" dirty="0">
                <a:ea typeface="PMingLiU" pitchFamily="18" charset="-120"/>
              </a:rPr>
              <a:t>Fi</a:t>
            </a:r>
            <a:r>
              <a:rPr lang="en-US" altLang="zh-TW" dirty="0">
                <a:ea typeface="PMingLiU" pitchFamily="18" charset="-120"/>
              </a:rPr>
              <a:t>nd</a:t>
            </a:r>
            <a:r>
              <a:rPr lang="en-US" altLang="zh-CN" dirty="0">
                <a:ea typeface="PMingLiU" pitchFamily="18" charset="-120"/>
              </a:rPr>
              <a:t> </a:t>
            </a:r>
            <a:r>
              <a:rPr lang="en-US" altLang="zh-TW" dirty="0">
                <a:ea typeface="PMingLiU" pitchFamily="18" charset="-120"/>
              </a:rPr>
              <a:t>Max</a:t>
            </a:r>
            <a:endParaRPr lang="en-US" altLang="zh-CN" dirty="0">
              <a:ea typeface="PMingLiU" pitchFamily="18" charset="-120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PMingLiU" pitchFamily="18" charset="-120"/>
              </a:rPr>
              <a:t>Goal: return the node containing the </a:t>
            </a:r>
            <a:r>
              <a:rPr lang="en-US" altLang="zh-TW" b="1" i="1" dirty="0">
                <a:solidFill>
                  <a:srgbClr val="0066FF"/>
                </a:solidFill>
                <a:ea typeface="PMingLiU" pitchFamily="18" charset="-120"/>
              </a:rPr>
              <a:t>smallest (largest</a:t>
            </a:r>
            <a:r>
              <a:rPr lang="en-US" altLang="zh-TW" dirty="0">
                <a:ea typeface="PMingLiU" pitchFamily="18" charset="-120"/>
              </a:rPr>
              <a:t>) key in the tree</a:t>
            </a:r>
            <a:endParaRPr lang="en-US" altLang="zh-CN" dirty="0"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PMingLiU" pitchFamily="18" charset="-120"/>
              </a:rPr>
              <a:t>Algorithm: Start at the root and go </a:t>
            </a:r>
            <a:r>
              <a:rPr lang="en-US" altLang="zh-TW" b="1" i="1" dirty="0">
                <a:solidFill>
                  <a:srgbClr val="0066FF"/>
                </a:solidFill>
                <a:ea typeface="PMingLiU" pitchFamily="18" charset="-120"/>
              </a:rPr>
              <a:t>left (right)</a:t>
            </a:r>
            <a:r>
              <a:rPr lang="en-US" altLang="zh-TW" dirty="0">
                <a:ea typeface="PMingLiU" pitchFamily="18" charset="-120"/>
              </a:rPr>
              <a:t> as long as there is a left (right) child. The stopping point is the smallest (largest) element</a:t>
            </a:r>
            <a:endParaRPr lang="en-US" altLang="zh-TW" dirty="0"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73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charRg st="73" end="2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5"/>
          <p:cNvSpPr txBox="1"/>
          <p:nvPr>
            <p:custDataLst>
              <p:tags r:id="rId1"/>
            </p:custDataLst>
          </p:nvPr>
        </p:nvSpPr>
        <p:spPr>
          <a:xfrm>
            <a:off x="914400" y="428625"/>
            <a:ext cx="7315200" cy="5057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Fill the blank to make the program completed: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PtrToNode  FindMax( SearchTree T )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{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2800" b="1" dirty="0">
                <a:latin typeface="Arial" panose="020B0604020202020204" pitchFamily="34" charset="0"/>
              </a:rPr>
              <a:t>( T != NULL )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while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</a:rPr>
              <a:t>( </a:t>
            </a:r>
            <a:r>
              <a:rPr lang="en-US" altLang="zh-CN" sz="2800" b="1" u="sng" dirty="0">
                <a:latin typeface="Arial" panose="020B0604020202020204" pitchFamily="34" charset="0"/>
              </a:rPr>
              <a:t>                                   </a:t>
            </a:r>
            <a:r>
              <a:rPr lang="en-US" altLang="zh-CN" sz="2800" b="1" dirty="0">
                <a:latin typeface="Arial" panose="020B0604020202020204" pitchFamily="34" charset="0"/>
              </a:rPr>
              <a:t> ) 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           T = T-&gt;Right;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return</a:t>
            </a:r>
            <a:r>
              <a:rPr lang="en-US" altLang="zh-CN" sz="2800" b="1" dirty="0">
                <a:latin typeface="Arial" panose="020B0604020202020204" pitchFamily="34" charset="0"/>
              </a:rPr>
              <a:t> T</a:t>
            </a:r>
            <a:endParaRPr lang="en-US" altLang="zh-CN" sz="2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}</a:t>
            </a:r>
            <a:r>
              <a:rPr lang="en-US" altLang="zh-CN" sz="2800" b="1" dirty="0">
                <a:latin typeface="Arial Unicode MS" pitchFamily="34" charset="-122"/>
              </a:rPr>
              <a:t> </a:t>
            </a:r>
            <a:endParaRPr lang="en-US" altLang="zh-CN" sz="2800" b="1" dirty="0">
              <a:latin typeface="Arial Unicode MS" pitchFamily="3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84F4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8" name="文本框 9"/>
          <p:cNvSpPr txBox="1"/>
          <p:nvPr>
            <p:custDataLst>
              <p:tags r:id="rId5"/>
            </p:custDataLst>
          </p:nvPr>
        </p:nvSpPr>
        <p:spPr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319" name="文本框 10"/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33321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T-&gt;Right != NULL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320" name="组合 5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3" name="RemarkBack"/>
            <p:cNvSpPr/>
            <p:nvPr>
              <p:custDataLst>
                <p:tags r:id="rId7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markBlock"/>
            <p:cNvSpPr/>
            <p:nvPr>
              <p:custDataLst>
                <p:tags r:id="rId8"/>
              </p:custDataLst>
            </p:nvPr>
          </p:nvSpPr>
          <p:spPr>
            <a:xfrm>
              <a:off x="9537700" y="12700"/>
              <a:ext cx="190516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32" name="RemarkTitleText"/>
            <p:cNvSpPr txBox="1"/>
            <p:nvPr>
              <p:custDataLst>
                <p:tags r:id="rId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3324" name="组合 11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2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32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5" name="RemarkBack"/>
            <p:cNvSpPr/>
            <p:nvPr>
              <p:custDataLst>
                <p:tags r:id="rId15"/>
              </p:custDataLst>
            </p:nvPr>
          </p:nvSpPr>
          <p:spPr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markBlock"/>
            <p:cNvSpPr/>
            <p:nvPr>
              <p:custDataLst>
                <p:tags r:id="rId16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23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3325" name="图片 4"/>
          <p:cNvPicPr/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0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文本框 3"/>
          <p:cNvSpPr txBox="1"/>
          <p:nvPr>
            <p:custDataLst>
              <p:tags r:id="rId1"/>
            </p:custDataLst>
          </p:nvPr>
        </p:nvSpPr>
        <p:spPr>
          <a:xfrm>
            <a:off x="914400" y="428625"/>
            <a:ext cx="7315200" cy="53578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PtrToNode  FindMax( SearchTree T )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{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800" b="1" dirty="0">
                <a:latin typeface="Arial" panose="020B0604020202020204" pitchFamily="34" charset="0"/>
              </a:rPr>
              <a:t> ( T == NULL ) 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return</a:t>
            </a:r>
            <a:r>
              <a:rPr lang="en-US" altLang="zh-CN" sz="2800" b="1" dirty="0">
                <a:latin typeface="Arial" panose="020B0604020202020204" pitchFamily="34" charset="0"/>
              </a:rPr>
              <a:t>  NULL;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else 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2800" b="1" dirty="0">
                <a:latin typeface="Arial" panose="020B0604020202020204" pitchFamily="34" charset="0"/>
              </a:rPr>
              <a:t>( </a:t>
            </a:r>
            <a:r>
              <a:rPr lang="en-US" altLang="zh-CN" sz="2800" b="1" u="sng" dirty="0">
                <a:latin typeface="Arial" panose="020B0604020202020204" pitchFamily="34" charset="0"/>
              </a:rPr>
              <a:t>                                        </a:t>
            </a:r>
            <a:r>
              <a:rPr lang="en-US" altLang="zh-CN" sz="2800" b="1" dirty="0">
                <a:latin typeface="Arial" panose="020B0604020202020204" pitchFamily="34" charset="0"/>
              </a:rPr>
              <a:t> )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    return</a:t>
            </a:r>
            <a:r>
              <a:rPr lang="en-US" altLang="zh-CN" sz="2800" b="1" dirty="0">
                <a:latin typeface="Arial" panose="020B0604020202020204" pitchFamily="34" charset="0"/>
              </a:rPr>
              <a:t>  T; </a:t>
            </a:r>
            <a:endParaRPr lang="en-US" altLang="zh-CN" sz="2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else   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    return</a:t>
            </a:r>
            <a:r>
              <a:rPr lang="en-US" altLang="zh-CN" sz="2800" b="1" dirty="0">
                <a:latin typeface="Arial" panose="020B0604020202020204" pitchFamily="34" charset="0"/>
              </a:rPr>
              <a:t>  FindMax( T-&gt;Right );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}</a:t>
            </a:r>
            <a:r>
              <a:rPr lang="en-US" altLang="zh-CN" sz="2800" b="1" dirty="0">
                <a:latin typeface="Arial Unicode MS" pitchFamily="34" charset="-122"/>
              </a:rPr>
              <a:t> </a:t>
            </a:r>
            <a:endParaRPr lang="en-US" altLang="zh-CN" sz="2800" b="1" dirty="0">
              <a:latin typeface="Arial Unicode MS" pitchFamily="3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84F4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2" name="文本框 9"/>
          <p:cNvSpPr txBox="1"/>
          <p:nvPr>
            <p:custDataLst>
              <p:tags r:id="rId5"/>
            </p:custDataLst>
          </p:nvPr>
        </p:nvSpPr>
        <p:spPr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343" name="文本框 11"/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33321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T-&gt;Right==NULL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344" name="组合 8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3" name="RemarkBack"/>
            <p:cNvSpPr/>
            <p:nvPr>
              <p:custDataLst>
                <p:tags r:id="rId7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markBlock"/>
            <p:cNvSpPr/>
            <p:nvPr>
              <p:custDataLst>
                <p:tags r:id="rId8"/>
              </p:custDataLst>
            </p:nvPr>
          </p:nvSpPr>
          <p:spPr>
            <a:xfrm>
              <a:off x="9537700" y="12700"/>
              <a:ext cx="190516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56" name="RemarkTitleText"/>
            <p:cNvSpPr txBox="1"/>
            <p:nvPr>
              <p:custDataLst>
                <p:tags r:id="rId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4348" name="组合 9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52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353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8" name="RemarkBack"/>
            <p:cNvSpPr/>
            <p:nvPr>
              <p:custDataLst>
                <p:tags r:id="rId15"/>
              </p:custDataLst>
            </p:nvPr>
          </p:nvSpPr>
          <p:spPr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markBlock"/>
            <p:cNvSpPr/>
            <p:nvPr>
              <p:custDataLst>
                <p:tags r:id="rId16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47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349" name="图片 2"/>
          <p:cNvPicPr/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8" name="AutoShape 4"/>
          <p:cNvSpPr/>
          <p:nvPr/>
        </p:nvSpPr>
        <p:spPr>
          <a:xfrm>
            <a:off x="609600" y="3657600"/>
            <a:ext cx="7391400" cy="25908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44000" tIns="118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PtrToNode  FindMax( SearchTree 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return</a:t>
            </a:r>
            <a:r>
              <a:rPr lang="en-US" altLang="zh-CN" sz="1800" b="1" dirty="0">
                <a:latin typeface="Arial" panose="020B0604020202020204" pitchFamily="34" charset="0"/>
              </a:rPr>
              <a:t>  NULL;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not found in an empty tree */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else </a:t>
            </a: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T-&gt;Right == NULL )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return</a:t>
            </a:r>
            <a:r>
              <a:rPr lang="en-US" altLang="zh-CN" sz="1800" b="1" dirty="0">
                <a:latin typeface="Arial" panose="020B0604020202020204" pitchFamily="34" charset="0"/>
              </a:rPr>
              <a:t>  T;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found right most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else   return</a:t>
            </a:r>
            <a:r>
              <a:rPr lang="en-US" altLang="zh-CN" sz="1800" b="1" dirty="0">
                <a:latin typeface="Arial" panose="020B0604020202020204" pitchFamily="34" charset="0"/>
              </a:rPr>
              <a:t>  FindMax( T-&gt;Right );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keep moving to left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r>
              <a:rPr lang="en-US" altLang="zh-CN" sz="1800" b="1" dirty="0">
                <a:latin typeface="Arial Unicode MS" pitchFamily="34" charset="-122"/>
              </a:rPr>
              <a:t> </a:t>
            </a:r>
            <a:endParaRPr lang="en-US" altLang="zh-CN" sz="1800" b="1" dirty="0">
              <a:latin typeface="Arial Unicode MS" pitchFamily="34" charset="-122"/>
            </a:endParaRPr>
          </a:p>
        </p:txBody>
      </p:sp>
      <p:sp>
        <p:nvSpPr>
          <p:cNvPr id="26630" name="AutoShape 6"/>
          <p:cNvSpPr/>
          <p:nvPr/>
        </p:nvSpPr>
        <p:spPr>
          <a:xfrm>
            <a:off x="695325" y="533400"/>
            <a:ext cx="7391400" cy="22098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44000" tIns="118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PtrToNode  FindMax( SearchTree 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T != NULL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while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 dirty="0">
                <a:latin typeface="Arial" panose="020B0604020202020204" pitchFamily="34" charset="0"/>
              </a:rPr>
              <a:t>( T-&gt;Right != NULL )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T = T-&gt;Right;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keep moving to find right most */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     return</a:t>
            </a:r>
            <a:r>
              <a:rPr lang="en-US" altLang="zh-CN" sz="1800" b="1" dirty="0">
                <a:latin typeface="Arial" panose="020B0604020202020204" pitchFamily="34" charset="0"/>
              </a:rPr>
              <a:t> T;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return NULL or the right most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r>
              <a:rPr lang="en-US" altLang="zh-CN" sz="1800" b="1" dirty="0">
                <a:latin typeface="Arial Unicode MS" pitchFamily="34" charset="-122"/>
              </a:rPr>
              <a:t> </a:t>
            </a:r>
            <a:endParaRPr lang="en-US" altLang="zh-CN" sz="1800" b="1" dirty="0">
              <a:latin typeface="Arial Unicode MS" pitchFamily="34" charset="-122"/>
            </a:endParaRPr>
          </a:p>
        </p:txBody>
      </p:sp>
      <p:sp>
        <p:nvSpPr>
          <p:cNvPr id="26631" name="Rectangle 7"/>
          <p:cNvSpPr/>
          <p:nvPr/>
        </p:nvSpPr>
        <p:spPr>
          <a:xfrm>
            <a:off x="5105400" y="7620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 O 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endParaRPr lang="en-US" altLang="zh-CN" sz="20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6632" name="Rectangle 8"/>
          <p:cNvSpPr/>
          <p:nvPr/>
        </p:nvSpPr>
        <p:spPr>
          <a:xfrm>
            <a:off x="5181600" y="40386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 O ( h ) </a:t>
            </a:r>
            <a:endParaRPr lang="en-US" altLang="zh-CN" sz="20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  <p:bldP spid="26630" grpId="0" animBg="1"/>
      <p:bldP spid="26631" grpId="0"/>
      <p:bldP spid="266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762000" y="152400"/>
            <a:ext cx="6794500" cy="914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Insertion</a:t>
            </a:r>
            <a:endParaRPr lang="en-US" altLang="zh-CN" dirty="0"/>
          </a:p>
        </p:txBody>
      </p:sp>
      <p:grpSp>
        <p:nvGrpSpPr>
          <p:cNvPr id="2" name="Group 5"/>
          <p:cNvGrpSpPr/>
          <p:nvPr/>
        </p:nvGrpSpPr>
        <p:grpSpPr>
          <a:xfrm>
            <a:off x="1219200" y="1600200"/>
            <a:ext cx="1905000" cy="1600200"/>
            <a:chOff x="624" y="2784"/>
            <a:chExt cx="1200" cy="1008"/>
          </a:xfrm>
        </p:grpSpPr>
        <p:sp>
          <p:nvSpPr>
            <p:cNvPr id="16415" name="Oval 6"/>
            <p:cNvSpPr/>
            <p:nvPr/>
          </p:nvSpPr>
          <p:spPr>
            <a:xfrm>
              <a:off x="1296" y="278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416" name="Oval 7"/>
            <p:cNvSpPr/>
            <p:nvPr/>
          </p:nvSpPr>
          <p:spPr>
            <a:xfrm>
              <a:off x="912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417" name="Oval 8"/>
            <p:cNvSpPr/>
            <p:nvPr/>
          </p:nvSpPr>
          <p:spPr>
            <a:xfrm>
              <a:off x="624" y="35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418" name="Line 9"/>
            <p:cNvSpPr/>
            <p:nvPr/>
          </p:nvSpPr>
          <p:spPr>
            <a:xfrm flipH="1">
              <a:off x="793" y="338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9" name="Line 10"/>
            <p:cNvSpPr/>
            <p:nvPr/>
          </p:nvSpPr>
          <p:spPr>
            <a:xfrm flipH="1">
              <a:off x="1078" y="2976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0" name="Oval 11"/>
            <p:cNvSpPr/>
            <p:nvPr/>
          </p:nvSpPr>
          <p:spPr>
            <a:xfrm flipH="1">
              <a:off x="1584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421" name="Line 12"/>
            <p:cNvSpPr/>
            <p:nvPr/>
          </p:nvSpPr>
          <p:spPr>
            <a:xfrm>
              <a:off x="1509" y="297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09" name="Text Box 13"/>
          <p:cNvSpPr txBox="1"/>
          <p:nvPr/>
        </p:nvSpPr>
        <p:spPr>
          <a:xfrm>
            <a:off x="3581400" y="1447800"/>
            <a:ext cx="1371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Insert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80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10" name="Text Box 14"/>
          <p:cNvSpPr txBox="1"/>
          <p:nvPr/>
        </p:nvSpPr>
        <p:spPr>
          <a:xfrm>
            <a:off x="3657600" y="1828800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 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check if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80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is already in the tree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11" name="Line 15"/>
          <p:cNvSpPr/>
          <p:nvPr/>
        </p:nvSpPr>
        <p:spPr>
          <a:xfrm flipH="1">
            <a:off x="2667000" y="17526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2" name="Line 16"/>
          <p:cNvSpPr/>
          <p:nvPr/>
        </p:nvSpPr>
        <p:spPr>
          <a:xfrm flipH="1">
            <a:off x="3124200" y="23622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3" name="Text Box 17"/>
          <p:cNvSpPr txBox="1"/>
          <p:nvPr/>
        </p:nvSpPr>
        <p:spPr>
          <a:xfrm>
            <a:off x="3657600" y="2362200"/>
            <a:ext cx="5029200" cy="76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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80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&gt; 40, so it must be the right child of 40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3081338" y="2549525"/>
            <a:ext cx="500062" cy="650875"/>
            <a:chOff x="1797" y="1750"/>
            <a:chExt cx="315" cy="410"/>
          </a:xfrm>
        </p:grpSpPr>
        <p:sp>
          <p:nvSpPr>
            <p:cNvPr id="16413" name="Oval 19"/>
            <p:cNvSpPr/>
            <p:nvPr/>
          </p:nvSpPr>
          <p:spPr>
            <a:xfrm>
              <a:off x="1872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80</a:t>
              </a:r>
              <a:endPara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4" name="Line 20"/>
            <p:cNvSpPr/>
            <p:nvPr/>
          </p:nvSpPr>
          <p:spPr>
            <a:xfrm>
              <a:off x="1797" y="1750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17" name="Line 21"/>
          <p:cNvSpPr/>
          <p:nvPr/>
        </p:nvSpPr>
        <p:spPr>
          <a:xfrm flipH="1">
            <a:off x="3124200" y="2362200"/>
            <a:ext cx="381000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8" name="Text Box 22"/>
          <p:cNvSpPr txBox="1"/>
          <p:nvPr/>
        </p:nvSpPr>
        <p:spPr>
          <a:xfrm>
            <a:off x="1143000" y="3581400"/>
            <a:ext cx="1371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Insert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35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19" name="Text Box 23"/>
          <p:cNvSpPr txBox="1"/>
          <p:nvPr/>
        </p:nvSpPr>
        <p:spPr>
          <a:xfrm>
            <a:off x="2590800" y="3581400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 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check if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35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is already in the tree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20" name="Line 24"/>
          <p:cNvSpPr/>
          <p:nvPr/>
        </p:nvSpPr>
        <p:spPr>
          <a:xfrm flipH="1">
            <a:off x="2667000" y="17526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1" name="Line 25"/>
          <p:cNvSpPr/>
          <p:nvPr/>
        </p:nvSpPr>
        <p:spPr>
          <a:xfrm flipH="1">
            <a:off x="3124200" y="23622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2" name="Text Box 26"/>
          <p:cNvSpPr txBox="1"/>
          <p:nvPr/>
        </p:nvSpPr>
        <p:spPr>
          <a:xfrm>
            <a:off x="2590800" y="4038600"/>
            <a:ext cx="6019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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35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&lt; 40, so it must be the left child of 40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grpSp>
        <p:nvGrpSpPr>
          <p:cNvPr id="4" name="Group 27"/>
          <p:cNvGrpSpPr/>
          <p:nvPr/>
        </p:nvGrpSpPr>
        <p:grpSpPr>
          <a:xfrm flipH="1">
            <a:off x="2322513" y="2552700"/>
            <a:ext cx="500062" cy="650875"/>
            <a:chOff x="1797" y="1750"/>
            <a:chExt cx="315" cy="410"/>
          </a:xfrm>
        </p:grpSpPr>
        <p:sp>
          <p:nvSpPr>
            <p:cNvPr id="16411" name="Oval 28"/>
            <p:cNvSpPr/>
            <p:nvPr/>
          </p:nvSpPr>
          <p:spPr>
            <a:xfrm>
              <a:off x="1872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35</a:t>
              </a:r>
              <a:endPara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2" name="Line 29"/>
            <p:cNvSpPr/>
            <p:nvPr/>
          </p:nvSpPr>
          <p:spPr>
            <a:xfrm>
              <a:off x="1797" y="1750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26" name="Text Box 30"/>
          <p:cNvSpPr txBox="1"/>
          <p:nvPr/>
        </p:nvSpPr>
        <p:spPr>
          <a:xfrm>
            <a:off x="1143000" y="4724400"/>
            <a:ext cx="1371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Insert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25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27" name="Line 31"/>
          <p:cNvSpPr/>
          <p:nvPr/>
        </p:nvSpPr>
        <p:spPr>
          <a:xfrm flipH="1">
            <a:off x="3124200" y="2362200"/>
            <a:ext cx="381000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8" name="Text Box 32"/>
          <p:cNvSpPr txBox="1"/>
          <p:nvPr/>
        </p:nvSpPr>
        <p:spPr>
          <a:xfrm>
            <a:off x="2590800" y="4724400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 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check if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25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is already in the tree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9729" name="Line 33"/>
          <p:cNvSpPr/>
          <p:nvPr/>
        </p:nvSpPr>
        <p:spPr>
          <a:xfrm flipH="1">
            <a:off x="2667000" y="17526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30" name="Line 34"/>
          <p:cNvSpPr/>
          <p:nvPr/>
        </p:nvSpPr>
        <p:spPr>
          <a:xfrm flipH="1">
            <a:off x="2057400" y="2438400"/>
            <a:ext cx="381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31" name="Text Box 35"/>
          <p:cNvSpPr txBox="1"/>
          <p:nvPr/>
        </p:nvSpPr>
        <p:spPr>
          <a:xfrm>
            <a:off x="2590800" y="5257800"/>
            <a:ext cx="5486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Wingdings" panose="05000000000000000000" pitchFamily="2" charset="2"/>
              </a:rPr>
              <a:t>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25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&gt; 5, so it must be the right child of  5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grpSp>
        <p:nvGrpSpPr>
          <p:cNvPr id="5" name="Group 36"/>
          <p:cNvGrpSpPr/>
          <p:nvPr/>
        </p:nvGrpSpPr>
        <p:grpSpPr>
          <a:xfrm>
            <a:off x="1905000" y="2590800"/>
            <a:ext cx="381000" cy="609600"/>
            <a:chOff x="1056" y="1776"/>
            <a:chExt cx="240" cy="384"/>
          </a:xfrm>
        </p:grpSpPr>
        <p:sp>
          <p:nvSpPr>
            <p:cNvPr id="16409" name="Oval 37"/>
            <p:cNvSpPr/>
            <p:nvPr/>
          </p:nvSpPr>
          <p:spPr>
            <a:xfrm>
              <a:off x="1056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25</a:t>
              </a:r>
              <a:endPara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0" name="Line 38"/>
            <p:cNvSpPr/>
            <p:nvPr/>
          </p:nvSpPr>
          <p:spPr>
            <a:xfrm>
              <a:off x="1056" y="177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408" name="AutoShape 41"/>
          <p:cNvSpPr/>
          <p:nvPr/>
        </p:nvSpPr>
        <p:spPr>
          <a:xfrm flipV="1">
            <a:off x="2209800" y="3124200"/>
            <a:ext cx="4876800" cy="2438400"/>
          </a:xfrm>
          <a:prstGeom prst="wedgeEllipseCallout">
            <a:avLst>
              <a:gd name="adj1" fmla="val -52606"/>
              <a:gd name="adj2" fmla="val 79167"/>
            </a:avLst>
          </a:prstGeom>
          <a:gradFill rotWithShape="0">
            <a:gsLst>
              <a:gs pos="0">
                <a:srgbClr val="D5D5D5"/>
              </a:gs>
              <a:gs pos="100000">
                <a:srgbClr val="FFFFFF"/>
              </a:gs>
            </a:gsLst>
            <a:lin ang="27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This is the last node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we encounter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when search for the key.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It will be the parent 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of the new node.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9" grpId="0"/>
      <p:bldP spid="29710" grpId="0"/>
      <p:bldP spid="29713" grpId="0"/>
      <p:bldP spid="29718" grpId="0"/>
      <p:bldP spid="29719" grpId="0"/>
      <p:bldP spid="29722" grpId="0"/>
      <p:bldP spid="29726" grpId="0"/>
      <p:bldP spid="29728" grpId="0"/>
      <p:bldP spid="29731" grpId="0"/>
      <p:bldP spid="1640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4" name="Rectangle 4"/>
          <p:cNvSpPr>
            <a:spLocks noGrp="1"/>
          </p:cNvSpPr>
          <p:nvPr>
            <p:ph idx="1"/>
          </p:nvPr>
        </p:nvSpPr>
        <p:spPr>
          <a:xfrm>
            <a:off x="1676400" y="1600200"/>
            <a:ext cx="58674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TW" dirty="0"/>
              <a:t>Proceed down the tree as you </a:t>
            </a:r>
            <a:r>
              <a:rPr lang="en-US" altLang="zh-CN" dirty="0"/>
              <a:t>do</a:t>
            </a:r>
            <a:r>
              <a:rPr lang="en-US" altLang="zh-TW" dirty="0"/>
              <a:t> with a </a:t>
            </a:r>
            <a:r>
              <a:rPr lang="en-US" altLang="zh-CN" dirty="0"/>
              <a:t>search.</a:t>
            </a:r>
            <a:endParaRPr lang="en-US" altLang="zh-TW" dirty="0"/>
          </a:p>
          <a:p>
            <a:pPr eaLnBrk="1" hangingPunct="1"/>
            <a:r>
              <a:rPr lang="en-US" altLang="zh-TW" dirty="0"/>
              <a:t>If X is found, do nothing. </a:t>
            </a:r>
            <a:endParaRPr lang="en-US" altLang="zh-TW" dirty="0"/>
          </a:p>
          <a:p>
            <a:pPr eaLnBrk="1" hangingPunct="1"/>
            <a:r>
              <a:rPr lang="en-US" altLang="zh-TW" dirty="0"/>
              <a:t>Otherwise, insert X at </a:t>
            </a:r>
            <a:r>
              <a:rPr lang="en-US" altLang="zh-TW" b="1" i="1" dirty="0">
                <a:solidFill>
                  <a:schemeClr val="hlink"/>
                </a:solidFill>
              </a:rPr>
              <a:t>the last spot</a:t>
            </a:r>
            <a:r>
              <a:rPr lang="en-US" altLang="zh-TW" dirty="0"/>
              <a:t> on the path traversed.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CN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7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charRg st="7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charRg st="7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3"/>
          <p:cNvSpPr txBox="1"/>
          <p:nvPr>
            <p:custDataLst>
              <p:tags r:id="rId1"/>
            </p:custDataLst>
          </p:nvPr>
        </p:nvSpPr>
        <p:spPr>
          <a:xfrm>
            <a:off x="914400" y="428625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The inorder traversal sequence of a BST is a sorted sequence.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43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True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43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False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A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B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提交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18440" name="组合 17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444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445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8441" name="图片 2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文本框 3"/>
          <p:cNvSpPr txBox="1"/>
          <p:nvPr>
            <p:custDataLst>
              <p:tags r:id="rId1"/>
            </p:custDataLst>
          </p:nvPr>
        </p:nvSpPr>
        <p:spPr>
          <a:xfrm>
            <a:off x="914400" y="790575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While inserting a new node into a BST, it will 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always be inserted as a leaf node.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459" name="文本框 4"/>
          <p:cNvSpPr txBox="1"/>
          <p:nvPr>
            <p:custDataLst>
              <p:tags r:id="rId2"/>
            </p:custDataLst>
          </p:nvPr>
        </p:nvSpPr>
        <p:spPr>
          <a:xfrm>
            <a:off x="1828800" y="31480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True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460" name="文本框 5"/>
          <p:cNvSpPr txBox="1"/>
          <p:nvPr>
            <p:custDataLst>
              <p:tags r:id="rId3"/>
            </p:custDataLst>
          </p:nvPr>
        </p:nvSpPr>
        <p:spPr>
          <a:xfrm>
            <a:off x="1828800" y="40052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False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3211513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4068763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B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提交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19464" name="组合 17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46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46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9465" name="图片 2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AutoShape 3"/>
          <p:cNvSpPr/>
          <p:nvPr/>
        </p:nvSpPr>
        <p:spPr>
          <a:xfrm>
            <a:off x="685800" y="533400"/>
            <a:ext cx="7772400" cy="56388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216000" tIns="190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SearchTree  Insert( ElementType X, SearchTree 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  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{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Create and return a one-node tree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T = (TreeNode *)malloc(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TreeNode )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FatalError( "Out of space!!!"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T-&gt;Data = X;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T-&gt;Left = T-&gt;Right = NULL;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              }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creating a one-node tree */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If there is a tree */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X &lt; T-&gt;Data)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T-&gt;Left = Insert( X, T-&gt;Left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X &gt; T-&gt;Data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latin typeface="Arial" panose="020B0604020202020204" pitchFamily="34" charset="0"/>
              </a:rPr>
              <a:t>      T-&gt;Right = Insert( X, T-&gt;Right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Else X is in the tree already; we'll do nothing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 T;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Do not forget this line!!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20483" name="Rectangle 5"/>
          <p:cNvSpPr/>
          <p:nvPr/>
        </p:nvSpPr>
        <p:spPr>
          <a:xfrm>
            <a:off x="2667000" y="62484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 O (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endParaRPr lang="en-US" altLang="zh-CN" sz="20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0600" y="5334000"/>
            <a:ext cx="1295400" cy="38100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4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2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75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94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32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41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59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93" end="3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355" end="3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391" end="4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412" end="4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449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456" end="4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480" end="5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22" end="5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81" end="6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631" end="6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TW" dirty="0">
                <a:ea typeface="PMingLiU" pitchFamily="18" charset="-120"/>
              </a:rPr>
              <a:t>Deletion</a:t>
            </a:r>
            <a:endParaRPr lang="en-US" altLang="zh-TW" dirty="0">
              <a:ea typeface="PMingLiU" pitchFamily="18" charset="-120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139113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+mn-cs"/>
                <a:sym typeface="+mn-ea"/>
              </a:rPr>
              <a:t>There should be no gap after deletion.</a:t>
            </a:r>
            <a:endParaRPr kumimoji="0" lang="en-US" altLang="zh-TW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TW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PMingLiU" pitchFamily="18" charset="-120"/>
                <a:cs typeface="+mn-cs"/>
              </a:rPr>
              <a:t>The property of search tree should be maintained.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TW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PMingLiU" pitchFamily="18" charset="-120"/>
              <a:cs typeface="+mn-cs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2997200" y="3808413"/>
            <a:ext cx="2247900" cy="1600200"/>
            <a:chOff x="720" y="2880"/>
            <a:chExt cx="1416" cy="1008"/>
          </a:xfrm>
        </p:grpSpPr>
        <p:sp>
          <p:nvSpPr>
            <p:cNvPr id="21509" name="Oval 13"/>
            <p:cNvSpPr/>
            <p:nvPr/>
          </p:nvSpPr>
          <p:spPr>
            <a:xfrm>
              <a:off x="1392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0" name="Oval 14"/>
            <p:cNvSpPr/>
            <p:nvPr/>
          </p:nvSpPr>
          <p:spPr>
            <a:xfrm>
              <a:off x="100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1" name="Oval 15"/>
            <p:cNvSpPr/>
            <p:nvPr/>
          </p:nvSpPr>
          <p:spPr>
            <a:xfrm>
              <a:off x="720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2" name="Line 16"/>
            <p:cNvSpPr/>
            <p:nvPr/>
          </p:nvSpPr>
          <p:spPr>
            <a:xfrm flipH="1">
              <a:off x="889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3" name="Line 17"/>
            <p:cNvSpPr/>
            <p:nvPr/>
          </p:nvSpPr>
          <p:spPr>
            <a:xfrm flipH="1">
              <a:off x="1174" y="3072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4" name="Oval 18"/>
            <p:cNvSpPr/>
            <p:nvPr/>
          </p:nvSpPr>
          <p:spPr>
            <a:xfrm flipH="1">
              <a:off x="1680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Line 19"/>
            <p:cNvSpPr/>
            <p:nvPr/>
          </p:nvSpPr>
          <p:spPr>
            <a:xfrm>
              <a:off x="1605" y="307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6" name="Oval 20"/>
            <p:cNvSpPr/>
            <p:nvPr/>
          </p:nvSpPr>
          <p:spPr>
            <a:xfrm flipH="1">
              <a:off x="1200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18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7" name="Line 21"/>
            <p:cNvSpPr/>
            <p:nvPr/>
          </p:nvSpPr>
          <p:spPr>
            <a:xfrm>
              <a:off x="1177" y="3482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18" name="Group 22"/>
            <p:cNvGrpSpPr/>
            <p:nvPr/>
          </p:nvGrpSpPr>
          <p:grpSpPr>
            <a:xfrm>
              <a:off x="1873" y="3460"/>
              <a:ext cx="263" cy="406"/>
              <a:chOff x="1801" y="3386"/>
              <a:chExt cx="263" cy="406"/>
            </a:xfrm>
          </p:grpSpPr>
          <p:sp>
            <p:nvSpPr>
              <p:cNvPr id="21519" name="Oval 23"/>
              <p:cNvSpPr/>
              <p:nvPr/>
            </p:nvSpPr>
            <p:spPr>
              <a:xfrm flipH="1">
                <a:off x="1824" y="355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0" name="Line 24"/>
              <p:cNvSpPr/>
              <p:nvPr/>
            </p:nvSpPr>
            <p:spPr>
              <a:xfrm>
                <a:off x="1801" y="3386"/>
                <a:ext cx="145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TW" dirty="0">
                <a:ea typeface="PMingLiU" pitchFamily="18" charset="-120"/>
              </a:rPr>
              <a:t>Different Cases</a:t>
            </a:r>
            <a:endParaRPr lang="en-US" altLang="zh-TW" dirty="0">
              <a:ea typeface="PMingLiU" pitchFamily="18" charset="-120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609600" y="1143000"/>
            <a:ext cx="8077200" cy="5181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TW" sz="2800" b="1" dirty="0">
                <a:solidFill>
                  <a:srgbClr val="0000FF"/>
                </a:solidFill>
                <a:ea typeface="PMingLiU" pitchFamily="18" charset="-120"/>
              </a:rPr>
              <a:t>Case 1:</a:t>
            </a:r>
            <a:r>
              <a:rPr lang="en-US" altLang="zh-TW" sz="2800" dirty="0">
                <a:ea typeface="PMingLiU" pitchFamily="18" charset="-120"/>
              </a:rPr>
              <a:t> the node is a leaf</a:t>
            </a:r>
            <a:endParaRPr lang="en-US" altLang="zh-TW" sz="2800" dirty="0">
              <a:ea typeface="PMingLiU" pitchFamily="18" charset="-120"/>
            </a:endParaRPr>
          </a:p>
          <a:p>
            <a:pPr lvl="1" eaLnBrk="1" hangingPunct="1"/>
            <a:r>
              <a:rPr lang="en-US" altLang="zh-TW" sz="2400" dirty="0">
                <a:ea typeface="PMingLiU" pitchFamily="18" charset="-120"/>
              </a:rPr>
              <a:t>Delete it immediately</a:t>
            </a:r>
            <a:r>
              <a:rPr lang="en-US" altLang="zh-CN" sz="2400" dirty="0">
                <a:ea typeface="PMingLiU" pitchFamily="18" charset="-120"/>
              </a:rPr>
              <a:t> by </a:t>
            </a:r>
            <a:r>
              <a:rPr lang="en-US" altLang="zh-CN" sz="2400" b="1" dirty="0">
                <a:solidFill>
                  <a:srgbClr val="FF0000"/>
                </a:solidFill>
                <a:ea typeface="PMingLiU" pitchFamily="18" charset="-120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ea typeface="PMingLiU" pitchFamily="18" charset="-120"/>
                <a:sym typeface="Wingdings" panose="05000000000000000000" pitchFamily="2" charset="2"/>
              </a:rPr>
              <a:t>eset its parent link to NULL</a:t>
            </a:r>
            <a:endParaRPr lang="en-US" altLang="zh-TW" sz="2400" b="1" dirty="0">
              <a:solidFill>
                <a:schemeClr val="hlink"/>
              </a:solidFill>
              <a:ea typeface="PMingLiU" pitchFamily="18" charset="-120"/>
            </a:endParaRPr>
          </a:p>
          <a:p>
            <a:pPr eaLnBrk="1" hangingPunct="1"/>
            <a:r>
              <a:rPr lang="en-US" altLang="zh-TW" sz="2800" b="1" dirty="0">
                <a:solidFill>
                  <a:srgbClr val="0000FF"/>
                </a:solidFill>
                <a:ea typeface="PMingLiU" pitchFamily="18" charset="-120"/>
              </a:rPr>
              <a:t>Case 2:</a:t>
            </a:r>
            <a:r>
              <a:rPr lang="en-US" altLang="zh-TW" sz="2800" dirty="0">
                <a:ea typeface="PMingLiU" pitchFamily="18" charset="-120"/>
              </a:rPr>
              <a:t> the node has one child</a:t>
            </a:r>
            <a:endParaRPr lang="en-US" altLang="zh-TW" sz="2800" dirty="0">
              <a:ea typeface="PMingLiU" pitchFamily="18" charset="-120"/>
            </a:endParaRPr>
          </a:p>
          <a:p>
            <a:pPr lvl="1" eaLnBrk="1" hangingPunct="1"/>
            <a:r>
              <a:rPr lang="en-US" altLang="zh-TW" sz="2400" dirty="0">
                <a:ea typeface="PMingLiU" pitchFamily="18" charset="-120"/>
              </a:rPr>
              <a:t>Adjust </a:t>
            </a:r>
            <a:r>
              <a:rPr lang="en-US" altLang="zh-CN" sz="2400" dirty="0">
                <a:ea typeface="PMingLiU" pitchFamily="18" charset="-120"/>
              </a:rPr>
              <a:t>the</a:t>
            </a:r>
            <a:r>
              <a:rPr lang="en-US" altLang="zh-TW" sz="2400" dirty="0">
                <a:ea typeface="PMingLiU" pitchFamily="18" charset="-120"/>
              </a:rPr>
              <a:t> link from the parent to bypass that node</a:t>
            </a:r>
            <a:endParaRPr lang="en-US" altLang="zh-TW" sz="2400" dirty="0">
              <a:ea typeface="PMingLiU" pitchFamily="18" charset="-120"/>
            </a:endParaRPr>
          </a:p>
        </p:txBody>
      </p:sp>
      <p:pic>
        <p:nvPicPr>
          <p:cNvPr id="33796" name="Picture 4" descr="fig4_24"/>
          <p:cNvPicPr>
            <a:picLocks noChangeAspect="1"/>
          </p:cNvPicPr>
          <p:nvPr/>
        </p:nvPicPr>
        <p:blipFill>
          <a:blip r:embed="rId1">
            <a:lum bright="-20001" contrast="80000"/>
          </a:blip>
          <a:srcRect b="11282"/>
          <a:stretch>
            <a:fillRect/>
          </a:stretch>
        </p:blipFill>
        <p:spPr>
          <a:xfrm>
            <a:off x="1219200" y="3779838"/>
            <a:ext cx="7010400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2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82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11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charRg st="11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charRg st="11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381000" y="1066800"/>
            <a:ext cx="8077200" cy="5562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TW" sz="2800" b="1" dirty="0">
                <a:solidFill>
                  <a:srgbClr val="0000FF"/>
                </a:solidFill>
                <a:ea typeface="PMingLiU" pitchFamily="18" charset="-120"/>
              </a:rPr>
              <a:t>Case 3:</a:t>
            </a:r>
            <a:r>
              <a:rPr lang="en-US" altLang="zh-TW" sz="2800" dirty="0">
                <a:ea typeface="PMingLiU" pitchFamily="18" charset="-120"/>
              </a:rPr>
              <a:t> the node has 2 children</a:t>
            </a:r>
            <a:endParaRPr lang="en-US" altLang="zh-TW" sz="2800" dirty="0">
              <a:ea typeface="PMingLiU" pitchFamily="18" charset="-120"/>
            </a:endParaRPr>
          </a:p>
          <a:p>
            <a:pPr lvl="1" eaLnBrk="1" hangingPunct="1"/>
            <a:r>
              <a:rPr lang="en-US" altLang="zh-TW" sz="2000" b="1" dirty="0">
                <a:ea typeface="PMingLiU" pitchFamily="18" charset="-120"/>
              </a:rPr>
              <a:t>Replace</a:t>
            </a:r>
            <a:r>
              <a:rPr lang="en-US" altLang="zh-TW" sz="2000" dirty="0">
                <a:ea typeface="PMingLiU" pitchFamily="18" charset="-120"/>
              </a:rPr>
              <a:t> the key of that node with </a:t>
            </a:r>
            <a:r>
              <a:rPr lang="en-US" altLang="zh-TW" sz="2000" b="1" dirty="0">
                <a:ea typeface="PMingLiU" pitchFamily="18" charset="-120"/>
              </a:rPr>
              <a:t>the </a:t>
            </a:r>
            <a:r>
              <a:rPr lang="en-US" altLang="zh-CN" sz="2000" b="1" dirty="0">
                <a:solidFill>
                  <a:srgbClr val="FF3300"/>
                </a:solidFill>
                <a:ea typeface="PMingLiU" pitchFamily="18" charset="-120"/>
              </a:rPr>
              <a:t>smallest</a:t>
            </a:r>
            <a:r>
              <a:rPr lang="en-US" altLang="zh-TW" sz="2000" dirty="0">
                <a:solidFill>
                  <a:srgbClr val="FF3300"/>
                </a:solidFill>
                <a:ea typeface="PMingLiU" pitchFamily="18" charset="-120"/>
              </a:rPr>
              <a:t> </a:t>
            </a:r>
            <a:r>
              <a:rPr lang="en-US" altLang="zh-CN" sz="2000" b="1" dirty="0">
                <a:ea typeface="PMingLiU" pitchFamily="18" charset="-120"/>
              </a:rPr>
              <a:t>one</a:t>
            </a:r>
            <a:r>
              <a:rPr lang="en-US" altLang="zh-TW" sz="2000" b="1" dirty="0">
                <a:ea typeface="PMingLiU" pitchFamily="18" charset="-120"/>
              </a:rPr>
              <a:t> </a:t>
            </a:r>
            <a:r>
              <a:rPr lang="en-US" altLang="zh-CN" sz="2000" b="1" dirty="0">
                <a:ea typeface="PMingLiU" pitchFamily="18" charset="-120"/>
              </a:rPr>
              <a:t>in</a:t>
            </a:r>
            <a:r>
              <a:rPr lang="en-US" altLang="zh-TW" sz="2000" b="1" dirty="0">
                <a:ea typeface="PMingLiU" pitchFamily="18" charset="-120"/>
              </a:rPr>
              <a:t> </a:t>
            </a:r>
            <a:r>
              <a:rPr lang="en-US" altLang="zh-CN" sz="2000" b="1" dirty="0">
                <a:ea typeface="PMingLiU" pitchFamily="18" charset="-120"/>
              </a:rPr>
              <a:t>its</a:t>
            </a:r>
            <a:r>
              <a:rPr lang="en-US" altLang="zh-TW" sz="2000" dirty="0">
                <a:solidFill>
                  <a:srgbClr val="FF3300"/>
                </a:solidFill>
                <a:ea typeface="PMingLiU" pitchFamily="18" charset="-120"/>
              </a:rPr>
              <a:t> </a:t>
            </a:r>
            <a:r>
              <a:rPr lang="en-US" altLang="zh-TW" sz="2000" b="1" dirty="0">
                <a:solidFill>
                  <a:srgbClr val="FF3300"/>
                </a:solidFill>
                <a:ea typeface="PMingLiU" pitchFamily="18" charset="-120"/>
              </a:rPr>
              <a:t>right </a:t>
            </a:r>
            <a:r>
              <a:rPr lang="en-US" altLang="zh-TW" sz="2000" b="1" dirty="0">
                <a:ea typeface="PMingLiU" pitchFamily="18" charset="-120"/>
              </a:rPr>
              <a:t>subtree</a:t>
            </a:r>
            <a:r>
              <a:rPr lang="en-US" altLang="zh-TW" sz="2000" dirty="0">
                <a:ea typeface="PMingLiU" pitchFamily="18" charset="-120"/>
              </a:rPr>
              <a:t> </a:t>
            </a:r>
            <a:r>
              <a:rPr lang="en-US" altLang="zh-CN" sz="2000" dirty="0">
                <a:ea typeface="PMingLiU" pitchFamily="18" charset="-120"/>
              </a:rPr>
              <a:t>(or</a:t>
            </a:r>
            <a:r>
              <a:rPr lang="en-US" altLang="zh-CN" sz="2000" dirty="0">
                <a:solidFill>
                  <a:srgbClr val="FF3300"/>
                </a:solidFill>
                <a:ea typeface="PMingLiU" pitchFamily="18" charset="-120"/>
              </a:rPr>
              <a:t> </a:t>
            </a:r>
            <a:r>
              <a:rPr lang="en-US" altLang="zh-CN" sz="2000" b="1" dirty="0">
                <a:sym typeface="Wingdings" panose="05000000000000000000" pitchFamily="2" charset="2"/>
              </a:rPr>
              <a:t>the </a:t>
            </a:r>
            <a:r>
              <a:rPr lang="en-US" altLang="zh-CN" sz="2000" b="1" dirty="0">
                <a:solidFill>
                  <a:schemeClr val="hlink"/>
                </a:solidFill>
                <a:sym typeface="Wingdings" panose="05000000000000000000" pitchFamily="2" charset="2"/>
              </a:rPr>
              <a:t>largest </a:t>
            </a:r>
            <a:r>
              <a:rPr lang="en-US" altLang="zh-CN" sz="2000" b="1" dirty="0">
                <a:sym typeface="Wingdings" panose="05000000000000000000" pitchFamily="2" charset="2"/>
              </a:rPr>
              <a:t>one in its </a:t>
            </a:r>
            <a:r>
              <a:rPr lang="en-US" altLang="zh-CN" sz="2000" b="1" dirty="0">
                <a:solidFill>
                  <a:schemeClr val="hlink"/>
                </a:solidFill>
                <a:sym typeface="Wingdings" panose="05000000000000000000" pitchFamily="2" charset="2"/>
              </a:rPr>
              <a:t>left</a:t>
            </a:r>
            <a:r>
              <a:rPr lang="en-US" altLang="zh-CN" sz="2000" b="1" dirty="0">
                <a:sym typeface="Wingdings" panose="05000000000000000000" pitchFamily="2" charset="2"/>
              </a:rPr>
              <a:t> subtree)</a:t>
            </a:r>
            <a:r>
              <a:rPr lang="en-US" altLang="zh-CN" sz="2000" dirty="0">
                <a:sym typeface="Wingdings" panose="05000000000000000000" pitchFamily="2" charset="2"/>
              </a:rPr>
              <a:t> </a:t>
            </a:r>
            <a:endParaRPr lang="en-US" altLang="zh-TW" sz="2000" dirty="0">
              <a:solidFill>
                <a:srgbClr val="FF3300"/>
              </a:solidFill>
              <a:ea typeface="PMingLiU" pitchFamily="18" charset="-120"/>
            </a:endParaRPr>
          </a:p>
          <a:p>
            <a:pPr lvl="1" eaLnBrk="1" hangingPunct="1"/>
            <a:r>
              <a:rPr lang="en-US" altLang="zh-TW" sz="2000" b="1" dirty="0">
                <a:ea typeface="PMingLiU" pitchFamily="18" charset="-120"/>
              </a:rPr>
              <a:t>Delete</a:t>
            </a:r>
            <a:r>
              <a:rPr lang="en-US" altLang="zh-TW" sz="2000" dirty="0">
                <a:ea typeface="PMingLiU" pitchFamily="18" charset="-120"/>
              </a:rPr>
              <a:t> that </a:t>
            </a:r>
            <a:r>
              <a:rPr lang="en-US" altLang="zh-CN" sz="2000" dirty="0">
                <a:sym typeface="Wingdings" panose="05000000000000000000" pitchFamily="2" charset="2"/>
              </a:rPr>
              <a:t>replacing node from the subtree</a:t>
            </a:r>
            <a:endParaRPr lang="en-US" altLang="zh-TW" sz="2000" dirty="0">
              <a:ea typeface="PMingLiU" pitchFamily="18" charset="-120"/>
            </a:endParaRPr>
          </a:p>
          <a:p>
            <a:pPr lvl="1" eaLnBrk="1" hangingPunct="1"/>
            <a:endParaRPr lang="en-US" altLang="zh-TW" sz="2000" dirty="0">
              <a:ea typeface="PMingLiU" pitchFamily="18" charset="-120"/>
            </a:endParaRPr>
          </a:p>
          <a:p>
            <a:pPr lvl="1" eaLnBrk="1" hangingPunct="1"/>
            <a:endParaRPr lang="en-US" altLang="zh-TW" sz="2400" dirty="0">
              <a:ea typeface="PMingLiU" pitchFamily="18" charset="-120"/>
            </a:endParaRPr>
          </a:p>
          <a:p>
            <a:pPr lvl="1" eaLnBrk="1" hangingPunct="1"/>
            <a:endParaRPr lang="en-US" altLang="zh-TW" sz="2400" dirty="0">
              <a:ea typeface="PMingLiU" pitchFamily="18" charset="-120"/>
            </a:endParaRPr>
          </a:p>
          <a:p>
            <a:pPr lvl="1" eaLnBrk="1" hangingPunct="1"/>
            <a:endParaRPr lang="en-US" altLang="zh-TW" sz="2400" dirty="0">
              <a:ea typeface="PMingLiU" pitchFamily="18" charset="-120"/>
            </a:endParaRPr>
          </a:p>
          <a:p>
            <a:pPr lvl="1" eaLnBrk="1" hangingPunct="1">
              <a:buNone/>
            </a:pPr>
            <a:endParaRPr lang="en-US" altLang="zh-TW" sz="2400" dirty="0">
              <a:ea typeface="PMingLiU" pitchFamily="18" charset="-120"/>
            </a:endParaRPr>
          </a:p>
          <a:p>
            <a:pPr lvl="1" eaLnBrk="1" hangingPunct="1">
              <a:buNone/>
            </a:pPr>
            <a:endParaRPr lang="en-US" altLang="zh-TW" sz="2400" dirty="0">
              <a:ea typeface="PMingLiU" pitchFamily="18" charset="-120"/>
            </a:endParaRPr>
          </a:p>
          <a:p>
            <a:pPr eaLnBrk="1" hangingPunct="1"/>
            <a:endParaRPr lang="en-US" altLang="zh-CN" sz="2400" dirty="0">
              <a:ea typeface="PMingLiU" pitchFamily="18" charset="-120"/>
            </a:endParaRPr>
          </a:p>
          <a:p>
            <a:pPr eaLnBrk="1" hangingPunct="1"/>
            <a:r>
              <a:rPr lang="en-US" altLang="zh-TW" sz="2400" dirty="0">
                <a:ea typeface="PMingLiU" pitchFamily="18" charset="-120"/>
              </a:rPr>
              <a:t>Time complexity = O(height of the tree)</a:t>
            </a:r>
            <a:endParaRPr lang="en-US" altLang="zh-TW" sz="2400" dirty="0">
              <a:ea typeface="PMingLiU" pitchFamily="18" charset="-12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8486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TW" dirty="0">
                <a:ea typeface="PMingLiU" pitchFamily="18" charset="-120"/>
              </a:rPr>
              <a:t>Deletion Case 3</a:t>
            </a:r>
            <a:endParaRPr lang="en-US" altLang="zh-TW" dirty="0">
              <a:ea typeface="PMingLiU" pitchFamily="18" charset="-12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419600" y="0"/>
            <a:ext cx="4038600" cy="1677988"/>
            <a:chOff x="1632" y="480"/>
            <a:chExt cx="2544" cy="1057"/>
          </a:xfrm>
        </p:grpSpPr>
        <p:sp>
          <p:nvSpPr>
            <p:cNvPr id="25635" name="AutoShape 6"/>
            <p:cNvSpPr/>
            <p:nvPr/>
          </p:nvSpPr>
          <p:spPr>
            <a:xfrm flipV="1">
              <a:off x="2856" y="1344"/>
              <a:ext cx="193" cy="193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5636" name="AutoShape 7"/>
            <p:cNvSpPr/>
            <p:nvPr/>
          </p:nvSpPr>
          <p:spPr>
            <a:xfrm>
              <a:off x="1632" y="480"/>
              <a:ext cx="2544" cy="864"/>
            </a:xfrm>
            <a:prstGeom prst="wedgeEllipseCallout">
              <a:avLst>
                <a:gd name="adj1" fmla="val -58060"/>
                <a:gd name="adj2" fmla="val 91435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E2E2E2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Note: These kinds of nodes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have degree at most 1.</a:t>
              </a:r>
              <a:endParaRPr lang="en-US" altLang="zh-CN" sz="2000" b="1" dirty="0"/>
            </a:p>
          </p:txBody>
        </p:sp>
        <p:sp>
          <p:nvSpPr>
            <p:cNvPr id="25637" name="AutoShape 8"/>
            <p:cNvSpPr/>
            <p:nvPr/>
          </p:nvSpPr>
          <p:spPr>
            <a:xfrm flipV="1">
              <a:off x="2880" y="1342"/>
              <a:ext cx="170" cy="192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E2E2E2"/>
                </a:gs>
              </a:gsLst>
              <a:lin ang="5400000" scaled="1"/>
              <a:tileRect/>
            </a:gra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35877" name="Text Box 37"/>
          <p:cNvSpPr txBox="1"/>
          <p:nvPr/>
        </p:nvSpPr>
        <p:spPr>
          <a:xfrm>
            <a:off x="762000" y="289560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Example</a:t>
            </a:r>
            <a:r>
              <a:rPr lang="en-US" altLang="zh-CN" sz="2400" b="1" dirty="0">
                <a:ea typeface="MS Hei" pitchFamily="49" charset="-122"/>
              </a:rPr>
              <a:t>〗  </a:t>
            </a:r>
            <a:r>
              <a:rPr lang="en-US" altLang="zh-CN" sz="2000" b="1" dirty="0">
                <a:ea typeface="MS Hei" pitchFamily="49" charset="-122"/>
              </a:rPr>
              <a:t>Delete </a:t>
            </a:r>
            <a:r>
              <a:rPr lang="en-US" altLang="zh-CN" sz="2000" b="1" dirty="0">
                <a:solidFill>
                  <a:schemeClr val="hlink"/>
                </a:solidFill>
                <a:ea typeface="MS Hei" pitchFamily="49" charset="-122"/>
              </a:rPr>
              <a:t>60</a:t>
            </a:r>
            <a:endParaRPr lang="en-US" altLang="zh-CN" sz="2400" b="1" dirty="0"/>
          </a:p>
        </p:txBody>
      </p:sp>
      <p:grpSp>
        <p:nvGrpSpPr>
          <p:cNvPr id="3" name="Group 38"/>
          <p:cNvGrpSpPr/>
          <p:nvPr/>
        </p:nvGrpSpPr>
        <p:grpSpPr>
          <a:xfrm>
            <a:off x="5410200" y="2971800"/>
            <a:ext cx="2209800" cy="2819400"/>
            <a:chOff x="1344" y="2256"/>
            <a:chExt cx="1392" cy="1776"/>
          </a:xfrm>
        </p:grpSpPr>
        <p:sp>
          <p:nvSpPr>
            <p:cNvPr id="25614" name="Oval 39"/>
            <p:cNvSpPr/>
            <p:nvPr/>
          </p:nvSpPr>
          <p:spPr>
            <a:xfrm>
              <a:off x="1920" y="225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15" name="Group 40"/>
            <p:cNvGrpSpPr/>
            <p:nvPr/>
          </p:nvGrpSpPr>
          <p:grpSpPr>
            <a:xfrm>
              <a:off x="1920" y="3024"/>
              <a:ext cx="624" cy="624"/>
              <a:chOff x="1392" y="2928"/>
              <a:chExt cx="624" cy="624"/>
            </a:xfrm>
          </p:grpSpPr>
          <p:sp>
            <p:nvSpPr>
              <p:cNvPr id="25630" name="Oval 41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1" name="Oval 42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2" name="Line 43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3" name="Oval 44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4" name="Line 45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16" name="Oval 46"/>
            <p:cNvSpPr/>
            <p:nvPr/>
          </p:nvSpPr>
          <p:spPr>
            <a:xfrm>
              <a:off x="2112" y="379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17" name="Line 47"/>
            <p:cNvSpPr/>
            <p:nvPr/>
          </p:nvSpPr>
          <p:spPr>
            <a:xfrm flipH="1">
              <a:off x="2256" y="3624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8" name="Oval 48"/>
            <p:cNvSpPr/>
            <p:nvPr/>
          </p:nvSpPr>
          <p:spPr>
            <a:xfrm>
              <a:off x="2304" y="264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60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19" name="Line 49"/>
            <p:cNvSpPr/>
            <p:nvPr/>
          </p:nvSpPr>
          <p:spPr>
            <a:xfrm flipH="1">
              <a:off x="2256" y="2856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0" name="Oval 50"/>
            <p:cNvSpPr/>
            <p:nvPr/>
          </p:nvSpPr>
          <p:spPr>
            <a:xfrm flipH="1">
              <a:off x="2496" y="302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21" name="Line 51"/>
            <p:cNvSpPr/>
            <p:nvPr/>
          </p:nvSpPr>
          <p:spPr>
            <a:xfrm>
              <a:off x="2496" y="2856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5622" name="Group 52"/>
            <p:cNvGrpSpPr/>
            <p:nvPr/>
          </p:nvGrpSpPr>
          <p:grpSpPr>
            <a:xfrm>
              <a:off x="1344" y="2640"/>
              <a:ext cx="624" cy="624"/>
              <a:chOff x="1392" y="2928"/>
              <a:chExt cx="624" cy="624"/>
            </a:xfrm>
          </p:grpSpPr>
          <p:sp>
            <p:nvSpPr>
              <p:cNvPr id="25625" name="Oval 53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6" name="Oval 54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7" name="Line 55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8" name="Oval 56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9" name="Line 57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23" name="Line 58"/>
            <p:cNvSpPr/>
            <p:nvPr/>
          </p:nvSpPr>
          <p:spPr>
            <a:xfrm flipH="1">
              <a:off x="1728" y="2448"/>
              <a:ext cx="21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Line 59"/>
            <p:cNvSpPr/>
            <p:nvPr/>
          </p:nvSpPr>
          <p:spPr>
            <a:xfrm>
              <a:off x="2135" y="2448"/>
              <a:ext cx="218" cy="2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900" name="Text Box 60"/>
          <p:cNvSpPr txBox="1"/>
          <p:nvPr/>
        </p:nvSpPr>
        <p:spPr>
          <a:xfrm>
            <a:off x="990600" y="3657600"/>
            <a:ext cx="4191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438275" lvl="0" indent="-1438275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Solution 1:  reset left subtree.</a:t>
            </a:r>
            <a:endParaRPr lang="en-US" altLang="zh-CN" sz="2000" b="1" dirty="0"/>
          </a:p>
        </p:txBody>
      </p:sp>
      <p:sp>
        <p:nvSpPr>
          <p:cNvPr id="35901" name="Oval 61"/>
          <p:cNvSpPr/>
          <p:nvPr/>
        </p:nvSpPr>
        <p:spPr>
          <a:xfrm>
            <a:off x="6934200" y="48006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902" name="Oval 62"/>
          <p:cNvSpPr/>
          <p:nvPr/>
        </p:nvSpPr>
        <p:spPr>
          <a:xfrm>
            <a:off x="6934200" y="35814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55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903" name="Oval 63"/>
          <p:cNvSpPr/>
          <p:nvPr/>
        </p:nvSpPr>
        <p:spPr>
          <a:xfrm>
            <a:off x="6934200" y="48006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904" name="Freeform 64"/>
          <p:cNvSpPr/>
          <p:nvPr/>
        </p:nvSpPr>
        <p:spPr>
          <a:xfrm>
            <a:off x="6550025" y="5162550"/>
            <a:ext cx="536575" cy="70485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38" h="444">
                <a:moveTo>
                  <a:pt x="286" y="0"/>
                </a:moveTo>
                <a:cubicBezTo>
                  <a:pt x="257" y="15"/>
                  <a:pt x="230" y="36"/>
                  <a:pt x="200" y="49"/>
                </a:cubicBezTo>
                <a:cubicBezTo>
                  <a:pt x="176" y="60"/>
                  <a:pt x="126" y="74"/>
                  <a:pt x="126" y="74"/>
                </a:cubicBezTo>
                <a:cubicBezTo>
                  <a:pt x="114" y="82"/>
                  <a:pt x="101" y="89"/>
                  <a:pt x="90" y="98"/>
                </a:cubicBezTo>
                <a:cubicBezTo>
                  <a:pt x="81" y="105"/>
                  <a:pt x="76" y="118"/>
                  <a:pt x="65" y="123"/>
                </a:cubicBezTo>
                <a:cubicBezTo>
                  <a:pt x="0" y="151"/>
                  <a:pt x="4" y="111"/>
                  <a:pt x="4" y="147"/>
                </a:cubicBezTo>
                <a:lnTo>
                  <a:pt x="2" y="444"/>
                </a:lnTo>
                <a:lnTo>
                  <a:pt x="338" y="444"/>
                </a:lnTo>
                <a:lnTo>
                  <a:pt x="286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905" name="Text Box 65"/>
          <p:cNvSpPr txBox="1"/>
          <p:nvPr/>
        </p:nvSpPr>
        <p:spPr>
          <a:xfrm>
            <a:off x="990600" y="4495800"/>
            <a:ext cx="42672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438275" lvl="0" indent="-1438275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Solution 2:  reset right subtree.</a:t>
            </a:r>
            <a:endParaRPr lang="en-US" altLang="zh-CN" sz="2000" b="1" dirty="0"/>
          </a:p>
        </p:txBody>
      </p:sp>
      <p:sp>
        <p:nvSpPr>
          <p:cNvPr id="25613" name="Text Box 66"/>
          <p:cNvSpPr txBox="1"/>
          <p:nvPr/>
        </p:nvSpPr>
        <p:spPr>
          <a:xfrm>
            <a:off x="381000" y="6096000"/>
            <a:ext cx="9144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8/22</a:t>
            </a:r>
            <a:endParaRPr lang="en-US" altLang="zh-CN" sz="1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32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charRg st="32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charRg st="32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46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3">
                                            <p:txEl>
                                              <p:charRg st="146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charRg st="146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97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77" grpId="0"/>
      <p:bldP spid="35900" grpId="0"/>
      <p:bldP spid="35901" grpId="0" animBg="1"/>
      <p:bldP spid="35902" grpId="0" animBg="1"/>
      <p:bldP spid="35903" grpId="0" animBg="1"/>
      <p:bldP spid="3590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AutoShape 3"/>
          <p:cNvSpPr/>
          <p:nvPr/>
        </p:nvSpPr>
        <p:spPr>
          <a:xfrm>
            <a:off x="381000" y="152400"/>
            <a:ext cx="8229600" cy="6096000"/>
          </a:xfrm>
          <a:prstGeom prst="foldedCorner">
            <a:avLst>
              <a:gd name="adj" fmla="val 9009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216000" tIns="190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SearchTree  Delete( ElementType X, SearchTree 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 Position  TmpCell;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  Error( "Element not found"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  if</a:t>
            </a:r>
            <a:r>
              <a:rPr lang="en-US" altLang="zh-CN" sz="1800" b="1" dirty="0">
                <a:latin typeface="Arial" panose="020B0604020202020204" pitchFamily="34" charset="0"/>
              </a:rPr>
              <a:t> ( X &lt; T-&gt;Data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Go left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T-&gt;Left = Delete( X, T-&gt;Left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  if</a:t>
            </a:r>
            <a:r>
              <a:rPr lang="en-US" altLang="zh-CN" sz="1800" b="1" dirty="0">
                <a:latin typeface="Arial" panose="020B0604020202020204" pitchFamily="34" charset="0"/>
              </a:rPr>
              <a:t> ( X &gt; T-&gt;Data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Go right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T-&gt;Right = Delete( X, T-&gt;Right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Found element to be deleted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T-&gt;Left &amp;&amp; T-&gt;Right ) {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Two children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Replace with smallest in right subtree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TmpCell = FindMin( T-&gt;Right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T-&gt;Data = TmpCell-&gt;Data;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T-&gt;Right = Delete( T-&gt;Data, T-&gt;Right );  }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if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{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One or zero child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TmpCell = 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T-&gt;Left == NULL )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Also handles 0 child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         T = T-&gt;Right;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  if </a:t>
            </a:r>
            <a:r>
              <a:rPr lang="en-US" altLang="zh-CN" sz="1800" b="1" dirty="0">
                <a:latin typeface="Arial" panose="020B0604020202020204" pitchFamily="34" charset="0"/>
              </a:rPr>
              <a:t>( T-&gt;Right == NULL )  T = T-&gt;Left;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free</a:t>
            </a:r>
            <a:r>
              <a:rPr lang="en-US" altLang="zh-CN" sz="1800" b="1" dirty="0">
                <a:latin typeface="Arial" panose="020B0604020202020204" pitchFamily="34" charset="0"/>
              </a:rPr>
              <a:t>( TmpCell );  }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else 1 or 0 child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 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27651" name="Rectangle 4"/>
          <p:cNvSpPr/>
          <p:nvPr/>
        </p:nvSpPr>
        <p:spPr>
          <a:xfrm>
            <a:off x="1752600" y="6308725"/>
            <a:ext cx="5638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= O (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 where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is the height of the tree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pSp>
        <p:nvGrpSpPr>
          <p:cNvPr id="27652" name="Group 38"/>
          <p:cNvGrpSpPr/>
          <p:nvPr/>
        </p:nvGrpSpPr>
        <p:grpSpPr>
          <a:xfrm>
            <a:off x="6394450" y="228600"/>
            <a:ext cx="2209800" cy="2819400"/>
            <a:chOff x="1344" y="2256"/>
            <a:chExt cx="1392" cy="1776"/>
          </a:xfrm>
        </p:grpSpPr>
        <p:sp>
          <p:nvSpPr>
            <p:cNvPr id="27655" name="Oval 39"/>
            <p:cNvSpPr/>
            <p:nvPr/>
          </p:nvSpPr>
          <p:spPr>
            <a:xfrm>
              <a:off x="1920" y="225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656" name="Group 40"/>
            <p:cNvGrpSpPr/>
            <p:nvPr/>
          </p:nvGrpSpPr>
          <p:grpSpPr>
            <a:xfrm>
              <a:off x="1920" y="3024"/>
              <a:ext cx="624" cy="624"/>
              <a:chOff x="1392" y="2928"/>
              <a:chExt cx="624" cy="624"/>
            </a:xfrm>
          </p:grpSpPr>
          <p:sp>
            <p:nvSpPr>
              <p:cNvPr id="27671" name="Oval 41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2" name="Oval 42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3" name="Line 43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4" name="Oval 44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5" name="Line 45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657" name="Oval 46"/>
            <p:cNvSpPr/>
            <p:nvPr/>
          </p:nvSpPr>
          <p:spPr>
            <a:xfrm>
              <a:off x="2112" y="379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58" name="Line 47"/>
            <p:cNvSpPr/>
            <p:nvPr/>
          </p:nvSpPr>
          <p:spPr>
            <a:xfrm flipH="1">
              <a:off x="2256" y="3624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9" name="Oval 48"/>
            <p:cNvSpPr/>
            <p:nvPr/>
          </p:nvSpPr>
          <p:spPr>
            <a:xfrm>
              <a:off x="2304" y="264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0" name="Line 49"/>
            <p:cNvSpPr/>
            <p:nvPr/>
          </p:nvSpPr>
          <p:spPr>
            <a:xfrm flipH="1">
              <a:off x="2256" y="2856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Oval 50"/>
            <p:cNvSpPr/>
            <p:nvPr/>
          </p:nvSpPr>
          <p:spPr>
            <a:xfrm flipH="1">
              <a:off x="2496" y="302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2" name="Line 51"/>
            <p:cNvSpPr/>
            <p:nvPr/>
          </p:nvSpPr>
          <p:spPr>
            <a:xfrm>
              <a:off x="2496" y="2856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663" name="Group 52"/>
            <p:cNvGrpSpPr/>
            <p:nvPr/>
          </p:nvGrpSpPr>
          <p:grpSpPr>
            <a:xfrm>
              <a:off x="1344" y="2640"/>
              <a:ext cx="624" cy="624"/>
              <a:chOff x="1392" y="2928"/>
              <a:chExt cx="624" cy="624"/>
            </a:xfrm>
          </p:grpSpPr>
          <p:sp>
            <p:nvSpPr>
              <p:cNvPr id="27666" name="Oval 53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7" name="Oval 54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8" name="Line 55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9" name="Oval 56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0" name="Line 57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664" name="Line 58"/>
            <p:cNvSpPr/>
            <p:nvPr/>
          </p:nvSpPr>
          <p:spPr>
            <a:xfrm flipH="1">
              <a:off x="1728" y="2448"/>
              <a:ext cx="21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5" name="Line 59"/>
            <p:cNvSpPr/>
            <p:nvPr/>
          </p:nvSpPr>
          <p:spPr>
            <a:xfrm>
              <a:off x="2135" y="2448"/>
              <a:ext cx="218" cy="2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cxnSp>
        <p:nvCxnSpPr>
          <p:cNvPr id="3" name="直接箭头连接符 2"/>
          <p:cNvCxnSpPr/>
          <p:nvPr/>
        </p:nvCxnSpPr>
        <p:spPr>
          <a:xfrm flipH="1">
            <a:off x="7772400" y="381000"/>
            <a:ext cx="52705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文本框 25"/>
          <p:cNvSpPr txBox="1"/>
          <p:nvPr/>
        </p:nvSpPr>
        <p:spPr>
          <a:xfrm>
            <a:off x="8208963" y="207963"/>
            <a:ext cx="685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T1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5"/>
          <p:cNvSpPr/>
          <p:nvPr/>
        </p:nvSpPr>
        <p:spPr>
          <a:xfrm>
            <a:off x="533400" y="533400"/>
            <a:ext cx="8153400" cy="2813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spcAft>
                <a:spcPct val="40000"/>
              </a:spcAft>
              <a:buNone/>
            </a:pPr>
            <a:r>
              <a:rPr lang="en-US" altLang="zh-CN" sz="2800" b="1" dirty="0">
                <a:solidFill>
                  <a:schemeClr val="hlink"/>
                </a:solidFill>
              </a:rPr>
              <a:t>Operations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pPr marL="742950" lvl="1" indent="-28575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 </a:t>
            </a:r>
            <a:r>
              <a:rPr lang="en-US" altLang="zh-CN" sz="2400" b="1" dirty="0"/>
              <a:t>PtrToNode  </a:t>
            </a:r>
            <a:r>
              <a:rPr lang="en-US" altLang="zh-CN" sz="2400" b="1" dirty="0">
                <a:solidFill>
                  <a:srgbClr val="008000"/>
                </a:solidFill>
              </a:rPr>
              <a:t>Search</a:t>
            </a:r>
            <a:r>
              <a:rPr lang="en-US" altLang="zh-CN" sz="2400" b="1" dirty="0"/>
              <a:t>( int X, SearchTree T ); </a:t>
            </a:r>
            <a:endParaRPr lang="en-US" altLang="zh-CN" sz="2400" b="1" dirty="0"/>
          </a:p>
          <a:p>
            <a:pPr marL="742950" lvl="1" indent="-28575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 </a:t>
            </a:r>
            <a:r>
              <a:rPr lang="en-US" altLang="zh-CN" sz="2400" b="1" dirty="0"/>
              <a:t>PtrToNode </a:t>
            </a:r>
            <a:r>
              <a:rPr lang="en-US" altLang="zh-CN" sz="2400" b="1" dirty="0">
                <a:solidFill>
                  <a:srgbClr val="008000"/>
                </a:solidFill>
              </a:rPr>
              <a:t>FindMin</a:t>
            </a:r>
            <a:r>
              <a:rPr lang="en-US" altLang="zh-CN" sz="2400" b="1" dirty="0"/>
              <a:t>( SearchTree T ); </a:t>
            </a:r>
            <a:endParaRPr lang="en-US" altLang="zh-CN" sz="2400" b="1" dirty="0"/>
          </a:p>
          <a:p>
            <a:pPr marL="742950" lvl="1" indent="-28575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 </a:t>
            </a:r>
            <a:r>
              <a:rPr lang="en-US" altLang="zh-CN" sz="2400" b="1" dirty="0"/>
              <a:t>PtrToNode </a:t>
            </a:r>
            <a:r>
              <a:rPr lang="en-US" altLang="zh-CN" sz="2400" b="1" dirty="0">
                <a:solidFill>
                  <a:srgbClr val="008000"/>
                </a:solidFill>
              </a:rPr>
              <a:t>FindMax</a:t>
            </a:r>
            <a:r>
              <a:rPr lang="en-US" altLang="zh-CN" sz="2400" b="1" dirty="0"/>
              <a:t>( SearchTree T ); </a:t>
            </a:r>
            <a:endParaRPr lang="en-US" altLang="zh-CN" sz="2400" b="1" dirty="0"/>
          </a:p>
          <a:p>
            <a:pPr marL="742950" lvl="1" indent="-28575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 </a:t>
            </a:r>
            <a:r>
              <a:rPr lang="en-US" altLang="zh-CN" sz="2400" b="1" dirty="0"/>
              <a:t>SearchTree  </a:t>
            </a:r>
            <a:r>
              <a:rPr lang="en-US" altLang="zh-CN" sz="2400" b="1" dirty="0">
                <a:solidFill>
                  <a:srgbClr val="008000"/>
                </a:solidFill>
              </a:rPr>
              <a:t>Insert</a:t>
            </a:r>
            <a:r>
              <a:rPr lang="en-US" altLang="zh-CN" sz="2400" b="1" dirty="0"/>
              <a:t>( int X, SearchTree T ); </a:t>
            </a:r>
            <a:endParaRPr lang="en-US" altLang="zh-CN" sz="2400" b="1" dirty="0"/>
          </a:p>
          <a:p>
            <a:pPr marL="742950" lvl="1" indent="-28575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 </a:t>
            </a:r>
            <a:r>
              <a:rPr lang="en-US" altLang="zh-CN" sz="2400" b="1" dirty="0"/>
              <a:t>SearchTree  </a:t>
            </a:r>
            <a:r>
              <a:rPr lang="en-US" altLang="zh-CN" sz="2400" b="1" dirty="0">
                <a:solidFill>
                  <a:srgbClr val="008000"/>
                </a:solidFill>
              </a:rPr>
              <a:t>Delete</a:t>
            </a:r>
            <a:r>
              <a:rPr lang="en-US" altLang="zh-CN" sz="2400" b="1" dirty="0"/>
              <a:t>( int X, SearchTree T ); </a:t>
            </a:r>
            <a:endParaRPr lang="en-US" altLang="zh-CN" sz="2400" b="1" dirty="0"/>
          </a:p>
        </p:txBody>
      </p:sp>
      <p:sp>
        <p:nvSpPr>
          <p:cNvPr id="3" name="Rectangle 4"/>
          <p:cNvSpPr/>
          <p:nvPr/>
        </p:nvSpPr>
        <p:spPr>
          <a:xfrm>
            <a:off x="1246188" y="5105400"/>
            <a:ext cx="6705600" cy="4619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= O (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, where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is the height of the BST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8676" name="文本框 3"/>
          <p:cNvSpPr txBox="1"/>
          <p:nvPr/>
        </p:nvSpPr>
        <p:spPr>
          <a:xfrm>
            <a:off x="484188" y="4090988"/>
            <a:ext cx="822960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/>
              <a:t>The time complexity of all these operations are: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867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4" name="Text Box 4"/>
          <p:cNvSpPr txBox="1"/>
          <p:nvPr/>
        </p:nvSpPr>
        <p:spPr>
          <a:xfrm>
            <a:off x="76200" y="228600"/>
            <a:ext cx="8991600" cy="8302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612900" lvl="0" indent="-16129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Question:</a:t>
            </a:r>
            <a:r>
              <a:rPr lang="en-US" altLang="zh-CN" sz="2400" b="1" dirty="0"/>
              <a:t>  Insert 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 elements into an original empty binary search tree.  How high can this tree be?</a:t>
            </a:r>
            <a:endParaRPr lang="en-US" altLang="zh-CN" sz="2400" b="1" dirty="0"/>
          </a:p>
        </p:txBody>
      </p:sp>
      <p:sp>
        <p:nvSpPr>
          <p:cNvPr id="40965" name="Text Box 5"/>
          <p:cNvSpPr txBox="1"/>
          <p:nvPr/>
        </p:nvSpPr>
        <p:spPr>
          <a:xfrm>
            <a:off x="152400" y="1143000"/>
            <a:ext cx="8305800" cy="8302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612900" lvl="0" indent="-16129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Answer:</a:t>
            </a:r>
            <a:r>
              <a:rPr lang="en-US" altLang="zh-CN" sz="2400" b="1" dirty="0"/>
              <a:t>  The height depends on the order of insertion.</a:t>
            </a:r>
            <a:endParaRPr lang="en-US" altLang="zh-CN" sz="2400" b="1" dirty="0"/>
          </a:p>
        </p:txBody>
      </p:sp>
      <p:sp>
        <p:nvSpPr>
          <p:cNvPr id="40966" name="Text Box 6"/>
          <p:cNvSpPr txBox="1"/>
          <p:nvPr/>
        </p:nvSpPr>
        <p:spPr>
          <a:xfrm>
            <a:off x="457200" y="2057400"/>
            <a:ext cx="8458200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ea typeface="MS Hei" pitchFamily="49" charset="-122"/>
              </a:rPr>
              <a:t>〖</a:t>
            </a:r>
            <a:r>
              <a:rPr lang="en-US" altLang="zh-CN" sz="2000" b="1" dirty="0"/>
              <a:t>Example</a:t>
            </a:r>
            <a:r>
              <a:rPr lang="en-US" altLang="zh-CN" sz="2000" b="1" dirty="0">
                <a:ea typeface="MS Hei" pitchFamily="49" charset="-122"/>
              </a:rPr>
              <a:t>〗</a:t>
            </a:r>
            <a:r>
              <a:rPr lang="en-US" altLang="zh-CN" sz="2000" b="1" dirty="0"/>
              <a:t>  Given elements  1, 2, 3, 4, 5, 6, 7.  Insert them into an originally empty BST one by one in the orders:</a:t>
            </a:r>
            <a:endParaRPr lang="en-US" altLang="zh-CN" sz="2000" b="1" dirty="0"/>
          </a:p>
          <a:p>
            <a:pPr marL="292100" lvl="0" indent="-292100" algn="ctr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4, 2, 1, 3, 6, 5, 7           and           1, 2, 3, 4, 5, 6, 7</a:t>
            </a:r>
            <a:endParaRPr lang="en-US" altLang="zh-CN" sz="2000" b="1" dirty="0"/>
          </a:p>
        </p:txBody>
      </p:sp>
      <p:grpSp>
        <p:nvGrpSpPr>
          <p:cNvPr id="2" name="Group 7"/>
          <p:cNvGrpSpPr/>
          <p:nvPr/>
        </p:nvGrpSpPr>
        <p:grpSpPr>
          <a:xfrm>
            <a:off x="914400" y="3505200"/>
            <a:ext cx="2209800" cy="1600200"/>
            <a:chOff x="1584" y="2352"/>
            <a:chExt cx="1392" cy="1008"/>
          </a:xfrm>
        </p:grpSpPr>
        <p:sp>
          <p:nvSpPr>
            <p:cNvPr id="29721" name="Oval 8"/>
            <p:cNvSpPr/>
            <p:nvPr/>
          </p:nvSpPr>
          <p:spPr>
            <a:xfrm>
              <a:off x="2160" y="23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22" name="Oval 9"/>
            <p:cNvSpPr/>
            <p:nvPr/>
          </p:nvSpPr>
          <p:spPr>
            <a:xfrm>
              <a:off x="2352" y="31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23" name="Oval 10"/>
            <p:cNvSpPr/>
            <p:nvPr/>
          </p:nvSpPr>
          <p:spPr>
            <a:xfrm>
              <a:off x="2544" y="27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24" name="Line 11"/>
            <p:cNvSpPr/>
            <p:nvPr/>
          </p:nvSpPr>
          <p:spPr>
            <a:xfrm flipH="1">
              <a:off x="2496" y="2952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5" name="Oval 12"/>
            <p:cNvSpPr/>
            <p:nvPr/>
          </p:nvSpPr>
          <p:spPr>
            <a:xfrm flipH="1">
              <a:off x="2736" y="31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26" name="Line 13"/>
            <p:cNvSpPr/>
            <p:nvPr/>
          </p:nvSpPr>
          <p:spPr>
            <a:xfrm>
              <a:off x="2736" y="2952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9727" name="Group 14"/>
            <p:cNvGrpSpPr/>
            <p:nvPr/>
          </p:nvGrpSpPr>
          <p:grpSpPr>
            <a:xfrm>
              <a:off x="1584" y="2736"/>
              <a:ext cx="624" cy="624"/>
              <a:chOff x="1392" y="2928"/>
              <a:chExt cx="624" cy="624"/>
            </a:xfrm>
          </p:grpSpPr>
          <p:sp>
            <p:nvSpPr>
              <p:cNvPr id="29730" name="Oval 15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1" name="Oval 16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2" name="Line 17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3" name="Oval 18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4" name="Line 19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9728" name="Line 20"/>
            <p:cNvSpPr/>
            <p:nvPr/>
          </p:nvSpPr>
          <p:spPr>
            <a:xfrm flipH="1">
              <a:off x="1968" y="2544"/>
              <a:ext cx="21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9" name="Line 21"/>
            <p:cNvSpPr/>
            <p:nvPr/>
          </p:nvSpPr>
          <p:spPr>
            <a:xfrm>
              <a:off x="2375" y="2544"/>
              <a:ext cx="218" cy="2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982" name="Text Box 22"/>
          <p:cNvSpPr txBox="1"/>
          <p:nvPr/>
        </p:nvSpPr>
        <p:spPr>
          <a:xfrm>
            <a:off x="1219200" y="5257800"/>
            <a:ext cx="1676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2</a:t>
            </a:r>
            <a:endParaRPr lang="en-US" altLang="zh-CN" sz="24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23"/>
          <p:cNvGrpSpPr/>
          <p:nvPr/>
        </p:nvGrpSpPr>
        <p:grpSpPr>
          <a:xfrm rot="1200000">
            <a:off x="5334000" y="3348038"/>
            <a:ext cx="2633663" cy="2482850"/>
            <a:chOff x="3504" y="2208"/>
            <a:chExt cx="1659" cy="1564"/>
          </a:xfrm>
        </p:grpSpPr>
        <p:grpSp>
          <p:nvGrpSpPr>
            <p:cNvPr id="29706" name="Group 24"/>
            <p:cNvGrpSpPr/>
            <p:nvPr/>
          </p:nvGrpSpPr>
          <p:grpSpPr>
            <a:xfrm rot="-1800000">
              <a:off x="3504" y="2208"/>
              <a:ext cx="818" cy="1440"/>
              <a:chOff x="3216" y="2304"/>
              <a:chExt cx="1008" cy="1776"/>
            </a:xfrm>
          </p:grpSpPr>
          <p:sp>
            <p:nvSpPr>
              <p:cNvPr id="29712" name="Oval 25"/>
              <p:cNvSpPr/>
              <p:nvPr/>
            </p:nvSpPr>
            <p:spPr>
              <a:xfrm>
                <a:off x="3408" y="268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3" name="Oval 26"/>
              <p:cNvSpPr/>
              <p:nvPr/>
            </p:nvSpPr>
            <p:spPr>
              <a:xfrm flipH="1">
                <a:off x="3600" y="307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4" name="Line 27"/>
              <p:cNvSpPr/>
              <p:nvPr/>
            </p:nvSpPr>
            <p:spPr>
              <a:xfrm>
                <a:off x="3600" y="290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5" name="Oval 28"/>
              <p:cNvSpPr/>
              <p:nvPr/>
            </p:nvSpPr>
            <p:spPr>
              <a:xfrm>
                <a:off x="3216" y="2304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6" name="Line 29"/>
              <p:cNvSpPr/>
              <p:nvPr/>
            </p:nvSpPr>
            <p:spPr>
              <a:xfrm>
                <a:off x="3408" y="2520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7" name="Oval 30"/>
              <p:cNvSpPr/>
              <p:nvPr/>
            </p:nvSpPr>
            <p:spPr>
              <a:xfrm>
                <a:off x="3792" y="345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8" name="Oval 31"/>
              <p:cNvSpPr/>
              <p:nvPr/>
            </p:nvSpPr>
            <p:spPr>
              <a:xfrm flipH="1">
                <a:off x="3984" y="3840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9" name="Line 32"/>
              <p:cNvSpPr/>
              <p:nvPr/>
            </p:nvSpPr>
            <p:spPr>
              <a:xfrm>
                <a:off x="3984" y="3672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20" name="Line 33"/>
              <p:cNvSpPr/>
              <p:nvPr/>
            </p:nvSpPr>
            <p:spPr>
              <a:xfrm>
                <a:off x="3792" y="3288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07" name="Group 34"/>
            <p:cNvGrpSpPr/>
            <p:nvPr/>
          </p:nvGrpSpPr>
          <p:grpSpPr>
            <a:xfrm>
              <a:off x="4603" y="3301"/>
              <a:ext cx="560" cy="471"/>
              <a:chOff x="4435" y="3180"/>
              <a:chExt cx="560" cy="471"/>
            </a:xfrm>
          </p:grpSpPr>
          <p:sp>
            <p:nvSpPr>
              <p:cNvPr id="29708" name="Oval 35"/>
              <p:cNvSpPr/>
              <p:nvPr/>
            </p:nvSpPr>
            <p:spPr>
              <a:xfrm rot="-1800000">
                <a:off x="4510" y="3265"/>
                <a:ext cx="195" cy="19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Oval 36"/>
              <p:cNvSpPr/>
              <p:nvPr/>
            </p:nvSpPr>
            <p:spPr>
              <a:xfrm rot="-1800000" flipH="1">
                <a:off x="4800" y="3456"/>
                <a:ext cx="195" cy="19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Line 37"/>
              <p:cNvSpPr/>
              <p:nvPr/>
            </p:nvSpPr>
            <p:spPr>
              <a:xfrm rot="-1800000">
                <a:off x="4725" y="3372"/>
                <a:ext cx="78" cy="1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1" name="Line 38"/>
              <p:cNvSpPr/>
              <p:nvPr/>
            </p:nvSpPr>
            <p:spPr>
              <a:xfrm rot="-1800000">
                <a:off x="4435" y="3180"/>
                <a:ext cx="78" cy="1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0999" name="Text Box 39"/>
          <p:cNvSpPr txBox="1"/>
          <p:nvPr/>
        </p:nvSpPr>
        <p:spPr>
          <a:xfrm>
            <a:off x="6629400" y="4038600"/>
            <a:ext cx="1524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6</a:t>
            </a:r>
            <a:endParaRPr lang="en-US" altLang="zh-CN" sz="24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1" name="Text Box 41"/>
          <p:cNvSpPr txBox="1"/>
          <p:nvPr/>
        </p:nvSpPr>
        <p:spPr>
          <a:xfrm>
            <a:off x="263525" y="5715000"/>
            <a:ext cx="7219950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In the best case: </a:t>
            </a:r>
            <a:r>
              <a:rPr lang="en-US" altLang="zh-CN" sz="2400" b="1" dirty="0"/>
              <a:t>height of the tree= ?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In the worst case</a:t>
            </a:r>
            <a:r>
              <a:rPr lang="en-US" altLang="zh-CN" sz="2400" b="1" dirty="0"/>
              <a:t>: height of the tree= ?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40965" grpId="0"/>
      <p:bldP spid="40966" grpId="0"/>
      <p:bldP spid="40982" grpId="0"/>
      <p:bldP spid="40999" grpId="0"/>
      <p:bldP spid="41001" grpId="0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ShortAnswer"/>
</p:tagLst>
</file>

<file path=ppt/tags/tag3.xml><?xml version="1.0" encoding="utf-8"?>
<p:tagLst xmlns:p="http://schemas.openxmlformats.org/presentationml/2006/main">
  <p:tag name="PRODUCTVERSIONTIP" val="PRODUCTVERSIONTIP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ProblemSetting"/>
  <p:tag name="RAINPROBLEMTYPE" val="ShortAnswer"/>
</p:tagLst>
</file>

<file path=ppt/tags/tag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0.xml><?xml version="1.0" encoding="utf-8"?>
<p:tagLst xmlns:p="http://schemas.openxmlformats.org/presentationml/2006/main">
  <p:tag name="RAINPROBLEM" val="ProblemBody"/>
</p:tagLst>
</file>

<file path=ppt/tags/tag11.xml><?xml version="1.0" encoding="utf-8"?>
<p:tagLst xmlns:p="http://schemas.openxmlformats.org/presentationml/2006/main">
  <p:tag name="RAINPROBLEM" val="ProblemSubmit"/>
  <p:tag name="RAINPROBLEMTYPE" val="ShortAnswer"/>
</p:tagLst>
</file>

<file path=ppt/tags/tag12.xml><?xml version="1.0" encoding="utf-8"?>
<p:tagLst xmlns:p="http://schemas.openxmlformats.org/presentationml/2006/main">
  <p:tag name="PRODUCTVERSIONTIP" val="PRODUCTVERSIONTIP"/>
</p:tagLst>
</file>

<file path=ppt/tags/tag13.xml><?xml version="1.0" encoding="utf-8"?>
<p:tagLst xmlns:p="http://schemas.openxmlformats.org/presentationml/2006/main">
  <p:tag name="RAINPROBLEM" val="ProblemRemarkBoard"/>
</p:tagLst>
</file>

<file path=ppt/tags/tag14.xml><?xml version="1.0" encoding="utf-8"?>
<p:tagLst xmlns:p="http://schemas.openxmlformats.org/presentationml/2006/main">
  <p:tag name="PROBLEMREMARKTITLE" val="ProblemRemarkBoardTip"/>
</p:tagLst>
</file>

<file path=ppt/tags/tag15.xml><?xml version="1.0" encoding="utf-8"?>
<p:tagLst xmlns:p="http://schemas.openxmlformats.org/presentationml/2006/main">
  <p:tag name="RAINPROBLEM" val="ProblemRemark"/>
</p:tagLst>
</file>

<file path=ppt/tags/tag16.xml><?xml version="1.0" encoding="utf-8"?>
<p:tagLst xmlns:p="http://schemas.openxmlformats.org/presentationml/2006/main">
  <p:tag name="PROBLEMREMARKTITLE" val="ProblemRemarkBoardTitle"/>
</p:tagLst>
</file>

<file path=ppt/tags/tag17.xml><?xml version="1.0" encoding="utf-8"?>
<p:tagLst xmlns:p="http://schemas.openxmlformats.org/presentationml/2006/main">
  <p:tag name="PROBLEMREMARKTITLE" val="ProblemRemarkBoardTitle"/>
</p:tagLst>
</file>

<file path=ppt/tags/tag18.xml><?xml version="1.0" encoding="utf-8"?>
<p:tagLst xmlns:p="http://schemas.openxmlformats.org/presentationml/2006/main">
  <p:tag name="PROBLEMREMARKTITLE" val="ProblemRemarkBoardTitle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PROBLEMREMARKTITLE" val="ProblemRemarkBoardTitle"/>
</p:tagLst>
</file>

<file path=ppt/tags/tag24.xml><?xml version="1.0" encoding="utf-8"?>
<p:tagLst xmlns:p="http://schemas.openxmlformats.org/presentationml/2006/main">
  <p:tag name="PROBLEMREMARKTITLE" val="ProblemRemarkBoardTitle"/>
</p:tagLst>
</file>

<file path=ppt/tags/tag25.xml><?xml version="1.0" encoding="utf-8"?>
<p:tagLst xmlns:p="http://schemas.openxmlformats.org/presentationml/2006/main">
  <p:tag name="PROBLEMREMARKTITLE" val="ProblemRemarkBoardTitle"/>
</p:tagLst>
</file>

<file path=ppt/tags/tag26.xml><?xml version="1.0" encoding="utf-8"?>
<p:tagLst xmlns:p="http://schemas.openxmlformats.org/presentationml/2006/main">
  <p:tag name="PROBLEMREMARKTITLE" val="ProblemRemarkBoardTitle"/>
</p:tagLst>
</file>

<file path=ppt/tags/tag27.xml><?xml version="1.0" encoding="utf-8"?>
<p:tagLst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p="http://schemas.openxmlformats.org/presentationml/2006/main">
  <p:tag name="RAINPROBLEM" val="ShortAnswer"/>
  <p:tag name="PROBLEMSCORE" val="10.0"/>
  <p:tag name="PROBLEMHASREMARK" val="True"/>
  <p:tag name="PROBLEMREMARK" val="T-&gt;Right != NULL"/>
  <p:tag name="PROBLEMVOICEALLOWED" val="False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Submit"/>
  <p:tag name="RAINPROBLEMTYPE" val="ShortAnswer"/>
</p:tagLst>
</file>

<file path=ppt/tags/tag31.xml><?xml version="1.0" encoding="utf-8"?>
<p:tagLst xmlns:p="http://schemas.openxmlformats.org/presentationml/2006/main">
  <p:tag name="PRODUCTVERSIONTIP" val="PRODUCTVERSIONTIP"/>
</p:tagLst>
</file>

<file path=ppt/tags/tag32.xml><?xml version="1.0" encoding="utf-8"?>
<p:tagLst xmlns:p="http://schemas.openxmlformats.org/presentationml/2006/main">
  <p:tag name="RAINPROBLEM" val="ProblemRemarkBoard"/>
</p:tagLst>
</file>

<file path=ppt/tags/tag33.xml><?xml version="1.0" encoding="utf-8"?>
<p:tagLst xmlns:p="http://schemas.openxmlformats.org/presentationml/2006/main">
  <p:tag name="PROBLEMREMARKTITLE" val="ProblemRemarkBoardTip"/>
</p:tagLst>
</file>

<file path=ppt/tags/tag34.xml><?xml version="1.0" encoding="utf-8"?>
<p:tagLst xmlns:p="http://schemas.openxmlformats.org/presentationml/2006/main">
  <p:tag name="RAINPROBLEM" val="ProblemRemark"/>
</p:tagLst>
</file>

<file path=ppt/tags/tag35.xml><?xml version="1.0" encoding="utf-8"?>
<p:tagLst xmlns:p="http://schemas.openxmlformats.org/presentationml/2006/main">
  <p:tag name="PROBLEMREMARKTITLE" val="ProblemRemarkBoardTitle"/>
</p:tagLst>
</file>

<file path=ppt/tags/tag36.xml><?xml version="1.0" encoding="utf-8"?>
<p:tagLst xmlns:p="http://schemas.openxmlformats.org/presentationml/2006/main">
  <p:tag name="PROBLEMREMARKTITLE" val="ProblemRemarkBoardTitle"/>
</p:tagLst>
</file>

<file path=ppt/tags/tag37.xml><?xml version="1.0" encoding="utf-8"?>
<p:tagLst xmlns:p="http://schemas.openxmlformats.org/presentationml/2006/main">
  <p:tag name="PROBLEMREMARKTITLE" val="ProblemRemarkBoardTitle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PROBLEMREMARKTITLE" val="ProblemRemarkBoardTitle"/>
</p:tagLst>
</file>

<file path=ppt/tags/tag43.xml><?xml version="1.0" encoding="utf-8"?>
<p:tagLst xmlns:p="http://schemas.openxmlformats.org/presentationml/2006/main">
  <p:tag name="PROBLEMREMARKTITLE" val="ProblemRemarkBoardTitle"/>
</p:tagLst>
</file>

<file path=ppt/tags/tag44.xml><?xml version="1.0" encoding="utf-8"?>
<p:tagLst xmlns:p="http://schemas.openxmlformats.org/presentationml/2006/main">
  <p:tag name="PROBLEMREMARKTITLE" val="ProblemRemarkBoardTitle"/>
</p:tagLst>
</file>

<file path=ppt/tags/tag45.xml><?xml version="1.0" encoding="utf-8"?>
<p:tagLst xmlns:p="http://schemas.openxmlformats.org/presentationml/2006/main">
  <p:tag name="PROBLEMREMARKTITLE" val="ProblemRemarkBoardTitle"/>
</p:tagLst>
</file>

<file path=ppt/tags/tag46.xml><?xml version="1.0" encoding="utf-8"?>
<p:tagLst xmlns:p="http://schemas.openxmlformats.org/presentationml/2006/main">
  <p:tag name="RAINPROBLEM" val="ProblemSetting"/>
  <p:tag name="RAINPROBLEMTYPE" val="ShortAnswer"/>
</p:tagLst>
</file>

<file path=ppt/tags/tag47.xml><?xml version="1.0" encoding="utf-8"?>
<p:tagLst xmlns:p="http://schemas.openxmlformats.org/presentationml/2006/main">
  <p:tag name="RAINPROBLEM" val="ShortAnswer"/>
  <p:tag name="PROBLEMSCORE" val="10.0"/>
  <p:tag name="PROBLEMHASREMARK" val="True"/>
  <p:tag name="PROBLEMREMARK" val="T-&gt;Right==NULL"/>
  <p:tag name="PROBLEMVOICEALLOWED" val="False"/>
</p:tagLst>
</file>

<file path=ppt/tags/tag48.xml><?xml version="1.0" encoding="utf-8"?>
<p:tagLst xmlns:p="http://schemas.openxmlformats.org/presentationml/2006/main">
  <p:tag name="RAINPROBLEM" val="ProblemBody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p="http://schemas.openxmlformats.org/presentationml/2006/main">
  <p:tag name="RAINPROBLEM" val="ProblemSubmit"/>
  <p:tag name="RAINPROBLEMTYPE" val="MultipleChoice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" val="ProblemSetting"/>
  <p:tag name="RAINPROBLEMTYPE" val="MultipleChoice"/>
</p:tagLst>
</file>

<file path=ppt/tags/tag59.xml><?xml version="1.0" encoding="utf-8"?>
<p:tagLst xmlns:p="http://schemas.openxmlformats.org/presentationml/2006/main">
  <p:tag name="RAINPROBLEM" val="MultipleChoice"/>
  <p:tag name="PROBLEMSCORE" val="1.0"/>
  <p:tag name="PROBLEMHASREMARK" val="False"/>
</p:tagLst>
</file>

<file path=ppt/tags/tag60.xml><?xml version="1.0" encoding="utf-8"?>
<p:tagLst xmlns:p="http://schemas.openxmlformats.org/presentationml/2006/main">
  <p:tag name="RAINPROBLEM" val="ProblemBody"/>
</p:tagLst>
</file>

<file path=ppt/tags/tag61.xml><?xml version="1.0" encoding="utf-8"?>
<p:tagLst xmlns:p="http://schemas.openxmlformats.org/presentationml/2006/main">
  <p:tag name="RAINPROBLEM" val="ProblemItem"/>
</p:tagLst>
</file>

<file path=ppt/tags/tag62.xml><?xml version="1.0" encoding="utf-8"?>
<p:tagLst xmlns:p="http://schemas.openxmlformats.org/presentationml/2006/main">
  <p:tag name="RAINPROBLEM" val="ProblemItem"/>
</p:tagLst>
</file>

<file path=ppt/tags/tag6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11535</Words>
  <Application>WPS 演示</Application>
  <PresentationFormat>全屏显示(4:3)</PresentationFormat>
  <Paragraphs>815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44</vt:i4>
      </vt:variant>
    </vt:vector>
  </HeadingPairs>
  <TitlesOfParts>
    <vt:vector size="63" baseType="lpstr">
      <vt:lpstr>Arial</vt:lpstr>
      <vt:lpstr>宋体</vt:lpstr>
      <vt:lpstr>Wingdings</vt:lpstr>
      <vt:lpstr>Comic Sans MS</vt:lpstr>
      <vt:lpstr>微软雅黑</vt:lpstr>
      <vt:lpstr>Arial Unicode MS</vt:lpstr>
      <vt:lpstr>Calibri</vt:lpstr>
      <vt:lpstr>Times New Roman</vt:lpstr>
      <vt:lpstr>Courier New</vt:lpstr>
      <vt:lpstr>Arial Unicode MS</vt:lpstr>
      <vt:lpstr>Symbol</vt:lpstr>
      <vt:lpstr>MS Hei</vt:lpstr>
      <vt:lpstr>PMingLiU</vt:lpstr>
      <vt:lpstr>MingLiU-ExtB</vt:lpstr>
      <vt:lpstr>Crayons</vt:lpstr>
      <vt:lpstr>MS_ClipArt_Gallery.2</vt:lpstr>
      <vt:lpstr>MS_ClipArt_Gallery.2</vt:lpstr>
      <vt:lpstr>Paint.Picture</vt:lpstr>
      <vt:lpstr>Paint.Picture</vt:lpstr>
      <vt:lpstr>Trees II</vt:lpstr>
      <vt:lpstr>Tree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Breadth-first (level order) Traversal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Inorder Traverse Threaded BT</vt:lpstr>
      <vt:lpstr>Inorder Traverse Threaded BT</vt:lpstr>
      <vt:lpstr>PowerPoint 演示文稿</vt:lpstr>
      <vt:lpstr>PowerPoint 演示文稿</vt:lpstr>
      <vt:lpstr>Binary Search Tree （二叉排序树）</vt:lpstr>
      <vt:lpstr>PowerPoint 演示文稿</vt:lpstr>
      <vt:lpstr>ADT of BST</vt:lpstr>
      <vt:lpstr>PowerPoint 演示文稿</vt:lpstr>
      <vt:lpstr>PowerPoint 演示文稿</vt:lpstr>
      <vt:lpstr>PowerPoint 演示文稿</vt:lpstr>
      <vt:lpstr>Find Min/ Find Max</vt:lpstr>
      <vt:lpstr>PowerPoint 演示文稿</vt:lpstr>
      <vt:lpstr>PowerPoint 演示文稿</vt:lpstr>
      <vt:lpstr>PowerPoint 演示文稿</vt:lpstr>
      <vt:lpstr>Insertion</vt:lpstr>
      <vt:lpstr>PowerPoint 演示文稿</vt:lpstr>
      <vt:lpstr>PowerPoint 演示文稿</vt:lpstr>
      <vt:lpstr>PowerPoint 演示文稿</vt:lpstr>
      <vt:lpstr>PowerPoint 演示文稿</vt:lpstr>
      <vt:lpstr>Deletion</vt:lpstr>
      <vt:lpstr>Different Cases</vt:lpstr>
      <vt:lpstr>Deletion Case 3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 II</dc:title>
  <dc:creator>127593@cnmicrosoft.net</dc:creator>
  <cp:lastModifiedBy>Yan</cp:lastModifiedBy>
  <cp:revision>15</cp:revision>
  <dcterms:created xsi:type="dcterms:W3CDTF">2019-10-17T02:16:00Z</dcterms:created>
  <dcterms:modified xsi:type="dcterms:W3CDTF">2025-10-13T01:33:07Z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87798C35FF554BE7877A7E073836898D_12</vt:lpwstr>
  </property>
  <property fmtid="{D5CDD505-2E9C-101B-9397-08002B2CF9AE}" pid="3" name="KSOProductBuildVer">
    <vt:lpwstr>2052-12.1.0.22529</vt:lpwstr>
  </property>
</Properties>
</file>