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57" r:id="rId9"/>
    <p:sldId id="282" r:id="rId10"/>
    <p:sldId id="258" r:id="rId11"/>
    <p:sldId id="259" r:id="rId12"/>
    <p:sldId id="260" r:id="rId13"/>
    <p:sldId id="261" r:id="rId14"/>
    <p:sldId id="264" r:id="rId15"/>
    <p:sldId id="265" r:id="rId16"/>
    <p:sldId id="266" r:id="rId17"/>
    <p:sldId id="267" r:id="rId18"/>
    <p:sldId id="268" r:id="rId19"/>
    <p:sldId id="269" r:id="rId20"/>
    <p:sldId id="262" r:id="rId21"/>
    <p:sldId id="263" r:id="rId2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90" d="100"/>
          <a:sy n="90" d="100"/>
        </p:scale>
        <p:origin x="998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的" userId="7483e1e6a959e322" providerId="LiveId" clId="{286C159D-603C-4CB1-AE78-F5F98B38873E}"/>
    <pc:docChg chg="modSld">
      <pc:chgData name="by 的" userId="7483e1e6a959e322" providerId="LiveId" clId="{286C159D-603C-4CB1-AE78-F5F98B38873E}" dt="2026-01-15T00:48:49.368" v="6" actId="1076"/>
      <pc:docMkLst>
        <pc:docMk/>
      </pc:docMkLst>
      <pc:sldChg chg="modSp mod">
        <pc:chgData name="by 的" userId="7483e1e6a959e322" providerId="LiveId" clId="{286C159D-603C-4CB1-AE78-F5F98B38873E}" dt="2026-01-15T00:48:49.368" v="6" actId="1076"/>
        <pc:sldMkLst>
          <pc:docMk/>
          <pc:sldMk cId="0" sldId="268"/>
        </pc:sldMkLst>
        <pc:spChg chg="mod">
          <ac:chgData name="by 的" userId="7483e1e6a959e322" providerId="LiveId" clId="{286C159D-603C-4CB1-AE78-F5F98B38873E}" dt="2026-01-15T00:48:49.368" v="6" actId="1076"/>
          <ac:spMkLst>
            <pc:docMk/>
            <pc:sldMk cId="0" sldId="268"/>
            <ac:spMk id="8284" creationId="{00000000-0000-0000-0000-000000000000}"/>
          </ac:spMkLst>
        </pc:spChg>
      </pc:sldChg>
      <pc:sldChg chg="modNotesTx">
        <pc:chgData name="by 的" userId="7483e1e6a959e322" providerId="LiveId" clId="{286C159D-603C-4CB1-AE78-F5F98B38873E}" dt="2026-01-09T08:42:38.455" v="3" actId="20577"/>
        <pc:sldMkLst>
          <pc:docMk/>
          <pc:sldMk cId="0" sldId="274"/>
        </pc:sldMkLst>
      </pc:sldChg>
    </pc:docChg>
  </pc:docChgLst>
  <pc:docChgLst>
    <pc:chgData name="by 的" userId="7483e1e6a959e322" providerId="LiveId" clId="{C17DE6D1-8587-4DFA-B050-5BD76F66295F}"/>
    <pc:docChg chg="modSld">
      <pc:chgData name="by 的" userId="7483e1e6a959e322" providerId="LiveId" clId="{C17DE6D1-8587-4DFA-B050-5BD76F66295F}" dt="2026-01-09T03:48:26.496" v="0" actId="1076"/>
      <pc:docMkLst>
        <pc:docMk/>
      </pc:docMkLst>
      <pc:sldChg chg="modSp mod">
        <pc:chgData name="by 的" userId="7483e1e6a959e322" providerId="LiveId" clId="{C17DE6D1-8587-4DFA-B050-5BD76F66295F}" dt="2026-01-09T03:48:26.496" v="0" actId="1076"/>
        <pc:sldMkLst>
          <pc:docMk/>
          <pc:sldMk cId="0" sldId="268"/>
        </pc:sldMkLst>
        <pc:spChg chg="mod">
          <ac:chgData name="by 的" userId="7483e1e6a959e322" providerId="LiveId" clId="{C17DE6D1-8587-4DFA-B050-5BD76F66295F}" dt="2026-01-09T03:48:26.496" v="0" actId="1076"/>
          <ac:spMkLst>
            <pc:docMk/>
            <pc:sldMk cId="0" sldId="268"/>
            <ac:spMk id="82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C88774-18BC-4AFF-A440-43BD579F293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2026/1/15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197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518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0" t="0" r="0" b="0"/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69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3301552" y="523657"/>
                </a:cxn>
                <a:cxn ang="0">
                  <a:pos x="2952570" y="421696"/>
                </a:cxn>
                <a:cxn ang="0">
                  <a:pos x="2312637" y="278643"/>
                </a:cxn>
                <a:cxn ang="0">
                  <a:pos x="295141" y="0"/>
                </a:cxn>
                <a:cxn ang="0">
                  <a:pos x="95189" y="26400"/>
                </a:cxn>
                <a:cxn ang="0">
                  <a:pos x="0" y="110131"/>
                </a:cxn>
                <a:cxn ang="0">
                  <a:pos x="116003" y="205667"/>
                </a:cxn>
                <a:cxn ang="0">
                  <a:pos x="2370029" y="542555"/>
                </a:cxn>
                <a:cxn ang="0">
                  <a:pos x="2863890" y="520982"/>
                </a:cxn>
                <a:cxn ang="0">
                  <a:pos x="3263183" y="548885"/>
                </a:cxn>
                <a:cxn ang="0">
                  <a:pos x="3301552" y="523657"/>
                </a:cxn>
                <a:cxn ang="0">
                  <a:pos x="3301552" y="523657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2200" y="0"/>
                </a:cxn>
                <a:cxn ang="0">
                  <a:pos x="21375" y="2658"/>
                </a:cxn>
                <a:cxn ang="0">
                  <a:pos x="22931" y="3268"/>
                </a:cxn>
                <a:cxn ang="0">
                  <a:pos x="25472" y="4056"/>
                </a:cxn>
                <a:cxn ang="0">
                  <a:pos x="25135" y="4205"/>
                </a:cxn>
                <a:cxn ang="0">
                  <a:pos x="21676" y="4030"/>
                </a:cxn>
                <a:cxn ang="0">
                  <a:pos x="18385" y="4154"/>
                </a:cxn>
                <a:cxn ang="0">
                  <a:pos x="665" y="1530"/>
                </a:cxn>
                <a:cxn ang="0">
                  <a:pos x="0" y="769"/>
                </a:cxn>
                <a:cxn ang="0">
                  <a:pos x="737" y="162"/>
                </a:cxn>
                <a:cxn ang="0">
                  <a:pos x="2200" y="0"/>
                </a:cxn>
                <a:cxn ang="0">
                  <a:pos x="2200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1704"/>
                </a:cxn>
                <a:cxn ang="0">
                  <a:pos x="15111" y="3920"/>
                </a:cxn>
                <a:cxn ang="0">
                  <a:pos x="15392" y="2803"/>
                </a:cxn>
                <a:cxn ang="0">
                  <a:pos x="17194" y="2216"/>
                </a:cxn>
                <a:cxn ang="0">
                  <a:pos x="1278" y="0"/>
                </a:cxn>
                <a:cxn ang="0">
                  <a:pos x="0" y="664"/>
                </a:cxn>
                <a:cxn ang="0">
                  <a:pos x="0" y="1704"/>
                </a:cxn>
                <a:cxn ang="0">
                  <a:pos x="0" y="1704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72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3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1748" y="0"/>
                  </a:cxn>
                  <a:cxn ang="0">
                    <a:pos x="643" y="364"/>
                  </a:cxn>
                  <a:cxn ang="0">
                    <a:pos x="0" y="950"/>
                  </a:cxn>
                  <a:cxn ang="0">
                    <a:pos x="1272" y="878"/>
                  </a:cxn>
                  <a:cxn ang="0">
                    <a:pos x="1639" y="464"/>
                  </a:cxn>
                  <a:cxn ang="0">
                    <a:pos x="2391" y="147"/>
                  </a:cxn>
                  <a:cxn ang="0">
                    <a:pos x="1748" y="0"/>
                  </a:cxn>
                  <a:cxn ang="0">
                    <a:pos x="1748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4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2532" y="0"/>
                  </a:cxn>
                  <a:cxn ang="0">
                    <a:pos x="1024" y="270"/>
                  </a:cxn>
                  <a:cxn ang="0">
                    <a:pos x="0" y="1079"/>
                  </a:cxn>
                  <a:cxn ang="0">
                    <a:pos x="1092" y="1861"/>
                  </a:cxn>
                  <a:cxn ang="0">
                    <a:pos x="19196" y="4495"/>
                  </a:cxn>
                  <a:cxn ang="0">
                    <a:pos x="23096" y="4331"/>
                  </a:cxn>
                  <a:cxn ang="0">
                    <a:pos x="26256" y="4564"/>
                  </a:cxn>
                  <a:cxn ang="0">
                    <a:pos x="27353" y="4194"/>
                  </a:cxn>
                  <a:cxn ang="0">
                    <a:pos x="24393" y="3442"/>
                  </a:cxn>
                  <a:cxn ang="0">
                    <a:pos x="23191" y="2658"/>
                  </a:cxn>
                  <a:cxn ang="0">
                    <a:pos x="22243" y="2733"/>
                  </a:cxn>
                  <a:cxn ang="0">
                    <a:pos x="23370" y="3442"/>
                  </a:cxn>
                  <a:cxn ang="0">
                    <a:pos x="25630" y="4197"/>
                  </a:cxn>
                  <a:cxn ang="0">
                    <a:pos x="22953" y="4081"/>
                  </a:cxn>
                  <a:cxn ang="0">
                    <a:pos x="19796" y="4217"/>
                  </a:cxn>
                  <a:cxn ang="0">
                    <a:pos x="20380" y="3368"/>
                  </a:cxn>
                  <a:cxn ang="0">
                    <a:pos x="21733" y="2790"/>
                  </a:cxn>
                  <a:cxn ang="0">
                    <a:pos x="20149" y="2862"/>
                  </a:cxn>
                  <a:cxn ang="0">
                    <a:pos x="18921" y="3414"/>
                  </a:cxn>
                  <a:cxn ang="0">
                    <a:pos x="18503" y="4104"/>
                  </a:cxn>
                  <a:cxn ang="0">
                    <a:pos x="1740" y="1607"/>
                  </a:cxn>
                  <a:cxn ang="0">
                    <a:pos x="1296" y="1114"/>
                  </a:cxn>
                  <a:cxn ang="0">
                    <a:pos x="1672" y="495"/>
                  </a:cxn>
                  <a:cxn ang="0">
                    <a:pos x="3519" y="0"/>
                  </a:cxn>
                  <a:cxn ang="0">
                    <a:pos x="2532" y="0"/>
                  </a:cxn>
                  <a:cxn ang="0">
                    <a:pos x="2532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5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1626" y="0"/>
                  </a:cxn>
                  <a:cxn ang="0">
                    <a:pos x="19325" y="2533"/>
                  </a:cxn>
                  <a:cxn ang="0">
                    <a:pos x="17462" y="2585"/>
                  </a:cxn>
                  <a:cxn ang="0">
                    <a:pos x="0" y="139"/>
                  </a:cxn>
                  <a:cxn ang="0">
                    <a:pos x="1626" y="0"/>
                  </a:cxn>
                  <a:cxn ang="0">
                    <a:pos x="1626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6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1908" y="0"/>
                  </a:cxn>
                  <a:cxn ang="0">
                    <a:pos x="312" y="537"/>
                  </a:cxn>
                  <a:cxn ang="0">
                    <a:pos x="0" y="1155"/>
                  </a:cxn>
                  <a:cxn ang="0">
                    <a:pos x="548" y="1580"/>
                  </a:cxn>
                  <a:cxn ang="0">
                    <a:pos x="1539" y="1685"/>
                  </a:cxn>
                  <a:cxn ang="0">
                    <a:pos x="1249" y="771"/>
                  </a:cxn>
                  <a:cxn ang="0">
                    <a:pos x="2625" y="88"/>
                  </a:cxn>
                  <a:cxn ang="0">
                    <a:pos x="1908" y="0"/>
                  </a:cxn>
                  <a:cxn ang="0">
                    <a:pos x="1908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7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228" y="180"/>
                  </a:cxn>
                  <a:cxn ang="0">
                    <a:pos x="2539" y="347"/>
                  </a:cxn>
                  <a:cxn ang="0">
                    <a:pos x="5152" y="718"/>
                  </a:cxn>
                  <a:cxn ang="0">
                    <a:pos x="6996" y="1273"/>
                  </a:cxn>
                  <a:cxn ang="0">
                    <a:pos x="5183" y="1204"/>
                  </a:cxn>
                  <a:cxn ang="0">
                    <a:pos x="2204" y="764"/>
                  </a:cxn>
                  <a:cxn ang="0">
                    <a:pos x="793" y="419"/>
                  </a:cxn>
                  <a:cxn ang="0">
                    <a:pos x="1696" y="853"/>
                  </a:cxn>
                  <a:cxn ang="0">
                    <a:pos x="4323" y="1411"/>
                  </a:cxn>
                  <a:cxn ang="0">
                    <a:pos x="7405" y="1552"/>
                  </a:cxn>
                  <a:cxn ang="0">
                    <a:pos x="7772" y="1172"/>
                  </a:cxn>
                  <a:cxn ang="0">
                    <a:pos x="6264" y="630"/>
                  </a:cxn>
                  <a:cxn ang="0">
                    <a:pos x="2699" y="90"/>
                  </a:cxn>
                  <a:cxn ang="0">
                    <a:pos x="0" y="0"/>
                  </a:cxn>
                  <a:cxn ang="0">
                    <a:pos x="228" y="180"/>
                  </a:cxn>
                  <a:cxn ang="0">
                    <a:pos x="228" y="180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0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123" y="25"/>
                </a:cxn>
                <a:cxn ang="0">
                  <a:pos x="110" y="20"/>
                </a:cxn>
                <a:cxn ang="0">
                  <a:pos x="86" y="13"/>
                </a:cxn>
                <a:cxn ang="0">
                  <a:pos x="10" y="0"/>
                </a:cxn>
                <a:cxn ang="0">
                  <a:pos x="4" y="1"/>
                </a:cxn>
                <a:cxn ang="0">
                  <a:pos x="0" y="6"/>
                </a:cxn>
                <a:cxn ang="0">
                  <a:pos x="4" y="10"/>
                </a:cxn>
                <a:cxn ang="0">
                  <a:pos x="89" y="26"/>
                </a:cxn>
                <a:cxn ang="0">
                  <a:pos x="107" y="25"/>
                </a:cxn>
                <a:cxn ang="0">
                  <a:pos x="122" y="26"/>
                </a:cxn>
                <a:cxn ang="0">
                  <a:pos x="123" y="25"/>
                </a:cxn>
                <a:cxn ang="0">
                  <a:pos x="123" y="25"/>
                </a:cxn>
              </a:cxnLst>
              <a:rect l="0" t="0" r="0" b="0"/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Freeform 21"/>
            <p:cNvSpPr/>
            <p:nvPr userDrawn="1"/>
          </p:nvSpPr>
          <p:spPr>
            <a:xfrm rot="7320404">
              <a:off x="4999" y="2913"/>
              <a:ext cx="416" cy="2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63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4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5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6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7" name="Freeform 26"/>
              <p:cNvSpPr/>
              <p:nvPr userDrawn="1"/>
            </p:nvSpPr>
            <p:spPr>
              <a:xfrm rot="7320404">
                <a:off x="5364" y="2872"/>
                <a:ext cx="63" cy="1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8" name="Freeform 27"/>
              <p:cNvSpPr/>
              <p:nvPr userDrawn="1"/>
            </p:nvSpPr>
            <p:spPr>
              <a:xfrm rot="7320404">
                <a:off x="5137" y="2999"/>
                <a:ext cx="193" cy="10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152400"/>
            <a:ext cx="7696200" cy="5334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  <a:t>‹#›</a:t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rect l="0" t="0" r="0" b="0"/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rect l="0" t="0" r="0" b="0"/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1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7" y="5"/>
                </a:cxn>
                <a:cxn ang="0">
                  <a:pos x="6" y="5"/>
                </a:cxn>
                <a:cxn ang="0">
                  <a:pos x="6" y="2"/>
                </a:cxn>
                <a:cxn ang="0">
                  <a:pos x="9" y="2"/>
                </a:cxn>
                <a:cxn ang="0">
                  <a:pos x="9" y="1"/>
                </a:cxn>
                <a:cxn ang="0">
                  <a:pos x="9" y="1"/>
                </a:cxn>
                <a:cxn ang="0">
                  <a:pos x="5" y="1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5" y="4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4"/>
                </a:cxn>
                <a:cxn ang="0">
                  <a:pos x="5" y="6"/>
                </a:cxn>
                <a:cxn ang="0">
                  <a:pos x="6" y="5"/>
                </a:cxn>
                <a:cxn ang="0">
                  <a:pos x="7" y="6"/>
                </a:cxn>
                <a:cxn ang="0">
                  <a:pos x="7" y="5"/>
                </a:cxn>
                <a:cxn ang="0">
                  <a:pos x="7" y="5"/>
                </a:cxn>
              </a:cxnLst>
              <a:rect l="0" t="0" r="0" b="0"/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6" y="3"/>
                </a:cxn>
                <a:cxn ang="0">
                  <a:pos x="6" y="3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4" y="3"/>
                </a:cxn>
                <a:cxn ang="0">
                  <a:pos x="4" y="3"/>
                </a:cxn>
                <a:cxn ang="0">
                  <a:pos x="5" y="2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0" b="0"/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0" b="0"/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1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0" b="0"/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0" b="0"/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60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1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4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5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6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62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2"/>
                  </a:cxn>
                  <a:cxn ang="0">
                    <a:pos x="5" y="2"/>
                  </a:cxn>
                  <a:cxn ang="0">
                    <a:pos x="0" y="1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0" b="0"/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2"/>
                  </a:cxn>
                  <a:cxn ang="0">
                    <a:pos x="1" y="2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1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1"/>
                  </a:cxn>
                </a:cxnLst>
                <a:rect l="0" t="0" r="0" b="0"/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1" y="1"/>
                  </a:cxn>
                  <a:cxn ang="0">
                    <a:pos x="0" y="0"/>
                  </a:cxn>
                  <a:cxn ang="0">
                    <a:pos x="1" y="0"/>
                  </a:cxn>
                  <a:cxn ang="0">
                    <a:pos x="1" y="0"/>
                  </a:cxn>
                </a:cxnLst>
                <a:rect l="0" t="0" r="0" b="0"/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65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6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7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2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7" y="4"/>
                    </a:cxn>
                    <a:cxn ang="0">
                      <a:pos x="7" y="4"/>
                    </a:cxn>
                    <a:cxn ang="0">
                      <a:pos x="6" y="3"/>
                    </a:cxn>
                    <a:cxn ang="0">
                      <a:pos x="6" y="2"/>
                    </a:cxn>
                    <a:cxn ang="0">
                      <a:pos x="6" y="3"/>
                    </a:cxn>
                    <a:cxn ang="0">
                      <a:pos x="6" y="3"/>
                    </a:cxn>
                    <a:cxn ang="0">
                      <a:pos x="7" y="4"/>
                    </a:cxn>
                    <a:cxn ang="0">
                      <a:pos x="6" y="4"/>
                    </a:cxn>
                    <a:cxn ang="0">
                      <a:pos x="5" y="4"/>
                    </a:cxn>
                    <a:cxn ang="0">
                      <a:pos x="5" y="3"/>
                    </a:cxn>
                    <a:cxn ang="0">
                      <a:pos x="6" y="3"/>
                    </a:cxn>
                    <a:cxn ang="0">
                      <a:pos x="5" y="3"/>
                    </a:cxn>
                    <a:cxn ang="0">
                      <a:pos x="5" y="3"/>
                    </a:cxn>
                    <a:cxn ang="0">
                      <a:pos x="5" y="4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8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</a:cxnLst>
                  <a:rect l="0" t="0" r="0" b="0"/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9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1" y="4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3" y="5"/>
                    </a:cxn>
                    <a:cxn ang="0">
                      <a:pos x="3" y="5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1" y="4"/>
                    </a:cxn>
                  </a:cxnLst>
                  <a:rect l="0" t="0" r="0" b="0"/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0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1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2" y="1"/>
                    </a:cxn>
                    <a:cxn ang="0">
                      <a:pos x="2" y="2"/>
                    </a:cxn>
                    <a:cxn ang="0">
                      <a:pos x="2" y="2"/>
                    </a:cxn>
                    <a:cxn ang="0">
                      <a:pos x="2" y="1"/>
                    </a:cxn>
                    <a:cxn ang="0">
                      <a:pos x="1" y="1"/>
                    </a:cxn>
                    <a:cxn ang="0">
                      <a:pos x="2" y="1"/>
                    </a:cxn>
                    <a:cxn ang="0">
                      <a:pos x="2" y="0"/>
                    </a:cxn>
                    <a:cxn ang="0">
                      <a:pos x="2" y="0"/>
                    </a:cxn>
                  </a:cxnLst>
                  <a:rect l="0" t="0" r="0" b="0"/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2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4" y="0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4" y="2"/>
                    </a:cxn>
                    <a:cxn ang="0">
                      <a:pos x="1" y="2"/>
                    </a:cxn>
                    <a:cxn ang="0">
                      <a:pos x="1" y="2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4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3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2" y="0"/>
                    </a:cxn>
                    <a:cxn ang="0">
                      <a:pos x="1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49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0" y="12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0" y="7"/>
                </a:cxn>
                <a:cxn ang="0">
                  <a:pos x="0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0" y="9"/>
                </a:cxn>
                <a:cxn ang="0">
                  <a:pos x="0" y="9"/>
                </a:cxn>
                <a:cxn ang="0">
                  <a:pos x="0" y="10"/>
                </a:cxn>
                <a:cxn ang="0">
                  <a:pos x="0" y="11"/>
                </a:cxn>
                <a:cxn ang="0">
                  <a:pos x="0" y="12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0" b="0"/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7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39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40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1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2" name="Freeform 45"/>
                <p:cNvSpPr/>
                <p:nvPr userDrawn="1"/>
              </p:nvSpPr>
              <p:spPr>
                <a:xfrm rot="-3172564">
                  <a:off x="5049" y="330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3" name="Freeform 46"/>
                <p:cNvSpPr/>
                <p:nvPr userDrawn="1"/>
              </p:nvSpPr>
              <p:spPr>
                <a:xfrm rot="-3172564">
                  <a:off x="4859" y="180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4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</a:cxnLst>
                  <a:rect l="0" t="0" r="0" b="0"/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5" name="Freeform 48"/>
                <p:cNvSpPr/>
                <p:nvPr userDrawn="1"/>
              </p:nvSpPr>
              <p:spPr>
                <a:xfrm rot="-3172564">
                  <a:off x="5298" y="895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6" name="Freeform 49"/>
                <p:cNvSpPr/>
                <p:nvPr userDrawn="1"/>
              </p:nvSpPr>
              <p:spPr>
                <a:xfrm rot="-3172564">
                  <a:off x="5253" y="804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7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8" name="Freeform 51"/>
                <p:cNvSpPr/>
                <p:nvPr userDrawn="1"/>
              </p:nvSpPr>
              <p:spPr>
                <a:xfrm rot="-3172564">
                  <a:off x="4949" y="140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8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audio" Target="../media/audio4.wav"/><Relationship Id="rId7" Type="http://schemas.openxmlformats.org/officeDocument/2006/relationships/audio" Target="../media/audio1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6.wav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audio" Target="../media/audio5.wav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/>
          <p:cNvSpPr txBox="1"/>
          <p:nvPr/>
        </p:nvSpPr>
        <p:spPr>
          <a:xfrm>
            <a:off x="457200" y="304800"/>
            <a:ext cx="502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ebdings" panose="05030102010509060703" pitchFamily="18" charset="2"/>
              </a:rPr>
              <a:t>§4  Network Flow Problems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304800" y="9144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</a:rPr>
              <a:t>Example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</a:rPr>
              <a:t>  Consider the following network of pipes:</a:t>
            </a:r>
          </a:p>
        </p:txBody>
      </p:sp>
      <p:grpSp>
        <p:nvGrpSpPr>
          <p:cNvPr id="26628" name="Group 4"/>
          <p:cNvGrpSpPr/>
          <p:nvPr/>
        </p:nvGrpSpPr>
        <p:grpSpPr>
          <a:xfrm>
            <a:off x="762000" y="1752600"/>
            <a:ext cx="2971800" cy="3429000"/>
            <a:chOff x="288" y="960"/>
            <a:chExt cx="1872" cy="2160"/>
          </a:xfrm>
        </p:grpSpPr>
        <p:grpSp>
          <p:nvGrpSpPr>
            <p:cNvPr id="15406" name="Group 5"/>
            <p:cNvGrpSpPr/>
            <p:nvPr/>
          </p:nvGrpSpPr>
          <p:grpSpPr>
            <a:xfrm rot="-2613909">
              <a:off x="912" y="2256"/>
              <a:ext cx="96" cy="816"/>
              <a:chOff x="3216" y="2160"/>
              <a:chExt cx="96" cy="816"/>
            </a:xfrm>
          </p:grpSpPr>
          <p:sp>
            <p:nvSpPr>
              <p:cNvPr id="15460" name="Rectangle 6"/>
              <p:cNvSpPr/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61" name="Rectangle 7"/>
              <p:cNvSpPr/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62" name="Rectangle 8"/>
              <p:cNvSpPr/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5407" name="Group 9"/>
            <p:cNvGrpSpPr/>
            <p:nvPr/>
          </p:nvGrpSpPr>
          <p:grpSpPr>
            <a:xfrm rot="2540776">
              <a:off x="864" y="1008"/>
              <a:ext cx="144" cy="816"/>
              <a:chOff x="3024" y="2160"/>
              <a:chExt cx="144" cy="816"/>
            </a:xfrm>
          </p:grpSpPr>
          <p:sp>
            <p:nvSpPr>
              <p:cNvPr id="15456" name="Rectangle 10"/>
              <p:cNvSpPr/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57" name="Rectangle 11"/>
              <p:cNvSpPr/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58" name="Rectangle 12"/>
              <p:cNvSpPr/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59" name="Rectangle 13"/>
              <p:cNvSpPr/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5408" name="Rectangle 14"/>
            <p:cNvSpPr/>
            <p:nvPr/>
          </p:nvSpPr>
          <p:spPr>
            <a:xfrm rot="-5400000">
              <a:off x="1200" y="1296"/>
              <a:ext cx="48" cy="912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5409" name="Group 15"/>
            <p:cNvGrpSpPr/>
            <p:nvPr/>
          </p:nvGrpSpPr>
          <p:grpSpPr>
            <a:xfrm rot="-3551060">
              <a:off x="1128" y="1491"/>
              <a:ext cx="192" cy="1104"/>
              <a:chOff x="1440" y="1824"/>
              <a:chExt cx="192" cy="816"/>
            </a:xfrm>
          </p:grpSpPr>
          <p:sp>
            <p:nvSpPr>
              <p:cNvPr id="15450" name="Rectangle 16"/>
              <p:cNvSpPr/>
              <p:nvPr/>
            </p:nvSpPr>
            <p:spPr>
              <a:xfrm>
                <a:off x="1440" y="1824"/>
                <a:ext cx="192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5451" name="Group 17"/>
              <p:cNvGrpSpPr/>
              <p:nvPr/>
            </p:nvGrpSpPr>
            <p:grpSpPr>
              <a:xfrm>
                <a:off x="1440" y="1824"/>
                <a:ext cx="192" cy="816"/>
                <a:chOff x="1440" y="1824"/>
                <a:chExt cx="192" cy="816"/>
              </a:xfrm>
            </p:grpSpPr>
            <p:sp>
              <p:nvSpPr>
                <p:cNvPr id="15452" name="Rectangle 18"/>
                <p:cNvSpPr/>
                <p:nvPr/>
              </p:nvSpPr>
              <p:spPr>
                <a:xfrm>
                  <a:off x="1440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5453" name="Rectangle 19"/>
                <p:cNvSpPr/>
                <p:nvPr/>
              </p:nvSpPr>
              <p:spPr>
                <a:xfrm>
                  <a:off x="1488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5454" name="Rectangle 20"/>
                <p:cNvSpPr/>
                <p:nvPr/>
              </p:nvSpPr>
              <p:spPr>
                <a:xfrm>
                  <a:off x="1536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5455" name="Rectangle 21"/>
                <p:cNvSpPr/>
                <p:nvPr/>
              </p:nvSpPr>
              <p:spPr>
                <a:xfrm>
                  <a:off x="1584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</p:grpSp>
        <p:grpSp>
          <p:nvGrpSpPr>
            <p:cNvPr id="15410" name="Group 22"/>
            <p:cNvGrpSpPr/>
            <p:nvPr/>
          </p:nvGrpSpPr>
          <p:grpSpPr>
            <a:xfrm>
              <a:off x="600" y="1776"/>
              <a:ext cx="144" cy="576"/>
              <a:chOff x="3024" y="2160"/>
              <a:chExt cx="144" cy="816"/>
            </a:xfrm>
          </p:grpSpPr>
          <p:sp>
            <p:nvSpPr>
              <p:cNvPr id="15446" name="Rectangle 23"/>
              <p:cNvSpPr/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7" name="Rectangle 24"/>
              <p:cNvSpPr/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8" name="Rectangle 25"/>
              <p:cNvSpPr/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9" name="Rectangle 26"/>
              <p:cNvSpPr/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5411" name="Group 27"/>
            <p:cNvGrpSpPr/>
            <p:nvPr/>
          </p:nvGrpSpPr>
          <p:grpSpPr>
            <a:xfrm>
              <a:off x="1750" y="1824"/>
              <a:ext cx="96" cy="480"/>
              <a:chOff x="3216" y="2160"/>
              <a:chExt cx="96" cy="816"/>
            </a:xfrm>
          </p:grpSpPr>
          <p:sp>
            <p:nvSpPr>
              <p:cNvPr id="15443" name="Rectangle 28"/>
              <p:cNvSpPr/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4" name="Rectangle 29"/>
              <p:cNvSpPr/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5" name="Rectangle 30"/>
              <p:cNvSpPr/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5412" name="Group 31"/>
            <p:cNvGrpSpPr/>
            <p:nvPr/>
          </p:nvGrpSpPr>
          <p:grpSpPr>
            <a:xfrm rot="2381442">
              <a:off x="1440" y="2256"/>
              <a:ext cx="144" cy="816"/>
              <a:chOff x="3024" y="2160"/>
              <a:chExt cx="144" cy="816"/>
            </a:xfrm>
          </p:grpSpPr>
          <p:sp>
            <p:nvSpPr>
              <p:cNvPr id="15439" name="Rectangle 32"/>
              <p:cNvSpPr/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0" name="Rectangle 33"/>
              <p:cNvSpPr/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1" name="Rectangle 34"/>
              <p:cNvSpPr/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42" name="Rectangle 35"/>
              <p:cNvSpPr/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5413" name="Group 36"/>
            <p:cNvGrpSpPr/>
            <p:nvPr/>
          </p:nvGrpSpPr>
          <p:grpSpPr>
            <a:xfrm rot="-2332971">
              <a:off x="1440" y="1008"/>
              <a:ext cx="96" cy="816"/>
              <a:chOff x="3216" y="2160"/>
              <a:chExt cx="96" cy="816"/>
            </a:xfrm>
          </p:grpSpPr>
          <p:sp>
            <p:nvSpPr>
              <p:cNvPr id="15436" name="Rectangle 37"/>
              <p:cNvSpPr/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37" name="Rectangle 38"/>
              <p:cNvSpPr/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5438" name="Rectangle 39"/>
              <p:cNvSpPr/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5414" name="Oval 40"/>
            <p:cNvSpPr/>
            <p:nvPr/>
          </p:nvSpPr>
          <p:spPr>
            <a:xfrm>
              <a:off x="1104" y="960"/>
              <a:ext cx="288" cy="288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5415" name="Oval 41"/>
            <p:cNvSpPr/>
            <p:nvPr/>
          </p:nvSpPr>
          <p:spPr>
            <a:xfrm>
              <a:off x="1632" y="2208"/>
              <a:ext cx="288" cy="288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16" name="Oval 42"/>
            <p:cNvSpPr/>
            <p:nvPr/>
          </p:nvSpPr>
          <p:spPr>
            <a:xfrm>
              <a:off x="528" y="2208"/>
              <a:ext cx="288" cy="288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17" name="Oval 43"/>
            <p:cNvSpPr/>
            <p:nvPr/>
          </p:nvSpPr>
          <p:spPr>
            <a:xfrm>
              <a:off x="1632" y="1632"/>
              <a:ext cx="288" cy="288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18" name="Oval 44"/>
            <p:cNvSpPr/>
            <p:nvPr/>
          </p:nvSpPr>
          <p:spPr>
            <a:xfrm>
              <a:off x="528" y="1584"/>
              <a:ext cx="288" cy="288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19" name="Oval 45"/>
            <p:cNvSpPr/>
            <p:nvPr/>
          </p:nvSpPr>
          <p:spPr>
            <a:xfrm>
              <a:off x="1104" y="2832"/>
              <a:ext cx="288" cy="288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5420" name="Line 46"/>
            <p:cNvSpPr/>
            <p:nvPr/>
          </p:nvSpPr>
          <p:spPr>
            <a:xfrm flipH="1">
              <a:off x="720" y="1152"/>
              <a:ext cx="288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Line 47"/>
            <p:cNvSpPr/>
            <p:nvPr/>
          </p:nvSpPr>
          <p:spPr>
            <a:xfrm>
              <a:off x="1488" y="1200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48"/>
            <p:cNvSpPr/>
            <p:nvPr/>
          </p:nvSpPr>
          <p:spPr>
            <a:xfrm>
              <a:off x="528" y="1920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49"/>
            <p:cNvSpPr/>
            <p:nvPr/>
          </p:nvSpPr>
          <p:spPr>
            <a:xfrm>
              <a:off x="1920" y="1920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50"/>
            <p:cNvSpPr/>
            <p:nvPr/>
          </p:nvSpPr>
          <p:spPr>
            <a:xfrm>
              <a:off x="1008" y="1680"/>
              <a:ext cx="43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51"/>
            <p:cNvSpPr/>
            <p:nvPr/>
          </p:nvSpPr>
          <p:spPr>
            <a:xfrm>
              <a:off x="864" y="2016"/>
              <a:ext cx="528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52"/>
            <p:cNvSpPr/>
            <p:nvPr/>
          </p:nvSpPr>
          <p:spPr>
            <a:xfrm>
              <a:off x="720" y="2640"/>
              <a:ext cx="240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53"/>
            <p:cNvSpPr/>
            <p:nvPr/>
          </p:nvSpPr>
          <p:spPr>
            <a:xfrm flipH="1">
              <a:off x="1536" y="2640"/>
              <a:ext cx="24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Text Box 54"/>
            <p:cNvSpPr txBox="1"/>
            <p:nvPr/>
          </p:nvSpPr>
          <p:spPr>
            <a:xfrm>
              <a:off x="672" y="1113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29" name="Text Box 55"/>
            <p:cNvSpPr txBox="1"/>
            <p:nvPr/>
          </p:nvSpPr>
          <p:spPr>
            <a:xfrm>
              <a:off x="288" y="1920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30" name="Text Box 56"/>
            <p:cNvSpPr txBox="1"/>
            <p:nvPr/>
          </p:nvSpPr>
          <p:spPr>
            <a:xfrm>
              <a:off x="1584" y="2697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431" name="Text Box 57"/>
            <p:cNvSpPr txBox="1"/>
            <p:nvPr/>
          </p:nvSpPr>
          <p:spPr>
            <a:xfrm>
              <a:off x="1488" y="1104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432" name="Text Box 58"/>
            <p:cNvSpPr txBox="1"/>
            <p:nvPr/>
          </p:nvSpPr>
          <p:spPr>
            <a:xfrm>
              <a:off x="1872" y="1920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433" name="Text Box 59"/>
            <p:cNvSpPr txBox="1"/>
            <p:nvPr/>
          </p:nvSpPr>
          <p:spPr>
            <a:xfrm>
              <a:off x="624" y="2688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434" name="Text Box 60"/>
            <p:cNvSpPr txBox="1"/>
            <p:nvPr/>
          </p:nvSpPr>
          <p:spPr>
            <a:xfrm>
              <a:off x="1056" y="1488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435" name="Text Box 61"/>
            <p:cNvSpPr txBox="1"/>
            <p:nvPr/>
          </p:nvSpPr>
          <p:spPr>
            <a:xfrm>
              <a:off x="960" y="2169"/>
              <a:ext cx="288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26686" name="Group 62"/>
          <p:cNvGrpSpPr/>
          <p:nvPr/>
        </p:nvGrpSpPr>
        <p:grpSpPr>
          <a:xfrm>
            <a:off x="1646238" y="1968500"/>
            <a:ext cx="1155700" cy="1082675"/>
            <a:chOff x="1037" y="1240"/>
            <a:chExt cx="728" cy="682"/>
          </a:xfrm>
        </p:grpSpPr>
        <p:sp>
          <p:nvSpPr>
            <p:cNvPr id="15404" name="Rectangle 63"/>
            <p:cNvSpPr/>
            <p:nvPr/>
          </p:nvSpPr>
          <p:spPr>
            <a:xfrm rot="2540776">
              <a:off x="1037" y="1240"/>
              <a:ext cx="159" cy="637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5405" name="Rectangle 64"/>
            <p:cNvSpPr/>
            <p:nvPr/>
          </p:nvSpPr>
          <p:spPr>
            <a:xfrm rot="-2332971">
              <a:off x="1666" y="1282"/>
              <a:ext cx="99" cy="640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26689" name="AutoShape 65"/>
          <p:cNvSpPr/>
          <p:nvPr/>
        </p:nvSpPr>
        <p:spPr>
          <a:xfrm>
            <a:off x="685800" y="1447800"/>
            <a:ext cx="1143000" cy="457200"/>
          </a:xfrm>
          <a:prstGeom prst="wedgeEllipseCallout">
            <a:avLst>
              <a:gd name="adj1" fmla="val 72222"/>
              <a:gd name="adj2" fmla="val 46875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source</a:t>
            </a:r>
          </a:p>
        </p:txBody>
      </p:sp>
      <p:sp>
        <p:nvSpPr>
          <p:cNvPr id="26690" name="AutoShape 66"/>
          <p:cNvSpPr/>
          <p:nvPr/>
        </p:nvSpPr>
        <p:spPr>
          <a:xfrm>
            <a:off x="609600" y="5105400"/>
            <a:ext cx="1143000" cy="457200"/>
          </a:xfrm>
          <a:prstGeom prst="wedgeEllipseCallout">
            <a:avLst>
              <a:gd name="adj1" fmla="val 78889"/>
              <a:gd name="adj2" fmla="val -72917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i="1" dirty="0">
                <a:solidFill>
                  <a:srgbClr val="009900"/>
                </a:solidFill>
                <a:latin typeface="Times New Roman" panose="02020603050405020304" pitchFamily="18" charset="0"/>
              </a:rPr>
              <a:t>sink</a:t>
            </a:r>
          </a:p>
        </p:txBody>
      </p:sp>
      <p:sp>
        <p:nvSpPr>
          <p:cNvPr id="26691" name="AutoShape 67" descr="再生纸"/>
          <p:cNvSpPr/>
          <p:nvPr/>
        </p:nvSpPr>
        <p:spPr>
          <a:xfrm>
            <a:off x="3886200" y="1524000"/>
            <a:ext cx="4495800" cy="1752600"/>
          </a:xfrm>
          <a:prstGeom prst="roundRect">
            <a:avLst>
              <a:gd name="adj" fmla="val 16667"/>
            </a:avLst>
          </a:prstGeom>
          <a:blipFill rotWithShape="0">
            <a:blip r:embed="rId3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62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662305" lvl="0" indent="-662305" eaLnBrk="1" hangingPunct="1">
              <a:spcBef>
                <a:spcPct val="25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400" b="1" dirty="0">
                <a:latin typeface="Times New Roman" panose="02020603050405020304" pitchFamily="18" charset="0"/>
              </a:rPr>
              <a:t>  Total coming in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</a:p>
          <a:p>
            <a:pPr marL="662305" lvl="0" indent="-662305" eaLnBrk="1" hangingPunct="1">
              <a:spcBef>
                <a:spcPct val="25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 Total going out (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662305" lvl="0" indent="-662305" eaLnBrk="1" hangingPunct="1">
              <a:spcBef>
                <a:spcPct val="25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where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 {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26692" name="Group 68"/>
          <p:cNvGrpSpPr/>
          <p:nvPr/>
        </p:nvGrpSpPr>
        <p:grpSpPr>
          <a:xfrm>
            <a:off x="3886200" y="3613150"/>
            <a:ext cx="4267200" cy="1187450"/>
            <a:chOff x="2448" y="2276"/>
            <a:chExt cx="2688" cy="748"/>
          </a:xfrm>
        </p:grpSpPr>
        <p:pic>
          <p:nvPicPr>
            <p:cNvPr id="15402" name="Picture 69" descr="DARTS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48" y="2372"/>
              <a:ext cx="432" cy="4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403" name="Text Box 70"/>
            <p:cNvSpPr txBox="1"/>
            <p:nvPr/>
          </p:nvSpPr>
          <p:spPr>
            <a:xfrm>
              <a:off x="2928" y="2276"/>
              <a:ext cx="2208" cy="74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Determine the maximum amount of flow that can pass from 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to </a:t>
              </a:r>
              <a:r>
                <a:rPr lang="en-US" altLang="zh-CN" sz="2400" b="1" i="1" dirty="0">
                  <a:solidFill>
                    <a:srgbClr val="0099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.</a:t>
              </a:r>
            </a:p>
          </p:txBody>
        </p:sp>
      </p:grpSp>
      <p:grpSp>
        <p:nvGrpSpPr>
          <p:cNvPr id="26695" name="Group 71"/>
          <p:cNvGrpSpPr/>
          <p:nvPr/>
        </p:nvGrpSpPr>
        <p:grpSpPr>
          <a:xfrm>
            <a:off x="1255713" y="3200400"/>
            <a:ext cx="1979612" cy="547688"/>
            <a:chOff x="791" y="2016"/>
            <a:chExt cx="1247" cy="345"/>
          </a:xfrm>
        </p:grpSpPr>
        <p:sp>
          <p:nvSpPr>
            <p:cNvPr id="15399" name="Rectangle 72"/>
            <p:cNvSpPr/>
            <p:nvPr/>
          </p:nvSpPr>
          <p:spPr>
            <a:xfrm>
              <a:off x="1942" y="2035"/>
              <a:ext cx="96" cy="322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5400" name="Rectangle 73"/>
            <p:cNvSpPr/>
            <p:nvPr/>
          </p:nvSpPr>
          <p:spPr>
            <a:xfrm>
              <a:off x="791" y="2016"/>
              <a:ext cx="96" cy="345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5401" name="Rectangle 74"/>
            <p:cNvSpPr/>
            <p:nvPr/>
          </p:nvSpPr>
          <p:spPr>
            <a:xfrm rot="-3551060">
              <a:off x="1428" y="1573"/>
              <a:ext cx="48" cy="1104"/>
            </a:xfrm>
            <a:prstGeom prst="rect">
              <a:avLst/>
            </a:prstGeom>
            <a:solidFill>
              <a:schemeClr val="hlink"/>
            </a:solidFill>
            <a:ln w="635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6699" name="Group 75"/>
          <p:cNvGrpSpPr/>
          <p:nvPr/>
        </p:nvGrpSpPr>
        <p:grpSpPr>
          <a:xfrm>
            <a:off x="1755775" y="3948113"/>
            <a:ext cx="1054100" cy="1012825"/>
            <a:chOff x="1106" y="2487"/>
            <a:chExt cx="664" cy="638"/>
          </a:xfrm>
        </p:grpSpPr>
        <p:sp>
          <p:nvSpPr>
            <p:cNvPr id="15397" name="Rectangle 76"/>
            <p:cNvSpPr/>
            <p:nvPr/>
          </p:nvSpPr>
          <p:spPr>
            <a:xfrm rot="-2613909">
              <a:off x="1106" y="2487"/>
              <a:ext cx="111" cy="638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5398" name="Rectangle 77"/>
            <p:cNvSpPr/>
            <p:nvPr/>
          </p:nvSpPr>
          <p:spPr>
            <a:xfrm rot="2381442">
              <a:off x="1624" y="2540"/>
              <a:ext cx="146" cy="545"/>
            </a:xfrm>
            <a:prstGeom prst="rect">
              <a:avLst/>
            </a:prstGeom>
            <a:solidFill>
              <a:schemeClr val="hlink"/>
            </a:solidFill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6778" name="Group 154"/>
          <p:cNvGrpSpPr/>
          <p:nvPr/>
        </p:nvGrpSpPr>
        <p:grpSpPr>
          <a:xfrm>
            <a:off x="684213" y="1744663"/>
            <a:ext cx="3455987" cy="3930650"/>
            <a:chOff x="2018" y="2251"/>
            <a:chExt cx="1724" cy="1969"/>
          </a:xfrm>
        </p:grpSpPr>
        <p:grpSp>
          <p:nvGrpSpPr>
            <p:cNvPr id="15373" name="Group 130"/>
            <p:cNvGrpSpPr>
              <a:grpSpLocks noChangeAspect="1"/>
            </p:cNvGrpSpPr>
            <p:nvPr/>
          </p:nvGrpSpPr>
          <p:grpSpPr>
            <a:xfrm>
              <a:off x="2231" y="2251"/>
              <a:ext cx="1129" cy="1969"/>
              <a:chOff x="2225" y="576"/>
              <a:chExt cx="1255" cy="2189"/>
            </a:xfrm>
          </p:grpSpPr>
          <p:sp>
            <p:nvSpPr>
              <p:cNvPr id="15382" name="Oval 131"/>
              <p:cNvSpPr>
                <a:spLocks noChangeAspect="1"/>
              </p:cNvSpPr>
              <p:nvPr/>
            </p:nvSpPr>
            <p:spPr>
              <a:xfrm>
                <a:off x="2744" y="576"/>
                <a:ext cx="260" cy="259"/>
              </a:xfrm>
              <a:prstGeom prst="ellipse">
                <a:avLst/>
              </a:prstGeom>
              <a:solidFill>
                <a:srgbClr val="FF0000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5383" name="Oval 132"/>
              <p:cNvSpPr>
                <a:spLocks noChangeAspect="1"/>
              </p:cNvSpPr>
              <p:nvPr/>
            </p:nvSpPr>
            <p:spPr>
              <a:xfrm>
                <a:off x="3220" y="1700"/>
                <a:ext cx="260" cy="260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5384" name="Oval 133"/>
              <p:cNvSpPr>
                <a:spLocks noChangeAspect="1"/>
              </p:cNvSpPr>
              <p:nvPr/>
            </p:nvSpPr>
            <p:spPr>
              <a:xfrm>
                <a:off x="2225" y="1700"/>
                <a:ext cx="260" cy="260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5385" name="Oval 134"/>
              <p:cNvSpPr>
                <a:spLocks noChangeAspect="1"/>
              </p:cNvSpPr>
              <p:nvPr/>
            </p:nvSpPr>
            <p:spPr>
              <a:xfrm>
                <a:off x="3220" y="1181"/>
                <a:ext cx="260" cy="260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5386" name="Oval 135"/>
              <p:cNvSpPr>
                <a:spLocks noChangeAspect="1"/>
              </p:cNvSpPr>
              <p:nvPr/>
            </p:nvSpPr>
            <p:spPr>
              <a:xfrm>
                <a:off x="2225" y="1138"/>
                <a:ext cx="260" cy="260"/>
              </a:xfrm>
              <a:prstGeom prst="ellipse">
                <a:avLst/>
              </a:prstGeom>
              <a:solidFill>
                <a:srgbClr val="FFFFFF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5387" name="Oval 136"/>
              <p:cNvSpPr>
                <a:spLocks noChangeAspect="1"/>
              </p:cNvSpPr>
              <p:nvPr/>
            </p:nvSpPr>
            <p:spPr>
              <a:xfrm>
                <a:off x="2744" y="2263"/>
                <a:ext cx="260" cy="259"/>
              </a:xfrm>
              <a:prstGeom prst="ellipse">
                <a:avLst/>
              </a:prstGeom>
              <a:solidFill>
                <a:srgbClr val="009900"/>
              </a:soli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tIns="10800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i="1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15388" name="Line 137"/>
              <p:cNvSpPr>
                <a:spLocks noChangeAspect="1"/>
              </p:cNvSpPr>
              <p:nvPr/>
            </p:nvSpPr>
            <p:spPr>
              <a:xfrm flipH="1">
                <a:off x="2448" y="816"/>
                <a:ext cx="336" cy="38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9" name="Line 138"/>
              <p:cNvSpPr>
                <a:spLocks noChangeAspect="1"/>
              </p:cNvSpPr>
              <p:nvPr/>
            </p:nvSpPr>
            <p:spPr>
              <a:xfrm>
                <a:off x="2976" y="816"/>
                <a:ext cx="336" cy="38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" name="Line 139"/>
              <p:cNvSpPr>
                <a:spLocks noChangeAspect="1"/>
              </p:cNvSpPr>
              <p:nvPr/>
            </p:nvSpPr>
            <p:spPr>
              <a:xfrm>
                <a:off x="2352" y="1392"/>
                <a:ext cx="0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Line 140"/>
              <p:cNvSpPr>
                <a:spLocks noChangeAspect="1"/>
              </p:cNvSpPr>
              <p:nvPr/>
            </p:nvSpPr>
            <p:spPr>
              <a:xfrm>
                <a:off x="3360" y="1440"/>
                <a:ext cx="0" cy="288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141"/>
              <p:cNvSpPr>
                <a:spLocks noChangeAspect="1"/>
              </p:cNvSpPr>
              <p:nvPr/>
            </p:nvSpPr>
            <p:spPr>
              <a:xfrm>
                <a:off x="2400" y="1968"/>
                <a:ext cx="384" cy="3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142"/>
              <p:cNvSpPr>
                <a:spLocks noChangeAspect="1"/>
              </p:cNvSpPr>
              <p:nvPr/>
            </p:nvSpPr>
            <p:spPr>
              <a:xfrm flipH="1">
                <a:off x="2976" y="1968"/>
                <a:ext cx="336" cy="336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4" name="Line 143"/>
              <p:cNvSpPr>
                <a:spLocks noChangeAspect="1"/>
              </p:cNvSpPr>
              <p:nvPr/>
            </p:nvSpPr>
            <p:spPr>
              <a:xfrm>
                <a:off x="2496" y="1296"/>
                <a:ext cx="720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Line 144"/>
              <p:cNvSpPr>
                <a:spLocks noChangeAspect="1"/>
              </p:cNvSpPr>
              <p:nvPr/>
            </p:nvSpPr>
            <p:spPr>
              <a:xfrm>
                <a:off x="2448" y="1344"/>
                <a:ext cx="768" cy="432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Text Box 145"/>
              <p:cNvSpPr txBox="1">
                <a:spLocks noChangeAspect="1"/>
              </p:cNvSpPr>
              <p:nvPr/>
            </p:nvSpPr>
            <p:spPr>
              <a:xfrm>
                <a:off x="2496" y="2544"/>
                <a:ext cx="768" cy="221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50000"/>
                  </a:spcBef>
                  <a:buNone/>
                </a:pPr>
                <a:endParaRPr lang="zh-CN" altLang="zh-CN" sz="2000" b="1" i="1" dirty="0">
                  <a:solidFill>
                    <a:srgbClr val="D6009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374" name="Text Box 146"/>
            <p:cNvSpPr txBox="1"/>
            <p:nvPr/>
          </p:nvSpPr>
          <p:spPr>
            <a:xfrm>
              <a:off x="2290" y="2432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375" name="Text Box 147"/>
            <p:cNvSpPr txBox="1"/>
            <p:nvPr/>
          </p:nvSpPr>
          <p:spPr>
            <a:xfrm>
              <a:off x="2018" y="3067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376" name="Text Box 148"/>
            <p:cNvSpPr txBox="1"/>
            <p:nvPr/>
          </p:nvSpPr>
          <p:spPr>
            <a:xfrm>
              <a:off x="2608" y="3263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377" name="Text Box 149"/>
            <p:cNvSpPr txBox="1"/>
            <p:nvPr/>
          </p:nvSpPr>
          <p:spPr>
            <a:xfrm>
              <a:off x="2744" y="2704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78" name="Text Box 150"/>
            <p:cNvSpPr txBox="1"/>
            <p:nvPr/>
          </p:nvSpPr>
          <p:spPr>
            <a:xfrm>
              <a:off x="2335" y="3671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79" name="Text Box 151"/>
            <p:cNvSpPr txBox="1"/>
            <p:nvPr/>
          </p:nvSpPr>
          <p:spPr>
            <a:xfrm>
              <a:off x="3107" y="2432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80" name="Text Box 152"/>
            <p:cNvSpPr txBox="1"/>
            <p:nvPr/>
          </p:nvSpPr>
          <p:spPr>
            <a:xfrm>
              <a:off x="3424" y="3067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81" name="Text Box 153"/>
            <p:cNvSpPr txBox="1"/>
            <p:nvPr/>
          </p:nvSpPr>
          <p:spPr>
            <a:xfrm>
              <a:off x="3152" y="3671"/>
              <a:ext cx="318" cy="1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5" dur="500"/>
                                        <p:tgtEl>
                                          <p:spTgt spid="2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6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89" grpId="0" animBg="1"/>
      <p:bldP spid="26690" grpId="0" animBg="1"/>
      <p:bldP spid="2669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/>
          <p:nvPr/>
        </p:nvGrpSpPr>
        <p:grpSpPr>
          <a:xfrm>
            <a:off x="3733800" y="914400"/>
            <a:ext cx="1420813" cy="2573338"/>
            <a:chOff x="2352" y="576"/>
            <a:chExt cx="895" cy="1621"/>
          </a:xfrm>
        </p:grpSpPr>
        <p:sp>
          <p:nvSpPr>
            <p:cNvPr id="16579" name="Rectangle 3"/>
            <p:cNvSpPr>
              <a:spLocks noChangeAspect="1"/>
            </p:cNvSpPr>
            <p:nvPr/>
          </p:nvSpPr>
          <p:spPr>
            <a:xfrm rot="2381442">
              <a:off x="2928" y="1536"/>
              <a:ext cx="39" cy="66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580" name="Rectangle 4"/>
            <p:cNvSpPr>
              <a:spLocks noChangeAspect="1"/>
            </p:cNvSpPr>
            <p:nvPr/>
          </p:nvSpPr>
          <p:spPr>
            <a:xfrm rot="-3551060">
              <a:off x="2778" y="914"/>
              <a:ext cx="39" cy="895"/>
            </a:xfrm>
            <a:prstGeom prst="rect">
              <a:avLst/>
            </a:prstGeom>
            <a:solidFill>
              <a:srgbClr val="FF0000"/>
            </a:solidFill>
            <a:ln w="63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6581" name="Rectangle 5"/>
            <p:cNvSpPr>
              <a:spLocks noChangeAspect="1"/>
            </p:cNvSpPr>
            <p:nvPr/>
          </p:nvSpPr>
          <p:spPr>
            <a:xfrm rot="2381442">
              <a:off x="2592" y="576"/>
              <a:ext cx="39" cy="66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7654" name="Group 6"/>
          <p:cNvGrpSpPr/>
          <p:nvPr/>
        </p:nvGrpSpPr>
        <p:grpSpPr>
          <a:xfrm flipH="1">
            <a:off x="3657600" y="914400"/>
            <a:ext cx="504825" cy="2600325"/>
            <a:chOff x="2976" y="576"/>
            <a:chExt cx="318" cy="1638"/>
          </a:xfrm>
        </p:grpSpPr>
        <p:grpSp>
          <p:nvGrpSpPr>
            <p:cNvPr id="16568" name="Group 7"/>
            <p:cNvGrpSpPr/>
            <p:nvPr/>
          </p:nvGrpSpPr>
          <p:grpSpPr>
            <a:xfrm>
              <a:off x="2976" y="1536"/>
              <a:ext cx="96" cy="678"/>
              <a:chOff x="2976" y="1536"/>
              <a:chExt cx="96" cy="678"/>
            </a:xfrm>
          </p:grpSpPr>
          <p:sp>
            <p:nvSpPr>
              <p:cNvPr id="16577" name="Rectangle 8"/>
              <p:cNvSpPr>
                <a:spLocks noChangeAspect="1"/>
              </p:cNvSpPr>
              <p:nvPr/>
            </p:nvSpPr>
            <p:spPr>
              <a:xfrm rot="2381442">
                <a:off x="2976" y="1553"/>
                <a:ext cx="96" cy="661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78" name="Rectangle 9"/>
              <p:cNvSpPr>
                <a:spLocks noChangeAspect="1"/>
              </p:cNvSpPr>
              <p:nvPr/>
            </p:nvSpPr>
            <p:spPr>
              <a:xfrm rot="2381442">
                <a:off x="2982" y="1536"/>
                <a:ext cx="39" cy="661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69" name="Group 10"/>
            <p:cNvGrpSpPr>
              <a:grpSpLocks noChangeAspect="1"/>
            </p:cNvGrpSpPr>
            <p:nvPr/>
          </p:nvGrpSpPr>
          <p:grpSpPr>
            <a:xfrm>
              <a:off x="3216" y="1200"/>
              <a:ext cx="78" cy="389"/>
              <a:chOff x="3216" y="2160"/>
              <a:chExt cx="96" cy="816"/>
            </a:xfrm>
          </p:grpSpPr>
          <p:sp>
            <p:nvSpPr>
              <p:cNvPr id="16574" name="Rectangle 11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75" name="Rectangle 12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76" name="Rectangle 13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70" name="Group 14"/>
            <p:cNvGrpSpPr>
              <a:grpSpLocks noChangeAspect="1"/>
            </p:cNvGrpSpPr>
            <p:nvPr/>
          </p:nvGrpSpPr>
          <p:grpSpPr>
            <a:xfrm rot="-2332971">
              <a:off x="3024" y="576"/>
              <a:ext cx="79" cy="661"/>
              <a:chOff x="3216" y="2160"/>
              <a:chExt cx="96" cy="816"/>
            </a:xfrm>
          </p:grpSpPr>
          <p:sp>
            <p:nvSpPr>
              <p:cNvPr id="16571" name="Rectangle 15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72" name="Rectangle 16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73" name="Rectangle 17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</p:grpSp>
      <p:grpSp>
        <p:nvGrpSpPr>
          <p:cNvPr id="27666" name="Group 18"/>
          <p:cNvGrpSpPr/>
          <p:nvPr/>
        </p:nvGrpSpPr>
        <p:grpSpPr>
          <a:xfrm>
            <a:off x="4724400" y="914400"/>
            <a:ext cx="504825" cy="2600325"/>
            <a:chOff x="2976" y="576"/>
            <a:chExt cx="318" cy="1638"/>
          </a:xfrm>
        </p:grpSpPr>
        <p:grpSp>
          <p:nvGrpSpPr>
            <p:cNvPr id="16557" name="Group 19"/>
            <p:cNvGrpSpPr/>
            <p:nvPr/>
          </p:nvGrpSpPr>
          <p:grpSpPr>
            <a:xfrm>
              <a:off x="2976" y="1536"/>
              <a:ext cx="96" cy="678"/>
              <a:chOff x="2976" y="1536"/>
              <a:chExt cx="96" cy="678"/>
            </a:xfrm>
          </p:grpSpPr>
          <p:sp>
            <p:nvSpPr>
              <p:cNvPr id="16566" name="Rectangle 20"/>
              <p:cNvSpPr>
                <a:spLocks noChangeAspect="1"/>
              </p:cNvSpPr>
              <p:nvPr/>
            </p:nvSpPr>
            <p:spPr>
              <a:xfrm rot="2381442">
                <a:off x="2976" y="1553"/>
                <a:ext cx="96" cy="661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67" name="Rectangle 21"/>
              <p:cNvSpPr>
                <a:spLocks noChangeAspect="1"/>
              </p:cNvSpPr>
              <p:nvPr/>
            </p:nvSpPr>
            <p:spPr>
              <a:xfrm rot="2381442">
                <a:off x="2982" y="1536"/>
                <a:ext cx="39" cy="661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58" name="Group 22"/>
            <p:cNvGrpSpPr>
              <a:grpSpLocks noChangeAspect="1"/>
            </p:cNvGrpSpPr>
            <p:nvPr/>
          </p:nvGrpSpPr>
          <p:grpSpPr>
            <a:xfrm>
              <a:off x="3216" y="1200"/>
              <a:ext cx="78" cy="389"/>
              <a:chOff x="3216" y="2160"/>
              <a:chExt cx="96" cy="816"/>
            </a:xfrm>
          </p:grpSpPr>
          <p:sp>
            <p:nvSpPr>
              <p:cNvPr id="16563" name="Rectangle 23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64" name="Rectangle 24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65" name="Rectangle 25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59" name="Group 26"/>
            <p:cNvGrpSpPr>
              <a:grpSpLocks noChangeAspect="1"/>
            </p:cNvGrpSpPr>
            <p:nvPr/>
          </p:nvGrpSpPr>
          <p:grpSpPr>
            <a:xfrm rot="-2332971">
              <a:off x="3024" y="576"/>
              <a:ext cx="79" cy="661"/>
              <a:chOff x="3216" y="2160"/>
              <a:chExt cx="96" cy="816"/>
            </a:xfrm>
          </p:grpSpPr>
          <p:sp>
            <p:nvSpPr>
              <p:cNvPr id="16560" name="Rectangle 27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61" name="Rectangle 28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62" name="Rectangle 29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</p:grpSp>
      <p:sp>
        <p:nvSpPr>
          <p:cNvPr id="27679" name="Text Box 31"/>
          <p:cNvSpPr txBox="1"/>
          <p:nvPr/>
        </p:nvSpPr>
        <p:spPr>
          <a:xfrm>
            <a:off x="457200" y="15240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1.  A Simple Algorithm</a:t>
            </a:r>
          </a:p>
        </p:txBody>
      </p:sp>
      <p:grpSp>
        <p:nvGrpSpPr>
          <p:cNvPr id="27680" name="Group 32"/>
          <p:cNvGrpSpPr>
            <a:grpSpLocks noChangeAspect="1"/>
          </p:cNvGrpSpPr>
          <p:nvPr/>
        </p:nvGrpSpPr>
        <p:grpSpPr>
          <a:xfrm>
            <a:off x="639763" y="762000"/>
            <a:ext cx="2408237" cy="3206750"/>
            <a:chOff x="240" y="528"/>
            <a:chExt cx="1687" cy="2246"/>
          </a:xfrm>
        </p:grpSpPr>
        <p:grpSp>
          <p:nvGrpSpPr>
            <p:cNvPr id="16499" name="Group 33"/>
            <p:cNvGrpSpPr>
              <a:grpSpLocks noChangeAspect="1"/>
            </p:cNvGrpSpPr>
            <p:nvPr/>
          </p:nvGrpSpPr>
          <p:grpSpPr>
            <a:xfrm rot="-2613909">
              <a:off x="802" y="1696"/>
              <a:ext cx="87" cy="735"/>
              <a:chOff x="3216" y="2160"/>
              <a:chExt cx="96" cy="816"/>
            </a:xfrm>
          </p:grpSpPr>
          <p:sp>
            <p:nvSpPr>
              <p:cNvPr id="16554" name="Rectangle 34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55" name="Rectangle 35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56" name="Rectangle 36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00" name="Group 37"/>
            <p:cNvGrpSpPr>
              <a:grpSpLocks noChangeAspect="1"/>
            </p:cNvGrpSpPr>
            <p:nvPr/>
          </p:nvGrpSpPr>
          <p:grpSpPr>
            <a:xfrm rot="2540776">
              <a:off x="759" y="571"/>
              <a:ext cx="130" cy="735"/>
              <a:chOff x="3024" y="2160"/>
              <a:chExt cx="144" cy="816"/>
            </a:xfrm>
          </p:grpSpPr>
          <p:sp>
            <p:nvSpPr>
              <p:cNvPr id="16550" name="Rectangle 38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51" name="Rectangle 39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52" name="Rectangle 40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53" name="Rectangle 41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6501" name="Rectangle 42"/>
            <p:cNvSpPr>
              <a:spLocks noChangeAspect="1"/>
            </p:cNvSpPr>
            <p:nvPr/>
          </p:nvSpPr>
          <p:spPr>
            <a:xfrm rot="-5400000">
              <a:off x="1060" y="829"/>
              <a:ext cx="43" cy="821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6502" name="Group 43"/>
            <p:cNvGrpSpPr>
              <a:grpSpLocks noChangeAspect="1"/>
            </p:cNvGrpSpPr>
            <p:nvPr/>
          </p:nvGrpSpPr>
          <p:grpSpPr>
            <a:xfrm rot="-3551060">
              <a:off x="995" y="1004"/>
              <a:ext cx="173" cy="995"/>
              <a:chOff x="1440" y="1824"/>
              <a:chExt cx="192" cy="816"/>
            </a:xfrm>
          </p:grpSpPr>
          <p:sp>
            <p:nvSpPr>
              <p:cNvPr id="16544" name="Rectangle 44"/>
              <p:cNvSpPr>
                <a:spLocks noChangeAspect="1"/>
              </p:cNvSpPr>
              <p:nvPr/>
            </p:nvSpPr>
            <p:spPr>
              <a:xfrm>
                <a:off x="1440" y="1824"/>
                <a:ext cx="192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6545" name="Group 45"/>
              <p:cNvGrpSpPr>
                <a:grpSpLocks noChangeAspect="1"/>
              </p:cNvGrpSpPr>
              <p:nvPr/>
            </p:nvGrpSpPr>
            <p:grpSpPr>
              <a:xfrm>
                <a:off x="1440" y="1824"/>
                <a:ext cx="192" cy="816"/>
                <a:chOff x="1440" y="1824"/>
                <a:chExt cx="192" cy="816"/>
              </a:xfrm>
            </p:grpSpPr>
            <p:sp>
              <p:nvSpPr>
                <p:cNvPr id="16546" name="Rectangle 46"/>
                <p:cNvSpPr>
                  <a:spLocks noChangeAspect="1"/>
                </p:cNvSpPr>
                <p:nvPr/>
              </p:nvSpPr>
              <p:spPr>
                <a:xfrm>
                  <a:off x="1440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547" name="Rectangle 47"/>
                <p:cNvSpPr>
                  <a:spLocks noChangeAspect="1"/>
                </p:cNvSpPr>
                <p:nvPr/>
              </p:nvSpPr>
              <p:spPr>
                <a:xfrm>
                  <a:off x="1488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548" name="Rectangle 48"/>
                <p:cNvSpPr>
                  <a:spLocks noChangeAspect="1"/>
                </p:cNvSpPr>
                <p:nvPr/>
              </p:nvSpPr>
              <p:spPr>
                <a:xfrm>
                  <a:off x="1536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549" name="Rectangle 49"/>
                <p:cNvSpPr>
                  <a:spLocks noChangeAspect="1"/>
                </p:cNvSpPr>
                <p:nvPr/>
              </p:nvSpPr>
              <p:spPr>
                <a:xfrm>
                  <a:off x="1584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</p:grpSp>
        <p:grpSp>
          <p:nvGrpSpPr>
            <p:cNvPr id="16503" name="Group 50"/>
            <p:cNvGrpSpPr>
              <a:grpSpLocks noChangeAspect="1"/>
            </p:cNvGrpSpPr>
            <p:nvPr/>
          </p:nvGrpSpPr>
          <p:grpSpPr>
            <a:xfrm>
              <a:off x="521" y="1263"/>
              <a:ext cx="130" cy="519"/>
              <a:chOff x="3024" y="2160"/>
              <a:chExt cx="144" cy="816"/>
            </a:xfrm>
          </p:grpSpPr>
          <p:sp>
            <p:nvSpPr>
              <p:cNvPr id="16540" name="Rectangle 51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41" name="Rectangle 52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42" name="Rectangle 53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43" name="Rectangle 54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04" name="Group 55"/>
            <p:cNvGrpSpPr>
              <a:grpSpLocks noChangeAspect="1"/>
            </p:cNvGrpSpPr>
            <p:nvPr/>
          </p:nvGrpSpPr>
          <p:grpSpPr>
            <a:xfrm>
              <a:off x="1558" y="1306"/>
              <a:ext cx="86" cy="433"/>
              <a:chOff x="3216" y="2160"/>
              <a:chExt cx="96" cy="816"/>
            </a:xfrm>
          </p:grpSpPr>
          <p:sp>
            <p:nvSpPr>
              <p:cNvPr id="16537" name="Rectangle 56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8" name="Rectangle 57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9" name="Rectangle 58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05" name="Group 59"/>
            <p:cNvGrpSpPr>
              <a:grpSpLocks noChangeAspect="1"/>
            </p:cNvGrpSpPr>
            <p:nvPr/>
          </p:nvGrpSpPr>
          <p:grpSpPr>
            <a:xfrm rot="2381442">
              <a:off x="1278" y="1696"/>
              <a:ext cx="130" cy="735"/>
              <a:chOff x="3024" y="2160"/>
              <a:chExt cx="144" cy="816"/>
            </a:xfrm>
          </p:grpSpPr>
          <p:sp>
            <p:nvSpPr>
              <p:cNvPr id="16533" name="Rectangle 60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4" name="Rectangle 61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5" name="Rectangle 62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6" name="Rectangle 63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506" name="Group 64"/>
            <p:cNvGrpSpPr>
              <a:grpSpLocks noChangeAspect="1"/>
            </p:cNvGrpSpPr>
            <p:nvPr/>
          </p:nvGrpSpPr>
          <p:grpSpPr>
            <a:xfrm rot="-2332971">
              <a:off x="1278" y="571"/>
              <a:ext cx="87" cy="735"/>
              <a:chOff x="3216" y="2160"/>
              <a:chExt cx="96" cy="816"/>
            </a:xfrm>
          </p:grpSpPr>
          <p:sp>
            <p:nvSpPr>
              <p:cNvPr id="16530" name="Rectangle 65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1" name="Rectangle 66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532" name="Rectangle 67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6507" name="Oval 68"/>
            <p:cNvSpPr>
              <a:spLocks noChangeAspect="1"/>
            </p:cNvSpPr>
            <p:nvPr/>
          </p:nvSpPr>
          <p:spPr>
            <a:xfrm>
              <a:off x="975" y="528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508" name="Oval 69"/>
            <p:cNvSpPr>
              <a:spLocks noChangeAspect="1"/>
            </p:cNvSpPr>
            <p:nvPr/>
          </p:nvSpPr>
          <p:spPr>
            <a:xfrm>
              <a:off x="1451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509" name="Oval 70"/>
            <p:cNvSpPr>
              <a:spLocks noChangeAspect="1"/>
            </p:cNvSpPr>
            <p:nvPr/>
          </p:nvSpPr>
          <p:spPr>
            <a:xfrm>
              <a:off x="456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510" name="Oval 71"/>
            <p:cNvSpPr>
              <a:spLocks noChangeAspect="1"/>
            </p:cNvSpPr>
            <p:nvPr/>
          </p:nvSpPr>
          <p:spPr>
            <a:xfrm>
              <a:off x="1451" y="1133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511" name="Oval 72"/>
            <p:cNvSpPr>
              <a:spLocks noChangeAspect="1"/>
            </p:cNvSpPr>
            <p:nvPr/>
          </p:nvSpPr>
          <p:spPr>
            <a:xfrm>
              <a:off x="456" y="109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512" name="Oval 73"/>
            <p:cNvSpPr>
              <a:spLocks noChangeAspect="1"/>
            </p:cNvSpPr>
            <p:nvPr/>
          </p:nvSpPr>
          <p:spPr>
            <a:xfrm>
              <a:off x="975" y="2215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6513" name="Line 74"/>
            <p:cNvSpPr>
              <a:spLocks noChangeAspect="1"/>
            </p:cNvSpPr>
            <p:nvPr/>
          </p:nvSpPr>
          <p:spPr>
            <a:xfrm flipH="1">
              <a:off x="629" y="701"/>
              <a:ext cx="26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4" name="Line 75"/>
            <p:cNvSpPr>
              <a:spLocks noChangeAspect="1"/>
            </p:cNvSpPr>
            <p:nvPr/>
          </p:nvSpPr>
          <p:spPr>
            <a:xfrm>
              <a:off x="1321" y="744"/>
              <a:ext cx="217" cy="2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5" name="Line 76"/>
            <p:cNvSpPr>
              <a:spLocks noChangeAspect="1"/>
            </p:cNvSpPr>
            <p:nvPr/>
          </p:nvSpPr>
          <p:spPr>
            <a:xfrm>
              <a:off x="456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6" name="Line 77"/>
            <p:cNvSpPr>
              <a:spLocks noChangeAspect="1"/>
            </p:cNvSpPr>
            <p:nvPr/>
          </p:nvSpPr>
          <p:spPr>
            <a:xfrm>
              <a:off x="1711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7" name="Line 78"/>
            <p:cNvSpPr>
              <a:spLocks noChangeAspect="1"/>
            </p:cNvSpPr>
            <p:nvPr/>
          </p:nvSpPr>
          <p:spPr>
            <a:xfrm>
              <a:off x="889" y="1177"/>
              <a:ext cx="38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8" name="Line 79"/>
            <p:cNvSpPr>
              <a:spLocks noChangeAspect="1"/>
            </p:cNvSpPr>
            <p:nvPr/>
          </p:nvSpPr>
          <p:spPr>
            <a:xfrm>
              <a:off x="759" y="1479"/>
              <a:ext cx="476" cy="30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9" name="Line 80"/>
            <p:cNvSpPr>
              <a:spLocks noChangeAspect="1"/>
            </p:cNvSpPr>
            <p:nvPr/>
          </p:nvSpPr>
          <p:spPr>
            <a:xfrm>
              <a:off x="629" y="2042"/>
              <a:ext cx="217" cy="21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0" name="Line 81"/>
            <p:cNvSpPr>
              <a:spLocks noChangeAspect="1"/>
            </p:cNvSpPr>
            <p:nvPr/>
          </p:nvSpPr>
          <p:spPr>
            <a:xfrm flipH="1">
              <a:off x="1365" y="2042"/>
              <a:ext cx="216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1" name="Text Box 82"/>
            <p:cNvSpPr txBox="1">
              <a:spLocks noChangeAspect="1"/>
            </p:cNvSpPr>
            <p:nvPr/>
          </p:nvSpPr>
          <p:spPr>
            <a:xfrm>
              <a:off x="586" y="666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522" name="Text Box 83"/>
            <p:cNvSpPr txBox="1">
              <a:spLocks noChangeAspect="1"/>
            </p:cNvSpPr>
            <p:nvPr/>
          </p:nvSpPr>
          <p:spPr>
            <a:xfrm>
              <a:off x="240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523" name="Text Box 84"/>
            <p:cNvSpPr txBox="1">
              <a:spLocks noChangeAspect="1"/>
            </p:cNvSpPr>
            <p:nvPr/>
          </p:nvSpPr>
          <p:spPr>
            <a:xfrm>
              <a:off x="1408" y="2094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6524" name="Text Box 85"/>
            <p:cNvSpPr txBox="1">
              <a:spLocks noChangeAspect="1"/>
            </p:cNvSpPr>
            <p:nvPr/>
          </p:nvSpPr>
          <p:spPr>
            <a:xfrm>
              <a:off x="1321" y="658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525" name="Text Box 86"/>
            <p:cNvSpPr txBox="1">
              <a:spLocks noChangeAspect="1"/>
            </p:cNvSpPr>
            <p:nvPr/>
          </p:nvSpPr>
          <p:spPr>
            <a:xfrm>
              <a:off x="1667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526" name="Text Box 87"/>
            <p:cNvSpPr txBox="1">
              <a:spLocks noChangeAspect="1"/>
            </p:cNvSpPr>
            <p:nvPr/>
          </p:nvSpPr>
          <p:spPr>
            <a:xfrm>
              <a:off x="542" y="2085"/>
              <a:ext cx="260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6527" name="Text Box 88"/>
            <p:cNvSpPr txBox="1">
              <a:spLocks noChangeAspect="1"/>
            </p:cNvSpPr>
            <p:nvPr/>
          </p:nvSpPr>
          <p:spPr>
            <a:xfrm>
              <a:off x="932" y="1004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6528" name="Text Box 89"/>
            <p:cNvSpPr txBox="1">
              <a:spLocks noChangeAspect="1"/>
            </p:cNvSpPr>
            <p:nvPr/>
          </p:nvSpPr>
          <p:spPr>
            <a:xfrm>
              <a:off x="846" y="1617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6529" name="Text Box 90"/>
            <p:cNvSpPr txBox="1">
              <a:spLocks noChangeAspect="1"/>
            </p:cNvSpPr>
            <p:nvPr/>
          </p:nvSpPr>
          <p:spPr>
            <a:xfrm>
              <a:off x="912" y="2496"/>
              <a:ext cx="336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27739" name="Group 91"/>
          <p:cNvGrpSpPr>
            <a:grpSpLocks noChangeAspect="1"/>
          </p:cNvGrpSpPr>
          <p:nvPr/>
        </p:nvGrpSpPr>
        <p:grpSpPr>
          <a:xfrm>
            <a:off x="3541713" y="762000"/>
            <a:ext cx="1792287" cy="3206750"/>
            <a:chOff x="2225" y="576"/>
            <a:chExt cx="1255" cy="2246"/>
          </a:xfrm>
        </p:grpSpPr>
        <p:sp>
          <p:nvSpPr>
            <p:cNvPr id="16484" name="Oval 92"/>
            <p:cNvSpPr>
              <a:spLocks noChangeAspect="1"/>
            </p:cNvSpPr>
            <p:nvPr/>
          </p:nvSpPr>
          <p:spPr>
            <a:xfrm>
              <a:off x="2744" y="576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85" name="Oval 93"/>
            <p:cNvSpPr>
              <a:spLocks noChangeAspect="1"/>
            </p:cNvSpPr>
            <p:nvPr/>
          </p:nvSpPr>
          <p:spPr>
            <a:xfrm>
              <a:off x="3220" y="170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86" name="Oval 94"/>
            <p:cNvSpPr>
              <a:spLocks noChangeAspect="1"/>
            </p:cNvSpPr>
            <p:nvPr/>
          </p:nvSpPr>
          <p:spPr>
            <a:xfrm>
              <a:off x="2225" y="170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487" name="Oval 95"/>
            <p:cNvSpPr>
              <a:spLocks noChangeAspect="1"/>
            </p:cNvSpPr>
            <p:nvPr/>
          </p:nvSpPr>
          <p:spPr>
            <a:xfrm>
              <a:off x="3220" y="1181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88" name="Oval 96"/>
            <p:cNvSpPr>
              <a:spLocks noChangeAspect="1"/>
            </p:cNvSpPr>
            <p:nvPr/>
          </p:nvSpPr>
          <p:spPr>
            <a:xfrm>
              <a:off x="2225" y="1138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89" name="Oval 97"/>
            <p:cNvSpPr>
              <a:spLocks noChangeAspect="1"/>
            </p:cNvSpPr>
            <p:nvPr/>
          </p:nvSpPr>
          <p:spPr>
            <a:xfrm>
              <a:off x="2744" y="2263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6490" name="Line 98"/>
            <p:cNvSpPr>
              <a:spLocks noChangeAspect="1"/>
            </p:cNvSpPr>
            <p:nvPr/>
          </p:nvSpPr>
          <p:spPr>
            <a:xfrm flipH="1">
              <a:off x="2448" y="816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1" name="Line 99"/>
            <p:cNvSpPr>
              <a:spLocks noChangeAspect="1"/>
            </p:cNvSpPr>
            <p:nvPr/>
          </p:nvSpPr>
          <p:spPr>
            <a:xfrm>
              <a:off x="2976" y="816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2" name="Line 100"/>
            <p:cNvSpPr>
              <a:spLocks noChangeAspect="1"/>
            </p:cNvSpPr>
            <p:nvPr/>
          </p:nvSpPr>
          <p:spPr>
            <a:xfrm>
              <a:off x="2352" y="1392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3" name="Line 101"/>
            <p:cNvSpPr>
              <a:spLocks noChangeAspect="1"/>
            </p:cNvSpPr>
            <p:nvPr/>
          </p:nvSpPr>
          <p:spPr>
            <a:xfrm>
              <a:off x="3360" y="1440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" name="Line 102"/>
            <p:cNvSpPr>
              <a:spLocks noChangeAspect="1"/>
            </p:cNvSpPr>
            <p:nvPr/>
          </p:nvSpPr>
          <p:spPr>
            <a:xfrm>
              <a:off x="2400" y="1968"/>
              <a:ext cx="384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" name="Line 103"/>
            <p:cNvSpPr>
              <a:spLocks noChangeAspect="1"/>
            </p:cNvSpPr>
            <p:nvPr/>
          </p:nvSpPr>
          <p:spPr>
            <a:xfrm flipH="1">
              <a:off x="2976" y="1968"/>
              <a:ext cx="336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" name="Line 104"/>
            <p:cNvSpPr>
              <a:spLocks noChangeAspect="1"/>
            </p:cNvSpPr>
            <p:nvPr/>
          </p:nvSpPr>
          <p:spPr>
            <a:xfrm>
              <a:off x="2496" y="1296"/>
              <a:ext cx="72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" name="Line 105"/>
            <p:cNvSpPr>
              <a:spLocks noChangeAspect="1"/>
            </p:cNvSpPr>
            <p:nvPr/>
          </p:nvSpPr>
          <p:spPr>
            <a:xfrm>
              <a:off x="2448" y="1344"/>
              <a:ext cx="76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8" name="Text Box 106"/>
            <p:cNvSpPr txBox="1">
              <a:spLocks noChangeAspect="1"/>
            </p:cNvSpPr>
            <p:nvPr/>
          </p:nvSpPr>
          <p:spPr>
            <a:xfrm>
              <a:off x="2496" y="2544"/>
              <a:ext cx="768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Flow </a:t>
              </a:r>
              <a:r>
                <a:rPr lang="en-US" altLang="zh-CN" sz="2000" b="1" i="1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 b="1" i="1" dirty="0">
                <a:solidFill>
                  <a:srgbClr val="D6009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755" name="Group 107"/>
          <p:cNvGrpSpPr>
            <a:grpSpLocks noChangeAspect="1"/>
          </p:cNvGrpSpPr>
          <p:nvPr/>
        </p:nvGrpSpPr>
        <p:grpSpPr>
          <a:xfrm>
            <a:off x="6019800" y="762000"/>
            <a:ext cx="1795463" cy="3181350"/>
            <a:chOff x="3960" y="598"/>
            <a:chExt cx="1255" cy="2224"/>
          </a:xfrm>
        </p:grpSpPr>
        <p:grpSp>
          <p:nvGrpSpPr>
            <p:cNvPr id="16434" name="Group 108"/>
            <p:cNvGrpSpPr>
              <a:grpSpLocks noChangeAspect="1"/>
            </p:cNvGrpSpPr>
            <p:nvPr/>
          </p:nvGrpSpPr>
          <p:grpSpPr>
            <a:xfrm rot="-2613909">
              <a:off x="4306" y="1766"/>
              <a:ext cx="87" cy="735"/>
              <a:chOff x="3216" y="2160"/>
              <a:chExt cx="96" cy="816"/>
            </a:xfrm>
          </p:grpSpPr>
          <p:sp>
            <p:nvSpPr>
              <p:cNvPr id="16481" name="Rectangle 109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82" name="Rectangle 110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83" name="Rectangle 111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435" name="Group 112"/>
            <p:cNvGrpSpPr>
              <a:grpSpLocks noChangeAspect="1"/>
            </p:cNvGrpSpPr>
            <p:nvPr/>
          </p:nvGrpSpPr>
          <p:grpSpPr>
            <a:xfrm rot="2540776">
              <a:off x="4263" y="641"/>
              <a:ext cx="130" cy="735"/>
              <a:chOff x="3024" y="2160"/>
              <a:chExt cx="144" cy="816"/>
            </a:xfrm>
          </p:grpSpPr>
          <p:sp>
            <p:nvSpPr>
              <p:cNvPr id="16477" name="Rectangle 113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78" name="Rectangle 114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79" name="Rectangle 115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80" name="Rectangle 116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6436" name="Rectangle 117"/>
            <p:cNvSpPr>
              <a:spLocks noChangeAspect="1"/>
            </p:cNvSpPr>
            <p:nvPr/>
          </p:nvSpPr>
          <p:spPr>
            <a:xfrm rot="-5400000">
              <a:off x="4563" y="905"/>
              <a:ext cx="43" cy="821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6437" name="Group 118"/>
            <p:cNvGrpSpPr>
              <a:grpSpLocks noChangeAspect="1"/>
            </p:cNvGrpSpPr>
            <p:nvPr/>
          </p:nvGrpSpPr>
          <p:grpSpPr>
            <a:xfrm rot="-3551060">
              <a:off x="4499" y="1074"/>
              <a:ext cx="173" cy="995"/>
              <a:chOff x="1440" y="1824"/>
              <a:chExt cx="192" cy="816"/>
            </a:xfrm>
          </p:grpSpPr>
          <p:sp>
            <p:nvSpPr>
              <p:cNvPr id="16471" name="Rectangle 119"/>
              <p:cNvSpPr>
                <a:spLocks noChangeAspect="1"/>
              </p:cNvSpPr>
              <p:nvPr/>
            </p:nvSpPr>
            <p:spPr>
              <a:xfrm>
                <a:off x="1440" y="1824"/>
                <a:ext cx="192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6472" name="Group 120"/>
              <p:cNvGrpSpPr>
                <a:grpSpLocks noChangeAspect="1"/>
              </p:cNvGrpSpPr>
              <p:nvPr/>
            </p:nvGrpSpPr>
            <p:grpSpPr>
              <a:xfrm>
                <a:off x="1440" y="1824"/>
                <a:ext cx="192" cy="816"/>
                <a:chOff x="1440" y="1824"/>
                <a:chExt cx="192" cy="816"/>
              </a:xfrm>
            </p:grpSpPr>
            <p:sp>
              <p:nvSpPr>
                <p:cNvPr id="16473" name="Rectangle 121"/>
                <p:cNvSpPr>
                  <a:spLocks noChangeAspect="1"/>
                </p:cNvSpPr>
                <p:nvPr/>
              </p:nvSpPr>
              <p:spPr>
                <a:xfrm>
                  <a:off x="1440" y="1824"/>
                  <a:ext cx="48" cy="816"/>
                </a:xfrm>
                <a:prstGeom prst="rect">
                  <a:avLst/>
                </a:prstGeom>
                <a:solidFill>
                  <a:schemeClr val="hlink"/>
                </a:solidFill>
                <a:ln w="6350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474" name="Rectangle 122"/>
                <p:cNvSpPr>
                  <a:spLocks noChangeAspect="1"/>
                </p:cNvSpPr>
                <p:nvPr/>
              </p:nvSpPr>
              <p:spPr>
                <a:xfrm>
                  <a:off x="1488" y="1824"/>
                  <a:ext cx="48" cy="816"/>
                </a:xfrm>
                <a:prstGeom prst="rect">
                  <a:avLst/>
                </a:prstGeom>
                <a:solidFill>
                  <a:schemeClr val="hlink"/>
                </a:solidFill>
                <a:ln w="6350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475" name="Rectangle 123"/>
                <p:cNvSpPr>
                  <a:spLocks noChangeAspect="1"/>
                </p:cNvSpPr>
                <p:nvPr/>
              </p:nvSpPr>
              <p:spPr>
                <a:xfrm>
                  <a:off x="1536" y="1824"/>
                  <a:ext cx="48" cy="816"/>
                </a:xfrm>
                <a:prstGeom prst="rect">
                  <a:avLst/>
                </a:prstGeom>
                <a:solidFill>
                  <a:schemeClr val="hlink"/>
                </a:solidFill>
                <a:ln w="6350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6476" name="Rectangle 124"/>
                <p:cNvSpPr>
                  <a:spLocks noChangeAspect="1"/>
                </p:cNvSpPr>
                <p:nvPr/>
              </p:nvSpPr>
              <p:spPr>
                <a:xfrm>
                  <a:off x="1584" y="1824"/>
                  <a:ext cx="48" cy="816"/>
                </a:xfrm>
                <a:prstGeom prst="rect">
                  <a:avLst/>
                </a:prstGeom>
                <a:solidFill>
                  <a:schemeClr val="hlink"/>
                </a:solidFill>
                <a:ln w="6350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</p:grpSp>
        <p:grpSp>
          <p:nvGrpSpPr>
            <p:cNvPr id="16438" name="Group 125"/>
            <p:cNvGrpSpPr>
              <a:grpSpLocks noChangeAspect="1"/>
            </p:cNvGrpSpPr>
            <p:nvPr/>
          </p:nvGrpSpPr>
          <p:grpSpPr>
            <a:xfrm>
              <a:off x="4025" y="1333"/>
              <a:ext cx="130" cy="519"/>
              <a:chOff x="3024" y="2160"/>
              <a:chExt cx="144" cy="816"/>
            </a:xfrm>
          </p:grpSpPr>
          <p:sp>
            <p:nvSpPr>
              <p:cNvPr id="16467" name="Rectangle 126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8" name="Rectangle 127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9" name="Rectangle 128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70" name="Rectangle 129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439" name="Group 130"/>
            <p:cNvGrpSpPr>
              <a:grpSpLocks noChangeAspect="1"/>
            </p:cNvGrpSpPr>
            <p:nvPr/>
          </p:nvGrpSpPr>
          <p:grpSpPr>
            <a:xfrm>
              <a:off x="5062" y="1376"/>
              <a:ext cx="86" cy="433"/>
              <a:chOff x="3216" y="2160"/>
              <a:chExt cx="96" cy="816"/>
            </a:xfrm>
          </p:grpSpPr>
          <p:sp>
            <p:nvSpPr>
              <p:cNvPr id="16464" name="Rectangle 131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5" name="Rectangle 132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6" name="Rectangle 133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440" name="Group 134"/>
            <p:cNvGrpSpPr>
              <a:grpSpLocks noChangeAspect="1"/>
            </p:cNvGrpSpPr>
            <p:nvPr/>
          </p:nvGrpSpPr>
          <p:grpSpPr>
            <a:xfrm rot="2381442">
              <a:off x="4782" y="1766"/>
              <a:ext cx="130" cy="735"/>
              <a:chOff x="3024" y="2160"/>
              <a:chExt cx="144" cy="816"/>
            </a:xfrm>
          </p:grpSpPr>
          <p:sp>
            <p:nvSpPr>
              <p:cNvPr id="16460" name="Rectangle 135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1" name="Rectangle 136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2" name="Rectangle 137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63" name="Rectangle 138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6441" name="Group 139"/>
            <p:cNvGrpSpPr>
              <a:grpSpLocks noChangeAspect="1"/>
            </p:cNvGrpSpPr>
            <p:nvPr/>
          </p:nvGrpSpPr>
          <p:grpSpPr>
            <a:xfrm rot="-2332971">
              <a:off x="4782" y="641"/>
              <a:ext cx="87" cy="735"/>
              <a:chOff x="3216" y="2160"/>
              <a:chExt cx="96" cy="816"/>
            </a:xfrm>
          </p:grpSpPr>
          <p:sp>
            <p:nvSpPr>
              <p:cNvPr id="16457" name="Rectangle 140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solidFill>
                <a:schemeClr val="hlink"/>
              </a:solidFill>
              <a:ln w="254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58" name="Rectangle 141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6459" name="Rectangle 142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solidFill>
                <a:schemeClr val="hlink"/>
              </a:solidFill>
              <a:ln w="12700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6442" name="Oval 143"/>
            <p:cNvSpPr>
              <a:spLocks noChangeAspect="1"/>
            </p:cNvSpPr>
            <p:nvPr/>
          </p:nvSpPr>
          <p:spPr>
            <a:xfrm>
              <a:off x="4479" y="598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6443" name="Oval 144"/>
            <p:cNvSpPr>
              <a:spLocks noChangeAspect="1"/>
            </p:cNvSpPr>
            <p:nvPr/>
          </p:nvSpPr>
          <p:spPr>
            <a:xfrm>
              <a:off x="4955" y="172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44" name="Oval 145"/>
            <p:cNvSpPr>
              <a:spLocks noChangeAspect="1"/>
            </p:cNvSpPr>
            <p:nvPr/>
          </p:nvSpPr>
          <p:spPr>
            <a:xfrm>
              <a:off x="3960" y="172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445" name="Oval 146"/>
            <p:cNvSpPr>
              <a:spLocks noChangeAspect="1"/>
            </p:cNvSpPr>
            <p:nvPr/>
          </p:nvSpPr>
          <p:spPr>
            <a:xfrm>
              <a:off x="4955" y="1203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46" name="Oval 147"/>
            <p:cNvSpPr>
              <a:spLocks noChangeAspect="1"/>
            </p:cNvSpPr>
            <p:nvPr/>
          </p:nvSpPr>
          <p:spPr>
            <a:xfrm>
              <a:off x="3960" y="116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47" name="Oval 148"/>
            <p:cNvSpPr>
              <a:spLocks noChangeAspect="1"/>
            </p:cNvSpPr>
            <p:nvPr/>
          </p:nvSpPr>
          <p:spPr>
            <a:xfrm>
              <a:off x="4479" y="2285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6448" name="Line 149"/>
            <p:cNvSpPr>
              <a:spLocks noChangeAspect="1"/>
            </p:cNvSpPr>
            <p:nvPr/>
          </p:nvSpPr>
          <p:spPr>
            <a:xfrm flipH="1">
              <a:off x="4133" y="771"/>
              <a:ext cx="26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9" name="Line 150"/>
            <p:cNvSpPr>
              <a:spLocks noChangeAspect="1"/>
            </p:cNvSpPr>
            <p:nvPr/>
          </p:nvSpPr>
          <p:spPr>
            <a:xfrm>
              <a:off x="4825" y="814"/>
              <a:ext cx="217" cy="2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0" name="Line 151"/>
            <p:cNvSpPr>
              <a:spLocks noChangeAspect="1"/>
            </p:cNvSpPr>
            <p:nvPr/>
          </p:nvSpPr>
          <p:spPr>
            <a:xfrm>
              <a:off x="3960" y="146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1" name="Line 152"/>
            <p:cNvSpPr>
              <a:spLocks noChangeAspect="1"/>
            </p:cNvSpPr>
            <p:nvPr/>
          </p:nvSpPr>
          <p:spPr>
            <a:xfrm>
              <a:off x="5215" y="146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2" name="Line 153"/>
            <p:cNvSpPr>
              <a:spLocks noChangeAspect="1"/>
            </p:cNvSpPr>
            <p:nvPr/>
          </p:nvSpPr>
          <p:spPr>
            <a:xfrm>
              <a:off x="4393" y="1247"/>
              <a:ext cx="38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3" name="Line 154"/>
            <p:cNvSpPr>
              <a:spLocks noChangeAspect="1"/>
            </p:cNvSpPr>
            <p:nvPr/>
          </p:nvSpPr>
          <p:spPr>
            <a:xfrm>
              <a:off x="4263" y="1549"/>
              <a:ext cx="476" cy="30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Line 155"/>
            <p:cNvSpPr>
              <a:spLocks noChangeAspect="1"/>
            </p:cNvSpPr>
            <p:nvPr/>
          </p:nvSpPr>
          <p:spPr>
            <a:xfrm>
              <a:off x="4133" y="2112"/>
              <a:ext cx="217" cy="21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Line 156"/>
            <p:cNvSpPr>
              <a:spLocks noChangeAspect="1"/>
            </p:cNvSpPr>
            <p:nvPr/>
          </p:nvSpPr>
          <p:spPr>
            <a:xfrm flipH="1">
              <a:off x="4869" y="2112"/>
              <a:ext cx="216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6" name="Text Box 157"/>
            <p:cNvSpPr txBox="1">
              <a:spLocks noChangeAspect="1"/>
            </p:cNvSpPr>
            <p:nvPr/>
          </p:nvSpPr>
          <p:spPr>
            <a:xfrm>
              <a:off x="4128" y="2544"/>
              <a:ext cx="1008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Residual </a:t>
              </a:r>
              <a:r>
                <a:rPr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  <a:endPara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806" name="Text Box 158"/>
          <p:cNvSpPr txBox="1"/>
          <p:nvPr/>
        </p:nvSpPr>
        <p:spPr>
          <a:xfrm>
            <a:off x="533400" y="4038600"/>
            <a:ext cx="4191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Step 1:</a:t>
            </a:r>
            <a:r>
              <a:rPr lang="en-US" altLang="zh-CN" sz="2000" b="1" dirty="0">
                <a:latin typeface="Times New Roman" panose="02020603050405020304" pitchFamily="18" charset="0"/>
              </a:rPr>
              <a:t>  Find any path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in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;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07" name="AutoShape 159"/>
          <p:cNvSpPr/>
          <p:nvPr/>
        </p:nvSpPr>
        <p:spPr>
          <a:xfrm>
            <a:off x="3276600" y="4953000"/>
            <a:ext cx="3124200" cy="609600"/>
          </a:xfrm>
          <a:prstGeom prst="wedgeEllipseCallout">
            <a:avLst>
              <a:gd name="adj1" fmla="val -45019"/>
              <a:gd name="adj2" fmla="val -15599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27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augmenting path</a:t>
            </a:r>
          </a:p>
        </p:txBody>
      </p:sp>
      <p:grpSp>
        <p:nvGrpSpPr>
          <p:cNvPr id="27808" name="Group 160"/>
          <p:cNvGrpSpPr/>
          <p:nvPr/>
        </p:nvGrpSpPr>
        <p:grpSpPr>
          <a:xfrm>
            <a:off x="7239000" y="1066800"/>
            <a:ext cx="573088" cy="2224088"/>
            <a:chOff x="4560" y="672"/>
            <a:chExt cx="361" cy="1401"/>
          </a:xfrm>
        </p:grpSpPr>
        <p:sp>
          <p:nvSpPr>
            <p:cNvPr id="16431" name="Line 161"/>
            <p:cNvSpPr>
              <a:spLocks noChangeAspect="1"/>
            </p:cNvSpPr>
            <p:nvPr/>
          </p:nvSpPr>
          <p:spPr>
            <a:xfrm>
              <a:off x="4560" y="672"/>
              <a:ext cx="195" cy="234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2" name="Line 162"/>
            <p:cNvSpPr>
              <a:spLocks noChangeAspect="1"/>
            </p:cNvSpPr>
            <p:nvPr/>
          </p:nvSpPr>
          <p:spPr>
            <a:xfrm>
              <a:off x="4921" y="1251"/>
              <a:ext cx="0" cy="233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3" name="Line 163"/>
            <p:cNvSpPr>
              <a:spLocks noChangeAspect="1"/>
            </p:cNvSpPr>
            <p:nvPr/>
          </p:nvSpPr>
          <p:spPr>
            <a:xfrm flipH="1">
              <a:off x="4611" y="1849"/>
              <a:ext cx="187" cy="224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812" name="Text Box 164"/>
          <p:cNvSpPr txBox="1"/>
          <p:nvPr/>
        </p:nvSpPr>
        <p:spPr>
          <a:xfrm>
            <a:off x="533400" y="4419600"/>
            <a:ext cx="4191000" cy="10064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Step 2:</a:t>
            </a:r>
            <a:r>
              <a:rPr lang="en-US" altLang="zh-CN" sz="2000" b="1" dirty="0">
                <a:latin typeface="Times New Roman" panose="02020603050405020304" pitchFamily="18" charset="0"/>
              </a:rPr>
              <a:t>  Take the minimum edge on this path as the amount of flow and add to </a:t>
            </a:r>
            <a:r>
              <a:rPr lang="en-US" altLang="zh-CN" sz="2000" b="1" i="1" dirty="0">
                <a:solidFill>
                  <a:srgbClr val="D60093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solidFill>
                  <a:srgbClr val="D60093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27813" name="Text Box 165"/>
          <p:cNvSpPr txBox="1"/>
          <p:nvPr/>
        </p:nvSpPr>
        <p:spPr>
          <a:xfrm>
            <a:off x="533400" y="5410200"/>
            <a:ext cx="4191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Step 3:</a:t>
            </a:r>
            <a:r>
              <a:rPr lang="en-US" altLang="zh-CN" sz="2000" b="1" dirty="0">
                <a:latin typeface="Times New Roman" panose="02020603050405020304" pitchFamily="18" charset="0"/>
              </a:rPr>
              <a:t>  Update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and remove the 0 flow edges;</a:t>
            </a:r>
          </a:p>
        </p:txBody>
      </p:sp>
      <p:sp>
        <p:nvSpPr>
          <p:cNvPr id="27814" name="Rectangle 166"/>
          <p:cNvSpPr>
            <a:spLocks noChangeAspect="1"/>
          </p:cNvSpPr>
          <p:nvPr/>
        </p:nvSpPr>
        <p:spPr>
          <a:xfrm rot="-2332971">
            <a:off x="7216775" y="982663"/>
            <a:ext cx="315913" cy="6858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15" name="Rectangle 167"/>
          <p:cNvSpPr/>
          <p:nvPr/>
        </p:nvSpPr>
        <p:spPr>
          <a:xfrm>
            <a:off x="7543800" y="2017713"/>
            <a:ext cx="381000" cy="3460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16" name="Rectangle 168"/>
          <p:cNvSpPr/>
          <p:nvPr/>
        </p:nvSpPr>
        <p:spPr>
          <a:xfrm rot="2381442">
            <a:off x="7204075" y="2584450"/>
            <a:ext cx="123825" cy="68738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17" name="Text Box 169"/>
          <p:cNvSpPr txBox="1"/>
          <p:nvPr/>
        </p:nvSpPr>
        <p:spPr>
          <a:xfrm>
            <a:off x="4953000" y="4098925"/>
            <a:ext cx="3657600" cy="16160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Step 4:</a:t>
            </a:r>
            <a:r>
              <a:rPr lang="en-US" altLang="zh-CN" sz="2000" b="1" dirty="0">
                <a:latin typeface="Times New Roman" panose="02020603050405020304" pitchFamily="18" charset="0"/>
              </a:rPr>
              <a:t>  If (there is a path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000" b="1" i="1" dirty="0">
                <a:solidFill>
                  <a:srgbClr val="00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in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000" b="1" dirty="0">
                <a:latin typeface="Times New Roman" panose="02020603050405020304" pitchFamily="18" charset="0"/>
              </a:rPr>
              <a:t> )</a:t>
            </a:r>
          </a:p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    Goto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Step 1</a:t>
            </a:r>
            <a:r>
              <a:rPr lang="en-US" altLang="zh-CN" sz="2000" b="1" dirty="0">
                <a:latin typeface="Times New Roman" panose="02020603050405020304" pitchFamily="18" charset="0"/>
              </a:rPr>
              <a:t>;</a:t>
            </a:r>
          </a:p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Else</a:t>
            </a:r>
          </a:p>
          <a:p>
            <a:pPr marL="952500" lvl="0" indent="-95250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                     End.</a:t>
            </a:r>
          </a:p>
        </p:txBody>
      </p:sp>
      <p:grpSp>
        <p:nvGrpSpPr>
          <p:cNvPr id="27818" name="Group 170"/>
          <p:cNvGrpSpPr/>
          <p:nvPr/>
        </p:nvGrpSpPr>
        <p:grpSpPr>
          <a:xfrm>
            <a:off x="6019800" y="990600"/>
            <a:ext cx="600075" cy="2252663"/>
            <a:chOff x="3792" y="624"/>
            <a:chExt cx="378" cy="1419"/>
          </a:xfrm>
        </p:grpSpPr>
        <p:sp>
          <p:nvSpPr>
            <p:cNvPr id="16428" name="Line 171"/>
            <p:cNvSpPr>
              <a:spLocks noChangeAspect="1"/>
            </p:cNvSpPr>
            <p:nvPr/>
          </p:nvSpPr>
          <p:spPr>
            <a:xfrm flipH="1">
              <a:off x="3936" y="624"/>
              <a:ext cx="234" cy="232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172"/>
            <p:cNvSpPr>
              <a:spLocks noChangeAspect="1"/>
            </p:cNvSpPr>
            <p:nvPr/>
          </p:nvSpPr>
          <p:spPr>
            <a:xfrm>
              <a:off x="3792" y="1251"/>
              <a:ext cx="0" cy="233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Line 173"/>
            <p:cNvSpPr>
              <a:spLocks noChangeAspect="1"/>
            </p:cNvSpPr>
            <p:nvPr/>
          </p:nvSpPr>
          <p:spPr>
            <a:xfrm>
              <a:off x="3937" y="1849"/>
              <a:ext cx="195" cy="194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822" name="Rectangle 174"/>
          <p:cNvSpPr/>
          <p:nvPr/>
        </p:nvSpPr>
        <p:spPr>
          <a:xfrm rot="2520000">
            <a:off x="6529388" y="981075"/>
            <a:ext cx="123825" cy="7588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23" name="Rectangle 175"/>
          <p:cNvSpPr/>
          <p:nvPr/>
        </p:nvSpPr>
        <p:spPr>
          <a:xfrm>
            <a:off x="6172200" y="1905000"/>
            <a:ext cx="152400" cy="4572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24" name="Rectangle 176"/>
          <p:cNvSpPr>
            <a:spLocks noChangeAspect="1"/>
          </p:cNvSpPr>
          <p:nvPr/>
        </p:nvSpPr>
        <p:spPr>
          <a:xfrm rot="-2332971">
            <a:off x="6291263" y="2684463"/>
            <a:ext cx="442912" cy="64928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25" name="Line 177"/>
          <p:cNvSpPr>
            <a:spLocks noChangeAspect="1"/>
          </p:cNvSpPr>
          <p:nvPr/>
        </p:nvSpPr>
        <p:spPr>
          <a:xfrm>
            <a:off x="6477000" y="2133600"/>
            <a:ext cx="679450" cy="433388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826" name="Rectangle 178"/>
          <p:cNvSpPr/>
          <p:nvPr/>
        </p:nvSpPr>
        <p:spPr>
          <a:xfrm rot="2381442">
            <a:off x="6332538" y="915988"/>
            <a:ext cx="293687" cy="7080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27" name="Rectangle 179"/>
          <p:cNvSpPr/>
          <p:nvPr/>
        </p:nvSpPr>
        <p:spPr>
          <a:xfrm rot="-3600000">
            <a:off x="6929438" y="1411288"/>
            <a:ext cx="44450" cy="12573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28" name="Rectangle 180"/>
          <p:cNvSpPr/>
          <p:nvPr/>
        </p:nvSpPr>
        <p:spPr>
          <a:xfrm rot="2381442">
            <a:off x="7227888" y="2693988"/>
            <a:ext cx="381000" cy="70802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7830" name="Text Box 182"/>
          <p:cNvSpPr txBox="1"/>
          <p:nvPr/>
        </p:nvSpPr>
        <p:spPr>
          <a:xfrm>
            <a:off x="6083300" y="981075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831" name="Text Box 183"/>
          <p:cNvSpPr txBox="1"/>
          <p:nvPr/>
        </p:nvSpPr>
        <p:spPr>
          <a:xfrm>
            <a:off x="7380288" y="981075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832" name="Text Box 184"/>
          <p:cNvSpPr txBox="1"/>
          <p:nvPr/>
        </p:nvSpPr>
        <p:spPr>
          <a:xfrm>
            <a:off x="3708400" y="1052513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33" name="Text Box 185"/>
          <p:cNvSpPr txBox="1"/>
          <p:nvPr/>
        </p:nvSpPr>
        <p:spPr>
          <a:xfrm>
            <a:off x="4933950" y="1052513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34" name="Text Box 186"/>
          <p:cNvSpPr txBox="1"/>
          <p:nvPr/>
        </p:nvSpPr>
        <p:spPr>
          <a:xfrm>
            <a:off x="5651500" y="198913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835" name="Text Box 187"/>
          <p:cNvSpPr txBox="1"/>
          <p:nvPr/>
        </p:nvSpPr>
        <p:spPr>
          <a:xfrm>
            <a:off x="7883525" y="198913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836" name="Text Box 188"/>
          <p:cNvSpPr txBox="1"/>
          <p:nvPr/>
        </p:nvSpPr>
        <p:spPr>
          <a:xfrm>
            <a:off x="3346450" y="198913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37" name="Text Box 189"/>
          <p:cNvSpPr txBox="1"/>
          <p:nvPr/>
        </p:nvSpPr>
        <p:spPr>
          <a:xfrm>
            <a:off x="5221288" y="198913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38" name="Text Box 190"/>
          <p:cNvSpPr txBox="1"/>
          <p:nvPr/>
        </p:nvSpPr>
        <p:spPr>
          <a:xfrm>
            <a:off x="3706813" y="2876550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39" name="Text Box 191"/>
          <p:cNvSpPr txBox="1"/>
          <p:nvPr/>
        </p:nvSpPr>
        <p:spPr>
          <a:xfrm>
            <a:off x="4211638" y="2155825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40" name="Text Box 192"/>
          <p:cNvSpPr txBox="1"/>
          <p:nvPr/>
        </p:nvSpPr>
        <p:spPr>
          <a:xfrm>
            <a:off x="4859338" y="2876550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41" name="Text Box 193"/>
          <p:cNvSpPr txBox="1"/>
          <p:nvPr/>
        </p:nvSpPr>
        <p:spPr>
          <a:xfrm>
            <a:off x="6588125" y="230028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842" name="Text Box 194"/>
          <p:cNvSpPr txBox="1"/>
          <p:nvPr/>
        </p:nvSpPr>
        <p:spPr>
          <a:xfrm>
            <a:off x="6804025" y="1412875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7843" name="Text Box 195"/>
          <p:cNvSpPr txBox="1"/>
          <p:nvPr/>
        </p:nvSpPr>
        <p:spPr>
          <a:xfrm>
            <a:off x="6154738" y="294798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844" name="Text Box 196"/>
          <p:cNvSpPr txBox="1"/>
          <p:nvPr/>
        </p:nvSpPr>
        <p:spPr>
          <a:xfrm>
            <a:off x="7451725" y="294798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845" name="Text Box 197"/>
          <p:cNvSpPr txBox="1"/>
          <p:nvPr/>
        </p:nvSpPr>
        <p:spPr>
          <a:xfrm>
            <a:off x="7380288" y="981075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46" name="Text Box 198"/>
          <p:cNvSpPr txBox="1"/>
          <p:nvPr/>
        </p:nvSpPr>
        <p:spPr>
          <a:xfrm>
            <a:off x="7883525" y="198913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7847" name="Text Box 199"/>
          <p:cNvSpPr txBox="1"/>
          <p:nvPr/>
        </p:nvSpPr>
        <p:spPr>
          <a:xfrm>
            <a:off x="7451725" y="2947988"/>
            <a:ext cx="504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latin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7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27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7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7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7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27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2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2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9" dur="500"/>
                                        <p:tgtEl>
                                          <p:spTgt spid="27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2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2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2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2" dur="500"/>
                                        <p:tgtEl>
                                          <p:spTgt spid="27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27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2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9" grpId="0"/>
      <p:bldP spid="27806" grpId="0"/>
      <p:bldP spid="27807" grpId="0" animBg="1"/>
      <p:bldP spid="27812" grpId="0"/>
      <p:bldP spid="27813" grpId="0"/>
      <p:bldP spid="27814" grpId="0" animBg="1"/>
      <p:bldP spid="27815" grpId="0" animBg="1"/>
      <p:bldP spid="27816" grpId="0" animBg="1"/>
      <p:bldP spid="27817" grpId="0"/>
      <p:bldP spid="27822" grpId="0" animBg="1"/>
      <p:bldP spid="27823" grpId="0" animBg="1"/>
      <p:bldP spid="27824" grpId="0" animBg="1"/>
      <p:bldP spid="27826" grpId="0" animBg="1"/>
      <p:bldP spid="27827" grpId="0" animBg="1"/>
      <p:bldP spid="27828" grpId="0" animBg="1"/>
      <p:bldP spid="27830" grpId="0"/>
      <p:bldP spid="27830" grpId="1"/>
      <p:bldP spid="27831" grpId="0"/>
      <p:bldP spid="27831" grpId="1"/>
      <p:bldP spid="27832" grpId="0"/>
      <p:bldP spid="27833" grpId="0"/>
      <p:bldP spid="27834" grpId="0"/>
      <p:bldP spid="27834" grpId="1"/>
      <p:bldP spid="27835" grpId="0"/>
      <p:bldP spid="27835" grpId="1"/>
      <p:bldP spid="27836" grpId="0"/>
      <p:bldP spid="27837" grpId="0"/>
      <p:bldP spid="27838" grpId="0"/>
      <p:bldP spid="27839" grpId="0"/>
      <p:bldP spid="27840" grpId="0"/>
      <p:bldP spid="27841" grpId="0"/>
      <p:bldP spid="27842" grpId="0"/>
      <p:bldP spid="27843" grpId="0"/>
      <p:bldP spid="27843" grpId="1"/>
      <p:bldP spid="27844" grpId="0"/>
      <p:bldP spid="27844" grpId="1"/>
      <p:bldP spid="27845" grpId="0"/>
      <p:bldP spid="27845" grpId="1"/>
      <p:bldP spid="27845" grpId="2"/>
      <p:bldP spid="27846" grpId="0"/>
      <p:bldP spid="27846" grpId="1"/>
      <p:bldP spid="27846" grpId="2"/>
      <p:bldP spid="27847" grpId="0"/>
      <p:bldP spid="27847" grpId="1"/>
      <p:bldP spid="27847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3"/>
          <p:cNvGrpSpPr>
            <a:grpSpLocks noChangeAspect="1"/>
          </p:cNvGrpSpPr>
          <p:nvPr/>
        </p:nvGrpSpPr>
        <p:grpSpPr>
          <a:xfrm>
            <a:off x="609600" y="685800"/>
            <a:ext cx="2408238" cy="3206750"/>
            <a:chOff x="240" y="528"/>
            <a:chExt cx="1687" cy="2246"/>
          </a:xfrm>
        </p:grpSpPr>
        <p:grpSp>
          <p:nvGrpSpPr>
            <p:cNvPr id="17463" name="Group 4"/>
            <p:cNvGrpSpPr>
              <a:grpSpLocks noChangeAspect="1"/>
            </p:cNvGrpSpPr>
            <p:nvPr/>
          </p:nvGrpSpPr>
          <p:grpSpPr>
            <a:xfrm rot="-2613909">
              <a:off x="802" y="1696"/>
              <a:ext cx="87" cy="735"/>
              <a:chOff x="3216" y="2160"/>
              <a:chExt cx="96" cy="816"/>
            </a:xfrm>
          </p:grpSpPr>
          <p:sp>
            <p:nvSpPr>
              <p:cNvPr id="17518" name="Rectangle 5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19" name="Rectangle 6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20" name="Rectangle 7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7464" name="Group 8"/>
            <p:cNvGrpSpPr>
              <a:grpSpLocks noChangeAspect="1"/>
            </p:cNvGrpSpPr>
            <p:nvPr/>
          </p:nvGrpSpPr>
          <p:grpSpPr>
            <a:xfrm rot="2540776">
              <a:off x="759" y="571"/>
              <a:ext cx="130" cy="735"/>
              <a:chOff x="3024" y="2160"/>
              <a:chExt cx="144" cy="816"/>
            </a:xfrm>
          </p:grpSpPr>
          <p:sp>
            <p:nvSpPr>
              <p:cNvPr id="17514" name="Rectangle 9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15" name="Rectangle 10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16" name="Rectangle 11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17" name="Rectangle 12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7465" name="Rectangle 13"/>
            <p:cNvSpPr>
              <a:spLocks noChangeAspect="1"/>
            </p:cNvSpPr>
            <p:nvPr/>
          </p:nvSpPr>
          <p:spPr>
            <a:xfrm rot="-5400000">
              <a:off x="1060" y="829"/>
              <a:ext cx="43" cy="821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7466" name="Group 14"/>
            <p:cNvGrpSpPr>
              <a:grpSpLocks noChangeAspect="1"/>
            </p:cNvGrpSpPr>
            <p:nvPr/>
          </p:nvGrpSpPr>
          <p:grpSpPr>
            <a:xfrm rot="-3551060">
              <a:off x="995" y="1004"/>
              <a:ext cx="173" cy="995"/>
              <a:chOff x="1440" y="1824"/>
              <a:chExt cx="192" cy="816"/>
            </a:xfrm>
          </p:grpSpPr>
          <p:sp>
            <p:nvSpPr>
              <p:cNvPr id="17508" name="Rectangle 15"/>
              <p:cNvSpPr>
                <a:spLocks noChangeAspect="1"/>
              </p:cNvSpPr>
              <p:nvPr/>
            </p:nvSpPr>
            <p:spPr>
              <a:xfrm>
                <a:off x="1440" y="1824"/>
                <a:ext cx="192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7509" name="Group 16"/>
              <p:cNvGrpSpPr>
                <a:grpSpLocks noChangeAspect="1"/>
              </p:cNvGrpSpPr>
              <p:nvPr/>
            </p:nvGrpSpPr>
            <p:grpSpPr>
              <a:xfrm>
                <a:off x="1440" y="1824"/>
                <a:ext cx="192" cy="816"/>
                <a:chOff x="1440" y="1824"/>
                <a:chExt cx="192" cy="816"/>
              </a:xfrm>
            </p:grpSpPr>
            <p:sp>
              <p:nvSpPr>
                <p:cNvPr id="17510" name="Rectangle 17"/>
                <p:cNvSpPr>
                  <a:spLocks noChangeAspect="1"/>
                </p:cNvSpPr>
                <p:nvPr/>
              </p:nvSpPr>
              <p:spPr>
                <a:xfrm>
                  <a:off x="1440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7511" name="Rectangle 18"/>
                <p:cNvSpPr>
                  <a:spLocks noChangeAspect="1"/>
                </p:cNvSpPr>
                <p:nvPr/>
              </p:nvSpPr>
              <p:spPr>
                <a:xfrm>
                  <a:off x="1488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7512" name="Rectangle 19"/>
                <p:cNvSpPr>
                  <a:spLocks noChangeAspect="1"/>
                </p:cNvSpPr>
                <p:nvPr/>
              </p:nvSpPr>
              <p:spPr>
                <a:xfrm>
                  <a:off x="1536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7513" name="Rectangle 20"/>
                <p:cNvSpPr>
                  <a:spLocks noChangeAspect="1"/>
                </p:cNvSpPr>
                <p:nvPr/>
              </p:nvSpPr>
              <p:spPr>
                <a:xfrm>
                  <a:off x="1584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</p:grpSp>
        <p:grpSp>
          <p:nvGrpSpPr>
            <p:cNvPr id="17467" name="Group 21"/>
            <p:cNvGrpSpPr>
              <a:grpSpLocks noChangeAspect="1"/>
            </p:cNvGrpSpPr>
            <p:nvPr/>
          </p:nvGrpSpPr>
          <p:grpSpPr>
            <a:xfrm>
              <a:off x="521" y="1263"/>
              <a:ext cx="130" cy="519"/>
              <a:chOff x="3024" y="2160"/>
              <a:chExt cx="144" cy="816"/>
            </a:xfrm>
          </p:grpSpPr>
          <p:sp>
            <p:nvSpPr>
              <p:cNvPr id="17504" name="Rectangle 22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5" name="Rectangle 23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6" name="Rectangle 24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7" name="Rectangle 25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7468" name="Group 26"/>
            <p:cNvGrpSpPr>
              <a:grpSpLocks noChangeAspect="1"/>
            </p:cNvGrpSpPr>
            <p:nvPr/>
          </p:nvGrpSpPr>
          <p:grpSpPr>
            <a:xfrm>
              <a:off x="1558" y="1306"/>
              <a:ext cx="86" cy="433"/>
              <a:chOff x="3216" y="2160"/>
              <a:chExt cx="96" cy="816"/>
            </a:xfrm>
          </p:grpSpPr>
          <p:sp>
            <p:nvSpPr>
              <p:cNvPr id="17501" name="Rectangle 27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2" name="Rectangle 28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3" name="Rectangle 29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7469" name="Group 30"/>
            <p:cNvGrpSpPr>
              <a:grpSpLocks noChangeAspect="1"/>
            </p:cNvGrpSpPr>
            <p:nvPr/>
          </p:nvGrpSpPr>
          <p:grpSpPr>
            <a:xfrm rot="2381442">
              <a:off x="1278" y="1696"/>
              <a:ext cx="130" cy="735"/>
              <a:chOff x="3024" y="2160"/>
              <a:chExt cx="144" cy="816"/>
            </a:xfrm>
          </p:grpSpPr>
          <p:sp>
            <p:nvSpPr>
              <p:cNvPr id="17497" name="Rectangle 31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498" name="Rectangle 32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499" name="Rectangle 33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500" name="Rectangle 34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7470" name="Group 35"/>
            <p:cNvGrpSpPr>
              <a:grpSpLocks noChangeAspect="1"/>
            </p:cNvGrpSpPr>
            <p:nvPr/>
          </p:nvGrpSpPr>
          <p:grpSpPr>
            <a:xfrm rot="-2332971">
              <a:off x="1278" y="571"/>
              <a:ext cx="87" cy="735"/>
              <a:chOff x="3216" y="2160"/>
              <a:chExt cx="96" cy="816"/>
            </a:xfrm>
          </p:grpSpPr>
          <p:sp>
            <p:nvSpPr>
              <p:cNvPr id="17494" name="Rectangle 36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495" name="Rectangle 37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7496" name="Rectangle 38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7471" name="Oval 39"/>
            <p:cNvSpPr>
              <a:spLocks noChangeAspect="1"/>
            </p:cNvSpPr>
            <p:nvPr/>
          </p:nvSpPr>
          <p:spPr>
            <a:xfrm>
              <a:off x="975" y="528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7472" name="Oval 40"/>
            <p:cNvSpPr>
              <a:spLocks noChangeAspect="1"/>
            </p:cNvSpPr>
            <p:nvPr/>
          </p:nvSpPr>
          <p:spPr>
            <a:xfrm>
              <a:off x="1451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7473" name="Oval 41"/>
            <p:cNvSpPr>
              <a:spLocks noChangeAspect="1"/>
            </p:cNvSpPr>
            <p:nvPr/>
          </p:nvSpPr>
          <p:spPr>
            <a:xfrm>
              <a:off x="456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7474" name="Oval 42"/>
            <p:cNvSpPr>
              <a:spLocks noChangeAspect="1"/>
            </p:cNvSpPr>
            <p:nvPr/>
          </p:nvSpPr>
          <p:spPr>
            <a:xfrm>
              <a:off x="1451" y="1133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7475" name="Oval 43"/>
            <p:cNvSpPr>
              <a:spLocks noChangeAspect="1"/>
            </p:cNvSpPr>
            <p:nvPr/>
          </p:nvSpPr>
          <p:spPr>
            <a:xfrm>
              <a:off x="456" y="109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7476" name="Oval 44"/>
            <p:cNvSpPr>
              <a:spLocks noChangeAspect="1"/>
            </p:cNvSpPr>
            <p:nvPr/>
          </p:nvSpPr>
          <p:spPr>
            <a:xfrm>
              <a:off x="975" y="2215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7477" name="Line 45"/>
            <p:cNvSpPr>
              <a:spLocks noChangeAspect="1"/>
            </p:cNvSpPr>
            <p:nvPr/>
          </p:nvSpPr>
          <p:spPr>
            <a:xfrm flipH="1">
              <a:off x="629" y="701"/>
              <a:ext cx="26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Line 46"/>
            <p:cNvSpPr>
              <a:spLocks noChangeAspect="1"/>
            </p:cNvSpPr>
            <p:nvPr/>
          </p:nvSpPr>
          <p:spPr>
            <a:xfrm>
              <a:off x="1321" y="744"/>
              <a:ext cx="217" cy="2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9" name="Line 47"/>
            <p:cNvSpPr>
              <a:spLocks noChangeAspect="1"/>
            </p:cNvSpPr>
            <p:nvPr/>
          </p:nvSpPr>
          <p:spPr>
            <a:xfrm>
              <a:off x="456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0" name="Line 48"/>
            <p:cNvSpPr>
              <a:spLocks noChangeAspect="1"/>
            </p:cNvSpPr>
            <p:nvPr/>
          </p:nvSpPr>
          <p:spPr>
            <a:xfrm>
              <a:off x="1711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1" name="Line 49"/>
            <p:cNvSpPr>
              <a:spLocks noChangeAspect="1"/>
            </p:cNvSpPr>
            <p:nvPr/>
          </p:nvSpPr>
          <p:spPr>
            <a:xfrm>
              <a:off x="889" y="1177"/>
              <a:ext cx="38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Line 50"/>
            <p:cNvSpPr>
              <a:spLocks noChangeAspect="1"/>
            </p:cNvSpPr>
            <p:nvPr/>
          </p:nvSpPr>
          <p:spPr>
            <a:xfrm>
              <a:off x="759" y="1479"/>
              <a:ext cx="476" cy="30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3" name="Line 51"/>
            <p:cNvSpPr>
              <a:spLocks noChangeAspect="1"/>
            </p:cNvSpPr>
            <p:nvPr/>
          </p:nvSpPr>
          <p:spPr>
            <a:xfrm>
              <a:off x="629" y="2042"/>
              <a:ext cx="217" cy="21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4" name="Line 52"/>
            <p:cNvSpPr>
              <a:spLocks noChangeAspect="1"/>
            </p:cNvSpPr>
            <p:nvPr/>
          </p:nvSpPr>
          <p:spPr>
            <a:xfrm flipH="1">
              <a:off x="1365" y="2042"/>
              <a:ext cx="216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5" name="Text Box 53"/>
            <p:cNvSpPr txBox="1">
              <a:spLocks noChangeAspect="1"/>
            </p:cNvSpPr>
            <p:nvPr/>
          </p:nvSpPr>
          <p:spPr>
            <a:xfrm>
              <a:off x="586" y="666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486" name="Text Box 54"/>
            <p:cNvSpPr txBox="1">
              <a:spLocks noChangeAspect="1"/>
            </p:cNvSpPr>
            <p:nvPr/>
          </p:nvSpPr>
          <p:spPr>
            <a:xfrm>
              <a:off x="240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487" name="Text Box 55"/>
            <p:cNvSpPr txBox="1">
              <a:spLocks noChangeAspect="1"/>
            </p:cNvSpPr>
            <p:nvPr/>
          </p:nvSpPr>
          <p:spPr>
            <a:xfrm>
              <a:off x="1408" y="2094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488" name="Text Box 56"/>
            <p:cNvSpPr txBox="1">
              <a:spLocks noChangeAspect="1"/>
            </p:cNvSpPr>
            <p:nvPr/>
          </p:nvSpPr>
          <p:spPr>
            <a:xfrm>
              <a:off x="1321" y="658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489" name="Text Box 57"/>
            <p:cNvSpPr txBox="1">
              <a:spLocks noChangeAspect="1"/>
            </p:cNvSpPr>
            <p:nvPr/>
          </p:nvSpPr>
          <p:spPr>
            <a:xfrm>
              <a:off x="1667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490" name="Text Box 58"/>
            <p:cNvSpPr txBox="1">
              <a:spLocks noChangeAspect="1"/>
            </p:cNvSpPr>
            <p:nvPr/>
          </p:nvSpPr>
          <p:spPr>
            <a:xfrm>
              <a:off x="542" y="2085"/>
              <a:ext cx="260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491" name="Text Box 59"/>
            <p:cNvSpPr txBox="1">
              <a:spLocks noChangeAspect="1"/>
            </p:cNvSpPr>
            <p:nvPr/>
          </p:nvSpPr>
          <p:spPr>
            <a:xfrm>
              <a:off x="932" y="1004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492" name="Text Box 60"/>
            <p:cNvSpPr txBox="1">
              <a:spLocks noChangeAspect="1"/>
            </p:cNvSpPr>
            <p:nvPr/>
          </p:nvSpPr>
          <p:spPr>
            <a:xfrm>
              <a:off x="846" y="1617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493" name="Text Box 61"/>
            <p:cNvSpPr txBox="1">
              <a:spLocks noChangeAspect="1"/>
            </p:cNvSpPr>
            <p:nvPr/>
          </p:nvSpPr>
          <p:spPr>
            <a:xfrm>
              <a:off x="912" y="2496"/>
              <a:ext cx="336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28780" name="Line 108"/>
          <p:cNvSpPr/>
          <p:nvPr/>
        </p:nvSpPr>
        <p:spPr>
          <a:xfrm flipH="1">
            <a:off x="900113" y="836613"/>
            <a:ext cx="576262" cy="576262"/>
          </a:xfrm>
          <a:prstGeom prst="line">
            <a:avLst/>
          </a:prstGeom>
          <a:ln w="2540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81" name="Line 109"/>
          <p:cNvSpPr/>
          <p:nvPr/>
        </p:nvSpPr>
        <p:spPr>
          <a:xfrm>
            <a:off x="1331913" y="2205038"/>
            <a:ext cx="792162" cy="431800"/>
          </a:xfrm>
          <a:prstGeom prst="line">
            <a:avLst/>
          </a:prstGeom>
          <a:ln w="2540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782" name="Line 110"/>
          <p:cNvSpPr/>
          <p:nvPr/>
        </p:nvSpPr>
        <p:spPr>
          <a:xfrm flipH="1">
            <a:off x="2339975" y="2781300"/>
            <a:ext cx="431800" cy="503238"/>
          </a:xfrm>
          <a:prstGeom prst="line">
            <a:avLst/>
          </a:prstGeom>
          <a:ln w="25400" cap="flat" cmpd="sng">
            <a:solidFill>
              <a:srgbClr val="0000CC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414" name="Group 112"/>
          <p:cNvGrpSpPr>
            <a:grpSpLocks noChangeAspect="1"/>
          </p:cNvGrpSpPr>
          <p:nvPr/>
        </p:nvGrpSpPr>
        <p:grpSpPr>
          <a:xfrm rot="-2613909">
            <a:off x="5283200" y="2432050"/>
            <a:ext cx="123825" cy="1052513"/>
            <a:chOff x="3216" y="2160"/>
            <a:chExt cx="96" cy="816"/>
          </a:xfrm>
        </p:grpSpPr>
        <p:sp>
          <p:nvSpPr>
            <p:cNvPr id="17460" name="Rectangle 113"/>
            <p:cNvSpPr>
              <a:spLocks noChangeAspect="1"/>
            </p:cNvSpPr>
            <p:nvPr/>
          </p:nvSpPr>
          <p:spPr>
            <a:xfrm>
              <a:off x="3216" y="2160"/>
              <a:ext cx="96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61" name="Rectangle 114"/>
            <p:cNvSpPr>
              <a:spLocks noChangeAspect="1"/>
            </p:cNvSpPr>
            <p:nvPr/>
          </p:nvSpPr>
          <p:spPr>
            <a:xfrm>
              <a:off x="3216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62" name="Rectangle 115"/>
            <p:cNvSpPr>
              <a:spLocks noChangeAspect="1"/>
            </p:cNvSpPr>
            <p:nvPr/>
          </p:nvSpPr>
          <p:spPr>
            <a:xfrm>
              <a:off x="326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8788" name="Group 116"/>
          <p:cNvGrpSpPr>
            <a:grpSpLocks noChangeAspect="1"/>
          </p:cNvGrpSpPr>
          <p:nvPr/>
        </p:nvGrpSpPr>
        <p:grpSpPr>
          <a:xfrm rot="2540776">
            <a:off x="5221288" y="823913"/>
            <a:ext cx="185737" cy="1050925"/>
            <a:chOff x="3024" y="2160"/>
            <a:chExt cx="144" cy="816"/>
          </a:xfrm>
        </p:grpSpPr>
        <p:sp>
          <p:nvSpPr>
            <p:cNvPr id="17456" name="Rectangle 117"/>
            <p:cNvSpPr>
              <a:spLocks noChangeAspect="1"/>
            </p:cNvSpPr>
            <p:nvPr/>
          </p:nvSpPr>
          <p:spPr>
            <a:xfrm>
              <a:off x="3024" y="2160"/>
              <a:ext cx="144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7" name="Rectangle 118"/>
            <p:cNvSpPr>
              <a:spLocks noChangeAspect="1"/>
            </p:cNvSpPr>
            <p:nvPr/>
          </p:nvSpPr>
          <p:spPr>
            <a:xfrm>
              <a:off x="302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8" name="Rectangle 119"/>
            <p:cNvSpPr>
              <a:spLocks noChangeAspect="1"/>
            </p:cNvSpPr>
            <p:nvPr/>
          </p:nvSpPr>
          <p:spPr>
            <a:xfrm>
              <a:off x="3072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9" name="Rectangle 120"/>
            <p:cNvSpPr>
              <a:spLocks noChangeAspect="1"/>
            </p:cNvSpPr>
            <p:nvPr/>
          </p:nvSpPr>
          <p:spPr>
            <a:xfrm>
              <a:off x="3120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7416" name="Rectangle 121"/>
          <p:cNvSpPr>
            <a:spLocks noChangeAspect="1"/>
          </p:cNvSpPr>
          <p:nvPr/>
        </p:nvSpPr>
        <p:spPr>
          <a:xfrm rot="-5400000">
            <a:off x="5654675" y="1203325"/>
            <a:ext cx="60325" cy="1174750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17" name="Rectangle 123"/>
          <p:cNvSpPr>
            <a:spLocks noChangeAspect="1"/>
          </p:cNvSpPr>
          <p:nvPr/>
        </p:nvSpPr>
        <p:spPr>
          <a:xfrm rot="-3551060">
            <a:off x="5561013" y="1444625"/>
            <a:ext cx="247650" cy="1423988"/>
          </a:xfrm>
          <a:prstGeom prst="rect">
            <a:avLst/>
          </a:prstGeom>
          <a:solidFill>
            <a:schemeClr val="hlink"/>
          </a:solidFill>
          <a:ln w="254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18" name="Rectangle 125"/>
          <p:cNvSpPr>
            <a:spLocks noChangeAspect="1"/>
          </p:cNvSpPr>
          <p:nvPr/>
        </p:nvSpPr>
        <p:spPr>
          <a:xfrm rot="-3551060">
            <a:off x="5607050" y="1522413"/>
            <a:ext cx="61913" cy="1423987"/>
          </a:xfrm>
          <a:prstGeom prst="rect">
            <a:avLst/>
          </a:prstGeom>
          <a:solidFill>
            <a:schemeClr val="hlink"/>
          </a:solidFill>
          <a:ln w="63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7419" name="Rectangle 126"/>
          <p:cNvSpPr>
            <a:spLocks noChangeAspect="1"/>
          </p:cNvSpPr>
          <p:nvPr/>
        </p:nvSpPr>
        <p:spPr>
          <a:xfrm rot="-3551060">
            <a:off x="5638800" y="1470025"/>
            <a:ext cx="61913" cy="1423988"/>
          </a:xfrm>
          <a:prstGeom prst="rect">
            <a:avLst/>
          </a:prstGeom>
          <a:solidFill>
            <a:schemeClr val="hlink"/>
          </a:solidFill>
          <a:ln w="63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8799" name="Rectangle 127"/>
          <p:cNvSpPr>
            <a:spLocks noChangeAspect="1"/>
          </p:cNvSpPr>
          <p:nvPr/>
        </p:nvSpPr>
        <p:spPr>
          <a:xfrm rot="-3551060">
            <a:off x="5670550" y="1416050"/>
            <a:ext cx="61913" cy="1423988"/>
          </a:xfrm>
          <a:prstGeom prst="rect">
            <a:avLst/>
          </a:prstGeom>
          <a:solidFill>
            <a:schemeClr val="hlink"/>
          </a:solidFill>
          <a:ln w="63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8800" name="Rectangle 128"/>
          <p:cNvSpPr>
            <a:spLocks noChangeAspect="1"/>
          </p:cNvSpPr>
          <p:nvPr/>
        </p:nvSpPr>
        <p:spPr>
          <a:xfrm rot="-3551060">
            <a:off x="5702300" y="1363663"/>
            <a:ext cx="61913" cy="1423987"/>
          </a:xfrm>
          <a:prstGeom prst="rect">
            <a:avLst/>
          </a:prstGeom>
          <a:solidFill>
            <a:schemeClr val="hlink"/>
          </a:solidFill>
          <a:ln w="635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17422" name="Group 129"/>
          <p:cNvGrpSpPr>
            <a:grpSpLocks noChangeAspect="1"/>
          </p:cNvGrpSpPr>
          <p:nvPr/>
        </p:nvGrpSpPr>
        <p:grpSpPr>
          <a:xfrm>
            <a:off x="4881563" y="1812925"/>
            <a:ext cx="185737" cy="742950"/>
            <a:chOff x="3024" y="2160"/>
            <a:chExt cx="144" cy="816"/>
          </a:xfrm>
        </p:grpSpPr>
        <p:sp>
          <p:nvSpPr>
            <p:cNvPr id="17452" name="Rectangle 130"/>
            <p:cNvSpPr>
              <a:spLocks noChangeAspect="1"/>
            </p:cNvSpPr>
            <p:nvPr/>
          </p:nvSpPr>
          <p:spPr>
            <a:xfrm>
              <a:off x="3024" y="2160"/>
              <a:ext cx="144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3" name="Rectangle 131"/>
            <p:cNvSpPr>
              <a:spLocks noChangeAspect="1"/>
            </p:cNvSpPr>
            <p:nvPr/>
          </p:nvSpPr>
          <p:spPr>
            <a:xfrm>
              <a:off x="302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4" name="Rectangle 132"/>
            <p:cNvSpPr>
              <a:spLocks noChangeAspect="1"/>
            </p:cNvSpPr>
            <p:nvPr/>
          </p:nvSpPr>
          <p:spPr>
            <a:xfrm>
              <a:off x="3072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5" name="Rectangle 133"/>
            <p:cNvSpPr>
              <a:spLocks noChangeAspect="1"/>
            </p:cNvSpPr>
            <p:nvPr/>
          </p:nvSpPr>
          <p:spPr>
            <a:xfrm>
              <a:off x="3120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7423" name="Group 134"/>
          <p:cNvGrpSpPr>
            <a:grpSpLocks noChangeAspect="1"/>
          </p:cNvGrpSpPr>
          <p:nvPr/>
        </p:nvGrpSpPr>
        <p:grpSpPr>
          <a:xfrm>
            <a:off x="6364288" y="1874838"/>
            <a:ext cx="123825" cy="619125"/>
            <a:chOff x="3216" y="2160"/>
            <a:chExt cx="96" cy="816"/>
          </a:xfrm>
        </p:grpSpPr>
        <p:sp>
          <p:nvSpPr>
            <p:cNvPr id="17449" name="Rectangle 135"/>
            <p:cNvSpPr>
              <a:spLocks noChangeAspect="1"/>
            </p:cNvSpPr>
            <p:nvPr/>
          </p:nvSpPr>
          <p:spPr>
            <a:xfrm>
              <a:off x="3216" y="2160"/>
              <a:ext cx="96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0" name="Rectangle 136"/>
            <p:cNvSpPr>
              <a:spLocks noChangeAspect="1"/>
            </p:cNvSpPr>
            <p:nvPr/>
          </p:nvSpPr>
          <p:spPr>
            <a:xfrm>
              <a:off x="3216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51" name="Rectangle 137"/>
            <p:cNvSpPr>
              <a:spLocks noChangeAspect="1"/>
            </p:cNvSpPr>
            <p:nvPr/>
          </p:nvSpPr>
          <p:spPr>
            <a:xfrm>
              <a:off x="326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28810" name="Group 138"/>
          <p:cNvGrpSpPr>
            <a:grpSpLocks noChangeAspect="1"/>
          </p:cNvGrpSpPr>
          <p:nvPr/>
        </p:nvGrpSpPr>
        <p:grpSpPr>
          <a:xfrm rot="2381442">
            <a:off x="5964238" y="2432050"/>
            <a:ext cx="185737" cy="1052513"/>
            <a:chOff x="3024" y="2160"/>
            <a:chExt cx="144" cy="816"/>
          </a:xfrm>
        </p:grpSpPr>
        <p:sp>
          <p:nvSpPr>
            <p:cNvPr id="17445" name="Rectangle 139"/>
            <p:cNvSpPr>
              <a:spLocks noChangeAspect="1"/>
            </p:cNvSpPr>
            <p:nvPr/>
          </p:nvSpPr>
          <p:spPr>
            <a:xfrm>
              <a:off x="3024" y="2160"/>
              <a:ext cx="144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6" name="Rectangle 140"/>
            <p:cNvSpPr>
              <a:spLocks noChangeAspect="1"/>
            </p:cNvSpPr>
            <p:nvPr/>
          </p:nvSpPr>
          <p:spPr>
            <a:xfrm>
              <a:off x="302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7" name="Rectangle 141"/>
            <p:cNvSpPr>
              <a:spLocks noChangeAspect="1"/>
            </p:cNvSpPr>
            <p:nvPr/>
          </p:nvSpPr>
          <p:spPr>
            <a:xfrm>
              <a:off x="3072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8" name="Rectangle 142"/>
            <p:cNvSpPr>
              <a:spLocks noChangeAspect="1"/>
            </p:cNvSpPr>
            <p:nvPr/>
          </p:nvSpPr>
          <p:spPr>
            <a:xfrm>
              <a:off x="3120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17425" name="Group 143"/>
          <p:cNvGrpSpPr>
            <a:grpSpLocks noChangeAspect="1"/>
          </p:cNvGrpSpPr>
          <p:nvPr/>
        </p:nvGrpSpPr>
        <p:grpSpPr>
          <a:xfrm rot="-2332971">
            <a:off x="5964238" y="823913"/>
            <a:ext cx="123825" cy="1050925"/>
            <a:chOff x="3216" y="2160"/>
            <a:chExt cx="96" cy="816"/>
          </a:xfrm>
        </p:grpSpPr>
        <p:sp>
          <p:nvSpPr>
            <p:cNvPr id="17442" name="Rectangle 144"/>
            <p:cNvSpPr>
              <a:spLocks noChangeAspect="1"/>
            </p:cNvSpPr>
            <p:nvPr/>
          </p:nvSpPr>
          <p:spPr>
            <a:xfrm>
              <a:off x="3216" y="2160"/>
              <a:ext cx="96" cy="816"/>
            </a:xfrm>
            <a:prstGeom prst="rect">
              <a:avLst/>
            </a:prstGeom>
            <a:solidFill>
              <a:schemeClr val="hlink"/>
            </a:solidFill>
            <a:ln w="254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3" name="Rectangle 145"/>
            <p:cNvSpPr>
              <a:spLocks noChangeAspect="1"/>
            </p:cNvSpPr>
            <p:nvPr/>
          </p:nvSpPr>
          <p:spPr>
            <a:xfrm>
              <a:off x="3216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17444" name="Rectangle 146"/>
            <p:cNvSpPr>
              <a:spLocks noChangeAspect="1"/>
            </p:cNvSpPr>
            <p:nvPr/>
          </p:nvSpPr>
          <p:spPr>
            <a:xfrm>
              <a:off x="3264" y="2160"/>
              <a:ext cx="48" cy="816"/>
            </a:xfrm>
            <a:prstGeom prst="rect">
              <a:avLst/>
            </a:prstGeom>
            <a:solidFill>
              <a:schemeClr val="hlink"/>
            </a:solidFill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7426" name="Oval 147"/>
          <p:cNvSpPr>
            <a:spLocks noChangeAspect="1"/>
          </p:cNvSpPr>
          <p:nvPr/>
        </p:nvSpPr>
        <p:spPr>
          <a:xfrm>
            <a:off x="5530850" y="762000"/>
            <a:ext cx="371475" cy="369888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7427" name="Oval 148"/>
          <p:cNvSpPr>
            <a:spLocks noChangeAspect="1"/>
          </p:cNvSpPr>
          <p:nvPr/>
        </p:nvSpPr>
        <p:spPr>
          <a:xfrm>
            <a:off x="6211888" y="2370138"/>
            <a:ext cx="371475" cy="37147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7428" name="Oval 149"/>
          <p:cNvSpPr>
            <a:spLocks noChangeAspect="1"/>
          </p:cNvSpPr>
          <p:nvPr/>
        </p:nvSpPr>
        <p:spPr>
          <a:xfrm>
            <a:off x="4787900" y="2370138"/>
            <a:ext cx="371475" cy="37147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7429" name="Oval 150"/>
          <p:cNvSpPr>
            <a:spLocks noChangeAspect="1"/>
          </p:cNvSpPr>
          <p:nvPr/>
        </p:nvSpPr>
        <p:spPr>
          <a:xfrm>
            <a:off x="6211888" y="1627188"/>
            <a:ext cx="371475" cy="371475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7430" name="Oval 151"/>
          <p:cNvSpPr>
            <a:spLocks noChangeAspect="1"/>
          </p:cNvSpPr>
          <p:nvPr/>
        </p:nvSpPr>
        <p:spPr>
          <a:xfrm>
            <a:off x="4787900" y="1565275"/>
            <a:ext cx="371475" cy="373063"/>
          </a:xfrm>
          <a:prstGeom prst="ellipse">
            <a:avLst/>
          </a:prstGeom>
          <a:solidFill>
            <a:srgbClr val="FFFFFF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7431" name="Oval 152"/>
          <p:cNvSpPr>
            <a:spLocks noChangeAspect="1"/>
          </p:cNvSpPr>
          <p:nvPr/>
        </p:nvSpPr>
        <p:spPr>
          <a:xfrm>
            <a:off x="5530850" y="3175000"/>
            <a:ext cx="371475" cy="371475"/>
          </a:xfrm>
          <a:prstGeom prst="ellipse">
            <a:avLst/>
          </a:prstGeom>
          <a:solidFill>
            <a:srgbClr val="009900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108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solidFill>
                  <a:schemeClr val="bg1"/>
                </a:solidFill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32" name="Line 153"/>
          <p:cNvSpPr>
            <a:spLocks noChangeAspect="1"/>
          </p:cNvSpPr>
          <p:nvPr/>
        </p:nvSpPr>
        <p:spPr>
          <a:xfrm flipH="1">
            <a:off x="5035550" y="1009650"/>
            <a:ext cx="371475" cy="3698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3" name="Line 154"/>
          <p:cNvSpPr>
            <a:spLocks noChangeAspect="1"/>
          </p:cNvSpPr>
          <p:nvPr/>
        </p:nvSpPr>
        <p:spPr>
          <a:xfrm>
            <a:off x="6026150" y="1071563"/>
            <a:ext cx="309563" cy="3714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4" name="Line 155"/>
          <p:cNvSpPr>
            <a:spLocks noChangeAspect="1"/>
          </p:cNvSpPr>
          <p:nvPr/>
        </p:nvSpPr>
        <p:spPr>
          <a:xfrm>
            <a:off x="4787900" y="1998663"/>
            <a:ext cx="0" cy="3714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5" name="Line 156"/>
          <p:cNvSpPr>
            <a:spLocks noChangeAspect="1"/>
          </p:cNvSpPr>
          <p:nvPr/>
        </p:nvSpPr>
        <p:spPr>
          <a:xfrm>
            <a:off x="6583363" y="1998663"/>
            <a:ext cx="0" cy="3714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6" name="Line 157"/>
          <p:cNvSpPr>
            <a:spLocks noChangeAspect="1"/>
          </p:cNvSpPr>
          <p:nvPr/>
        </p:nvSpPr>
        <p:spPr>
          <a:xfrm>
            <a:off x="5407025" y="1690688"/>
            <a:ext cx="557213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7" name="Line 158"/>
          <p:cNvSpPr>
            <a:spLocks noChangeAspect="1"/>
          </p:cNvSpPr>
          <p:nvPr/>
        </p:nvSpPr>
        <p:spPr>
          <a:xfrm>
            <a:off x="5221288" y="2122488"/>
            <a:ext cx="681037" cy="4333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8" name="Line 159"/>
          <p:cNvSpPr>
            <a:spLocks noChangeAspect="1"/>
          </p:cNvSpPr>
          <p:nvPr/>
        </p:nvSpPr>
        <p:spPr>
          <a:xfrm>
            <a:off x="5035550" y="2927350"/>
            <a:ext cx="309563" cy="30956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39" name="Line 160"/>
          <p:cNvSpPr>
            <a:spLocks noChangeAspect="1"/>
          </p:cNvSpPr>
          <p:nvPr/>
        </p:nvSpPr>
        <p:spPr>
          <a:xfrm flipH="1">
            <a:off x="6088063" y="2927350"/>
            <a:ext cx="309562" cy="37147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40" name="Text Box 161"/>
          <p:cNvSpPr txBox="1">
            <a:spLocks noChangeAspect="1"/>
          </p:cNvSpPr>
          <p:nvPr/>
        </p:nvSpPr>
        <p:spPr>
          <a:xfrm>
            <a:off x="5027613" y="3546475"/>
            <a:ext cx="1443037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Residual </a:t>
            </a:r>
            <a:r>
              <a:rPr lang="en-US" altLang="zh-CN" sz="20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000" b="1" i="1" baseline="-25000" dirty="0">
                <a:solidFill>
                  <a:schemeClr val="hlink"/>
                </a:solidFill>
                <a:latin typeface="Times New Roman" panose="02020603050405020304" pitchFamily="18" charset="0"/>
              </a:rPr>
              <a:t>r</a:t>
            </a:r>
            <a:endParaRPr lang="en-US" altLang="zh-CN" sz="2000" b="1" i="1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834" name="Rectangle 162"/>
          <p:cNvSpPr/>
          <p:nvPr/>
        </p:nvSpPr>
        <p:spPr>
          <a:xfrm rot="1819546">
            <a:off x="5027613" y="2078038"/>
            <a:ext cx="1296987" cy="2159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99" grpId="0" animBg="1"/>
      <p:bldP spid="28800" grpId="0" animBg="1"/>
      <p:bldP spid="288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/>
          <p:nvPr/>
        </p:nvSpPr>
        <p:spPr>
          <a:xfrm>
            <a:off x="457200" y="228600"/>
            <a:ext cx="678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2.  A Solution </a:t>
            </a:r>
            <a:r>
              <a:rPr lang="en-US" altLang="zh-CN" sz="2000" b="1" dirty="0">
                <a:latin typeface="Times New Roman" panose="02020603050405020304" pitchFamily="18" charset="0"/>
              </a:rPr>
              <a:t>– allow the algorithm to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undo</a:t>
            </a:r>
            <a:r>
              <a:rPr lang="en-US" altLang="zh-CN" sz="2000" b="1" dirty="0">
                <a:latin typeface="Times New Roman" panose="02020603050405020304" pitchFamily="18" charset="0"/>
              </a:rPr>
              <a:t> its decisions</a:t>
            </a:r>
          </a:p>
        </p:txBody>
      </p:sp>
      <p:grpSp>
        <p:nvGrpSpPr>
          <p:cNvPr id="29700" name="Group 4"/>
          <p:cNvGrpSpPr/>
          <p:nvPr/>
        </p:nvGrpSpPr>
        <p:grpSpPr>
          <a:xfrm>
            <a:off x="685800" y="762000"/>
            <a:ext cx="7772400" cy="701675"/>
            <a:chOff x="432" y="528"/>
            <a:chExt cx="4896" cy="442"/>
          </a:xfrm>
        </p:grpSpPr>
        <p:pic>
          <p:nvPicPr>
            <p:cNvPr id="18585" name="Picture 5" descr="KE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" y="528"/>
              <a:ext cx="227" cy="4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86" name="Text Box 6"/>
            <p:cNvSpPr txBox="1"/>
            <p:nvPr/>
          </p:nvSpPr>
          <p:spPr>
            <a:xfrm>
              <a:off x="720" y="528"/>
              <a:ext cx="4608" cy="44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For each edge (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w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) with flow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w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in </a:t>
              </a:r>
              <a:r>
                <a:rPr lang="en-US" altLang="zh-CN" sz="2000" b="1" i="1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, add an edge (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w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) with flow 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v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, </a:t>
              </a:r>
              <a:r>
                <a:rPr lang="en-US" altLang="zh-CN" sz="2000" b="1" i="1" baseline="-25000" dirty="0">
                  <a:latin typeface="Times New Roman" panose="02020603050405020304" pitchFamily="18" charset="0"/>
                </a:rPr>
                <a:t>w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in  </a:t>
              </a:r>
              <a:r>
                <a:rPr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.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703" name="Group 7"/>
          <p:cNvGrpSpPr>
            <a:grpSpLocks noChangeAspect="1"/>
          </p:cNvGrpSpPr>
          <p:nvPr/>
        </p:nvGrpSpPr>
        <p:grpSpPr>
          <a:xfrm>
            <a:off x="3505200" y="1530350"/>
            <a:ext cx="1792288" cy="3206750"/>
            <a:chOff x="2225" y="576"/>
            <a:chExt cx="1255" cy="2246"/>
          </a:xfrm>
        </p:grpSpPr>
        <p:sp>
          <p:nvSpPr>
            <p:cNvPr id="18570" name="Oval 8"/>
            <p:cNvSpPr>
              <a:spLocks noChangeAspect="1"/>
            </p:cNvSpPr>
            <p:nvPr/>
          </p:nvSpPr>
          <p:spPr>
            <a:xfrm>
              <a:off x="2744" y="576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571" name="Oval 9"/>
            <p:cNvSpPr>
              <a:spLocks noChangeAspect="1"/>
            </p:cNvSpPr>
            <p:nvPr/>
          </p:nvSpPr>
          <p:spPr>
            <a:xfrm>
              <a:off x="3220" y="170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572" name="Oval 10"/>
            <p:cNvSpPr>
              <a:spLocks noChangeAspect="1"/>
            </p:cNvSpPr>
            <p:nvPr/>
          </p:nvSpPr>
          <p:spPr>
            <a:xfrm>
              <a:off x="2225" y="170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573" name="Oval 11"/>
            <p:cNvSpPr>
              <a:spLocks noChangeAspect="1"/>
            </p:cNvSpPr>
            <p:nvPr/>
          </p:nvSpPr>
          <p:spPr>
            <a:xfrm>
              <a:off x="3220" y="1181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574" name="Oval 12"/>
            <p:cNvSpPr>
              <a:spLocks noChangeAspect="1"/>
            </p:cNvSpPr>
            <p:nvPr/>
          </p:nvSpPr>
          <p:spPr>
            <a:xfrm>
              <a:off x="2225" y="1138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575" name="Oval 13"/>
            <p:cNvSpPr>
              <a:spLocks noChangeAspect="1"/>
            </p:cNvSpPr>
            <p:nvPr/>
          </p:nvSpPr>
          <p:spPr>
            <a:xfrm>
              <a:off x="2744" y="2263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576" name="Line 14"/>
            <p:cNvSpPr>
              <a:spLocks noChangeAspect="1"/>
            </p:cNvSpPr>
            <p:nvPr/>
          </p:nvSpPr>
          <p:spPr>
            <a:xfrm flipH="1">
              <a:off x="2448" y="816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7" name="Line 15"/>
            <p:cNvSpPr>
              <a:spLocks noChangeAspect="1"/>
            </p:cNvSpPr>
            <p:nvPr/>
          </p:nvSpPr>
          <p:spPr>
            <a:xfrm>
              <a:off x="2976" y="816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8" name="Line 16"/>
            <p:cNvSpPr>
              <a:spLocks noChangeAspect="1"/>
            </p:cNvSpPr>
            <p:nvPr/>
          </p:nvSpPr>
          <p:spPr>
            <a:xfrm>
              <a:off x="2352" y="1392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79" name="Line 17"/>
            <p:cNvSpPr>
              <a:spLocks noChangeAspect="1"/>
            </p:cNvSpPr>
            <p:nvPr/>
          </p:nvSpPr>
          <p:spPr>
            <a:xfrm>
              <a:off x="3360" y="1440"/>
              <a:ext cx="0" cy="2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0" name="Line 18"/>
            <p:cNvSpPr>
              <a:spLocks noChangeAspect="1"/>
            </p:cNvSpPr>
            <p:nvPr/>
          </p:nvSpPr>
          <p:spPr>
            <a:xfrm>
              <a:off x="2400" y="1968"/>
              <a:ext cx="384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1" name="Line 19"/>
            <p:cNvSpPr>
              <a:spLocks noChangeAspect="1"/>
            </p:cNvSpPr>
            <p:nvPr/>
          </p:nvSpPr>
          <p:spPr>
            <a:xfrm flipH="1">
              <a:off x="2976" y="1968"/>
              <a:ext cx="336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2" name="Line 20"/>
            <p:cNvSpPr>
              <a:spLocks noChangeAspect="1"/>
            </p:cNvSpPr>
            <p:nvPr/>
          </p:nvSpPr>
          <p:spPr>
            <a:xfrm>
              <a:off x="2496" y="1296"/>
              <a:ext cx="72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3" name="Line 21"/>
            <p:cNvSpPr>
              <a:spLocks noChangeAspect="1"/>
            </p:cNvSpPr>
            <p:nvPr/>
          </p:nvSpPr>
          <p:spPr>
            <a:xfrm>
              <a:off x="2448" y="1344"/>
              <a:ext cx="768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84" name="Text Box 22"/>
            <p:cNvSpPr txBox="1">
              <a:spLocks noChangeAspect="1"/>
            </p:cNvSpPr>
            <p:nvPr/>
          </p:nvSpPr>
          <p:spPr>
            <a:xfrm>
              <a:off x="2496" y="2544"/>
              <a:ext cx="768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Flow </a:t>
              </a:r>
              <a:r>
                <a:rPr lang="en-US" altLang="zh-CN" sz="2000" b="1" i="1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 b="1" i="1" dirty="0">
                <a:solidFill>
                  <a:srgbClr val="D6009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719" name="Group 23"/>
          <p:cNvGrpSpPr>
            <a:grpSpLocks noChangeAspect="1"/>
          </p:cNvGrpSpPr>
          <p:nvPr/>
        </p:nvGrpSpPr>
        <p:grpSpPr>
          <a:xfrm>
            <a:off x="762000" y="1524000"/>
            <a:ext cx="2408238" cy="3206750"/>
            <a:chOff x="240" y="528"/>
            <a:chExt cx="1687" cy="2246"/>
          </a:xfrm>
        </p:grpSpPr>
        <p:grpSp>
          <p:nvGrpSpPr>
            <p:cNvPr id="18512" name="Group 24"/>
            <p:cNvGrpSpPr>
              <a:grpSpLocks noChangeAspect="1"/>
            </p:cNvGrpSpPr>
            <p:nvPr/>
          </p:nvGrpSpPr>
          <p:grpSpPr>
            <a:xfrm rot="-2613909">
              <a:off x="802" y="1696"/>
              <a:ext cx="87" cy="735"/>
              <a:chOff x="3216" y="2160"/>
              <a:chExt cx="96" cy="816"/>
            </a:xfrm>
          </p:grpSpPr>
          <p:sp>
            <p:nvSpPr>
              <p:cNvPr id="18567" name="Rectangle 25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68" name="Rectangle 26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69" name="Rectangle 27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8513" name="Group 28"/>
            <p:cNvGrpSpPr>
              <a:grpSpLocks noChangeAspect="1"/>
            </p:cNvGrpSpPr>
            <p:nvPr/>
          </p:nvGrpSpPr>
          <p:grpSpPr>
            <a:xfrm rot="2540776">
              <a:off x="759" y="571"/>
              <a:ext cx="130" cy="735"/>
              <a:chOff x="3024" y="2160"/>
              <a:chExt cx="144" cy="816"/>
            </a:xfrm>
          </p:grpSpPr>
          <p:sp>
            <p:nvSpPr>
              <p:cNvPr id="18563" name="Rectangle 29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64" name="Rectangle 30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65" name="Rectangle 31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66" name="Rectangle 32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8514" name="Rectangle 33"/>
            <p:cNvSpPr>
              <a:spLocks noChangeAspect="1"/>
            </p:cNvSpPr>
            <p:nvPr/>
          </p:nvSpPr>
          <p:spPr>
            <a:xfrm rot="-5400000">
              <a:off x="1060" y="829"/>
              <a:ext cx="43" cy="821"/>
            </a:xfrm>
            <a:prstGeom prst="rect">
              <a:avLst/>
            </a:prstGeom>
            <a:gradFill rotWithShape="0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grpSp>
          <p:nvGrpSpPr>
            <p:cNvPr id="18515" name="Group 34"/>
            <p:cNvGrpSpPr>
              <a:grpSpLocks noChangeAspect="1"/>
            </p:cNvGrpSpPr>
            <p:nvPr/>
          </p:nvGrpSpPr>
          <p:grpSpPr>
            <a:xfrm rot="-3551060">
              <a:off x="995" y="1004"/>
              <a:ext cx="173" cy="995"/>
              <a:chOff x="1440" y="1824"/>
              <a:chExt cx="192" cy="816"/>
            </a:xfrm>
          </p:grpSpPr>
          <p:sp>
            <p:nvSpPr>
              <p:cNvPr id="18557" name="Rectangle 35"/>
              <p:cNvSpPr>
                <a:spLocks noChangeAspect="1"/>
              </p:cNvSpPr>
              <p:nvPr/>
            </p:nvSpPr>
            <p:spPr>
              <a:xfrm>
                <a:off x="1440" y="1824"/>
                <a:ext cx="192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grpSp>
            <p:nvGrpSpPr>
              <p:cNvPr id="18558" name="Group 36"/>
              <p:cNvGrpSpPr>
                <a:grpSpLocks noChangeAspect="1"/>
              </p:cNvGrpSpPr>
              <p:nvPr/>
            </p:nvGrpSpPr>
            <p:grpSpPr>
              <a:xfrm>
                <a:off x="1440" y="1824"/>
                <a:ext cx="192" cy="816"/>
                <a:chOff x="1440" y="1824"/>
                <a:chExt cx="192" cy="816"/>
              </a:xfrm>
            </p:grpSpPr>
            <p:sp>
              <p:nvSpPr>
                <p:cNvPr id="18559" name="Rectangle 37"/>
                <p:cNvSpPr>
                  <a:spLocks noChangeAspect="1"/>
                </p:cNvSpPr>
                <p:nvPr/>
              </p:nvSpPr>
              <p:spPr>
                <a:xfrm>
                  <a:off x="1440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8560" name="Rectangle 38"/>
                <p:cNvSpPr>
                  <a:spLocks noChangeAspect="1"/>
                </p:cNvSpPr>
                <p:nvPr/>
              </p:nvSpPr>
              <p:spPr>
                <a:xfrm>
                  <a:off x="1488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8561" name="Rectangle 39"/>
                <p:cNvSpPr>
                  <a:spLocks noChangeAspect="1"/>
                </p:cNvSpPr>
                <p:nvPr/>
              </p:nvSpPr>
              <p:spPr>
                <a:xfrm>
                  <a:off x="1536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  <p:sp>
              <p:nvSpPr>
                <p:cNvPr id="18562" name="Rectangle 40"/>
                <p:cNvSpPr>
                  <a:spLocks noChangeAspect="1"/>
                </p:cNvSpPr>
                <p:nvPr/>
              </p:nvSpPr>
              <p:spPr>
                <a:xfrm>
                  <a:off x="1584" y="1824"/>
                  <a:ext cx="48" cy="816"/>
                </a:xfrm>
                <a:prstGeom prst="rect">
                  <a:avLst/>
                </a:prstGeom>
                <a:noFill/>
                <a:ln w="635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1800" dirty="0"/>
                </a:p>
              </p:txBody>
            </p:sp>
          </p:grpSp>
        </p:grpSp>
        <p:grpSp>
          <p:nvGrpSpPr>
            <p:cNvPr id="18516" name="Group 41"/>
            <p:cNvGrpSpPr>
              <a:grpSpLocks noChangeAspect="1"/>
            </p:cNvGrpSpPr>
            <p:nvPr/>
          </p:nvGrpSpPr>
          <p:grpSpPr>
            <a:xfrm>
              <a:off x="521" y="1263"/>
              <a:ext cx="130" cy="519"/>
              <a:chOff x="3024" y="2160"/>
              <a:chExt cx="144" cy="816"/>
            </a:xfrm>
          </p:grpSpPr>
          <p:sp>
            <p:nvSpPr>
              <p:cNvPr id="18553" name="Rectangle 42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54" name="Rectangle 43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55" name="Rectangle 44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56" name="Rectangle 45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8517" name="Group 46"/>
            <p:cNvGrpSpPr>
              <a:grpSpLocks noChangeAspect="1"/>
            </p:cNvGrpSpPr>
            <p:nvPr/>
          </p:nvGrpSpPr>
          <p:grpSpPr>
            <a:xfrm>
              <a:off x="1558" y="1306"/>
              <a:ext cx="86" cy="433"/>
              <a:chOff x="3216" y="2160"/>
              <a:chExt cx="96" cy="816"/>
            </a:xfrm>
          </p:grpSpPr>
          <p:sp>
            <p:nvSpPr>
              <p:cNvPr id="18550" name="Rectangle 47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51" name="Rectangle 48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52" name="Rectangle 49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8518" name="Group 50"/>
            <p:cNvGrpSpPr>
              <a:grpSpLocks noChangeAspect="1"/>
            </p:cNvGrpSpPr>
            <p:nvPr/>
          </p:nvGrpSpPr>
          <p:grpSpPr>
            <a:xfrm rot="2381442">
              <a:off x="1278" y="1696"/>
              <a:ext cx="130" cy="735"/>
              <a:chOff x="3024" y="2160"/>
              <a:chExt cx="144" cy="816"/>
            </a:xfrm>
          </p:grpSpPr>
          <p:sp>
            <p:nvSpPr>
              <p:cNvPr id="18546" name="Rectangle 51"/>
              <p:cNvSpPr>
                <a:spLocks noChangeAspect="1"/>
              </p:cNvSpPr>
              <p:nvPr/>
            </p:nvSpPr>
            <p:spPr>
              <a:xfrm>
                <a:off x="3024" y="2160"/>
                <a:ext cx="144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47" name="Rectangle 52"/>
              <p:cNvSpPr>
                <a:spLocks noChangeAspect="1"/>
              </p:cNvSpPr>
              <p:nvPr/>
            </p:nvSpPr>
            <p:spPr>
              <a:xfrm>
                <a:off x="302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48" name="Rectangle 53"/>
              <p:cNvSpPr>
                <a:spLocks noChangeAspect="1"/>
              </p:cNvSpPr>
              <p:nvPr/>
            </p:nvSpPr>
            <p:spPr>
              <a:xfrm>
                <a:off x="3072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49" name="Rectangle 54"/>
              <p:cNvSpPr>
                <a:spLocks noChangeAspect="1"/>
              </p:cNvSpPr>
              <p:nvPr/>
            </p:nvSpPr>
            <p:spPr>
              <a:xfrm>
                <a:off x="3120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grpSp>
          <p:nvGrpSpPr>
            <p:cNvPr id="18519" name="Group 55"/>
            <p:cNvGrpSpPr>
              <a:grpSpLocks noChangeAspect="1"/>
            </p:cNvGrpSpPr>
            <p:nvPr/>
          </p:nvGrpSpPr>
          <p:grpSpPr>
            <a:xfrm rot="-2332971">
              <a:off x="1278" y="571"/>
              <a:ext cx="87" cy="735"/>
              <a:chOff x="3216" y="2160"/>
              <a:chExt cx="96" cy="816"/>
            </a:xfrm>
          </p:grpSpPr>
          <p:sp>
            <p:nvSpPr>
              <p:cNvPr id="18543" name="Rectangle 56"/>
              <p:cNvSpPr>
                <a:spLocks noChangeAspect="1"/>
              </p:cNvSpPr>
              <p:nvPr/>
            </p:nvSpPr>
            <p:spPr>
              <a:xfrm>
                <a:off x="3216" y="2160"/>
                <a:ext cx="96" cy="816"/>
              </a:xfrm>
              <a:prstGeom prst="rect">
                <a:avLst/>
              </a:prstGeom>
              <a:gradFill rotWithShape="0">
                <a:gsLst>
                  <a:gs pos="0">
                    <a:srgbClr val="C0C0C0"/>
                  </a:gs>
                  <a:gs pos="50000">
                    <a:srgbClr val="FFFFFF"/>
                  </a:gs>
                  <a:gs pos="100000">
                    <a:srgbClr val="C0C0C0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44" name="Rectangle 57"/>
              <p:cNvSpPr>
                <a:spLocks noChangeAspect="1"/>
              </p:cNvSpPr>
              <p:nvPr/>
            </p:nvSpPr>
            <p:spPr>
              <a:xfrm>
                <a:off x="3216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  <p:sp>
            <p:nvSpPr>
              <p:cNvPr id="18545" name="Rectangle 58"/>
              <p:cNvSpPr>
                <a:spLocks noChangeAspect="1"/>
              </p:cNvSpPr>
              <p:nvPr/>
            </p:nvSpPr>
            <p:spPr>
              <a:xfrm>
                <a:off x="3264" y="2160"/>
                <a:ext cx="48" cy="816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1800" dirty="0"/>
              </a:p>
            </p:txBody>
          </p:sp>
        </p:grpSp>
        <p:sp>
          <p:nvSpPr>
            <p:cNvPr id="18520" name="Oval 59"/>
            <p:cNvSpPr>
              <a:spLocks noChangeAspect="1"/>
            </p:cNvSpPr>
            <p:nvPr/>
          </p:nvSpPr>
          <p:spPr>
            <a:xfrm>
              <a:off x="975" y="528"/>
              <a:ext cx="260" cy="259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521" name="Oval 60"/>
            <p:cNvSpPr>
              <a:spLocks noChangeAspect="1"/>
            </p:cNvSpPr>
            <p:nvPr/>
          </p:nvSpPr>
          <p:spPr>
            <a:xfrm>
              <a:off x="1451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522" name="Oval 61"/>
            <p:cNvSpPr>
              <a:spLocks noChangeAspect="1"/>
            </p:cNvSpPr>
            <p:nvPr/>
          </p:nvSpPr>
          <p:spPr>
            <a:xfrm>
              <a:off x="456" y="1652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523" name="Oval 62"/>
            <p:cNvSpPr>
              <a:spLocks noChangeAspect="1"/>
            </p:cNvSpPr>
            <p:nvPr/>
          </p:nvSpPr>
          <p:spPr>
            <a:xfrm>
              <a:off x="1451" y="1133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524" name="Oval 63"/>
            <p:cNvSpPr>
              <a:spLocks noChangeAspect="1"/>
            </p:cNvSpPr>
            <p:nvPr/>
          </p:nvSpPr>
          <p:spPr>
            <a:xfrm>
              <a:off x="456" y="1090"/>
              <a:ext cx="260" cy="260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525" name="Oval 64"/>
            <p:cNvSpPr>
              <a:spLocks noChangeAspect="1"/>
            </p:cNvSpPr>
            <p:nvPr/>
          </p:nvSpPr>
          <p:spPr>
            <a:xfrm>
              <a:off x="975" y="2215"/>
              <a:ext cx="260" cy="259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526" name="Line 65"/>
            <p:cNvSpPr>
              <a:spLocks noChangeAspect="1"/>
            </p:cNvSpPr>
            <p:nvPr/>
          </p:nvSpPr>
          <p:spPr>
            <a:xfrm flipH="1">
              <a:off x="629" y="701"/>
              <a:ext cx="26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7" name="Line 66"/>
            <p:cNvSpPr>
              <a:spLocks noChangeAspect="1"/>
            </p:cNvSpPr>
            <p:nvPr/>
          </p:nvSpPr>
          <p:spPr>
            <a:xfrm>
              <a:off x="1321" y="744"/>
              <a:ext cx="217" cy="26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8" name="Line 67"/>
            <p:cNvSpPr>
              <a:spLocks noChangeAspect="1"/>
            </p:cNvSpPr>
            <p:nvPr/>
          </p:nvSpPr>
          <p:spPr>
            <a:xfrm>
              <a:off x="456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9" name="Line 68"/>
            <p:cNvSpPr>
              <a:spLocks noChangeAspect="1"/>
            </p:cNvSpPr>
            <p:nvPr/>
          </p:nvSpPr>
          <p:spPr>
            <a:xfrm>
              <a:off x="1711" y="1393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0" name="Line 69"/>
            <p:cNvSpPr>
              <a:spLocks noChangeAspect="1"/>
            </p:cNvSpPr>
            <p:nvPr/>
          </p:nvSpPr>
          <p:spPr>
            <a:xfrm>
              <a:off x="889" y="1177"/>
              <a:ext cx="389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1" name="Line 70"/>
            <p:cNvSpPr>
              <a:spLocks noChangeAspect="1"/>
            </p:cNvSpPr>
            <p:nvPr/>
          </p:nvSpPr>
          <p:spPr>
            <a:xfrm>
              <a:off x="759" y="1479"/>
              <a:ext cx="476" cy="303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2" name="Line 71"/>
            <p:cNvSpPr>
              <a:spLocks noChangeAspect="1"/>
            </p:cNvSpPr>
            <p:nvPr/>
          </p:nvSpPr>
          <p:spPr>
            <a:xfrm>
              <a:off x="629" y="2042"/>
              <a:ext cx="217" cy="21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3" name="Line 72"/>
            <p:cNvSpPr>
              <a:spLocks noChangeAspect="1"/>
            </p:cNvSpPr>
            <p:nvPr/>
          </p:nvSpPr>
          <p:spPr>
            <a:xfrm flipH="1">
              <a:off x="1365" y="2042"/>
              <a:ext cx="216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4" name="Text Box 73"/>
            <p:cNvSpPr txBox="1">
              <a:spLocks noChangeAspect="1"/>
            </p:cNvSpPr>
            <p:nvPr/>
          </p:nvSpPr>
          <p:spPr>
            <a:xfrm>
              <a:off x="586" y="666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35" name="Text Box 74"/>
            <p:cNvSpPr txBox="1">
              <a:spLocks noChangeAspect="1"/>
            </p:cNvSpPr>
            <p:nvPr/>
          </p:nvSpPr>
          <p:spPr>
            <a:xfrm>
              <a:off x="240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36" name="Text Box 75"/>
            <p:cNvSpPr txBox="1">
              <a:spLocks noChangeAspect="1"/>
            </p:cNvSpPr>
            <p:nvPr/>
          </p:nvSpPr>
          <p:spPr>
            <a:xfrm>
              <a:off x="1408" y="2094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37" name="Text Box 76"/>
            <p:cNvSpPr txBox="1">
              <a:spLocks noChangeAspect="1"/>
            </p:cNvSpPr>
            <p:nvPr/>
          </p:nvSpPr>
          <p:spPr>
            <a:xfrm>
              <a:off x="1321" y="658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38" name="Text Box 77"/>
            <p:cNvSpPr txBox="1">
              <a:spLocks noChangeAspect="1"/>
            </p:cNvSpPr>
            <p:nvPr/>
          </p:nvSpPr>
          <p:spPr>
            <a:xfrm>
              <a:off x="1667" y="1393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39" name="Text Box 78"/>
            <p:cNvSpPr txBox="1">
              <a:spLocks noChangeAspect="1"/>
            </p:cNvSpPr>
            <p:nvPr/>
          </p:nvSpPr>
          <p:spPr>
            <a:xfrm>
              <a:off x="542" y="2085"/>
              <a:ext cx="260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40" name="Text Box 79"/>
            <p:cNvSpPr txBox="1">
              <a:spLocks noChangeAspect="1"/>
            </p:cNvSpPr>
            <p:nvPr/>
          </p:nvSpPr>
          <p:spPr>
            <a:xfrm>
              <a:off x="932" y="1004"/>
              <a:ext cx="260" cy="236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541" name="Text Box 80"/>
            <p:cNvSpPr txBox="1">
              <a:spLocks noChangeAspect="1"/>
            </p:cNvSpPr>
            <p:nvPr/>
          </p:nvSpPr>
          <p:spPr>
            <a:xfrm>
              <a:off x="846" y="1617"/>
              <a:ext cx="259" cy="23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542" name="Text Box 81"/>
            <p:cNvSpPr txBox="1">
              <a:spLocks noChangeAspect="1"/>
            </p:cNvSpPr>
            <p:nvPr/>
          </p:nvSpPr>
          <p:spPr>
            <a:xfrm>
              <a:off x="912" y="2496"/>
              <a:ext cx="336" cy="278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i="1" dirty="0">
                  <a:latin typeface="Times New Roman" panose="02020603050405020304" pitchFamily="18" charset="0"/>
                </a:rPr>
                <a:t>G</a:t>
              </a:r>
            </a:p>
          </p:txBody>
        </p:sp>
      </p:grpSp>
      <p:grpSp>
        <p:nvGrpSpPr>
          <p:cNvPr id="29778" name="Group 82"/>
          <p:cNvGrpSpPr/>
          <p:nvPr/>
        </p:nvGrpSpPr>
        <p:grpSpPr>
          <a:xfrm>
            <a:off x="5943600" y="1606550"/>
            <a:ext cx="1792288" cy="3206750"/>
            <a:chOff x="3744" y="1152"/>
            <a:chExt cx="1129" cy="2020"/>
          </a:xfrm>
        </p:grpSpPr>
        <p:sp>
          <p:nvSpPr>
            <p:cNvPr id="18489" name="Oval 83"/>
            <p:cNvSpPr>
              <a:spLocks noChangeAspect="1"/>
            </p:cNvSpPr>
            <p:nvPr/>
          </p:nvSpPr>
          <p:spPr>
            <a:xfrm>
              <a:off x="4211" y="1152"/>
              <a:ext cx="234" cy="233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8490" name="Oval 84"/>
            <p:cNvSpPr>
              <a:spLocks noChangeAspect="1"/>
            </p:cNvSpPr>
            <p:nvPr/>
          </p:nvSpPr>
          <p:spPr>
            <a:xfrm>
              <a:off x="4639" y="2163"/>
              <a:ext cx="234" cy="234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8491" name="Oval 85"/>
            <p:cNvSpPr>
              <a:spLocks noChangeAspect="1"/>
            </p:cNvSpPr>
            <p:nvPr/>
          </p:nvSpPr>
          <p:spPr>
            <a:xfrm>
              <a:off x="3744" y="2163"/>
              <a:ext cx="234" cy="234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8492" name="Oval 86"/>
            <p:cNvSpPr>
              <a:spLocks noChangeAspect="1"/>
            </p:cNvSpPr>
            <p:nvPr/>
          </p:nvSpPr>
          <p:spPr>
            <a:xfrm>
              <a:off x="4639" y="1696"/>
              <a:ext cx="234" cy="234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8493" name="Oval 87"/>
            <p:cNvSpPr>
              <a:spLocks noChangeAspect="1"/>
            </p:cNvSpPr>
            <p:nvPr/>
          </p:nvSpPr>
          <p:spPr>
            <a:xfrm>
              <a:off x="3744" y="1657"/>
              <a:ext cx="234" cy="234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8494" name="Oval 88"/>
            <p:cNvSpPr>
              <a:spLocks noChangeAspect="1"/>
            </p:cNvSpPr>
            <p:nvPr/>
          </p:nvSpPr>
          <p:spPr>
            <a:xfrm>
              <a:off x="4211" y="2669"/>
              <a:ext cx="234" cy="233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tIns="10800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8495" name="Line 89"/>
            <p:cNvSpPr>
              <a:spLocks noChangeAspect="1"/>
            </p:cNvSpPr>
            <p:nvPr/>
          </p:nvSpPr>
          <p:spPr>
            <a:xfrm flipH="1">
              <a:off x="3992" y="1392"/>
              <a:ext cx="294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Line 90"/>
            <p:cNvSpPr>
              <a:spLocks noChangeAspect="1"/>
            </p:cNvSpPr>
            <p:nvPr/>
          </p:nvSpPr>
          <p:spPr>
            <a:xfrm>
              <a:off x="4368" y="1392"/>
              <a:ext cx="302" cy="34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91"/>
            <p:cNvSpPr>
              <a:spLocks noChangeAspect="1"/>
            </p:cNvSpPr>
            <p:nvPr/>
          </p:nvSpPr>
          <p:spPr>
            <a:xfrm>
              <a:off x="3888" y="1901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Line 92"/>
            <p:cNvSpPr>
              <a:spLocks noChangeAspect="1"/>
            </p:cNvSpPr>
            <p:nvPr/>
          </p:nvSpPr>
          <p:spPr>
            <a:xfrm>
              <a:off x="4704" y="1920"/>
              <a:ext cx="0" cy="2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Line 93"/>
            <p:cNvSpPr>
              <a:spLocks noChangeAspect="1"/>
            </p:cNvSpPr>
            <p:nvPr/>
          </p:nvSpPr>
          <p:spPr>
            <a:xfrm>
              <a:off x="3936" y="2352"/>
              <a:ext cx="384" cy="33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Line 94"/>
            <p:cNvSpPr>
              <a:spLocks noChangeAspect="1"/>
            </p:cNvSpPr>
            <p:nvPr/>
          </p:nvSpPr>
          <p:spPr>
            <a:xfrm flipH="1">
              <a:off x="4320" y="2352"/>
              <a:ext cx="350" cy="35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Line 95"/>
            <p:cNvSpPr>
              <a:spLocks noChangeAspect="1"/>
            </p:cNvSpPr>
            <p:nvPr/>
          </p:nvSpPr>
          <p:spPr>
            <a:xfrm>
              <a:off x="3988" y="1800"/>
              <a:ext cx="64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Line 96"/>
            <p:cNvSpPr>
              <a:spLocks noChangeAspect="1"/>
            </p:cNvSpPr>
            <p:nvPr/>
          </p:nvSpPr>
          <p:spPr>
            <a:xfrm>
              <a:off x="3984" y="1824"/>
              <a:ext cx="691" cy="38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Text Box 97"/>
            <p:cNvSpPr txBox="1">
              <a:spLocks noChangeAspect="1"/>
            </p:cNvSpPr>
            <p:nvPr/>
          </p:nvSpPr>
          <p:spPr>
            <a:xfrm>
              <a:off x="3888" y="2922"/>
              <a:ext cx="956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Residual </a:t>
              </a:r>
              <a:r>
                <a:rPr lang="en-US" altLang="zh-CN" sz="2000" b="1" i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8504" name="Rectangle 98"/>
            <p:cNvSpPr/>
            <p:nvPr/>
          </p:nvSpPr>
          <p:spPr>
            <a:xfrm>
              <a:off x="4080" y="148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05" name="Rectangle 99"/>
            <p:cNvSpPr/>
            <p:nvPr/>
          </p:nvSpPr>
          <p:spPr>
            <a:xfrm>
              <a:off x="3840" y="187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06" name="Rectangle 100"/>
            <p:cNvSpPr/>
            <p:nvPr/>
          </p:nvSpPr>
          <p:spPr>
            <a:xfrm>
              <a:off x="4416" y="235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07" name="Rectangle 101"/>
            <p:cNvSpPr/>
            <p:nvPr/>
          </p:nvSpPr>
          <p:spPr>
            <a:xfrm>
              <a:off x="4368" y="148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08" name="Rectangle 102"/>
            <p:cNvSpPr/>
            <p:nvPr/>
          </p:nvSpPr>
          <p:spPr>
            <a:xfrm>
              <a:off x="4560" y="1920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09" name="Rectangle 103"/>
            <p:cNvSpPr/>
            <p:nvPr/>
          </p:nvSpPr>
          <p:spPr>
            <a:xfrm>
              <a:off x="4032" y="235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510" name="Rectangle 104"/>
            <p:cNvSpPr/>
            <p:nvPr/>
          </p:nvSpPr>
          <p:spPr>
            <a:xfrm>
              <a:off x="4224" y="163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511" name="Rectangle 105"/>
            <p:cNvSpPr/>
            <p:nvPr/>
          </p:nvSpPr>
          <p:spPr>
            <a:xfrm>
              <a:off x="4272" y="187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29802" name="Group 106"/>
          <p:cNvGrpSpPr/>
          <p:nvPr/>
        </p:nvGrpSpPr>
        <p:grpSpPr>
          <a:xfrm>
            <a:off x="3824288" y="1835150"/>
            <a:ext cx="1262062" cy="2162175"/>
            <a:chOff x="2409" y="1296"/>
            <a:chExt cx="795" cy="1362"/>
          </a:xfrm>
        </p:grpSpPr>
        <p:sp>
          <p:nvSpPr>
            <p:cNvPr id="18483" name="Line 107"/>
            <p:cNvSpPr>
              <a:spLocks noChangeAspect="1"/>
            </p:cNvSpPr>
            <p:nvPr/>
          </p:nvSpPr>
          <p:spPr>
            <a:xfrm flipH="1">
              <a:off x="2409" y="1320"/>
              <a:ext cx="302" cy="345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Line 108"/>
            <p:cNvSpPr>
              <a:spLocks noChangeAspect="1"/>
            </p:cNvSpPr>
            <p:nvPr/>
          </p:nvSpPr>
          <p:spPr>
            <a:xfrm>
              <a:off x="2409" y="1795"/>
              <a:ext cx="691" cy="388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Line 109"/>
            <p:cNvSpPr>
              <a:spLocks noChangeAspect="1"/>
            </p:cNvSpPr>
            <p:nvPr/>
          </p:nvSpPr>
          <p:spPr>
            <a:xfrm flipH="1">
              <a:off x="2884" y="2356"/>
              <a:ext cx="302" cy="302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Rectangle 110"/>
            <p:cNvSpPr/>
            <p:nvPr/>
          </p:nvSpPr>
          <p:spPr>
            <a:xfrm>
              <a:off x="2448" y="1296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87" name="Rectangle 111"/>
            <p:cNvSpPr/>
            <p:nvPr/>
          </p:nvSpPr>
          <p:spPr>
            <a:xfrm>
              <a:off x="2640" y="196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488" name="Rectangle 112"/>
            <p:cNvSpPr/>
            <p:nvPr/>
          </p:nvSpPr>
          <p:spPr>
            <a:xfrm>
              <a:off x="3024" y="242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9809" name="Group 113"/>
          <p:cNvGrpSpPr/>
          <p:nvPr/>
        </p:nvGrpSpPr>
        <p:grpSpPr>
          <a:xfrm>
            <a:off x="6207125" y="1874838"/>
            <a:ext cx="479425" cy="547687"/>
            <a:chOff x="3910" y="1321"/>
            <a:chExt cx="302" cy="345"/>
          </a:xfrm>
        </p:grpSpPr>
        <p:sp>
          <p:nvSpPr>
            <p:cNvPr id="18481" name="Line 114"/>
            <p:cNvSpPr>
              <a:spLocks noChangeAspect="1"/>
            </p:cNvSpPr>
            <p:nvPr/>
          </p:nvSpPr>
          <p:spPr>
            <a:xfrm flipH="1">
              <a:off x="3910" y="1321"/>
              <a:ext cx="302" cy="345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Rectangle 115"/>
            <p:cNvSpPr/>
            <p:nvPr/>
          </p:nvSpPr>
          <p:spPr>
            <a:xfrm>
              <a:off x="3936" y="1344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9812" name="Oval 116"/>
          <p:cNvSpPr/>
          <p:nvPr/>
        </p:nvSpPr>
        <p:spPr>
          <a:xfrm rot="2205374">
            <a:off x="6478588" y="1912938"/>
            <a:ext cx="187325" cy="739775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9813" name="Group 117"/>
          <p:cNvGrpSpPr/>
          <p:nvPr/>
        </p:nvGrpSpPr>
        <p:grpSpPr>
          <a:xfrm>
            <a:off x="6248400" y="2749550"/>
            <a:ext cx="1096963" cy="615950"/>
            <a:chOff x="3936" y="1872"/>
            <a:chExt cx="691" cy="388"/>
          </a:xfrm>
        </p:grpSpPr>
        <p:sp>
          <p:nvSpPr>
            <p:cNvPr id="18479" name="Line 118"/>
            <p:cNvSpPr>
              <a:spLocks noChangeAspect="1"/>
            </p:cNvSpPr>
            <p:nvPr/>
          </p:nvSpPr>
          <p:spPr>
            <a:xfrm>
              <a:off x="3936" y="1872"/>
              <a:ext cx="691" cy="388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Rectangle 119"/>
            <p:cNvSpPr/>
            <p:nvPr/>
          </p:nvSpPr>
          <p:spPr>
            <a:xfrm>
              <a:off x="4176" y="2016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9816" name="Rectangle 120"/>
          <p:cNvSpPr/>
          <p:nvPr/>
        </p:nvSpPr>
        <p:spPr>
          <a:xfrm>
            <a:off x="6858000" y="2749550"/>
            <a:ext cx="136525" cy="2667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9817" name="Group 121"/>
          <p:cNvGrpSpPr/>
          <p:nvPr/>
        </p:nvGrpSpPr>
        <p:grpSpPr>
          <a:xfrm>
            <a:off x="7010400" y="3587750"/>
            <a:ext cx="533400" cy="533400"/>
            <a:chOff x="4416" y="2400"/>
            <a:chExt cx="336" cy="336"/>
          </a:xfrm>
        </p:grpSpPr>
        <p:sp>
          <p:nvSpPr>
            <p:cNvPr id="18477" name="Line 122"/>
            <p:cNvSpPr>
              <a:spLocks noChangeAspect="1"/>
            </p:cNvSpPr>
            <p:nvPr/>
          </p:nvSpPr>
          <p:spPr>
            <a:xfrm flipH="1">
              <a:off x="4416" y="2400"/>
              <a:ext cx="336" cy="33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Rectangle 123"/>
            <p:cNvSpPr/>
            <p:nvPr/>
          </p:nvSpPr>
          <p:spPr>
            <a:xfrm>
              <a:off x="4560" y="2496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9820" name="Oval 124"/>
          <p:cNvSpPr/>
          <p:nvPr/>
        </p:nvSpPr>
        <p:spPr>
          <a:xfrm rot="2748461">
            <a:off x="7004050" y="3363913"/>
            <a:ext cx="263525" cy="70485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grpSp>
        <p:nvGrpSpPr>
          <p:cNvPr id="29821" name="Group 125"/>
          <p:cNvGrpSpPr/>
          <p:nvPr/>
        </p:nvGrpSpPr>
        <p:grpSpPr>
          <a:xfrm>
            <a:off x="4578350" y="1835150"/>
            <a:ext cx="812800" cy="1339850"/>
            <a:chOff x="2884" y="1296"/>
            <a:chExt cx="512" cy="844"/>
          </a:xfrm>
        </p:grpSpPr>
        <p:sp>
          <p:nvSpPr>
            <p:cNvPr id="18473" name="Line 126"/>
            <p:cNvSpPr>
              <a:spLocks noChangeAspect="1"/>
            </p:cNvSpPr>
            <p:nvPr/>
          </p:nvSpPr>
          <p:spPr>
            <a:xfrm>
              <a:off x="2884" y="1320"/>
              <a:ext cx="302" cy="345"/>
            </a:xfrm>
            <a:prstGeom prst="line">
              <a:avLst/>
            </a:prstGeom>
            <a:ln w="25400" cap="flat" cmpd="sng">
              <a:solidFill>
                <a:srgbClr val="9900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127"/>
            <p:cNvSpPr>
              <a:spLocks noChangeAspect="1"/>
            </p:cNvSpPr>
            <p:nvPr/>
          </p:nvSpPr>
          <p:spPr>
            <a:xfrm>
              <a:off x="3229" y="1881"/>
              <a:ext cx="0" cy="259"/>
            </a:xfrm>
            <a:prstGeom prst="line">
              <a:avLst/>
            </a:prstGeom>
            <a:ln w="25400" cap="flat" cmpd="sng">
              <a:solidFill>
                <a:srgbClr val="9900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Rectangle 128"/>
            <p:cNvSpPr/>
            <p:nvPr/>
          </p:nvSpPr>
          <p:spPr>
            <a:xfrm>
              <a:off x="2976" y="1296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76" name="Rectangle 129"/>
            <p:cNvSpPr/>
            <p:nvPr/>
          </p:nvSpPr>
          <p:spPr>
            <a:xfrm>
              <a:off x="3216" y="187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9826" name="Group 130"/>
          <p:cNvGrpSpPr/>
          <p:nvPr/>
        </p:nvGrpSpPr>
        <p:grpSpPr>
          <a:xfrm>
            <a:off x="3851275" y="2563813"/>
            <a:ext cx="1096963" cy="615950"/>
            <a:chOff x="2493" y="1706"/>
            <a:chExt cx="691" cy="388"/>
          </a:xfrm>
        </p:grpSpPr>
        <p:sp>
          <p:nvSpPr>
            <p:cNvPr id="18471" name="Line 131"/>
            <p:cNvSpPr>
              <a:spLocks noChangeAspect="1"/>
            </p:cNvSpPr>
            <p:nvPr/>
          </p:nvSpPr>
          <p:spPr>
            <a:xfrm>
              <a:off x="2493" y="1706"/>
              <a:ext cx="691" cy="388"/>
            </a:xfrm>
            <a:prstGeom prst="line">
              <a:avLst/>
            </a:prstGeom>
            <a:ln w="25400" cap="flat" cmpd="sng">
              <a:solidFill>
                <a:srgbClr val="990099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Rectangle 132"/>
            <p:cNvSpPr/>
            <p:nvPr/>
          </p:nvSpPr>
          <p:spPr>
            <a:xfrm>
              <a:off x="2784" y="1707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9829" name="Group 133"/>
          <p:cNvGrpSpPr/>
          <p:nvPr/>
        </p:nvGrpSpPr>
        <p:grpSpPr>
          <a:xfrm>
            <a:off x="3429000" y="2695575"/>
            <a:ext cx="874713" cy="1304925"/>
            <a:chOff x="2160" y="1838"/>
            <a:chExt cx="551" cy="822"/>
          </a:xfrm>
        </p:grpSpPr>
        <p:sp>
          <p:nvSpPr>
            <p:cNvPr id="18467" name="Line 134"/>
            <p:cNvSpPr>
              <a:spLocks noChangeAspect="1"/>
            </p:cNvSpPr>
            <p:nvPr/>
          </p:nvSpPr>
          <p:spPr>
            <a:xfrm>
              <a:off x="2322" y="1838"/>
              <a:ext cx="0" cy="259"/>
            </a:xfrm>
            <a:prstGeom prst="line">
              <a:avLst/>
            </a:prstGeom>
            <a:ln w="25400" cap="flat" cmpd="sng">
              <a:solidFill>
                <a:srgbClr val="9900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135"/>
            <p:cNvSpPr>
              <a:spLocks noChangeAspect="1"/>
            </p:cNvSpPr>
            <p:nvPr/>
          </p:nvSpPr>
          <p:spPr>
            <a:xfrm>
              <a:off x="2365" y="2356"/>
              <a:ext cx="346" cy="302"/>
            </a:xfrm>
            <a:prstGeom prst="line">
              <a:avLst/>
            </a:prstGeom>
            <a:ln w="25400" cap="flat" cmpd="sng">
              <a:solidFill>
                <a:srgbClr val="990099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Rectangle 136"/>
            <p:cNvSpPr/>
            <p:nvPr/>
          </p:nvSpPr>
          <p:spPr>
            <a:xfrm>
              <a:off x="2160" y="1872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70" name="Rectangle 137"/>
            <p:cNvSpPr/>
            <p:nvPr/>
          </p:nvSpPr>
          <p:spPr>
            <a:xfrm>
              <a:off x="2352" y="244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990099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9834" name="Group 138"/>
          <p:cNvGrpSpPr/>
          <p:nvPr/>
        </p:nvGrpSpPr>
        <p:grpSpPr>
          <a:xfrm>
            <a:off x="7019925" y="1835150"/>
            <a:ext cx="879475" cy="1447800"/>
            <a:chOff x="4422" y="1296"/>
            <a:chExt cx="554" cy="912"/>
          </a:xfrm>
        </p:grpSpPr>
        <p:sp>
          <p:nvSpPr>
            <p:cNvPr id="18463" name="Line 139"/>
            <p:cNvSpPr>
              <a:spLocks noChangeAspect="1"/>
            </p:cNvSpPr>
            <p:nvPr/>
          </p:nvSpPr>
          <p:spPr>
            <a:xfrm>
              <a:off x="4422" y="1296"/>
              <a:ext cx="365" cy="417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Line 140"/>
            <p:cNvSpPr>
              <a:spLocks noChangeAspect="1"/>
            </p:cNvSpPr>
            <p:nvPr/>
          </p:nvSpPr>
          <p:spPr>
            <a:xfrm>
              <a:off x="4809" y="1929"/>
              <a:ext cx="0" cy="259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Rectangle 141"/>
            <p:cNvSpPr/>
            <p:nvPr/>
          </p:nvSpPr>
          <p:spPr>
            <a:xfrm>
              <a:off x="4556" y="1344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66" name="Rectangle 142"/>
            <p:cNvSpPr/>
            <p:nvPr/>
          </p:nvSpPr>
          <p:spPr>
            <a:xfrm>
              <a:off x="4796" y="1996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9839" name="Oval 143"/>
          <p:cNvSpPr/>
          <p:nvPr/>
        </p:nvSpPr>
        <p:spPr>
          <a:xfrm rot="-2287835">
            <a:off x="7010400" y="1911350"/>
            <a:ext cx="263525" cy="70485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840" name="Oval 144"/>
          <p:cNvSpPr/>
          <p:nvPr/>
        </p:nvSpPr>
        <p:spPr>
          <a:xfrm>
            <a:off x="7272338" y="2789238"/>
            <a:ext cx="304800" cy="4572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841" name="Rectangle 145"/>
          <p:cNvSpPr/>
          <p:nvPr/>
        </p:nvSpPr>
        <p:spPr>
          <a:xfrm>
            <a:off x="6705600" y="3054350"/>
            <a:ext cx="136525" cy="2667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842" name="Rectangle 146"/>
          <p:cNvSpPr/>
          <p:nvPr/>
        </p:nvSpPr>
        <p:spPr>
          <a:xfrm>
            <a:off x="6858000" y="2749550"/>
            <a:ext cx="136525" cy="2667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29843" name="Group 147"/>
          <p:cNvGrpSpPr/>
          <p:nvPr/>
        </p:nvGrpSpPr>
        <p:grpSpPr>
          <a:xfrm>
            <a:off x="5810250" y="2749550"/>
            <a:ext cx="895350" cy="1403350"/>
            <a:chOff x="3660" y="1872"/>
            <a:chExt cx="564" cy="884"/>
          </a:xfrm>
        </p:grpSpPr>
        <p:sp>
          <p:nvSpPr>
            <p:cNvPr id="18459" name="Line 148"/>
            <p:cNvSpPr>
              <a:spLocks noChangeAspect="1"/>
            </p:cNvSpPr>
            <p:nvPr/>
          </p:nvSpPr>
          <p:spPr>
            <a:xfrm>
              <a:off x="3810" y="1872"/>
              <a:ext cx="0" cy="307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149"/>
            <p:cNvSpPr/>
            <p:nvPr/>
          </p:nvSpPr>
          <p:spPr>
            <a:xfrm>
              <a:off x="3840" y="2400"/>
              <a:ext cx="384" cy="336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Rectangle 150"/>
            <p:cNvSpPr/>
            <p:nvPr/>
          </p:nvSpPr>
          <p:spPr>
            <a:xfrm>
              <a:off x="3660" y="1948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462" name="Rectangle 151"/>
            <p:cNvSpPr/>
            <p:nvPr/>
          </p:nvSpPr>
          <p:spPr>
            <a:xfrm>
              <a:off x="3840" y="2544"/>
              <a:ext cx="180" cy="21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29848" name="Oval 152"/>
          <p:cNvSpPr/>
          <p:nvPr/>
        </p:nvSpPr>
        <p:spPr>
          <a:xfrm rot="-2970493">
            <a:off x="6434138" y="3400425"/>
            <a:ext cx="263525" cy="704850"/>
          </a:xfrm>
          <a:prstGeom prst="ellipse">
            <a:avLst/>
          </a:prstGeom>
          <a:solidFill>
            <a:schemeClr val="bg1"/>
          </a:solidFill>
          <a:ln w="25400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29849" name="Rectangle 153"/>
          <p:cNvSpPr/>
          <p:nvPr/>
        </p:nvSpPr>
        <p:spPr>
          <a:xfrm>
            <a:off x="6172200" y="2825750"/>
            <a:ext cx="136525" cy="2667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850" name="Text Box 154"/>
          <p:cNvSpPr txBox="1"/>
          <p:nvPr/>
        </p:nvSpPr>
        <p:spPr>
          <a:xfrm>
            <a:off x="381000" y="4730750"/>
            <a:ext cx="5257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〖</a:t>
            </a:r>
            <a:r>
              <a:rPr lang="en-US" altLang="zh-CN" sz="2400" b="1" dirty="0">
                <a:latin typeface="Times New Roman" panose="02020603050405020304" pitchFamily="18" charset="0"/>
              </a:rPr>
              <a:t>Proposition</a:t>
            </a:r>
            <a:r>
              <a:rPr lang="en-US" altLang="zh-CN" sz="2400" b="1" dirty="0">
                <a:latin typeface="Times New Roman" panose="02020603050405020304" pitchFamily="18" charset="0"/>
                <a:ea typeface="MS Hei" pitchFamily="49" charset="-122"/>
              </a:rPr>
              <a:t>〗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000" b="1" dirty="0">
                <a:latin typeface="Times New Roman" panose="02020603050405020304" pitchFamily="18" charset="0"/>
              </a:rPr>
              <a:t>If the edge capabilities are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rational numbers</a:t>
            </a:r>
            <a:r>
              <a:rPr lang="en-US" altLang="zh-CN" sz="2000" b="1" dirty="0">
                <a:latin typeface="Times New Roman" panose="02020603050405020304" pitchFamily="18" charset="0"/>
              </a:rPr>
              <a:t>, this algorithm always terminate with a maximum flow.</a:t>
            </a:r>
          </a:p>
        </p:txBody>
      </p:sp>
      <p:sp>
        <p:nvSpPr>
          <p:cNvPr id="29851" name="AutoShape 155" descr="再生纸"/>
          <p:cNvSpPr/>
          <p:nvPr/>
        </p:nvSpPr>
        <p:spPr>
          <a:xfrm>
            <a:off x="5638800" y="4883150"/>
            <a:ext cx="2819400" cy="1143000"/>
          </a:xfrm>
          <a:prstGeom prst="roundRect">
            <a:avLst>
              <a:gd name="adj" fmla="val 16667"/>
            </a:avLst>
          </a:prstGeom>
          <a:blipFill rotWithShape="0">
            <a:blip r:embed="rId4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62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25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 The algorithm works for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000" b="1" dirty="0">
                <a:latin typeface="Times New Roman" panose="02020603050405020304" pitchFamily="18" charset="0"/>
              </a:rPr>
              <a:t> with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cycles</a:t>
            </a:r>
            <a:r>
              <a:rPr lang="en-US" altLang="zh-CN" sz="2000" b="1" dirty="0">
                <a:latin typeface="Times New Roman" panose="02020603050405020304" pitchFamily="18" charset="0"/>
              </a:rPr>
              <a:t> as well.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9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29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9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29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8" dur="500"/>
                                        <p:tgtEl>
                                          <p:spTgt spid="2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2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8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500"/>
                                        <p:tgtEl>
                                          <p:spTgt spid="2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/>
      <p:bldP spid="29812" grpId="0" animBg="1"/>
      <p:bldP spid="29816" grpId="0" animBg="1"/>
      <p:bldP spid="29820" grpId="0" animBg="1"/>
      <p:bldP spid="29839" grpId="0" animBg="1"/>
      <p:bldP spid="29840" grpId="0" animBg="1"/>
      <p:bldP spid="29841" grpId="0" animBg="1"/>
      <p:bldP spid="29842" grpId="0" animBg="1"/>
      <p:bldP spid="29848" grpId="0" animBg="1"/>
      <p:bldP spid="29849" grpId="0" animBg="1"/>
      <p:bldP spid="29850" grpId="0"/>
      <p:bldP spid="298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3"/>
          <p:cNvSpPr txBox="1"/>
          <p:nvPr/>
        </p:nvSpPr>
        <p:spPr>
          <a:xfrm>
            <a:off x="457200" y="228600"/>
            <a:ext cx="571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3.  Analysis ( 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If the capacities are all integers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0724" name="Text Box 4"/>
          <p:cNvSpPr txBox="1"/>
          <p:nvPr/>
        </p:nvSpPr>
        <p:spPr>
          <a:xfrm>
            <a:off x="762000" y="685800"/>
            <a:ext cx="7467600" cy="76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4175" lvl="0" indent="-3841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latin typeface="Times New Roman" panose="02020603050405020304" pitchFamily="18" charset="0"/>
              </a:rPr>
              <a:t>An augmenting path can be found by an unweighted shortest path algorithm.</a:t>
            </a:r>
          </a:p>
        </p:txBody>
      </p:sp>
      <p:sp>
        <p:nvSpPr>
          <p:cNvPr id="30725" name="Text Box 5"/>
          <p:cNvSpPr txBox="1"/>
          <p:nvPr/>
        </p:nvSpPr>
        <p:spPr>
          <a:xfrm>
            <a:off x="1143000" y="1508125"/>
            <a:ext cx="5638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="1" dirty="0">
                <a:latin typeface="Times New Roman" panose="02020603050405020304" pitchFamily="18" charset="0"/>
              </a:rPr>
              <a:t> = O(               )  where 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  is the maximum flow.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30726" name="Text Box 6"/>
          <p:cNvSpPr txBox="1"/>
          <p:nvPr/>
        </p:nvSpPr>
        <p:spPr>
          <a:xfrm>
            <a:off x="2057400" y="1508125"/>
            <a:ext cx="8382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</a:rPr>
              <a:t> ·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grpSp>
        <p:nvGrpSpPr>
          <p:cNvPr id="30727" name="Group 7"/>
          <p:cNvGrpSpPr>
            <a:grpSpLocks noChangeAspect="1"/>
          </p:cNvGrpSpPr>
          <p:nvPr/>
        </p:nvGrpSpPr>
        <p:grpSpPr>
          <a:xfrm>
            <a:off x="1676400" y="1981200"/>
            <a:ext cx="4510088" cy="1951038"/>
            <a:chOff x="912" y="1440"/>
            <a:chExt cx="3552" cy="1536"/>
          </a:xfrm>
        </p:grpSpPr>
        <p:sp>
          <p:nvSpPr>
            <p:cNvPr id="19468" name="Oval 8"/>
            <p:cNvSpPr>
              <a:spLocks noChangeAspect="1"/>
            </p:cNvSpPr>
            <p:nvPr/>
          </p:nvSpPr>
          <p:spPr>
            <a:xfrm>
              <a:off x="2496" y="1440"/>
              <a:ext cx="336" cy="336"/>
            </a:xfrm>
            <a:prstGeom prst="ellipse">
              <a:avLst/>
            </a:prstGeom>
            <a:solidFill>
              <a:srgbClr val="FF00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19469" name="Oval 9"/>
            <p:cNvSpPr>
              <a:spLocks noChangeAspect="1"/>
            </p:cNvSpPr>
            <p:nvPr/>
          </p:nvSpPr>
          <p:spPr>
            <a:xfrm>
              <a:off x="2544" y="2640"/>
              <a:ext cx="336" cy="336"/>
            </a:xfrm>
            <a:prstGeom prst="ellipse">
              <a:avLst/>
            </a:prstGeom>
            <a:solidFill>
              <a:srgbClr val="009900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9470" name="Oval 10"/>
            <p:cNvSpPr>
              <a:spLocks noChangeAspect="1"/>
            </p:cNvSpPr>
            <p:nvPr/>
          </p:nvSpPr>
          <p:spPr>
            <a:xfrm>
              <a:off x="912" y="2112"/>
              <a:ext cx="336" cy="336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9471" name="Oval 11"/>
            <p:cNvSpPr>
              <a:spLocks noChangeAspect="1"/>
            </p:cNvSpPr>
            <p:nvPr/>
          </p:nvSpPr>
          <p:spPr>
            <a:xfrm>
              <a:off x="4128" y="2112"/>
              <a:ext cx="336" cy="336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9472" name="Line 12"/>
            <p:cNvSpPr>
              <a:spLocks noChangeAspect="1"/>
            </p:cNvSpPr>
            <p:nvPr/>
          </p:nvSpPr>
          <p:spPr>
            <a:xfrm flipH="1">
              <a:off x="1227" y="1680"/>
              <a:ext cx="1269" cy="51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13"/>
            <p:cNvSpPr>
              <a:spLocks noChangeAspect="1"/>
            </p:cNvSpPr>
            <p:nvPr/>
          </p:nvSpPr>
          <p:spPr>
            <a:xfrm>
              <a:off x="2831" y="1680"/>
              <a:ext cx="1319" cy="5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Line 14"/>
            <p:cNvSpPr>
              <a:spLocks noChangeAspect="1"/>
            </p:cNvSpPr>
            <p:nvPr/>
          </p:nvSpPr>
          <p:spPr>
            <a:xfrm flipH="1" flipV="1">
              <a:off x="1248" y="2304"/>
              <a:ext cx="1296" cy="52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lg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Line 15"/>
            <p:cNvSpPr>
              <a:spLocks noChangeAspect="1"/>
            </p:cNvSpPr>
            <p:nvPr/>
          </p:nvSpPr>
          <p:spPr>
            <a:xfrm flipV="1">
              <a:off x="2927" y="2328"/>
              <a:ext cx="1223" cy="4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stealth" w="lg" len="lg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Line 16"/>
            <p:cNvSpPr>
              <a:spLocks noChangeAspect="1"/>
            </p:cNvSpPr>
            <p:nvPr/>
          </p:nvSpPr>
          <p:spPr>
            <a:xfrm>
              <a:off x="1248" y="2256"/>
              <a:ext cx="288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Text Box 17"/>
            <p:cNvSpPr txBox="1">
              <a:spLocks noChangeAspect="1"/>
            </p:cNvSpPr>
            <p:nvPr/>
          </p:nvSpPr>
          <p:spPr>
            <a:xfrm>
              <a:off x="1296" y="1680"/>
              <a:ext cx="816" cy="2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1 000 000</a:t>
              </a:r>
            </a:p>
          </p:txBody>
        </p:sp>
        <p:sp>
          <p:nvSpPr>
            <p:cNvPr id="19478" name="Text Box 18"/>
            <p:cNvSpPr txBox="1">
              <a:spLocks noChangeAspect="1"/>
            </p:cNvSpPr>
            <p:nvPr/>
          </p:nvSpPr>
          <p:spPr>
            <a:xfrm>
              <a:off x="3167" y="1680"/>
              <a:ext cx="817" cy="2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1 000 000</a:t>
              </a:r>
            </a:p>
          </p:txBody>
        </p:sp>
        <p:sp>
          <p:nvSpPr>
            <p:cNvPr id="19479" name="Text Box 19"/>
            <p:cNvSpPr txBox="1">
              <a:spLocks noChangeAspect="1"/>
            </p:cNvSpPr>
            <p:nvPr/>
          </p:nvSpPr>
          <p:spPr>
            <a:xfrm>
              <a:off x="1296" y="2544"/>
              <a:ext cx="816" cy="2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1 000 000</a:t>
              </a:r>
            </a:p>
          </p:txBody>
        </p:sp>
        <p:sp>
          <p:nvSpPr>
            <p:cNvPr id="19480" name="Text Box 20"/>
            <p:cNvSpPr txBox="1">
              <a:spLocks noChangeAspect="1"/>
            </p:cNvSpPr>
            <p:nvPr/>
          </p:nvSpPr>
          <p:spPr>
            <a:xfrm>
              <a:off x="3360" y="2543"/>
              <a:ext cx="816" cy="265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1 000 000</a:t>
              </a:r>
            </a:p>
          </p:txBody>
        </p:sp>
        <p:sp>
          <p:nvSpPr>
            <p:cNvPr id="19481" name="Text Box 21"/>
            <p:cNvSpPr txBox="1">
              <a:spLocks noChangeAspect="1"/>
            </p:cNvSpPr>
            <p:nvPr/>
          </p:nvSpPr>
          <p:spPr>
            <a:xfrm>
              <a:off x="2496" y="2016"/>
              <a:ext cx="431" cy="289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30742" name="Text Box 22"/>
          <p:cNvSpPr txBox="1"/>
          <p:nvPr/>
        </p:nvSpPr>
        <p:spPr>
          <a:xfrm>
            <a:off x="838200" y="4038600"/>
            <a:ext cx="7467600" cy="768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4175" lvl="0" indent="-3841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latin typeface="Times New Roman" panose="02020603050405020304" pitchFamily="18" charset="0"/>
              </a:rPr>
              <a:t>Always choose the augmenting path that allows the largest </a:t>
            </a:r>
            <a:r>
              <a:rPr lang="en-US" altLang="zh-CN" sz="20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increase in flow</a:t>
            </a:r>
            <a:r>
              <a:rPr lang="en-US" altLang="zh-CN" sz="20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743" name="Text Box 23"/>
          <p:cNvSpPr txBox="1"/>
          <p:nvPr/>
        </p:nvSpPr>
        <p:spPr>
          <a:xfrm>
            <a:off x="3200400" y="4419600"/>
            <a:ext cx="3810000" cy="3667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modify Dijkstra’s algorithm */</a:t>
            </a:r>
          </a:p>
        </p:txBody>
      </p:sp>
      <p:sp>
        <p:nvSpPr>
          <p:cNvPr id="30744" name="Text Box 24"/>
          <p:cNvSpPr txBox="1"/>
          <p:nvPr/>
        </p:nvSpPr>
        <p:spPr>
          <a:xfrm>
            <a:off x="1219200" y="4800600"/>
            <a:ext cx="3886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augmentation</a:t>
            </a:r>
            <a:r>
              <a:rPr lang="en-US" altLang="zh-CN" sz="2400" b="1" dirty="0">
                <a:latin typeface="Times New Roman" panose="02020603050405020304" pitchFamily="18" charset="0"/>
              </a:rPr>
              <a:t> *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find a path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0745" name="Text Box 25"/>
          <p:cNvSpPr txBox="1"/>
          <p:nvPr/>
        </p:nvSpPr>
        <p:spPr>
          <a:xfrm>
            <a:off x="1524000" y="5257800"/>
            <a:ext cx="4876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=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 log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cap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max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</a:rPr>
              <a:t>) *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 log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| )</a:t>
            </a:r>
          </a:p>
        </p:txBody>
      </p:sp>
      <p:sp>
        <p:nvSpPr>
          <p:cNvPr id="30746" name="Text Box 26"/>
          <p:cNvSpPr txBox="1"/>
          <p:nvPr/>
        </p:nvSpPr>
        <p:spPr>
          <a:xfrm>
            <a:off x="1524000" y="5638800"/>
            <a:ext cx="60198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=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log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| ) if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cap</a:t>
            </a:r>
            <a:r>
              <a:rPr lang="en-US" altLang="zh-CN" sz="2000" b="1" i="1" baseline="-25000" dirty="0">
                <a:latin typeface="Times New Roman" panose="02020603050405020304" pitchFamily="18" charset="0"/>
              </a:rPr>
              <a:t>max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a small integer.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4" grpId="0"/>
      <p:bldP spid="30725" grpId="0"/>
      <p:bldP spid="30726" grpId="0"/>
      <p:bldP spid="30742" grpId="0"/>
      <p:bldP spid="30743" grpId="0"/>
      <p:bldP spid="30744" grpId="0"/>
      <p:bldP spid="30745" grpId="0"/>
      <p:bldP spid="307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3"/>
          <p:cNvSpPr txBox="1"/>
          <p:nvPr/>
        </p:nvSpPr>
        <p:spPr>
          <a:xfrm>
            <a:off x="609600" y="304800"/>
            <a:ext cx="7696200" cy="76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4175" lvl="0" indent="-38417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 </a:t>
            </a:r>
            <a:r>
              <a:rPr lang="en-US" altLang="zh-CN" sz="2000" b="1" dirty="0">
                <a:latin typeface="Times New Roman" panose="02020603050405020304" pitchFamily="18" charset="0"/>
              </a:rPr>
              <a:t>Always choose the augmenting path that has the least number of edges.</a:t>
            </a:r>
          </a:p>
        </p:txBody>
      </p:sp>
      <p:sp>
        <p:nvSpPr>
          <p:cNvPr id="31748" name="Text Box 4"/>
          <p:cNvSpPr txBox="1"/>
          <p:nvPr/>
        </p:nvSpPr>
        <p:spPr>
          <a:xfrm>
            <a:off x="990600" y="1143000"/>
            <a:ext cx="3886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augmentation</a:t>
            </a:r>
            <a:r>
              <a:rPr lang="en-US" altLang="zh-CN" sz="2400" b="1" dirty="0">
                <a:latin typeface="Times New Roman" panose="02020603050405020304" pitchFamily="18" charset="0"/>
              </a:rPr>
              <a:t> *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find a path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1749" name="Text Box 5"/>
          <p:cNvSpPr txBox="1"/>
          <p:nvPr/>
        </p:nvSpPr>
        <p:spPr>
          <a:xfrm>
            <a:off x="1295400" y="1600200"/>
            <a:ext cx="2895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=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 ) *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 ·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| )</a:t>
            </a:r>
          </a:p>
        </p:txBody>
      </p:sp>
      <p:sp>
        <p:nvSpPr>
          <p:cNvPr id="31750" name="Text Box 6"/>
          <p:cNvSpPr txBox="1"/>
          <p:nvPr/>
        </p:nvSpPr>
        <p:spPr>
          <a:xfrm>
            <a:off x="1295400" y="2057400"/>
            <a:ext cx="20574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= O(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000" b="1" dirty="0">
                <a:latin typeface="Times New Roman" panose="02020603050405020304" pitchFamily="18" charset="0"/>
              </a:rPr>
              <a:t>|</a:t>
            </a:r>
            <a:r>
              <a:rPr lang="en-US" altLang="zh-CN" sz="20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</a:rPr>
              <a:t> |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| )</a:t>
            </a:r>
          </a:p>
        </p:txBody>
      </p:sp>
      <p:sp>
        <p:nvSpPr>
          <p:cNvPr id="31751" name="Text Box 7"/>
          <p:cNvSpPr txBox="1"/>
          <p:nvPr/>
        </p:nvSpPr>
        <p:spPr>
          <a:xfrm>
            <a:off x="3962400" y="1614488"/>
            <a:ext cx="4724400" cy="3667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009900"/>
                </a:solidFill>
                <a:latin typeface="Arial" panose="020B0604020202020204" pitchFamily="34" charset="0"/>
              </a:rPr>
              <a:t>/* unweighted shortest path algorithm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1748" grpId="0"/>
      <p:bldP spid="31749" grpId="0"/>
      <p:bldP spid="31750" grpId="0"/>
      <p:bldP spid="317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2590800"/>
            <a:ext cx="6032500" cy="10033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Application of DFS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086600" cy="1260475"/>
          </a:xfrm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Connected components of undirected graphs (I)</a:t>
            </a:r>
          </a:p>
        </p:txBody>
      </p:sp>
      <p:sp>
        <p:nvSpPr>
          <p:cNvPr id="28675" name="Oval 6"/>
          <p:cNvSpPr/>
          <p:nvPr/>
        </p:nvSpPr>
        <p:spPr>
          <a:xfrm>
            <a:off x="1219200" y="24384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8676" name="Oval 7"/>
          <p:cNvSpPr/>
          <p:nvPr/>
        </p:nvSpPr>
        <p:spPr>
          <a:xfrm>
            <a:off x="304800" y="3276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8677" name="Line 8"/>
          <p:cNvSpPr/>
          <p:nvPr/>
        </p:nvSpPr>
        <p:spPr>
          <a:xfrm flipH="1">
            <a:off x="533400" y="2782888"/>
            <a:ext cx="795338" cy="4937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78" name="Oval 9"/>
          <p:cNvSpPr/>
          <p:nvPr/>
        </p:nvSpPr>
        <p:spPr>
          <a:xfrm flipH="1">
            <a:off x="1219200" y="42672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679" name="Oval 11"/>
          <p:cNvSpPr/>
          <p:nvPr/>
        </p:nvSpPr>
        <p:spPr>
          <a:xfrm flipH="1">
            <a:off x="2057400" y="3276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80" name="Line 12"/>
          <p:cNvSpPr/>
          <p:nvPr/>
        </p:nvSpPr>
        <p:spPr>
          <a:xfrm>
            <a:off x="1490663" y="2782888"/>
            <a:ext cx="719137" cy="4937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81" name="Oval 13"/>
          <p:cNvSpPr/>
          <p:nvPr/>
        </p:nvSpPr>
        <p:spPr>
          <a:xfrm>
            <a:off x="1219200" y="3276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22" name="Rectangle 30"/>
          <p:cNvSpPr/>
          <p:nvPr/>
        </p:nvSpPr>
        <p:spPr>
          <a:xfrm>
            <a:off x="838200" y="1981200"/>
            <a:ext cx="1219200" cy="3810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DFS ( 0 )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8227" name="AutoShape 35"/>
          <p:cNvSpPr/>
          <p:nvPr/>
        </p:nvSpPr>
        <p:spPr>
          <a:xfrm>
            <a:off x="1371600" y="5332413"/>
            <a:ext cx="6400800" cy="1408112"/>
          </a:xfrm>
          <a:prstGeom prst="foldedCorner">
            <a:avLst>
              <a:gd name="adj" fmla="val 7787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  <a:tileRect/>
          </a:gra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126000" tIns="8280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400" b="1" dirty="0">
                <a:latin typeface="Arial" panose="020B0604020202020204" pitchFamily="34" charset="0"/>
              </a:rPr>
              <a:t> DFS ( Vertex V )  </a:t>
            </a:r>
            <a:r>
              <a:rPr lang="en-US" altLang="zh-CN" sz="1400" b="1" dirty="0">
                <a:solidFill>
                  <a:srgbClr val="009900"/>
                </a:solidFill>
                <a:latin typeface="Arial" panose="020B0604020202020204" pitchFamily="34" charset="0"/>
              </a:rPr>
              <a:t>/* this is only a template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latin typeface="Arial" panose="020B0604020202020204" pitchFamily="34" charset="0"/>
              </a:rPr>
              <a:t>{   visited[ V ] = true;  </a:t>
            </a:r>
            <a:r>
              <a:rPr lang="en-US" altLang="zh-CN" sz="1400" b="1" dirty="0">
                <a:solidFill>
                  <a:srgbClr val="009900"/>
                </a:solidFill>
                <a:latin typeface="Arial" panose="020B0604020202020204" pitchFamily="34" charset="0"/>
              </a:rPr>
              <a:t>/* mark this vertex to avoid cycles */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latin typeface="Arial" panose="020B0604020202020204" pitchFamily="34" charset="0"/>
              </a:rPr>
              <a:t>    </a:t>
            </a:r>
            <a:r>
              <a:rPr lang="en-US" altLang="zh-CN" sz="1400" b="1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400" b="1" dirty="0">
                <a:latin typeface="Arial" panose="020B0604020202020204" pitchFamily="34" charset="0"/>
              </a:rPr>
              <a:t> ( each W adjacent to V 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latin typeface="Arial" panose="020B0604020202020204" pitchFamily="34" charset="0"/>
              </a:rPr>
              <a:t>        </a:t>
            </a:r>
            <a:r>
              <a:rPr lang="en-US" altLang="zh-CN" sz="1400" b="1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400" b="1" dirty="0">
                <a:latin typeface="Arial" panose="020B0604020202020204" pitchFamily="34" charset="0"/>
              </a:rPr>
              <a:t> ( !visited[ W ] )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latin typeface="Arial" panose="020B0604020202020204" pitchFamily="34" charset="0"/>
              </a:rPr>
              <a:t>	DFS( W );</a:t>
            </a: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4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28684" name="Line 36"/>
          <p:cNvSpPr/>
          <p:nvPr/>
        </p:nvSpPr>
        <p:spPr>
          <a:xfrm>
            <a:off x="685800" y="3505200"/>
            <a:ext cx="533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85" name="Line 37"/>
          <p:cNvSpPr/>
          <p:nvPr/>
        </p:nvSpPr>
        <p:spPr>
          <a:xfrm>
            <a:off x="457200" y="3657600"/>
            <a:ext cx="762000" cy="685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38"/>
          <p:cNvSpPr/>
          <p:nvPr/>
        </p:nvSpPr>
        <p:spPr>
          <a:xfrm flipV="1">
            <a:off x="1600200" y="3657600"/>
            <a:ext cx="609600" cy="762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39"/>
          <p:cNvSpPr/>
          <p:nvPr/>
        </p:nvSpPr>
        <p:spPr>
          <a:xfrm>
            <a:off x="1416050" y="2819400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40"/>
          <p:cNvSpPr/>
          <p:nvPr/>
        </p:nvSpPr>
        <p:spPr>
          <a:xfrm>
            <a:off x="1404938" y="3657600"/>
            <a:ext cx="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33" name="Oval 41"/>
          <p:cNvSpPr/>
          <p:nvPr/>
        </p:nvSpPr>
        <p:spPr>
          <a:xfrm>
            <a:off x="1219200" y="2438400"/>
            <a:ext cx="381000" cy="381000"/>
          </a:xfrm>
          <a:prstGeom prst="ellipse">
            <a:avLst/>
          </a:prstGeom>
          <a:solidFill>
            <a:srgbClr val="00FF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34" name="Oval 42"/>
          <p:cNvSpPr/>
          <p:nvPr/>
        </p:nvSpPr>
        <p:spPr>
          <a:xfrm>
            <a:off x="304800" y="3276600"/>
            <a:ext cx="381000" cy="381000"/>
          </a:xfrm>
          <a:prstGeom prst="ellipse">
            <a:avLst/>
          </a:prstGeom>
          <a:solidFill>
            <a:srgbClr val="00FF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35" name="Oval 43"/>
          <p:cNvSpPr/>
          <p:nvPr/>
        </p:nvSpPr>
        <p:spPr>
          <a:xfrm>
            <a:off x="1219200" y="4267200"/>
            <a:ext cx="381000" cy="381000"/>
          </a:xfrm>
          <a:prstGeom prst="ellipse">
            <a:avLst/>
          </a:prstGeom>
          <a:solidFill>
            <a:srgbClr val="00FF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36" name="Oval 44"/>
          <p:cNvSpPr/>
          <p:nvPr/>
        </p:nvSpPr>
        <p:spPr>
          <a:xfrm>
            <a:off x="2057400" y="3276600"/>
            <a:ext cx="381000" cy="381000"/>
          </a:xfrm>
          <a:prstGeom prst="ellipse">
            <a:avLst/>
          </a:prstGeom>
          <a:solidFill>
            <a:srgbClr val="00FF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37" name="Oval 45"/>
          <p:cNvSpPr/>
          <p:nvPr/>
        </p:nvSpPr>
        <p:spPr>
          <a:xfrm>
            <a:off x="1219200" y="3276600"/>
            <a:ext cx="381000" cy="381000"/>
          </a:xfrm>
          <a:prstGeom prst="ellipse">
            <a:avLst/>
          </a:prstGeom>
          <a:solidFill>
            <a:srgbClr val="00FF00">
              <a:alpha val="50195"/>
            </a:srgbClr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89" name="Oval 57"/>
          <p:cNvSpPr/>
          <p:nvPr/>
        </p:nvSpPr>
        <p:spPr>
          <a:xfrm>
            <a:off x="5214938" y="2097088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5390" name="Oval 58"/>
          <p:cNvSpPr/>
          <p:nvPr/>
        </p:nvSpPr>
        <p:spPr>
          <a:xfrm>
            <a:off x="4833938" y="2782888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391" name="Oval 60"/>
          <p:cNvSpPr/>
          <p:nvPr/>
        </p:nvSpPr>
        <p:spPr>
          <a:xfrm>
            <a:off x="4495800" y="35052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92" name="Oval 62"/>
          <p:cNvSpPr/>
          <p:nvPr/>
        </p:nvSpPr>
        <p:spPr>
          <a:xfrm>
            <a:off x="4114800" y="42672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393" name="Oval 64"/>
          <p:cNvSpPr/>
          <p:nvPr/>
        </p:nvSpPr>
        <p:spPr>
          <a:xfrm>
            <a:off x="4953000" y="423545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5394" name="Line 67"/>
          <p:cNvSpPr/>
          <p:nvPr/>
        </p:nvSpPr>
        <p:spPr>
          <a:xfrm flipH="1">
            <a:off x="5105400" y="2438400"/>
            <a:ext cx="230188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5" name="Line 68"/>
          <p:cNvSpPr/>
          <p:nvPr/>
        </p:nvSpPr>
        <p:spPr>
          <a:xfrm flipH="1">
            <a:off x="4713288" y="3146425"/>
            <a:ext cx="230187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6" name="Line 69"/>
          <p:cNvSpPr/>
          <p:nvPr/>
        </p:nvSpPr>
        <p:spPr>
          <a:xfrm flipH="1">
            <a:off x="4343400" y="3886200"/>
            <a:ext cx="230188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7" name="Line 70"/>
          <p:cNvSpPr/>
          <p:nvPr/>
        </p:nvSpPr>
        <p:spPr>
          <a:xfrm>
            <a:off x="4800600" y="3886200"/>
            <a:ext cx="30480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8703" name="AutoShape 72"/>
          <p:cNvCxnSpPr>
            <a:stCxn id="15392" idx="1"/>
            <a:endCxn id="15390" idx="2"/>
          </p:cNvCxnSpPr>
          <p:nvPr/>
        </p:nvCxnSpPr>
        <p:spPr>
          <a:xfrm rot="-5400000">
            <a:off x="3827463" y="3316288"/>
            <a:ext cx="1336675" cy="650875"/>
          </a:xfrm>
          <a:prstGeom prst="curvedConnector2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28704" name="AutoShape 73"/>
          <p:cNvCxnSpPr>
            <a:stCxn id="15392" idx="1"/>
            <a:endCxn id="15389" idx="2"/>
          </p:cNvCxnSpPr>
          <p:nvPr/>
        </p:nvCxnSpPr>
        <p:spPr>
          <a:xfrm rot="-5400000">
            <a:off x="3675063" y="2782888"/>
            <a:ext cx="2022475" cy="1031875"/>
          </a:xfrm>
          <a:prstGeom prst="curvedConnector2">
            <a:avLst/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8266" name="AutoShape 74"/>
          <p:cNvCxnSpPr/>
          <p:nvPr/>
        </p:nvCxnSpPr>
        <p:spPr>
          <a:xfrm rot="-5400000">
            <a:off x="4467225" y="3228975"/>
            <a:ext cx="1843088" cy="261938"/>
          </a:xfrm>
          <a:prstGeom prst="curvedConnector3">
            <a:avLst>
              <a:gd name="adj1" fmla="val 2236"/>
            </a:avLst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268" name="Oval 76"/>
          <p:cNvSpPr/>
          <p:nvPr/>
        </p:nvSpPr>
        <p:spPr>
          <a:xfrm>
            <a:off x="6096000" y="1752600"/>
            <a:ext cx="2514600" cy="251460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BDBDB"/>
              </a:gs>
            </a:gsLst>
            <a:path path="shape">
              <a:fillToRect l="50000" t="50000" r="50000" b="50000"/>
            </a:path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tx2"/>
                </a:solidFill>
              </a:rPr>
              <a:t>Back edges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::= 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)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zh-CN" sz="1800" b="1" dirty="0">
                <a:sym typeface="Symbol" panose="05050102010706020507" pitchFamily="18" charset="2"/>
              </a:rPr>
              <a:t>tree</a:t>
            </a:r>
            <a:endParaRPr lang="en-US" altLang="zh-CN" sz="1800" b="1" dirty="0"/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1800" b="1" dirty="0"/>
              <a:t>and </a:t>
            </a:r>
            <a:r>
              <a:rPr lang="en-US" altLang="zh-CN" sz="2000" b="1" dirty="0"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) </a:t>
            </a:r>
            <a:r>
              <a:rPr lang="en-US" altLang="zh-CN" sz="1800" b="1" dirty="0">
                <a:sym typeface="Symbol" panose="05050102010706020507" pitchFamily="18" charset="2"/>
              </a:rPr>
              <a:t>Graph</a:t>
            </a:r>
          </a:p>
        </p:txBody>
      </p:sp>
      <p:sp>
        <p:nvSpPr>
          <p:cNvPr id="8270" name="Line 78"/>
          <p:cNvSpPr/>
          <p:nvPr/>
        </p:nvSpPr>
        <p:spPr>
          <a:xfrm flipH="1">
            <a:off x="4343400" y="2819400"/>
            <a:ext cx="1752600" cy="6096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arrow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71" name="Line 79"/>
          <p:cNvSpPr/>
          <p:nvPr/>
        </p:nvSpPr>
        <p:spPr>
          <a:xfrm flipH="1">
            <a:off x="5486400" y="3124200"/>
            <a:ext cx="609600" cy="25400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arrow" w="sm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2" grpId="0"/>
      <p:bldP spid="8227" grpId="0" animBg="1"/>
      <p:bldP spid="8233" grpId="0" animBg="1"/>
      <p:bldP spid="8234" grpId="0" animBg="1"/>
      <p:bldP spid="8235" grpId="0" animBg="1"/>
      <p:bldP spid="8236" grpId="0" animBg="1"/>
      <p:bldP spid="8237" grpId="0" animBg="1"/>
      <p:bldP spid="15389" grpId="0" animBg="1"/>
      <p:bldP spid="15390" grpId="0" animBg="1"/>
      <p:bldP spid="15391" grpId="0" animBg="1"/>
      <p:bldP spid="15392" grpId="0" animBg="1"/>
      <p:bldP spid="15393" grpId="0" animBg="1"/>
      <p:bldP spid="82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r>
              <a:rPr lang="en-US" altLang="zh-CN" sz="1800" dirty="0"/>
              <a:t>If the graph is not connected, processing all nodes requires several calls to Dfs, and each generates a tree. This entire collection is a depth-first spanning forest.</a:t>
            </a:r>
            <a:endParaRPr lang="zh-CN" altLang="en-US" sz="1800" dirty="0"/>
          </a:p>
        </p:txBody>
      </p:sp>
      <p:sp>
        <p:nvSpPr>
          <p:cNvPr id="29699" name="Rectangle 2"/>
          <p:cNvSpPr txBox="1"/>
          <p:nvPr/>
        </p:nvSpPr>
        <p:spPr>
          <a:xfrm>
            <a:off x="685800" y="263525"/>
            <a:ext cx="7086600" cy="12604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4400" dirty="0"/>
              <a:t>Connected components of undirected graphs (II)</a:t>
            </a:r>
          </a:p>
        </p:txBody>
      </p:sp>
      <p:pic>
        <p:nvPicPr>
          <p:cNvPr id="2970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819400"/>
            <a:ext cx="3333750" cy="3173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447800" y="6172200"/>
            <a:ext cx="6019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Comic Sans MS" panose="030F0702030302020204" pitchFamily="66" charset="0"/>
              </a:rPr>
              <a:t>A L M J B F C       D E      G K H I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219200"/>
          </a:xfrm>
          <a:ln/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Biconnectivity</a:t>
            </a:r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Biconnected undirected graph</a:t>
            </a:r>
            <a:r>
              <a:rPr lang="en-US" altLang="zh-CN" dirty="0"/>
              <a:t>: there are no vertices whose removal disconnects the rest of the graph.</a:t>
            </a:r>
          </a:p>
        </p:txBody>
      </p:sp>
      <p:sp>
        <p:nvSpPr>
          <p:cNvPr id="9222" name="Oval 6"/>
          <p:cNvSpPr/>
          <p:nvPr/>
        </p:nvSpPr>
        <p:spPr>
          <a:xfrm>
            <a:off x="5010150" y="35814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9223" name="Oval 7"/>
          <p:cNvSpPr/>
          <p:nvPr/>
        </p:nvSpPr>
        <p:spPr>
          <a:xfrm>
            <a:off x="5010150" y="423545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224" name="Line 8"/>
          <p:cNvSpPr/>
          <p:nvPr/>
        </p:nvSpPr>
        <p:spPr>
          <a:xfrm>
            <a:off x="5229225" y="3954463"/>
            <a:ext cx="0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5" name="Oval 9"/>
          <p:cNvSpPr/>
          <p:nvPr/>
        </p:nvSpPr>
        <p:spPr>
          <a:xfrm>
            <a:off x="4572000" y="48895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226" name="Line 10"/>
          <p:cNvSpPr/>
          <p:nvPr/>
        </p:nvSpPr>
        <p:spPr>
          <a:xfrm flipH="1">
            <a:off x="4900613" y="460851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7" name="Oval 11"/>
          <p:cNvSpPr/>
          <p:nvPr/>
        </p:nvSpPr>
        <p:spPr>
          <a:xfrm flipH="1">
            <a:off x="5448300" y="48895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228" name="Line 12"/>
          <p:cNvSpPr/>
          <p:nvPr/>
        </p:nvSpPr>
        <p:spPr>
          <a:xfrm>
            <a:off x="5338763" y="460851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29" name="Oval 13"/>
          <p:cNvSpPr/>
          <p:nvPr/>
        </p:nvSpPr>
        <p:spPr>
          <a:xfrm>
            <a:off x="5010150" y="554355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230" name="Line 14"/>
          <p:cNvSpPr/>
          <p:nvPr/>
        </p:nvSpPr>
        <p:spPr>
          <a:xfrm flipH="1" flipV="1">
            <a:off x="4900613" y="526256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1" name="Line 15"/>
          <p:cNvSpPr/>
          <p:nvPr/>
        </p:nvSpPr>
        <p:spPr>
          <a:xfrm flipV="1">
            <a:off x="5338763" y="526256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2" name="Oval 16"/>
          <p:cNvSpPr/>
          <p:nvPr/>
        </p:nvSpPr>
        <p:spPr>
          <a:xfrm>
            <a:off x="6762750" y="35814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9233" name="Oval 17"/>
          <p:cNvSpPr/>
          <p:nvPr/>
        </p:nvSpPr>
        <p:spPr>
          <a:xfrm>
            <a:off x="6762750" y="423545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234" name="Line 18"/>
          <p:cNvSpPr/>
          <p:nvPr/>
        </p:nvSpPr>
        <p:spPr>
          <a:xfrm>
            <a:off x="6981825" y="3954463"/>
            <a:ext cx="0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5" name="Oval 19"/>
          <p:cNvSpPr/>
          <p:nvPr/>
        </p:nvSpPr>
        <p:spPr>
          <a:xfrm>
            <a:off x="6324600" y="48895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9236" name="Line 20"/>
          <p:cNvSpPr/>
          <p:nvPr/>
        </p:nvSpPr>
        <p:spPr>
          <a:xfrm flipH="1">
            <a:off x="6653213" y="460851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7" name="Line 21"/>
          <p:cNvSpPr/>
          <p:nvPr/>
        </p:nvSpPr>
        <p:spPr>
          <a:xfrm>
            <a:off x="5886450" y="5075238"/>
            <a:ext cx="43815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38" name="Oval 22"/>
          <p:cNvSpPr/>
          <p:nvPr/>
        </p:nvSpPr>
        <p:spPr>
          <a:xfrm>
            <a:off x="6762750" y="554355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9239" name="Line 23"/>
          <p:cNvSpPr/>
          <p:nvPr/>
        </p:nvSpPr>
        <p:spPr>
          <a:xfrm flipH="1" flipV="1">
            <a:off x="6653213" y="5262563"/>
            <a:ext cx="219075" cy="2809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40" name="Line 24"/>
          <p:cNvSpPr/>
          <p:nvPr/>
        </p:nvSpPr>
        <p:spPr>
          <a:xfrm>
            <a:off x="6981825" y="4608513"/>
            <a:ext cx="0" cy="9350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41" name="Oval 25"/>
          <p:cNvSpPr/>
          <p:nvPr/>
        </p:nvSpPr>
        <p:spPr>
          <a:xfrm>
            <a:off x="7639050" y="3581400"/>
            <a:ext cx="438150" cy="37306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242" name="Line 26"/>
          <p:cNvSpPr/>
          <p:nvPr/>
        </p:nvSpPr>
        <p:spPr>
          <a:xfrm flipH="1">
            <a:off x="7148513" y="3906838"/>
            <a:ext cx="547687" cy="4413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44" name="Oval 28"/>
          <p:cNvSpPr/>
          <p:nvPr/>
        </p:nvSpPr>
        <p:spPr>
          <a:xfrm>
            <a:off x="2286000" y="35814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9245" name="Oval 29"/>
          <p:cNvSpPr/>
          <p:nvPr/>
        </p:nvSpPr>
        <p:spPr>
          <a:xfrm>
            <a:off x="1371600" y="4419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9246" name="Line 30"/>
          <p:cNvSpPr/>
          <p:nvPr/>
        </p:nvSpPr>
        <p:spPr>
          <a:xfrm flipH="1">
            <a:off x="1600200" y="3925888"/>
            <a:ext cx="795338" cy="4937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47" name="Oval 31"/>
          <p:cNvSpPr/>
          <p:nvPr/>
        </p:nvSpPr>
        <p:spPr>
          <a:xfrm flipH="1">
            <a:off x="2286000" y="54102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9248" name="Oval 32"/>
          <p:cNvSpPr/>
          <p:nvPr/>
        </p:nvSpPr>
        <p:spPr>
          <a:xfrm flipH="1">
            <a:off x="3124200" y="4419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9249" name="Line 33"/>
          <p:cNvSpPr/>
          <p:nvPr/>
        </p:nvSpPr>
        <p:spPr>
          <a:xfrm>
            <a:off x="2557463" y="3925888"/>
            <a:ext cx="719137" cy="4937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50" name="Oval 34"/>
          <p:cNvSpPr/>
          <p:nvPr/>
        </p:nvSpPr>
        <p:spPr>
          <a:xfrm>
            <a:off x="2286000" y="4419600"/>
            <a:ext cx="381000" cy="381000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9251" name="Line 35"/>
          <p:cNvSpPr/>
          <p:nvPr/>
        </p:nvSpPr>
        <p:spPr>
          <a:xfrm>
            <a:off x="1752600" y="4648200"/>
            <a:ext cx="533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52" name="Line 36"/>
          <p:cNvSpPr/>
          <p:nvPr/>
        </p:nvSpPr>
        <p:spPr>
          <a:xfrm>
            <a:off x="1524000" y="4800600"/>
            <a:ext cx="762000" cy="685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53" name="Line 37"/>
          <p:cNvSpPr/>
          <p:nvPr/>
        </p:nvSpPr>
        <p:spPr>
          <a:xfrm flipV="1">
            <a:off x="2667000" y="4800600"/>
            <a:ext cx="609600" cy="762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54" name="Line 38"/>
          <p:cNvSpPr/>
          <p:nvPr/>
        </p:nvSpPr>
        <p:spPr>
          <a:xfrm>
            <a:off x="2482850" y="3962400"/>
            <a:ext cx="0" cy="457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55" name="Line 39"/>
          <p:cNvSpPr/>
          <p:nvPr/>
        </p:nvSpPr>
        <p:spPr>
          <a:xfrm>
            <a:off x="2471738" y="4800600"/>
            <a:ext cx="0" cy="6096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3"/>
          <p:cNvGrpSpPr/>
          <p:nvPr/>
        </p:nvGrpSpPr>
        <p:grpSpPr>
          <a:xfrm>
            <a:off x="4572000" y="5257800"/>
            <a:ext cx="4114800" cy="1381125"/>
            <a:chOff x="2880" y="3312"/>
            <a:chExt cx="2592" cy="870"/>
          </a:xfrm>
        </p:grpSpPr>
        <p:sp>
          <p:nvSpPr>
            <p:cNvPr id="30758" name="Text Box 50"/>
            <p:cNvSpPr txBox="1"/>
            <p:nvPr/>
          </p:nvSpPr>
          <p:spPr>
            <a:xfrm>
              <a:off x="2880" y="3916"/>
              <a:ext cx="2592" cy="266"/>
            </a:xfrm>
            <a:prstGeom prst="rect">
              <a:avLst/>
            </a:prstGeom>
            <a:noFill/>
            <a:ln w="254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lg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</a:rPr>
                <a:t>Articulation (</a:t>
              </a:r>
              <a:r>
                <a:rPr lang="zh-CN" altLang="en-US" sz="2000" b="1" dirty="0">
                  <a:solidFill>
                    <a:schemeClr val="hlink"/>
                  </a:solidFill>
                </a:rPr>
                <a:t>关节，枢纽）</a:t>
              </a:r>
              <a:r>
                <a:rPr lang="en-US" altLang="zh-CN" sz="2000" b="1" dirty="0">
                  <a:solidFill>
                    <a:schemeClr val="hlink"/>
                  </a:solidFill>
                </a:rPr>
                <a:t>points</a:t>
              </a:r>
            </a:p>
          </p:txBody>
        </p:sp>
        <p:sp>
          <p:nvSpPr>
            <p:cNvPr id="30759" name="Line 51"/>
            <p:cNvSpPr/>
            <p:nvPr/>
          </p:nvSpPr>
          <p:spPr>
            <a:xfrm flipH="1" flipV="1">
              <a:off x="3600" y="3360"/>
              <a:ext cx="240" cy="528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52"/>
            <p:cNvSpPr/>
            <p:nvPr/>
          </p:nvSpPr>
          <p:spPr>
            <a:xfrm flipV="1">
              <a:off x="3840" y="3312"/>
              <a:ext cx="240" cy="576"/>
            </a:xfrm>
            <a:prstGeom prst="line">
              <a:avLst/>
            </a:prstGeom>
            <a:ln w="25400" cap="flat" cmpd="sng">
              <a:solidFill>
                <a:schemeClr val="hlink"/>
              </a:solidFill>
              <a:prstDash val="solid"/>
              <a:headEnd type="none" w="med" len="med"/>
              <a:tailEnd type="triangl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9223" grpId="0" animBg="1"/>
      <p:bldP spid="9225" grpId="0" animBg="1"/>
      <p:bldP spid="9227" grpId="0" animBg="1"/>
      <p:bldP spid="9227" grpId="1" animBg="1"/>
      <p:bldP spid="9227" grpId="2" animBg="1"/>
      <p:bldP spid="9229" grpId="0" animBg="1"/>
      <p:bldP spid="9232" grpId="0" animBg="1"/>
      <p:bldP spid="9233" grpId="0" animBg="1"/>
      <p:bldP spid="9233" grpId="1" animBg="1"/>
      <p:bldP spid="9235" grpId="0" animBg="1"/>
      <p:bldP spid="9235" grpId="1" animBg="1"/>
      <p:bldP spid="9235" grpId="2" animBg="1"/>
      <p:bldP spid="9238" grpId="0" animBg="1"/>
      <p:bldP spid="9241" grpId="0" animBg="1"/>
      <p:bldP spid="9244" grpId="0" animBg="1"/>
      <p:bldP spid="9244" grpId="1" animBg="1"/>
      <p:bldP spid="9244" grpId="2" animBg="1"/>
      <p:bldP spid="9245" grpId="0" animBg="1"/>
      <p:bldP spid="9247" grpId="0" animBg="1"/>
      <p:bldP spid="9248" grpId="0" animBg="1"/>
      <p:bldP spid="9248" grpId="1" animBg="1"/>
      <p:bldP spid="9248" grpId="2" animBg="1"/>
      <p:bldP spid="92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2819400" y="1371600"/>
            <a:ext cx="2514600" cy="2286000"/>
            <a:chOff x="1728" y="1248"/>
            <a:chExt cx="1584" cy="1440"/>
          </a:xfrm>
        </p:grpSpPr>
        <p:sp>
          <p:nvSpPr>
            <p:cNvPr id="31830" name="Rectangle 5"/>
            <p:cNvSpPr/>
            <p:nvPr/>
          </p:nvSpPr>
          <p:spPr>
            <a:xfrm>
              <a:off x="2304" y="1776"/>
              <a:ext cx="432" cy="4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8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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1" name="Rectangle 6"/>
            <p:cNvSpPr/>
            <p:nvPr/>
          </p:nvSpPr>
          <p:spPr>
            <a:xfrm>
              <a:off x="1728" y="2256"/>
              <a:ext cx="432" cy="4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8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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2" name="Rectangle 7"/>
            <p:cNvSpPr/>
            <p:nvPr/>
          </p:nvSpPr>
          <p:spPr>
            <a:xfrm>
              <a:off x="2880" y="2256"/>
              <a:ext cx="432" cy="4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8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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3" name="Rectangle 8"/>
            <p:cNvSpPr/>
            <p:nvPr/>
          </p:nvSpPr>
          <p:spPr>
            <a:xfrm>
              <a:off x="1728" y="1248"/>
              <a:ext cx="432" cy="4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8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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4" name="Rectangle 9"/>
            <p:cNvSpPr/>
            <p:nvPr/>
          </p:nvSpPr>
          <p:spPr>
            <a:xfrm>
              <a:off x="2880" y="1248"/>
              <a:ext cx="432" cy="43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4800" dirty="0">
                  <a:latin typeface="Times New Roman" panose="02020603050405020304" pitchFamily="18" charset="0"/>
                  <a:sym typeface="Wingdings" panose="05000000000000000000" pitchFamily="2" charset="2"/>
                </a:rPr>
                <a:t>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835" name="Line 10"/>
            <p:cNvSpPr/>
            <p:nvPr/>
          </p:nvSpPr>
          <p:spPr>
            <a:xfrm>
              <a:off x="2064" y="1584"/>
              <a:ext cx="336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6" name="Line 11"/>
            <p:cNvSpPr/>
            <p:nvPr/>
          </p:nvSpPr>
          <p:spPr>
            <a:xfrm flipH="1">
              <a:off x="2640" y="1584"/>
              <a:ext cx="288" cy="3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7" name="Line 12"/>
            <p:cNvSpPr/>
            <p:nvPr/>
          </p:nvSpPr>
          <p:spPr>
            <a:xfrm flipV="1">
              <a:off x="2064" y="2112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8" name="Line 13"/>
            <p:cNvSpPr/>
            <p:nvPr/>
          </p:nvSpPr>
          <p:spPr>
            <a:xfrm>
              <a:off x="2640" y="2112"/>
              <a:ext cx="336" cy="38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4" name="Rectangle 14"/>
          <p:cNvSpPr/>
          <p:nvPr/>
        </p:nvSpPr>
        <p:spPr>
          <a:xfrm>
            <a:off x="3886200" y="2362200"/>
            <a:ext cx="381000" cy="228600"/>
          </a:xfrm>
          <a:prstGeom prst="rect">
            <a:avLst/>
          </a:prstGeom>
          <a:solidFill>
            <a:srgbClr val="FF0000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55" name="Rectangle 15"/>
          <p:cNvSpPr/>
          <p:nvPr/>
        </p:nvSpPr>
        <p:spPr>
          <a:xfrm>
            <a:off x="2971800" y="1524000"/>
            <a:ext cx="381000" cy="2286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56" name="Rectangle 16"/>
          <p:cNvSpPr/>
          <p:nvPr/>
        </p:nvSpPr>
        <p:spPr>
          <a:xfrm>
            <a:off x="4800600" y="1524000"/>
            <a:ext cx="381000" cy="2286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57" name="Rectangle 17"/>
          <p:cNvSpPr/>
          <p:nvPr/>
        </p:nvSpPr>
        <p:spPr>
          <a:xfrm>
            <a:off x="2971800" y="3124200"/>
            <a:ext cx="381000" cy="2286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58" name="Rectangle 18"/>
          <p:cNvSpPr/>
          <p:nvPr/>
        </p:nvSpPr>
        <p:spPr>
          <a:xfrm>
            <a:off x="4800600" y="3124200"/>
            <a:ext cx="381000" cy="228600"/>
          </a:xfrm>
          <a:prstGeom prst="rect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59" name="AutoShape 19"/>
          <p:cNvSpPr/>
          <p:nvPr/>
        </p:nvSpPr>
        <p:spPr>
          <a:xfrm>
            <a:off x="4724400" y="1981200"/>
            <a:ext cx="1905000" cy="990600"/>
          </a:xfrm>
          <a:prstGeom prst="wedgeEllipseCallout">
            <a:avLst>
              <a:gd name="adj1" fmla="val -71250"/>
              <a:gd name="adj2" fmla="val 12181"/>
            </a:avLst>
          </a:prstGeom>
          <a:gradFill rotWithShape="0">
            <a:gsLst>
              <a:gs pos="0">
                <a:srgbClr val="D5D5D5"/>
              </a:gs>
              <a:gs pos="100000">
                <a:srgbClr val="FFFFFF"/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Articulation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point</a:t>
            </a:r>
          </a:p>
        </p:txBody>
      </p:sp>
      <p:sp>
        <p:nvSpPr>
          <p:cNvPr id="10260" name="Line 20"/>
          <p:cNvSpPr/>
          <p:nvPr/>
        </p:nvSpPr>
        <p:spPr>
          <a:xfrm>
            <a:off x="3352800" y="1752600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61" name="Line 21"/>
          <p:cNvSpPr/>
          <p:nvPr/>
        </p:nvSpPr>
        <p:spPr>
          <a:xfrm>
            <a:off x="5029200" y="1905000"/>
            <a:ext cx="0" cy="1219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62" name="Line 22"/>
          <p:cNvSpPr/>
          <p:nvPr/>
        </p:nvSpPr>
        <p:spPr>
          <a:xfrm>
            <a:off x="3352800" y="3352800"/>
            <a:ext cx="1447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63" name="Line 23"/>
          <p:cNvSpPr/>
          <p:nvPr/>
        </p:nvSpPr>
        <p:spPr>
          <a:xfrm>
            <a:off x="3124200" y="1905000"/>
            <a:ext cx="0" cy="12192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64" name="Rectangle 24"/>
          <p:cNvSpPr/>
          <p:nvPr/>
        </p:nvSpPr>
        <p:spPr>
          <a:xfrm>
            <a:off x="2971800" y="1524000"/>
            <a:ext cx="381000" cy="228600"/>
          </a:xfrm>
          <a:prstGeom prst="rect">
            <a:avLst/>
          </a:prstGeom>
          <a:solidFill>
            <a:srgbClr val="00FF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65" name="Rectangle 25"/>
          <p:cNvSpPr/>
          <p:nvPr/>
        </p:nvSpPr>
        <p:spPr>
          <a:xfrm>
            <a:off x="4800600" y="1524000"/>
            <a:ext cx="381000" cy="228600"/>
          </a:xfrm>
          <a:prstGeom prst="rect">
            <a:avLst/>
          </a:prstGeom>
          <a:solidFill>
            <a:srgbClr val="00FF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66" name="Rectangle 26"/>
          <p:cNvSpPr/>
          <p:nvPr/>
        </p:nvSpPr>
        <p:spPr>
          <a:xfrm>
            <a:off x="4800600" y="3124200"/>
            <a:ext cx="381000" cy="228600"/>
          </a:xfrm>
          <a:prstGeom prst="rect">
            <a:avLst/>
          </a:prstGeom>
          <a:solidFill>
            <a:srgbClr val="00FF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67" name="Rectangle 27"/>
          <p:cNvSpPr/>
          <p:nvPr/>
        </p:nvSpPr>
        <p:spPr>
          <a:xfrm>
            <a:off x="2971800" y="3124200"/>
            <a:ext cx="381000" cy="228600"/>
          </a:xfrm>
          <a:prstGeom prst="rect">
            <a:avLst/>
          </a:prstGeom>
          <a:solidFill>
            <a:srgbClr val="00FF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68" name="AutoShape 28"/>
          <p:cNvSpPr/>
          <p:nvPr/>
        </p:nvSpPr>
        <p:spPr>
          <a:xfrm flipH="1">
            <a:off x="1066800" y="1981200"/>
            <a:ext cx="1981200" cy="914400"/>
          </a:xfrm>
          <a:prstGeom prst="wedgeEllipseCallout">
            <a:avLst>
              <a:gd name="adj1" fmla="val -64505"/>
              <a:gd name="adj2" fmla="val 28991"/>
            </a:avLst>
          </a:prstGeom>
          <a:gradFill rotWithShape="0">
            <a:gsLst>
              <a:gs pos="0">
                <a:srgbClr val="FFFFFF"/>
              </a:gs>
              <a:gs pos="100000">
                <a:srgbClr val="C8C8C8"/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Biconnected</a:t>
            </a: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graph</a:t>
            </a:r>
          </a:p>
        </p:txBody>
      </p:sp>
      <p:sp>
        <p:nvSpPr>
          <p:cNvPr id="10269" name="Rectangle 29"/>
          <p:cNvSpPr/>
          <p:nvPr/>
        </p:nvSpPr>
        <p:spPr>
          <a:xfrm>
            <a:off x="2819400" y="1446213"/>
            <a:ext cx="2514600" cy="2133600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270" name="Text Box 30"/>
          <p:cNvSpPr txBox="1"/>
          <p:nvPr/>
        </p:nvSpPr>
        <p:spPr>
          <a:xfrm>
            <a:off x="609600" y="762000"/>
            <a:ext cx="8001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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000" b="1" i="1" dirty="0">
                <a:sym typeface="Wingdings" panose="05000000000000000000" pitchFamily="2" charset="2"/>
              </a:rPr>
              <a:t>v</a:t>
            </a:r>
            <a:r>
              <a:rPr lang="en-US" altLang="zh-CN" sz="2000" b="1" dirty="0">
                <a:sym typeface="Wingdings" panose="05000000000000000000" pitchFamily="2" charset="2"/>
              </a:rPr>
              <a:t> is an </a:t>
            </a:r>
            <a:r>
              <a:rPr lang="en-US" altLang="zh-CN" sz="2000" b="1" i="1" u="sng" dirty="0">
                <a:solidFill>
                  <a:srgbClr val="FF0000"/>
                </a:solidFill>
                <a:sym typeface="Wingdings" panose="05000000000000000000" pitchFamily="2" charset="2"/>
              </a:rPr>
              <a:t>articulation point </a:t>
            </a:r>
            <a:r>
              <a:rPr lang="en-US" altLang="zh-CN" sz="2000" b="1" dirty="0">
                <a:sym typeface="Wingdings" panose="05000000000000000000" pitchFamily="2" charset="2"/>
              </a:rPr>
              <a:t>if G’ = DeleteVertex( G, </a:t>
            </a:r>
            <a:r>
              <a:rPr lang="en-US" altLang="zh-CN" sz="2000" b="1" i="1" dirty="0">
                <a:sym typeface="Wingdings" panose="05000000000000000000" pitchFamily="2" charset="2"/>
              </a:rPr>
              <a:t>v</a:t>
            </a:r>
            <a:r>
              <a:rPr lang="en-US" altLang="zh-CN" sz="2000" b="1" dirty="0">
                <a:sym typeface="Wingdings" panose="05000000000000000000" pitchFamily="2" charset="2"/>
              </a:rPr>
              <a:t> ) has </a:t>
            </a:r>
            <a:r>
              <a:rPr lang="en-US" altLang="zh-CN" sz="2000" b="1" dirty="0">
                <a:solidFill>
                  <a:srgbClr val="00B050"/>
                </a:solidFill>
                <a:sym typeface="Wingdings" panose="05000000000000000000" pitchFamily="2" charset="2"/>
              </a:rPr>
              <a:t>at least 2 </a:t>
            </a:r>
            <a:r>
              <a:rPr lang="en-US" altLang="zh-CN" sz="2000" b="1" dirty="0">
                <a:sym typeface="Wingdings" panose="05000000000000000000" pitchFamily="2" charset="2"/>
              </a:rPr>
              <a:t>connected components.</a:t>
            </a:r>
            <a:endParaRPr lang="en-US" altLang="zh-CN" sz="2000" b="1" dirty="0"/>
          </a:p>
        </p:txBody>
      </p:sp>
      <p:sp>
        <p:nvSpPr>
          <p:cNvPr id="10271" name="Text Box 31"/>
          <p:cNvSpPr txBox="1"/>
          <p:nvPr/>
        </p:nvSpPr>
        <p:spPr>
          <a:xfrm>
            <a:off x="609600" y="1524000"/>
            <a:ext cx="8001000" cy="7016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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000" b="1" dirty="0">
                <a:sym typeface="Wingdings" panose="05000000000000000000" pitchFamily="2" charset="2"/>
              </a:rPr>
              <a:t>G is a </a:t>
            </a:r>
            <a:r>
              <a:rPr lang="en-US" altLang="zh-CN" sz="2000" b="1" i="1" u="sng" dirty="0">
                <a:solidFill>
                  <a:schemeClr val="tx2"/>
                </a:solidFill>
                <a:sym typeface="Wingdings" panose="05000000000000000000" pitchFamily="2" charset="2"/>
              </a:rPr>
              <a:t>biconnected graph </a:t>
            </a:r>
            <a:r>
              <a:rPr lang="en-US" altLang="zh-CN" sz="2000" b="1" dirty="0">
                <a:sym typeface="Wingdings" panose="05000000000000000000" pitchFamily="2" charset="2"/>
              </a:rPr>
              <a:t>if G is connected and has no articulation points.</a:t>
            </a:r>
            <a:endParaRPr lang="en-US" altLang="zh-CN" sz="2000" b="1" dirty="0"/>
          </a:p>
        </p:txBody>
      </p:sp>
      <p:sp>
        <p:nvSpPr>
          <p:cNvPr id="10272" name="Text Box 32"/>
          <p:cNvSpPr txBox="1"/>
          <p:nvPr/>
        </p:nvSpPr>
        <p:spPr>
          <a:xfrm>
            <a:off x="609600" y="2270125"/>
            <a:ext cx="8382000" cy="4000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</a:t>
            </a:r>
            <a:r>
              <a:rPr lang="en-US" altLang="zh-CN" sz="20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000" b="1" dirty="0">
                <a:sym typeface="Wingdings" panose="05000000000000000000" pitchFamily="2" charset="2"/>
              </a:rPr>
              <a:t>A </a:t>
            </a:r>
            <a:r>
              <a:rPr lang="en-US" altLang="zh-CN" sz="2000" b="1" i="1" u="sng" dirty="0">
                <a:solidFill>
                  <a:schemeClr val="tx2"/>
                </a:solidFill>
                <a:sym typeface="Wingdings" panose="05000000000000000000" pitchFamily="2" charset="2"/>
              </a:rPr>
              <a:t>biconnected component </a:t>
            </a:r>
            <a:r>
              <a:rPr lang="en-US" altLang="zh-CN" sz="2000" b="1" dirty="0">
                <a:sym typeface="Wingdings" panose="05000000000000000000" pitchFamily="2" charset="2"/>
              </a:rPr>
              <a:t>is a maximal biconnected subgraph.</a:t>
            </a:r>
            <a:endParaRPr lang="en-US" altLang="zh-CN" sz="2000" b="1" dirty="0"/>
          </a:p>
        </p:txBody>
      </p:sp>
      <p:sp>
        <p:nvSpPr>
          <p:cNvPr id="10273" name="Text Box 33"/>
          <p:cNvSpPr txBox="1"/>
          <p:nvPr/>
        </p:nvSpPr>
        <p:spPr>
          <a:xfrm>
            <a:off x="457200" y="28956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Example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endParaRPr lang="en-US" altLang="zh-CN" sz="2400" b="1" dirty="0"/>
          </a:p>
        </p:txBody>
      </p:sp>
      <p:grpSp>
        <p:nvGrpSpPr>
          <p:cNvPr id="3" name="Group 34"/>
          <p:cNvGrpSpPr/>
          <p:nvPr/>
        </p:nvGrpSpPr>
        <p:grpSpPr>
          <a:xfrm>
            <a:off x="457200" y="3581400"/>
            <a:ext cx="2438400" cy="2362200"/>
            <a:chOff x="720" y="2448"/>
            <a:chExt cx="1536" cy="1488"/>
          </a:xfrm>
        </p:grpSpPr>
        <p:grpSp>
          <p:nvGrpSpPr>
            <p:cNvPr id="31807" name="Group 35"/>
            <p:cNvGrpSpPr/>
            <p:nvPr/>
          </p:nvGrpSpPr>
          <p:grpSpPr>
            <a:xfrm>
              <a:off x="720" y="2448"/>
              <a:ext cx="1536" cy="1200"/>
              <a:chOff x="1056" y="1440"/>
              <a:chExt cx="1536" cy="1200"/>
            </a:xfrm>
          </p:grpSpPr>
          <p:sp>
            <p:nvSpPr>
              <p:cNvPr id="31809" name="Oval 36"/>
              <p:cNvSpPr/>
              <p:nvPr/>
            </p:nvSpPr>
            <p:spPr>
              <a:xfrm>
                <a:off x="1248" y="144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1810" name="Oval 37"/>
              <p:cNvSpPr/>
              <p:nvPr/>
            </p:nvSpPr>
            <p:spPr>
              <a:xfrm>
                <a:off x="1248" y="177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1811" name="Line 38"/>
              <p:cNvSpPr/>
              <p:nvPr/>
            </p:nvSpPr>
            <p:spPr>
              <a:xfrm>
                <a:off x="1344" y="1632"/>
                <a:ext cx="0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2" name="Oval 39"/>
              <p:cNvSpPr/>
              <p:nvPr/>
            </p:nvSpPr>
            <p:spPr>
              <a:xfrm>
                <a:off x="1056" y="211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1813" name="Line 40"/>
              <p:cNvSpPr/>
              <p:nvPr/>
            </p:nvSpPr>
            <p:spPr>
              <a:xfrm flipH="1">
                <a:off x="1200" y="1968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4" name="Oval 41"/>
              <p:cNvSpPr/>
              <p:nvPr/>
            </p:nvSpPr>
            <p:spPr>
              <a:xfrm flipH="1">
                <a:off x="1440" y="211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1815" name="Line 42"/>
              <p:cNvSpPr/>
              <p:nvPr/>
            </p:nvSpPr>
            <p:spPr>
              <a:xfrm>
                <a:off x="1392" y="1968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6" name="Oval 43"/>
              <p:cNvSpPr/>
              <p:nvPr/>
            </p:nvSpPr>
            <p:spPr>
              <a:xfrm>
                <a:off x="1248" y="244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1817" name="Line 44"/>
              <p:cNvSpPr/>
              <p:nvPr/>
            </p:nvSpPr>
            <p:spPr>
              <a:xfrm flipH="1" flipV="1">
                <a:off x="1200" y="230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8" name="Line 45"/>
              <p:cNvSpPr/>
              <p:nvPr/>
            </p:nvSpPr>
            <p:spPr>
              <a:xfrm flipV="1">
                <a:off x="1392" y="230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19" name="Oval 46"/>
              <p:cNvSpPr/>
              <p:nvPr/>
            </p:nvSpPr>
            <p:spPr>
              <a:xfrm>
                <a:off x="2016" y="144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31820" name="Oval 47"/>
              <p:cNvSpPr/>
              <p:nvPr/>
            </p:nvSpPr>
            <p:spPr>
              <a:xfrm>
                <a:off x="2016" y="177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31821" name="Line 48"/>
              <p:cNvSpPr/>
              <p:nvPr/>
            </p:nvSpPr>
            <p:spPr>
              <a:xfrm>
                <a:off x="2112" y="1632"/>
                <a:ext cx="0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2" name="Oval 49"/>
              <p:cNvSpPr/>
              <p:nvPr/>
            </p:nvSpPr>
            <p:spPr>
              <a:xfrm>
                <a:off x="1824" y="211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31823" name="Line 50"/>
              <p:cNvSpPr/>
              <p:nvPr/>
            </p:nvSpPr>
            <p:spPr>
              <a:xfrm flipH="1">
                <a:off x="1968" y="1968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4" name="Line 51"/>
              <p:cNvSpPr/>
              <p:nvPr/>
            </p:nvSpPr>
            <p:spPr>
              <a:xfrm>
                <a:off x="1632" y="2208"/>
                <a:ext cx="19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5" name="Oval 52"/>
              <p:cNvSpPr/>
              <p:nvPr/>
            </p:nvSpPr>
            <p:spPr>
              <a:xfrm>
                <a:off x="2016" y="244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31826" name="Line 53"/>
              <p:cNvSpPr/>
              <p:nvPr/>
            </p:nvSpPr>
            <p:spPr>
              <a:xfrm flipH="1" flipV="1">
                <a:off x="1968" y="230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7" name="Line 54"/>
              <p:cNvSpPr/>
              <p:nvPr/>
            </p:nvSpPr>
            <p:spPr>
              <a:xfrm>
                <a:off x="2112" y="1968"/>
                <a:ext cx="0" cy="48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28" name="Oval 55"/>
              <p:cNvSpPr/>
              <p:nvPr/>
            </p:nvSpPr>
            <p:spPr>
              <a:xfrm>
                <a:off x="2400" y="144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31829" name="Line 56"/>
              <p:cNvSpPr/>
              <p:nvPr/>
            </p:nvSpPr>
            <p:spPr>
              <a:xfrm flipH="1">
                <a:off x="2185" y="1607"/>
                <a:ext cx="24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808" name="Rectangle 57"/>
            <p:cNvSpPr/>
            <p:nvPr/>
          </p:nvSpPr>
          <p:spPr>
            <a:xfrm>
              <a:off x="720" y="3696"/>
              <a:ext cx="1392" cy="2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Connected graph</a:t>
              </a:r>
            </a:p>
          </p:txBody>
        </p:sp>
      </p:grpSp>
      <p:grpSp>
        <p:nvGrpSpPr>
          <p:cNvPr id="5" name="Group 58"/>
          <p:cNvGrpSpPr/>
          <p:nvPr/>
        </p:nvGrpSpPr>
        <p:grpSpPr>
          <a:xfrm>
            <a:off x="2743200" y="3124200"/>
            <a:ext cx="4038600" cy="2895600"/>
            <a:chOff x="2544" y="2112"/>
            <a:chExt cx="2544" cy="1824"/>
          </a:xfrm>
        </p:grpSpPr>
        <p:grpSp>
          <p:nvGrpSpPr>
            <p:cNvPr id="31774" name="Group 59"/>
            <p:cNvGrpSpPr/>
            <p:nvPr/>
          </p:nvGrpSpPr>
          <p:grpSpPr>
            <a:xfrm>
              <a:off x="2736" y="2112"/>
              <a:ext cx="192" cy="528"/>
              <a:chOff x="1344" y="1536"/>
              <a:chExt cx="192" cy="528"/>
            </a:xfrm>
          </p:grpSpPr>
          <p:sp>
            <p:nvSpPr>
              <p:cNvPr id="31804" name="Oval 60"/>
              <p:cNvSpPr/>
              <p:nvPr/>
            </p:nvSpPr>
            <p:spPr>
              <a:xfrm>
                <a:off x="1344" y="153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1805" name="Oval 61"/>
              <p:cNvSpPr/>
              <p:nvPr/>
            </p:nvSpPr>
            <p:spPr>
              <a:xfrm>
                <a:off x="1344" y="187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1806" name="Line 62"/>
              <p:cNvSpPr/>
              <p:nvPr/>
            </p:nvSpPr>
            <p:spPr>
              <a:xfrm>
                <a:off x="1440" y="1728"/>
                <a:ext cx="0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75" name="Group 63"/>
            <p:cNvGrpSpPr/>
            <p:nvPr/>
          </p:nvGrpSpPr>
          <p:grpSpPr>
            <a:xfrm>
              <a:off x="2544" y="2784"/>
              <a:ext cx="576" cy="864"/>
              <a:chOff x="1152" y="1872"/>
              <a:chExt cx="576" cy="864"/>
            </a:xfrm>
          </p:grpSpPr>
          <p:sp>
            <p:nvSpPr>
              <p:cNvPr id="31796" name="Oval 64"/>
              <p:cNvSpPr/>
              <p:nvPr/>
            </p:nvSpPr>
            <p:spPr>
              <a:xfrm>
                <a:off x="1344" y="187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1797" name="Oval 65"/>
              <p:cNvSpPr/>
              <p:nvPr/>
            </p:nvSpPr>
            <p:spPr>
              <a:xfrm>
                <a:off x="1152" y="220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1798" name="Line 66"/>
              <p:cNvSpPr/>
              <p:nvPr/>
            </p:nvSpPr>
            <p:spPr>
              <a:xfrm flipH="1">
                <a:off x="1296" y="206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99" name="Oval 67"/>
              <p:cNvSpPr/>
              <p:nvPr/>
            </p:nvSpPr>
            <p:spPr>
              <a:xfrm flipH="1">
                <a:off x="1536" y="220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1800" name="Line 68"/>
              <p:cNvSpPr/>
              <p:nvPr/>
            </p:nvSpPr>
            <p:spPr>
              <a:xfrm>
                <a:off x="1488" y="206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01" name="Oval 69"/>
              <p:cNvSpPr/>
              <p:nvPr/>
            </p:nvSpPr>
            <p:spPr>
              <a:xfrm>
                <a:off x="1344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1802" name="Line 70"/>
              <p:cNvSpPr/>
              <p:nvPr/>
            </p:nvSpPr>
            <p:spPr>
              <a:xfrm flipH="1" flipV="1">
                <a:off x="1296" y="2400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03" name="Line 71"/>
              <p:cNvSpPr/>
              <p:nvPr/>
            </p:nvSpPr>
            <p:spPr>
              <a:xfrm flipV="1">
                <a:off x="1488" y="2400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76" name="Group 72"/>
            <p:cNvGrpSpPr/>
            <p:nvPr/>
          </p:nvGrpSpPr>
          <p:grpSpPr>
            <a:xfrm>
              <a:off x="3264" y="3120"/>
              <a:ext cx="576" cy="192"/>
              <a:chOff x="1536" y="2208"/>
              <a:chExt cx="576" cy="192"/>
            </a:xfrm>
          </p:grpSpPr>
          <p:sp>
            <p:nvSpPr>
              <p:cNvPr id="31793" name="Oval 73"/>
              <p:cNvSpPr/>
              <p:nvPr/>
            </p:nvSpPr>
            <p:spPr>
              <a:xfrm flipH="1">
                <a:off x="1536" y="220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1794" name="Oval 74"/>
              <p:cNvSpPr/>
              <p:nvPr/>
            </p:nvSpPr>
            <p:spPr>
              <a:xfrm>
                <a:off x="1920" y="220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31795" name="Line 75"/>
              <p:cNvSpPr/>
              <p:nvPr/>
            </p:nvSpPr>
            <p:spPr>
              <a:xfrm>
                <a:off x="1728" y="2304"/>
                <a:ext cx="192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77" name="Group 76"/>
            <p:cNvGrpSpPr/>
            <p:nvPr/>
          </p:nvGrpSpPr>
          <p:grpSpPr>
            <a:xfrm>
              <a:off x="4176" y="2112"/>
              <a:ext cx="192" cy="528"/>
              <a:chOff x="2112" y="1536"/>
              <a:chExt cx="192" cy="528"/>
            </a:xfrm>
          </p:grpSpPr>
          <p:sp>
            <p:nvSpPr>
              <p:cNvPr id="31790" name="Oval 77"/>
              <p:cNvSpPr/>
              <p:nvPr/>
            </p:nvSpPr>
            <p:spPr>
              <a:xfrm>
                <a:off x="2112" y="153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31791" name="Oval 78"/>
              <p:cNvSpPr/>
              <p:nvPr/>
            </p:nvSpPr>
            <p:spPr>
              <a:xfrm>
                <a:off x="2112" y="187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31792" name="Line 79"/>
              <p:cNvSpPr/>
              <p:nvPr/>
            </p:nvSpPr>
            <p:spPr>
              <a:xfrm>
                <a:off x="2208" y="1728"/>
                <a:ext cx="0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78" name="Group 80"/>
            <p:cNvGrpSpPr/>
            <p:nvPr/>
          </p:nvGrpSpPr>
          <p:grpSpPr>
            <a:xfrm>
              <a:off x="3984" y="2784"/>
              <a:ext cx="384" cy="864"/>
              <a:chOff x="1920" y="1872"/>
              <a:chExt cx="384" cy="864"/>
            </a:xfrm>
          </p:grpSpPr>
          <p:sp>
            <p:nvSpPr>
              <p:cNvPr id="31784" name="Oval 81"/>
              <p:cNvSpPr/>
              <p:nvPr/>
            </p:nvSpPr>
            <p:spPr>
              <a:xfrm>
                <a:off x="2112" y="1872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31785" name="Oval 82"/>
              <p:cNvSpPr/>
              <p:nvPr/>
            </p:nvSpPr>
            <p:spPr>
              <a:xfrm>
                <a:off x="1920" y="2208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31786" name="Line 83"/>
              <p:cNvSpPr/>
              <p:nvPr/>
            </p:nvSpPr>
            <p:spPr>
              <a:xfrm flipH="1">
                <a:off x="2064" y="2064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7" name="Oval 84"/>
              <p:cNvSpPr/>
              <p:nvPr/>
            </p:nvSpPr>
            <p:spPr>
              <a:xfrm>
                <a:off x="2112" y="2544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g</a:t>
                </a:r>
              </a:p>
            </p:txBody>
          </p:sp>
          <p:sp>
            <p:nvSpPr>
              <p:cNvPr id="31788" name="Line 85"/>
              <p:cNvSpPr/>
              <p:nvPr/>
            </p:nvSpPr>
            <p:spPr>
              <a:xfrm flipH="1" flipV="1">
                <a:off x="2064" y="2400"/>
                <a:ext cx="96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89" name="Line 86"/>
              <p:cNvSpPr/>
              <p:nvPr/>
            </p:nvSpPr>
            <p:spPr>
              <a:xfrm>
                <a:off x="2208" y="2064"/>
                <a:ext cx="0" cy="48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779" name="Group 87"/>
            <p:cNvGrpSpPr/>
            <p:nvPr/>
          </p:nvGrpSpPr>
          <p:grpSpPr>
            <a:xfrm>
              <a:off x="4512" y="2112"/>
              <a:ext cx="576" cy="528"/>
              <a:chOff x="2688" y="1920"/>
              <a:chExt cx="576" cy="528"/>
            </a:xfrm>
          </p:grpSpPr>
          <p:sp>
            <p:nvSpPr>
              <p:cNvPr id="31781" name="Oval 88"/>
              <p:cNvSpPr/>
              <p:nvPr/>
            </p:nvSpPr>
            <p:spPr>
              <a:xfrm>
                <a:off x="2688" y="2256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h</a:t>
                </a:r>
              </a:p>
            </p:txBody>
          </p:sp>
          <p:sp>
            <p:nvSpPr>
              <p:cNvPr id="31782" name="Oval 89"/>
              <p:cNvSpPr/>
              <p:nvPr/>
            </p:nvSpPr>
            <p:spPr>
              <a:xfrm>
                <a:off x="3072" y="1920"/>
                <a:ext cx="192" cy="192"/>
              </a:xfrm>
              <a:prstGeom prst="ellipse">
                <a:avLst/>
              </a:prstGeom>
              <a:noFill/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31783" name="Line 90"/>
              <p:cNvSpPr/>
              <p:nvPr/>
            </p:nvSpPr>
            <p:spPr>
              <a:xfrm flipH="1">
                <a:off x="2857" y="2087"/>
                <a:ext cx="240" cy="227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80" name="Rectangle 91"/>
            <p:cNvSpPr/>
            <p:nvPr/>
          </p:nvSpPr>
          <p:spPr>
            <a:xfrm>
              <a:off x="2736" y="3696"/>
              <a:ext cx="1776" cy="24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Biconnected components</a:t>
              </a:r>
            </a:p>
          </p:txBody>
        </p:sp>
      </p:grpSp>
      <p:sp>
        <p:nvSpPr>
          <p:cNvPr id="10332" name="AutoShape 92" descr="再生纸"/>
          <p:cNvSpPr/>
          <p:nvPr/>
        </p:nvSpPr>
        <p:spPr>
          <a:xfrm>
            <a:off x="6172200" y="3810000"/>
            <a:ext cx="2590800" cy="2514600"/>
          </a:xfrm>
          <a:prstGeom prst="roundRect">
            <a:avLst>
              <a:gd name="adj" fmla="val 8181"/>
            </a:avLst>
          </a:prstGeom>
          <a:blipFill rotWithShape="0">
            <a:blip r:embed="rId8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9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25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 No edges can be shared by two or more biconnected components.  Hence </a:t>
            </a: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E(G) is partitioned</a:t>
            </a:r>
            <a:r>
              <a:rPr lang="en-US" altLang="zh-CN" sz="2000" b="1" dirty="0">
                <a:latin typeface="Times New Roman" panose="02020603050405020304" pitchFamily="18" charset="0"/>
              </a:rPr>
              <a:t> by the biconnected components of G.</a:t>
            </a:r>
          </a:p>
        </p:txBody>
      </p:sp>
      <p:sp>
        <p:nvSpPr>
          <p:cNvPr id="10334" name="Oval 94"/>
          <p:cNvSpPr/>
          <p:nvPr/>
        </p:nvSpPr>
        <p:spPr>
          <a:xfrm>
            <a:off x="762000" y="41148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335" name="Oval 95"/>
          <p:cNvSpPr/>
          <p:nvPr/>
        </p:nvSpPr>
        <p:spPr>
          <a:xfrm>
            <a:off x="1066800" y="46482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336" name="Oval 96"/>
          <p:cNvSpPr/>
          <p:nvPr/>
        </p:nvSpPr>
        <p:spPr>
          <a:xfrm>
            <a:off x="1676400" y="46482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0337" name="Oval 97"/>
          <p:cNvSpPr/>
          <p:nvPr/>
        </p:nvSpPr>
        <p:spPr>
          <a:xfrm>
            <a:off x="1981200" y="41148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02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6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1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0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1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1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0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4" grpId="0" animBg="1"/>
      <p:bldP spid="10255" grpId="0" animBg="1"/>
      <p:bldP spid="10256" grpId="0" animBg="1"/>
      <p:bldP spid="10257" grpId="0" animBg="1"/>
      <p:bldP spid="10258" grpId="0" animBg="1"/>
      <p:bldP spid="10259" grpId="0" animBg="1"/>
      <p:bldP spid="10264" grpId="0" animBg="1"/>
      <p:bldP spid="10265" grpId="0" animBg="1"/>
      <p:bldP spid="10266" grpId="0" animBg="1"/>
      <p:bldP spid="10267" grpId="0" animBg="1"/>
      <p:bldP spid="10268" grpId="0" animBg="1"/>
      <p:bldP spid="10269" grpId="0" animBg="1"/>
      <p:bldP spid="10270" grpId="0"/>
      <p:bldP spid="10271" grpId="0"/>
      <p:bldP spid="10272" grpId="0"/>
      <p:bldP spid="10273" grpId="0"/>
      <p:bldP spid="10332" grpId="0" animBg="1"/>
      <p:bldP spid="10334" grpId="0" animBg="1"/>
      <p:bldP spid="10335" grpId="0" animBg="1"/>
      <p:bldP spid="10336" grpId="0" animBg="1"/>
      <p:bldP spid="103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ext Box 3"/>
          <p:cNvSpPr txBox="1"/>
          <p:nvPr/>
        </p:nvSpPr>
        <p:spPr>
          <a:xfrm>
            <a:off x="457200" y="381000"/>
            <a:ext cx="82296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/>
              <a:t>Finding the </a:t>
            </a:r>
            <a:r>
              <a:rPr lang="en-US" altLang="zh-CN" sz="2000" b="1" dirty="0">
                <a:solidFill>
                  <a:schemeClr val="tx2"/>
                </a:solidFill>
              </a:rPr>
              <a:t>articulation points </a:t>
            </a:r>
            <a:r>
              <a:rPr lang="en-US" altLang="zh-CN" sz="2000" b="1" dirty="0"/>
              <a:t>of a connected undirected G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609600" y="1600200"/>
            <a:ext cx="2928938" cy="2286000"/>
            <a:chOff x="1056" y="1440"/>
            <a:chExt cx="1536" cy="1200"/>
          </a:xfrm>
        </p:grpSpPr>
        <p:sp>
          <p:nvSpPr>
            <p:cNvPr id="32841" name="Oval 5"/>
            <p:cNvSpPr/>
            <p:nvPr/>
          </p:nvSpPr>
          <p:spPr>
            <a:xfrm>
              <a:off x="1248" y="14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842" name="Oval 6"/>
            <p:cNvSpPr/>
            <p:nvPr/>
          </p:nvSpPr>
          <p:spPr>
            <a:xfrm>
              <a:off x="1248" y="177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2843" name="Line 7"/>
            <p:cNvSpPr/>
            <p:nvPr/>
          </p:nvSpPr>
          <p:spPr>
            <a:xfrm>
              <a:off x="1344" y="1632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4" name="Oval 8"/>
            <p:cNvSpPr/>
            <p:nvPr/>
          </p:nvSpPr>
          <p:spPr>
            <a:xfrm>
              <a:off x="1056" y="21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2845" name="Line 9"/>
            <p:cNvSpPr/>
            <p:nvPr/>
          </p:nvSpPr>
          <p:spPr>
            <a:xfrm flipH="1">
              <a:off x="1200" y="196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6" name="Oval 10"/>
            <p:cNvSpPr/>
            <p:nvPr/>
          </p:nvSpPr>
          <p:spPr>
            <a:xfrm flipH="1">
              <a:off x="1440" y="21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2847" name="Line 11"/>
            <p:cNvSpPr/>
            <p:nvPr/>
          </p:nvSpPr>
          <p:spPr>
            <a:xfrm>
              <a:off x="1392" y="196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8" name="Oval 12"/>
            <p:cNvSpPr/>
            <p:nvPr/>
          </p:nvSpPr>
          <p:spPr>
            <a:xfrm>
              <a:off x="1248" y="244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2849" name="Line 13"/>
            <p:cNvSpPr/>
            <p:nvPr/>
          </p:nvSpPr>
          <p:spPr>
            <a:xfrm flipH="1" flipV="1">
              <a:off x="1200" y="230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0" name="Line 14"/>
            <p:cNvSpPr/>
            <p:nvPr/>
          </p:nvSpPr>
          <p:spPr>
            <a:xfrm flipV="1">
              <a:off x="1392" y="230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1" name="Oval 15"/>
            <p:cNvSpPr/>
            <p:nvPr/>
          </p:nvSpPr>
          <p:spPr>
            <a:xfrm>
              <a:off x="2016" y="14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2852" name="Oval 16"/>
            <p:cNvSpPr/>
            <p:nvPr/>
          </p:nvSpPr>
          <p:spPr>
            <a:xfrm>
              <a:off x="2016" y="177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2853" name="Line 17"/>
            <p:cNvSpPr/>
            <p:nvPr/>
          </p:nvSpPr>
          <p:spPr>
            <a:xfrm>
              <a:off x="2112" y="1632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4" name="Oval 18"/>
            <p:cNvSpPr/>
            <p:nvPr/>
          </p:nvSpPr>
          <p:spPr>
            <a:xfrm>
              <a:off x="1824" y="21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2855" name="Line 19"/>
            <p:cNvSpPr/>
            <p:nvPr/>
          </p:nvSpPr>
          <p:spPr>
            <a:xfrm flipH="1">
              <a:off x="1968" y="1968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6" name="Line 20"/>
            <p:cNvSpPr/>
            <p:nvPr/>
          </p:nvSpPr>
          <p:spPr>
            <a:xfrm>
              <a:off x="1632" y="2208"/>
              <a:ext cx="192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7" name="Oval 21"/>
            <p:cNvSpPr/>
            <p:nvPr/>
          </p:nvSpPr>
          <p:spPr>
            <a:xfrm>
              <a:off x="2016" y="244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2858" name="Line 22"/>
            <p:cNvSpPr/>
            <p:nvPr/>
          </p:nvSpPr>
          <p:spPr>
            <a:xfrm flipH="1" flipV="1">
              <a:off x="1968" y="2304"/>
              <a:ext cx="96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9" name="Line 23"/>
            <p:cNvSpPr/>
            <p:nvPr/>
          </p:nvSpPr>
          <p:spPr>
            <a:xfrm>
              <a:off x="2112" y="1968"/>
              <a:ext cx="0" cy="48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60" name="Oval 24"/>
            <p:cNvSpPr/>
            <p:nvPr/>
          </p:nvSpPr>
          <p:spPr>
            <a:xfrm>
              <a:off x="2400" y="14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2861" name="Line 25"/>
            <p:cNvSpPr/>
            <p:nvPr/>
          </p:nvSpPr>
          <p:spPr>
            <a:xfrm flipH="1">
              <a:off x="2185" y="1607"/>
              <a:ext cx="240" cy="227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14" name="Text Box 26"/>
          <p:cNvSpPr txBox="1"/>
          <p:nvPr/>
        </p:nvSpPr>
        <p:spPr>
          <a:xfrm>
            <a:off x="533400" y="762000"/>
            <a:ext cx="8001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sym typeface="Wingdings" panose="05000000000000000000" pitchFamily="2" charset="2"/>
              </a:rPr>
              <a:t></a:t>
            </a:r>
            <a:r>
              <a:rPr lang="en-US" altLang="zh-CN" sz="2000" b="1" dirty="0">
                <a:sym typeface="Wingdings" panose="05000000000000000000" pitchFamily="2" charset="2"/>
              </a:rPr>
              <a:t> Use </a:t>
            </a:r>
            <a:r>
              <a:rPr lang="en-US" altLang="zh-CN" sz="2000" b="1" dirty="0">
                <a:solidFill>
                  <a:schemeClr val="hlink"/>
                </a:solidFill>
                <a:sym typeface="Wingdings" panose="05000000000000000000" pitchFamily="2" charset="2"/>
              </a:rPr>
              <a:t>depth first search</a:t>
            </a:r>
            <a:r>
              <a:rPr lang="en-US" altLang="zh-CN" sz="2000" b="1" dirty="0">
                <a:sym typeface="Wingdings" panose="05000000000000000000" pitchFamily="2" charset="2"/>
              </a:rPr>
              <a:t> to obtain a spanning tree of G</a:t>
            </a:r>
            <a:endParaRPr lang="en-US" altLang="zh-CN" sz="2000" b="1" dirty="0"/>
          </a:p>
        </p:txBody>
      </p:sp>
      <p:sp>
        <p:nvSpPr>
          <p:cNvPr id="12315" name="Rectangle 27"/>
          <p:cNvSpPr/>
          <p:nvPr/>
        </p:nvSpPr>
        <p:spPr>
          <a:xfrm>
            <a:off x="1371600" y="1219200"/>
            <a:ext cx="1143000" cy="3048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DFS ( d )</a:t>
            </a:r>
          </a:p>
        </p:txBody>
      </p:sp>
      <p:sp>
        <p:nvSpPr>
          <p:cNvPr id="12316" name="Rectangle 28"/>
          <p:cNvSpPr/>
          <p:nvPr/>
        </p:nvSpPr>
        <p:spPr>
          <a:xfrm>
            <a:off x="1447800" y="25908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17" name="Line 29"/>
          <p:cNvSpPr/>
          <p:nvPr/>
        </p:nvSpPr>
        <p:spPr>
          <a:xfrm flipH="1">
            <a:off x="1219200" y="3200400"/>
            <a:ext cx="228600" cy="3048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18" name="Rectangle 30"/>
          <p:cNvSpPr/>
          <p:nvPr/>
        </p:nvSpPr>
        <p:spPr>
          <a:xfrm>
            <a:off x="990600" y="39624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19" name="Line 31"/>
          <p:cNvSpPr/>
          <p:nvPr/>
        </p:nvSpPr>
        <p:spPr>
          <a:xfrm>
            <a:off x="838200" y="3200400"/>
            <a:ext cx="228600" cy="3048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0" name="Rectangle 32"/>
          <p:cNvSpPr/>
          <p:nvPr/>
        </p:nvSpPr>
        <p:spPr>
          <a:xfrm>
            <a:off x="533400" y="25908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21" name="Line 33"/>
          <p:cNvSpPr/>
          <p:nvPr/>
        </p:nvSpPr>
        <p:spPr>
          <a:xfrm flipH="1">
            <a:off x="838200" y="2590800"/>
            <a:ext cx="228600" cy="3048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2" name="Rectangle 34"/>
          <p:cNvSpPr/>
          <p:nvPr/>
        </p:nvSpPr>
        <p:spPr>
          <a:xfrm>
            <a:off x="762000" y="20574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23" name="Line 35"/>
          <p:cNvSpPr/>
          <p:nvPr/>
        </p:nvSpPr>
        <p:spPr>
          <a:xfrm>
            <a:off x="1143000" y="1981200"/>
            <a:ext cx="0" cy="3048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4" name="Rectangle 36"/>
          <p:cNvSpPr/>
          <p:nvPr/>
        </p:nvSpPr>
        <p:spPr>
          <a:xfrm>
            <a:off x="1371600" y="16764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25" name="Line 37"/>
          <p:cNvSpPr/>
          <p:nvPr/>
        </p:nvSpPr>
        <p:spPr>
          <a:xfrm>
            <a:off x="1676400" y="3048000"/>
            <a:ext cx="381000" cy="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6" name="Rectangle 38"/>
          <p:cNvSpPr/>
          <p:nvPr/>
        </p:nvSpPr>
        <p:spPr>
          <a:xfrm>
            <a:off x="2057400" y="25908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27" name="Line 39"/>
          <p:cNvSpPr/>
          <p:nvPr/>
        </p:nvSpPr>
        <p:spPr>
          <a:xfrm>
            <a:off x="2286000" y="3200400"/>
            <a:ext cx="304800" cy="3810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28" name="Rectangle 40"/>
          <p:cNvSpPr/>
          <p:nvPr/>
        </p:nvSpPr>
        <p:spPr>
          <a:xfrm>
            <a:off x="2514600" y="39624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29" name="Line 41"/>
          <p:cNvSpPr/>
          <p:nvPr/>
        </p:nvSpPr>
        <p:spPr>
          <a:xfrm>
            <a:off x="2630488" y="2590800"/>
            <a:ext cx="0" cy="9144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0" name="Rectangle 42"/>
          <p:cNvSpPr/>
          <p:nvPr/>
        </p:nvSpPr>
        <p:spPr>
          <a:xfrm>
            <a:off x="2819400" y="23622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31" name="Line 43"/>
          <p:cNvSpPr/>
          <p:nvPr/>
        </p:nvSpPr>
        <p:spPr>
          <a:xfrm flipV="1">
            <a:off x="2743200" y="1905000"/>
            <a:ext cx="457200" cy="4572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2" name="Rectangle 44"/>
          <p:cNvSpPr/>
          <p:nvPr/>
        </p:nvSpPr>
        <p:spPr>
          <a:xfrm>
            <a:off x="3505200" y="16002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33" name="Line 45"/>
          <p:cNvSpPr/>
          <p:nvPr/>
        </p:nvSpPr>
        <p:spPr>
          <a:xfrm flipH="1">
            <a:off x="2590800" y="1981200"/>
            <a:ext cx="0" cy="304800"/>
          </a:xfrm>
          <a:prstGeom prst="line">
            <a:avLst/>
          </a:prstGeom>
          <a:ln w="762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34" name="Rectangle 46"/>
          <p:cNvSpPr/>
          <p:nvPr/>
        </p:nvSpPr>
        <p:spPr>
          <a:xfrm>
            <a:off x="2133600" y="1600200"/>
            <a:ext cx="304800" cy="2286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2335" name="Oval 47"/>
          <p:cNvSpPr/>
          <p:nvPr/>
        </p:nvSpPr>
        <p:spPr>
          <a:xfrm>
            <a:off x="1330325" y="2895600"/>
            <a:ext cx="381000" cy="3810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336" name="Rectangle 48"/>
          <p:cNvSpPr/>
          <p:nvPr/>
        </p:nvSpPr>
        <p:spPr>
          <a:xfrm>
            <a:off x="3810000" y="1143000"/>
            <a:ext cx="3124200" cy="381000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Depth first spanning tree</a:t>
            </a:r>
          </a:p>
        </p:txBody>
      </p:sp>
      <p:grpSp>
        <p:nvGrpSpPr>
          <p:cNvPr id="3" name="Group 69"/>
          <p:cNvGrpSpPr/>
          <p:nvPr/>
        </p:nvGrpSpPr>
        <p:grpSpPr>
          <a:xfrm>
            <a:off x="4648200" y="1447800"/>
            <a:ext cx="1981200" cy="2895600"/>
            <a:chOff x="3600" y="1056"/>
            <a:chExt cx="1248" cy="1824"/>
          </a:xfrm>
        </p:grpSpPr>
        <p:sp>
          <p:nvSpPr>
            <p:cNvPr id="32831" name="Rectangle 70"/>
            <p:cNvSpPr/>
            <p:nvPr/>
          </p:nvSpPr>
          <p:spPr>
            <a:xfrm>
              <a:off x="3744" y="1056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2" name="Rectangle 71"/>
            <p:cNvSpPr/>
            <p:nvPr/>
          </p:nvSpPr>
          <p:spPr>
            <a:xfrm>
              <a:off x="3600" y="1536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3" name="Rectangle 72"/>
            <p:cNvSpPr/>
            <p:nvPr/>
          </p:nvSpPr>
          <p:spPr>
            <a:xfrm>
              <a:off x="3600" y="1920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4" name="Rectangle 73"/>
            <p:cNvSpPr/>
            <p:nvPr/>
          </p:nvSpPr>
          <p:spPr>
            <a:xfrm>
              <a:off x="3600" y="2304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5" name="Rectangle 74"/>
            <p:cNvSpPr/>
            <p:nvPr/>
          </p:nvSpPr>
          <p:spPr>
            <a:xfrm>
              <a:off x="3600" y="2688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6" name="Rectangle 75"/>
            <p:cNvSpPr/>
            <p:nvPr/>
          </p:nvSpPr>
          <p:spPr>
            <a:xfrm>
              <a:off x="3888" y="1536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7" name="Rectangle 76"/>
            <p:cNvSpPr/>
            <p:nvPr/>
          </p:nvSpPr>
          <p:spPr>
            <a:xfrm>
              <a:off x="3888" y="1920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8" name="Rectangle 77"/>
            <p:cNvSpPr/>
            <p:nvPr/>
          </p:nvSpPr>
          <p:spPr>
            <a:xfrm>
              <a:off x="3888" y="2304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39" name="Rectangle 78"/>
            <p:cNvSpPr/>
            <p:nvPr/>
          </p:nvSpPr>
          <p:spPr>
            <a:xfrm>
              <a:off x="3888" y="2688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40" name="Rectangle 79"/>
            <p:cNvSpPr/>
            <p:nvPr/>
          </p:nvSpPr>
          <p:spPr>
            <a:xfrm>
              <a:off x="4656" y="2688"/>
              <a:ext cx="192" cy="19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9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2368" name="AutoShape 80"/>
          <p:cNvSpPr/>
          <p:nvPr/>
        </p:nvSpPr>
        <p:spPr>
          <a:xfrm flipH="1">
            <a:off x="6400800" y="1447800"/>
            <a:ext cx="2438400" cy="1447800"/>
          </a:xfrm>
          <a:prstGeom prst="wedgeEllipseCallout">
            <a:avLst>
              <a:gd name="adj1" fmla="val 91731"/>
              <a:gd name="adj2" fmla="val 50329"/>
            </a:avLst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18900000" scaled="1"/>
            <a:tileRect/>
          </a:gra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preorder </a:t>
            </a:r>
          </a:p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number </a:t>
            </a:r>
            <a:r>
              <a:rPr lang="en-US" altLang="zh-CN" sz="2000" b="1" i="1" dirty="0">
                <a:solidFill>
                  <a:schemeClr val="hlink"/>
                </a:solidFill>
                <a:latin typeface="Arial" panose="020B0604020202020204" pitchFamily="34" charset="0"/>
              </a:rPr>
              <a:t>Num(v)</a:t>
            </a:r>
            <a:endParaRPr lang="en-US" altLang="zh-CN" sz="2000" b="1" i="1" dirty="0">
              <a:latin typeface="Arial" panose="020B0604020202020204" pitchFamily="34" charset="0"/>
            </a:endParaRPr>
          </a:p>
        </p:txBody>
      </p:sp>
      <p:sp>
        <p:nvSpPr>
          <p:cNvPr id="12371" name="Text Box 83"/>
          <p:cNvSpPr txBox="1"/>
          <p:nvPr/>
        </p:nvSpPr>
        <p:spPr>
          <a:xfrm>
            <a:off x="533400" y="4495800"/>
            <a:ext cx="8001000" cy="3968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</a:t>
            </a:r>
            <a:r>
              <a:rPr lang="en-US" altLang="zh-CN" sz="2000" b="1" dirty="0">
                <a:latin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zh-CN" sz="2000" b="1" dirty="0">
                <a:sym typeface="Wingdings" panose="05000000000000000000" pitchFamily="2" charset="2"/>
              </a:rPr>
              <a:t>Find the </a:t>
            </a:r>
            <a:r>
              <a:rPr lang="en-US" altLang="zh-CN" sz="2000" b="1" dirty="0">
                <a:solidFill>
                  <a:schemeClr val="tx2"/>
                </a:solidFill>
                <a:sym typeface="Wingdings" panose="05000000000000000000" pitchFamily="2" charset="2"/>
              </a:rPr>
              <a:t>articulation points</a:t>
            </a:r>
            <a:r>
              <a:rPr lang="en-US" altLang="zh-CN" sz="2000" b="1" dirty="0">
                <a:sym typeface="Wingdings" panose="05000000000000000000" pitchFamily="2" charset="2"/>
              </a:rPr>
              <a:t> in G</a:t>
            </a:r>
            <a:endParaRPr lang="en-US" altLang="zh-CN" sz="2000" b="1" dirty="0"/>
          </a:p>
        </p:txBody>
      </p:sp>
      <p:sp>
        <p:nvSpPr>
          <p:cNvPr id="12372" name="Text Box 84"/>
          <p:cNvSpPr txBox="1"/>
          <p:nvPr/>
        </p:nvSpPr>
        <p:spPr>
          <a:xfrm>
            <a:off x="685800" y="4876800"/>
            <a:ext cx="7924800" cy="7620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  </a:t>
            </a:r>
            <a:r>
              <a:rPr lang="en-US" altLang="zh-CN" sz="2000" b="1" dirty="0"/>
              <a:t>The</a:t>
            </a:r>
            <a:r>
              <a:rPr lang="en-US" altLang="zh-CN" sz="2000" b="1" dirty="0">
                <a:solidFill>
                  <a:srgbClr val="0000FF"/>
                </a:solidFill>
              </a:rPr>
              <a:t> root</a:t>
            </a:r>
            <a:r>
              <a:rPr lang="en-US" altLang="zh-CN" sz="2000" b="1" dirty="0">
                <a:solidFill>
                  <a:schemeClr val="accent1"/>
                </a:solidFill>
              </a:rPr>
              <a:t> </a:t>
            </a:r>
            <a:r>
              <a:rPr lang="en-US" altLang="zh-CN" sz="2000" b="1" dirty="0"/>
              <a:t>is an articulation point iff it has </a:t>
            </a:r>
            <a:r>
              <a:rPr lang="en-US" altLang="zh-CN" sz="2000" b="1" dirty="0">
                <a:solidFill>
                  <a:schemeClr val="hlink"/>
                </a:solidFill>
              </a:rPr>
              <a:t>at least 2 children</a:t>
            </a:r>
          </a:p>
        </p:txBody>
      </p:sp>
      <p:sp>
        <p:nvSpPr>
          <p:cNvPr id="12373" name="Text Box 85"/>
          <p:cNvSpPr txBox="1"/>
          <p:nvPr/>
        </p:nvSpPr>
        <p:spPr>
          <a:xfrm>
            <a:off x="685800" y="5486400"/>
            <a:ext cx="7924800" cy="10668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89255" lvl="0" indent="-389255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  </a:t>
            </a:r>
            <a:r>
              <a:rPr lang="en-US" altLang="zh-CN" sz="2000" b="1" dirty="0"/>
              <a:t>Any </a:t>
            </a:r>
            <a:r>
              <a:rPr lang="en-US" altLang="zh-CN" sz="2000" b="1" dirty="0">
                <a:solidFill>
                  <a:srgbClr val="0000FF"/>
                </a:solidFill>
              </a:rPr>
              <a:t>other vertex u</a:t>
            </a:r>
            <a:r>
              <a:rPr lang="en-US" altLang="zh-CN" sz="2000" b="1" dirty="0"/>
              <a:t> is an articulation point iff </a:t>
            </a:r>
            <a:r>
              <a:rPr lang="en-US" altLang="zh-CN" sz="2000" b="1" dirty="0">
                <a:solidFill>
                  <a:schemeClr val="hlink"/>
                </a:solidFill>
              </a:rPr>
              <a:t>u has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hlink"/>
                </a:solidFill>
              </a:rPr>
              <a:t>at least 1 child</a:t>
            </a:r>
            <a:r>
              <a:rPr lang="en-US" altLang="zh-CN" sz="2000" b="1" dirty="0"/>
              <a:t>, </a:t>
            </a:r>
            <a:r>
              <a:rPr lang="en-US" altLang="zh-CN" sz="2000" b="1" dirty="0">
                <a:solidFill>
                  <a:srgbClr val="FF0000"/>
                </a:solidFill>
              </a:rPr>
              <a:t>and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olidFill>
                  <a:schemeClr val="hlink"/>
                </a:solidFill>
              </a:rPr>
              <a:t>there is NO path from its child to its ancestor in the tree.</a:t>
            </a:r>
          </a:p>
        </p:txBody>
      </p:sp>
      <p:sp>
        <p:nvSpPr>
          <p:cNvPr id="12374" name="Oval 86"/>
          <p:cNvSpPr/>
          <p:nvPr/>
        </p:nvSpPr>
        <p:spPr>
          <a:xfrm>
            <a:off x="4876800" y="17526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375" name="Oval 87"/>
          <p:cNvSpPr/>
          <p:nvPr/>
        </p:nvSpPr>
        <p:spPr>
          <a:xfrm>
            <a:off x="4343400" y="34290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376" name="Oval 88"/>
          <p:cNvSpPr/>
          <p:nvPr/>
        </p:nvSpPr>
        <p:spPr>
          <a:xfrm>
            <a:off x="5410200" y="22098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377" name="Oval 89"/>
          <p:cNvSpPr/>
          <p:nvPr/>
        </p:nvSpPr>
        <p:spPr>
          <a:xfrm>
            <a:off x="5410200" y="34290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2383" name="AutoShape 95" descr="再生纸"/>
          <p:cNvSpPr/>
          <p:nvPr/>
        </p:nvSpPr>
        <p:spPr>
          <a:xfrm>
            <a:off x="6578600" y="1517650"/>
            <a:ext cx="2057400" cy="1676400"/>
          </a:xfrm>
          <a:prstGeom prst="roundRect">
            <a:avLst>
              <a:gd name="adj" fmla="val 8181"/>
            </a:avLst>
          </a:prstGeom>
          <a:blipFill rotWithShape="0">
            <a:blip r:embed="rId6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98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If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000" b="1" dirty="0">
                <a:latin typeface="Times New Roman" panose="02020603050405020304" pitchFamily="18" charset="0"/>
              </a:rPr>
              <a:t> is an ancestor of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000" b="1" dirty="0">
                <a:latin typeface="Times New Roman" panose="02020603050405020304" pitchFamily="18" charset="0"/>
              </a:rPr>
              <a:t>, then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Num( u ) </a:t>
            </a:r>
            <a:r>
              <a:rPr lang="en-US" altLang="zh-CN" sz="2000" b="1" dirty="0">
                <a:latin typeface="Times New Roman" panose="02020603050405020304" pitchFamily="18" charset="0"/>
              </a:rPr>
              <a:t>&lt; 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Num( v ).</a:t>
            </a:r>
          </a:p>
        </p:txBody>
      </p:sp>
      <p:grpSp>
        <p:nvGrpSpPr>
          <p:cNvPr id="4" name="Group 99"/>
          <p:cNvGrpSpPr/>
          <p:nvPr/>
        </p:nvGrpSpPr>
        <p:grpSpPr>
          <a:xfrm>
            <a:off x="4343400" y="1752600"/>
            <a:ext cx="1981200" cy="2590800"/>
            <a:chOff x="2736" y="1440"/>
            <a:chExt cx="1248" cy="1632"/>
          </a:xfrm>
        </p:grpSpPr>
        <p:sp>
          <p:nvSpPr>
            <p:cNvPr id="32812" name="Oval 100"/>
            <p:cNvSpPr/>
            <p:nvPr/>
          </p:nvSpPr>
          <p:spPr>
            <a:xfrm>
              <a:off x="3072" y="144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2813" name="Oval 101"/>
            <p:cNvSpPr/>
            <p:nvPr/>
          </p:nvSpPr>
          <p:spPr>
            <a:xfrm>
              <a:off x="2736" y="172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2814" name="Oval 102"/>
            <p:cNvSpPr/>
            <p:nvPr/>
          </p:nvSpPr>
          <p:spPr>
            <a:xfrm>
              <a:off x="3408" y="1728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2815" name="Oval 103"/>
            <p:cNvSpPr/>
            <p:nvPr/>
          </p:nvSpPr>
          <p:spPr>
            <a:xfrm>
              <a:off x="2736" y="21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2816" name="Oval 104"/>
            <p:cNvSpPr/>
            <p:nvPr/>
          </p:nvSpPr>
          <p:spPr>
            <a:xfrm>
              <a:off x="2736" y="249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2817" name="Oval 105"/>
            <p:cNvSpPr/>
            <p:nvPr/>
          </p:nvSpPr>
          <p:spPr>
            <a:xfrm>
              <a:off x="2736" y="288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818" name="Oval 106"/>
            <p:cNvSpPr/>
            <p:nvPr/>
          </p:nvSpPr>
          <p:spPr>
            <a:xfrm>
              <a:off x="3408" y="2112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32819" name="Oval 107"/>
            <p:cNvSpPr/>
            <p:nvPr/>
          </p:nvSpPr>
          <p:spPr>
            <a:xfrm>
              <a:off x="3408" y="2496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32820" name="Oval 108"/>
            <p:cNvSpPr/>
            <p:nvPr/>
          </p:nvSpPr>
          <p:spPr>
            <a:xfrm>
              <a:off x="3408" y="288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2821" name="Oval 109"/>
            <p:cNvSpPr/>
            <p:nvPr/>
          </p:nvSpPr>
          <p:spPr>
            <a:xfrm>
              <a:off x="3792" y="2880"/>
              <a:ext cx="192" cy="192"/>
            </a:xfrm>
            <a:prstGeom prst="ellips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2822" name="Line 110"/>
            <p:cNvSpPr/>
            <p:nvPr/>
          </p:nvSpPr>
          <p:spPr>
            <a:xfrm flipH="1">
              <a:off x="2880" y="1542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3" name="Line 111"/>
            <p:cNvSpPr/>
            <p:nvPr/>
          </p:nvSpPr>
          <p:spPr>
            <a:xfrm>
              <a:off x="3264" y="1536"/>
              <a:ext cx="192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4" name="Line 112"/>
            <p:cNvSpPr/>
            <p:nvPr/>
          </p:nvSpPr>
          <p:spPr>
            <a:xfrm>
              <a:off x="2832" y="192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5" name="Line 113"/>
            <p:cNvSpPr/>
            <p:nvPr/>
          </p:nvSpPr>
          <p:spPr>
            <a:xfrm>
              <a:off x="2832" y="2304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6" name="Line 114"/>
            <p:cNvSpPr/>
            <p:nvPr/>
          </p:nvSpPr>
          <p:spPr>
            <a:xfrm>
              <a:off x="2832" y="2688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7" name="Line 115"/>
            <p:cNvSpPr/>
            <p:nvPr/>
          </p:nvSpPr>
          <p:spPr>
            <a:xfrm>
              <a:off x="3504" y="1920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8" name="Line 116"/>
            <p:cNvSpPr/>
            <p:nvPr/>
          </p:nvSpPr>
          <p:spPr>
            <a:xfrm>
              <a:off x="3504" y="2304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29" name="Line 117"/>
            <p:cNvSpPr/>
            <p:nvPr/>
          </p:nvSpPr>
          <p:spPr>
            <a:xfrm>
              <a:off x="3504" y="2688"/>
              <a:ext cx="0" cy="19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0" name="Line 118"/>
            <p:cNvSpPr/>
            <p:nvPr/>
          </p:nvSpPr>
          <p:spPr>
            <a:xfrm>
              <a:off x="3600" y="2640"/>
              <a:ext cx="240" cy="24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2407" name="AutoShape 119"/>
          <p:cNvCxnSpPr>
            <a:stCxn id="32816" idx="2"/>
            <a:endCxn id="32812" idx="2"/>
          </p:cNvCxnSpPr>
          <p:nvPr/>
        </p:nvCxnSpPr>
        <p:spPr>
          <a:xfrm rot="-10800000" flipH="1">
            <a:off x="4330700" y="1905000"/>
            <a:ext cx="533400" cy="1676400"/>
          </a:xfrm>
          <a:prstGeom prst="curvedConnector3">
            <a:avLst>
              <a:gd name="adj1" fmla="val -40477"/>
            </a:avLst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lg"/>
          </a:ln>
        </p:spPr>
      </p:cxnSp>
      <p:cxnSp>
        <p:nvCxnSpPr>
          <p:cNvPr id="12408" name="AutoShape 120"/>
          <p:cNvCxnSpPr>
            <a:stCxn id="32819" idx="6"/>
            <a:endCxn id="32814" idx="6"/>
          </p:cNvCxnSpPr>
          <p:nvPr/>
        </p:nvCxnSpPr>
        <p:spPr>
          <a:xfrm flipV="1">
            <a:off x="5727700" y="2362200"/>
            <a:ext cx="1588" cy="1219200"/>
          </a:xfrm>
          <a:prstGeom prst="curvedConnector3">
            <a:avLst>
              <a:gd name="adj1" fmla="val 13600005"/>
            </a:avLst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lg"/>
          </a:ln>
        </p:spPr>
      </p:cxnSp>
      <p:sp>
        <p:nvSpPr>
          <p:cNvPr id="12409" name="Line 121"/>
          <p:cNvSpPr/>
          <p:nvPr/>
        </p:nvSpPr>
        <p:spPr>
          <a:xfrm>
            <a:off x="6934200" y="5865813"/>
            <a:ext cx="1220788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10" name="Line 122"/>
          <p:cNvSpPr/>
          <p:nvPr/>
        </p:nvSpPr>
        <p:spPr>
          <a:xfrm>
            <a:off x="1066800" y="6172200"/>
            <a:ext cx="175260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11" name="Line 123"/>
          <p:cNvSpPr/>
          <p:nvPr/>
        </p:nvSpPr>
        <p:spPr>
          <a:xfrm flipV="1">
            <a:off x="3429000" y="6172200"/>
            <a:ext cx="472440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12" name="Line 124"/>
          <p:cNvSpPr/>
          <p:nvPr/>
        </p:nvSpPr>
        <p:spPr>
          <a:xfrm>
            <a:off x="1143000" y="6553200"/>
            <a:ext cx="2667000" cy="0"/>
          </a:xfrm>
          <a:prstGeom prst="line">
            <a:avLst/>
          </a:prstGeom>
          <a:ln w="25400" cap="flat" cmpd="sng">
            <a:solidFill>
              <a:schemeClr val="tx2"/>
            </a:solidFill>
            <a:prstDash val="solid"/>
            <a:headEnd type="none" w="med" len="med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2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0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0" dur="5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2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5" dur="500"/>
                                        <p:tgtEl>
                                          <p:spTgt spid="12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23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23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5" dur="500"/>
                                        <p:tgtEl>
                                          <p:spTgt spid="123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2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2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314" grpId="0"/>
      <p:bldP spid="12315" grpId="0"/>
      <p:bldP spid="12316" grpId="0"/>
      <p:bldP spid="12318" grpId="0"/>
      <p:bldP spid="12320" grpId="0"/>
      <p:bldP spid="12322" grpId="0"/>
      <p:bldP spid="12324" grpId="0"/>
      <p:bldP spid="12326" grpId="0"/>
      <p:bldP spid="12328" grpId="0"/>
      <p:bldP spid="12330" grpId="0"/>
      <p:bldP spid="12332" grpId="0"/>
      <p:bldP spid="12334" grpId="0"/>
      <p:bldP spid="12335" grpId="0" animBg="1"/>
      <p:bldP spid="12336" grpId="0"/>
      <p:bldP spid="12368" grpId="0" animBg="1"/>
      <p:bldP spid="12371" grpId="0"/>
      <p:bldP spid="12372" grpId="0"/>
      <p:bldP spid="12373" grpId="0"/>
      <p:bldP spid="12374" grpId="0" animBg="1"/>
      <p:bldP spid="12375" grpId="0" animBg="1"/>
      <p:bldP spid="12376" grpId="0" animBg="1"/>
      <p:bldP spid="12377" grpId="0" animBg="1"/>
      <p:bldP spid="1238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6"/>
          <p:cNvSpPr txBox="1"/>
          <p:nvPr/>
        </p:nvSpPr>
        <p:spPr>
          <a:xfrm>
            <a:off x="304800" y="152400"/>
            <a:ext cx="8229600" cy="12001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Low(v):</a:t>
            </a:r>
            <a:r>
              <a:rPr lang="en-US" altLang="zh-CN" sz="2400" b="1" dirty="0"/>
              <a:t> the lowest-numbered vertex which is reachable from v by taking zero or more </a:t>
            </a:r>
            <a:r>
              <a:rPr lang="en-US" altLang="zh-CN" sz="2400" b="1" dirty="0">
                <a:solidFill>
                  <a:schemeClr val="hlink"/>
                </a:solidFill>
              </a:rPr>
              <a:t>tree</a:t>
            </a:r>
            <a:r>
              <a:rPr lang="en-US" altLang="zh-CN" sz="2400" b="1" dirty="0"/>
              <a:t> edges (can including </a:t>
            </a:r>
            <a:r>
              <a:rPr lang="en-US" altLang="zh-CN" sz="2400" b="1" dirty="0">
                <a:solidFill>
                  <a:srgbClr val="FF0000"/>
                </a:solidFill>
              </a:rPr>
              <a:t>one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back edge)</a:t>
            </a:r>
          </a:p>
        </p:txBody>
      </p:sp>
      <p:sp>
        <p:nvSpPr>
          <p:cNvPr id="13360" name="Rectangle 48"/>
          <p:cNvSpPr/>
          <p:nvPr/>
        </p:nvSpPr>
        <p:spPr>
          <a:xfrm>
            <a:off x="1609725" y="1447800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/0</a:t>
            </a:r>
          </a:p>
        </p:txBody>
      </p:sp>
      <p:sp>
        <p:nvSpPr>
          <p:cNvPr id="13361" name="Rectangle 49"/>
          <p:cNvSpPr/>
          <p:nvPr/>
        </p:nvSpPr>
        <p:spPr>
          <a:xfrm>
            <a:off x="1436688" y="2327275"/>
            <a:ext cx="315912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/0</a:t>
            </a:r>
          </a:p>
        </p:txBody>
      </p:sp>
      <p:sp>
        <p:nvSpPr>
          <p:cNvPr id="13362" name="Rectangle 50"/>
          <p:cNvSpPr/>
          <p:nvPr/>
        </p:nvSpPr>
        <p:spPr>
          <a:xfrm>
            <a:off x="1371600" y="3030538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/0</a:t>
            </a:r>
          </a:p>
        </p:txBody>
      </p:sp>
      <p:sp>
        <p:nvSpPr>
          <p:cNvPr id="13363" name="Rectangle 51"/>
          <p:cNvSpPr/>
          <p:nvPr/>
        </p:nvSpPr>
        <p:spPr>
          <a:xfrm>
            <a:off x="1371600" y="3733800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/0</a:t>
            </a:r>
          </a:p>
        </p:txBody>
      </p:sp>
      <p:sp>
        <p:nvSpPr>
          <p:cNvPr id="13364" name="Rectangle 52"/>
          <p:cNvSpPr/>
          <p:nvPr/>
        </p:nvSpPr>
        <p:spPr>
          <a:xfrm>
            <a:off x="1371600" y="4437063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/4</a:t>
            </a:r>
          </a:p>
        </p:txBody>
      </p:sp>
      <p:sp>
        <p:nvSpPr>
          <p:cNvPr id="13365" name="Rectangle 53"/>
          <p:cNvSpPr/>
          <p:nvPr/>
        </p:nvSpPr>
        <p:spPr>
          <a:xfrm>
            <a:off x="1828800" y="2327275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/5</a:t>
            </a:r>
          </a:p>
        </p:txBody>
      </p:sp>
      <p:sp>
        <p:nvSpPr>
          <p:cNvPr id="13366" name="Rectangle 54"/>
          <p:cNvSpPr/>
          <p:nvPr/>
        </p:nvSpPr>
        <p:spPr>
          <a:xfrm>
            <a:off x="1828800" y="3030538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/5</a:t>
            </a:r>
          </a:p>
        </p:txBody>
      </p:sp>
      <p:sp>
        <p:nvSpPr>
          <p:cNvPr id="13367" name="Rectangle 55"/>
          <p:cNvSpPr/>
          <p:nvPr/>
        </p:nvSpPr>
        <p:spPr>
          <a:xfrm>
            <a:off x="1828800" y="3733800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/5</a:t>
            </a:r>
          </a:p>
        </p:txBody>
      </p:sp>
      <p:sp>
        <p:nvSpPr>
          <p:cNvPr id="13368" name="Rectangle 56"/>
          <p:cNvSpPr/>
          <p:nvPr/>
        </p:nvSpPr>
        <p:spPr>
          <a:xfrm>
            <a:off x="1828800" y="4437063"/>
            <a:ext cx="315913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/8</a:t>
            </a:r>
          </a:p>
        </p:txBody>
      </p:sp>
      <p:sp>
        <p:nvSpPr>
          <p:cNvPr id="13369" name="Rectangle 57"/>
          <p:cNvSpPr/>
          <p:nvPr/>
        </p:nvSpPr>
        <p:spPr>
          <a:xfrm>
            <a:off x="3570288" y="4437063"/>
            <a:ext cx="315912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/9</a:t>
            </a:r>
          </a:p>
        </p:txBody>
      </p:sp>
      <p:sp>
        <p:nvSpPr>
          <p:cNvPr id="33805" name="Oval 5"/>
          <p:cNvSpPr/>
          <p:nvPr/>
        </p:nvSpPr>
        <p:spPr>
          <a:xfrm>
            <a:off x="1495425" y="1800225"/>
            <a:ext cx="376238" cy="35401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3806" name="Oval 6"/>
          <p:cNvSpPr/>
          <p:nvPr/>
        </p:nvSpPr>
        <p:spPr>
          <a:xfrm>
            <a:off x="838200" y="2330450"/>
            <a:ext cx="376238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33807" name="Oval 7"/>
          <p:cNvSpPr/>
          <p:nvPr/>
        </p:nvSpPr>
        <p:spPr>
          <a:xfrm>
            <a:off x="2154238" y="2330450"/>
            <a:ext cx="376237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3808" name="Oval 10"/>
          <p:cNvSpPr/>
          <p:nvPr/>
        </p:nvSpPr>
        <p:spPr>
          <a:xfrm>
            <a:off x="838200" y="3035300"/>
            <a:ext cx="376238" cy="35401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3809" name="Oval 12"/>
          <p:cNvSpPr/>
          <p:nvPr/>
        </p:nvSpPr>
        <p:spPr>
          <a:xfrm>
            <a:off x="838200" y="3741738"/>
            <a:ext cx="376238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3810" name="Oval 14"/>
          <p:cNvSpPr/>
          <p:nvPr/>
        </p:nvSpPr>
        <p:spPr>
          <a:xfrm>
            <a:off x="838200" y="4448175"/>
            <a:ext cx="376238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3811" name="Oval 16"/>
          <p:cNvSpPr/>
          <p:nvPr/>
        </p:nvSpPr>
        <p:spPr>
          <a:xfrm>
            <a:off x="2154238" y="3035300"/>
            <a:ext cx="376237" cy="354013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3812" name="Oval 18"/>
          <p:cNvSpPr/>
          <p:nvPr/>
        </p:nvSpPr>
        <p:spPr>
          <a:xfrm>
            <a:off x="2154238" y="3741738"/>
            <a:ext cx="376237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33813" name="Oval 20"/>
          <p:cNvSpPr/>
          <p:nvPr/>
        </p:nvSpPr>
        <p:spPr>
          <a:xfrm>
            <a:off x="2154238" y="4448175"/>
            <a:ext cx="376237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33814" name="Oval 22"/>
          <p:cNvSpPr/>
          <p:nvPr/>
        </p:nvSpPr>
        <p:spPr>
          <a:xfrm>
            <a:off x="2895600" y="4448175"/>
            <a:ext cx="376238" cy="35242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33815" name="Line 24"/>
          <p:cNvSpPr/>
          <p:nvPr/>
        </p:nvSpPr>
        <p:spPr>
          <a:xfrm flipH="1">
            <a:off x="1120775" y="1987550"/>
            <a:ext cx="374650" cy="354013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16" name="Line 25"/>
          <p:cNvSpPr/>
          <p:nvPr/>
        </p:nvSpPr>
        <p:spPr>
          <a:xfrm>
            <a:off x="1871663" y="1976438"/>
            <a:ext cx="376237" cy="3540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17" name="Line 26"/>
          <p:cNvSpPr/>
          <p:nvPr/>
        </p:nvSpPr>
        <p:spPr>
          <a:xfrm>
            <a:off x="1025525" y="2682875"/>
            <a:ext cx="0" cy="352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18" name="Line 27"/>
          <p:cNvSpPr/>
          <p:nvPr/>
        </p:nvSpPr>
        <p:spPr>
          <a:xfrm>
            <a:off x="1025525" y="3389313"/>
            <a:ext cx="0" cy="352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19" name="Line 28"/>
          <p:cNvSpPr/>
          <p:nvPr/>
        </p:nvSpPr>
        <p:spPr>
          <a:xfrm>
            <a:off x="1025525" y="4094163"/>
            <a:ext cx="0" cy="3540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0" name="Line 29"/>
          <p:cNvSpPr/>
          <p:nvPr/>
        </p:nvSpPr>
        <p:spPr>
          <a:xfrm>
            <a:off x="2324100" y="2682875"/>
            <a:ext cx="0" cy="352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1" name="Line 30"/>
          <p:cNvSpPr/>
          <p:nvPr/>
        </p:nvSpPr>
        <p:spPr>
          <a:xfrm>
            <a:off x="2324100" y="3389313"/>
            <a:ext cx="0" cy="3524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2" name="Line 31"/>
          <p:cNvSpPr/>
          <p:nvPr/>
        </p:nvSpPr>
        <p:spPr>
          <a:xfrm>
            <a:off x="2324100" y="4094163"/>
            <a:ext cx="0" cy="354012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3" name="Line 32"/>
          <p:cNvSpPr/>
          <p:nvPr/>
        </p:nvSpPr>
        <p:spPr>
          <a:xfrm>
            <a:off x="2530475" y="4006850"/>
            <a:ext cx="469900" cy="4413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824" name="Rectangle 35"/>
          <p:cNvSpPr/>
          <p:nvPr/>
        </p:nvSpPr>
        <p:spPr>
          <a:xfrm>
            <a:off x="1371600" y="1447800"/>
            <a:ext cx="376238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25" name="Rectangle 36"/>
          <p:cNvSpPr/>
          <p:nvPr/>
        </p:nvSpPr>
        <p:spPr>
          <a:xfrm>
            <a:off x="1158875" y="2330450"/>
            <a:ext cx="376238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26" name="Rectangle 37"/>
          <p:cNvSpPr/>
          <p:nvPr/>
        </p:nvSpPr>
        <p:spPr>
          <a:xfrm>
            <a:off x="1158875" y="3035300"/>
            <a:ext cx="376238" cy="3540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27" name="Rectangle 38"/>
          <p:cNvSpPr/>
          <p:nvPr/>
        </p:nvSpPr>
        <p:spPr>
          <a:xfrm>
            <a:off x="1147763" y="3741738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28" name="Rectangle 39"/>
          <p:cNvSpPr/>
          <p:nvPr/>
        </p:nvSpPr>
        <p:spPr>
          <a:xfrm>
            <a:off x="1109663" y="4448175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29" name="Rectangle 40"/>
          <p:cNvSpPr/>
          <p:nvPr/>
        </p:nvSpPr>
        <p:spPr>
          <a:xfrm>
            <a:off x="1604963" y="2330450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30" name="Rectangle 41"/>
          <p:cNvSpPr/>
          <p:nvPr/>
        </p:nvSpPr>
        <p:spPr>
          <a:xfrm>
            <a:off x="1604963" y="3035300"/>
            <a:ext cx="376237" cy="354013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31" name="Rectangle 42"/>
          <p:cNvSpPr/>
          <p:nvPr/>
        </p:nvSpPr>
        <p:spPr>
          <a:xfrm>
            <a:off x="1604963" y="3741738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7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32" name="Rectangle 43"/>
          <p:cNvSpPr/>
          <p:nvPr/>
        </p:nvSpPr>
        <p:spPr>
          <a:xfrm>
            <a:off x="1604963" y="4448175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8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33833" name="Rectangle 44"/>
          <p:cNvSpPr/>
          <p:nvPr/>
        </p:nvSpPr>
        <p:spPr>
          <a:xfrm>
            <a:off x="3357563" y="4448175"/>
            <a:ext cx="376237" cy="352425"/>
          </a:xfrm>
          <a:prstGeom prst="rect">
            <a:avLst/>
          </a:prstGeom>
          <a:noFill/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9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cxnSp>
        <p:nvCxnSpPr>
          <p:cNvPr id="33834" name="AutoShape 58"/>
          <p:cNvCxnSpPr/>
          <p:nvPr/>
        </p:nvCxnSpPr>
        <p:spPr>
          <a:xfrm rot="-10800000" flipH="1">
            <a:off x="838200" y="1889125"/>
            <a:ext cx="657225" cy="1941513"/>
          </a:xfrm>
          <a:prstGeom prst="curvedConnector3">
            <a:avLst>
              <a:gd name="adj1" fmla="val -40477"/>
            </a:avLst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lg"/>
          </a:ln>
        </p:spPr>
      </p:cxnSp>
      <p:cxnSp>
        <p:nvCxnSpPr>
          <p:cNvPr id="33835" name="AutoShape 59"/>
          <p:cNvCxnSpPr/>
          <p:nvPr/>
        </p:nvCxnSpPr>
        <p:spPr>
          <a:xfrm flipV="1">
            <a:off x="2560638" y="2417763"/>
            <a:ext cx="3175" cy="1412875"/>
          </a:xfrm>
          <a:prstGeom prst="curvedConnector3">
            <a:avLst>
              <a:gd name="adj1" fmla="val 13600005"/>
            </a:avLst>
          </a:prstGeom>
          <a:ln w="25400" cap="flat" cmpd="sng">
            <a:solidFill>
              <a:schemeClr val="tx1"/>
            </a:solidFill>
            <a:prstDash val="dash"/>
            <a:headEnd type="none" w="med" len="med"/>
            <a:tailEnd type="triangle" w="med" len="lg"/>
          </a:ln>
        </p:spPr>
      </p:cxnSp>
      <p:graphicFrame>
        <p:nvGraphicFramePr>
          <p:cNvPr id="13373" name="Object 61"/>
          <p:cNvGraphicFramePr>
            <a:graphicFrameLocks noChangeAspect="1"/>
          </p:cNvGraphicFramePr>
          <p:nvPr/>
        </p:nvGraphicFramePr>
        <p:xfrm>
          <a:off x="2414588" y="1600200"/>
          <a:ext cx="627221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79800" imgH="508000" progId="Equation.3">
                  <p:embed/>
                </p:oleObj>
              </mc:Choice>
              <mc:Fallback>
                <p:oleObj r:id="rId4" imgW="3479800" imgH="508000" progId="Equation.3">
                  <p:embed/>
                  <p:pic>
                    <p:nvPicPr>
                      <p:cNvPr id="13373" name="Object 6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4588" y="1600200"/>
                        <a:ext cx="6272212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25" name="Text Box 113"/>
          <p:cNvSpPr txBox="1"/>
          <p:nvPr/>
        </p:nvSpPr>
        <p:spPr>
          <a:xfrm>
            <a:off x="457200" y="4987925"/>
            <a:ext cx="8382000" cy="15684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Therefore,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an 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articulation point</a:t>
            </a:r>
            <a:r>
              <a:rPr lang="en-US" altLang="zh-CN" sz="2400" b="1" dirty="0">
                <a:latin typeface="Times New Roman" panose="02020603050405020304" pitchFamily="18" charset="0"/>
              </a:rPr>
              <a:t> iff</a:t>
            </a: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the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root</a:t>
            </a:r>
            <a:r>
              <a:rPr lang="en-US" altLang="zh-CN" sz="2400" b="1" dirty="0">
                <a:latin typeface="Times New Roman" panose="02020603050405020304" pitchFamily="18" charset="0"/>
              </a:rPr>
              <a:t> and has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at least 2 children</a:t>
            </a:r>
            <a:r>
              <a:rPr lang="en-US" altLang="zh-CN" sz="2400" b="1" dirty="0">
                <a:latin typeface="Times New Roman" panose="02020603050405020304" pitchFamily="18" charset="0"/>
              </a:rPr>
              <a:t>;  or</a:t>
            </a:r>
          </a:p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 is not the root, and has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at least 1 child</a:t>
            </a:r>
            <a:r>
              <a:rPr lang="en-US" altLang="zh-CN" sz="2400" b="1" dirty="0">
                <a:latin typeface="Times New Roman" panose="02020603050405020304" pitchFamily="18" charset="0"/>
              </a:rPr>
              <a:t> such that 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Low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</a:rPr>
              <a:t>child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)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Num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u 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97" name="Text Box 113"/>
          <p:cNvSpPr txBox="1"/>
          <p:nvPr/>
        </p:nvSpPr>
        <p:spPr>
          <a:xfrm>
            <a:off x="3206750" y="2724150"/>
            <a:ext cx="5080000" cy="15684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485775" lvl="0" indent="-485775" eaLnBrk="1" hangingPunct="1">
              <a:spcBef>
                <a:spcPct val="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Low</a:t>
            </a:r>
            <a:r>
              <a:rPr lang="en-US" altLang="zh-CN" sz="2400" b="1" dirty="0">
                <a:latin typeface="Times New Roman" panose="02020603050405020304" pitchFamily="18" charset="0"/>
              </a:rPr>
              <a:t> can be computed efficiently by performing a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postorder traversal</a:t>
            </a:r>
            <a:r>
              <a:rPr lang="en-US" altLang="zh-CN" sz="2400" b="1" dirty="0">
                <a:latin typeface="Times New Roman" panose="02020603050405020304" pitchFamily="18" charset="0"/>
              </a:rPr>
              <a:t> of the DFS spanning tree.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13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0" grpId="0"/>
      <p:bldP spid="13361" grpId="0"/>
      <p:bldP spid="13362" grpId="0"/>
      <p:bldP spid="13363" grpId="0"/>
      <p:bldP spid="13364" grpId="0"/>
      <p:bldP spid="13365" grpId="0"/>
      <p:bldP spid="13366" grpId="0"/>
      <p:bldP spid="13367" grpId="0"/>
      <p:bldP spid="13368" grpId="0"/>
      <p:bldP spid="13369" grpId="0"/>
      <p:bldP spid="13425" grpId="0"/>
      <p:bldP spid="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/>
          <p:nvPr/>
        </p:nvSpPr>
        <p:spPr>
          <a:xfrm>
            <a:off x="477838" y="1885950"/>
            <a:ext cx="8250237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/>
            <a:r>
              <a:rPr lang="en-US" altLang="zh-TW" sz="2800" dirty="0"/>
              <a:t>A </a:t>
            </a:r>
            <a:r>
              <a:rPr lang="en-US" altLang="zh-TW" sz="2800" dirty="0">
                <a:solidFill>
                  <a:srgbClr val="0000FF"/>
                </a:solidFill>
              </a:rPr>
              <a:t>directed</a:t>
            </a:r>
            <a:r>
              <a:rPr lang="en-US" altLang="zh-TW" sz="2800" dirty="0"/>
              <a:t> graph is </a:t>
            </a:r>
            <a:r>
              <a:rPr lang="en-US" altLang="zh-TW" sz="2800" dirty="0">
                <a:solidFill>
                  <a:schemeClr val="hlink"/>
                </a:solidFill>
              </a:rPr>
              <a:t>strongly connected</a:t>
            </a:r>
            <a:r>
              <a:rPr lang="en-US" altLang="zh-TW" sz="2800" dirty="0"/>
              <a:t> if there</a:t>
            </a:r>
            <a:r>
              <a:rPr lang="en-US" altLang="zh-CN" sz="2800" dirty="0"/>
              <a:t> i</a:t>
            </a:r>
            <a:r>
              <a:rPr lang="en-US" altLang="zh-TW" sz="2800" dirty="0"/>
              <a:t>s a directed path from v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 to v</a:t>
            </a:r>
            <a:r>
              <a:rPr lang="en-US" altLang="zh-TW" sz="2800" baseline="-25000" dirty="0"/>
              <a:t>j</a:t>
            </a:r>
            <a:r>
              <a:rPr lang="en-US" altLang="zh-TW" sz="2800" dirty="0"/>
              <a:t> and also </a:t>
            </a:r>
            <a:br>
              <a:rPr lang="en-US" altLang="zh-TW" sz="2800" dirty="0"/>
            </a:br>
            <a:r>
              <a:rPr lang="en-US" altLang="zh-TW" sz="2800" dirty="0"/>
              <a:t>from v</a:t>
            </a:r>
            <a:r>
              <a:rPr lang="en-US" altLang="zh-TW" sz="2800" baseline="-25000" dirty="0"/>
              <a:t>j</a:t>
            </a:r>
            <a:r>
              <a:rPr lang="en-US" altLang="zh-TW" sz="2800" dirty="0"/>
              <a:t> to v</a:t>
            </a:r>
            <a:r>
              <a:rPr lang="en-US" altLang="zh-TW" sz="2800" baseline="-25000" dirty="0"/>
              <a:t>i</a:t>
            </a:r>
            <a:r>
              <a:rPr lang="en-US" altLang="zh-TW" sz="2800" dirty="0"/>
              <a:t>.</a:t>
            </a:r>
          </a:p>
          <a:p>
            <a:pPr marL="342900" lvl="0" indent="-342900"/>
            <a:r>
              <a:rPr lang="en-US" altLang="zh-TW" sz="2800" dirty="0"/>
              <a:t>A </a:t>
            </a:r>
            <a:r>
              <a:rPr lang="en-US" altLang="zh-TW" sz="2800" dirty="0">
                <a:solidFill>
                  <a:schemeClr val="hlink"/>
                </a:solidFill>
              </a:rPr>
              <a:t>strongly connected component</a:t>
            </a:r>
            <a:r>
              <a:rPr lang="en-US" altLang="zh-TW" sz="2800" dirty="0"/>
              <a:t> is a maximal subgraph that is strongly connected.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title"/>
          </p:nvPr>
        </p:nvSpPr>
        <p:spPr>
          <a:xfrm>
            <a:off x="654050" y="663575"/>
            <a:ext cx="7772400" cy="1143000"/>
          </a:xfrm>
          <a:ln/>
        </p:spPr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Strongly Connected</a:t>
            </a:r>
            <a:r>
              <a:rPr lang="en-US" altLang="zh-TW" dirty="0"/>
              <a:t> Component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Oval 4"/>
          <p:cNvSpPr/>
          <p:nvPr/>
        </p:nvSpPr>
        <p:spPr>
          <a:xfrm>
            <a:off x="7183438" y="2300288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4660900" y="2319338"/>
            <a:ext cx="1573213" cy="2190750"/>
            <a:chOff x="2936" y="1461"/>
            <a:chExt cx="991" cy="1380"/>
          </a:xfrm>
        </p:grpSpPr>
        <p:sp>
          <p:nvSpPr>
            <p:cNvPr id="35852" name="Oval 2"/>
            <p:cNvSpPr/>
            <p:nvPr/>
          </p:nvSpPr>
          <p:spPr>
            <a:xfrm>
              <a:off x="3217" y="1461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400" b="1" dirty="0">
                  <a:latin typeface="Times New Roman" panose="02020603050405020304" pitchFamily="18" charset="0"/>
                  <a:ea typeface="PMingLiU" pitchFamily="18" charset="-120"/>
                </a:rPr>
                <a:t>0</a:t>
              </a:r>
            </a:p>
          </p:txBody>
        </p:sp>
        <p:sp>
          <p:nvSpPr>
            <p:cNvPr id="35853" name="Oval 3"/>
            <p:cNvSpPr/>
            <p:nvPr/>
          </p:nvSpPr>
          <p:spPr>
            <a:xfrm>
              <a:off x="3217" y="2421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TW" sz="2400" b="1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</a:p>
          </p:txBody>
        </p:sp>
        <p:sp>
          <p:nvSpPr>
            <p:cNvPr id="35854" name="Arc 5"/>
            <p:cNvSpPr/>
            <p:nvPr/>
          </p:nvSpPr>
          <p:spPr>
            <a:xfrm>
              <a:off x="3620" y="1717"/>
              <a:ext cx="307" cy="792"/>
            </a:xfrm>
            <a:custGeom>
              <a:avLst/>
              <a:gdLst>
                <a:gd name="txL" fmla="*/ 0 w 23751"/>
                <a:gd name="txT" fmla="*/ 0 h 43200"/>
                <a:gd name="txR" fmla="*/ 23751 w 23751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3751" h="43200" fill="none">
                  <a:moveTo>
                    <a:pt x="2150" y="0"/>
                  </a:moveTo>
                  <a:cubicBezTo>
                    <a:pt x="14080" y="0"/>
                    <a:pt x="23751" y="9670"/>
                    <a:pt x="23751" y="21600"/>
                  </a:cubicBezTo>
                  <a:cubicBezTo>
                    <a:pt x="23751" y="33529"/>
                    <a:pt x="14080" y="43200"/>
                    <a:pt x="2151" y="43200"/>
                  </a:cubicBezTo>
                  <a:cubicBezTo>
                    <a:pt x="1432" y="43200"/>
                    <a:pt x="714" y="43164"/>
                    <a:pt x="0" y="43092"/>
                  </a:cubicBezTo>
                </a:path>
                <a:path w="23751" h="43200" stroke="0">
                  <a:moveTo>
                    <a:pt x="2150" y="0"/>
                  </a:moveTo>
                  <a:cubicBezTo>
                    <a:pt x="14080" y="0"/>
                    <a:pt x="23751" y="9670"/>
                    <a:pt x="23751" y="21600"/>
                  </a:cubicBezTo>
                  <a:cubicBezTo>
                    <a:pt x="23751" y="33529"/>
                    <a:pt x="14080" y="43200"/>
                    <a:pt x="2151" y="43200"/>
                  </a:cubicBezTo>
                  <a:cubicBezTo>
                    <a:pt x="1432" y="43200"/>
                    <a:pt x="714" y="43164"/>
                    <a:pt x="0" y="43092"/>
                  </a:cubicBezTo>
                  <a:lnTo>
                    <a:pt x="2151" y="21600"/>
                  </a:lnTo>
                  <a:lnTo>
                    <a:pt x="215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Arc 6"/>
            <p:cNvSpPr/>
            <p:nvPr/>
          </p:nvSpPr>
          <p:spPr>
            <a:xfrm flipH="1">
              <a:off x="2936" y="1729"/>
              <a:ext cx="307" cy="792"/>
            </a:xfrm>
            <a:custGeom>
              <a:avLst/>
              <a:gdLst>
                <a:gd name="txL" fmla="*/ 0 w 23751"/>
                <a:gd name="txT" fmla="*/ 0 h 43200"/>
                <a:gd name="txR" fmla="*/ 23751 w 23751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3751" h="43200" fill="none">
                  <a:moveTo>
                    <a:pt x="2150" y="0"/>
                  </a:moveTo>
                  <a:cubicBezTo>
                    <a:pt x="14080" y="0"/>
                    <a:pt x="23751" y="9670"/>
                    <a:pt x="23751" y="21600"/>
                  </a:cubicBezTo>
                  <a:cubicBezTo>
                    <a:pt x="23751" y="33529"/>
                    <a:pt x="14080" y="43200"/>
                    <a:pt x="2151" y="43200"/>
                  </a:cubicBezTo>
                  <a:cubicBezTo>
                    <a:pt x="1432" y="43200"/>
                    <a:pt x="714" y="43164"/>
                    <a:pt x="0" y="43092"/>
                  </a:cubicBezTo>
                </a:path>
                <a:path w="23751" h="43200" stroke="0">
                  <a:moveTo>
                    <a:pt x="2150" y="0"/>
                  </a:moveTo>
                  <a:cubicBezTo>
                    <a:pt x="14080" y="0"/>
                    <a:pt x="23751" y="9670"/>
                    <a:pt x="23751" y="21600"/>
                  </a:cubicBezTo>
                  <a:cubicBezTo>
                    <a:pt x="23751" y="33529"/>
                    <a:pt x="14080" y="43200"/>
                    <a:pt x="2151" y="43200"/>
                  </a:cubicBezTo>
                  <a:cubicBezTo>
                    <a:pt x="1432" y="43200"/>
                    <a:pt x="714" y="43164"/>
                    <a:pt x="0" y="43092"/>
                  </a:cubicBezTo>
                  <a:lnTo>
                    <a:pt x="2151" y="21600"/>
                  </a:lnTo>
                  <a:lnTo>
                    <a:pt x="215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44" name="Oval 7"/>
          <p:cNvSpPr/>
          <p:nvPr/>
        </p:nvSpPr>
        <p:spPr>
          <a:xfrm>
            <a:off x="2073275" y="2006600"/>
            <a:ext cx="444500" cy="444500"/>
          </a:xfrm>
          <a:prstGeom prst="ellipse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PMingLiU" pitchFamily="18" charset="-120"/>
              </a:rPr>
              <a:t>0</a:t>
            </a:r>
          </a:p>
        </p:txBody>
      </p:sp>
      <p:sp>
        <p:nvSpPr>
          <p:cNvPr id="35845" name="Oval 8"/>
          <p:cNvSpPr/>
          <p:nvPr/>
        </p:nvSpPr>
        <p:spPr>
          <a:xfrm>
            <a:off x="2071688" y="3109913"/>
            <a:ext cx="444500" cy="444500"/>
          </a:xfrm>
          <a:prstGeom prst="ellipse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</a:p>
        </p:txBody>
      </p:sp>
      <p:sp>
        <p:nvSpPr>
          <p:cNvPr id="35846" name="Oval 9"/>
          <p:cNvSpPr/>
          <p:nvPr/>
        </p:nvSpPr>
        <p:spPr>
          <a:xfrm>
            <a:off x="2087563" y="4129088"/>
            <a:ext cx="444500" cy="444500"/>
          </a:xfrm>
          <a:prstGeom prst="ellipse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2075" tIns="46038" rIns="92075" bIns="46038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</a:p>
        </p:txBody>
      </p:sp>
      <p:sp>
        <p:nvSpPr>
          <p:cNvPr id="35847" name="Line 10"/>
          <p:cNvSpPr/>
          <p:nvPr/>
        </p:nvSpPr>
        <p:spPr>
          <a:xfrm>
            <a:off x="2309813" y="3565525"/>
            <a:ext cx="0" cy="558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8" name="Line 11"/>
          <p:cNvSpPr/>
          <p:nvPr/>
        </p:nvSpPr>
        <p:spPr>
          <a:xfrm flipV="1">
            <a:off x="2487613" y="2395538"/>
            <a:ext cx="0" cy="7207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9" name="Line 12"/>
          <p:cNvSpPr/>
          <p:nvPr/>
        </p:nvSpPr>
        <p:spPr>
          <a:xfrm>
            <a:off x="2119313" y="2422525"/>
            <a:ext cx="0" cy="7350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50" name="Rectangle 13"/>
          <p:cNvSpPr/>
          <p:nvPr/>
        </p:nvSpPr>
        <p:spPr>
          <a:xfrm>
            <a:off x="1965325" y="4646613"/>
            <a:ext cx="441325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TW" sz="2800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  <a:endParaRPr lang="en-US" altLang="zh-TW" sz="1800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6160" name="Text Box 16"/>
          <p:cNvSpPr txBox="1"/>
          <p:nvPr/>
        </p:nvSpPr>
        <p:spPr>
          <a:xfrm>
            <a:off x="2590800" y="457200"/>
            <a:ext cx="5897563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chemeClr val="tx2"/>
                </a:solidFill>
                <a:ea typeface="PMingLiU" pitchFamily="18" charset="-120"/>
              </a:rPr>
              <a:t>strongly connected component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CC3300"/>
                </a:solidFill>
                <a:ea typeface="PMingLiU" pitchFamily="18" charset="-120"/>
              </a:rPr>
              <a:t>(maximal strongly connected subgraph)</a:t>
            </a:r>
            <a:endParaRPr lang="en-US" altLang="zh-TW" sz="2400" b="1" dirty="0">
              <a:solidFill>
                <a:schemeClr val="tx2"/>
              </a:solidFill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animBg="1"/>
      <p:bldP spid="616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Oval 2"/>
          <p:cNvSpPr/>
          <p:nvPr/>
        </p:nvSpPr>
        <p:spPr>
          <a:xfrm>
            <a:off x="1335088" y="835025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1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67" name="Oval 3"/>
          <p:cNvSpPr/>
          <p:nvPr/>
        </p:nvSpPr>
        <p:spPr>
          <a:xfrm>
            <a:off x="2316163" y="1903413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2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68" name="Oval 4"/>
          <p:cNvSpPr/>
          <p:nvPr/>
        </p:nvSpPr>
        <p:spPr>
          <a:xfrm>
            <a:off x="381000" y="1963738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3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69" name="Oval 5"/>
          <p:cNvSpPr/>
          <p:nvPr/>
        </p:nvSpPr>
        <p:spPr>
          <a:xfrm>
            <a:off x="4346575" y="750888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4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70" name="Oval 6"/>
          <p:cNvSpPr/>
          <p:nvPr/>
        </p:nvSpPr>
        <p:spPr>
          <a:xfrm>
            <a:off x="5308600" y="1866900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5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71" name="Oval 7"/>
          <p:cNvSpPr/>
          <p:nvPr/>
        </p:nvSpPr>
        <p:spPr>
          <a:xfrm>
            <a:off x="6781800" y="1108075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6872" name="Line 8"/>
          <p:cNvSpPr/>
          <p:nvPr/>
        </p:nvSpPr>
        <p:spPr>
          <a:xfrm>
            <a:off x="1971675" y="1341438"/>
            <a:ext cx="522288" cy="606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3" name="Line 9"/>
          <p:cNvSpPr/>
          <p:nvPr/>
        </p:nvSpPr>
        <p:spPr>
          <a:xfrm flipH="1">
            <a:off x="1104900" y="2279650"/>
            <a:ext cx="11874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4" name="Line 10"/>
          <p:cNvSpPr/>
          <p:nvPr/>
        </p:nvSpPr>
        <p:spPr>
          <a:xfrm flipV="1">
            <a:off x="831850" y="1389063"/>
            <a:ext cx="533400" cy="5826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1"/>
          <p:cNvSpPr/>
          <p:nvPr/>
        </p:nvSpPr>
        <p:spPr>
          <a:xfrm>
            <a:off x="2019300" y="1092200"/>
            <a:ext cx="22907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6" name="Line 12"/>
          <p:cNvSpPr/>
          <p:nvPr/>
        </p:nvSpPr>
        <p:spPr>
          <a:xfrm>
            <a:off x="5011738" y="1104900"/>
            <a:ext cx="557212" cy="7588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7" name="Line 13"/>
          <p:cNvSpPr/>
          <p:nvPr/>
        </p:nvSpPr>
        <p:spPr>
          <a:xfrm flipH="1" flipV="1">
            <a:off x="4927600" y="1354138"/>
            <a:ext cx="476250" cy="6175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78" name="Line 14"/>
          <p:cNvSpPr/>
          <p:nvPr/>
        </p:nvSpPr>
        <p:spPr>
          <a:xfrm flipH="1">
            <a:off x="5997575" y="1614488"/>
            <a:ext cx="842963" cy="5349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7"/>
          <p:cNvGrpSpPr/>
          <p:nvPr/>
        </p:nvGrpSpPr>
        <p:grpSpPr>
          <a:xfrm>
            <a:off x="446088" y="4254500"/>
            <a:ext cx="2620962" cy="1795463"/>
            <a:chOff x="281" y="2680"/>
            <a:chExt cx="1651" cy="1131"/>
          </a:xfrm>
        </p:grpSpPr>
        <p:sp>
          <p:nvSpPr>
            <p:cNvPr id="36887" name="Oval 15"/>
            <p:cNvSpPr/>
            <p:nvPr/>
          </p:nvSpPr>
          <p:spPr>
            <a:xfrm>
              <a:off x="882" y="2680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1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6888" name="Oval 16"/>
            <p:cNvSpPr/>
            <p:nvPr/>
          </p:nvSpPr>
          <p:spPr>
            <a:xfrm>
              <a:off x="1500" y="3353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2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6889" name="Oval 17"/>
            <p:cNvSpPr/>
            <p:nvPr/>
          </p:nvSpPr>
          <p:spPr>
            <a:xfrm>
              <a:off x="281" y="3391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3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6890" name="Line 18"/>
            <p:cNvSpPr/>
            <p:nvPr/>
          </p:nvSpPr>
          <p:spPr>
            <a:xfrm>
              <a:off x="1283" y="2999"/>
              <a:ext cx="329" cy="3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19"/>
            <p:cNvSpPr/>
            <p:nvPr/>
          </p:nvSpPr>
          <p:spPr>
            <a:xfrm flipH="1">
              <a:off x="737" y="3590"/>
              <a:ext cx="7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Line 20"/>
            <p:cNvSpPr/>
            <p:nvPr/>
          </p:nvSpPr>
          <p:spPr>
            <a:xfrm flipV="1">
              <a:off x="565" y="3029"/>
              <a:ext cx="336" cy="3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89" name="Text Box 21"/>
          <p:cNvSpPr txBox="1"/>
          <p:nvPr/>
        </p:nvSpPr>
        <p:spPr>
          <a:xfrm>
            <a:off x="1793875" y="2971800"/>
            <a:ext cx="5897563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chemeClr val="tx2"/>
                </a:solidFill>
                <a:ea typeface="PMingLiU" pitchFamily="18" charset="-120"/>
              </a:rPr>
              <a:t>strongly connected component</a:t>
            </a:r>
          </a:p>
          <a:p>
            <a:pPr marL="0" lvl="0" indent="0" algn="ctr">
              <a:spcBef>
                <a:spcPct val="0"/>
              </a:spcBef>
              <a:buNone/>
            </a:pPr>
            <a:r>
              <a:rPr lang="en-US" altLang="zh-TW" sz="2400" b="1" dirty="0">
                <a:solidFill>
                  <a:srgbClr val="CC3300"/>
                </a:solidFill>
                <a:ea typeface="PMingLiU" pitchFamily="18" charset="-120"/>
              </a:rPr>
              <a:t>(maximal strongly connected subgraph)</a:t>
            </a:r>
            <a:endParaRPr lang="en-US" altLang="zh-TW" sz="2400" b="1" dirty="0">
              <a:solidFill>
                <a:schemeClr val="tx2"/>
              </a:solidFill>
              <a:ea typeface="PMingLiU" pitchFamily="18" charset="-120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3825875" y="4198938"/>
            <a:ext cx="1647825" cy="1782762"/>
            <a:chOff x="2410" y="2645"/>
            <a:chExt cx="1038" cy="1123"/>
          </a:xfrm>
        </p:grpSpPr>
        <p:sp>
          <p:nvSpPr>
            <p:cNvPr id="36883" name="Oval 22"/>
            <p:cNvSpPr/>
            <p:nvPr/>
          </p:nvSpPr>
          <p:spPr>
            <a:xfrm>
              <a:off x="2410" y="2645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4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6884" name="Oval 23"/>
            <p:cNvSpPr/>
            <p:nvPr/>
          </p:nvSpPr>
          <p:spPr>
            <a:xfrm>
              <a:off x="3016" y="3348"/>
              <a:ext cx="432" cy="42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5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6885" name="Line 24"/>
            <p:cNvSpPr/>
            <p:nvPr/>
          </p:nvSpPr>
          <p:spPr>
            <a:xfrm>
              <a:off x="2829" y="2868"/>
              <a:ext cx="351" cy="4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Line 25"/>
            <p:cNvSpPr/>
            <p:nvPr/>
          </p:nvSpPr>
          <p:spPr>
            <a:xfrm flipH="1" flipV="1">
              <a:off x="2776" y="3025"/>
              <a:ext cx="300" cy="3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94" name="Oval 26"/>
          <p:cNvSpPr/>
          <p:nvPr/>
        </p:nvSpPr>
        <p:spPr>
          <a:xfrm>
            <a:off x="6962775" y="4589463"/>
            <a:ext cx="685800" cy="66675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6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9" grpId="0"/>
      <p:bldP spid="71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685800" y="-228600"/>
            <a:ext cx="6870700" cy="1295400"/>
          </a:xfrm>
          <a:ln/>
        </p:spPr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Strong Connectivity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762000" y="1295400"/>
            <a:ext cx="7696200" cy="3657600"/>
          </a:xfrm>
          <a:ln/>
        </p:spPr>
        <p:txBody>
          <a:bodyPr vert="horz" wrap="square" lIns="91440" tIns="45720" rIns="91440" bIns="45720" anchor="t" anchorCtr="0"/>
          <a:lstStyle/>
          <a:p>
            <a:pPr marL="609600" indent="-609600">
              <a:lnSpc>
                <a:spcPct val="90000"/>
              </a:lnSpc>
            </a:pPr>
            <a:r>
              <a:rPr lang="en-US" altLang="zh-CN" sz="2400" dirty="0"/>
              <a:t>The sequence of steps required to find the </a:t>
            </a:r>
            <a:r>
              <a:rPr lang="en-US" altLang="zh-CN" sz="2400" dirty="0">
                <a:solidFill>
                  <a:srgbClr val="FF0000"/>
                </a:solidFill>
              </a:rPr>
              <a:t>strong components</a:t>
            </a:r>
            <a:r>
              <a:rPr lang="en-US" altLang="zh-CN" sz="2400" dirty="0"/>
              <a:t> in a digraph are given below: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zh-CN" sz="2000" dirty="0"/>
              <a:t>Perform the DFS traversal(s) on the given graph G to produce a set of DFS spanning trees called a </a:t>
            </a:r>
            <a:r>
              <a:rPr lang="en-US" altLang="zh-CN" sz="2000" b="1" dirty="0">
                <a:solidFill>
                  <a:schemeClr val="hlink"/>
                </a:solidFill>
              </a:rPr>
              <a:t>DFS spanning forest</a:t>
            </a:r>
            <a:r>
              <a:rPr lang="en-US" altLang="zh-CN" sz="2000" dirty="0"/>
              <a:t>.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/>
            </a:pPr>
            <a:r>
              <a:rPr lang="en-US" altLang="zh-CN" sz="2000" dirty="0"/>
              <a:t>All vertices of the graph </a:t>
            </a:r>
            <a:r>
              <a:rPr lang="en-US" altLang="zh-CN" sz="2000" b="1" dirty="0">
                <a:solidFill>
                  <a:schemeClr val="hlink"/>
                </a:solidFill>
              </a:rPr>
              <a:t>G</a:t>
            </a:r>
            <a:r>
              <a:rPr lang="en-US" altLang="zh-CN" sz="2000" dirty="0"/>
              <a:t> are numbered with the help of </a:t>
            </a:r>
            <a:r>
              <a:rPr lang="en-US" altLang="zh-CN" sz="2000" b="1" dirty="0">
                <a:solidFill>
                  <a:schemeClr val="tx2"/>
                </a:solidFill>
              </a:rPr>
              <a:t>post-order traversal</a:t>
            </a:r>
            <a:r>
              <a:rPr lang="en-US" altLang="zh-CN" sz="2000" dirty="0"/>
              <a:t> of DSF spanning forests</a:t>
            </a:r>
          </a:p>
        </p:txBody>
      </p:sp>
      <p:sp>
        <p:nvSpPr>
          <p:cNvPr id="37892" name="Oval 4"/>
          <p:cNvSpPr/>
          <p:nvPr/>
        </p:nvSpPr>
        <p:spPr>
          <a:xfrm>
            <a:off x="525463" y="4100513"/>
            <a:ext cx="369887" cy="388937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A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893" name="Oval 5"/>
          <p:cNvSpPr/>
          <p:nvPr/>
        </p:nvSpPr>
        <p:spPr>
          <a:xfrm>
            <a:off x="1708150" y="4038600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B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894" name="Oval 6"/>
          <p:cNvSpPr/>
          <p:nvPr/>
        </p:nvSpPr>
        <p:spPr>
          <a:xfrm>
            <a:off x="457200" y="4905375"/>
            <a:ext cx="371475" cy="3905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895" name="Line 7"/>
          <p:cNvSpPr/>
          <p:nvPr/>
        </p:nvSpPr>
        <p:spPr>
          <a:xfrm flipV="1">
            <a:off x="893763" y="4238625"/>
            <a:ext cx="811212" cy="238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6" name="Line 8"/>
          <p:cNvSpPr/>
          <p:nvPr/>
        </p:nvSpPr>
        <p:spPr>
          <a:xfrm flipH="1">
            <a:off x="644525" y="4505325"/>
            <a:ext cx="14288" cy="400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897" name="Oval 10"/>
          <p:cNvSpPr/>
          <p:nvPr/>
        </p:nvSpPr>
        <p:spPr>
          <a:xfrm>
            <a:off x="1704975" y="4848225"/>
            <a:ext cx="369888" cy="3905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C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898" name="Oval 11"/>
          <p:cNvSpPr/>
          <p:nvPr/>
        </p:nvSpPr>
        <p:spPr>
          <a:xfrm>
            <a:off x="457200" y="5772150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899" name="Line 12"/>
          <p:cNvSpPr/>
          <p:nvPr/>
        </p:nvSpPr>
        <p:spPr>
          <a:xfrm flipH="1">
            <a:off x="769938" y="5172075"/>
            <a:ext cx="949325" cy="666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0" name="Line 14"/>
          <p:cNvSpPr/>
          <p:nvPr/>
        </p:nvSpPr>
        <p:spPr>
          <a:xfrm flipH="1" flipV="1">
            <a:off x="893763" y="4371975"/>
            <a:ext cx="811212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1" name="Oval 17"/>
          <p:cNvSpPr/>
          <p:nvPr/>
        </p:nvSpPr>
        <p:spPr>
          <a:xfrm>
            <a:off x="2578100" y="4875213"/>
            <a:ext cx="371475" cy="388937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F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902" name="Oval 19"/>
          <p:cNvSpPr/>
          <p:nvPr/>
        </p:nvSpPr>
        <p:spPr>
          <a:xfrm>
            <a:off x="2578100" y="5781675"/>
            <a:ext cx="371475" cy="3905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J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903" name="Oval 21"/>
          <p:cNvSpPr/>
          <p:nvPr/>
        </p:nvSpPr>
        <p:spPr>
          <a:xfrm>
            <a:off x="3511550" y="4879975"/>
            <a:ext cx="371475" cy="3905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H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904" name="Oval 22"/>
          <p:cNvSpPr/>
          <p:nvPr/>
        </p:nvSpPr>
        <p:spPr>
          <a:xfrm>
            <a:off x="3327400" y="4105275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905" name="Line 24"/>
          <p:cNvSpPr/>
          <p:nvPr/>
        </p:nvSpPr>
        <p:spPr>
          <a:xfrm>
            <a:off x="3576638" y="4505325"/>
            <a:ext cx="146050" cy="385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6" name="Line 25"/>
          <p:cNvSpPr/>
          <p:nvPr/>
        </p:nvSpPr>
        <p:spPr>
          <a:xfrm flipH="1">
            <a:off x="2952750" y="5267325"/>
            <a:ext cx="696913" cy="6381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27"/>
          <p:cNvSpPr/>
          <p:nvPr/>
        </p:nvSpPr>
        <p:spPr>
          <a:xfrm flipH="1">
            <a:off x="644525" y="5305425"/>
            <a:ext cx="0" cy="4667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28"/>
          <p:cNvSpPr/>
          <p:nvPr/>
        </p:nvSpPr>
        <p:spPr>
          <a:xfrm flipH="1">
            <a:off x="1892300" y="4438650"/>
            <a:ext cx="14288" cy="4000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09" name="Oval 29"/>
          <p:cNvSpPr/>
          <p:nvPr/>
        </p:nvSpPr>
        <p:spPr>
          <a:xfrm>
            <a:off x="3514725" y="5772150"/>
            <a:ext cx="371475" cy="390525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I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37910" name="Line 30"/>
          <p:cNvSpPr/>
          <p:nvPr/>
        </p:nvSpPr>
        <p:spPr>
          <a:xfrm>
            <a:off x="2952750" y="5972175"/>
            <a:ext cx="561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31"/>
          <p:cNvSpPr/>
          <p:nvPr/>
        </p:nvSpPr>
        <p:spPr>
          <a:xfrm flipV="1">
            <a:off x="3702050" y="523875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2" name="Line 32"/>
          <p:cNvSpPr/>
          <p:nvPr/>
        </p:nvSpPr>
        <p:spPr>
          <a:xfrm flipH="1">
            <a:off x="2952750" y="5038725"/>
            <a:ext cx="5619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3" name="Line 33"/>
          <p:cNvSpPr/>
          <p:nvPr/>
        </p:nvSpPr>
        <p:spPr>
          <a:xfrm>
            <a:off x="2079625" y="4238625"/>
            <a:ext cx="561975" cy="6667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14" name="Line 34"/>
          <p:cNvSpPr/>
          <p:nvPr/>
        </p:nvSpPr>
        <p:spPr>
          <a:xfrm flipH="1">
            <a:off x="2079625" y="5038725"/>
            <a:ext cx="4984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6"/>
          <p:cNvGrpSpPr/>
          <p:nvPr/>
        </p:nvGrpSpPr>
        <p:grpSpPr>
          <a:xfrm>
            <a:off x="4191000" y="3657600"/>
            <a:ext cx="4638675" cy="2903538"/>
            <a:chOff x="2640" y="2304"/>
            <a:chExt cx="2922" cy="1829"/>
          </a:xfrm>
        </p:grpSpPr>
        <p:sp>
          <p:nvSpPr>
            <p:cNvPr id="37928" name="Oval 37"/>
            <p:cNvSpPr/>
            <p:nvPr/>
          </p:nvSpPr>
          <p:spPr>
            <a:xfrm>
              <a:off x="3072" y="3072"/>
              <a:ext cx="233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29" name="Oval 38"/>
            <p:cNvSpPr/>
            <p:nvPr/>
          </p:nvSpPr>
          <p:spPr>
            <a:xfrm>
              <a:off x="3702" y="2304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0" name="Oval 39"/>
            <p:cNvSpPr/>
            <p:nvPr/>
          </p:nvSpPr>
          <p:spPr>
            <a:xfrm>
              <a:off x="2880" y="3456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D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1" name="Oval 40"/>
            <p:cNvSpPr/>
            <p:nvPr/>
          </p:nvSpPr>
          <p:spPr>
            <a:xfrm>
              <a:off x="3504" y="2784"/>
              <a:ext cx="233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2" name="Oval 41"/>
            <p:cNvSpPr/>
            <p:nvPr/>
          </p:nvSpPr>
          <p:spPr>
            <a:xfrm>
              <a:off x="2640" y="3888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E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3" name="Line 43"/>
            <p:cNvSpPr/>
            <p:nvPr/>
          </p:nvSpPr>
          <p:spPr>
            <a:xfrm flipH="1">
              <a:off x="3648" y="2544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Line 44"/>
            <p:cNvSpPr/>
            <p:nvPr/>
          </p:nvSpPr>
          <p:spPr>
            <a:xfrm flipH="1">
              <a:off x="3264" y="2976"/>
              <a:ext cx="24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5" name="Line 45"/>
            <p:cNvSpPr/>
            <p:nvPr/>
          </p:nvSpPr>
          <p:spPr>
            <a:xfrm flipH="1">
              <a:off x="3024" y="3312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6" name="Line 46"/>
            <p:cNvSpPr/>
            <p:nvPr/>
          </p:nvSpPr>
          <p:spPr>
            <a:xfrm flipH="1">
              <a:off x="2784" y="3696"/>
              <a:ext cx="144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7" name="Oval 48"/>
            <p:cNvSpPr/>
            <p:nvPr/>
          </p:nvSpPr>
          <p:spPr>
            <a:xfrm>
              <a:off x="3990" y="2784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F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8" name="Oval 49"/>
            <p:cNvSpPr/>
            <p:nvPr/>
          </p:nvSpPr>
          <p:spPr>
            <a:xfrm>
              <a:off x="4128" y="336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I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39" name="Oval 50"/>
            <p:cNvSpPr/>
            <p:nvPr/>
          </p:nvSpPr>
          <p:spPr>
            <a:xfrm>
              <a:off x="4896" y="240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H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40" name="Oval 51"/>
            <p:cNvSpPr/>
            <p:nvPr/>
          </p:nvSpPr>
          <p:spPr>
            <a:xfrm>
              <a:off x="5328" y="2400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G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41" name="Oval 52"/>
            <p:cNvSpPr/>
            <p:nvPr/>
          </p:nvSpPr>
          <p:spPr>
            <a:xfrm>
              <a:off x="4704" y="2928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J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7942" name="Line 53"/>
            <p:cNvSpPr/>
            <p:nvPr/>
          </p:nvSpPr>
          <p:spPr>
            <a:xfrm>
              <a:off x="3895" y="2517"/>
              <a:ext cx="192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3" name="Line 54"/>
            <p:cNvSpPr/>
            <p:nvPr/>
          </p:nvSpPr>
          <p:spPr>
            <a:xfrm flipH="1">
              <a:off x="4848" y="2592"/>
              <a:ext cx="4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4" name="Line 55"/>
            <p:cNvSpPr/>
            <p:nvPr/>
          </p:nvSpPr>
          <p:spPr>
            <a:xfrm flipH="1">
              <a:off x="4320" y="3168"/>
              <a:ext cx="432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5" name="Line 56"/>
            <p:cNvSpPr/>
            <p:nvPr/>
          </p:nvSpPr>
          <p:spPr>
            <a:xfrm flipV="1">
              <a:off x="3216" y="2495"/>
              <a:ext cx="528" cy="576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6" name="Line 57"/>
            <p:cNvSpPr/>
            <p:nvPr/>
          </p:nvSpPr>
          <p:spPr>
            <a:xfrm flipH="1">
              <a:off x="3120" y="3024"/>
              <a:ext cx="432" cy="432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Line 58"/>
            <p:cNvSpPr/>
            <p:nvPr/>
          </p:nvSpPr>
          <p:spPr>
            <a:xfrm flipH="1">
              <a:off x="2880" y="3024"/>
              <a:ext cx="768" cy="96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8" name="Line 59"/>
            <p:cNvSpPr/>
            <p:nvPr/>
          </p:nvSpPr>
          <p:spPr>
            <a:xfrm flipH="1">
              <a:off x="3744" y="2928"/>
              <a:ext cx="24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Line 60"/>
            <p:cNvSpPr/>
            <p:nvPr/>
          </p:nvSpPr>
          <p:spPr>
            <a:xfrm flipH="1">
              <a:off x="4176" y="2496"/>
              <a:ext cx="720" cy="336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0" name="Line 61"/>
            <p:cNvSpPr/>
            <p:nvPr/>
          </p:nvSpPr>
          <p:spPr>
            <a:xfrm flipH="1">
              <a:off x="5136" y="2496"/>
              <a:ext cx="192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1" name="Line 62"/>
            <p:cNvSpPr/>
            <p:nvPr/>
          </p:nvSpPr>
          <p:spPr>
            <a:xfrm flipH="1">
              <a:off x="4272" y="2592"/>
              <a:ext cx="1056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2" name="Line 64"/>
            <p:cNvSpPr/>
            <p:nvPr/>
          </p:nvSpPr>
          <p:spPr>
            <a:xfrm flipV="1">
              <a:off x="4272" y="2544"/>
              <a:ext cx="624" cy="816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75" name="Text Box 67"/>
          <p:cNvSpPr txBox="1"/>
          <p:nvPr/>
        </p:nvSpPr>
        <p:spPr>
          <a:xfrm>
            <a:off x="152400" y="57912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7476" name="Text Box 68"/>
          <p:cNvSpPr txBox="1"/>
          <p:nvPr/>
        </p:nvSpPr>
        <p:spPr>
          <a:xfrm>
            <a:off x="152400" y="48768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77" name="Text Box 69"/>
          <p:cNvSpPr txBox="1"/>
          <p:nvPr/>
        </p:nvSpPr>
        <p:spPr>
          <a:xfrm>
            <a:off x="185738" y="408305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78" name="Text Box 70"/>
          <p:cNvSpPr txBox="1"/>
          <p:nvPr/>
        </p:nvSpPr>
        <p:spPr>
          <a:xfrm>
            <a:off x="1752600" y="51816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479" name="Text Box 71"/>
          <p:cNvSpPr txBox="1"/>
          <p:nvPr/>
        </p:nvSpPr>
        <p:spPr>
          <a:xfrm>
            <a:off x="1752600" y="37338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7480" name="Text Box 72"/>
          <p:cNvSpPr txBox="1"/>
          <p:nvPr/>
        </p:nvSpPr>
        <p:spPr>
          <a:xfrm>
            <a:off x="2590800" y="51816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7481" name="Text Box 73"/>
          <p:cNvSpPr txBox="1"/>
          <p:nvPr/>
        </p:nvSpPr>
        <p:spPr>
          <a:xfrm>
            <a:off x="3886200" y="57912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17482" name="Text Box 74"/>
          <p:cNvSpPr txBox="1"/>
          <p:nvPr/>
        </p:nvSpPr>
        <p:spPr>
          <a:xfrm>
            <a:off x="2286000" y="57912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7483" name="Text Box 75"/>
          <p:cNvSpPr txBox="1"/>
          <p:nvPr/>
        </p:nvSpPr>
        <p:spPr>
          <a:xfrm>
            <a:off x="3886200" y="487680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7484" name="Text Box 76"/>
          <p:cNvSpPr txBox="1"/>
          <p:nvPr/>
        </p:nvSpPr>
        <p:spPr>
          <a:xfrm>
            <a:off x="3657600" y="4083050"/>
            <a:ext cx="4572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1600" dirty="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7485" name="Line 77"/>
          <p:cNvSpPr/>
          <p:nvPr/>
        </p:nvSpPr>
        <p:spPr>
          <a:xfrm flipH="1">
            <a:off x="838200" y="50292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27" name="Line 78"/>
          <p:cNvSpPr/>
          <p:nvPr/>
        </p:nvSpPr>
        <p:spPr>
          <a:xfrm flipH="1">
            <a:off x="2895600" y="4475163"/>
            <a:ext cx="4572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75" grpId="0"/>
      <p:bldP spid="17476" grpId="0"/>
      <p:bldP spid="17477" grpId="0"/>
      <p:bldP spid="17478" grpId="0"/>
      <p:bldP spid="17479" grpId="0"/>
      <p:bldP spid="17480" grpId="0"/>
      <p:bldP spid="17481" grpId="0"/>
      <p:bldP spid="17482" grpId="0"/>
      <p:bldP spid="17483" grpId="0"/>
      <p:bldP spid="174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685800" y="-228600"/>
            <a:ext cx="6870700" cy="1600200"/>
          </a:xfrm>
          <a:ln/>
        </p:spPr>
        <p:txBody>
          <a:bodyPr vert="horz" wrap="square" lIns="91440" tIns="45720" rIns="91440" bIns="45720" anchor="b" anchorCtr="0"/>
          <a:lstStyle/>
          <a:p>
            <a:r>
              <a:rPr lang="en-US" altLang="zh-CN" dirty="0"/>
              <a:t>Strong Connectivity</a:t>
            </a: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273050" y="1306513"/>
            <a:ext cx="7696200" cy="3657600"/>
          </a:xfrm>
          <a:ln/>
        </p:spPr>
        <p:txBody>
          <a:bodyPr vert="horz" wrap="square" lIns="91440" tIns="45720" rIns="91440" bIns="45720" anchor="t" anchorCtr="0"/>
          <a:lstStyle/>
          <a:p>
            <a:pPr marL="990600" lvl="1" indent="-533400">
              <a:lnSpc>
                <a:spcPct val="90000"/>
              </a:lnSpc>
              <a:buNone/>
            </a:pPr>
            <a:r>
              <a:rPr lang="en-US" altLang="zh-CN" sz="2000" dirty="0"/>
              <a:t>3.    Obtain </a:t>
            </a:r>
            <a:r>
              <a:rPr lang="en-US" altLang="zh-CN" sz="2000" b="1" dirty="0">
                <a:solidFill>
                  <a:srgbClr val="FF0000"/>
                </a:solidFill>
              </a:rPr>
              <a:t>the reverse graph G</a:t>
            </a:r>
            <a:r>
              <a:rPr lang="en-US" altLang="zh-CN" sz="2000" b="1" baseline="-25000" dirty="0">
                <a:solidFill>
                  <a:srgbClr val="FF0000"/>
                </a:solidFill>
              </a:rPr>
              <a:t>r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of G by reversing the edges of G in G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.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 startAt="4"/>
            </a:pPr>
            <a:r>
              <a:rPr lang="en-US" altLang="zh-CN" sz="2000" dirty="0"/>
              <a:t>Perform the </a:t>
            </a:r>
            <a:r>
              <a:rPr lang="en-US" altLang="zh-CN" sz="2000" b="1" dirty="0">
                <a:solidFill>
                  <a:srgbClr val="FF0000"/>
                </a:solidFill>
              </a:rPr>
              <a:t>DFS</a:t>
            </a:r>
            <a:r>
              <a:rPr lang="en-US" altLang="zh-CN" sz="2000" dirty="0"/>
              <a:t> traversal on graph G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 starting at the vertex which is </a:t>
            </a:r>
            <a:r>
              <a:rPr lang="en-US" altLang="zh-CN" sz="2000" b="1" dirty="0">
                <a:solidFill>
                  <a:srgbClr val="FF0000"/>
                </a:solidFill>
              </a:rPr>
              <a:t>numbered highest </a:t>
            </a:r>
            <a:r>
              <a:rPr lang="en-US" altLang="zh-CN" sz="2000" dirty="0"/>
              <a:t>and mark the vertex as 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‘</a:t>
            </a:r>
            <a:r>
              <a:rPr lang="en-US" altLang="zh-CN" sz="2000" b="1" dirty="0">
                <a:solidFill>
                  <a:schemeClr val="hlink"/>
                </a:solidFill>
              </a:rPr>
              <a:t>visited</a:t>
            </a:r>
            <a:r>
              <a:rPr lang="en-US" altLang="zh-CN" sz="2000" b="1" dirty="0">
                <a:solidFill>
                  <a:schemeClr val="hlink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2000" b="1" dirty="0">
                <a:solidFill>
                  <a:schemeClr val="hlink"/>
                </a:solidFill>
              </a:rPr>
              <a:t>.</a:t>
            </a:r>
            <a:r>
              <a:rPr lang="en-US" altLang="zh-CN" sz="2000" dirty="0"/>
              <a:t> </a:t>
            </a:r>
          </a:p>
          <a:p>
            <a:pPr marL="990600" lvl="1" indent="-533400">
              <a:lnSpc>
                <a:spcPct val="90000"/>
              </a:lnSpc>
              <a:buFontTx/>
              <a:buAutoNum type="arabicPeriod" startAt="4"/>
            </a:pPr>
            <a:r>
              <a:rPr lang="en-US" altLang="zh-CN" sz="2000" dirty="0"/>
              <a:t>If one traversal procedure does not visit all the vertices of G1, perform another DFS traversal starting at the vertex with the highest number among all the remaining vertices.</a:t>
            </a:r>
          </a:p>
        </p:txBody>
      </p:sp>
      <p:grpSp>
        <p:nvGrpSpPr>
          <p:cNvPr id="2" name="Group 54"/>
          <p:cNvGrpSpPr/>
          <p:nvPr/>
        </p:nvGrpSpPr>
        <p:grpSpPr>
          <a:xfrm>
            <a:off x="152400" y="3975100"/>
            <a:ext cx="4191000" cy="2438400"/>
            <a:chOff x="240" y="2448"/>
            <a:chExt cx="2640" cy="1536"/>
          </a:xfrm>
        </p:grpSpPr>
        <p:sp>
          <p:nvSpPr>
            <p:cNvPr id="38946" name="Oval 5"/>
            <p:cNvSpPr/>
            <p:nvPr/>
          </p:nvSpPr>
          <p:spPr>
            <a:xfrm>
              <a:off x="475" y="2679"/>
              <a:ext cx="233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7" name="Oval 6"/>
            <p:cNvSpPr/>
            <p:nvPr/>
          </p:nvSpPr>
          <p:spPr>
            <a:xfrm>
              <a:off x="1220" y="2640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8" name="Oval 7"/>
            <p:cNvSpPr/>
            <p:nvPr/>
          </p:nvSpPr>
          <p:spPr>
            <a:xfrm>
              <a:off x="432" y="3186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D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9" name="Oval 10"/>
            <p:cNvSpPr/>
            <p:nvPr/>
          </p:nvSpPr>
          <p:spPr>
            <a:xfrm>
              <a:off x="1218" y="3150"/>
              <a:ext cx="233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0" name="Oval 11"/>
            <p:cNvSpPr/>
            <p:nvPr/>
          </p:nvSpPr>
          <p:spPr>
            <a:xfrm>
              <a:off x="432" y="3732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E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1" name="Oval 14"/>
            <p:cNvSpPr/>
            <p:nvPr/>
          </p:nvSpPr>
          <p:spPr>
            <a:xfrm>
              <a:off x="1768" y="3167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F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2" name="Oval 15"/>
            <p:cNvSpPr/>
            <p:nvPr/>
          </p:nvSpPr>
          <p:spPr>
            <a:xfrm>
              <a:off x="1768" y="3738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J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3" name="Oval 16"/>
            <p:cNvSpPr/>
            <p:nvPr/>
          </p:nvSpPr>
          <p:spPr>
            <a:xfrm>
              <a:off x="2356" y="317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H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4" name="Oval 17"/>
            <p:cNvSpPr/>
            <p:nvPr/>
          </p:nvSpPr>
          <p:spPr>
            <a:xfrm>
              <a:off x="2240" y="2682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G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5" name="Line 20"/>
            <p:cNvSpPr/>
            <p:nvPr/>
          </p:nvSpPr>
          <p:spPr>
            <a:xfrm flipV="1">
              <a:off x="1993" y="2892"/>
              <a:ext cx="286" cy="3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Oval 23"/>
            <p:cNvSpPr/>
            <p:nvPr/>
          </p:nvSpPr>
          <p:spPr>
            <a:xfrm>
              <a:off x="2358" y="3732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I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57" name="Text Box 29"/>
            <p:cNvSpPr txBox="1"/>
            <p:nvPr/>
          </p:nvSpPr>
          <p:spPr>
            <a:xfrm>
              <a:off x="240" y="3744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58" name="Text Box 30"/>
            <p:cNvSpPr txBox="1"/>
            <p:nvPr/>
          </p:nvSpPr>
          <p:spPr>
            <a:xfrm>
              <a:off x="240" y="3168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59" name="Text Box 31"/>
            <p:cNvSpPr txBox="1"/>
            <p:nvPr/>
          </p:nvSpPr>
          <p:spPr>
            <a:xfrm>
              <a:off x="261" y="2668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8960" name="Text Box 32"/>
            <p:cNvSpPr txBox="1"/>
            <p:nvPr/>
          </p:nvSpPr>
          <p:spPr>
            <a:xfrm>
              <a:off x="1248" y="3360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961" name="Text Box 33"/>
            <p:cNvSpPr txBox="1"/>
            <p:nvPr/>
          </p:nvSpPr>
          <p:spPr>
            <a:xfrm>
              <a:off x="1248" y="2448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8962" name="Text Box 34"/>
            <p:cNvSpPr txBox="1"/>
            <p:nvPr/>
          </p:nvSpPr>
          <p:spPr>
            <a:xfrm>
              <a:off x="1776" y="3360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8963" name="Text Box 35"/>
            <p:cNvSpPr txBox="1"/>
            <p:nvPr/>
          </p:nvSpPr>
          <p:spPr>
            <a:xfrm>
              <a:off x="2592" y="3744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8964" name="Text Box 36"/>
            <p:cNvSpPr txBox="1"/>
            <p:nvPr/>
          </p:nvSpPr>
          <p:spPr>
            <a:xfrm>
              <a:off x="1584" y="3744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8965" name="Text Box 37"/>
            <p:cNvSpPr txBox="1"/>
            <p:nvPr/>
          </p:nvSpPr>
          <p:spPr>
            <a:xfrm>
              <a:off x="2592" y="3168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38966" name="Text Box 38"/>
            <p:cNvSpPr txBox="1"/>
            <p:nvPr/>
          </p:nvSpPr>
          <p:spPr>
            <a:xfrm>
              <a:off x="2448" y="2668"/>
              <a:ext cx="28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50000"/>
                </a:spcBef>
                <a:buNone/>
              </a:pPr>
              <a:r>
                <a:rPr lang="en-US" altLang="zh-CN" sz="1600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8967" name="Line 39"/>
            <p:cNvSpPr/>
            <p:nvPr/>
          </p:nvSpPr>
          <p:spPr>
            <a:xfrm flipH="1">
              <a:off x="720" y="2783"/>
              <a:ext cx="4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8" name="Line 40"/>
            <p:cNvSpPr/>
            <p:nvPr/>
          </p:nvSpPr>
          <p:spPr>
            <a:xfrm>
              <a:off x="720" y="2880"/>
              <a:ext cx="48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9" name="Line 41"/>
            <p:cNvSpPr/>
            <p:nvPr/>
          </p:nvSpPr>
          <p:spPr>
            <a:xfrm flipV="1">
              <a:off x="624" y="3360"/>
              <a:ext cx="624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0" name="Line 42"/>
            <p:cNvSpPr/>
            <p:nvPr/>
          </p:nvSpPr>
          <p:spPr>
            <a:xfrm flipV="1">
              <a:off x="576" y="292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1" name="Line 43"/>
            <p:cNvSpPr/>
            <p:nvPr/>
          </p:nvSpPr>
          <p:spPr>
            <a:xfrm flipV="1">
              <a:off x="556" y="345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2" name="Line 44"/>
            <p:cNvSpPr/>
            <p:nvPr/>
          </p:nvSpPr>
          <p:spPr>
            <a:xfrm>
              <a:off x="672" y="3312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3" name="Line 45"/>
            <p:cNvSpPr/>
            <p:nvPr/>
          </p:nvSpPr>
          <p:spPr>
            <a:xfrm flipV="1">
              <a:off x="1344" y="288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4" name="Line 46"/>
            <p:cNvSpPr/>
            <p:nvPr/>
          </p:nvSpPr>
          <p:spPr>
            <a:xfrm flipH="1" flipV="1">
              <a:off x="1440" y="2832"/>
              <a:ext cx="384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5" name="Line 48"/>
            <p:cNvSpPr/>
            <p:nvPr/>
          </p:nvSpPr>
          <p:spPr>
            <a:xfrm>
              <a:off x="1461" y="3291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6" name="Line 49"/>
            <p:cNvSpPr/>
            <p:nvPr/>
          </p:nvSpPr>
          <p:spPr>
            <a:xfrm>
              <a:off x="2016" y="326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7" name="Line 50"/>
            <p:cNvSpPr/>
            <p:nvPr/>
          </p:nvSpPr>
          <p:spPr>
            <a:xfrm flipH="1" flipV="1">
              <a:off x="2400" y="2880"/>
              <a:ext cx="48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8" name="Line 51"/>
            <p:cNvSpPr/>
            <p:nvPr/>
          </p:nvSpPr>
          <p:spPr>
            <a:xfrm flipV="1">
              <a:off x="1920" y="3360"/>
              <a:ext cx="43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9" name="Line 52"/>
            <p:cNvSpPr/>
            <p:nvPr/>
          </p:nvSpPr>
          <p:spPr>
            <a:xfrm>
              <a:off x="2448" y="340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0" name="Line 53"/>
            <p:cNvSpPr/>
            <p:nvPr/>
          </p:nvSpPr>
          <p:spPr>
            <a:xfrm flipH="1">
              <a:off x="2002" y="386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51" name="Oval 59"/>
          <p:cNvSpPr/>
          <p:nvPr/>
        </p:nvSpPr>
        <p:spPr>
          <a:xfrm>
            <a:off x="8610600" y="4203700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E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grpSp>
        <p:nvGrpSpPr>
          <p:cNvPr id="3" name="Group 81"/>
          <p:cNvGrpSpPr/>
          <p:nvPr/>
        </p:nvGrpSpPr>
        <p:grpSpPr>
          <a:xfrm>
            <a:off x="6030913" y="4194175"/>
            <a:ext cx="1436687" cy="2295525"/>
            <a:chOff x="3799" y="2730"/>
            <a:chExt cx="905" cy="1446"/>
          </a:xfrm>
        </p:grpSpPr>
        <p:sp>
          <p:nvSpPr>
            <p:cNvPr id="38939" name="Oval 55"/>
            <p:cNvSpPr/>
            <p:nvPr/>
          </p:nvSpPr>
          <p:spPr>
            <a:xfrm>
              <a:off x="3991" y="3546"/>
              <a:ext cx="233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C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0" name="Oval 56"/>
            <p:cNvSpPr/>
            <p:nvPr/>
          </p:nvSpPr>
          <p:spPr>
            <a:xfrm>
              <a:off x="4470" y="2730"/>
              <a:ext cx="234" cy="245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B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1" name="Oval 57"/>
            <p:cNvSpPr/>
            <p:nvPr/>
          </p:nvSpPr>
          <p:spPr>
            <a:xfrm>
              <a:off x="3799" y="393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F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2" name="Oval 58"/>
            <p:cNvSpPr/>
            <p:nvPr/>
          </p:nvSpPr>
          <p:spPr>
            <a:xfrm>
              <a:off x="4272" y="3210"/>
              <a:ext cx="233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A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43" name="Line 60"/>
            <p:cNvSpPr/>
            <p:nvPr/>
          </p:nvSpPr>
          <p:spPr>
            <a:xfrm flipH="1">
              <a:off x="4416" y="2970"/>
              <a:ext cx="144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4" name="Line 61"/>
            <p:cNvSpPr/>
            <p:nvPr/>
          </p:nvSpPr>
          <p:spPr>
            <a:xfrm flipH="1">
              <a:off x="4128" y="3402"/>
              <a:ext cx="144" cy="1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5" name="Line 62"/>
            <p:cNvSpPr/>
            <p:nvPr/>
          </p:nvSpPr>
          <p:spPr>
            <a:xfrm flipH="1">
              <a:off x="3943" y="3786"/>
              <a:ext cx="96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56" name="Oval 64"/>
          <p:cNvSpPr/>
          <p:nvPr/>
        </p:nvSpPr>
        <p:spPr>
          <a:xfrm>
            <a:off x="8001000" y="4203700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D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sp>
        <p:nvSpPr>
          <p:cNvPr id="8259" name="Oval 67"/>
          <p:cNvSpPr/>
          <p:nvPr/>
        </p:nvSpPr>
        <p:spPr>
          <a:xfrm>
            <a:off x="4648200" y="4203700"/>
            <a:ext cx="371475" cy="388938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PMingLiU" pitchFamily="18" charset="-120"/>
              </a:rPr>
              <a:t>G</a:t>
            </a:r>
            <a:endParaRPr lang="en-US" altLang="zh-TW" sz="2400" b="1" dirty="0">
              <a:latin typeface="Times New Roman" panose="02020603050405020304" pitchFamily="18" charset="0"/>
              <a:ea typeface="PMingLiU" pitchFamily="18" charset="-120"/>
            </a:endParaRPr>
          </a:p>
        </p:txBody>
      </p:sp>
      <p:grpSp>
        <p:nvGrpSpPr>
          <p:cNvPr id="4" name="Group 80"/>
          <p:cNvGrpSpPr/>
          <p:nvPr/>
        </p:nvGrpSpPr>
        <p:grpSpPr>
          <a:xfrm>
            <a:off x="4724400" y="4194175"/>
            <a:ext cx="1590675" cy="1914525"/>
            <a:chOff x="2976" y="2730"/>
            <a:chExt cx="1002" cy="1206"/>
          </a:xfrm>
        </p:grpSpPr>
        <p:sp>
          <p:nvSpPr>
            <p:cNvPr id="38934" name="Oval 65"/>
            <p:cNvSpPr/>
            <p:nvPr/>
          </p:nvSpPr>
          <p:spPr>
            <a:xfrm>
              <a:off x="2976" y="369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J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35" name="Oval 66"/>
            <p:cNvSpPr/>
            <p:nvPr/>
          </p:nvSpPr>
          <p:spPr>
            <a:xfrm>
              <a:off x="3744" y="2730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H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36" name="Oval 68"/>
            <p:cNvSpPr/>
            <p:nvPr/>
          </p:nvSpPr>
          <p:spPr>
            <a:xfrm>
              <a:off x="3408" y="3264"/>
              <a:ext cx="234" cy="246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PMingLiU" pitchFamily="18" charset="-120"/>
                </a:rPr>
                <a:t>I</a:t>
              </a:r>
              <a:endParaRPr lang="en-US" altLang="zh-TW" sz="2400" b="1" dirty="0">
                <a:latin typeface="Times New Roman" panose="02020603050405020304" pitchFamily="18" charset="0"/>
                <a:ea typeface="PMingLiU" pitchFamily="18" charset="-120"/>
              </a:endParaRPr>
            </a:p>
          </p:txBody>
        </p:sp>
        <p:sp>
          <p:nvSpPr>
            <p:cNvPr id="38937" name="Line 70"/>
            <p:cNvSpPr/>
            <p:nvPr/>
          </p:nvSpPr>
          <p:spPr>
            <a:xfrm flipH="1">
              <a:off x="3552" y="2922"/>
              <a:ext cx="192" cy="3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71"/>
            <p:cNvSpPr/>
            <p:nvPr/>
          </p:nvSpPr>
          <p:spPr>
            <a:xfrm flipH="1">
              <a:off x="3120" y="3462"/>
              <a:ext cx="288" cy="2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74" name="Oval 82"/>
          <p:cNvSpPr/>
          <p:nvPr/>
        </p:nvSpPr>
        <p:spPr>
          <a:xfrm>
            <a:off x="3321050" y="435610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75" name="Oval 83"/>
          <p:cNvSpPr/>
          <p:nvPr/>
        </p:nvSpPr>
        <p:spPr>
          <a:xfrm>
            <a:off x="3505200" y="511810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76" name="Oval 84"/>
          <p:cNvSpPr/>
          <p:nvPr/>
        </p:nvSpPr>
        <p:spPr>
          <a:xfrm>
            <a:off x="3506788" y="6010275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77" name="Oval 85"/>
          <p:cNvSpPr/>
          <p:nvPr/>
        </p:nvSpPr>
        <p:spPr>
          <a:xfrm>
            <a:off x="2568575" y="6021388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78" name="Oval 86"/>
          <p:cNvSpPr/>
          <p:nvPr/>
        </p:nvSpPr>
        <p:spPr>
          <a:xfrm>
            <a:off x="1698625" y="427990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79" name="Oval 87"/>
          <p:cNvSpPr/>
          <p:nvPr/>
        </p:nvSpPr>
        <p:spPr>
          <a:xfrm>
            <a:off x="511175" y="435610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80" name="Oval 88"/>
          <p:cNvSpPr/>
          <p:nvPr/>
        </p:nvSpPr>
        <p:spPr>
          <a:xfrm>
            <a:off x="1709738" y="5084763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81" name="Oval 89"/>
          <p:cNvSpPr/>
          <p:nvPr/>
        </p:nvSpPr>
        <p:spPr>
          <a:xfrm>
            <a:off x="2579688" y="511810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82" name="Oval 90"/>
          <p:cNvSpPr/>
          <p:nvPr/>
        </p:nvSpPr>
        <p:spPr>
          <a:xfrm>
            <a:off x="446088" y="5149850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83" name="Oval 91"/>
          <p:cNvSpPr/>
          <p:nvPr/>
        </p:nvSpPr>
        <p:spPr>
          <a:xfrm>
            <a:off x="446088" y="6010275"/>
            <a:ext cx="381000" cy="381000"/>
          </a:xfrm>
          <a:prstGeom prst="ellipse">
            <a:avLst/>
          </a:prstGeom>
          <a:solidFill>
            <a:srgbClr val="FF6600">
              <a:alpha val="49019"/>
            </a:srgbClr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8284" name="AutoShape 92"/>
          <p:cNvSpPr/>
          <p:nvPr/>
        </p:nvSpPr>
        <p:spPr>
          <a:xfrm>
            <a:off x="1000124" y="4441967"/>
            <a:ext cx="6858000" cy="1828800"/>
          </a:xfrm>
          <a:prstGeom prst="wedgeEllipseCallout">
            <a:avLst>
              <a:gd name="adj1" fmla="val 12685"/>
              <a:gd name="adj2" fmla="val 24653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Study the proof of the algorithm on P.333 by yourself</a:t>
            </a:r>
          </a:p>
        </p:txBody>
      </p:sp>
      <p:sp>
        <p:nvSpPr>
          <p:cNvPr id="6" name="矩形 5"/>
          <p:cNvSpPr/>
          <p:nvPr/>
        </p:nvSpPr>
        <p:spPr>
          <a:xfrm>
            <a:off x="1804988" y="6319838"/>
            <a:ext cx="49530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400" b="1" dirty="0"/>
              <a:t>G</a:t>
            </a:r>
            <a:r>
              <a:rPr lang="en-US" altLang="zh-CN" sz="2400" b="1" baseline="-25000" dirty="0"/>
              <a:t>r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8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1" grpId="0" animBg="1"/>
      <p:bldP spid="8256" grpId="0" animBg="1"/>
      <p:bldP spid="8259" grpId="0" animBg="1"/>
      <p:bldP spid="8274" grpId="0" animBg="1"/>
      <p:bldP spid="8275" grpId="0" animBg="1"/>
      <p:bldP spid="8276" grpId="0" animBg="1"/>
      <p:bldP spid="8277" grpId="0" animBg="1"/>
      <p:bldP spid="8278" grpId="0" animBg="1"/>
      <p:bldP spid="8279" grpId="0" animBg="1"/>
      <p:bldP spid="8280" grpId="0" animBg="1"/>
      <p:bldP spid="8281" grpId="0" animBg="1"/>
      <p:bldP spid="8282" grpId="0" animBg="1"/>
      <p:bldP spid="8283" grpId="0" animBg="1"/>
      <p:bldP spid="8284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/>
          <p:nvPr/>
        </p:nvGrpSpPr>
        <p:grpSpPr>
          <a:xfrm>
            <a:off x="2133600" y="1295400"/>
            <a:ext cx="1905000" cy="2133600"/>
            <a:chOff x="0" y="0"/>
            <a:chExt cx="1200" cy="1344"/>
          </a:xfrm>
        </p:grpSpPr>
        <p:grpSp>
          <p:nvGrpSpPr>
            <p:cNvPr id="39990" name="Group 3"/>
            <p:cNvGrpSpPr/>
            <p:nvPr/>
          </p:nvGrpSpPr>
          <p:grpSpPr>
            <a:xfrm>
              <a:off x="0" y="0"/>
              <a:ext cx="1200" cy="1104"/>
              <a:chOff x="0" y="0"/>
              <a:chExt cx="1200" cy="1104"/>
            </a:xfrm>
          </p:grpSpPr>
          <p:sp>
            <p:nvSpPr>
              <p:cNvPr id="39992" name="Oval 4"/>
              <p:cNvSpPr/>
              <p:nvPr/>
            </p:nvSpPr>
            <p:spPr>
              <a:xfrm>
                <a:off x="432" y="44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9993" name="Oval 5"/>
              <p:cNvSpPr/>
              <p:nvPr/>
            </p:nvSpPr>
            <p:spPr>
              <a:xfrm>
                <a:off x="448" y="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9994" name="Oval 6"/>
              <p:cNvSpPr/>
              <p:nvPr/>
            </p:nvSpPr>
            <p:spPr>
              <a:xfrm>
                <a:off x="928" y="336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9995" name="Oval 7"/>
              <p:cNvSpPr/>
              <p:nvPr/>
            </p:nvSpPr>
            <p:spPr>
              <a:xfrm>
                <a:off x="688" y="90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39996" name="Oval 8"/>
              <p:cNvSpPr/>
              <p:nvPr/>
            </p:nvSpPr>
            <p:spPr>
              <a:xfrm>
                <a:off x="144" y="86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9997" name="Oval 9"/>
              <p:cNvSpPr/>
              <p:nvPr/>
            </p:nvSpPr>
            <p:spPr>
              <a:xfrm>
                <a:off x="0" y="384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9998" name="Line 10"/>
              <p:cNvSpPr/>
              <p:nvPr/>
            </p:nvSpPr>
            <p:spPr>
              <a:xfrm flipH="1">
                <a:off x="144" y="160"/>
                <a:ext cx="320" cy="22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9" name="Line 11"/>
              <p:cNvSpPr/>
              <p:nvPr/>
            </p:nvSpPr>
            <p:spPr>
              <a:xfrm>
                <a:off x="704" y="152"/>
                <a:ext cx="288" cy="19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0" name="Line 12"/>
              <p:cNvSpPr/>
              <p:nvPr/>
            </p:nvSpPr>
            <p:spPr>
              <a:xfrm flipH="1" flipV="1">
                <a:off x="144" y="584"/>
                <a:ext cx="96" cy="2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1" name="Line 13"/>
              <p:cNvSpPr/>
              <p:nvPr/>
            </p:nvSpPr>
            <p:spPr>
              <a:xfrm>
                <a:off x="240" y="552"/>
                <a:ext cx="480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2" name="Line 14"/>
              <p:cNvSpPr/>
              <p:nvPr/>
            </p:nvSpPr>
            <p:spPr>
              <a:xfrm flipV="1">
                <a:off x="864" y="528"/>
                <a:ext cx="144" cy="38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3" name="Line 15"/>
              <p:cNvSpPr/>
              <p:nvPr/>
            </p:nvSpPr>
            <p:spPr>
              <a:xfrm>
                <a:off x="408" y="976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4" name="Line 16"/>
              <p:cNvSpPr/>
              <p:nvPr/>
            </p:nvSpPr>
            <p:spPr>
              <a:xfrm>
                <a:off x="576" y="20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05" name="Line 17"/>
              <p:cNvSpPr/>
              <p:nvPr/>
            </p:nvSpPr>
            <p:spPr>
              <a:xfrm flipV="1">
                <a:off x="696" y="480"/>
                <a:ext cx="240" cy="4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91" name="Rectangle 18"/>
            <p:cNvSpPr/>
            <p:nvPr/>
          </p:nvSpPr>
          <p:spPr>
            <a:xfrm>
              <a:off x="48" y="1140"/>
              <a:ext cx="997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(a)  Digraph G</a:t>
              </a:r>
            </a:p>
          </p:txBody>
        </p:sp>
      </p:grpSp>
      <p:sp>
        <p:nvSpPr>
          <p:cNvPr id="10261" name="Rectangle 21"/>
          <p:cNvSpPr/>
          <p:nvPr/>
        </p:nvSpPr>
        <p:spPr>
          <a:xfrm>
            <a:off x="6672263" y="13843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0262" name="Rectangle 22"/>
          <p:cNvSpPr/>
          <p:nvPr/>
        </p:nvSpPr>
        <p:spPr>
          <a:xfrm>
            <a:off x="7408863" y="19304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0263" name="Rectangle 23"/>
          <p:cNvSpPr/>
          <p:nvPr/>
        </p:nvSpPr>
        <p:spPr>
          <a:xfrm>
            <a:off x="7218363" y="26924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0264" name="Rectangle 24"/>
          <p:cNvSpPr/>
          <p:nvPr/>
        </p:nvSpPr>
        <p:spPr>
          <a:xfrm>
            <a:off x="6088063" y="19304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265" name="Rectangle 25"/>
          <p:cNvSpPr/>
          <p:nvPr/>
        </p:nvSpPr>
        <p:spPr>
          <a:xfrm>
            <a:off x="5922963" y="25146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0266" name="Rectangle 26"/>
          <p:cNvSpPr/>
          <p:nvPr/>
        </p:nvSpPr>
        <p:spPr>
          <a:xfrm>
            <a:off x="5910263" y="3048000"/>
            <a:ext cx="3048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4" name="Group 73"/>
          <p:cNvGrpSpPr/>
          <p:nvPr/>
        </p:nvGrpSpPr>
        <p:grpSpPr>
          <a:xfrm>
            <a:off x="5503863" y="1371600"/>
            <a:ext cx="1930400" cy="1905000"/>
            <a:chOff x="3467" y="864"/>
            <a:chExt cx="1216" cy="1200"/>
          </a:xfrm>
        </p:grpSpPr>
        <p:sp>
          <p:nvSpPr>
            <p:cNvPr id="39979" name="Oval 27"/>
            <p:cNvSpPr/>
            <p:nvPr/>
          </p:nvSpPr>
          <p:spPr>
            <a:xfrm>
              <a:off x="4283" y="1684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9980" name="Oval 28"/>
            <p:cNvSpPr/>
            <p:nvPr/>
          </p:nvSpPr>
          <p:spPr>
            <a:xfrm>
              <a:off x="3931" y="864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81" name="Oval 29"/>
            <p:cNvSpPr/>
            <p:nvPr/>
          </p:nvSpPr>
          <p:spPr>
            <a:xfrm>
              <a:off x="4411" y="1200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982" name="Oval 30"/>
            <p:cNvSpPr/>
            <p:nvPr/>
          </p:nvSpPr>
          <p:spPr>
            <a:xfrm>
              <a:off x="3915" y="1568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9983" name="Oval 31"/>
            <p:cNvSpPr/>
            <p:nvPr/>
          </p:nvSpPr>
          <p:spPr>
            <a:xfrm>
              <a:off x="3467" y="1860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9984" name="Oval 32"/>
            <p:cNvSpPr/>
            <p:nvPr/>
          </p:nvSpPr>
          <p:spPr>
            <a:xfrm>
              <a:off x="3579" y="1208"/>
              <a:ext cx="272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85" name="Line 33"/>
            <p:cNvSpPr/>
            <p:nvPr/>
          </p:nvSpPr>
          <p:spPr>
            <a:xfrm flipH="1">
              <a:off x="3714" y="1024"/>
              <a:ext cx="249" cy="18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6" name="Line 34"/>
            <p:cNvSpPr/>
            <p:nvPr/>
          </p:nvSpPr>
          <p:spPr>
            <a:xfrm>
              <a:off x="4187" y="1016"/>
              <a:ext cx="288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7" name="Line 35"/>
            <p:cNvSpPr/>
            <p:nvPr/>
          </p:nvSpPr>
          <p:spPr>
            <a:xfrm>
              <a:off x="3819" y="1384"/>
              <a:ext cx="240" cy="1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8" name="Line 36"/>
            <p:cNvSpPr/>
            <p:nvPr/>
          </p:nvSpPr>
          <p:spPr>
            <a:xfrm flipV="1">
              <a:off x="3699" y="1776"/>
              <a:ext cx="312" cy="1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9" name="Line 37"/>
            <p:cNvSpPr/>
            <p:nvPr/>
          </p:nvSpPr>
          <p:spPr>
            <a:xfrm flipV="1">
              <a:off x="4411" y="1400"/>
              <a:ext cx="96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8" name="Rectangle 38"/>
          <p:cNvSpPr/>
          <p:nvPr/>
        </p:nvSpPr>
        <p:spPr>
          <a:xfrm>
            <a:off x="5427663" y="3333750"/>
            <a:ext cx="2420937" cy="3238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en-US" altLang="zh-CN" sz="2000" b="1" dirty="0">
                <a:latin typeface="Times New Roman" panose="02020603050405020304" pitchFamily="18" charset="0"/>
              </a:rPr>
              <a:t>(b) After steps 1 and 2</a:t>
            </a:r>
          </a:p>
        </p:txBody>
      </p:sp>
      <p:grpSp>
        <p:nvGrpSpPr>
          <p:cNvPr id="5" name="Group 39"/>
          <p:cNvGrpSpPr/>
          <p:nvPr/>
        </p:nvGrpSpPr>
        <p:grpSpPr>
          <a:xfrm>
            <a:off x="2286000" y="4400550"/>
            <a:ext cx="1905000" cy="2152650"/>
            <a:chOff x="0" y="0"/>
            <a:chExt cx="1200" cy="1356"/>
          </a:xfrm>
        </p:grpSpPr>
        <p:grpSp>
          <p:nvGrpSpPr>
            <p:cNvPr id="39962" name="Group 40"/>
            <p:cNvGrpSpPr/>
            <p:nvPr/>
          </p:nvGrpSpPr>
          <p:grpSpPr>
            <a:xfrm>
              <a:off x="0" y="0"/>
              <a:ext cx="1200" cy="1104"/>
              <a:chOff x="0" y="0"/>
              <a:chExt cx="1200" cy="1104"/>
            </a:xfrm>
          </p:grpSpPr>
          <p:sp>
            <p:nvSpPr>
              <p:cNvPr id="39964" name="Oval 41"/>
              <p:cNvSpPr/>
              <p:nvPr/>
            </p:nvSpPr>
            <p:spPr>
              <a:xfrm>
                <a:off x="448" y="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9965" name="Oval 42"/>
              <p:cNvSpPr/>
              <p:nvPr/>
            </p:nvSpPr>
            <p:spPr>
              <a:xfrm>
                <a:off x="928" y="328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9966" name="Oval 43"/>
              <p:cNvSpPr/>
              <p:nvPr/>
            </p:nvSpPr>
            <p:spPr>
              <a:xfrm>
                <a:off x="432" y="44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39967" name="Oval 44"/>
              <p:cNvSpPr/>
              <p:nvPr/>
            </p:nvSpPr>
            <p:spPr>
              <a:xfrm>
                <a:off x="688" y="90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39968" name="Oval 45"/>
              <p:cNvSpPr/>
              <p:nvPr/>
            </p:nvSpPr>
            <p:spPr>
              <a:xfrm>
                <a:off x="144" y="860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39969" name="Oval 46"/>
              <p:cNvSpPr/>
              <p:nvPr/>
            </p:nvSpPr>
            <p:spPr>
              <a:xfrm>
                <a:off x="0" y="384"/>
                <a:ext cx="272" cy="20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39970" name="Group 47"/>
              <p:cNvGrpSpPr/>
              <p:nvPr/>
            </p:nvGrpSpPr>
            <p:grpSpPr>
              <a:xfrm>
                <a:off x="144" y="152"/>
                <a:ext cx="864" cy="824"/>
                <a:chOff x="0" y="0"/>
                <a:chExt cx="864" cy="824"/>
              </a:xfrm>
            </p:grpSpPr>
            <p:sp>
              <p:nvSpPr>
                <p:cNvPr id="39971" name="Line 48"/>
                <p:cNvSpPr/>
                <p:nvPr/>
              </p:nvSpPr>
              <p:spPr>
                <a:xfrm flipH="1">
                  <a:off x="0" y="8"/>
                  <a:ext cx="320" cy="22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2" name="Line 49"/>
                <p:cNvSpPr/>
                <p:nvPr/>
              </p:nvSpPr>
              <p:spPr>
                <a:xfrm>
                  <a:off x="552" y="0"/>
                  <a:ext cx="288" cy="19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3" name="Line 50"/>
                <p:cNvSpPr/>
                <p:nvPr/>
              </p:nvSpPr>
              <p:spPr>
                <a:xfrm flipH="1" flipV="1">
                  <a:off x="0" y="432"/>
                  <a:ext cx="96" cy="28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4" name="Line 51"/>
                <p:cNvSpPr/>
                <p:nvPr/>
              </p:nvSpPr>
              <p:spPr>
                <a:xfrm>
                  <a:off x="96" y="400"/>
                  <a:ext cx="480" cy="3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5" name="Line 52"/>
                <p:cNvSpPr/>
                <p:nvPr/>
              </p:nvSpPr>
              <p:spPr>
                <a:xfrm flipV="1">
                  <a:off x="720" y="376"/>
                  <a:ext cx="144" cy="384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6" name="Line 53"/>
                <p:cNvSpPr/>
                <p:nvPr/>
              </p:nvSpPr>
              <p:spPr>
                <a:xfrm>
                  <a:off x="288" y="824"/>
                  <a:ext cx="26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7" name="Line 54"/>
                <p:cNvSpPr/>
                <p:nvPr/>
              </p:nvSpPr>
              <p:spPr>
                <a:xfrm>
                  <a:off x="432" y="56"/>
                  <a:ext cx="0" cy="24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978" name="Line 55"/>
                <p:cNvSpPr/>
                <p:nvPr/>
              </p:nvSpPr>
              <p:spPr>
                <a:xfrm flipV="1">
                  <a:off x="552" y="328"/>
                  <a:ext cx="240" cy="48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9963" name="Rectangle 56"/>
            <p:cNvSpPr/>
            <p:nvPr/>
          </p:nvSpPr>
          <p:spPr>
            <a:xfrm>
              <a:off x="0" y="1152"/>
              <a:ext cx="1189" cy="2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(c)  After step 3</a:t>
              </a:r>
            </a:p>
          </p:txBody>
        </p:sp>
      </p:grpSp>
      <p:grpSp>
        <p:nvGrpSpPr>
          <p:cNvPr id="8" name="Group 59"/>
          <p:cNvGrpSpPr/>
          <p:nvPr/>
        </p:nvGrpSpPr>
        <p:grpSpPr>
          <a:xfrm>
            <a:off x="5715000" y="4572000"/>
            <a:ext cx="395288" cy="1600200"/>
            <a:chOff x="0" y="0"/>
            <a:chExt cx="249" cy="1008"/>
          </a:xfrm>
        </p:grpSpPr>
        <p:sp>
          <p:nvSpPr>
            <p:cNvPr id="39957" name="Oval 60"/>
            <p:cNvSpPr/>
            <p:nvPr/>
          </p:nvSpPr>
          <p:spPr>
            <a:xfrm>
              <a:off x="0" y="0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58" name="Line 61"/>
            <p:cNvSpPr/>
            <p:nvPr/>
          </p:nvSpPr>
          <p:spPr>
            <a:xfrm>
              <a:off x="128" y="208"/>
              <a:ext cx="0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Oval 62"/>
            <p:cNvSpPr/>
            <p:nvPr/>
          </p:nvSpPr>
          <p:spPr>
            <a:xfrm>
              <a:off x="0" y="404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9960" name="Line 63"/>
            <p:cNvSpPr/>
            <p:nvPr/>
          </p:nvSpPr>
          <p:spPr>
            <a:xfrm>
              <a:off x="128" y="604"/>
              <a:ext cx="0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1" name="Oval 64"/>
            <p:cNvSpPr/>
            <p:nvPr/>
          </p:nvSpPr>
          <p:spPr>
            <a:xfrm>
              <a:off x="0" y="804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9" name="Group 65"/>
          <p:cNvGrpSpPr/>
          <p:nvPr/>
        </p:nvGrpSpPr>
        <p:grpSpPr>
          <a:xfrm>
            <a:off x="6386513" y="4572000"/>
            <a:ext cx="395287" cy="1600200"/>
            <a:chOff x="0" y="0"/>
            <a:chExt cx="249" cy="1008"/>
          </a:xfrm>
        </p:grpSpPr>
        <p:sp>
          <p:nvSpPr>
            <p:cNvPr id="39952" name="Oval 66"/>
            <p:cNvSpPr/>
            <p:nvPr/>
          </p:nvSpPr>
          <p:spPr>
            <a:xfrm>
              <a:off x="0" y="0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3" name="Line 67"/>
            <p:cNvSpPr/>
            <p:nvPr/>
          </p:nvSpPr>
          <p:spPr>
            <a:xfrm>
              <a:off x="128" y="208"/>
              <a:ext cx="0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4" name="Oval 68"/>
            <p:cNvSpPr/>
            <p:nvPr/>
          </p:nvSpPr>
          <p:spPr>
            <a:xfrm>
              <a:off x="0" y="404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9955" name="Line 69"/>
            <p:cNvSpPr/>
            <p:nvPr/>
          </p:nvSpPr>
          <p:spPr>
            <a:xfrm>
              <a:off x="128" y="604"/>
              <a:ext cx="0" cy="20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6" name="Oval 70"/>
            <p:cNvSpPr/>
            <p:nvPr/>
          </p:nvSpPr>
          <p:spPr>
            <a:xfrm>
              <a:off x="0" y="804"/>
              <a:ext cx="249" cy="20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10311" name="Rectangle 71"/>
          <p:cNvSpPr>
            <a:spLocks noChangeArrowheads="1"/>
          </p:cNvSpPr>
          <p:nvPr/>
        </p:nvSpPr>
        <p:spPr bwMode="auto">
          <a:xfrm>
            <a:off x="4953000" y="6248400"/>
            <a:ext cx="2420938" cy="3238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d)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After steps 4 and 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51" name="Text Box 72"/>
          <p:cNvSpPr txBox="1"/>
          <p:nvPr/>
        </p:nvSpPr>
        <p:spPr>
          <a:xfrm>
            <a:off x="355600" y="736600"/>
            <a:ext cx="51546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50000"/>
              </a:spcBef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Another example: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1" grpId="0"/>
      <p:bldP spid="10262" grpId="0"/>
      <p:bldP spid="10263" grpId="0"/>
      <p:bldP spid="10264" grpId="0"/>
      <p:bldP spid="10265" grpId="0"/>
      <p:bldP spid="10266" grpId="0"/>
      <p:bldP spid="10278" grpId="0"/>
      <p:bldP spid="103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/>
          <p:nvPr/>
        </p:nvSpPr>
        <p:spPr>
          <a:xfrm>
            <a:off x="3124200" y="228600"/>
            <a:ext cx="3962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/>
              <a:t>Euler Circuits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685800" y="1174750"/>
            <a:ext cx="7620000" cy="2057400"/>
            <a:chOff x="432" y="432"/>
            <a:chExt cx="4800" cy="1296"/>
          </a:xfrm>
        </p:grpSpPr>
        <p:sp>
          <p:nvSpPr>
            <p:cNvPr id="41009" name="Rectangle 5"/>
            <p:cNvSpPr/>
            <p:nvPr/>
          </p:nvSpPr>
          <p:spPr>
            <a:xfrm>
              <a:off x="432" y="768"/>
              <a:ext cx="1440" cy="62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0" name="AutoShape 6"/>
            <p:cNvSpPr/>
            <p:nvPr/>
          </p:nvSpPr>
          <p:spPr>
            <a:xfrm>
              <a:off x="432" y="432"/>
              <a:ext cx="1440" cy="336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1" name="AutoShape 7"/>
            <p:cNvSpPr/>
            <p:nvPr/>
          </p:nvSpPr>
          <p:spPr>
            <a:xfrm>
              <a:off x="43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2" name="AutoShape 8"/>
            <p:cNvSpPr/>
            <p:nvPr/>
          </p:nvSpPr>
          <p:spPr>
            <a:xfrm flipH="1">
              <a:off x="43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3" name="Rectangle 9"/>
            <p:cNvSpPr/>
            <p:nvPr/>
          </p:nvSpPr>
          <p:spPr>
            <a:xfrm>
              <a:off x="2112" y="768"/>
              <a:ext cx="1440" cy="62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4" name="AutoShape 10"/>
            <p:cNvSpPr/>
            <p:nvPr/>
          </p:nvSpPr>
          <p:spPr>
            <a:xfrm>
              <a:off x="2112" y="432"/>
              <a:ext cx="1440" cy="336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5" name="AutoShape 11"/>
            <p:cNvSpPr/>
            <p:nvPr/>
          </p:nvSpPr>
          <p:spPr>
            <a:xfrm>
              <a:off x="211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6" name="AutoShape 12"/>
            <p:cNvSpPr/>
            <p:nvPr/>
          </p:nvSpPr>
          <p:spPr>
            <a:xfrm flipH="1">
              <a:off x="211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7" name="AutoShape 13"/>
            <p:cNvSpPr/>
            <p:nvPr/>
          </p:nvSpPr>
          <p:spPr>
            <a:xfrm flipV="1">
              <a:off x="2112" y="1392"/>
              <a:ext cx="1440" cy="336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8" name="Rectangle 14"/>
            <p:cNvSpPr/>
            <p:nvPr/>
          </p:nvSpPr>
          <p:spPr>
            <a:xfrm>
              <a:off x="3792" y="768"/>
              <a:ext cx="1440" cy="62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19" name="AutoShape 15"/>
            <p:cNvSpPr/>
            <p:nvPr/>
          </p:nvSpPr>
          <p:spPr>
            <a:xfrm>
              <a:off x="379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20" name="AutoShape 16"/>
            <p:cNvSpPr/>
            <p:nvPr/>
          </p:nvSpPr>
          <p:spPr>
            <a:xfrm flipH="1">
              <a:off x="3792" y="768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grpSp>
        <p:nvGrpSpPr>
          <p:cNvPr id="3" name="Group 17"/>
          <p:cNvGrpSpPr/>
          <p:nvPr/>
        </p:nvGrpSpPr>
        <p:grpSpPr>
          <a:xfrm>
            <a:off x="762000" y="3352800"/>
            <a:ext cx="7620000" cy="762000"/>
            <a:chOff x="480" y="2064"/>
            <a:chExt cx="4800" cy="480"/>
          </a:xfrm>
        </p:grpSpPr>
        <p:pic>
          <p:nvPicPr>
            <p:cNvPr id="41007" name="Picture 18" descr="DART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" y="2112"/>
              <a:ext cx="432" cy="4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08" name="Text Box 19"/>
            <p:cNvSpPr txBox="1"/>
            <p:nvPr/>
          </p:nvSpPr>
          <p:spPr>
            <a:xfrm>
              <a:off x="912" y="2064"/>
              <a:ext cx="4368" cy="44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/>
                <a:t>Draw each line exactly once without lifting your pen from the paper – </a:t>
              </a:r>
              <a:r>
                <a:rPr lang="en-US" altLang="zh-CN" sz="2000" b="1" i="1" dirty="0">
                  <a:solidFill>
                    <a:schemeClr val="hlink"/>
                  </a:solidFill>
                </a:rPr>
                <a:t>Euler tour problem</a:t>
              </a:r>
            </a:p>
          </p:txBody>
        </p:sp>
      </p:grpSp>
      <p:grpSp>
        <p:nvGrpSpPr>
          <p:cNvPr id="4" name="Group 20"/>
          <p:cNvGrpSpPr/>
          <p:nvPr/>
        </p:nvGrpSpPr>
        <p:grpSpPr>
          <a:xfrm>
            <a:off x="762000" y="4114800"/>
            <a:ext cx="7620000" cy="1006475"/>
            <a:chOff x="480" y="2688"/>
            <a:chExt cx="4800" cy="634"/>
          </a:xfrm>
        </p:grpSpPr>
        <p:pic>
          <p:nvPicPr>
            <p:cNvPr id="41005" name="Picture 21" descr="DARTS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" y="2736"/>
              <a:ext cx="432" cy="43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06" name="Text Box 22"/>
            <p:cNvSpPr txBox="1"/>
            <p:nvPr/>
          </p:nvSpPr>
          <p:spPr>
            <a:xfrm>
              <a:off x="912" y="2688"/>
              <a:ext cx="4368" cy="634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000" b="1" dirty="0"/>
                <a:t>Draw each line exactly once without lifting your pen from the paper, AND finish at the starting point – </a:t>
              </a:r>
              <a:r>
                <a:rPr lang="en-US" altLang="zh-CN" sz="2000" b="1" i="1" dirty="0">
                  <a:solidFill>
                    <a:schemeClr val="hlink"/>
                  </a:solidFill>
                </a:rPr>
                <a:t>Euler circuit problem</a:t>
              </a:r>
            </a:p>
          </p:txBody>
        </p:sp>
      </p:grpSp>
      <p:sp>
        <p:nvSpPr>
          <p:cNvPr id="14359" name="Line 23"/>
          <p:cNvSpPr/>
          <p:nvPr/>
        </p:nvSpPr>
        <p:spPr>
          <a:xfrm flipV="1">
            <a:off x="685800" y="1676400"/>
            <a:ext cx="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0" name="Line 24"/>
          <p:cNvSpPr/>
          <p:nvPr/>
        </p:nvSpPr>
        <p:spPr>
          <a:xfrm flipV="1">
            <a:off x="685800" y="1143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1" name="Line 25"/>
          <p:cNvSpPr/>
          <p:nvPr/>
        </p:nvSpPr>
        <p:spPr>
          <a:xfrm>
            <a:off x="1828800" y="1143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2" name="Line 26"/>
          <p:cNvSpPr/>
          <p:nvPr/>
        </p:nvSpPr>
        <p:spPr>
          <a:xfrm flipH="1">
            <a:off x="685800" y="1676400"/>
            <a:ext cx="22860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3" name="Line 27"/>
          <p:cNvSpPr/>
          <p:nvPr/>
        </p:nvSpPr>
        <p:spPr>
          <a:xfrm>
            <a:off x="685800" y="1676400"/>
            <a:ext cx="228600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4" name="Line 28"/>
          <p:cNvSpPr/>
          <p:nvPr/>
        </p:nvSpPr>
        <p:spPr>
          <a:xfrm flipH="1">
            <a:off x="685800" y="2667000"/>
            <a:ext cx="22860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5" name="Line 29"/>
          <p:cNvSpPr/>
          <p:nvPr/>
        </p:nvSpPr>
        <p:spPr>
          <a:xfrm flipV="1">
            <a:off x="685800" y="1676400"/>
            <a:ext cx="228600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6" name="Line 30"/>
          <p:cNvSpPr/>
          <p:nvPr/>
        </p:nvSpPr>
        <p:spPr>
          <a:xfrm>
            <a:off x="2971800" y="1676400"/>
            <a:ext cx="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7" name="Line 31"/>
          <p:cNvSpPr/>
          <p:nvPr/>
        </p:nvSpPr>
        <p:spPr>
          <a:xfrm flipH="1">
            <a:off x="3352800" y="1143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8" name="Line 32"/>
          <p:cNvSpPr/>
          <p:nvPr/>
        </p:nvSpPr>
        <p:spPr>
          <a:xfrm>
            <a:off x="3352800" y="1676400"/>
            <a:ext cx="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69" name="Line 33"/>
          <p:cNvSpPr/>
          <p:nvPr/>
        </p:nvSpPr>
        <p:spPr>
          <a:xfrm>
            <a:off x="3352800" y="2667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0" name="Line 34"/>
          <p:cNvSpPr/>
          <p:nvPr/>
        </p:nvSpPr>
        <p:spPr>
          <a:xfrm flipV="1">
            <a:off x="4495800" y="2667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1" name="Line 35"/>
          <p:cNvSpPr/>
          <p:nvPr/>
        </p:nvSpPr>
        <p:spPr>
          <a:xfrm flipV="1">
            <a:off x="5638800" y="1676400"/>
            <a:ext cx="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2" name="Line 36"/>
          <p:cNvSpPr/>
          <p:nvPr/>
        </p:nvSpPr>
        <p:spPr>
          <a:xfrm flipH="1">
            <a:off x="3352800" y="1676400"/>
            <a:ext cx="228600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3" name="Line 37"/>
          <p:cNvSpPr/>
          <p:nvPr/>
        </p:nvSpPr>
        <p:spPr>
          <a:xfrm>
            <a:off x="3352800" y="2667000"/>
            <a:ext cx="22860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4" name="Line 38"/>
          <p:cNvSpPr/>
          <p:nvPr/>
        </p:nvSpPr>
        <p:spPr>
          <a:xfrm flipH="1" flipV="1">
            <a:off x="3352800" y="1676400"/>
            <a:ext cx="2286000" cy="9906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5" name="Line 39"/>
          <p:cNvSpPr/>
          <p:nvPr/>
        </p:nvSpPr>
        <p:spPr>
          <a:xfrm>
            <a:off x="3352800" y="1676400"/>
            <a:ext cx="2286000" cy="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6" name="Line 40"/>
          <p:cNvSpPr/>
          <p:nvPr/>
        </p:nvSpPr>
        <p:spPr>
          <a:xfrm flipH="1" flipV="1">
            <a:off x="4495800" y="1143000"/>
            <a:ext cx="1143000" cy="533400"/>
          </a:xfrm>
          <a:prstGeom prst="line">
            <a:avLst/>
          </a:prstGeom>
          <a:ln w="508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77" name="Text Box 41"/>
          <p:cNvSpPr txBox="1"/>
          <p:nvPr/>
        </p:nvSpPr>
        <p:spPr>
          <a:xfrm>
            <a:off x="609600" y="4953000"/>
            <a:ext cx="78486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Proposition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r>
              <a:rPr lang="en-US" altLang="zh-CN" sz="2400" b="1" dirty="0"/>
              <a:t>  </a:t>
            </a:r>
            <a:r>
              <a:rPr lang="en-US" altLang="zh-CN" sz="2000" b="1" dirty="0"/>
              <a:t>An Euler circuit is possible only if the graph is connected and each vertex has an </a:t>
            </a:r>
            <a:r>
              <a:rPr lang="en-US" altLang="zh-CN" sz="2000" b="1" dirty="0">
                <a:solidFill>
                  <a:schemeClr val="hlink"/>
                </a:solidFill>
              </a:rPr>
              <a:t>even</a:t>
            </a:r>
            <a:r>
              <a:rPr lang="en-US" altLang="zh-CN" sz="2000" b="1" dirty="0"/>
              <a:t> degree.</a:t>
            </a:r>
          </a:p>
        </p:txBody>
      </p:sp>
      <p:grpSp>
        <p:nvGrpSpPr>
          <p:cNvPr id="5" name="Group 42"/>
          <p:cNvGrpSpPr/>
          <p:nvPr/>
        </p:nvGrpSpPr>
        <p:grpSpPr>
          <a:xfrm>
            <a:off x="533400" y="990600"/>
            <a:ext cx="7924800" cy="2362200"/>
            <a:chOff x="336" y="528"/>
            <a:chExt cx="4992" cy="1488"/>
          </a:xfrm>
        </p:grpSpPr>
        <p:sp>
          <p:nvSpPr>
            <p:cNvPr id="40987" name="Oval 43"/>
            <p:cNvSpPr/>
            <p:nvPr/>
          </p:nvSpPr>
          <p:spPr>
            <a:xfrm>
              <a:off x="1056" y="52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8" name="Oval 44"/>
            <p:cNvSpPr/>
            <p:nvPr/>
          </p:nvSpPr>
          <p:spPr>
            <a:xfrm>
              <a:off x="33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89" name="Oval 45"/>
            <p:cNvSpPr/>
            <p:nvPr/>
          </p:nvSpPr>
          <p:spPr>
            <a:xfrm>
              <a:off x="1056" y="120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0" name="Oval 46"/>
            <p:cNvSpPr/>
            <p:nvPr/>
          </p:nvSpPr>
          <p:spPr>
            <a:xfrm>
              <a:off x="177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1" name="Oval 47"/>
            <p:cNvSpPr/>
            <p:nvPr/>
          </p:nvSpPr>
          <p:spPr>
            <a:xfrm>
              <a:off x="177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2" name="Oval 48"/>
            <p:cNvSpPr/>
            <p:nvPr/>
          </p:nvSpPr>
          <p:spPr>
            <a:xfrm>
              <a:off x="201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3" name="Oval 49"/>
            <p:cNvSpPr/>
            <p:nvPr/>
          </p:nvSpPr>
          <p:spPr>
            <a:xfrm>
              <a:off x="33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4" name="Oval 50"/>
            <p:cNvSpPr/>
            <p:nvPr/>
          </p:nvSpPr>
          <p:spPr>
            <a:xfrm>
              <a:off x="201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5" name="Oval 51"/>
            <p:cNvSpPr/>
            <p:nvPr/>
          </p:nvSpPr>
          <p:spPr>
            <a:xfrm>
              <a:off x="2736" y="120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6" name="Oval 52"/>
            <p:cNvSpPr/>
            <p:nvPr/>
          </p:nvSpPr>
          <p:spPr>
            <a:xfrm>
              <a:off x="2736" y="52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7" name="Oval 53"/>
            <p:cNvSpPr/>
            <p:nvPr/>
          </p:nvSpPr>
          <p:spPr>
            <a:xfrm>
              <a:off x="2736" y="182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8" name="Oval 54"/>
            <p:cNvSpPr/>
            <p:nvPr/>
          </p:nvSpPr>
          <p:spPr>
            <a:xfrm>
              <a:off x="345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0999" name="Oval 55"/>
            <p:cNvSpPr/>
            <p:nvPr/>
          </p:nvSpPr>
          <p:spPr>
            <a:xfrm>
              <a:off x="369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0" name="Oval 56"/>
            <p:cNvSpPr/>
            <p:nvPr/>
          </p:nvSpPr>
          <p:spPr>
            <a:xfrm>
              <a:off x="345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1" name="Oval 57"/>
            <p:cNvSpPr/>
            <p:nvPr/>
          </p:nvSpPr>
          <p:spPr>
            <a:xfrm>
              <a:off x="369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2" name="Oval 58"/>
            <p:cNvSpPr/>
            <p:nvPr/>
          </p:nvSpPr>
          <p:spPr>
            <a:xfrm>
              <a:off x="5136" y="86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3" name="Oval 59"/>
            <p:cNvSpPr/>
            <p:nvPr/>
          </p:nvSpPr>
          <p:spPr>
            <a:xfrm>
              <a:off x="5136" y="1488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1004" name="Oval 60"/>
            <p:cNvSpPr/>
            <p:nvPr/>
          </p:nvSpPr>
          <p:spPr>
            <a:xfrm>
              <a:off x="4416" y="120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</p:grpSp>
      <p:sp>
        <p:nvSpPr>
          <p:cNvPr id="14397" name="Text Box 61"/>
          <p:cNvSpPr txBox="1"/>
          <p:nvPr/>
        </p:nvSpPr>
        <p:spPr>
          <a:xfrm>
            <a:off x="609600" y="5715000"/>
            <a:ext cx="78486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92100" lvl="0" indent="-29210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ea typeface="MS Hei" pitchFamily="49" charset="-122"/>
              </a:rPr>
              <a:t>〖</a:t>
            </a:r>
            <a:r>
              <a:rPr lang="en-US" altLang="zh-CN" sz="2400" b="1" dirty="0"/>
              <a:t>Proposition</a:t>
            </a:r>
            <a:r>
              <a:rPr lang="en-US" altLang="zh-CN" sz="2400" b="1" dirty="0">
                <a:ea typeface="MS Hei" pitchFamily="49" charset="-122"/>
              </a:rPr>
              <a:t>〗</a:t>
            </a:r>
            <a:r>
              <a:rPr lang="en-US" altLang="zh-CN" sz="2400" b="1" dirty="0"/>
              <a:t>  </a:t>
            </a:r>
            <a:r>
              <a:rPr lang="en-US" altLang="zh-CN" sz="2000" b="1" dirty="0"/>
              <a:t>An Euler tour is possible if there are exactly </a:t>
            </a:r>
            <a:r>
              <a:rPr lang="en-US" altLang="zh-CN" sz="2000" b="1" dirty="0">
                <a:solidFill>
                  <a:schemeClr val="hlink"/>
                </a:solidFill>
              </a:rPr>
              <a:t>two</a:t>
            </a:r>
            <a:r>
              <a:rPr lang="en-US" altLang="zh-CN" sz="2000" b="1" dirty="0"/>
              <a:t> vertices having odd degree.  One must start at one of the odd-degree vertices.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4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4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4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77" grpId="0"/>
      <p:bldP spid="1439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914400" y="381000"/>
            <a:ext cx="7162800" cy="2362200"/>
            <a:chOff x="576" y="384"/>
            <a:chExt cx="4512" cy="1488"/>
          </a:xfrm>
        </p:grpSpPr>
        <p:sp>
          <p:nvSpPr>
            <p:cNvPr id="42012" name="Line 4"/>
            <p:cNvSpPr/>
            <p:nvPr/>
          </p:nvSpPr>
          <p:spPr>
            <a:xfrm>
              <a:off x="3552" y="816"/>
              <a:ext cx="1440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Line 5"/>
            <p:cNvSpPr/>
            <p:nvPr/>
          </p:nvSpPr>
          <p:spPr>
            <a:xfrm flipV="1">
              <a:off x="3552" y="816"/>
              <a:ext cx="1440" cy="62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AutoShape 6"/>
            <p:cNvSpPr/>
            <p:nvPr/>
          </p:nvSpPr>
          <p:spPr>
            <a:xfrm rot="-5400000">
              <a:off x="1440" y="768"/>
              <a:ext cx="624" cy="720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15" name="Rectangle 7"/>
            <p:cNvSpPr/>
            <p:nvPr/>
          </p:nvSpPr>
          <p:spPr>
            <a:xfrm>
              <a:off x="672" y="836"/>
              <a:ext cx="1440" cy="62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16" name="Rectangle 8"/>
            <p:cNvSpPr/>
            <p:nvPr/>
          </p:nvSpPr>
          <p:spPr>
            <a:xfrm>
              <a:off x="2112" y="836"/>
              <a:ext cx="1440" cy="624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17" name="AutoShape 9"/>
            <p:cNvSpPr/>
            <p:nvPr/>
          </p:nvSpPr>
          <p:spPr>
            <a:xfrm>
              <a:off x="2112" y="500"/>
              <a:ext cx="1440" cy="336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18" name="AutoShape 10"/>
            <p:cNvSpPr/>
            <p:nvPr/>
          </p:nvSpPr>
          <p:spPr>
            <a:xfrm>
              <a:off x="2112" y="836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19" name="AutoShape 11"/>
            <p:cNvSpPr/>
            <p:nvPr/>
          </p:nvSpPr>
          <p:spPr>
            <a:xfrm flipH="1">
              <a:off x="2112" y="836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20" name="AutoShape 12"/>
            <p:cNvSpPr/>
            <p:nvPr/>
          </p:nvSpPr>
          <p:spPr>
            <a:xfrm flipV="1">
              <a:off x="2112" y="1460"/>
              <a:ext cx="1440" cy="336"/>
            </a:xfrm>
            <a:prstGeom prst="triangle">
              <a:avLst>
                <a:gd name="adj" fmla="val 50000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21" name="AutoShape 13"/>
            <p:cNvSpPr/>
            <p:nvPr/>
          </p:nvSpPr>
          <p:spPr>
            <a:xfrm>
              <a:off x="3552" y="836"/>
              <a:ext cx="1440" cy="624"/>
            </a:xfrm>
            <a:prstGeom prst="rtTriangle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1800" dirty="0"/>
            </a:p>
          </p:txBody>
        </p:sp>
        <p:sp>
          <p:nvSpPr>
            <p:cNvPr id="42022" name="Oval 14"/>
            <p:cNvSpPr/>
            <p:nvPr/>
          </p:nvSpPr>
          <p:spPr>
            <a:xfrm>
              <a:off x="576" y="72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2023" name="Oval 15"/>
            <p:cNvSpPr/>
            <p:nvPr/>
          </p:nvSpPr>
          <p:spPr>
            <a:xfrm>
              <a:off x="1296" y="1056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2024" name="Oval 16"/>
            <p:cNvSpPr/>
            <p:nvPr/>
          </p:nvSpPr>
          <p:spPr>
            <a:xfrm>
              <a:off x="2016" y="134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2025" name="Oval 17"/>
            <p:cNvSpPr/>
            <p:nvPr/>
          </p:nvSpPr>
          <p:spPr>
            <a:xfrm>
              <a:off x="576" y="134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2026" name="Oval 18"/>
            <p:cNvSpPr/>
            <p:nvPr/>
          </p:nvSpPr>
          <p:spPr>
            <a:xfrm>
              <a:off x="2016" y="72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2027" name="Oval 19"/>
            <p:cNvSpPr/>
            <p:nvPr/>
          </p:nvSpPr>
          <p:spPr>
            <a:xfrm>
              <a:off x="2736" y="1056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2028" name="Oval 20"/>
            <p:cNvSpPr/>
            <p:nvPr/>
          </p:nvSpPr>
          <p:spPr>
            <a:xfrm>
              <a:off x="2736" y="38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2029" name="Oval 21"/>
            <p:cNvSpPr/>
            <p:nvPr/>
          </p:nvSpPr>
          <p:spPr>
            <a:xfrm>
              <a:off x="2736" y="168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42030" name="Oval 22"/>
            <p:cNvSpPr/>
            <p:nvPr/>
          </p:nvSpPr>
          <p:spPr>
            <a:xfrm>
              <a:off x="3456" y="72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2031" name="Oval 23"/>
            <p:cNvSpPr/>
            <p:nvPr/>
          </p:nvSpPr>
          <p:spPr>
            <a:xfrm>
              <a:off x="3456" y="134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2032" name="Oval 24"/>
            <p:cNvSpPr/>
            <p:nvPr/>
          </p:nvSpPr>
          <p:spPr>
            <a:xfrm>
              <a:off x="4896" y="720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2033" name="Oval 25"/>
            <p:cNvSpPr/>
            <p:nvPr/>
          </p:nvSpPr>
          <p:spPr>
            <a:xfrm>
              <a:off x="4896" y="1344"/>
              <a:ext cx="192" cy="192"/>
            </a:xfrm>
            <a:prstGeom prst="ellipse">
              <a:avLst/>
            </a:prstGeom>
            <a:solidFill>
              <a:srgbClr val="FFFFFF"/>
            </a:soli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11</a:t>
              </a:r>
            </a:p>
          </p:txBody>
        </p:sp>
      </p:grpSp>
      <p:sp>
        <p:nvSpPr>
          <p:cNvPr id="15386" name="Oval 26"/>
          <p:cNvSpPr/>
          <p:nvPr/>
        </p:nvSpPr>
        <p:spPr>
          <a:xfrm>
            <a:off x="7772400" y="9144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87" name="Line 27"/>
          <p:cNvSpPr/>
          <p:nvPr/>
        </p:nvSpPr>
        <p:spPr>
          <a:xfrm flipH="1">
            <a:off x="5791200" y="1066800"/>
            <a:ext cx="1981200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8" name="Line 28"/>
          <p:cNvSpPr/>
          <p:nvPr/>
        </p:nvSpPr>
        <p:spPr>
          <a:xfrm>
            <a:off x="5638800" y="1219200"/>
            <a:ext cx="0" cy="68580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89" name="Line 29"/>
          <p:cNvSpPr/>
          <p:nvPr/>
        </p:nvSpPr>
        <p:spPr>
          <a:xfrm flipV="1">
            <a:off x="5791200" y="1143000"/>
            <a:ext cx="1981200" cy="83820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0" name="Oval 30"/>
          <p:cNvSpPr/>
          <p:nvPr/>
        </p:nvSpPr>
        <p:spPr>
          <a:xfrm>
            <a:off x="5486400" y="914400"/>
            <a:ext cx="304800" cy="304800"/>
          </a:xfrm>
          <a:prstGeom prst="ellipse">
            <a:avLst/>
          </a:prstGeom>
          <a:solidFill>
            <a:srgbClr val="FF0000">
              <a:alpha val="50195"/>
            </a:srgbClr>
          </a:solidFill>
          <a:ln w="25400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/>
          </a:p>
        </p:txBody>
      </p:sp>
      <p:sp>
        <p:nvSpPr>
          <p:cNvPr id="15391" name="Line 31"/>
          <p:cNvSpPr/>
          <p:nvPr/>
        </p:nvSpPr>
        <p:spPr>
          <a:xfrm flipH="1" flipV="1">
            <a:off x="4648200" y="609600"/>
            <a:ext cx="838200" cy="4572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2" name="Line 32"/>
          <p:cNvSpPr/>
          <p:nvPr/>
        </p:nvSpPr>
        <p:spPr>
          <a:xfrm flipH="1">
            <a:off x="3505200" y="609600"/>
            <a:ext cx="838200" cy="3810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3" name="Line 33"/>
          <p:cNvSpPr/>
          <p:nvPr/>
        </p:nvSpPr>
        <p:spPr>
          <a:xfrm>
            <a:off x="3505200" y="1143000"/>
            <a:ext cx="838200" cy="3810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4" name="Line 34"/>
          <p:cNvSpPr/>
          <p:nvPr/>
        </p:nvSpPr>
        <p:spPr>
          <a:xfrm flipV="1">
            <a:off x="4648200" y="1143000"/>
            <a:ext cx="838200" cy="3810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5" name="Line 35"/>
          <p:cNvSpPr/>
          <p:nvPr/>
        </p:nvSpPr>
        <p:spPr>
          <a:xfrm>
            <a:off x="5791200" y="1143000"/>
            <a:ext cx="1981200" cy="9144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6" name="Line 36"/>
          <p:cNvSpPr/>
          <p:nvPr/>
        </p:nvSpPr>
        <p:spPr>
          <a:xfrm flipH="1">
            <a:off x="5791200" y="2057400"/>
            <a:ext cx="19812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7" name="Line 37"/>
          <p:cNvSpPr/>
          <p:nvPr/>
        </p:nvSpPr>
        <p:spPr>
          <a:xfrm flipH="1" flipV="1">
            <a:off x="4648200" y="1676400"/>
            <a:ext cx="838200" cy="3810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8" name="Line 38"/>
          <p:cNvSpPr/>
          <p:nvPr/>
        </p:nvSpPr>
        <p:spPr>
          <a:xfrm flipH="1">
            <a:off x="3505200" y="1676400"/>
            <a:ext cx="838200" cy="3810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99" name="Line 39"/>
          <p:cNvSpPr/>
          <p:nvPr/>
        </p:nvSpPr>
        <p:spPr>
          <a:xfrm flipV="1">
            <a:off x="3352800" y="1219200"/>
            <a:ext cx="0" cy="68580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0" name="Line 40"/>
          <p:cNvSpPr/>
          <p:nvPr/>
        </p:nvSpPr>
        <p:spPr>
          <a:xfrm>
            <a:off x="3505200" y="1066800"/>
            <a:ext cx="19050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1" name="Line 41"/>
          <p:cNvSpPr/>
          <p:nvPr/>
        </p:nvSpPr>
        <p:spPr>
          <a:xfrm flipH="1">
            <a:off x="1219200" y="1066800"/>
            <a:ext cx="1981200" cy="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2" name="Line 42"/>
          <p:cNvSpPr/>
          <p:nvPr/>
        </p:nvSpPr>
        <p:spPr>
          <a:xfrm>
            <a:off x="1066800" y="1219200"/>
            <a:ext cx="0" cy="68580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3" name="Line 43"/>
          <p:cNvSpPr/>
          <p:nvPr/>
        </p:nvSpPr>
        <p:spPr>
          <a:xfrm>
            <a:off x="1219200" y="2057400"/>
            <a:ext cx="1981200" cy="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4" name="Line 44"/>
          <p:cNvSpPr/>
          <p:nvPr/>
        </p:nvSpPr>
        <p:spPr>
          <a:xfrm>
            <a:off x="2362200" y="1600200"/>
            <a:ext cx="838200" cy="38100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5" name="Line 45"/>
          <p:cNvSpPr/>
          <p:nvPr/>
        </p:nvSpPr>
        <p:spPr>
          <a:xfrm flipH="1">
            <a:off x="2286000" y="1143000"/>
            <a:ext cx="914400" cy="381000"/>
          </a:xfrm>
          <a:prstGeom prst="line">
            <a:avLst/>
          </a:prstGeom>
          <a:ln w="25400" cap="flat" cmpd="sng">
            <a:solidFill>
              <a:srgbClr val="FF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6" name="Line 46"/>
          <p:cNvSpPr/>
          <p:nvPr/>
        </p:nvSpPr>
        <p:spPr>
          <a:xfrm>
            <a:off x="3505200" y="2133600"/>
            <a:ext cx="838200" cy="381000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7" name="Line 47"/>
          <p:cNvSpPr/>
          <p:nvPr/>
        </p:nvSpPr>
        <p:spPr>
          <a:xfrm flipV="1">
            <a:off x="4648200" y="2133600"/>
            <a:ext cx="838200" cy="381000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8" name="Line 48"/>
          <p:cNvSpPr/>
          <p:nvPr/>
        </p:nvSpPr>
        <p:spPr>
          <a:xfrm>
            <a:off x="3505200" y="2057400"/>
            <a:ext cx="2057400" cy="0"/>
          </a:xfrm>
          <a:prstGeom prst="line">
            <a:avLst/>
          </a:prstGeom>
          <a:ln w="2540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09" name="AutoShape 49" descr="再生纸"/>
          <p:cNvSpPr/>
          <p:nvPr/>
        </p:nvSpPr>
        <p:spPr>
          <a:xfrm>
            <a:off x="914400" y="2895600"/>
            <a:ext cx="7239000" cy="2209800"/>
          </a:xfrm>
          <a:prstGeom prst="roundRect">
            <a:avLst>
              <a:gd name="adj" fmla="val 10704"/>
            </a:avLst>
          </a:prstGeom>
          <a:blipFill rotWithShape="0">
            <a:blip r:embed="rId2"/>
          </a:blipFill>
          <a:ln w="25400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 lIns="16200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25000"/>
              </a:spcBef>
              <a:buNone/>
            </a:pPr>
            <a:r>
              <a:rPr lang="en-US" altLang="zh-CN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Note:</a:t>
            </a: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</a:p>
          <a:p>
            <a:pPr marL="0" lvl="0" indent="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</a:rPr>
              <a:t>The path should be maintained as a linked list.</a:t>
            </a:r>
          </a:p>
          <a:p>
            <a:pPr marL="0" lvl="0" indent="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Times New Roman" panose="02020603050405020304" pitchFamily="18" charset="0"/>
              </a:rPr>
              <a:t>For each adjacency list, maintain a pointer to the last edge scanned.</a:t>
            </a:r>
          </a:p>
          <a:p>
            <a:pPr marL="0" lvl="0" indent="0" eaLnBrk="1" hangingPunct="1"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US" altLang="zh-CN" sz="20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000" b="1" dirty="0">
                <a:latin typeface="Times New Roman" panose="02020603050405020304" pitchFamily="18" charset="0"/>
              </a:rPr>
              <a:t>= O( |E| + |V| )</a:t>
            </a:r>
            <a:endParaRPr lang="en-US" altLang="zh-CN" sz="2000" b="1" i="1" dirty="0">
              <a:latin typeface="Times New Roman" panose="02020603050405020304" pitchFamily="18" charset="0"/>
            </a:endParaRPr>
          </a:p>
        </p:txBody>
      </p:sp>
      <p:sp>
        <p:nvSpPr>
          <p:cNvPr id="15414" name="Text Box 54"/>
          <p:cNvSpPr txBox="1"/>
          <p:nvPr/>
        </p:nvSpPr>
        <p:spPr>
          <a:xfrm>
            <a:off x="1600200" y="304800"/>
            <a:ext cx="1219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DFS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500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6" grpId="0" animBg="1"/>
      <p:bldP spid="15390" grpId="0" animBg="1"/>
      <p:bldP spid="15409" grpId="0" animBg="1"/>
      <p:bldP spid="15414" grpId="0"/>
    </p:bldLst>
  </p:timing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99</TotalTime>
  <Words>1621</Words>
  <Application>Microsoft Office PowerPoint</Application>
  <PresentationFormat>全屏显示(4:3)</PresentationFormat>
  <Paragraphs>519</Paragraphs>
  <Slides>21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MS Hei</vt:lpstr>
      <vt:lpstr>PMingLiU</vt:lpstr>
      <vt:lpstr>等线</vt:lpstr>
      <vt:lpstr>Arial</vt:lpstr>
      <vt:lpstr>Comic Sans MS</vt:lpstr>
      <vt:lpstr>Symbol</vt:lpstr>
      <vt:lpstr>Times New Roman</vt:lpstr>
      <vt:lpstr>Wingdings</vt:lpstr>
      <vt:lpstr>Crayons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Connected components of undirected graphs (I)</vt:lpstr>
      <vt:lpstr>PowerPoint 演示文稿</vt:lpstr>
      <vt:lpstr>Biconnectivity</vt:lpstr>
      <vt:lpstr>PowerPoint 演示文稿</vt:lpstr>
      <vt:lpstr>PowerPoint 演示文稿</vt:lpstr>
      <vt:lpstr>PowerPoint 演示文稿</vt:lpstr>
      <vt:lpstr>Strongly Connected Component</vt:lpstr>
      <vt:lpstr>PowerPoint 演示文稿</vt:lpstr>
      <vt:lpstr>PowerPoint 演示文稿</vt:lpstr>
      <vt:lpstr>Strong Connectivity</vt:lpstr>
      <vt:lpstr>Strong Connectivity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李燕</dc:creator>
  <cp:lastModifiedBy>by 的</cp:lastModifiedBy>
  <cp:revision>55</cp:revision>
  <dcterms:created xsi:type="dcterms:W3CDTF">2025-11-16T07:28:49Z</dcterms:created>
  <dcterms:modified xsi:type="dcterms:W3CDTF">2026-01-15T00:49:03Z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404D8D905D8644918AC1D8241695DCDA_13</vt:lpwstr>
  </property>
  <property fmtid="{D5CDD505-2E9C-101B-9397-08002B2CF9AE}" pid="4" name="KSOProductBuildVer">
    <vt:lpwstr>2052-12.1.0.23542</vt:lpwstr>
  </property>
</Properties>
</file>