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7"/>
  </p:notesMasterIdLst>
  <p:sldIdLst>
    <p:sldId id="256" r:id="rId2"/>
    <p:sldId id="348" r:id="rId3"/>
    <p:sldId id="433" r:id="rId4"/>
    <p:sldId id="434" r:id="rId5"/>
    <p:sldId id="410" r:id="rId6"/>
    <p:sldId id="501" r:id="rId7"/>
    <p:sldId id="424" r:id="rId8"/>
    <p:sldId id="502" r:id="rId9"/>
    <p:sldId id="425" r:id="rId10"/>
    <p:sldId id="503" r:id="rId11"/>
    <p:sldId id="487" r:id="rId12"/>
    <p:sldId id="504" r:id="rId13"/>
    <p:sldId id="488" r:id="rId14"/>
    <p:sldId id="505" r:id="rId15"/>
    <p:sldId id="546" r:id="rId16"/>
    <p:sldId id="489" r:id="rId17"/>
    <p:sldId id="506" r:id="rId18"/>
    <p:sldId id="547" r:id="rId19"/>
    <p:sldId id="490" r:id="rId20"/>
    <p:sldId id="507" r:id="rId21"/>
    <p:sldId id="548" r:id="rId22"/>
    <p:sldId id="426" r:id="rId23"/>
    <p:sldId id="508" r:id="rId24"/>
    <p:sldId id="549" r:id="rId25"/>
    <p:sldId id="419" r:id="rId26"/>
    <p:sldId id="509" r:id="rId27"/>
    <p:sldId id="491" r:id="rId28"/>
    <p:sldId id="510" r:id="rId29"/>
    <p:sldId id="550" r:id="rId30"/>
    <p:sldId id="492" r:id="rId31"/>
    <p:sldId id="511" r:id="rId32"/>
    <p:sldId id="551" r:id="rId33"/>
    <p:sldId id="435" r:id="rId34"/>
    <p:sldId id="436" r:id="rId35"/>
    <p:sldId id="498" r:id="rId36"/>
    <p:sldId id="512" r:id="rId37"/>
    <p:sldId id="438" r:id="rId38"/>
    <p:sldId id="513" r:id="rId39"/>
    <p:sldId id="554" r:id="rId40"/>
    <p:sldId id="555" r:id="rId41"/>
    <p:sldId id="428" r:id="rId42"/>
    <p:sldId id="514" r:id="rId43"/>
    <p:sldId id="429" r:id="rId44"/>
    <p:sldId id="515" r:id="rId45"/>
    <p:sldId id="556" r:id="rId46"/>
    <p:sldId id="439" r:id="rId47"/>
    <p:sldId id="557" r:id="rId48"/>
    <p:sldId id="440" r:id="rId49"/>
    <p:sldId id="517" r:id="rId50"/>
    <p:sldId id="353" r:id="rId51"/>
    <p:sldId id="354" r:id="rId52"/>
    <p:sldId id="448" r:id="rId53"/>
    <p:sldId id="518" r:id="rId54"/>
    <p:sldId id="552" r:id="rId55"/>
    <p:sldId id="454" r:id="rId56"/>
    <p:sldId id="519" r:id="rId57"/>
    <p:sldId id="558" r:id="rId58"/>
    <p:sldId id="455" r:id="rId59"/>
    <p:sldId id="520" r:id="rId60"/>
    <p:sldId id="559" r:id="rId61"/>
    <p:sldId id="493" r:id="rId62"/>
    <p:sldId id="545" r:id="rId63"/>
    <p:sldId id="553" r:id="rId64"/>
    <p:sldId id="494" r:id="rId65"/>
    <p:sldId id="521" r:id="rId66"/>
    <p:sldId id="457" r:id="rId67"/>
    <p:sldId id="522" r:id="rId68"/>
    <p:sldId id="560" r:id="rId69"/>
    <p:sldId id="459" r:id="rId70"/>
    <p:sldId id="523" r:id="rId71"/>
    <p:sldId id="467" r:id="rId72"/>
    <p:sldId id="524" r:id="rId73"/>
    <p:sldId id="561" r:id="rId74"/>
    <p:sldId id="406" r:id="rId75"/>
    <p:sldId id="407" r:id="rId76"/>
    <p:sldId id="470" r:id="rId77"/>
    <p:sldId id="525" r:id="rId78"/>
    <p:sldId id="562" r:id="rId79"/>
    <p:sldId id="471" r:id="rId80"/>
    <p:sldId id="526" r:id="rId81"/>
    <p:sldId id="495" r:id="rId82"/>
    <p:sldId id="527" r:id="rId83"/>
    <p:sldId id="478" r:id="rId84"/>
    <p:sldId id="479" r:id="rId85"/>
    <p:sldId id="528" r:id="rId86"/>
    <p:sldId id="563" r:id="rId87"/>
    <p:sldId id="474" r:id="rId88"/>
    <p:sldId id="530" r:id="rId89"/>
    <p:sldId id="408" r:id="rId90"/>
    <p:sldId id="409" r:id="rId91"/>
    <p:sldId id="531" r:id="rId92"/>
    <p:sldId id="480" r:id="rId93"/>
    <p:sldId id="532" r:id="rId94"/>
    <p:sldId id="451" r:id="rId95"/>
    <p:sldId id="564" r:id="rId96"/>
    <p:sldId id="533" r:id="rId97"/>
    <p:sldId id="449" r:id="rId98"/>
    <p:sldId id="534" r:id="rId99"/>
    <p:sldId id="565" r:id="rId100"/>
    <p:sldId id="481" r:id="rId101"/>
    <p:sldId id="535" r:id="rId102"/>
    <p:sldId id="482" r:id="rId103"/>
    <p:sldId id="566" r:id="rId104"/>
    <p:sldId id="567" r:id="rId105"/>
    <p:sldId id="536" r:id="rId106"/>
    <p:sldId id="496" r:id="rId107"/>
    <p:sldId id="537" r:id="rId108"/>
    <p:sldId id="497" r:id="rId109"/>
    <p:sldId id="568" r:id="rId110"/>
    <p:sldId id="569" r:id="rId111"/>
    <p:sldId id="538" r:id="rId112"/>
    <p:sldId id="483" r:id="rId113"/>
    <p:sldId id="539" r:id="rId114"/>
    <p:sldId id="484" r:id="rId115"/>
    <p:sldId id="540" r:id="rId116"/>
    <p:sldId id="485" r:id="rId117"/>
    <p:sldId id="541" r:id="rId118"/>
    <p:sldId id="486" r:id="rId119"/>
    <p:sldId id="542" r:id="rId120"/>
    <p:sldId id="500" r:id="rId121"/>
    <p:sldId id="570" r:id="rId122"/>
    <p:sldId id="543" r:id="rId123"/>
    <p:sldId id="499" r:id="rId124"/>
    <p:sldId id="571" r:id="rId125"/>
    <p:sldId id="544" r:id="rId1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3" autoAdjust="0"/>
    <p:restoredTop sz="94617"/>
  </p:normalViewPr>
  <p:slideViewPr>
    <p:cSldViewPr>
      <p:cViewPr varScale="1">
        <p:scale>
          <a:sx n="91" d="100"/>
          <a:sy n="91" d="100"/>
        </p:scale>
        <p:origin x="13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ng zhan" userId="a67b9b2eaa87b568" providerId="LiveId" clId="{93966B95-B70F-264A-B35D-1115DB474AAE}"/>
    <pc:docChg chg="modSld">
      <pc:chgData name="huang zhan" userId="a67b9b2eaa87b568" providerId="LiveId" clId="{93966B95-B70F-264A-B35D-1115DB474AAE}" dt="2023-02-25T01:36:56.304" v="0" actId="20577"/>
      <pc:docMkLst>
        <pc:docMk/>
      </pc:docMkLst>
      <pc:sldChg chg="modSp mod">
        <pc:chgData name="huang zhan" userId="a67b9b2eaa87b568" providerId="LiveId" clId="{93966B95-B70F-264A-B35D-1115DB474AAE}" dt="2023-02-25T01:36:56.304" v="0" actId="20577"/>
        <pc:sldMkLst>
          <pc:docMk/>
          <pc:sldMk cId="0" sldId="256"/>
        </pc:sldMkLst>
        <pc:spChg chg="mod">
          <ac:chgData name="huang zhan" userId="a67b9b2eaa87b568" providerId="LiveId" clId="{93966B95-B70F-264A-B35D-1115DB474AAE}" dt="2023-02-25T01:36:56.304" v="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7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0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eg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7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jpeg"/><Relationship Id="rId5" Type="http://schemas.openxmlformats.org/officeDocument/2006/relationships/image" Target="../media/image99.jpeg"/><Relationship Id="rId4" Type="http://schemas.openxmlformats.org/officeDocument/2006/relationships/image" Target="../media/image98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jpe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Modeling </a:t>
            </a:r>
            <a:r>
              <a:rPr lang="zh-CN" altLang="en-US" dirty="0"/>
              <a:t> </a:t>
            </a:r>
            <a:r>
              <a:rPr lang="en-US" dirty="0"/>
              <a:t>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-23327" y="6477000"/>
            <a:ext cx="91440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2833" tIns="51417" rIns="102833" bIns="5141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000" dirty="0"/>
              <a:t>Copyright ©  McGraw-Hill Education.  All rights reserved. No reproduction or distribution without the prior written consent of McGraw-Hill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Languages and Grammars</a:t>
            </a:r>
          </a:p>
          <a:p>
            <a:r>
              <a:rPr lang="en-US" dirty="0"/>
              <a:t>Finite-State Machines with Output</a:t>
            </a:r>
          </a:p>
          <a:p>
            <a:r>
              <a:rPr lang="en-US" dirty="0"/>
              <a:t>Finite-State Machines with No Output</a:t>
            </a:r>
          </a:p>
          <a:p>
            <a:r>
              <a:rPr lang="en-US" dirty="0"/>
              <a:t>Language Recognition</a:t>
            </a:r>
          </a:p>
          <a:p>
            <a:r>
              <a:rPr lang="en-US" dirty="0"/>
              <a:t>Turing Machines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E2F5B5-4094-44E0-ED36-ADEEBBDF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43400"/>
            <a:ext cx="6553200" cy="2411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Languages and Grammars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13.1</a:t>
            </a:r>
          </a:p>
        </p:txBody>
      </p:sp>
    </p:spTree>
    <p:extLst>
      <p:ext uri="{BB962C8B-B14F-4D97-AF65-F5344CB8AC3E}">
        <p14:creationId xmlns:p14="http://schemas.microsoft.com/office/powerpoint/2010/main" val="403736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Phrase-Structure Grammars</a:t>
            </a:r>
          </a:p>
          <a:p>
            <a:r>
              <a:rPr lang="en-US" dirty="0"/>
              <a:t>Types of Phrase-Structure Grammars</a:t>
            </a:r>
          </a:p>
          <a:p>
            <a:r>
              <a:rPr lang="en-US" dirty="0"/>
              <a:t>Derivation Trees</a:t>
            </a:r>
          </a:p>
          <a:p>
            <a:r>
              <a:rPr lang="en-US" dirty="0"/>
              <a:t>Backus-Naur Form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101C94-3FFD-4046-39C2-043814A9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203608"/>
            <a:ext cx="7374737" cy="195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7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Syntax</a:t>
            </a:r>
            <a:r>
              <a:rPr lang="en-US" dirty="0"/>
              <a:t> (form of a sentence) vs. </a:t>
            </a:r>
            <a:r>
              <a:rPr lang="en-US" i="1" dirty="0"/>
              <a:t>semantics</a:t>
            </a:r>
            <a:r>
              <a:rPr lang="en-US" dirty="0"/>
              <a:t> (meaning of a sentence)</a:t>
            </a:r>
          </a:p>
          <a:p>
            <a:r>
              <a:rPr lang="en-US" dirty="0"/>
              <a:t>The sentence </a:t>
            </a:r>
            <a:r>
              <a:rPr lang="en-US" i="1" dirty="0"/>
              <a:t>the frog writes neatly </a:t>
            </a:r>
            <a:r>
              <a:rPr lang="en-US" dirty="0"/>
              <a:t>is a valid sentence according to the rules of English grammar. That is, it is syntactically correct, even though it’s nonsensical (unless we are talking about a fantasy world).</a:t>
            </a:r>
          </a:p>
          <a:p>
            <a:r>
              <a:rPr lang="en-US" dirty="0"/>
              <a:t>The sequence of words </a:t>
            </a:r>
            <a:r>
              <a:rPr lang="en-US" i="1" dirty="0"/>
              <a:t>swims quickly mathematics </a:t>
            </a:r>
            <a:r>
              <a:rPr lang="en-US" dirty="0"/>
              <a:t>is not a valid sentence according to the rules of English grammar.</a:t>
            </a:r>
          </a:p>
        </p:txBody>
      </p:sp>
    </p:spTree>
    <p:extLst>
      <p:ext uri="{BB962C8B-B14F-4D97-AF65-F5344CB8AC3E}">
        <p14:creationId xmlns:p14="http://schemas.microsoft.com/office/powerpoint/2010/main" val="20462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8FA282-C59C-35C4-AD80-434BC39EA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6543"/>
            <a:ext cx="9144000" cy="194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1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rules that specify the syntactically correct sentences of a natural language such as English are complex.  </a:t>
            </a:r>
          </a:p>
          <a:p>
            <a:r>
              <a:rPr lang="en-US" dirty="0"/>
              <a:t>Instead of studying natural languages, we can define  </a:t>
            </a:r>
            <a:r>
              <a:rPr lang="en-US" i="1" dirty="0"/>
              <a:t>formal languages </a:t>
            </a:r>
            <a:r>
              <a:rPr lang="en-US" dirty="0"/>
              <a:t>that have well-defined rules of syntax. </a:t>
            </a:r>
          </a:p>
          <a:p>
            <a:r>
              <a:rPr lang="en-US" dirty="0"/>
              <a:t>These rules of syntax are important both in linguistics (the study of natural languages) and in the study of programming languages. </a:t>
            </a:r>
          </a:p>
        </p:txBody>
      </p:sp>
    </p:spTree>
    <p:extLst>
      <p:ext uri="{BB962C8B-B14F-4D97-AF65-F5344CB8AC3E}">
        <p14:creationId xmlns:p14="http://schemas.microsoft.com/office/powerpoint/2010/main" val="168157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7AD7-5698-44D5-5A85-25969453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A54D64-EE81-4EBC-DF60-3C0D30DA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0973"/>
            <a:ext cx="9144000" cy="203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4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An Example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298178"/>
            <a:ext cx="4114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 example sequence of replacements:</a:t>
            </a:r>
          </a:p>
          <a:p>
            <a:endParaRPr lang="en-US" sz="1200" dirty="0"/>
          </a:p>
          <a:p>
            <a:r>
              <a:rPr lang="en-US" sz="1200" b="1" dirty="0"/>
              <a:t>noun phrase  verb phrase</a:t>
            </a:r>
          </a:p>
          <a:p>
            <a:r>
              <a:rPr lang="en-US" sz="1200" b="1" dirty="0"/>
              <a:t>article adjective  noun verb phrase</a:t>
            </a:r>
          </a:p>
          <a:p>
            <a:r>
              <a:rPr lang="en-US" sz="1200" b="1" dirty="0"/>
              <a:t>article adjective noun verb adverb</a:t>
            </a:r>
          </a:p>
          <a:p>
            <a:r>
              <a:rPr lang="en-US" sz="1200" i="1" dirty="0"/>
              <a:t>the</a:t>
            </a:r>
            <a:r>
              <a:rPr lang="en-US" sz="1200" dirty="0"/>
              <a:t> </a:t>
            </a:r>
            <a:r>
              <a:rPr lang="en-US" sz="1200" b="1" dirty="0"/>
              <a:t>adjective noun verb adverb</a:t>
            </a:r>
          </a:p>
          <a:p>
            <a:r>
              <a:rPr lang="en-US" sz="1200" i="1" dirty="0"/>
              <a:t>the large </a:t>
            </a:r>
            <a:r>
              <a:rPr lang="en-US" sz="1200" b="1" dirty="0"/>
              <a:t>noun verb adverb</a:t>
            </a:r>
          </a:p>
          <a:p>
            <a:r>
              <a:rPr lang="en-US" sz="1200" i="1" dirty="0"/>
              <a:t>the large rabbit </a:t>
            </a:r>
            <a:r>
              <a:rPr lang="en-US" sz="1200" b="1" dirty="0"/>
              <a:t>verb adverb</a:t>
            </a:r>
          </a:p>
          <a:p>
            <a:r>
              <a:rPr lang="en-US" sz="1200" i="1" dirty="0"/>
              <a:t>the large rabbit hops </a:t>
            </a:r>
            <a:r>
              <a:rPr lang="en-US" sz="1200" b="1" dirty="0"/>
              <a:t>adverb</a:t>
            </a:r>
          </a:p>
          <a:p>
            <a:r>
              <a:rPr lang="en-US" sz="1200" i="1" dirty="0"/>
              <a:t>the large rabbit hops quickly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652"/>
            <a:ext cx="8153400" cy="2941320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sentence</a:t>
            </a:r>
            <a:r>
              <a:rPr lang="en-US" dirty="0"/>
              <a:t> is made up of a </a:t>
            </a:r>
            <a:r>
              <a:rPr lang="en-US" b="1" dirty="0"/>
              <a:t>noun phrase </a:t>
            </a:r>
            <a:r>
              <a:rPr lang="en-US" dirty="0"/>
              <a:t>followed by a </a:t>
            </a:r>
            <a:r>
              <a:rPr lang="en-US" b="1" dirty="0"/>
              <a:t>verb phrase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noun phrase </a:t>
            </a:r>
            <a:r>
              <a:rPr lang="en-US" dirty="0"/>
              <a:t>is made up of an </a:t>
            </a:r>
            <a:r>
              <a:rPr lang="en-US" b="1" dirty="0"/>
              <a:t>article</a:t>
            </a:r>
            <a:r>
              <a:rPr lang="en-US" dirty="0"/>
              <a:t> followed by an </a:t>
            </a:r>
            <a:r>
              <a:rPr lang="en-US" b="1" dirty="0"/>
              <a:t>adjective</a:t>
            </a:r>
            <a:r>
              <a:rPr lang="en-US" dirty="0"/>
              <a:t> followed by a </a:t>
            </a:r>
            <a:r>
              <a:rPr lang="en-US" b="1" dirty="0"/>
              <a:t>noun</a:t>
            </a:r>
            <a:r>
              <a:rPr lang="en-US" dirty="0"/>
              <a:t>, or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noun phrase </a:t>
            </a:r>
            <a:r>
              <a:rPr lang="en-US" dirty="0"/>
              <a:t>is made up of an </a:t>
            </a:r>
            <a:r>
              <a:rPr lang="en-US" b="1" dirty="0"/>
              <a:t>article</a:t>
            </a:r>
            <a:r>
              <a:rPr lang="en-US" dirty="0"/>
              <a:t> followed by a </a:t>
            </a:r>
            <a:r>
              <a:rPr lang="en-US" b="1" dirty="0"/>
              <a:t>noun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verb phrase </a:t>
            </a:r>
            <a:r>
              <a:rPr lang="en-US" dirty="0"/>
              <a:t>is made up of a </a:t>
            </a:r>
            <a:r>
              <a:rPr lang="en-US" b="1" dirty="0"/>
              <a:t>verb</a:t>
            </a:r>
            <a:r>
              <a:rPr lang="en-US" dirty="0"/>
              <a:t> followed by an </a:t>
            </a:r>
            <a:r>
              <a:rPr lang="en-US" b="1" dirty="0"/>
              <a:t>adverb</a:t>
            </a:r>
            <a:r>
              <a:rPr lang="en-US" dirty="0"/>
              <a:t>, or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verb phrase </a:t>
            </a:r>
            <a:r>
              <a:rPr lang="en-US" dirty="0"/>
              <a:t>is made up of a </a:t>
            </a:r>
            <a:r>
              <a:rPr lang="en-US" b="1" dirty="0"/>
              <a:t>verb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article</a:t>
            </a:r>
            <a:r>
              <a:rPr lang="en-US" dirty="0"/>
              <a:t> is </a:t>
            </a:r>
            <a:r>
              <a:rPr lang="en-US" i="1" dirty="0"/>
              <a:t>a</a:t>
            </a:r>
            <a:r>
              <a:rPr lang="en-US" dirty="0"/>
              <a:t>, 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article</a:t>
            </a:r>
            <a:r>
              <a:rPr lang="en-US" dirty="0"/>
              <a:t> is </a:t>
            </a:r>
            <a:r>
              <a:rPr lang="en-US" i="1" dirty="0"/>
              <a:t>the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adjective</a:t>
            </a:r>
            <a:r>
              <a:rPr lang="en-US" dirty="0"/>
              <a:t> is </a:t>
            </a:r>
            <a:r>
              <a:rPr lang="en-US" i="1" dirty="0"/>
              <a:t>large</a:t>
            </a:r>
            <a:r>
              <a:rPr lang="en-US" dirty="0"/>
              <a:t>, 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adjective</a:t>
            </a:r>
            <a:r>
              <a:rPr lang="en-US" dirty="0"/>
              <a:t> is </a:t>
            </a:r>
            <a:r>
              <a:rPr lang="en-US" i="1" dirty="0"/>
              <a:t>hungry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noun</a:t>
            </a:r>
            <a:r>
              <a:rPr lang="en-US" dirty="0"/>
              <a:t> is </a:t>
            </a:r>
            <a:r>
              <a:rPr lang="en-US" i="1" dirty="0"/>
              <a:t>rabbit</a:t>
            </a:r>
            <a:r>
              <a:rPr lang="en-US" dirty="0"/>
              <a:t>, 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noun</a:t>
            </a:r>
            <a:r>
              <a:rPr lang="en-US" dirty="0"/>
              <a:t> is </a:t>
            </a:r>
            <a:r>
              <a:rPr lang="en-US" i="1" dirty="0"/>
              <a:t>mathematician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verb</a:t>
            </a:r>
            <a:r>
              <a:rPr lang="en-US" dirty="0"/>
              <a:t> is </a:t>
            </a:r>
            <a:r>
              <a:rPr lang="en-US" i="1" dirty="0"/>
              <a:t>eats</a:t>
            </a:r>
            <a:r>
              <a:rPr lang="en-US" dirty="0"/>
              <a:t>, or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verb</a:t>
            </a:r>
            <a:r>
              <a:rPr lang="en-US" dirty="0"/>
              <a:t> is </a:t>
            </a:r>
            <a:r>
              <a:rPr lang="en-US" i="1" dirty="0"/>
              <a:t>hops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adverb</a:t>
            </a:r>
            <a:r>
              <a:rPr lang="en-US" dirty="0"/>
              <a:t> is </a:t>
            </a:r>
            <a:r>
              <a:rPr lang="en-US" i="1" dirty="0"/>
              <a:t>quickly</a:t>
            </a:r>
            <a:r>
              <a:rPr lang="en-US" dirty="0"/>
              <a:t>, 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adverb</a:t>
            </a:r>
            <a:r>
              <a:rPr lang="en-US" dirty="0"/>
              <a:t> is </a:t>
            </a:r>
            <a:r>
              <a:rPr lang="en-US" i="1" dirty="0"/>
              <a:t>wildly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52800" y="2877312"/>
            <a:ext cx="556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use these rules to  form valid sentences by making a series of replacements until no more rules can be used.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953000" y="4321369"/>
            <a:ext cx="3962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Some additional valid sentences are:</a:t>
            </a:r>
          </a:p>
          <a:p>
            <a:endParaRPr lang="en-US" sz="1600" dirty="0"/>
          </a:p>
          <a:p>
            <a:r>
              <a:rPr lang="en-US" sz="1200" i="1" dirty="0"/>
              <a:t>a hungry mathematician eats wildly,</a:t>
            </a:r>
          </a:p>
          <a:p>
            <a:r>
              <a:rPr lang="en-US" sz="1200" i="1" dirty="0"/>
              <a:t>a large mathematician hops, </a:t>
            </a:r>
          </a:p>
          <a:p>
            <a:r>
              <a:rPr lang="en-US" sz="1200" i="1" dirty="0"/>
              <a:t>the rabbit eats quickly, etc.</a:t>
            </a:r>
          </a:p>
          <a:p>
            <a:endParaRPr lang="en-US" sz="1200" i="1" dirty="0"/>
          </a:p>
          <a:p>
            <a:r>
              <a:rPr lang="en-US" sz="1600" dirty="0"/>
              <a:t>But note that the following is not valid:</a:t>
            </a:r>
          </a:p>
          <a:p>
            <a:endParaRPr lang="en-US" sz="1200" dirty="0"/>
          </a:p>
          <a:p>
            <a:r>
              <a:rPr lang="en-US" sz="1200" i="1" dirty="0"/>
              <a:t>the quickly eats mathematician</a:t>
            </a:r>
          </a:p>
          <a:p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18260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6CFF-A72E-E3C9-98A0-9852D4A4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6A5F95-8B95-B47B-1250-ECAEDBB9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06887" cy="5105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92DD0AD-0E56-0D13-6FBA-AFE84789D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065" y="990600"/>
            <a:ext cx="5104728" cy="38940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340D64-8A66-1DEE-02F0-86A17DE6D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5003173"/>
            <a:ext cx="4462604" cy="185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3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Phrase-Structure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A </a:t>
            </a:r>
            <a:r>
              <a:rPr lang="en-US" i="1" dirty="0"/>
              <a:t>vocabulary</a:t>
            </a:r>
            <a:r>
              <a:rPr lang="en-US" dirty="0"/>
              <a:t> (or </a:t>
            </a:r>
            <a:r>
              <a:rPr lang="en-US" i="1" dirty="0"/>
              <a:t>alphabet</a:t>
            </a:r>
            <a:r>
              <a:rPr lang="en-US" dirty="0"/>
              <a:t>) </a:t>
            </a:r>
            <a:r>
              <a:rPr lang="en-US" i="1" dirty="0"/>
              <a:t>V</a:t>
            </a:r>
            <a:r>
              <a:rPr lang="en-US" dirty="0"/>
              <a:t> is a finite, nonempty set of elements called </a:t>
            </a:r>
            <a:r>
              <a:rPr lang="en-US" i="1" dirty="0"/>
              <a:t>symbols</a:t>
            </a:r>
            <a:r>
              <a:rPr lang="en-US" dirty="0"/>
              <a:t>. 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A </a:t>
            </a:r>
            <a:r>
              <a:rPr lang="en-US" i="1" dirty="0"/>
              <a:t>word</a:t>
            </a:r>
            <a:r>
              <a:rPr lang="en-US" dirty="0"/>
              <a:t> (or </a:t>
            </a:r>
            <a:r>
              <a:rPr lang="en-US" i="1" dirty="0"/>
              <a:t>sentence</a:t>
            </a:r>
            <a:r>
              <a:rPr lang="en-US" dirty="0"/>
              <a:t>) over </a:t>
            </a:r>
            <a:r>
              <a:rPr lang="en-US" i="1" dirty="0"/>
              <a:t>V</a:t>
            </a:r>
            <a:r>
              <a:rPr lang="en-US" dirty="0"/>
              <a:t> is a string of finite length of elements of </a:t>
            </a:r>
            <a:r>
              <a:rPr lang="en-US" i="1" dirty="0"/>
              <a:t>V</a:t>
            </a:r>
            <a:r>
              <a:rPr lang="en-US" dirty="0"/>
              <a:t>. 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The </a:t>
            </a:r>
            <a:r>
              <a:rPr lang="en-US" i="1" dirty="0"/>
              <a:t>empty string </a:t>
            </a:r>
            <a:r>
              <a:rPr lang="en-US" dirty="0"/>
              <a:t>or </a:t>
            </a:r>
            <a:r>
              <a:rPr lang="en-US" i="1" dirty="0"/>
              <a:t>null string</a:t>
            </a:r>
            <a:r>
              <a:rPr lang="en-US" dirty="0"/>
              <a:t>, denoted by  </a:t>
            </a:r>
            <a:r>
              <a:rPr lang="el-GR" dirty="0">
                <a:latin typeface="Cambria Math"/>
                <a:ea typeface="Cambria Math"/>
              </a:rPr>
              <a:t>λ</a:t>
            </a:r>
            <a:r>
              <a:rPr lang="en-US" dirty="0"/>
              <a:t>, is the string containing no symbols.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The set of all words over </a:t>
            </a:r>
            <a:r>
              <a:rPr lang="en-US" i="1" dirty="0"/>
              <a:t>V</a:t>
            </a:r>
            <a:r>
              <a:rPr lang="en-US" dirty="0"/>
              <a:t> is denoted by </a:t>
            </a:r>
            <a:r>
              <a:rPr lang="en-US" i="1" dirty="0"/>
              <a:t>V</a:t>
            </a:r>
            <a:r>
              <a:rPr lang="en-US" dirty="0"/>
              <a:t>*. A </a:t>
            </a:r>
            <a:r>
              <a:rPr lang="en-US" i="1" dirty="0"/>
              <a:t>language</a:t>
            </a:r>
            <a:r>
              <a:rPr lang="en-US" dirty="0"/>
              <a:t> over </a:t>
            </a:r>
            <a:r>
              <a:rPr lang="en-US" i="1" dirty="0"/>
              <a:t>V</a:t>
            </a:r>
            <a:r>
              <a:rPr lang="en-US" dirty="0"/>
              <a:t> is a subset of </a:t>
            </a:r>
            <a:r>
              <a:rPr lang="en-US" i="1" dirty="0"/>
              <a:t>V</a:t>
            </a:r>
            <a:r>
              <a:rPr lang="en-US" dirty="0"/>
              <a:t>*.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The elements of </a:t>
            </a:r>
            <a:r>
              <a:rPr lang="en-US" i="1" dirty="0"/>
              <a:t>V</a:t>
            </a:r>
            <a:r>
              <a:rPr lang="en-US" dirty="0"/>
              <a:t> that can not be replaced by other symbols are called </a:t>
            </a:r>
            <a:r>
              <a:rPr lang="en-US" i="1" dirty="0"/>
              <a:t>terminals</a:t>
            </a:r>
            <a:r>
              <a:rPr lang="en-US" dirty="0"/>
              <a:t>, e.g.,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the</a:t>
            </a:r>
            <a:r>
              <a:rPr lang="en-US" dirty="0"/>
              <a:t>, and </a:t>
            </a:r>
            <a:r>
              <a:rPr lang="en-US" i="1" dirty="0"/>
              <a:t>rabbit</a:t>
            </a:r>
            <a:r>
              <a:rPr lang="en-US" dirty="0"/>
              <a:t> in the example grammar. 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Those that can be replaced by other symbols are called </a:t>
            </a:r>
            <a:r>
              <a:rPr lang="en-US" i="1" dirty="0" err="1"/>
              <a:t>nonterminals</a:t>
            </a:r>
            <a:r>
              <a:rPr lang="en-US" dirty="0"/>
              <a:t>, e.g., </a:t>
            </a:r>
            <a:r>
              <a:rPr lang="en-US" b="1" dirty="0"/>
              <a:t>sentence</a:t>
            </a:r>
            <a:r>
              <a:rPr lang="en-US" dirty="0"/>
              <a:t>, </a:t>
            </a:r>
            <a:r>
              <a:rPr lang="en-US" b="1" dirty="0"/>
              <a:t>noun phrase</a:t>
            </a:r>
            <a:r>
              <a:rPr lang="en-US" dirty="0"/>
              <a:t>, etc.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r>
              <a:rPr lang="en-US" dirty="0"/>
              <a:t>The rules that specify when we can replace a string </a:t>
            </a:r>
            <a:r>
              <a:rPr lang="en-US" i="1" dirty="0"/>
              <a:t>V*</a:t>
            </a:r>
            <a:r>
              <a:rPr lang="en-US" dirty="0"/>
              <a:t> with another string are called </a:t>
            </a:r>
            <a:r>
              <a:rPr lang="en-US" i="1" dirty="0"/>
              <a:t>productions</a:t>
            </a:r>
            <a:r>
              <a:rPr lang="en-US" dirty="0"/>
              <a:t> of the grammar. We denote by </a:t>
            </a:r>
            <a:r>
              <a:rPr lang="en-US" i="1" dirty="0"/>
              <a:t>z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the production that specifies that </a:t>
            </a:r>
            <a:r>
              <a:rPr lang="en-US" i="1" dirty="0"/>
              <a:t>z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can be replaced by </a:t>
            </a:r>
            <a:r>
              <a:rPr lang="en-US" i="1" dirty="0"/>
              <a:t>z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within a string. </a:t>
            </a:r>
          </a:p>
          <a:p>
            <a:pPr marL="274320" lvl="2" indent="-274320">
              <a:buClr>
                <a:schemeClr val="accent3"/>
              </a:buClr>
              <a:buSzPct val="95000"/>
            </a:pPr>
            <a:endParaRPr lang="en-US" dirty="0"/>
          </a:p>
          <a:p>
            <a:pPr marL="274320" lvl="2" indent="-274320">
              <a:buClr>
                <a:schemeClr val="accent3"/>
              </a:buClr>
              <a:buSzPct val="95000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383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DD56-9C95-A87F-0118-EF1C3DD6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AC653D-C147-4758-2F70-724989B6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3169"/>
            <a:ext cx="9144000" cy="431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3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Phrase-Structure Grammars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i="1" dirty="0"/>
              <a:t>phrase-structure grammar</a:t>
            </a:r>
            <a:r>
              <a:rPr lang="en-US" dirty="0"/>
              <a:t> </a:t>
            </a:r>
            <a:r>
              <a:rPr lang="en-US" i="1" dirty="0"/>
              <a:t>G =</a:t>
            </a:r>
            <a:r>
              <a:rPr lang="en-US" dirty="0"/>
              <a:t>(</a:t>
            </a:r>
            <a:r>
              <a:rPr lang="en-US" i="1" dirty="0"/>
              <a:t>V, T, S, P</a:t>
            </a:r>
            <a:r>
              <a:rPr lang="en-US" dirty="0"/>
              <a:t>) consists of a vocabulary </a:t>
            </a:r>
            <a:r>
              <a:rPr lang="en-US" i="1" dirty="0"/>
              <a:t>V, </a:t>
            </a:r>
            <a:r>
              <a:rPr lang="en-US" dirty="0"/>
              <a:t>a subset </a:t>
            </a:r>
            <a:r>
              <a:rPr lang="en-US" i="1" dirty="0"/>
              <a:t>T</a:t>
            </a:r>
            <a:r>
              <a:rPr lang="en-US" dirty="0"/>
              <a:t> of </a:t>
            </a:r>
            <a:r>
              <a:rPr lang="en-US" i="1" dirty="0"/>
              <a:t>V</a:t>
            </a:r>
            <a:r>
              <a:rPr lang="en-US" dirty="0"/>
              <a:t> consisting of terminal symbols, a </a:t>
            </a:r>
            <a:r>
              <a:rPr lang="en-US" i="1" dirty="0"/>
              <a:t>start symbol S</a:t>
            </a:r>
            <a:r>
              <a:rPr lang="en-US" dirty="0"/>
              <a:t> from </a:t>
            </a:r>
            <a:r>
              <a:rPr lang="en-US" i="1" dirty="0"/>
              <a:t>V</a:t>
            </a:r>
            <a:r>
              <a:rPr lang="en-US" dirty="0"/>
              <a:t>, and a finite set of </a:t>
            </a:r>
            <a:r>
              <a:rPr lang="en-US" i="1" dirty="0"/>
              <a:t>productions P</a:t>
            </a:r>
            <a:r>
              <a:rPr lang="en-US" dirty="0"/>
              <a:t>. </a:t>
            </a:r>
          </a:p>
          <a:p>
            <a:r>
              <a:rPr lang="en-US" dirty="0"/>
              <a:t>The set</a:t>
            </a:r>
            <a:r>
              <a:rPr lang="en-US" i="1" dirty="0"/>
              <a:t> N =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i="1" dirty="0"/>
              <a:t>T</a:t>
            </a:r>
            <a:r>
              <a:rPr lang="en-US" dirty="0"/>
              <a:t> is the set of nonterminal symbols. </a:t>
            </a:r>
          </a:p>
          <a:p>
            <a:r>
              <a:rPr lang="en-US" dirty="0"/>
              <a:t>Every production in </a:t>
            </a:r>
            <a:r>
              <a:rPr lang="en-US" i="1" dirty="0"/>
              <a:t>P </a:t>
            </a:r>
            <a:r>
              <a:rPr lang="en-US" dirty="0"/>
              <a:t>must contain at least one nonterminal on its left side. </a:t>
            </a:r>
          </a:p>
          <a:p>
            <a:pPr indent="0">
              <a:buNone/>
            </a:pPr>
            <a:r>
              <a:rPr lang="en-US" b="1" dirty="0"/>
              <a:t>Example (Grammar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/>
              <a:t>)</a:t>
            </a:r>
            <a:r>
              <a:rPr lang="en-US" dirty="0"/>
              <a:t>: Let </a:t>
            </a:r>
            <a:r>
              <a:rPr lang="en-US" i="1" dirty="0"/>
              <a:t>G =</a:t>
            </a:r>
            <a:r>
              <a:rPr lang="en-US" dirty="0"/>
              <a:t>(</a:t>
            </a:r>
            <a:r>
              <a:rPr lang="en-US" i="1" dirty="0"/>
              <a:t>V, T, S, P</a:t>
            </a:r>
            <a:r>
              <a:rPr lang="en-US" dirty="0"/>
              <a:t>), where               </a:t>
            </a:r>
            <a:r>
              <a:rPr lang="en-US" i="1" dirty="0"/>
              <a:t>V</a:t>
            </a:r>
            <a:r>
              <a:rPr lang="en-US" dirty="0"/>
              <a:t> = {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dirty="0"/>
              <a:t>}, </a:t>
            </a:r>
            <a:r>
              <a:rPr lang="en-US" i="1" dirty="0"/>
              <a:t>T</a:t>
            </a:r>
            <a:r>
              <a:rPr lang="en-US" dirty="0"/>
              <a:t> = {</a:t>
            </a:r>
            <a:r>
              <a:rPr lang="en-US" i="1" dirty="0" err="1"/>
              <a:t>a</a:t>
            </a:r>
            <a:r>
              <a:rPr lang="en-US" dirty="0" err="1"/>
              <a:t>,</a:t>
            </a:r>
            <a:r>
              <a:rPr lang="en-US" i="1" dirty="0" err="1"/>
              <a:t>b</a:t>
            </a:r>
            <a:r>
              <a:rPr lang="en-US" dirty="0"/>
              <a:t>}, </a:t>
            </a:r>
            <a:r>
              <a:rPr lang="en-US" i="1" dirty="0"/>
              <a:t>S</a:t>
            </a:r>
            <a:r>
              <a:rPr lang="en-US" dirty="0"/>
              <a:t> is the start symbol, and    </a:t>
            </a:r>
            <a:r>
              <a:rPr lang="en-US" i="1" dirty="0"/>
              <a:t>P</a:t>
            </a:r>
            <a:r>
              <a:rPr lang="en-US" dirty="0"/>
              <a:t> = {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i="1" dirty="0">
                <a:ea typeface="Cambria Math"/>
              </a:rPr>
              <a:t>A</a:t>
            </a:r>
            <a:r>
              <a:rPr lang="en-US" i="1" dirty="0">
                <a:latin typeface="Cambria Math"/>
                <a:ea typeface="Cambria Math"/>
              </a:rPr>
              <a:t>ba</a:t>
            </a:r>
            <a:r>
              <a:rPr lang="en-US" dirty="0">
                <a:latin typeface="Cambria Math"/>
                <a:ea typeface="Cambria Math"/>
              </a:rPr>
              <a:t>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→</a:t>
            </a:r>
            <a:r>
              <a:rPr lang="en-US" i="1" dirty="0">
                <a:ea typeface="Cambria Math"/>
              </a:rPr>
              <a:t>BB</a:t>
            </a:r>
            <a:r>
              <a:rPr lang="en-US" dirty="0">
                <a:latin typeface="Cambria Math"/>
                <a:ea typeface="Cambria Math"/>
              </a:rPr>
              <a:t>,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 →</a:t>
            </a:r>
            <a:r>
              <a:rPr lang="en-US" i="1" dirty="0" err="1">
                <a:latin typeface="Cambria Math"/>
                <a:ea typeface="Cambria Math"/>
              </a:rPr>
              <a:t>ab</a:t>
            </a:r>
            <a:r>
              <a:rPr lang="en-US" dirty="0">
                <a:latin typeface="Cambria Math"/>
                <a:ea typeface="Cambria Math"/>
              </a:rPr>
              <a:t>, </a:t>
            </a:r>
            <a:r>
              <a:rPr lang="en-US" i="1" dirty="0">
                <a:ea typeface="Cambria Math"/>
              </a:rPr>
              <a:t>AB</a:t>
            </a:r>
            <a:r>
              <a:rPr lang="en-US" dirty="0">
                <a:latin typeface="Cambria Math"/>
                <a:ea typeface="Cambria Math"/>
              </a:rPr>
              <a:t> →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27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A0D6-C461-E016-9896-6011DB82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F123E3-7093-B454-72D5-95AE0BD0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7274"/>
            <a:ext cx="9144000" cy="330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81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F272D58-6DE2-523F-D8FF-7349B0D17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4293127" cy="4724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B98F76-7F96-7F83-92F0-C8C4C20A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38" y="-5255"/>
            <a:ext cx="4363041" cy="4419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A7F1531-47B5-1817-2609-729738FEE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495800"/>
            <a:ext cx="4495800" cy="103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4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sz="3200" dirty="0"/>
                  <a:t>Let </a:t>
                </a:r>
                <a:r>
                  <a:rPr lang="en-US" sz="3200" i="1" dirty="0"/>
                  <a:t>G =</a:t>
                </a:r>
                <a:r>
                  <a:rPr lang="en-US" sz="3200" dirty="0"/>
                  <a:t>(</a:t>
                </a:r>
                <a:r>
                  <a:rPr lang="en-US" sz="3200" i="1" dirty="0"/>
                  <a:t>V, T, S, P</a:t>
                </a:r>
                <a:r>
                  <a:rPr lang="en-US" sz="3200" dirty="0"/>
                  <a:t>) be a phrase-structure grammar. Let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 = </a:t>
                </a:r>
                <a:r>
                  <a:rPr lang="en-US" sz="3200" i="1" dirty="0"/>
                  <a:t>lz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i="1" dirty="0"/>
                  <a:t>r</a:t>
                </a:r>
                <a:r>
                  <a:rPr lang="en-US" sz="3200" dirty="0"/>
                  <a:t> (that is the concatenation of </a:t>
                </a:r>
                <a:r>
                  <a:rPr lang="en-US" sz="3200" i="1" dirty="0"/>
                  <a:t>l</a:t>
                </a:r>
                <a:r>
                  <a:rPr lang="en-US" sz="3200" dirty="0"/>
                  <a:t>, </a:t>
                </a:r>
                <a:r>
                  <a:rPr lang="en-US" sz="3200" i="1" dirty="0"/>
                  <a:t>z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, and </a:t>
                </a:r>
                <a:r>
                  <a:rPr lang="en-US" sz="3200" i="1" dirty="0"/>
                  <a:t>r</a:t>
                </a:r>
                <a:r>
                  <a:rPr lang="en-US" sz="3200" dirty="0"/>
                  <a:t>) and</a:t>
                </a:r>
                <a:r>
                  <a:rPr lang="en-US" sz="3200" i="1" dirty="0"/>
                  <a:t> 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 = </a:t>
                </a:r>
                <a:r>
                  <a:rPr lang="en-US" sz="3200" i="1" dirty="0"/>
                  <a:t>lz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i="1" dirty="0"/>
                  <a:t>r</a:t>
                </a:r>
                <a:r>
                  <a:rPr lang="en-US" sz="3200" dirty="0"/>
                  <a:t> be strings over </a:t>
                </a:r>
                <a:r>
                  <a:rPr lang="en-US" sz="3200" i="1" dirty="0"/>
                  <a:t>V</a:t>
                </a:r>
                <a:r>
                  <a:rPr lang="en-US" sz="3200" dirty="0"/>
                  <a:t>. If        </a:t>
                </a:r>
                <a:r>
                  <a:rPr lang="en-US" sz="3200" i="1" dirty="0"/>
                  <a:t>z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 </a:t>
                </a:r>
                <a:r>
                  <a:rPr lang="en-US" sz="3200" dirty="0">
                    <a:latin typeface="Cambria Math"/>
                    <a:ea typeface="Cambria Math"/>
                  </a:rPr>
                  <a:t>→ </a:t>
                </a:r>
                <a:r>
                  <a:rPr lang="en-US" sz="3200" i="1" dirty="0"/>
                  <a:t>z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 is a production of </a:t>
                </a:r>
                <a:r>
                  <a:rPr lang="en-US" sz="3200" i="1" dirty="0"/>
                  <a:t>G</a:t>
                </a:r>
                <a:r>
                  <a:rPr lang="en-US" sz="3200" dirty="0"/>
                  <a:t>, we say that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 is </a:t>
                </a:r>
                <a:r>
                  <a:rPr lang="en-US" sz="3200" i="1" dirty="0"/>
                  <a:t>directly derivable</a:t>
                </a:r>
                <a:r>
                  <a:rPr lang="en-US" sz="3200" dirty="0"/>
                  <a:t> from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  and write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 </a:t>
                </a:r>
                <a:r>
                  <a:rPr lang="en-US" sz="3200" dirty="0">
                    <a:latin typeface="Cambria Math"/>
                    <a:ea typeface="Cambria Math"/>
                  </a:rPr>
                  <a:t>⇒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.</a:t>
                </a:r>
              </a:p>
              <a:p>
                <a:r>
                  <a:rPr lang="en-US" sz="3200" dirty="0"/>
                  <a:t>If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,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, ...,</a:t>
                </a:r>
                <a:r>
                  <a:rPr lang="en-US" sz="3200" i="1" dirty="0" err="1"/>
                  <a:t>w</a:t>
                </a:r>
                <a:r>
                  <a:rPr lang="en-US" sz="3200" i="1" baseline="-25000" dirty="0" err="1"/>
                  <a:t>n</a:t>
                </a:r>
                <a:r>
                  <a:rPr lang="en-US" sz="3200" dirty="0"/>
                  <a:t> are strings over </a:t>
                </a:r>
                <a:r>
                  <a:rPr lang="en-US" sz="3200" i="1" dirty="0"/>
                  <a:t>V</a:t>
                </a:r>
                <a:r>
                  <a:rPr lang="en-US" sz="3200" dirty="0"/>
                  <a:t> such that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 </a:t>
                </a:r>
                <a:r>
                  <a:rPr lang="en-US" sz="3200" dirty="0">
                    <a:latin typeface="Cambria Math"/>
                    <a:ea typeface="Cambria Math"/>
                  </a:rPr>
                  <a:t>⇒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,</a:t>
                </a:r>
                <a:r>
                  <a:rPr lang="en-US" sz="3200" i="1" dirty="0"/>
                  <a:t> 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dirty="0"/>
                  <a:t> </a:t>
                </a:r>
                <a:r>
                  <a:rPr lang="en-US" sz="3200" dirty="0">
                    <a:latin typeface="Cambria Math"/>
                    <a:ea typeface="Cambria Math"/>
                  </a:rPr>
                  <a:t>⇒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sz="3200" dirty="0"/>
                  <a:t>, …,               </a:t>
                </a:r>
                <a:r>
                  <a:rPr lang="en-US" sz="3200" i="1" dirty="0"/>
                  <a:t>w</a:t>
                </a:r>
                <a:r>
                  <a:rPr lang="en-US" sz="3200" i="1" baseline="-25000" dirty="0">
                    <a:ea typeface="Cambria Math" pitchFamily="18" charset="0"/>
                  </a:rPr>
                  <a:t>n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-1</a:t>
                </a:r>
                <a:r>
                  <a:rPr lang="en-US" sz="3200" dirty="0"/>
                  <a:t> </a:t>
                </a:r>
                <a:r>
                  <a:rPr lang="en-US" sz="3200" dirty="0">
                    <a:latin typeface="Cambria Math"/>
                    <a:ea typeface="Cambria Math"/>
                  </a:rPr>
                  <a:t>⇒</a:t>
                </a:r>
                <a:r>
                  <a:rPr lang="en-US" sz="3200" dirty="0"/>
                  <a:t> </a:t>
                </a:r>
                <a:r>
                  <a:rPr lang="en-US" sz="3200" i="1" dirty="0" err="1"/>
                  <a:t>w</a:t>
                </a:r>
                <a:r>
                  <a:rPr lang="en-US" sz="3200" i="1" baseline="-25000" dirty="0" err="1"/>
                  <a:t>n</a:t>
                </a:r>
                <a:r>
                  <a:rPr lang="en-US" sz="3200" dirty="0"/>
                  <a:t>, then we say that </a:t>
                </a:r>
                <a:r>
                  <a:rPr lang="en-US" sz="3200" i="1" dirty="0" err="1"/>
                  <a:t>w</a:t>
                </a:r>
                <a:r>
                  <a:rPr lang="en-US" sz="3200" i="1" baseline="-25000" dirty="0" err="1"/>
                  <a:t>n</a:t>
                </a:r>
                <a:r>
                  <a:rPr lang="en-US" sz="3200" dirty="0"/>
                  <a:t> is </a:t>
                </a:r>
                <a:r>
                  <a:rPr lang="en-US" sz="3200" i="1" dirty="0"/>
                  <a:t>derivable from 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 and write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 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3200" i="1" baseline="-14000">
                            <a:latin typeface="Cambria Math"/>
                            <a:ea typeface="Cambria Math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en-US" sz="3200" dirty="0"/>
                  <a:t>  </a:t>
                </a:r>
                <a:r>
                  <a:rPr lang="en-US" sz="3200" i="1" dirty="0" err="1"/>
                  <a:t>w</a:t>
                </a:r>
                <a:r>
                  <a:rPr lang="en-US" sz="3200" i="1" baseline="-25000" dirty="0" err="1"/>
                  <a:t>n</a:t>
                </a:r>
                <a:r>
                  <a:rPr lang="en-US" sz="3200" dirty="0"/>
                  <a:t>.</a:t>
                </a:r>
              </a:p>
              <a:p>
                <a:r>
                  <a:rPr lang="en-US" sz="3200" dirty="0"/>
                  <a:t>The sequence of steps used to obtain </a:t>
                </a:r>
                <a:r>
                  <a:rPr lang="en-US" sz="3200" i="1" dirty="0" err="1"/>
                  <a:t>w</a:t>
                </a:r>
                <a:r>
                  <a:rPr lang="en-US" sz="3200" i="1" baseline="-25000" dirty="0" err="1"/>
                  <a:t>n</a:t>
                </a:r>
                <a:r>
                  <a:rPr lang="en-US" sz="3200" dirty="0"/>
                  <a:t> from </a:t>
                </a:r>
                <a:r>
                  <a:rPr lang="en-US" sz="3200" i="1" dirty="0"/>
                  <a:t>w</a:t>
                </a:r>
                <a:r>
                  <a:rPr lang="en-US" sz="3200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sz="3200" dirty="0"/>
                  <a:t> is called a </a:t>
                </a:r>
                <a:r>
                  <a:rPr lang="en-US" sz="3200" i="1" dirty="0"/>
                  <a:t>derivation</a:t>
                </a:r>
                <a:r>
                  <a:rPr lang="en-US" sz="3200" dirty="0"/>
                  <a:t>.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indent="0">
                  <a:buNone/>
                </a:pPr>
                <a:r>
                  <a:rPr lang="en-US" sz="3200" b="1" dirty="0"/>
                  <a:t>Example (Grammar </a:t>
                </a:r>
                <a:r>
                  <a:rPr lang="en-US" sz="3200" b="1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3200" b="1" dirty="0"/>
                  <a:t>)</a:t>
                </a:r>
                <a:r>
                  <a:rPr lang="en-US" sz="3200" dirty="0"/>
                  <a:t>: </a:t>
                </a:r>
                <a:r>
                  <a:rPr lang="en-US" sz="3200" i="1" dirty="0" err="1"/>
                  <a:t>Aaba</a:t>
                </a:r>
                <a:r>
                  <a:rPr lang="en-US" sz="3200" dirty="0"/>
                  <a:t> is directly derivable from </a:t>
                </a:r>
                <a:r>
                  <a:rPr lang="en-US" sz="3200" i="1" dirty="0" err="1"/>
                  <a:t>ABa</a:t>
                </a:r>
                <a:r>
                  <a:rPr lang="en-US" sz="3200" dirty="0"/>
                  <a:t>  because </a:t>
                </a:r>
                <a:r>
                  <a:rPr lang="en-US" sz="3200" i="1" dirty="0">
                    <a:ea typeface="Cambria Math"/>
                  </a:rPr>
                  <a:t>B</a:t>
                </a:r>
                <a:r>
                  <a:rPr lang="en-US" sz="3200" dirty="0">
                    <a:latin typeface="Cambria Math"/>
                    <a:ea typeface="Cambria Math"/>
                  </a:rPr>
                  <a:t> →</a:t>
                </a:r>
                <a:r>
                  <a:rPr lang="en-US" sz="3200" i="1" dirty="0" err="1">
                    <a:ea typeface="Cambria Math"/>
                  </a:rPr>
                  <a:t>ab</a:t>
                </a:r>
                <a:r>
                  <a:rPr lang="en-US" sz="3200" i="1" dirty="0">
                    <a:latin typeface="Cambria Math"/>
                    <a:ea typeface="Cambria Math"/>
                  </a:rPr>
                  <a:t>  </a:t>
                </a:r>
                <a:r>
                  <a:rPr lang="en-US" sz="3200" dirty="0">
                    <a:ea typeface="Cambria Math"/>
                  </a:rPr>
                  <a:t>is a production and  </a:t>
                </a:r>
                <a:r>
                  <a:rPr lang="en-US" sz="3200" i="1" dirty="0" err="1">
                    <a:ea typeface="Cambria Math"/>
                  </a:rPr>
                  <a:t>abababa</a:t>
                </a:r>
                <a:r>
                  <a:rPr lang="en-US" sz="3200" dirty="0">
                    <a:ea typeface="Cambria Math"/>
                  </a:rPr>
                  <a:t> is derivable from </a:t>
                </a:r>
                <a:r>
                  <a:rPr lang="en-US" sz="3200" i="1" dirty="0" err="1">
                    <a:ea typeface="Cambria Math"/>
                  </a:rPr>
                  <a:t>ABa</a:t>
                </a:r>
                <a:r>
                  <a:rPr lang="en-US" sz="3200" dirty="0">
                    <a:ea typeface="Cambria Math"/>
                  </a:rPr>
                  <a:t> because           </a:t>
                </a:r>
                <a:r>
                  <a:rPr lang="en-US" sz="3200" i="1" dirty="0" err="1">
                    <a:ea typeface="Cambria Math"/>
                  </a:rPr>
                  <a:t>ABa</a:t>
                </a:r>
                <a:r>
                  <a:rPr lang="en-US" sz="3200" dirty="0">
                    <a:latin typeface="Cambria Math"/>
                    <a:ea typeface="Cambria Math"/>
                  </a:rPr>
                  <a:t> ⇒</a:t>
                </a:r>
                <a:r>
                  <a:rPr lang="en-US" sz="3200" dirty="0">
                    <a:ea typeface="Cambria Math"/>
                  </a:rPr>
                  <a:t>  </a:t>
                </a:r>
                <a:r>
                  <a:rPr lang="en-US" sz="3200" i="1" dirty="0" err="1">
                    <a:ea typeface="Cambria Math"/>
                  </a:rPr>
                  <a:t>Aaba</a:t>
                </a:r>
                <a:r>
                  <a:rPr lang="en-US" sz="3200" i="1" dirty="0">
                    <a:ea typeface="Cambria Math"/>
                  </a:rPr>
                  <a:t> </a:t>
                </a:r>
                <a:r>
                  <a:rPr lang="en-US" sz="3200" dirty="0">
                    <a:latin typeface="Cambria Math"/>
                    <a:ea typeface="Cambria Math"/>
                  </a:rPr>
                  <a:t>⇒</a:t>
                </a:r>
                <a:r>
                  <a:rPr lang="en-US" sz="3200" dirty="0">
                    <a:ea typeface="Cambria Math"/>
                  </a:rPr>
                  <a:t>  </a:t>
                </a:r>
                <a:r>
                  <a:rPr lang="en-US" sz="3200" i="1" dirty="0" err="1">
                    <a:ea typeface="Cambria Math"/>
                  </a:rPr>
                  <a:t>BBaba</a:t>
                </a:r>
                <a:r>
                  <a:rPr lang="en-US" sz="3200" dirty="0">
                    <a:ea typeface="Cambria Math"/>
                  </a:rPr>
                  <a:t> </a:t>
                </a:r>
                <a:r>
                  <a:rPr lang="en-US" sz="3200" dirty="0">
                    <a:latin typeface="Cambria Math"/>
                    <a:ea typeface="Cambria Math"/>
                  </a:rPr>
                  <a:t>⇒</a:t>
                </a:r>
                <a:r>
                  <a:rPr lang="en-US" sz="3200" dirty="0">
                    <a:ea typeface="Cambria Math"/>
                  </a:rPr>
                  <a:t> </a:t>
                </a:r>
                <a:r>
                  <a:rPr lang="en-US" sz="3200" i="1" dirty="0" err="1">
                    <a:ea typeface="Cambria Math"/>
                  </a:rPr>
                  <a:t>Bababa</a:t>
                </a:r>
                <a:r>
                  <a:rPr lang="en-US" sz="3200" dirty="0">
                    <a:latin typeface="Cambria Math"/>
                    <a:ea typeface="Cambria Math"/>
                  </a:rPr>
                  <a:t> ⇒</a:t>
                </a:r>
                <a:r>
                  <a:rPr lang="en-US" sz="3200" dirty="0">
                    <a:ea typeface="Cambria Math"/>
                  </a:rPr>
                  <a:t> </a:t>
                </a:r>
                <a:r>
                  <a:rPr lang="en-US" sz="3200" i="1" dirty="0" err="1">
                    <a:ea typeface="Cambria Math"/>
                  </a:rPr>
                  <a:t>abababa</a:t>
                </a:r>
                <a:r>
                  <a:rPr lang="en-US" sz="3200" dirty="0">
                    <a:ea typeface="Cambria Math"/>
                  </a:rPr>
                  <a:t> using the productions      </a:t>
                </a:r>
                <a:r>
                  <a:rPr lang="en-US" sz="3200" i="1" dirty="0">
                    <a:ea typeface="Cambria Math"/>
                  </a:rPr>
                  <a:t>B</a:t>
                </a:r>
                <a:r>
                  <a:rPr lang="en-US" sz="3200" dirty="0">
                    <a:latin typeface="Cambria Math"/>
                    <a:ea typeface="Cambria Math"/>
                  </a:rPr>
                  <a:t> →</a:t>
                </a:r>
                <a:r>
                  <a:rPr lang="en-US" sz="3200" i="1" dirty="0" err="1">
                    <a:ea typeface="Cambria Math"/>
                  </a:rPr>
                  <a:t>ab</a:t>
                </a:r>
                <a:r>
                  <a:rPr lang="en-US" sz="3200" dirty="0">
                    <a:latin typeface="Cambria Math"/>
                    <a:ea typeface="Cambria Math"/>
                  </a:rPr>
                  <a:t>,</a:t>
                </a:r>
                <a:r>
                  <a:rPr lang="en-US" sz="3200" dirty="0">
                    <a:ea typeface="Cambria Math"/>
                  </a:rPr>
                  <a:t> </a:t>
                </a:r>
                <a:r>
                  <a:rPr lang="en-US" sz="3200" i="1" dirty="0">
                    <a:ea typeface="Cambria Math"/>
                  </a:rPr>
                  <a:t>A</a:t>
                </a:r>
                <a:r>
                  <a:rPr lang="en-US" sz="3200" dirty="0">
                    <a:latin typeface="Cambria Math"/>
                    <a:ea typeface="Cambria Math"/>
                  </a:rPr>
                  <a:t> →</a:t>
                </a:r>
                <a:r>
                  <a:rPr lang="en-US" sz="3200" i="1" dirty="0">
                    <a:ea typeface="Cambria Math"/>
                  </a:rPr>
                  <a:t>BB</a:t>
                </a:r>
                <a:r>
                  <a:rPr lang="en-US" sz="3200" dirty="0">
                    <a:latin typeface="Cambria Math"/>
                    <a:ea typeface="Cambria Math"/>
                  </a:rPr>
                  <a:t>, and</a:t>
                </a:r>
                <a:r>
                  <a:rPr lang="en-US" sz="3200" i="1" dirty="0">
                    <a:latin typeface="Cambria Math"/>
                    <a:ea typeface="Cambria Math"/>
                  </a:rPr>
                  <a:t> </a:t>
                </a:r>
                <a:r>
                  <a:rPr lang="en-US" sz="3200" i="1" dirty="0">
                    <a:ea typeface="Cambria Math"/>
                  </a:rPr>
                  <a:t>B</a:t>
                </a:r>
                <a:r>
                  <a:rPr lang="en-US" sz="3200" dirty="0">
                    <a:latin typeface="Cambria Math"/>
                    <a:ea typeface="Cambria Math"/>
                  </a:rPr>
                  <a:t> →</a:t>
                </a:r>
                <a:r>
                  <a:rPr lang="en-US" sz="3200" i="1" dirty="0" err="1">
                    <a:ea typeface="Cambria Math"/>
                  </a:rPr>
                  <a:t>ab</a:t>
                </a:r>
                <a:r>
                  <a:rPr lang="en-US" sz="3200" i="1" dirty="0">
                    <a:ea typeface="Cambria Math"/>
                  </a:rPr>
                  <a:t> </a:t>
                </a:r>
                <a:r>
                  <a:rPr lang="en-US" sz="3200" dirty="0">
                    <a:ea typeface="Cambria Math"/>
                  </a:rPr>
                  <a:t>in both of the last two steps of the derivation</a:t>
                </a:r>
                <a:r>
                  <a:rPr lang="en-US" sz="3200" dirty="0">
                    <a:latin typeface="Cambria Math"/>
                    <a:ea typeface="Cambria Math"/>
                  </a:rPr>
                  <a:t>.</a:t>
                </a:r>
                <a:endParaRPr lang="en-US" sz="3200" dirty="0"/>
              </a:p>
              <a:p>
                <a:pPr indent="0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1944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402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5F3D-0081-1670-BD0D-CCE902E4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A7C564-3FAD-C16B-083F-FAE0C360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8077200" cy="31975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1260E9-B777-7AB6-BCB1-674E1440D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05400"/>
            <a:ext cx="7772400" cy="111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93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C93A14C-2589-3CDC-AD7B-1E54F8893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766"/>
            <a:ext cx="7053654" cy="2971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27B3C2-7E0B-49EC-08EC-D46C1237A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59" y="3048000"/>
            <a:ext cx="6477000" cy="382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62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Let </a:t>
                </a:r>
                <a:r>
                  <a:rPr lang="en-US" i="1" dirty="0"/>
                  <a:t>G =</a:t>
                </a:r>
                <a:r>
                  <a:rPr lang="en-US" dirty="0"/>
                  <a:t>(</a:t>
                </a:r>
                <a:r>
                  <a:rPr lang="en-US" i="1" dirty="0"/>
                  <a:t>V, T, S, P</a:t>
                </a:r>
                <a:r>
                  <a:rPr lang="en-US" dirty="0"/>
                  <a:t>) be a phrase-structure grammar. The </a:t>
                </a:r>
                <a:r>
                  <a:rPr lang="en-US" i="1" dirty="0"/>
                  <a:t>language generated by G,</a:t>
                </a:r>
                <a:r>
                  <a:rPr lang="en-US" dirty="0"/>
                  <a:t> denoted by </a:t>
                </a:r>
                <a:r>
                  <a:rPr lang="en-US" i="1" dirty="0"/>
                  <a:t>L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), is the set of all strings or terminals that are derivable from the starting state </a:t>
                </a:r>
                <a:r>
                  <a:rPr lang="en-US" i="1" dirty="0"/>
                  <a:t>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In other words, </a:t>
                </a:r>
                <a:r>
                  <a:rPr lang="en-US" i="1" dirty="0"/>
                  <a:t> L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 = {</a:t>
                </a:r>
                <a:r>
                  <a:rPr lang="en-US" i="1" dirty="0"/>
                  <a:t>w</a:t>
                </a:r>
                <a:r>
                  <a:rPr lang="en-US" dirty="0"/>
                  <a:t>  </a:t>
                </a:r>
                <a:r>
                  <a:rPr lang="en-US" dirty="0">
                    <a:latin typeface="Cambria Math"/>
                    <a:ea typeface="Cambria Math"/>
                  </a:rPr>
                  <a:t>∈</a:t>
                </a:r>
                <a:r>
                  <a:rPr lang="en-US" dirty="0"/>
                  <a:t> </a:t>
                </a:r>
                <a:r>
                  <a:rPr lang="en-US" i="1" dirty="0"/>
                  <a:t>T*</a:t>
                </a:r>
                <a:r>
                  <a:rPr lang="en-US" dirty="0"/>
                  <a:t> | S 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baseline="-14000">
                            <a:latin typeface="Cambria Math"/>
                            <a:ea typeface="Cambria Math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en-US" dirty="0"/>
                  <a:t>  </a:t>
                </a:r>
                <a:r>
                  <a:rPr lang="en-US" i="1" dirty="0"/>
                  <a:t>w</a:t>
                </a:r>
                <a:r>
                  <a:rPr lang="en-US" dirty="0"/>
                  <a:t>}.</a:t>
                </a:r>
              </a:p>
              <a:p>
                <a:r>
                  <a:rPr lang="en-US" dirty="0"/>
                  <a:t>Let </a:t>
                </a:r>
                <a:r>
                  <a:rPr lang="en-US" i="1" dirty="0"/>
                  <a:t>G</a:t>
                </a:r>
                <a:r>
                  <a:rPr lang="en-US" dirty="0"/>
                  <a:t> be the grammar with the vocabulary </a:t>
                </a:r>
                <a:r>
                  <a:rPr lang="en-US" i="1" dirty="0"/>
                  <a:t>V</a:t>
                </a:r>
                <a:r>
                  <a:rPr lang="en-US" dirty="0"/>
                  <a:t> = {</a:t>
                </a:r>
                <a:r>
                  <a:rPr lang="en-US" i="1" dirty="0"/>
                  <a:t>S</a:t>
                </a:r>
                <a:r>
                  <a:rPr lang="en-US" dirty="0"/>
                  <a:t>, </a:t>
                </a:r>
                <a:r>
                  <a:rPr lang="en-US" i="1" dirty="0"/>
                  <a:t>A</a:t>
                </a:r>
                <a:r>
                  <a:rPr lang="en-US" dirty="0"/>
                  <a:t>, </a:t>
                </a:r>
                <a:r>
                  <a:rPr lang="en-US" i="1" dirty="0"/>
                  <a:t>a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dirty="0"/>
                  <a:t>}, a set of terminals </a:t>
                </a:r>
                <a:r>
                  <a:rPr lang="en-US" i="1" dirty="0"/>
                  <a:t>T</a:t>
                </a:r>
                <a:r>
                  <a:rPr lang="en-US" dirty="0"/>
                  <a:t> = {</a:t>
                </a:r>
                <a:r>
                  <a:rPr lang="en-US" i="1" dirty="0"/>
                  <a:t>a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dirty="0"/>
                  <a:t>}, starting symbol </a:t>
                </a:r>
                <a:r>
                  <a:rPr lang="en-US" i="1" dirty="0"/>
                  <a:t>S</a:t>
                </a:r>
                <a:r>
                  <a:rPr lang="en-US" dirty="0"/>
                  <a:t>, and productions </a:t>
                </a:r>
                <a:r>
                  <a:rPr lang="en-US" i="1" dirty="0"/>
                  <a:t>P</a:t>
                </a:r>
                <a:r>
                  <a:rPr lang="en-US" dirty="0"/>
                  <a:t> = {</a:t>
                </a:r>
                <a:r>
                  <a:rPr lang="en-US" i="1" dirty="0"/>
                  <a:t>S</a:t>
                </a:r>
                <a:r>
                  <a:rPr lang="en-US" dirty="0"/>
                  <a:t> → </a:t>
                </a:r>
                <a:r>
                  <a:rPr lang="en-US" i="1" dirty="0" err="1"/>
                  <a:t>aA</a:t>
                </a:r>
                <a:r>
                  <a:rPr lang="en-US" dirty="0"/>
                  <a:t>, </a:t>
                </a:r>
                <a:r>
                  <a:rPr lang="en-US" i="1" dirty="0"/>
                  <a:t>S</a:t>
                </a:r>
                <a:r>
                  <a:rPr lang="en-US" dirty="0"/>
                  <a:t> → </a:t>
                </a:r>
                <a:r>
                  <a:rPr lang="en-US" i="1" dirty="0"/>
                  <a:t>b</a:t>
                </a:r>
                <a:r>
                  <a:rPr lang="en-US" dirty="0"/>
                  <a:t>, </a:t>
                </a:r>
                <a:r>
                  <a:rPr lang="en-US" i="1" dirty="0"/>
                  <a:t>A</a:t>
                </a:r>
                <a:r>
                  <a:rPr lang="en-US" dirty="0"/>
                  <a:t> → </a:t>
                </a:r>
                <a:r>
                  <a:rPr lang="en-US" i="1" dirty="0" err="1"/>
                  <a:t>aa</a:t>
                </a:r>
                <a:r>
                  <a:rPr lang="en-US" dirty="0"/>
                  <a:t>}. </a:t>
                </a:r>
              </a:p>
              <a:p>
                <a:r>
                  <a:rPr lang="en-US" i="1" dirty="0"/>
                  <a:t>L</a:t>
                </a:r>
                <a:r>
                  <a:rPr lang="en-US" dirty="0"/>
                  <a:t>(</a:t>
                </a:r>
                <a:r>
                  <a:rPr lang="en-US" i="1" dirty="0"/>
                  <a:t>G</a:t>
                </a:r>
                <a:r>
                  <a:rPr lang="en-US" dirty="0"/>
                  <a:t>) = {</a:t>
                </a:r>
                <a:r>
                  <a:rPr lang="en-US" i="1" dirty="0"/>
                  <a:t>b</a:t>
                </a:r>
                <a:r>
                  <a:rPr lang="en-US" dirty="0"/>
                  <a:t>, </a:t>
                </a:r>
                <a:r>
                  <a:rPr lang="en-US" i="1" dirty="0" err="1"/>
                  <a:t>aaa</a:t>
                </a:r>
                <a:r>
                  <a:rPr lang="en-US" dirty="0"/>
                  <a:t>}, because we can begin a derivation with             </a:t>
                </a:r>
                <a:r>
                  <a:rPr lang="en-US" i="1" dirty="0"/>
                  <a:t>S</a:t>
                </a:r>
                <a:r>
                  <a:rPr lang="en-US" dirty="0"/>
                  <a:t> → </a:t>
                </a:r>
                <a:r>
                  <a:rPr lang="en-US" i="1" dirty="0" err="1"/>
                  <a:t>aA</a:t>
                </a:r>
                <a:r>
                  <a:rPr lang="en-US" i="1" dirty="0"/>
                  <a:t> </a:t>
                </a:r>
                <a:r>
                  <a:rPr lang="en-US" dirty="0"/>
                  <a:t>or</a:t>
                </a:r>
                <a:r>
                  <a:rPr lang="en-US" i="1" dirty="0"/>
                  <a:t> </a:t>
                </a:r>
                <a:r>
                  <a:rPr lang="en-US" dirty="0"/>
                  <a:t>with </a:t>
                </a:r>
                <a:r>
                  <a:rPr lang="en-US" i="1" dirty="0"/>
                  <a:t>S</a:t>
                </a:r>
                <a:r>
                  <a:rPr lang="en-US" dirty="0"/>
                  <a:t> → </a:t>
                </a:r>
                <a:r>
                  <a:rPr lang="en-US" i="1" dirty="0"/>
                  <a:t>b, </a:t>
                </a:r>
                <a:r>
                  <a:rPr lang="en-US" dirty="0"/>
                  <a:t>and</a:t>
                </a:r>
                <a:r>
                  <a:rPr lang="en-US" i="1" dirty="0"/>
                  <a:t>  </a:t>
                </a:r>
                <a:r>
                  <a:rPr lang="en-US" dirty="0"/>
                  <a:t>from </a:t>
                </a:r>
                <a:r>
                  <a:rPr lang="en-US" i="1" dirty="0" err="1"/>
                  <a:t>aA</a:t>
                </a:r>
                <a:r>
                  <a:rPr lang="en-US" i="1" dirty="0"/>
                  <a:t> </a:t>
                </a:r>
                <a:r>
                  <a:rPr lang="en-US" dirty="0"/>
                  <a:t>we can derive </a:t>
                </a:r>
                <a:r>
                  <a:rPr lang="en-US" i="1" dirty="0" err="1"/>
                  <a:t>aaa</a:t>
                </a:r>
                <a:r>
                  <a:rPr lang="en-US" dirty="0"/>
                  <a:t> using  </a:t>
                </a:r>
                <a:r>
                  <a:rPr lang="en-US" i="1" dirty="0"/>
                  <a:t>A</a:t>
                </a:r>
                <a:r>
                  <a:rPr lang="en-US" dirty="0"/>
                  <a:t> → </a:t>
                </a:r>
                <a:r>
                  <a:rPr lang="en-US" i="1" dirty="0" err="1"/>
                  <a:t>aa</a:t>
                </a:r>
                <a:r>
                  <a:rPr lang="en-US" i="1" dirty="0"/>
                  <a:t>. </a:t>
                </a:r>
                <a:r>
                  <a:rPr lang="en-US" dirty="0"/>
                  <a:t>There are no other possible derivations.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944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947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7074-5F44-24DC-F69C-A0CE7267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2C81E0-06D4-024D-9020-285CF8EB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1234"/>
            <a:ext cx="9144000" cy="369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09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F999EB-81C8-4E6B-D19E-63A2CADB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6553200" cy="27896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A86654-CA8D-9615-E1C0-7BBC5CD8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0"/>
            <a:ext cx="3503629" cy="381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5768032-27CF-7C41-BE16-515B5B8E3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512" y="4495800"/>
            <a:ext cx="5561029" cy="169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37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Phrase Structure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Phrase-structure grammars are classified by the types of allowable productions.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Type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grammars are called </a:t>
            </a:r>
            <a:r>
              <a:rPr lang="en-US" i="1" dirty="0"/>
              <a:t>context-free grammars. </a:t>
            </a:r>
            <a:r>
              <a:rPr lang="en-US" dirty="0"/>
              <a:t>A language generated by a context-free grammar is called a </a:t>
            </a:r>
            <a:r>
              <a:rPr lang="en-US" i="1" dirty="0"/>
              <a:t>context-free language</a:t>
            </a:r>
            <a:r>
              <a:rPr lang="en-US" dirty="0"/>
              <a:t>.</a:t>
            </a:r>
          </a:p>
          <a:p>
            <a:r>
              <a:rPr lang="en-US" dirty="0"/>
              <a:t>Type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grammars are called </a:t>
            </a:r>
            <a:r>
              <a:rPr lang="en-US" i="1" dirty="0"/>
              <a:t>context-sensitive grammars </a:t>
            </a:r>
            <a:r>
              <a:rPr lang="en-US" dirty="0"/>
              <a:t>(or a</a:t>
            </a:r>
            <a:r>
              <a:rPr lang="en-US" i="1" dirty="0"/>
              <a:t> regular grammar</a:t>
            </a:r>
            <a:r>
              <a:rPr lang="en-US" dirty="0"/>
              <a:t>).</a:t>
            </a:r>
            <a:r>
              <a:rPr lang="en-US" i="1" dirty="0"/>
              <a:t> </a:t>
            </a:r>
            <a:r>
              <a:rPr lang="en-US" dirty="0"/>
              <a:t>A language generated by a context-sensitive grammar is called a </a:t>
            </a:r>
            <a:r>
              <a:rPr lang="en-US" i="1" dirty="0"/>
              <a:t>context-sensitive language</a:t>
            </a:r>
            <a:r>
              <a:rPr lang="en-US" dirty="0"/>
              <a:t> (or a </a:t>
            </a:r>
            <a:r>
              <a:rPr lang="en-US" i="1" dirty="0"/>
              <a:t>regular language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590800"/>
            <a:ext cx="5062451" cy="142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1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ACB98-74BB-8EBC-765E-2D4993C0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B01731-2CB0-5D6C-8273-95C6D5048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03"/>
            <a:ext cx="4667743" cy="4191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4B76EE-974D-1F2B-792B-F67AD6CE3D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06"/>
          <a:stretch>
            <a:fillRect/>
          </a:stretch>
        </p:blipFill>
        <p:spPr>
          <a:xfrm>
            <a:off x="76200" y="4267199"/>
            <a:ext cx="6324600" cy="232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30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3001E1-8E28-0E67-C19F-86E9F9CA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5614"/>
            <a:ext cx="5738300" cy="4343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F59194-EB25-A83F-93F2-8A0C3235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85051"/>
            <a:ext cx="5562600" cy="234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65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Trees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We can represent a derivation in the language generated by a context-free grammar by an ordered rooted tree, called a </a:t>
            </a:r>
            <a:r>
              <a:rPr lang="en-US" i="1" dirty="0"/>
              <a:t>derivation</a:t>
            </a:r>
            <a:r>
              <a:rPr lang="en-US" dirty="0"/>
              <a:t>, or </a:t>
            </a:r>
            <a:r>
              <a:rPr lang="en-US" i="1" dirty="0"/>
              <a:t>parse tree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root of the tree represents the start symbol.</a:t>
            </a:r>
          </a:p>
          <a:p>
            <a:pPr lvl="1"/>
            <a:r>
              <a:rPr lang="en-US" dirty="0"/>
              <a:t>The internal vertices represent the nonterminal symbols that arise in the derivation.</a:t>
            </a:r>
          </a:p>
          <a:p>
            <a:pPr lvl="1"/>
            <a:r>
              <a:rPr lang="en-US" dirty="0"/>
              <a:t>The leaves represent the terminal symbols that arise.</a:t>
            </a:r>
          </a:p>
          <a:p>
            <a:pPr lvl="1"/>
            <a:r>
              <a:rPr lang="en-US" dirty="0"/>
              <a:t>If the production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i="1" dirty="0"/>
              <a:t>w</a:t>
            </a:r>
            <a:r>
              <a:rPr lang="en-US" dirty="0"/>
              <a:t>, where </a:t>
            </a:r>
            <a:r>
              <a:rPr lang="en-US" i="1" dirty="0"/>
              <a:t>w</a:t>
            </a:r>
            <a:r>
              <a:rPr lang="en-US" dirty="0"/>
              <a:t>  is a word,  arises in the derivation, the vertex that represents </a:t>
            </a:r>
            <a:r>
              <a:rPr lang="en-US" i="1" dirty="0"/>
              <a:t>A</a:t>
            </a:r>
            <a:r>
              <a:rPr lang="en-US" dirty="0"/>
              <a:t> has as children vertices that represent each symbol in </a:t>
            </a:r>
            <a:r>
              <a:rPr lang="en-US" i="1" dirty="0"/>
              <a:t>w</a:t>
            </a:r>
            <a:r>
              <a:rPr lang="en-US" dirty="0"/>
              <a:t>, in order from left to right. </a:t>
            </a:r>
          </a:p>
          <a:p>
            <a:r>
              <a:rPr lang="en-US" dirty="0"/>
              <a:t>A derivation tree for the derivation of </a:t>
            </a:r>
            <a:r>
              <a:rPr lang="en-US" i="1" dirty="0"/>
              <a:t>the hungry rabbit eats quickly</a:t>
            </a:r>
            <a:r>
              <a:rPr lang="en-US" dirty="0"/>
              <a:t>, given the grammar described earlier.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5105400"/>
            <a:ext cx="2231967" cy="145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5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000F-ED14-E6E1-2C48-07C78DBD4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DDF9E60-BD72-9220-E9DB-7C6EB9C31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861"/>
            <a:ext cx="9144000" cy="444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68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Backus-Naur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Backus-Naur form </a:t>
            </a:r>
            <a:r>
              <a:rPr lang="en-US" dirty="0"/>
              <a:t>(</a:t>
            </a:r>
            <a:r>
              <a:rPr lang="en-US" i="1" dirty="0"/>
              <a:t>BNF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is sometimes used to specify a type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grammar. It is often used to specify the syntactic rules of computer languages.</a:t>
            </a:r>
          </a:p>
          <a:p>
            <a:r>
              <a:rPr lang="en-US" dirty="0"/>
              <a:t>The productions of a type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grammar have a single nonterminal symbol on their left-hand side. </a:t>
            </a:r>
          </a:p>
          <a:p>
            <a:r>
              <a:rPr lang="en-US" dirty="0"/>
              <a:t>All the productions with the same nonterminal symbol on the left-hand side are combined into one statement using the symbol ::= instead of 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dirty="0"/>
              <a:t>.  Additionally,, all nonterminal symbols are enclosed in brackets  (</a:t>
            </a:r>
            <a:r>
              <a:rPr lang="en-US" dirty="0">
                <a:latin typeface="Cambria Math"/>
                <a:ea typeface="Cambria Math"/>
              </a:rPr>
              <a:t>〈〉</a:t>
            </a:r>
            <a:r>
              <a:rPr lang="en-US" dirty="0">
                <a:ea typeface="Cambria Math"/>
              </a:rPr>
              <a:t>)</a:t>
            </a:r>
            <a:r>
              <a:rPr lang="en-US" dirty="0"/>
              <a:t>, and the right-hand side of productions are </a:t>
            </a:r>
            <a:r>
              <a:rPr lang="en-US" dirty="0" err="1"/>
              <a:t>spearated</a:t>
            </a:r>
            <a:r>
              <a:rPr lang="en-US" dirty="0"/>
              <a:t> by bars.</a:t>
            </a:r>
          </a:p>
          <a:p>
            <a:r>
              <a:rPr lang="en-US" dirty="0"/>
              <a:t>For example, the productions </a:t>
            </a:r>
            <a:r>
              <a:rPr lang="en-US" i="1" dirty="0"/>
              <a:t>A</a:t>
            </a:r>
            <a:r>
              <a:rPr lang="en-US" dirty="0">
                <a:latin typeface="Cambria Math"/>
                <a:ea typeface="Cambria Math"/>
              </a:rPr>
              <a:t> →</a:t>
            </a:r>
            <a:r>
              <a:rPr lang="en-US" i="1" dirty="0" err="1">
                <a:ea typeface="Cambria Math"/>
              </a:rPr>
              <a:t>Aa</a:t>
            </a:r>
            <a:r>
              <a:rPr lang="en-US" dirty="0">
                <a:latin typeface="Cambria Math"/>
                <a:ea typeface="Cambria Math"/>
              </a:rPr>
              <a:t>,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→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, </a:t>
            </a:r>
            <a:r>
              <a:rPr lang="en-US" dirty="0">
                <a:ea typeface="Cambria Math"/>
              </a:rPr>
              <a:t>and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/>
              <a:t>A</a:t>
            </a:r>
            <a:r>
              <a:rPr lang="en-US" dirty="0">
                <a:latin typeface="Cambria Math"/>
                <a:ea typeface="Cambria Math"/>
              </a:rPr>
              <a:t> →</a:t>
            </a:r>
            <a:r>
              <a:rPr lang="en-US" i="1" dirty="0">
                <a:ea typeface="Cambria Math"/>
              </a:rPr>
              <a:t>AB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>
                <a:ea typeface="Cambria Math"/>
              </a:rPr>
              <a:t>are written as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A</a:t>
            </a:r>
            <a:r>
              <a:rPr lang="en-US" dirty="0">
                <a:latin typeface="Cambria Math"/>
                <a:ea typeface="Cambria Math"/>
              </a:rPr>
              <a:t>〉</a:t>
            </a:r>
            <a:r>
              <a:rPr lang="en-US" dirty="0"/>
              <a:t> ::=</a:t>
            </a:r>
            <a:r>
              <a:rPr lang="en-US" dirty="0">
                <a:latin typeface="Cambria Math"/>
                <a:ea typeface="Cambria Math"/>
              </a:rPr>
              <a:t> 〈</a:t>
            </a:r>
            <a:r>
              <a:rPr lang="en-US" i="1" dirty="0" err="1"/>
              <a:t>A</a:t>
            </a:r>
            <a:r>
              <a:rPr lang="en-US" dirty="0" err="1">
                <a:latin typeface="Cambria Math"/>
                <a:ea typeface="Cambria Math"/>
              </a:rPr>
              <a:t>〉</a:t>
            </a:r>
            <a:r>
              <a:rPr lang="en-US" i="1" dirty="0" err="1">
                <a:ea typeface="Cambria Math"/>
              </a:rPr>
              <a:t>a</a:t>
            </a:r>
            <a:r>
              <a:rPr lang="en-US" i="1" dirty="0">
                <a:ea typeface="Cambria Math"/>
              </a:rPr>
              <a:t> | a |</a:t>
            </a:r>
            <a:r>
              <a:rPr lang="en-US" dirty="0">
                <a:latin typeface="Cambria Math"/>
                <a:ea typeface="Cambria Math"/>
              </a:rPr>
              <a:t> 〈</a:t>
            </a:r>
            <a:r>
              <a:rPr lang="en-US" i="1" dirty="0"/>
              <a:t>A</a:t>
            </a:r>
            <a:r>
              <a:rPr lang="en-US" dirty="0">
                <a:latin typeface="Cambria Math"/>
                <a:ea typeface="Cambria Math"/>
              </a:rPr>
              <a:t>〉 〈</a:t>
            </a:r>
            <a:r>
              <a:rPr lang="en-US" i="1" dirty="0"/>
              <a:t>B</a:t>
            </a:r>
            <a:r>
              <a:rPr lang="en-US" dirty="0">
                <a:latin typeface="Cambria Math"/>
                <a:ea typeface="Cambria Math"/>
              </a:rPr>
              <a:t>〉.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148" y="149227"/>
            <a:ext cx="893618" cy="10307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12576"/>
            <a:ext cx="895350" cy="10309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0857" y="1180005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John Backus</a:t>
            </a:r>
          </a:p>
          <a:p>
            <a:r>
              <a:rPr lang="en-US" dirty="0"/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1924-2007</a:t>
            </a:r>
            <a:r>
              <a:rPr lang="en-US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7600" y="1143562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Peter </a:t>
            </a:r>
            <a:r>
              <a:rPr lang="en-US" dirty="0" err="1"/>
              <a:t>Naur</a:t>
            </a:r>
            <a:endParaRPr lang="en-US" dirty="0"/>
          </a:p>
          <a:p>
            <a:r>
              <a:rPr lang="en-US" dirty="0"/>
              <a:t>(Born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1928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348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15B1B-FF7B-279D-E8A5-A7A7C65F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7B3454-7D7D-E338-1607-828FA8686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587"/>
            <a:ext cx="9144000" cy="34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59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9083542-B0DA-7797-53E5-BA275911E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81859"/>
            <a:ext cx="7391400" cy="32808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45FF91-53DD-07AE-B801-724410782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94" y="3410607"/>
            <a:ext cx="7326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66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BNF and ALGOL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programming language ALGOL 60 an identifier consists of a string of alphanumeric characters and must begin with a letter.</a:t>
            </a:r>
          </a:p>
          <a:p>
            <a:r>
              <a:rPr lang="en-US" dirty="0"/>
              <a:t>The BNF description of allowable identifiers is:</a:t>
            </a:r>
          </a:p>
          <a:p>
            <a:pPr marL="0" indent="0">
              <a:buNone/>
            </a:pPr>
            <a:r>
              <a:rPr lang="en-US" sz="2400" dirty="0">
                <a:latin typeface="Cambria Math"/>
                <a:ea typeface="Cambria Math"/>
              </a:rPr>
              <a:t>    〈</a:t>
            </a:r>
            <a:r>
              <a:rPr lang="en-US" sz="2400" i="1" dirty="0"/>
              <a:t>identifier</a:t>
            </a:r>
            <a:r>
              <a:rPr lang="en-US" sz="2400" dirty="0">
                <a:latin typeface="Cambria Math"/>
                <a:ea typeface="Cambria Math"/>
              </a:rPr>
              <a:t>〉 ::=〈</a:t>
            </a:r>
            <a:r>
              <a:rPr lang="en-US" sz="2400" i="1" dirty="0"/>
              <a:t>letter</a:t>
            </a:r>
            <a:r>
              <a:rPr lang="en-US" sz="2400" dirty="0">
                <a:latin typeface="Cambria Math"/>
                <a:ea typeface="Cambria Math"/>
              </a:rPr>
              <a:t>〉 | 〈</a:t>
            </a:r>
            <a:r>
              <a:rPr lang="en-US" sz="2400" i="1" dirty="0"/>
              <a:t>identifier</a:t>
            </a:r>
            <a:r>
              <a:rPr lang="en-US" sz="2400" dirty="0">
                <a:latin typeface="Cambria Math"/>
                <a:ea typeface="Cambria Math"/>
              </a:rPr>
              <a:t>〉〈</a:t>
            </a:r>
            <a:r>
              <a:rPr lang="en-US" sz="2400" i="1" dirty="0"/>
              <a:t>letter</a:t>
            </a:r>
            <a:r>
              <a:rPr lang="en-US" sz="2400" dirty="0">
                <a:latin typeface="Cambria Math"/>
                <a:ea typeface="Cambria Math"/>
              </a:rPr>
              <a:t>〉 | 〈</a:t>
            </a:r>
            <a:r>
              <a:rPr lang="en-US" sz="2400" i="1" dirty="0"/>
              <a:t>identifier</a:t>
            </a:r>
            <a:r>
              <a:rPr lang="en-US" sz="2400" dirty="0">
                <a:latin typeface="Cambria Math"/>
                <a:ea typeface="Cambria Math"/>
              </a:rPr>
              <a:t>〉〈</a:t>
            </a:r>
            <a:r>
              <a:rPr lang="en-US" sz="2400" i="1" dirty="0"/>
              <a:t>digit</a:t>
            </a:r>
            <a:r>
              <a:rPr lang="en-US" sz="2400" dirty="0">
                <a:latin typeface="Cambria Math"/>
                <a:ea typeface="Cambria Math"/>
              </a:rPr>
              <a:t>〉 </a:t>
            </a:r>
            <a:endParaRPr lang="en-US" sz="2400" dirty="0"/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   </a:t>
            </a:r>
            <a:r>
              <a:rPr lang="en-US" sz="2400" dirty="0">
                <a:latin typeface="Cambria Math"/>
                <a:ea typeface="Cambria Math"/>
              </a:rPr>
              <a:t>〈</a:t>
            </a:r>
            <a:r>
              <a:rPr lang="en-US" sz="2400" i="1" dirty="0"/>
              <a:t>letter </a:t>
            </a:r>
            <a:r>
              <a:rPr lang="en-US" sz="2400" dirty="0">
                <a:latin typeface="Cambria Math"/>
                <a:ea typeface="Cambria Math"/>
              </a:rPr>
              <a:t>〉 ::=  </a:t>
            </a:r>
            <a:r>
              <a:rPr lang="en-US" sz="2400" i="1" dirty="0">
                <a:ea typeface="Cambria Math"/>
              </a:rPr>
              <a:t>a</a:t>
            </a:r>
            <a:r>
              <a:rPr lang="en-US" sz="2400" dirty="0">
                <a:latin typeface="Cambria Math"/>
                <a:ea typeface="Cambria Math"/>
              </a:rPr>
              <a:t> | </a:t>
            </a:r>
            <a:r>
              <a:rPr lang="en-US" sz="2400" i="1" dirty="0">
                <a:ea typeface="Cambria Math"/>
              </a:rPr>
              <a:t>b</a:t>
            </a:r>
            <a:r>
              <a:rPr lang="en-US" sz="2400" dirty="0">
                <a:latin typeface="Cambria Math"/>
                <a:ea typeface="Cambria Math"/>
              </a:rPr>
              <a:t> | ⋯  | </a:t>
            </a:r>
            <a:r>
              <a:rPr lang="en-US" sz="2400" i="1" dirty="0">
                <a:ea typeface="Cambria Math"/>
              </a:rPr>
              <a:t>y</a:t>
            </a:r>
            <a:r>
              <a:rPr lang="en-US" sz="2400" dirty="0">
                <a:latin typeface="Cambria Math"/>
                <a:ea typeface="Cambria Math"/>
              </a:rPr>
              <a:t> | </a:t>
            </a:r>
            <a:r>
              <a:rPr lang="en-US" sz="2400" i="1" dirty="0">
                <a:ea typeface="Cambria Math"/>
              </a:rPr>
              <a:t>z</a:t>
            </a:r>
            <a:endParaRPr lang="en-US" sz="2400" i="1" dirty="0"/>
          </a:p>
          <a:p>
            <a:pPr marL="0" indent="0">
              <a:buNone/>
            </a:pPr>
            <a:r>
              <a:rPr lang="en-US" sz="2400" dirty="0">
                <a:latin typeface="Cambria Math"/>
                <a:ea typeface="Cambria Math"/>
              </a:rPr>
              <a:t>     〈</a:t>
            </a:r>
            <a:r>
              <a:rPr lang="en-US" sz="2400" i="1" dirty="0"/>
              <a:t>digit</a:t>
            </a:r>
            <a:r>
              <a:rPr lang="en-US" sz="2400" dirty="0">
                <a:latin typeface="Cambria Math"/>
                <a:ea typeface="Cambria Math"/>
              </a:rPr>
              <a:t>〉 ::= 0 | 1 | ⋯ | 8 | 9</a:t>
            </a:r>
            <a:endParaRPr lang="en-US" dirty="0"/>
          </a:p>
          <a:p>
            <a:r>
              <a:rPr lang="en-US" i="1" dirty="0"/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99</a:t>
            </a:r>
            <a:r>
              <a:rPr lang="en-US" i="1" dirty="0"/>
              <a:t>a </a:t>
            </a:r>
            <a:r>
              <a:rPr lang="en-US" dirty="0"/>
              <a:t>is a valid identifier since the first rule can be used to replace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identifier</a:t>
            </a:r>
            <a:r>
              <a:rPr lang="en-US" dirty="0">
                <a:latin typeface="Cambria Math"/>
                <a:ea typeface="Cambria Math"/>
              </a:rPr>
              <a:t>〉</a:t>
            </a:r>
            <a:r>
              <a:rPr lang="en-US" dirty="0"/>
              <a:t>  by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identifier</a:t>
            </a:r>
            <a:r>
              <a:rPr lang="en-US" dirty="0">
                <a:latin typeface="Cambria Math"/>
                <a:ea typeface="Cambria Math"/>
              </a:rPr>
              <a:t>〉〈</a:t>
            </a:r>
            <a:r>
              <a:rPr lang="en-US" i="1" dirty="0"/>
              <a:t>letter</a:t>
            </a:r>
            <a:r>
              <a:rPr lang="en-US" dirty="0">
                <a:latin typeface="Cambria Math"/>
                <a:ea typeface="Cambria Math"/>
              </a:rPr>
              <a:t>〉 </a:t>
            </a:r>
            <a:r>
              <a:rPr lang="en-US" dirty="0"/>
              <a:t>, the second rule to obtain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identifier</a:t>
            </a:r>
            <a:r>
              <a:rPr lang="en-US" dirty="0">
                <a:latin typeface="Cambria Math"/>
                <a:ea typeface="Cambria Math"/>
              </a:rPr>
              <a:t>〉</a:t>
            </a:r>
            <a:r>
              <a:rPr lang="en-US" i="1" dirty="0">
                <a:ea typeface="Cambria Math"/>
              </a:rPr>
              <a:t> a</a:t>
            </a:r>
            <a:r>
              <a:rPr lang="en-US" dirty="0"/>
              <a:t>, the first rule twice to obtain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identifier</a:t>
            </a:r>
            <a:r>
              <a:rPr lang="en-US" dirty="0">
                <a:latin typeface="Cambria Math"/>
                <a:ea typeface="Cambria Math"/>
              </a:rPr>
              <a:t>〉〈</a:t>
            </a:r>
            <a:r>
              <a:rPr lang="en-US" i="1" dirty="0"/>
              <a:t>digit</a:t>
            </a:r>
            <a:r>
              <a:rPr lang="en-US" dirty="0">
                <a:latin typeface="Cambria Math"/>
                <a:ea typeface="Cambria Math"/>
              </a:rPr>
              <a:t>〉〈</a:t>
            </a:r>
            <a:r>
              <a:rPr lang="en-US" i="1" dirty="0"/>
              <a:t>digit</a:t>
            </a:r>
            <a:r>
              <a:rPr lang="en-US" dirty="0">
                <a:latin typeface="Cambria Math"/>
                <a:ea typeface="Cambria Math"/>
              </a:rPr>
              <a:t>〉</a:t>
            </a:r>
            <a:r>
              <a:rPr lang="en-US" dirty="0"/>
              <a:t> </a:t>
            </a:r>
            <a:r>
              <a:rPr lang="en-US" i="1" dirty="0">
                <a:ea typeface="Cambria Math"/>
              </a:rPr>
              <a:t>a</a:t>
            </a:r>
            <a:r>
              <a:rPr lang="en-US" dirty="0"/>
              <a:t>, the third rule twice to obtain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identifier</a:t>
            </a:r>
            <a:r>
              <a:rPr lang="en-US" dirty="0">
                <a:latin typeface="Cambria Math"/>
                <a:ea typeface="Cambria Math"/>
              </a:rPr>
              <a:t>〉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99</a:t>
            </a:r>
            <a:r>
              <a:rPr lang="en-US" i="1" dirty="0"/>
              <a:t>a, </a:t>
            </a:r>
            <a:r>
              <a:rPr lang="en-US" dirty="0"/>
              <a:t> the first rule to obtain </a:t>
            </a:r>
            <a:r>
              <a:rPr lang="en-US" dirty="0">
                <a:latin typeface="Cambria Math"/>
                <a:ea typeface="Cambria Math"/>
              </a:rPr>
              <a:t>〈</a:t>
            </a:r>
            <a:r>
              <a:rPr lang="en-US" i="1" dirty="0"/>
              <a:t>letter</a:t>
            </a:r>
            <a:r>
              <a:rPr lang="en-US" dirty="0">
                <a:latin typeface="Cambria Math"/>
                <a:ea typeface="Cambria Math"/>
              </a:rPr>
              <a:t>〉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99</a:t>
            </a:r>
            <a:r>
              <a:rPr lang="en-US" i="1" dirty="0"/>
              <a:t>a</a:t>
            </a:r>
            <a:r>
              <a:rPr lang="en-US" dirty="0"/>
              <a:t>, and finally the second rule to obtain </a:t>
            </a:r>
            <a:r>
              <a:rPr lang="en-US" i="1" dirty="0"/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99</a:t>
            </a:r>
            <a:r>
              <a:rPr lang="en-US" i="1" dirty="0"/>
              <a:t>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90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00F7-11AC-0AD3-3D6C-717BCE14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B88BA8-D3E7-65F7-6385-99A3B9540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090"/>
            <a:ext cx="9144000" cy="323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83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A96846D-82EA-2872-89B4-25FB71700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31"/>
            <a:ext cx="6019800" cy="39080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BA2DE34-7741-339F-92FA-4B3CBC90B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450408"/>
            <a:ext cx="5420484" cy="34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26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Finite-State Machines with Output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13.2</a:t>
            </a:r>
          </a:p>
        </p:txBody>
      </p:sp>
    </p:spTree>
    <p:extLst>
      <p:ext uri="{BB962C8B-B14F-4D97-AF65-F5344CB8AC3E}">
        <p14:creationId xmlns:p14="http://schemas.microsoft.com/office/powerpoint/2010/main" val="1905641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Finite-State Machines (FSMs) with Outputs</a:t>
            </a:r>
          </a:p>
          <a:p>
            <a:r>
              <a:rPr lang="en-US" dirty="0"/>
              <a:t>Types of Finite-State Machines with Outputs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38C84B-0DC3-B1BA-85F8-63232959D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7924800" cy="108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67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Many kinds of machines, including computers, can be modeled using a structure called a </a:t>
            </a:r>
            <a:r>
              <a:rPr lang="en-US" i="1" dirty="0"/>
              <a:t>finite-state machine (</a:t>
            </a:r>
            <a:r>
              <a:rPr lang="en-US" dirty="0"/>
              <a:t>or </a:t>
            </a:r>
            <a:r>
              <a:rPr lang="en-US" i="1" dirty="0"/>
              <a:t>finite automaton</a:t>
            </a:r>
            <a:r>
              <a:rPr lang="en-US" dirty="0"/>
              <a:t>).</a:t>
            </a:r>
          </a:p>
          <a:p>
            <a:r>
              <a:rPr lang="en-US" dirty="0"/>
              <a:t>A finite-state machine consists of a finite set of states, a designated start state, an input alphabet, and a transition function that assigns a next state to every (state, input) pair</a:t>
            </a:r>
          </a:p>
          <a:p>
            <a:r>
              <a:rPr lang="en-US" dirty="0"/>
              <a:t>As we will see in Sections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13.2 − 13.4</a:t>
            </a:r>
            <a:r>
              <a:rPr lang="en-US" dirty="0"/>
              <a:t>, some types of finite-state machines produce output, while for other types of finite-state machines that do not produce output some states are designated as accepting states.  </a:t>
            </a:r>
          </a:p>
          <a:p>
            <a:r>
              <a:rPr lang="en-US" dirty="0"/>
              <a:t>Finite-state machines are used in many diverse applications, including spell-checking programs, grammar checking, indexing, searching large bodies of text, speech recognition, XML, HTML, and network protocols</a:t>
            </a:r>
          </a:p>
        </p:txBody>
      </p:sp>
    </p:spTree>
    <p:extLst>
      <p:ext uri="{BB962C8B-B14F-4D97-AF65-F5344CB8AC3E}">
        <p14:creationId xmlns:p14="http://schemas.microsoft.com/office/powerpoint/2010/main" val="1648585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5714D-7896-31D1-DA01-069183975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445747-8C30-61AE-1DA1-8ACAEEB23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4254"/>
            <a:ext cx="9144000" cy="300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5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Example of a Finite-State Machine with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 vending machine accepts nickels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 cents) , dimes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dirty="0"/>
              <a:t> cents) , and quarters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25</a:t>
            </a:r>
            <a:r>
              <a:rPr lang="en-US" dirty="0"/>
              <a:t> cents). When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30</a:t>
            </a:r>
            <a:r>
              <a:rPr lang="en-US" dirty="0"/>
              <a:t> cents or more has been deposited, the machine returns the amount over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30</a:t>
            </a:r>
            <a:r>
              <a:rPr lang="en-US" dirty="0"/>
              <a:t> cents. The customer can then press an orange button to receive a container of orange juice or a red button to receive a container of apple juice.</a:t>
            </a:r>
          </a:p>
          <a:p>
            <a:r>
              <a:rPr lang="en-US" dirty="0"/>
              <a:t>The machine can be in any of the states </a:t>
            </a:r>
            <a:r>
              <a:rPr lang="en-US" i="1" dirty="0" err="1"/>
              <a:t>s</a:t>
            </a:r>
            <a:r>
              <a:rPr lang="en-US" i="1" baseline="-25000" dirty="0" err="1"/>
              <a:t>i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…,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/>
              <a:t>, where </a:t>
            </a:r>
            <a:r>
              <a:rPr lang="en-US" i="1" dirty="0" err="1"/>
              <a:t>s</a:t>
            </a:r>
            <a:r>
              <a:rPr lang="en-US" i="1" baseline="-25000" dirty="0" err="1"/>
              <a:t>i</a:t>
            </a:r>
            <a:r>
              <a:rPr lang="en-US" dirty="0"/>
              <a:t> is the state where the machine has received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i="1" dirty="0"/>
              <a:t>i</a:t>
            </a:r>
            <a:r>
              <a:rPr lang="en-US" dirty="0"/>
              <a:t> cents. The machine starts in state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with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cents received. The possible inputs are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dirty="0"/>
              <a:t>cents,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dirty="0"/>
              <a:t> cents,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25</a:t>
            </a:r>
            <a:r>
              <a:rPr lang="en-US" dirty="0"/>
              <a:t> cents, the orange button (</a:t>
            </a:r>
            <a:r>
              <a:rPr lang="en-US" i="1" dirty="0"/>
              <a:t>O</a:t>
            </a:r>
            <a:r>
              <a:rPr lang="en-US" dirty="0"/>
              <a:t>), and the red button (</a:t>
            </a:r>
            <a:r>
              <a:rPr lang="en-US" i="1" dirty="0"/>
              <a:t>R</a:t>
            </a:r>
            <a:r>
              <a:rPr lang="en-US" dirty="0"/>
              <a:t>). The possible outputs are nothing (</a:t>
            </a:r>
            <a:r>
              <a:rPr lang="en-US" i="1" dirty="0"/>
              <a:t>n</a:t>
            </a:r>
            <a:r>
              <a:rPr lang="en-US" dirty="0"/>
              <a:t>),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 </a:t>
            </a:r>
            <a:r>
              <a:rPr lang="en-US" dirty="0"/>
              <a:t>cents,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15</a:t>
            </a:r>
            <a:r>
              <a:rPr lang="en-US" dirty="0"/>
              <a:t>  cents,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20</a:t>
            </a:r>
            <a:r>
              <a:rPr lang="en-US" dirty="0"/>
              <a:t> cents,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25</a:t>
            </a:r>
            <a:r>
              <a:rPr lang="en-US" dirty="0"/>
              <a:t> cents, an orange juice, and an apple juice.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038600"/>
            <a:ext cx="4692535" cy="21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24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7269-DEA2-0FF7-9D82-E13D4F99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D0375A6-AE9A-FA7B-3DD9-B9440417B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815355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66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A9A3A5B-E524-9CF7-78B1-67C58ACDB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34" y="4669464"/>
            <a:ext cx="6362700" cy="14504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F5A2E2-482B-12A8-8C53-959AE9D8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838199"/>
            <a:ext cx="7010400" cy="383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17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43C666-3742-5365-F188-F9F74C711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" y="76200"/>
            <a:ext cx="5693979" cy="16437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94063F-F7C8-2DF7-0F56-76C60B062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0"/>
            <a:ext cx="5560142" cy="43163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80DBEF-C741-3AC7-37AB-09BE8B711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2895600"/>
            <a:ext cx="5081450" cy="152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63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We represent this vending machine using a directed graph with labeled edges, where each state is represented by a circle, edges represent transitions, and edges are labeled with the input and output for that transition.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We will trace the transitions and outputs of the vending machine when a student puts in a dime followed by a quarter, receives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 cents back, and then pushes the orange button and receives an orange juice. </a:t>
            </a:r>
          </a:p>
          <a:p>
            <a:r>
              <a:rPr lang="en-US" dirty="0"/>
              <a:t>The machine starts in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</a:t>
            </a:r>
          </a:p>
          <a:p>
            <a:r>
              <a:rPr lang="en-US" dirty="0"/>
              <a:t>The first input is 10 cents, which changes the state to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and gives no output. </a:t>
            </a:r>
          </a:p>
          <a:p>
            <a:r>
              <a:rPr lang="en-US" dirty="0"/>
              <a:t>After the second input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25</a:t>
            </a:r>
            <a:r>
              <a:rPr lang="en-US" dirty="0"/>
              <a:t> cents, the state changes to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/>
              <a:t> and gives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 cents as output.</a:t>
            </a:r>
          </a:p>
          <a:p>
            <a:r>
              <a:rPr lang="en-US" dirty="0"/>
              <a:t>The last input is the orange button, which changes the state back to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and gives an orange juice as output.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743200"/>
            <a:ext cx="4796444" cy="19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48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BAC3-9AED-5C48-CB5C-EA3CE99F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681CC7-85AF-0403-A8FF-7ACFC481F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107"/>
            <a:ext cx="9144000" cy="44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29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FSMs with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05800" cy="438912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finite-state machine M</a:t>
            </a:r>
            <a:r>
              <a:rPr lang="en-US" dirty="0"/>
              <a:t> =(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O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) consists of a finite set </a:t>
            </a:r>
            <a:r>
              <a:rPr lang="en-US" i="1" dirty="0"/>
              <a:t>S</a:t>
            </a:r>
            <a:r>
              <a:rPr lang="en-US" dirty="0"/>
              <a:t> of </a:t>
            </a:r>
            <a:r>
              <a:rPr lang="en-US" i="1" dirty="0"/>
              <a:t>states</a:t>
            </a:r>
            <a:r>
              <a:rPr lang="en-US" dirty="0"/>
              <a:t>, a finite </a:t>
            </a:r>
            <a:r>
              <a:rPr lang="en-US" i="1" dirty="0"/>
              <a:t>input alphabet I</a:t>
            </a:r>
            <a:r>
              <a:rPr lang="en-US" dirty="0"/>
              <a:t>, a finite </a:t>
            </a:r>
            <a:r>
              <a:rPr lang="en-US" i="1" dirty="0"/>
              <a:t>output alphabet O</a:t>
            </a:r>
            <a:r>
              <a:rPr lang="en-US" dirty="0"/>
              <a:t>, a </a:t>
            </a:r>
            <a:r>
              <a:rPr lang="en-US" i="1" dirty="0"/>
              <a:t>transition function f</a:t>
            </a:r>
            <a:r>
              <a:rPr lang="en-US" dirty="0"/>
              <a:t> that assigns to each state and input pair a new state, an </a:t>
            </a:r>
            <a:r>
              <a:rPr lang="en-US" i="1" dirty="0"/>
              <a:t>output function g </a:t>
            </a:r>
            <a:r>
              <a:rPr lang="en-US" dirty="0"/>
              <a:t>that assigns to each state and input pair an output, and an </a:t>
            </a:r>
            <a:r>
              <a:rPr lang="en-US" i="1" dirty="0"/>
              <a:t>initial state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.</a:t>
            </a:r>
          </a:p>
          <a:p>
            <a:r>
              <a:rPr lang="en-US" dirty="0"/>
              <a:t>A state table is used to represent the values of the transition function </a:t>
            </a:r>
            <a:r>
              <a:rPr lang="en-US" i="1" dirty="0"/>
              <a:t>f</a:t>
            </a:r>
            <a:r>
              <a:rPr lang="en-US" dirty="0"/>
              <a:t> and the output function </a:t>
            </a:r>
            <a:r>
              <a:rPr lang="en-US" i="1" dirty="0"/>
              <a:t>g</a:t>
            </a:r>
            <a:r>
              <a:rPr lang="en-US" dirty="0"/>
              <a:t> for all (state, input).</a:t>
            </a:r>
          </a:p>
          <a:p>
            <a:r>
              <a:rPr lang="en-US" dirty="0"/>
              <a:t>Alternatively, a finite-state machine can be represented by a state diagram, which is a directed graph with labeled edges. Each state is represented by a circle, and arrows labeled with the input and output pair represent the transitions.</a:t>
            </a:r>
          </a:p>
          <a:p>
            <a:r>
              <a:rPr lang="en-US" dirty="0"/>
              <a:t>The state table and state diagram both represent the finite state machine with                   S = {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}, </a:t>
            </a:r>
            <a:r>
              <a:rPr lang="en-US" i="1" dirty="0"/>
              <a:t>I</a:t>
            </a:r>
            <a:r>
              <a:rPr lang="en-US" dirty="0"/>
              <a:t>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}, and </a:t>
            </a:r>
            <a:r>
              <a:rPr lang="en-US" i="1" dirty="0"/>
              <a:t>O</a:t>
            </a:r>
            <a:r>
              <a:rPr lang="en-US" dirty="0"/>
              <a:t>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}.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5029200"/>
            <a:ext cx="2107276" cy="16251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00" y="5110526"/>
            <a:ext cx="2065782" cy="15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76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C064-DA58-8D33-DEF2-0A6A3091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D45C9D9-A552-582F-182E-382DD5779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81400"/>
            <a:ext cx="5953685" cy="2514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B919E5-4354-4C76-6AD5-B5DD55C11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6348"/>
            <a:ext cx="6096000" cy="324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65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F47D18-EE54-3B53-37E9-E1B6D7D00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514600"/>
            <a:ext cx="5600700" cy="1521178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1A050313-7070-5FC4-C094-B37239356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212021"/>
            <a:ext cx="2568973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98FF92-3CA3-C0A7-8F4F-D372CEBF38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4246180"/>
            <a:ext cx="2819400" cy="21070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154C56-7DA5-E449-D49C-ABF502DC2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5800"/>
            <a:ext cx="7339979" cy="174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862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Unit-delay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 important element in many electronic devices is a </a:t>
            </a:r>
            <a:r>
              <a:rPr lang="en-US" i="1" dirty="0"/>
              <a:t>unit-delay machine</a:t>
            </a:r>
            <a:r>
              <a:rPr lang="en-US" dirty="0"/>
              <a:t>, which produces as output the input string delayed by a specified amount of time, i.e., padded with an initial string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s. </a:t>
            </a:r>
          </a:p>
          <a:p>
            <a:r>
              <a:rPr lang="en-US" dirty="0"/>
              <a:t>How can a finite-state machine be constructed that delays an input string by one unit of time, that is, produces as output the bit string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…</a:t>
            </a:r>
            <a:r>
              <a:rPr lang="en-US" i="1" dirty="0"/>
              <a:t>x</a:t>
            </a:r>
            <a:r>
              <a:rPr lang="en-US" i="1" baseline="-25000" dirty="0"/>
              <a:t>k</a:t>
            </a:r>
            <a:r>
              <a:rPr lang="en-US" baseline="-25000" dirty="0"/>
              <a:t>-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given the input bit string 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…</a:t>
            </a:r>
            <a:r>
              <a:rPr lang="en-US" i="1" dirty="0"/>
              <a:t>x</a:t>
            </a:r>
            <a:r>
              <a:rPr lang="en-US" i="1" baseline="-25000" dirty="0"/>
              <a:t>k</a:t>
            </a:r>
            <a:r>
              <a:rPr lang="en-US" baseline="-25000" dirty="0"/>
              <a:t>-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?</a:t>
            </a:r>
          </a:p>
          <a:p>
            <a:r>
              <a:rPr lang="en-US" dirty="0"/>
              <a:t>A delay machine can be constructed that has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or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as possible inputs. The machine has the start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The transition from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 produces an output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 The machine is in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if the previous input was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it produces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as output for its next transition, and in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if the previous input was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dirty="0">
                <a:ea typeface="Cambria Math" pitchFamily="18" charset="0"/>
              </a:rPr>
              <a:t>and it produces an output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 for its next transition.  </a:t>
            </a:r>
          </a:p>
          <a:p>
            <a:pPr marL="0"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5029200"/>
            <a:ext cx="1337310" cy="114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56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3E13F9B4-091F-0AB5-E225-8A1591D476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209800"/>
            <a:ext cx="2560451" cy="219425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4374EE9-6AC1-387D-C720-BE3356030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67102"/>
            <a:ext cx="6095997" cy="18287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0275637-17D6-F9D4-8F36-B64BB5283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8703"/>
            <a:ext cx="4876800" cy="22329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C139A05-A7D0-4417-D81B-89712F4EE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517954"/>
            <a:ext cx="6248404" cy="22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740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We will construct a  finite-state machine that adds two positive integers using their binary expansions.</a:t>
            </a:r>
          </a:p>
          <a:p>
            <a:r>
              <a:rPr lang="en-US" dirty="0"/>
              <a:t>Recall the conventional procedure to add  (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…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)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and </a:t>
            </a:r>
            <a:r>
              <a:rPr lang="en-US" dirty="0"/>
              <a:t> (</a:t>
            </a:r>
            <a:r>
              <a:rPr lang="en-US" i="1" dirty="0" err="1"/>
              <a:t>y</a:t>
            </a:r>
            <a:r>
              <a:rPr lang="en-US" i="1" baseline="-25000" dirty="0" err="1"/>
              <a:t>n</a:t>
            </a:r>
            <a:r>
              <a:rPr lang="en-US" dirty="0"/>
              <a:t>…</a:t>
            </a:r>
            <a:r>
              <a:rPr lang="en-US" i="1" dirty="0"/>
              <a:t>y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/>
              <a:t>y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)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First, the bits 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are added, producing a sum bit </a:t>
            </a:r>
            <a:r>
              <a:rPr lang="en-US" i="1" dirty="0"/>
              <a:t>z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and a carry bit </a:t>
            </a:r>
            <a:r>
              <a:rPr lang="en-US" i="1" dirty="0"/>
              <a:t>c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Next the bits 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are added together with the carry bit </a:t>
            </a:r>
            <a:r>
              <a:rPr lang="en-US" i="1" dirty="0"/>
              <a:t>c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This gives a sum bit </a:t>
            </a:r>
            <a:r>
              <a:rPr lang="en-US" i="1" dirty="0"/>
              <a:t>z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a carry bit </a:t>
            </a:r>
            <a:r>
              <a:rPr lang="en-US" i="1" dirty="0"/>
              <a:t>c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procedure continues until the </a:t>
            </a:r>
            <a:r>
              <a:rPr lang="en-US" i="1" dirty="0"/>
              <a:t>n</a:t>
            </a:r>
            <a:r>
              <a:rPr lang="en-US" dirty="0"/>
              <a:t>th stage, where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, </a:t>
            </a:r>
            <a:r>
              <a:rPr lang="en-US" i="1" dirty="0" err="1"/>
              <a:t>y</a:t>
            </a:r>
            <a:r>
              <a:rPr lang="en-US" i="1" baseline="-25000" dirty="0" err="1"/>
              <a:t>n</a:t>
            </a:r>
            <a:r>
              <a:rPr lang="en-US" dirty="0"/>
              <a:t> and the previous carry </a:t>
            </a:r>
            <a:r>
              <a:rPr lang="en-US" i="1" dirty="0"/>
              <a:t>c</a:t>
            </a:r>
            <a:r>
              <a:rPr lang="en-US" i="1" baseline="-25000" dirty="0"/>
              <a:t>n</a:t>
            </a:r>
            <a:r>
              <a:rPr lang="en-US" baseline="-25000" dirty="0"/>
              <a:t>-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are added to produce the sum bit </a:t>
            </a:r>
            <a:r>
              <a:rPr lang="en-US" i="1" dirty="0" err="1"/>
              <a:t>z</a:t>
            </a:r>
            <a:r>
              <a:rPr lang="en-US" i="1" baseline="-25000" dirty="0" err="1"/>
              <a:t>n</a:t>
            </a:r>
            <a:r>
              <a:rPr lang="en-US" dirty="0"/>
              <a:t> and the carry bit </a:t>
            </a:r>
            <a:r>
              <a:rPr lang="en-US" i="1" dirty="0" err="1"/>
              <a:t>c</a:t>
            </a:r>
            <a:r>
              <a:rPr lang="en-US" i="1" baseline="-25000" dirty="0" err="1"/>
              <a:t>n</a:t>
            </a:r>
            <a:r>
              <a:rPr lang="en-US" dirty="0"/>
              <a:t>, which is equal to the sum bit </a:t>
            </a:r>
            <a:r>
              <a:rPr lang="en-US" i="1" dirty="0"/>
              <a:t>z</a:t>
            </a:r>
            <a:r>
              <a:rPr lang="en-US" i="1" baseline="-25000" dirty="0"/>
              <a:t>n</a:t>
            </a:r>
            <a:r>
              <a:rPr lang="en-US" baseline="-25000" dirty="0"/>
              <a:t>+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</a:t>
            </a:r>
          </a:p>
          <a:p>
            <a:r>
              <a:rPr lang="en-US" dirty="0">
                <a:ea typeface="Cambria Math" pitchFamily="18" charset="0"/>
              </a:rPr>
              <a:t>We can construct a finite state machine that uses just two states. </a:t>
            </a:r>
          </a:p>
          <a:p>
            <a:pPr lvl="1"/>
            <a:r>
              <a:rPr lang="en-US" dirty="0">
                <a:ea typeface="Cambria Math" pitchFamily="18" charset="0"/>
              </a:rPr>
              <a:t>The start state </a:t>
            </a:r>
            <a:r>
              <a:rPr lang="en-US" i="1" dirty="0">
                <a:ea typeface="Cambria Math" pitchFamily="18" charset="0"/>
              </a:rPr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 is used to remember that the previous carry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. </a:t>
            </a:r>
          </a:p>
          <a:p>
            <a:pPr lvl="1"/>
            <a:r>
              <a:rPr lang="en-US" dirty="0">
                <a:ea typeface="Cambria Math" pitchFamily="18" charset="0"/>
              </a:rPr>
              <a:t>The other state </a:t>
            </a:r>
            <a:r>
              <a:rPr lang="en-US" i="1" dirty="0">
                <a:ea typeface="Cambria Math" pitchFamily="18" charset="0"/>
              </a:rPr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 is used to remember that the previous carry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.  (For simplicity, we assume that both </a:t>
            </a:r>
            <a:r>
              <a:rPr lang="en-US" i="1" dirty="0" err="1">
                <a:ea typeface="Cambria Math" pitchFamily="18" charset="0"/>
              </a:rPr>
              <a:t>x</a:t>
            </a:r>
            <a:r>
              <a:rPr lang="en-US" i="1" baseline="-25000" dirty="0" err="1">
                <a:ea typeface="Cambria Math" pitchFamily="18" charset="0"/>
              </a:rPr>
              <a:t>n</a:t>
            </a:r>
            <a:r>
              <a:rPr lang="en-US" dirty="0">
                <a:ea typeface="Cambria Math" pitchFamily="18" charset="0"/>
              </a:rPr>
              <a:t> and </a:t>
            </a:r>
            <a:r>
              <a:rPr lang="en-US" i="1" dirty="0" err="1">
                <a:ea typeface="Cambria Math" pitchFamily="18" charset="0"/>
              </a:rPr>
              <a:t>y</a:t>
            </a:r>
            <a:r>
              <a:rPr lang="en-US" i="1" baseline="-25000" dirty="0" err="1">
                <a:ea typeface="Cambria Math" pitchFamily="18" charset="0"/>
              </a:rPr>
              <a:t>n</a:t>
            </a:r>
            <a:r>
              <a:rPr lang="en-US" dirty="0">
                <a:ea typeface="Cambria Math" pitchFamily="18" charset="0"/>
              </a:rPr>
              <a:t> are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.)</a:t>
            </a:r>
          </a:p>
          <a:p>
            <a:pPr lvl="1"/>
            <a:r>
              <a:rPr lang="en-US" dirty="0">
                <a:ea typeface="Cambria Math" pitchFamily="18" charset="0"/>
              </a:rPr>
              <a:t>The inputs are pairs of bits. The transitions and the outputs are constructed from the sum of the two bits in the input and the carry represented by the state. </a:t>
            </a:r>
          </a:p>
          <a:p>
            <a:pPr lvl="1"/>
            <a:r>
              <a:rPr lang="en-US" dirty="0"/>
              <a:t>For example, when the machine is in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receives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01 </a:t>
            </a:r>
            <a:r>
              <a:rPr lang="en-US" dirty="0"/>
              <a:t>as input, the next state is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the output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because the sum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=(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dirty="0"/>
              <a:t>)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</a:t>
            </a:r>
            <a:r>
              <a:rPr lang="en-US" dirty="0">
                <a:ea typeface="Cambria Math" pitchFamily="18" charset="0"/>
              </a:rPr>
              <a:t>  </a:t>
            </a:r>
          </a:p>
          <a:p>
            <a:pPr marL="0" indent="0">
              <a:buNone/>
            </a:pPr>
            <a:endParaRPr lang="en-US" dirty="0">
              <a:ea typeface="Cambria Math" pitchFamily="18" charset="0"/>
            </a:endParaRPr>
          </a:p>
          <a:p>
            <a:pPr marL="0" indent="0">
              <a:buNone/>
            </a:pPr>
            <a:endParaRPr lang="en-US" dirty="0">
              <a:ea typeface="Cambria Math" pitchFamily="18" charset="0"/>
            </a:endParaRPr>
          </a:p>
          <a:p>
            <a:pPr marL="0" indent="0">
              <a:buNone/>
            </a:pPr>
            <a:r>
              <a:rPr lang="en-US" dirty="0">
                <a:ea typeface="Cambria Math" pitchFamily="18" charset="0"/>
              </a:rPr>
              <a:t> </a:t>
            </a:r>
          </a:p>
          <a:p>
            <a:pPr indent="0">
              <a:buNone/>
            </a:pPr>
            <a:endParaRPr lang="en-US" baseline="-25000" dirty="0">
              <a:latin typeface="Cambria Math" pitchFamily="18" charset="0"/>
              <a:ea typeface="Cambria Math" pitchFamily="18" charset="0"/>
            </a:endParaRPr>
          </a:p>
          <a:p>
            <a:pPr indent="0">
              <a:buNone/>
            </a:pPr>
            <a:endParaRPr lang="en-US" baseline="-250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5486400"/>
            <a:ext cx="2497975" cy="121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222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91B7-7E8D-C86C-746D-75DC72BA9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4A93555-56EE-F67A-7007-E10C43864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5791200" cy="26551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1EF4A5-CC25-035F-01F4-185B0348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41" y="2819400"/>
            <a:ext cx="4222214" cy="1600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A625B28-D755-CA39-22E3-6E3B6C70D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419600"/>
            <a:ext cx="7696200" cy="2358677"/>
          </a:xfrm>
          <a:prstGeom prst="rect">
            <a:avLst/>
          </a:prstGeom>
        </p:spPr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2B531985-1ECD-E140-DDB7-F7D138EA62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191000"/>
            <a:ext cx="3282157" cy="15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86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Finite-State Machines with No Output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of Strings</a:t>
            </a:r>
          </a:p>
          <a:p>
            <a:r>
              <a:rPr lang="en-US" dirty="0"/>
              <a:t>Finite-State Automata</a:t>
            </a:r>
          </a:p>
          <a:p>
            <a:r>
              <a:rPr lang="en-US" dirty="0"/>
              <a:t>Language Recognition by Finite-State Machines</a:t>
            </a:r>
          </a:p>
          <a:p>
            <a:r>
              <a:rPr lang="en-US" dirty="0"/>
              <a:t>Designing Finite-State Automata</a:t>
            </a:r>
          </a:p>
          <a:p>
            <a:r>
              <a:rPr lang="en-US" dirty="0"/>
              <a:t>Equivalent Finite-State Automata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/>
              <a:t>Nondeterministic Finite-State Automata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E60C48-A6BC-F209-B744-5D8C850B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457200"/>
            <a:ext cx="3880574" cy="241620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of Strings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FSMs with no output, but with some states designated as </a:t>
                </a:r>
                <a:r>
                  <a:rPr lang="en-US" i="1" dirty="0"/>
                  <a:t>accepting states</a:t>
                </a:r>
                <a:r>
                  <a:rPr lang="en-US" dirty="0"/>
                  <a:t>,  are specifically designed for recognizing languages. </a:t>
                </a:r>
              </a:p>
              <a:p>
                <a:r>
                  <a:rPr lang="en-US" dirty="0"/>
                  <a:t>The </a:t>
                </a:r>
                <a:r>
                  <a:rPr lang="en-US" i="1" dirty="0"/>
                  <a:t>concatenation</a:t>
                </a:r>
                <a:r>
                  <a:rPr lang="en-US" dirty="0"/>
                  <a:t> of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B,</a:t>
                </a:r>
                <a:r>
                  <a:rPr lang="en-US" dirty="0"/>
                  <a:t> where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  <a:r>
                  <a:rPr lang="en-US" dirty="0"/>
                  <a:t> are subsets of </a:t>
                </a:r>
                <a:r>
                  <a:rPr lang="en-US" i="1" dirty="0"/>
                  <a:t>V</a:t>
                </a:r>
                <a:r>
                  <a:rPr lang="en-US" dirty="0"/>
                  <a:t>*, denoted by </a:t>
                </a:r>
                <a:r>
                  <a:rPr lang="en-US" i="1" dirty="0"/>
                  <a:t>AB</a:t>
                </a:r>
                <a:r>
                  <a:rPr lang="en-US" dirty="0"/>
                  <a:t>, is the set of all strings of the form </a:t>
                </a:r>
                <a:r>
                  <a:rPr lang="en-US" i="1" dirty="0" err="1"/>
                  <a:t>xy</a:t>
                </a:r>
                <a:r>
                  <a:rPr lang="en-US" dirty="0"/>
                  <a:t>, where </a:t>
                </a:r>
                <a:r>
                  <a:rPr lang="en-US" i="1" dirty="0"/>
                  <a:t>x</a:t>
                </a:r>
                <a:r>
                  <a:rPr lang="en-US" dirty="0"/>
                  <a:t> is a string in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y</a:t>
                </a:r>
                <a:r>
                  <a:rPr lang="en-US" dirty="0"/>
                  <a:t> is a string in </a:t>
                </a:r>
                <a:r>
                  <a:rPr lang="en-US" i="1" dirty="0"/>
                  <a:t>B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Let </a:t>
                </a:r>
                <a:r>
                  <a:rPr lang="en-US" i="1" dirty="0"/>
                  <a:t>A </a:t>
                </a:r>
                <a:r>
                  <a:rPr lang="en-US" dirty="0"/>
                  <a:t>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11</a:t>
                </a:r>
                <a:r>
                  <a:rPr lang="en-US" dirty="0"/>
                  <a:t>} and </a:t>
                </a:r>
                <a:r>
                  <a:rPr lang="en-US" i="1" dirty="0"/>
                  <a:t>B</a:t>
                </a:r>
                <a:r>
                  <a:rPr lang="en-US" dirty="0"/>
                  <a:t>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110</a:t>
                </a:r>
                <a:r>
                  <a:rPr lang="en-US" dirty="0"/>
                  <a:t>}. Then</a:t>
                </a:r>
              </a:p>
              <a:p>
                <a:pPr indent="0">
                  <a:buNone/>
                </a:pPr>
                <a:r>
                  <a:rPr lang="en-US" b="1" dirty="0"/>
                  <a:t>                   </a:t>
                </a:r>
                <a:r>
                  <a:rPr lang="en-US" i="1" dirty="0"/>
                  <a:t>AB</a:t>
                </a:r>
                <a:r>
                  <a:rPr lang="en-US" dirty="0"/>
                  <a:t>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01, 010, 0110, 111, 110, 11110</a:t>
                </a:r>
                <a:r>
                  <a:rPr lang="en-US" dirty="0"/>
                  <a:t>} and</a:t>
                </a:r>
              </a:p>
              <a:p>
                <a:pPr indent="0">
                  <a:buNone/>
                </a:pPr>
                <a:r>
                  <a:rPr lang="en-US" dirty="0"/>
                  <a:t>                  </a:t>
                </a:r>
                <a:r>
                  <a:rPr lang="en-US" i="1" dirty="0"/>
                  <a:t>BA</a:t>
                </a:r>
                <a:r>
                  <a:rPr lang="en-US" dirty="0"/>
                  <a:t>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10, 111, 100, 1011, 1100, 11011</a:t>
                </a:r>
                <a:r>
                  <a:rPr lang="en-US" dirty="0"/>
                  <a:t>}</a:t>
                </a:r>
              </a:p>
              <a:p>
                <a:r>
                  <a:rPr lang="en-US" dirty="0"/>
                  <a:t>If </a:t>
                </a:r>
                <a:r>
                  <a:rPr lang="en-US" i="1" dirty="0"/>
                  <a:t>A</a:t>
                </a:r>
                <a:r>
                  <a:rPr lang="en-US" dirty="0"/>
                  <a:t> is a subset of </a:t>
                </a:r>
                <a:r>
                  <a:rPr lang="en-US" i="1" dirty="0"/>
                  <a:t>V</a:t>
                </a:r>
                <a:r>
                  <a:rPr lang="en-US" dirty="0"/>
                  <a:t>*, the </a:t>
                </a:r>
                <a:r>
                  <a:rPr lang="en-US" i="1" dirty="0" err="1"/>
                  <a:t>Kleene</a:t>
                </a:r>
                <a:r>
                  <a:rPr lang="en-US" i="1" dirty="0"/>
                  <a:t> closure </a:t>
                </a:r>
                <a:r>
                  <a:rPr lang="en-US" dirty="0"/>
                  <a:t>of </a:t>
                </a:r>
                <a:r>
                  <a:rPr lang="en-US" i="1" dirty="0"/>
                  <a:t>A</a:t>
                </a:r>
                <a:r>
                  <a:rPr lang="en-US" dirty="0"/>
                  <a:t>, denoted by </a:t>
                </a:r>
                <a:r>
                  <a:rPr lang="en-US" i="1" dirty="0"/>
                  <a:t>A</a:t>
                </a:r>
                <a:r>
                  <a:rPr lang="en-US" dirty="0"/>
                  <a:t>*, is the set consisting of arbitrarily long strings of elements of </a:t>
                </a:r>
                <a:r>
                  <a:rPr lang="en-US" i="1" dirty="0"/>
                  <a:t>A</a:t>
                </a:r>
                <a:r>
                  <a:rPr lang="en-US" dirty="0"/>
                  <a:t>. That is, </a:t>
                </a:r>
                <a:r>
                  <a:rPr lang="en-US" i="1" dirty="0"/>
                  <a:t>A</a:t>
                </a:r>
                <a:r>
                  <a:rPr lang="en-US" dirty="0"/>
                  <a:t>*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b="0" i="1" baseline="30000" smtClean="0">
                            <a:latin typeface="Cambria Math"/>
                            <a:ea typeface="Cambria Math"/>
                          </a:rPr>
                          <m:t>𝑘</m:t>
                        </m:r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Kleene</a:t>
                </a:r>
                <a:r>
                  <a:rPr lang="en-US" dirty="0"/>
                  <a:t> closures of the sets </a:t>
                </a:r>
                <a:r>
                  <a:rPr lang="en-US" i="1" dirty="0"/>
                  <a:t>A</a:t>
                </a:r>
                <a:r>
                  <a:rPr lang="en-US" dirty="0"/>
                  <a:t>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}, </a:t>
                </a:r>
                <a:r>
                  <a:rPr lang="en-US" i="1" dirty="0"/>
                  <a:t>B</a:t>
                </a:r>
                <a:r>
                  <a:rPr lang="en-US" dirty="0"/>
                  <a:t>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0,1</a:t>
                </a:r>
                <a:r>
                  <a:rPr lang="en-US" dirty="0"/>
                  <a:t>} and </a:t>
                </a:r>
                <a:r>
                  <a:rPr lang="en-US" i="1" dirty="0"/>
                  <a:t>C</a:t>
                </a:r>
                <a:r>
                  <a:rPr lang="en-US" dirty="0"/>
                  <a:t>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11</a:t>
                </a:r>
                <a:r>
                  <a:rPr lang="en-US" dirty="0"/>
                  <a:t>} are</a:t>
                </a:r>
              </a:p>
              <a:p>
                <a:pPr indent="0">
                  <a:buNone/>
                </a:pPr>
                <a:r>
                  <a:rPr lang="en-US" i="1" dirty="0"/>
                  <a:t>A</a:t>
                </a:r>
                <a:r>
                  <a:rPr lang="en-US" dirty="0"/>
                  <a:t>*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baseline="30000" dirty="0"/>
                  <a:t>n</a:t>
                </a:r>
                <a:r>
                  <a:rPr lang="en-US" dirty="0"/>
                  <a:t> | </a:t>
                </a:r>
                <a:r>
                  <a:rPr lang="en-US" i="1" dirty="0"/>
                  <a:t>n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….}, </a:t>
                </a:r>
                <a:r>
                  <a:rPr lang="en-US" i="1" dirty="0"/>
                  <a:t>B</a:t>
                </a:r>
                <a:r>
                  <a:rPr lang="en-US" dirty="0"/>
                  <a:t>* = </a:t>
                </a:r>
                <a:r>
                  <a:rPr lang="en-US" i="1" dirty="0"/>
                  <a:t>V</a:t>
                </a:r>
                <a:r>
                  <a:rPr lang="en-US" dirty="0"/>
                  <a:t>*, and C* =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baseline="30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i="1" baseline="30000" dirty="0"/>
                  <a:t>n</a:t>
                </a:r>
                <a:r>
                  <a:rPr lang="en-US" dirty="0"/>
                  <a:t> |</a:t>
                </a:r>
                <a:r>
                  <a:rPr lang="en-US" i="1" dirty="0"/>
                  <a:t> n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….}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2222" r="-1333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968" y="228600"/>
            <a:ext cx="893064" cy="1032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9800" y="1271049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Stephen Cole </a:t>
            </a:r>
            <a:r>
              <a:rPr lang="en-US" dirty="0" err="1"/>
              <a:t>Kleene</a:t>
            </a:r>
            <a:endParaRPr lang="en-US" dirty="0"/>
          </a:p>
          <a:p>
            <a:r>
              <a:rPr lang="en-US" dirty="0"/>
              <a:t>    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1909-1994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02461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922A-173C-C615-2B2D-D4B41E38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098060-7B5F-CD43-DC33-369C0A67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483772"/>
            <a:ext cx="4724400" cy="13178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66038F-5B7C-97C4-B698-12447D5EE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"/>
            <a:ext cx="6392797" cy="3200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4C78FEA-91CB-226D-68BA-98E111D2C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96825"/>
            <a:ext cx="6096000" cy="228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55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D5237D4-770D-A078-B339-F2BF7DCA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66800"/>
            <a:ext cx="7239000" cy="456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581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Finite-State Automata (FSA)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finite-state automaton M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) consists of a finite set </a:t>
            </a:r>
            <a:r>
              <a:rPr lang="en-US" i="1" dirty="0"/>
              <a:t>S</a:t>
            </a:r>
            <a:r>
              <a:rPr lang="en-US" dirty="0"/>
              <a:t> of </a:t>
            </a:r>
            <a:r>
              <a:rPr lang="en-US" i="1" dirty="0"/>
              <a:t>states</a:t>
            </a:r>
            <a:r>
              <a:rPr lang="en-US" dirty="0"/>
              <a:t>, a finite </a:t>
            </a:r>
            <a:r>
              <a:rPr lang="en-US" i="1" dirty="0"/>
              <a:t>input alphabet I</a:t>
            </a:r>
            <a:r>
              <a:rPr lang="en-US" dirty="0"/>
              <a:t>, a </a:t>
            </a:r>
            <a:r>
              <a:rPr lang="en-US" i="1" dirty="0"/>
              <a:t>transition function f</a:t>
            </a:r>
            <a:r>
              <a:rPr lang="en-US" dirty="0"/>
              <a:t> that assigns a next state to every pair of state and input (so that </a:t>
            </a:r>
            <a:r>
              <a:rPr lang="en-US" i="1" dirty="0"/>
              <a:t>f</a:t>
            </a:r>
            <a:r>
              <a:rPr lang="en-US" dirty="0"/>
              <a:t>: </a:t>
            </a:r>
            <a:r>
              <a:rPr lang="en-US" i="1" dirty="0"/>
              <a:t>S</a:t>
            </a:r>
            <a:r>
              <a:rPr lang="en-US" dirty="0"/>
              <a:t> × </a:t>
            </a:r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dirty="0"/>
              <a:t>  </a:t>
            </a:r>
            <a:r>
              <a:rPr lang="en-US" i="1" dirty="0"/>
              <a:t>S</a:t>
            </a:r>
            <a:r>
              <a:rPr lang="en-US" dirty="0"/>
              <a:t>), an </a:t>
            </a:r>
            <a:r>
              <a:rPr lang="en-US" i="1" dirty="0"/>
              <a:t>initial</a:t>
            </a:r>
            <a:r>
              <a:rPr lang="en-US" dirty="0"/>
              <a:t> or </a:t>
            </a:r>
            <a:r>
              <a:rPr lang="en-US" i="1" dirty="0"/>
              <a:t>start state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and a subset </a:t>
            </a:r>
            <a:r>
              <a:rPr lang="en-US" i="1" dirty="0"/>
              <a:t>F</a:t>
            </a:r>
            <a:r>
              <a:rPr lang="en-US" dirty="0"/>
              <a:t> of</a:t>
            </a:r>
            <a:r>
              <a:rPr lang="en-US" i="1" dirty="0"/>
              <a:t> S </a:t>
            </a:r>
            <a:r>
              <a:rPr lang="en-US" dirty="0"/>
              <a:t>consisting of </a:t>
            </a:r>
            <a:r>
              <a:rPr lang="en-US" i="1" dirty="0"/>
              <a:t>final</a:t>
            </a:r>
            <a:r>
              <a:rPr lang="en-US" dirty="0"/>
              <a:t> (or </a:t>
            </a:r>
            <a:r>
              <a:rPr lang="en-US" i="1" dirty="0"/>
              <a:t>accepting</a:t>
            </a:r>
            <a:r>
              <a:rPr lang="en-US" dirty="0"/>
              <a:t>)</a:t>
            </a:r>
            <a:r>
              <a:rPr lang="en-US" i="1" dirty="0"/>
              <a:t> states</a:t>
            </a:r>
            <a:r>
              <a:rPr lang="en-US" dirty="0"/>
              <a:t>.</a:t>
            </a:r>
          </a:p>
          <a:p>
            <a:r>
              <a:rPr lang="en-US" dirty="0"/>
              <a:t>FSAs can be represented using either state tables or state diagrams, in which final states are indicated with a double circle.</a:t>
            </a:r>
          </a:p>
          <a:p>
            <a:r>
              <a:rPr lang="en-US" dirty="0"/>
              <a:t>The state diagram for the FSA </a:t>
            </a:r>
            <a:r>
              <a:rPr lang="en-US" i="1" dirty="0"/>
              <a:t>M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), where                         </a:t>
            </a:r>
            <a:r>
              <a:rPr lang="en-US" i="1" dirty="0"/>
              <a:t>S</a:t>
            </a:r>
            <a:r>
              <a:rPr lang="en-US" dirty="0"/>
              <a:t> = {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}, </a:t>
            </a:r>
            <a:r>
              <a:rPr lang="en-US" i="1" dirty="0"/>
              <a:t>I</a:t>
            </a:r>
            <a:r>
              <a:rPr lang="en-US" dirty="0"/>
              <a:t>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0, 1</a:t>
            </a:r>
            <a:r>
              <a:rPr lang="en-US" dirty="0"/>
              <a:t>}, </a:t>
            </a:r>
            <a:r>
              <a:rPr lang="en-US" i="1" dirty="0"/>
              <a:t>F</a:t>
            </a:r>
            <a:r>
              <a:rPr lang="en-US" dirty="0"/>
              <a:t> = {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}, and the transition                                                   diagram is in Table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is shown here.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105400"/>
            <a:ext cx="1412748" cy="16474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486400"/>
            <a:ext cx="2007108" cy="114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050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7FD6-3063-3F92-0F97-A30053CA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2EAC3E-7D5F-2D12-DFE0-E878A46E7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393"/>
            <a:ext cx="6553200" cy="35305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581EAF-14D9-464E-A75C-C6C6FC12F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4" y="3581400"/>
            <a:ext cx="5791200" cy="24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052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B4DA59-CCA4-EBC6-7836-45993A122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8382000" cy="3753449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548307B-BE20-43A4-B26D-80044A788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57200"/>
            <a:ext cx="2590800" cy="147343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AE40C3D-3DA7-CF46-06D7-9E6A15BF7C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1" y="76200"/>
            <a:ext cx="1905000" cy="222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226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Recognition by FSAs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79"/>
            <a:ext cx="8305800" cy="134112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string </a:t>
            </a:r>
            <a:r>
              <a:rPr lang="en-US" i="1" dirty="0"/>
              <a:t>x</a:t>
            </a:r>
            <a:r>
              <a:rPr lang="en-US" dirty="0"/>
              <a:t> is said to be </a:t>
            </a:r>
            <a:r>
              <a:rPr lang="en-US" i="1" dirty="0"/>
              <a:t>recognized</a:t>
            </a:r>
            <a:r>
              <a:rPr lang="en-US" dirty="0"/>
              <a:t> (or </a:t>
            </a:r>
            <a:r>
              <a:rPr lang="en-US" i="1" dirty="0"/>
              <a:t>accepted</a:t>
            </a:r>
            <a:r>
              <a:rPr lang="en-US" dirty="0"/>
              <a:t>) by the machine</a:t>
            </a:r>
            <a:r>
              <a:rPr lang="en-US" i="1" dirty="0"/>
              <a:t> M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) if it takes the initial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to a final state, that is,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). The </a:t>
            </a:r>
            <a:r>
              <a:rPr lang="en-US" i="1" dirty="0"/>
              <a:t>language recognized </a:t>
            </a:r>
            <a:r>
              <a:rPr lang="en-US" dirty="0"/>
              <a:t>(or </a:t>
            </a:r>
            <a:r>
              <a:rPr lang="en-US" i="1" dirty="0"/>
              <a:t>accepted</a:t>
            </a:r>
            <a:r>
              <a:rPr lang="en-US" dirty="0"/>
              <a:t>) by  </a:t>
            </a:r>
            <a:r>
              <a:rPr lang="en-US" i="1" dirty="0"/>
              <a:t>M</a:t>
            </a:r>
            <a:r>
              <a:rPr lang="en-US" dirty="0"/>
              <a:t>, denoted by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M</a:t>
            </a:r>
            <a:r>
              <a:rPr lang="en-US" dirty="0"/>
              <a:t>), is the set of all strings that are recognized by </a:t>
            </a:r>
            <a:r>
              <a:rPr lang="en-US" i="1" dirty="0"/>
              <a:t>M</a:t>
            </a:r>
            <a:r>
              <a:rPr lang="en-US" dirty="0"/>
              <a:t>. Two finite-state automata are called </a:t>
            </a:r>
            <a:r>
              <a:rPr lang="en-US" i="1" dirty="0"/>
              <a:t>equivalent</a:t>
            </a:r>
            <a:r>
              <a:rPr lang="en-US" dirty="0"/>
              <a:t> if they recognize the same language.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422374"/>
            <a:ext cx="2932387" cy="3258589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33400" y="3332198"/>
            <a:ext cx="4343400" cy="3438940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only final state of  </a:t>
            </a:r>
            <a:r>
              <a:rPr lang="en-US" i="1" dirty="0"/>
              <a:t>M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is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</a:t>
            </a:r>
            <a:r>
              <a:rPr lang="en-US" dirty="0">
                <a:ea typeface="Cambria Math" pitchFamily="18" charset="0"/>
              </a:rPr>
              <a:t>The strings that take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dirty="0">
                <a:ea typeface="Cambria Math" pitchFamily="18" charset="0"/>
              </a:rPr>
              <a:t>to itself consist of zero or more consecutive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s. Hence, </a:t>
            </a:r>
            <a:r>
              <a:rPr lang="en-US" dirty="0"/>
              <a:t>         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M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) = 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….}. </a:t>
            </a:r>
          </a:p>
          <a:p>
            <a:r>
              <a:rPr lang="en-US" dirty="0"/>
              <a:t>The only final state of  </a:t>
            </a:r>
            <a:r>
              <a:rPr lang="en-US" i="1" dirty="0"/>
              <a:t>M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is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</a:t>
            </a:r>
            <a:r>
              <a:rPr lang="en-US" dirty="0">
                <a:ea typeface="Cambria Math" pitchFamily="18" charset="0"/>
              </a:rPr>
              <a:t>The strings that take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 </a:t>
            </a:r>
            <a:r>
              <a:rPr lang="en-US" dirty="0">
                <a:ea typeface="Cambria Math" pitchFamily="18" charset="0"/>
              </a:rPr>
              <a:t>to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 are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01</a:t>
            </a:r>
            <a:r>
              <a:rPr lang="en-US" dirty="0">
                <a:ea typeface="Cambria Math" pitchFamily="18" charset="0"/>
              </a:rPr>
              <a:t> . </a:t>
            </a:r>
            <a:r>
              <a:rPr lang="en-US" dirty="0"/>
              <a:t>Hence ,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M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)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01</a:t>
            </a:r>
            <a:r>
              <a:rPr lang="en-US" dirty="0"/>
              <a:t>}.</a:t>
            </a:r>
          </a:p>
          <a:p>
            <a:r>
              <a:rPr lang="en-US" dirty="0"/>
              <a:t>The final state of  </a:t>
            </a:r>
            <a:r>
              <a:rPr lang="en-US" i="1" dirty="0"/>
              <a:t>M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are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 </a:t>
            </a:r>
            <a:r>
              <a:rPr lang="en-US" dirty="0">
                <a:ea typeface="Cambria Math" pitchFamily="18" charset="0"/>
              </a:rPr>
              <a:t>and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</a:t>
            </a:r>
            <a:r>
              <a:rPr lang="en-US" dirty="0">
                <a:ea typeface="Cambria Math" pitchFamily="18" charset="0"/>
              </a:rPr>
              <a:t>The strings that take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 </a:t>
            </a:r>
            <a:r>
              <a:rPr lang="en-US" dirty="0">
                <a:ea typeface="Cambria Math" pitchFamily="18" charset="0"/>
              </a:rPr>
              <a:t>to itself are </a:t>
            </a:r>
            <a:r>
              <a:rPr lang="el-GR" dirty="0">
                <a:latin typeface="Cambria Math"/>
                <a:ea typeface="Cambria Math"/>
              </a:rPr>
              <a:t>λ</a:t>
            </a:r>
            <a:r>
              <a:rPr lang="en-US" dirty="0">
                <a:latin typeface="Cambria Math"/>
                <a:ea typeface="Cambria Math"/>
              </a:rPr>
              <a:t>, 0, 00, 000,… .</a:t>
            </a:r>
            <a:r>
              <a:rPr lang="en-US" dirty="0">
                <a:ea typeface="Cambria Math" pitchFamily="18" charset="0"/>
              </a:rPr>
              <a:t> The strings that take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 </a:t>
            </a:r>
            <a:r>
              <a:rPr lang="en-US" dirty="0">
                <a:ea typeface="Cambria Math" pitchFamily="18" charset="0"/>
              </a:rPr>
              <a:t>to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ea typeface="Cambria Math" pitchFamily="18" charset="0"/>
              </a:rPr>
              <a:t>  are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 string of zero or more consecutive 0s, followed by 10, followed by any string</a:t>
            </a:r>
            <a:r>
              <a:rPr lang="en-US" dirty="0">
                <a:ea typeface="Cambria Math" pitchFamily="18" charset="0"/>
              </a:rPr>
              <a:t>. </a:t>
            </a:r>
            <a:r>
              <a:rPr lang="en-US" dirty="0"/>
              <a:t>Hence, 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M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/>
              <a:t> </a:t>
            </a:r>
            <a:r>
              <a:rPr lang="en-US" dirty="0"/>
              <a:t>|       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….,  and </a:t>
            </a:r>
            <a:r>
              <a:rPr lang="en-US" i="1" dirty="0"/>
              <a:t>x</a:t>
            </a:r>
            <a:r>
              <a:rPr lang="en-US" dirty="0"/>
              <a:t> is any string} </a:t>
            </a:r>
          </a:p>
          <a:p>
            <a:endParaRPr lang="en-US" dirty="0"/>
          </a:p>
          <a:p>
            <a:pPr indent="0">
              <a:buFont typeface="Wingdings 2"/>
              <a:buNone/>
            </a:pPr>
            <a:endParaRPr lang="en-US" dirty="0"/>
          </a:p>
          <a:p>
            <a:pPr indent="0">
              <a:buFont typeface="Wingdings 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6390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ED902-2875-5831-20AB-7D821877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71FCB75-BF99-0A99-F0D0-9D9E12DF2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7315200" cy="32962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7983A8-E805-27DB-DADB-8230A8DC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296294"/>
            <a:ext cx="7010400" cy="3478168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5E1DA4D-781A-DDAC-4214-A6CED93BB8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316"/>
          <a:stretch>
            <a:fillRect/>
          </a:stretch>
        </p:blipFill>
        <p:spPr>
          <a:xfrm>
            <a:off x="3657600" y="4038600"/>
            <a:ext cx="46324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288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51FEA-6980-7811-DBEF-0E81F4B3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A15196-70B5-FA2E-AAD8-35EA41211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0"/>
            <a:ext cx="5151562" cy="30989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CB7744-8507-551D-E3B1-B216F872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17380"/>
            <a:ext cx="4724400" cy="3714605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9F63E7E-E78B-7A85-BAF3-FA7FE53BD0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84"/>
          <a:stretch>
            <a:fillRect/>
          </a:stretch>
        </p:blipFill>
        <p:spPr>
          <a:xfrm>
            <a:off x="5105400" y="3200400"/>
            <a:ext cx="3810000" cy="32310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428DAB-BD68-8E4F-37A4-95817EE99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267931"/>
            <a:ext cx="5029200" cy="14147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AC9E6A-5D7F-5361-B507-2D95FA4D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30140"/>
            <a:ext cx="291662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225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41" y="762000"/>
            <a:ext cx="8229600" cy="1085088"/>
          </a:xfrm>
        </p:spPr>
        <p:txBody>
          <a:bodyPr>
            <a:noAutofit/>
          </a:bodyPr>
          <a:lstStyle/>
          <a:p>
            <a:r>
              <a:rPr lang="en-US" sz="4400" dirty="0"/>
              <a:t>Language Recognition by FSAs (</a:t>
            </a:r>
            <a:r>
              <a:rPr lang="en-US" sz="4400" i="1" dirty="0"/>
              <a:t>cont.</a:t>
            </a:r>
            <a:r>
              <a:rPr lang="en-US" sz="4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788920"/>
          </a:xfrm>
        </p:spPr>
        <p:txBody>
          <a:bodyPr>
            <a:normAutofit fontScale="77500" lnSpcReduction="20000"/>
          </a:bodyPr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Construct  a FSA that recognizes  the set of bit strings that begin with two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s.</a:t>
            </a:r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marL="731520" indent="-457200"/>
            <a:r>
              <a:rPr lang="en-US" dirty="0"/>
              <a:t>Besides the start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we include a </a:t>
            </a:r>
            <a:r>
              <a:rPr lang="en-US" dirty="0" err="1"/>
              <a:t>nonfinal</a:t>
            </a:r>
            <a:r>
              <a:rPr lang="en-US" dirty="0"/>
              <a:t>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; we move to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from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if the first bit is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</a:t>
            </a:r>
          </a:p>
          <a:p>
            <a:pPr marL="731520" indent="-457200"/>
            <a:r>
              <a:rPr lang="en-US" dirty="0"/>
              <a:t>Next, we add a final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 which we move to from 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if the second bit is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 We stay in this state no matter what the succeeding bits (if any) are.</a:t>
            </a:r>
          </a:p>
          <a:p>
            <a:pPr marL="731520" indent="-457200"/>
            <a:r>
              <a:rPr lang="en-US" dirty="0"/>
              <a:t>We need a </a:t>
            </a:r>
            <a:r>
              <a:rPr lang="en-US" dirty="0" err="1"/>
              <a:t>nonfinal</a:t>
            </a:r>
            <a:r>
              <a:rPr lang="en-US" dirty="0"/>
              <a:t>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so that we can move to it from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if the first bit is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from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if the second bit is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pPr marL="731520" indent="-457200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005" b="62668"/>
          <a:stretch/>
        </p:blipFill>
        <p:spPr>
          <a:xfrm>
            <a:off x="1600200" y="5029200"/>
            <a:ext cx="6066282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93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122352-EFE6-8FB1-7A28-36970C4F6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" y="0"/>
            <a:ext cx="6812215" cy="35157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E65BA7-D965-A25D-ABBA-CCC0E268A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194538"/>
            <a:ext cx="4762500" cy="3663462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EF8C3CE-AE57-46D7-60F5-AC533D7F2B4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2" t="-7005" r="17096" b="62668"/>
          <a:stretch>
            <a:fillRect/>
          </a:stretch>
        </p:blipFill>
        <p:spPr>
          <a:xfrm>
            <a:off x="152400" y="4114800"/>
            <a:ext cx="3886200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018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AE789A-466C-6128-ED20-13066C74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49791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972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Recognition by FSA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788920"/>
          </a:xfrm>
        </p:spPr>
        <p:txBody>
          <a:bodyPr>
            <a:normAutofit fontScale="70000" lnSpcReduction="20000"/>
          </a:bodyPr>
          <a:lstStyle/>
          <a:p>
            <a:pPr marL="274320" lvl="1" indent="0">
              <a:buClr>
                <a:schemeClr val="accent3"/>
              </a:buClr>
              <a:buSzPct val="95000"/>
              <a:buNone/>
            </a:pPr>
            <a:r>
              <a:rPr lang="en-US" b="1" dirty="0"/>
              <a:t>Example</a:t>
            </a:r>
            <a:r>
              <a:rPr lang="en-US" dirty="0"/>
              <a:t>: Construct  a FSA that recognizes the set of bit strings that contain two consecutive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s. </a:t>
            </a:r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marL="731520" indent="-457200"/>
            <a:r>
              <a:rPr lang="en-US" dirty="0"/>
              <a:t>Besides the start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we include a </a:t>
            </a:r>
            <a:r>
              <a:rPr lang="en-US" dirty="0" err="1"/>
              <a:t>nonfinal</a:t>
            </a:r>
            <a:r>
              <a:rPr lang="en-US" dirty="0"/>
              <a:t>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 which tells us that the last input bit seen is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but either the bit before was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or this is the initial bit. </a:t>
            </a:r>
          </a:p>
          <a:p>
            <a:pPr marL="731520" indent="-457200"/>
            <a:r>
              <a:rPr lang="en-US" dirty="0"/>
              <a:t>Next, we add a final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 which we move to from 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if the next bit after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dirty="0"/>
              <a:t>is also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 We stay in this state no matter what the succeeding bits (if any) are.</a:t>
            </a:r>
          </a:p>
          <a:p>
            <a:pPr marL="731520" indent="-457200"/>
            <a:r>
              <a:rPr lang="en-US" dirty="0"/>
              <a:t>We return from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or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, if a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follows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in the string, before we come to two consecutive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s.  </a:t>
            </a:r>
          </a:p>
          <a:p>
            <a:pPr marL="731520" indent="-457200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6" t="27834" r="48913" b="24662"/>
          <a:stretch/>
        </p:blipFill>
        <p:spPr>
          <a:xfrm>
            <a:off x="2362200" y="4953000"/>
            <a:ext cx="356616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415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5486-7071-352E-B4DE-FDA18F2B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18EFE1-263E-4E3D-2BFC-D79FCE7C7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766"/>
            <a:ext cx="7239000" cy="31378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83935CD-D0DF-D614-61C6-1F8B084EB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163613"/>
            <a:ext cx="5220619" cy="3678621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1A539DD-BD71-C1A7-CF6D-FD37311E2B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" t="37588" r="52409" b="33150"/>
          <a:stretch>
            <a:fillRect/>
          </a:stretch>
        </p:blipFill>
        <p:spPr>
          <a:xfrm>
            <a:off x="3749040" y="3505200"/>
            <a:ext cx="539496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186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NDFSA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 nondeterministic finite-state automaton </a:t>
            </a:r>
            <a:r>
              <a:rPr lang="en-US" i="1" dirty="0"/>
              <a:t>M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) consists of a finite set </a:t>
            </a:r>
            <a:r>
              <a:rPr lang="en-US" i="1" dirty="0"/>
              <a:t>S</a:t>
            </a:r>
            <a:r>
              <a:rPr lang="en-US" dirty="0"/>
              <a:t> of </a:t>
            </a:r>
            <a:r>
              <a:rPr lang="en-US" i="1" dirty="0"/>
              <a:t>states</a:t>
            </a:r>
            <a:r>
              <a:rPr lang="en-US" dirty="0"/>
              <a:t>, a finite </a:t>
            </a:r>
            <a:r>
              <a:rPr lang="en-US" i="1" dirty="0"/>
              <a:t>input alphabet I</a:t>
            </a:r>
            <a:r>
              <a:rPr lang="en-US" dirty="0"/>
              <a:t>, a </a:t>
            </a:r>
            <a:r>
              <a:rPr lang="en-US" i="1" dirty="0"/>
              <a:t>transition function f</a:t>
            </a:r>
            <a:r>
              <a:rPr lang="en-US" dirty="0"/>
              <a:t> that assigns a set of states to every pair of state and input (so that </a:t>
            </a:r>
            <a:r>
              <a:rPr lang="en-US" i="1" dirty="0"/>
              <a:t>f</a:t>
            </a:r>
            <a:r>
              <a:rPr lang="en-US" dirty="0"/>
              <a:t>: </a:t>
            </a:r>
            <a:r>
              <a:rPr lang="en-US" i="1" dirty="0"/>
              <a:t>S</a:t>
            </a:r>
            <a:r>
              <a:rPr lang="en-US" dirty="0"/>
              <a:t> × </a:t>
            </a:r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dirty="0"/>
              <a:t> 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)), an </a:t>
            </a:r>
            <a:r>
              <a:rPr lang="en-US" i="1" dirty="0"/>
              <a:t>initial</a:t>
            </a:r>
            <a:r>
              <a:rPr lang="en-US" dirty="0"/>
              <a:t> or </a:t>
            </a:r>
            <a:r>
              <a:rPr lang="en-US" i="1" dirty="0"/>
              <a:t>start state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and a subset </a:t>
            </a:r>
            <a:r>
              <a:rPr lang="en-US" i="1" dirty="0"/>
              <a:t>F</a:t>
            </a:r>
            <a:r>
              <a:rPr lang="en-US" dirty="0"/>
              <a:t> of</a:t>
            </a:r>
            <a:r>
              <a:rPr lang="en-US" i="1" dirty="0"/>
              <a:t> S </a:t>
            </a:r>
            <a:r>
              <a:rPr lang="en-US" dirty="0"/>
              <a:t>consisting of </a:t>
            </a:r>
            <a:r>
              <a:rPr lang="en-US" i="1" dirty="0"/>
              <a:t>final</a:t>
            </a:r>
            <a:r>
              <a:rPr lang="en-US" dirty="0"/>
              <a:t> (or </a:t>
            </a:r>
            <a:r>
              <a:rPr lang="en-US" i="1" dirty="0"/>
              <a:t>accepting</a:t>
            </a:r>
            <a:r>
              <a:rPr lang="en-US" dirty="0"/>
              <a:t>)</a:t>
            </a:r>
            <a:r>
              <a:rPr lang="en-US" i="1" dirty="0"/>
              <a:t> states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can represent a nondeterministic finite-state automaton using a state table where we give a list of possible next states for each pair of a state and an input value.</a:t>
            </a:r>
          </a:p>
          <a:p>
            <a:pPr lvl="1"/>
            <a:r>
              <a:rPr lang="en-US" dirty="0"/>
              <a:t>We construct a state diagram for a nondeterministic automaton by including an edge from each state to all possible next states, labeling edges with the input or inputs that lead to this transition.</a:t>
            </a:r>
          </a:p>
          <a:p>
            <a:pPr lvl="1"/>
            <a:r>
              <a:rPr lang="en-US" dirty="0"/>
              <a:t>We use the abbreviation NDFSA for a nondeterministic finite-state automaton and DFSA for a deterministic finite-state automata when we needed to distinguish between NDFSA and DFSA.</a:t>
            </a:r>
          </a:p>
          <a:p>
            <a:pPr marL="393192" lvl="1"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Find the state diagram for the NDFSA                                                                                                with the state table shown in Table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.                                                                                                               The final states are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and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.</a:t>
            </a:r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209288"/>
            <a:ext cx="1959864" cy="16398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5029200"/>
            <a:ext cx="1918716" cy="155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4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352C-263C-8A9B-3007-AA9AEF0E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8B88AB8-34CC-3BD4-827A-DC8DDA1A4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" y="985747"/>
            <a:ext cx="7467600" cy="40269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83DFD3-9E0E-67CE-0097-72394C91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000406"/>
            <a:ext cx="6781800" cy="1748433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FAB43AE8-E9F2-3C5A-D085-758AA669F7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36" y="2683596"/>
            <a:ext cx="1959864" cy="1639824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3C448A1F-AA70-1891-49E5-F67D0AD309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4358762"/>
            <a:ext cx="2133600" cy="17251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5FC6D9-7CE9-4AD7-7CE0-6701AB9CE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26" y="38475"/>
            <a:ext cx="8229600" cy="87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798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2CB031-E8AC-9977-0752-2CC55DFDC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447800"/>
            <a:ext cx="7924800" cy="4053606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E1AEE05-2AD0-4F6E-66C2-7B6F064BA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362200"/>
            <a:ext cx="2133600" cy="172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735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a DFSA Equivalent to a NFSA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For every NFSA there is an equivalent DFSA.   That is,  if  the language </a:t>
                </a:r>
                <a:r>
                  <a:rPr lang="en-US" i="1" dirty="0"/>
                  <a:t>L</a:t>
                </a:r>
                <a:r>
                  <a:rPr lang="en-US" dirty="0"/>
                  <a:t> is recognized by a NFSA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then </a:t>
                </a:r>
                <a:r>
                  <a:rPr lang="en-US" i="1" dirty="0"/>
                  <a:t>L</a:t>
                </a:r>
                <a:r>
                  <a:rPr lang="en-US" dirty="0"/>
                  <a:t> is also recognized by a DFSA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. </a:t>
                </a:r>
              </a:p>
              <a:p>
                <a:pPr indent="0">
                  <a:buNone/>
                </a:pPr>
                <a:r>
                  <a:rPr lang="en-US" dirty="0"/>
                  <a:t>We construct the DFSA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so that</a:t>
                </a:r>
              </a:p>
              <a:p>
                <a:pPr marL="731520" indent="-457200"/>
                <a:r>
                  <a:rPr lang="en-US" dirty="0"/>
                  <a:t>Each state in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is made up of a set of states in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.</a:t>
                </a:r>
              </a:p>
              <a:p>
                <a:pPr marL="731520" indent="-457200"/>
                <a:r>
                  <a:rPr lang="en-US" dirty="0"/>
                  <a:t>The start symbol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is {</a:t>
                </a:r>
                <a:r>
                  <a:rPr lang="en-US" i="1" dirty="0"/>
                  <a:t>s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}.</a:t>
                </a:r>
              </a:p>
              <a:p>
                <a:pPr marL="731520" indent="-457200"/>
                <a:r>
                  <a:rPr lang="en-US" dirty="0"/>
                  <a:t>The input set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is the same as the input set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.</a:t>
                </a:r>
              </a:p>
              <a:p>
                <a:pPr marL="731520" indent="-457200">
                  <a:lnSpc>
                    <a:spcPts val="1400"/>
                  </a:lnSpc>
                </a:pPr>
                <a:r>
                  <a:rPr lang="en-US" dirty="0"/>
                  <a:t>Given a state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b="0" i="1" baseline="-25000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}of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the input symbol </a:t>
                </a:r>
                <a:r>
                  <a:rPr lang="en-US" i="1" dirty="0"/>
                  <a:t>x</a:t>
                </a:r>
                <a:r>
                  <a:rPr lang="en-US" dirty="0"/>
                  <a:t> takes this state to the union of </a:t>
                </a:r>
              </a:p>
              <a:p>
                <a:pPr indent="0">
                  <a:lnSpc>
                    <a:spcPts val="1400"/>
                  </a:lnSpc>
                  <a:buNone/>
                </a:pPr>
                <a:r>
                  <a:rPr lang="en-US" dirty="0"/>
                  <a:t>         the sets of next states for the elements of this set, that is, the union of the sets</a:t>
                </a:r>
              </a:p>
              <a:p>
                <a:pPr indent="0">
                  <a:lnSpc>
                    <a:spcPts val="1400"/>
                  </a:lnSpc>
                  <a:buNone/>
                </a:pPr>
                <a:r>
                  <a:rPr lang="en-US" dirty="0"/>
                  <a:t>        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 baseline="-2500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dirty="0"/>
                  <a:t>),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 baseline="-2500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i="1" dirty="0"/>
                  <a:t>x</a:t>
                </a:r>
                <a:r>
                  <a:rPr lang="en-US" dirty="0"/>
                  <a:t>), … ,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 baseline="-2500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i="1" dirty="0"/>
                  <a:t>x</a:t>
                </a:r>
                <a:r>
                  <a:rPr lang="en-US" dirty="0"/>
                  <a:t>). </a:t>
                </a:r>
              </a:p>
              <a:p>
                <a:pPr marL="731520" indent="-457200"/>
                <a:r>
                  <a:rPr lang="en-US" dirty="0"/>
                  <a:t>We continue in this way to construct the states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from those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.</a:t>
                </a:r>
              </a:p>
              <a:p>
                <a:pPr marL="731520" indent="-457200"/>
                <a:r>
                  <a:rPr lang="en-US" dirty="0"/>
                  <a:t>The final states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are those sets that contain a final state of 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To see that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and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are equivalent, first suppose that an input string is recognized by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. This means that one of the states that can be reached from </a:t>
                </a:r>
                <a:r>
                  <a:rPr lang="en-US" i="1" dirty="0"/>
                  <a:t>s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 </a:t>
                </a:r>
                <a:r>
                  <a:rPr lang="en-US" dirty="0"/>
                  <a:t>is a final state. So,  in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this input string leads from {</a:t>
                </a:r>
                <a:r>
                  <a:rPr lang="en-US" i="1" dirty="0"/>
                  <a:t>s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} to a set of states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 that contains the final state. Since this is a final state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this string is also recognized by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Conversely, a string that is not recognized by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does not lead to any final states in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. Consequently, this input string does not lead from {</a:t>
                </a:r>
                <a:r>
                  <a:rPr lang="en-US" i="1" dirty="0"/>
                  <a:t>s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} to a final state of </a:t>
                </a:r>
                <a:r>
                  <a:rPr lang="en-US" i="1" dirty="0"/>
                  <a:t>M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2323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E94F-D1EB-62DB-9357-C7693E07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B3B647-DE96-9F81-3399-2FF1531A8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31"/>
            <a:ext cx="7543800" cy="16469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54E04C-23BC-9F76-7508-3F526A906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8993"/>
            <a:ext cx="7010400" cy="36560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27B431-C654-2AF0-F2BF-D7CA1F160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869" y="5334000"/>
            <a:ext cx="6660131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841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an Equivalent DFSA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Find a DFSA that recognizes the same language as the  NFSA: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Following the steps                                                           of the procedure described on the                                                                  previous slide, we obtain                                                               the DFSA shown here.                                                  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538" y="4937760"/>
            <a:ext cx="3092335" cy="15586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57" y="2895600"/>
            <a:ext cx="2507742" cy="14622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726055"/>
            <a:ext cx="1598676" cy="18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021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56DD-F5B0-F5DF-E558-F1949F60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8C3BB6F-74A8-DC65-0529-15BAFEC89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7316522" cy="1600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7DAD3A-0333-BB37-C693-EB7DDC842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02676"/>
            <a:ext cx="6781800" cy="4999874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01D827EC-A602-1A13-76D3-A3CDACD45B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21221"/>
            <a:ext cx="2507742" cy="146227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44FBCCB-4F2F-321F-3DF9-86946C6EC9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600200"/>
            <a:ext cx="1598676" cy="1801368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E2A109EC-9EA2-50F1-701F-CE43CA8976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386" y="3588456"/>
            <a:ext cx="2808890" cy="141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298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A9AA0D-98F5-7D7A-889B-D3602B0FC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105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310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13.4</a:t>
            </a:r>
          </a:p>
        </p:txBody>
      </p:sp>
    </p:spTree>
    <p:extLst>
      <p:ext uri="{BB962C8B-B14F-4D97-AF65-F5344CB8AC3E}">
        <p14:creationId xmlns:p14="http://schemas.microsoft.com/office/powerpoint/2010/main" val="26285345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  <a:p>
            <a:r>
              <a:rPr lang="en-US" dirty="0" err="1"/>
              <a:t>Kleene’s</a:t>
            </a:r>
            <a:r>
              <a:rPr lang="en-US" dirty="0"/>
              <a:t> Theorem</a:t>
            </a:r>
          </a:p>
          <a:p>
            <a:r>
              <a:rPr lang="en-US" dirty="0"/>
              <a:t>Regular Sets and Regular Grammars</a:t>
            </a:r>
          </a:p>
          <a:p>
            <a:r>
              <a:rPr lang="en-US" dirty="0"/>
              <a:t>More Powerful Types of Machines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8BC6CB-6A1E-49D8-8A5D-2A2388B20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2400"/>
            <a:ext cx="3228561" cy="230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638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900" dirty="0"/>
              <a:t>The </a:t>
            </a:r>
            <a:r>
              <a:rPr lang="en-US" sz="2900" i="1" dirty="0"/>
              <a:t>regular expressions </a:t>
            </a:r>
            <a:r>
              <a:rPr lang="en-US" sz="2900" dirty="0"/>
              <a:t>over a set </a:t>
            </a:r>
            <a:r>
              <a:rPr lang="en-US" sz="2900" i="1" dirty="0"/>
              <a:t>I</a:t>
            </a:r>
            <a:r>
              <a:rPr lang="en-US" sz="2900" dirty="0"/>
              <a:t> are defined recursively by:</a:t>
            </a:r>
          </a:p>
          <a:p>
            <a:pPr indent="0">
              <a:buNone/>
            </a:pPr>
            <a:endParaRPr lang="en-US" sz="2900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r>
              <a:rPr lang="en-US" sz="2900" dirty="0"/>
              <a:t>Each regular expression represents a set specified by these rules: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r>
              <a:rPr lang="en-US" sz="2900" dirty="0"/>
              <a:t>Sets represented by regular expressions are called </a:t>
            </a:r>
            <a:r>
              <a:rPr lang="en-US" sz="2900" i="1" dirty="0"/>
              <a:t>regular sets</a:t>
            </a:r>
            <a:r>
              <a:rPr lang="en-US" sz="29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8652" y="2286000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symbol </a:t>
            </a:r>
            <a:r>
              <a:rPr lang="en-US" sz="1600" dirty="0">
                <a:sym typeface="Symbol"/>
              </a:rPr>
              <a:t> is a regular expression;</a:t>
            </a:r>
          </a:p>
          <a:p>
            <a:r>
              <a:rPr lang="en-US" sz="1600" dirty="0">
                <a:sym typeface="Symbol"/>
              </a:rPr>
              <a:t>the symbol </a:t>
            </a:r>
            <a:r>
              <a:rPr lang="el-GR" sz="1600" dirty="0">
                <a:latin typeface="Cambria Math"/>
                <a:ea typeface="Cambria Math"/>
                <a:sym typeface="Symbol"/>
              </a:rPr>
              <a:t>λ</a:t>
            </a:r>
            <a:r>
              <a:rPr lang="en-US" sz="1600" dirty="0">
                <a:latin typeface="Cambria Math"/>
                <a:ea typeface="Cambria Math"/>
                <a:sym typeface="Symbol"/>
              </a:rPr>
              <a:t> </a:t>
            </a:r>
            <a:r>
              <a:rPr lang="en-US" sz="1600" dirty="0">
                <a:ea typeface="Cambria Math"/>
                <a:sym typeface="Symbol"/>
              </a:rPr>
              <a:t>is a regular expression</a:t>
            </a:r>
            <a:r>
              <a:rPr lang="en-US" sz="1600" dirty="0">
                <a:latin typeface="Cambria Math"/>
                <a:ea typeface="Cambria Math"/>
                <a:sym typeface="Symbol"/>
              </a:rPr>
              <a:t>;</a:t>
            </a:r>
          </a:p>
          <a:p>
            <a:r>
              <a:rPr lang="en-US" sz="1600" dirty="0">
                <a:ea typeface="Cambria Math"/>
                <a:sym typeface="Symbol"/>
              </a:rPr>
              <a:t>the symbol </a:t>
            </a:r>
            <a:r>
              <a:rPr lang="en-US" sz="1600" i="1" dirty="0">
                <a:ea typeface="Cambria Math"/>
                <a:sym typeface="Symbol"/>
              </a:rPr>
              <a:t>x</a:t>
            </a:r>
            <a:r>
              <a:rPr lang="en-US" sz="1600" dirty="0">
                <a:ea typeface="Cambria Math"/>
                <a:sym typeface="Symbol"/>
              </a:rPr>
              <a:t> is a regular expression whenever </a:t>
            </a:r>
            <a:r>
              <a:rPr lang="en-US" sz="1600" i="1" dirty="0">
                <a:ea typeface="Cambria Math"/>
                <a:sym typeface="Symbol"/>
              </a:rPr>
              <a:t>x</a:t>
            </a:r>
            <a:r>
              <a:rPr lang="en-US" sz="1600" dirty="0">
                <a:ea typeface="Cambria Math"/>
                <a:sym typeface="Symbol"/>
              </a:rPr>
              <a:t>  </a:t>
            </a:r>
            <a:r>
              <a:rPr lang="en-US" sz="1600" dirty="0">
                <a:latin typeface="Cambria Math"/>
                <a:ea typeface="Cambria Math"/>
                <a:sym typeface="Symbol"/>
              </a:rPr>
              <a:t>∈</a:t>
            </a:r>
            <a:r>
              <a:rPr lang="en-US" sz="1600" dirty="0">
                <a:ea typeface="Cambria Math"/>
                <a:sym typeface="Symbol"/>
              </a:rPr>
              <a:t> </a:t>
            </a:r>
            <a:r>
              <a:rPr lang="en-US" sz="1600" i="1" dirty="0">
                <a:ea typeface="Cambria Math"/>
                <a:sym typeface="Symbol"/>
              </a:rPr>
              <a:t>I</a:t>
            </a:r>
            <a:r>
              <a:rPr lang="en-US" sz="1600" dirty="0">
                <a:ea typeface="Cambria Math"/>
                <a:sym typeface="Symbol"/>
              </a:rPr>
              <a:t>;</a:t>
            </a:r>
          </a:p>
          <a:p>
            <a:r>
              <a:rPr lang="en-US" sz="1600" dirty="0">
                <a:ea typeface="Cambria Math"/>
                <a:sym typeface="Symbol"/>
              </a:rPr>
              <a:t>the symbols (</a:t>
            </a:r>
            <a:r>
              <a:rPr lang="en-US" sz="1600" b="1" dirty="0">
                <a:ea typeface="Cambria Math"/>
                <a:sym typeface="Symbol"/>
              </a:rPr>
              <a:t>AB</a:t>
            </a:r>
            <a:r>
              <a:rPr lang="en-US" sz="1600" dirty="0">
                <a:ea typeface="Cambria Math"/>
                <a:sym typeface="Symbol"/>
              </a:rPr>
              <a:t>), (</a:t>
            </a:r>
            <a:r>
              <a:rPr lang="en-US" sz="1600" b="1" dirty="0">
                <a:ea typeface="Cambria Math"/>
                <a:sym typeface="Symbol"/>
              </a:rPr>
              <a:t>A</a:t>
            </a:r>
            <a:r>
              <a:rPr lang="en-US" sz="1600" dirty="0">
                <a:ea typeface="Cambria Math"/>
                <a:sym typeface="Symbol"/>
              </a:rPr>
              <a:t> </a:t>
            </a:r>
            <a:r>
              <a:rPr lang="en-US" sz="1600" dirty="0">
                <a:latin typeface="Cambria Math"/>
                <a:ea typeface="Cambria Math"/>
                <a:sym typeface="Symbol"/>
              </a:rPr>
              <a:t>∪</a:t>
            </a:r>
            <a:r>
              <a:rPr lang="en-US" sz="1600" dirty="0">
                <a:ea typeface="Cambria Math"/>
                <a:sym typeface="Symbol"/>
              </a:rPr>
              <a:t> </a:t>
            </a:r>
            <a:r>
              <a:rPr lang="en-US" sz="1600" b="1" dirty="0">
                <a:ea typeface="Cambria Math"/>
                <a:sym typeface="Symbol"/>
              </a:rPr>
              <a:t>B</a:t>
            </a:r>
            <a:r>
              <a:rPr lang="en-US" sz="1600" dirty="0">
                <a:ea typeface="Cambria Math"/>
                <a:sym typeface="Symbol"/>
              </a:rPr>
              <a:t>), and </a:t>
            </a:r>
            <a:r>
              <a:rPr lang="en-US" sz="1600" b="1" dirty="0">
                <a:ea typeface="Cambria Math"/>
                <a:sym typeface="Symbol"/>
              </a:rPr>
              <a:t>A*</a:t>
            </a:r>
            <a:r>
              <a:rPr lang="en-US" sz="1600" dirty="0">
                <a:ea typeface="Cambria Math"/>
                <a:sym typeface="Symbol"/>
              </a:rPr>
              <a:t> are regular expressions</a:t>
            </a:r>
          </a:p>
          <a:p>
            <a:r>
              <a:rPr lang="en-US" sz="1600" dirty="0">
                <a:ea typeface="Cambria Math"/>
                <a:sym typeface="Symbol"/>
              </a:rPr>
              <a:t>              whenever </a:t>
            </a:r>
            <a:r>
              <a:rPr lang="en-US" sz="1600" b="1" dirty="0">
                <a:ea typeface="Cambria Math"/>
                <a:sym typeface="Symbol"/>
              </a:rPr>
              <a:t>A</a:t>
            </a:r>
            <a:r>
              <a:rPr lang="en-US" sz="1600" dirty="0">
                <a:ea typeface="Cambria Math"/>
                <a:sym typeface="Symbol"/>
              </a:rPr>
              <a:t> and </a:t>
            </a:r>
            <a:r>
              <a:rPr lang="en-US" sz="1600" b="1" dirty="0">
                <a:ea typeface="Cambria Math"/>
                <a:sym typeface="Symbol"/>
              </a:rPr>
              <a:t>B</a:t>
            </a:r>
            <a:r>
              <a:rPr lang="en-US" sz="1600" dirty="0">
                <a:ea typeface="Cambria Math"/>
                <a:sym typeface="Symbol"/>
              </a:rPr>
              <a:t> are regular expressions.</a:t>
            </a:r>
            <a:r>
              <a:rPr lang="en-US" sz="1600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962400"/>
            <a:ext cx="74543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ym typeface="Symbol"/>
              </a:rPr>
              <a:t></a:t>
            </a:r>
            <a:r>
              <a:rPr lang="en-US" sz="1600" dirty="0">
                <a:sym typeface="Symbol"/>
              </a:rPr>
              <a:t> represents the empty set, that is, the set with no strings;</a:t>
            </a:r>
          </a:p>
          <a:p>
            <a:r>
              <a:rPr lang="el-GR" sz="1600" b="1" dirty="0">
                <a:latin typeface="Cambria Math"/>
                <a:ea typeface="Cambria Math"/>
                <a:sym typeface="Symbol"/>
              </a:rPr>
              <a:t>λ</a:t>
            </a:r>
            <a:r>
              <a:rPr lang="en-US" sz="1600" dirty="0">
                <a:latin typeface="Cambria Math"/>
                <a:ea typeface="Cambria Math"/>
                <a:sym typeface="Symbol"/>
              </a:rPr>
              <a:t> </a:t>
            </a:r>
            <a:r>
              <a:rPr lang="en-US" sz="1600" dirty="0">
                <a:ea typeface="Cambria Math"/>
                <a:sym typeface="Symbol"/>
              </a:rPr>
              <a:t>represents the set {</a:t>
            </a:r>
            <a:r>
              <a:rPr lang="el-GR" sz="1600" dirty="0">
                <a:latin typeface="Cambria Math"/>
                <a:ea typeface="Cambria Math"/>
                <a:sym typeface="Symbol"/>
              </a:rPr>
              <a:t>λ</a:t>
            </a:r>
            <a:r>
              <a:rPr lang="en-US" sz="1600" dirty="0">
                <a:ea typeface="Cambria Math"/>
                <a:sym typeface="Symbol"/>
              </a:rPr>
              <a:t>}, which is the set containing the empty string;</a:t>
            </a:r>
            <a:endParaRPr lang="en-US" sz="1600" dirty="0">
              <a:latin typeface="Cambria Math"/>
              <a:ea typeface="Cambria Math"/>
              <a:sym typeface="Symbol"/>
            </a:endParaRPr>
          </a:p>
          <a:p>
            <a:r>
              <a:rPr lang="en-US" sz="1600" b="1" i="1" dirty="0">
                <a:ea typeface="Cambria Math"/>
                <a:sym typeface="Symbol"/>
              </a:rPr>
              <a:t>x</a:t>
            </a:r>
            <a:r>
              <a:rPr lang="en-US" sz="1600" dirty="0">
                <a:ea typeface="Cambria Math"/>
                <a:sym typeface="Symbol"/>
              </a:rPr>
              <a:t> represents the set {</a:t>
            </a:r>
            <a:r>
              <a:rPr lang="en-US" sz="1600" i="1" dirty="0">
                <a:ea typeface="Cambria Math"/>
                <a:sym typeface="Symbol"/>
              </a:rPr>
              <a:t>x</a:t>
            </a:r>
            <a:r>
              <a:rPr lang="en-US" sz="1600" dirty="0">
                <a:ea typeface="Cambria Math"/>
                <a:sym typeface="Symbol"/>
              </a:rPr>
              <a:t>} containing the string with one symbol </a:t>
            </a:r>
            <a:r>
              <a:rPr lang="en-US" sz="1600" i="1" dirty="0">
                <a:ea typeface="Cambria Math"/>
                <a:sym typeface="Symbol"/>
              </a:rPr>
              <a:t>x</a:t>
            </a:r>
            <a:r>
              <a:rPr lang="en-US" sz="1600" dirty="0">
                <a:ea typeface="Cambria Math"/>
                <a:sym typeface="Symbol"/>
              </a:rPr>
              <a:t>;</a:t>
            </a:r>
          </a:p>
          <a:p>
            <a:r>
              <a:rPr lang="en-US" sz="1600" dirty="0">
                <a:ea typeface="Cambria Math"/>
                <a:sym typeface="Symbol"/>
              </a:rPr>
              <a:t>(</a:t>
            </a:r>
            <a:r>
              <a:rPr lang="en-US" sz="1600" b="1" dirty="0">
                <a:ea typeface="Cambria Math"/>
                <a:sym typeface="Symbol"/>
              </a:rPr>
              <a:t>AB</a:t>
            </a:r>
            <a:r>
              <a:rPr lang="en-US" sz="1600" dirty="0">
                <a:ea typeface="Cambria Math"/>
                <a:sym typeface="Symbol"/>
              </a:rPr>
              <a:t>) represents the concatenation of the sets represented by </a:t>
            </a:r>
            <a:r>
              <a:rPr lang="en-US" sz="1600" b="1" dirty="0">
                <a:ea typeface="Cambria Math"/>
                <a:sym typeface="Symbol"/>
              </a:rPr>
              <a:t>A</a:t>
            </a:r>
            <a:r>
              <a:rPr lang="en-US" sz="1600" dirty="0">
                <a:ea typeface="Cambria Math"/>
                <a:sym typeface="Symbol"/>
              </a:rPr>
              <a:t> and by </a:t>
            </a:r>
            <a:r>
              <a:rPr lang="en-US" sz="1600" b="1" dirty="0">
                <a:ea typeface="Cambria Math"/>
                <a:sym typeface="Symbol"/>
              </a:rPr>
              <a:t>B</a:t>
            </a:r>
            <a:r>
              <a:rPr lang="en-US" sz="1600" dirty="0">
                <a:ea typeface="Cambria Math"/>
                <a:sym typeface="Symbol"/>
              </a:rPr>
              <a:t>; </a:t>
            </a:r>
          </a:p>
          <a:p>
            <a:r>
              <a:rPr lang="en-US" sz="1600" dirty="0">
                <a:ea typeface="Cambria Math"/>
                <a:sym typeface="Symbol"/>
              </a:rPr>
              <a:t>(</a:t>
            </a:r>
            <a:r>
              <a:rPr lang="en-US" sz="1600" b="1" dirty="0">
                <a:ea typeface="Cambria Math"/>
                <a:sym typeface="Symbol"/>
              </a:rPr>
              <a:t>A</a:t>
            </a:r>
            <a:r>
              <a:rPr lang="en-US" sz="1600" dirty="0">
                <a:ea typeface="Cambria Math"/>
                <a:sym typeface="Symbol"/>
              </a:rPr>
              <a:t> </a:t>
            </a:r>
            <a:r>
              <a:rPr lang="en-US" sz="1600" dirty="0">
                <a:latin typeface="Cambria Math"/>
                <a:ea typeface="Cambria Math"/>
                <a:sym typeface="Symbol"/>
              </a:rPr>
              <a:t>∪</a:t>
            </a:r>
            <a:r>
              <a:rPr lang="en-US" sz="1600" dirty="0">
                <a:ea typeface="Cambria Math"/>
                <a:sym typeface="Symbol"/>
              </a:rPr>
              <a:t> </a:t>
            </a:r>
            <a:r>
              <a:rPr lang="en-US" sz="1600" b="1" dirty="0">
                <a:ea typeface="Cambria Math"/>
                <a:sym typeface="Symbol"/>
              </a:rPr>
              <a:t>B</a:t>
            </a:r>
            <a:r>
              <a:rPr lang="en-US" sz="1600" dirty="0">
                <a:ea typeface="Cambria Math"/>
                <a:sym typeface="Symbol"/>
              </a:rPr>
              <a:t>) represents the union of the sets represented by </a:t>
            </a:r>
            <a:r>
              <a:rPr lang="en-US" sz="1600" b="1" dirty="0">
                <a:ea typeface="Cambria Math"/>
                <a:sym typeface="Symbol"/>
              </a:rPr>
              <a:t>A</a:t>
            </a:r>
            <a:r>
              <a:rPr lang="en-US" sz="1600" dirty="0">
                <a:ea typeface="Cambria Math"/>
                <a:sym typeface="Symbol"/>
              </a:rPr>
              <a:t> and by </a:t>
            </a:r>
            <a:r>
              <a:rPr lang="en-US" sz="1600" b="1" dirty="0">
                <a:ea typeface="Cambria Math"/>
                <a:sym typeface="Symbol"/>
              </a:rPr>
              <a:t>B</a:t>
            </a:r>
            <a:r>
              <a:rPr lang="en-US" sz="1600" dirty="0">
                <a:ea typeface="Cambria Math"/>
                <a:sym typeface="Symbol"/>
              </a:rPr>
              <a:t>; </a:t>
            </a:r>
          </a:p>
          <a:p>
            <a:r>
              <a:rPr lang="en-US" sz="1600" b="1" dirty="0">
                <a:ea typeface="Cambria Math"/>
                <a:sym typeface="Symbol"/>
              </a:rPr>
              <a:t>A*</a:t>
            </a:r>
            <a:r>
              <a:rPr lang="en-US" sz="1600" dirty="0">
                <a:ea typeface="Cambria Math"/>
                <a:sym typeface="Symbol"/>
              </a:rPr>
              <a:t> represents the </a:t>
            </a:r>
            <a:r>
              <a:rPr lang="en-US" sz="1600" dirty="0" err="1">
                <a:ea typeface="Cambria Math"/>
                <a:sym typeface="Symbol"/>
              </a:rPr>
              <a:t>Kleene</a:t>
            </a:r>
            <a:r>
              <a:rPr lang="en-US" sz="1600" dirty="0">
                <a:ea typeface="Cambria Math"/>
                <a:sym typeface="Symbol"/>
              </a:rPr>
              <a:t> closure of the set represented by </a:t>
            </a:r>
            <a:r>
              <a:rPr lang="en-US" sz="1600" b="1" dirty="0">
                <a:ea typeface="Cambria Math"/>
                <a:sym typeface="Symbol"/>
              </a:rPr>
              <a:t>A</a:t>
            </a:r>
            <a:r>
              <a:rPr lang="en-US" sz="1600" dirty="0">
                <a:ea typeface="Cambria Math"/>
                <a:sym typeface="Symbol"/>
              </a:rPr>
              <a:t>.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70192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2BD1-9299-E855-62D8-E4B94B7B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9D039D2-7DEF-E15B-3C5E-7F7F5E54C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4757"/>
            <a:ext cx="7162799" cy="26710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3276F32-AB29-5B6C-0DB3-066BDFDD2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925800"/>
            <a:ext cx="7162800" cy="352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13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49CF5A-E6FE-E023-FCF1-A62355D4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6330"/>
            <a:ext cx="9144000" cy="16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952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What are the strings in the regular sets specified by the regular expressions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10*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(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*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0 </a:t>
            </a:r>
            <a:r>
              <a:rPr lang="en-US" dirty="0">
                <a:latin typeface="Cambria Math"/>
                <a:ea typeface="Cambria Math"/>
              </a:rPr>
              <a:t>∪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01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dirty="0">
                <a:latin typeface="Cambria Math"/>
                <a:ea typeface="Cambria Math"/>
              </a:rPr>
              <a:t>∪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*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and (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0*1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*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?</a:t>
            </a:r>
          </a:p>
          <a:p>
            <a:pPr indent="0">
              <a:buNone/>
            </a:pPr>
            <a:r>
              <a:rPr lang="en-US" b="1" dirty="0"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</a:t>
            </a:r>
          </a:p>
          <a:p>
            <a:pPr indent="0"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57600"/>
            <a:ext cx="3659124" cy="143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65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47F8-98EF-4DB1-6053-3BD10805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32EA99-D67D-C4AF-FFB2-21264819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7315200" cy="53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575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Finite-State Automata, Regular Sets, and Regular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038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1956</a:t>
            </a:r>
            <a:r>
              <a:rPr lang="en-US" dirty="0"/>
              <a:t> </a:t>
            </a:r>
            <a:r>
              <a:rPr lang="en-US" dirty="0" err="1"/>
              <a:t>Kleene</a:t>
            </a:r>
            <a:r>
              <a:rPr lang="en-US" dirty="0"/>
              <a:t> established the connection between regular sets and sets recognized by a FSA.</a:t>
            </a:r>
          </a:p>
          <a:p>
            <a:pPr lvl="1"/>
            <a:r>
              <a:rPr lang="en-US" dirty="0"/>
              <a:t>He showed that a set is regular if and only if it is recognized by a FSA.   This result is known as </a:t>
            </a:r>
            <a:r>
              <a:rPr lang="en-US" i="1" dirty="0" err="1"/>
              <a:t>Kleene's</a:t>
            </a:r>
            <a:r>
              <a:rPr lang="en-US" i="1" dirty="0"/>
              <a:t> theorem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See the text for the lengthy proof of this theorem.</a:t>
            </a:r>
          </a:p>
          <a:p>
            <a:r>
              <a:rPr lang="en-US" dirty="0"/>
              <a:t>There is a close connection between regular grammars and regular sets.</a:t>
            </a:r>
          </a:p>
          <a:p>
            <a:pPr lvl="1"/>
            <a:r>
              <a:rPr lang="en-US" dirty="0"/>
              <a:t>Specifically, a set is generated by a regular grammar if and only if it is a regular set.</a:t>
            </a:r>
          </a:p>
          <a:p>
            <a:pPr lvl="1"/>
            <a:r>
              <a:rPr lang="en-US" dirty="0"/>
              <a:t>See the text for a proof.</a:t>
            </a:r>
          </a:p>
          <a:p>
            <a:pPr lvl="1"/>
            <a:r>
              <a:rPr lang="en-US" dirty="0"/>
              <a:t>We will give an example of a set that is not regular later in this section by finding a set that is not recognized by an FSA.</a:t>
            </a:r>
          </a:p>
        </p:txBody>
      </p:sp>
    </p:spTree>
    <p:extLst>
      <p:ext uri="{BB962C8B-B14F-4D97-AF65-F5344CB8AC3E}">
        <p14:creationId xmlns:p14="http://schemas.microsoft.com/office/powerpoint/2010/main" val="34622097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4BBE-2BF6-56F8-8D73-A8076953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633E99-AE67-9869-38B6-C4CC4C507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0439"/>
            <a:ext cx="9144000" cy="371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031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Set Not Recognized by a FSA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set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…} of all strings consisting of a block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 followed by a block of an equal number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s is not regular.</a:t>
            </a:r>
          </a:p>
          <a:p>
            <a:r>
              <a:rPr lang="en-US" dirty="0"/>
              <a:t>To show that this set is not regular, suppose that this set was regular. Then there would be a NDFSA </a:t>
            </a:r>
            <a:r>
              <a:rPr lang="en-US" i="1" dirty="0"/>
              <a:t>M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) recognizing it. </a:t>
            </a:r>
          </a:p>
          <a:p>
            <a:r>
              <a:rPr lang="en-US" dirty="0"/>
              <a:t>Let </a:t>
            </a:r>
            <a:r>
              <a:rPr lang="en-US" i="1" dirty="0"/>
              <a:t>N</a:t>
            </a:r>
            <a:r>
              <a:rPr lang="en-US" dirty="0"/>
              <a:t> be the number of states in this machine, i.e., </a:t>
            </a:r>
            <a:r>
              <a:rPr lang="en-US" i="1" dirty="0"/>
              <a:t>N</a:t>
            </a:r>
            <a:r>
              <a:rPr lang="en-US" dirty="0"/>
              <a:t> = |</a:t>
            </a:r>
            <a:r>
              <a:rPr lang="en-US" i="1" dirty="0"/>
              <a:t>S</a:t>
            </a:r>
            <a:r>
              <a:rPr lang="en-US" dirty="0"/>
              <a:t>|. </a:t>
            </a:r>
          </a:p>
          <a:p>
            <a:r>
              <a:rPr lang="en-US" i="1" dirty="0"/>
              <a:t>M</a:t>
            </a:r>
            <a:r>
              <a:rPr lang="en-US" dirty="0"/>
              <a:t> must recognize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since it is made up of  a block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 followed by a block of an equal number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s. </a:t>
            </a:r>
          </a:p>
          <a:p>
            <a:r>
              <a:rPr lang="en-US" dirty="0"/>
              <a:t>Let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,…,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dirty="0"/>
              <a:t> be the sequence of states obtained starting at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and using the symbols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as input. So,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), …, 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s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-1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i="1" dirty="0"/>
              <a:t>          s</a:t>
            </a:r>
            <a:r>
              <a:rPr lang="en-US" i="1" baseline="-25000" dirty="0"/>
              <a:t>N+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), …,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aseline="-25000" dirty="0">
                <a:ea typeface="Cambria Math" pitchFamily="18" charset="0"/>
              </a:rPr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-1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), and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-25000" dirty="0">
                <a:ea typeface="Cambria Math" pitchFamily="18" charset="0"/>
              </a:rPr>
              <a:t>N  </a:t>
            </a:r>
            <a:r>
              <a:rPr lang="en-US" dirty="0">
                <a:ea typeface="Cambria Math" pitchFamily="18" charset="0"/>
              </a:rPr>
              <a:t>is a final state.</a:t>
            </a:r>
          </a:p>
          <a:p>
            <a:r>
              <a:rPr lang="en-US" dirty="0">
                <a:ea typeface="Cambria Math" pitchFamily="18" charset="0"/>
              </a:rPr>
              <a:t>Because there are only </a:t>
            </a:r>
            <a:r>
              <a:rPr lang="en-US" i="1" dirty="0">
                <a:ea typeface="Cambria Math" pitchFamily="18" charset="0"/>
              </a:rPr>
              <a:t>N</a:t>
            </a:r>
            <a:r>
              <a:rPr lang="en-US" dirty="0">
                <a:ea typeface="Cambria Math" pitchFamily="18" charset="0"/>
              </a:rPr>
              <a:t> states, by the pigeonhole principle at least two of the first </a:t>
            </a:r>
            <a:r>
              <a:rPr lang="en-US" i="1" dirty="0">
                <a:ea typeface="Cambria Math" pitchFamily="18" charset="0"/>
              </a:rPr>
              <a:t>N</a:t>
            </a:r>
            <a:r>
              <a:rPr lang="en-US" dirty="0">
                <a:ea typeface="Cambria Math" pitchFamily="18" charset="0"/>
              </a:rPr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 states 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,…,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N</a:t>
            </a:r>
            <a:r>
              <a:rPr lang="en-US" i="1" baseline="-25000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 must be the same.</a:t>
            </a:r>
          </a:p>
          <a:p>
            <a:r>
              <a:rPr lang="en-US" dirty="0">
                <a:ea typeface="Cambria Math" pitchFamily="18" charset="0"/>
              </a:rPr>
              <a:t>Suppose that 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i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j</a:t>
            </a:r>
            <a:r>
              <a:rPr lang="en-US" dirty="0"/>
              <a:t>  are identical states with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≤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&lt;</a:t>
            </a:r>
            <a:r>
              <a:rPr lang="en-US" i="1" dirty="0"/>
              <a:t> j </a:t>
            </a:r>
            <a:r>
              <a:rPr lang="en-US" dirty="0"/>
              <a:t>≤</a:t>
            </a:r>
            <a:r>
              <a:rPr lang="en-US" i="1" dirty="0"/>
              <a:t> N</a:t>
            </a:r>
            <a:r>
              <a:rPr lang="en-US" dirty="0"/>
              <a:t>. This means that         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i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>
                <a:ea typeface="Cambria Math" pitchFamily="18" charset="0"/>
              </a:rPr>
              <a:t>t</a:t>
            </a:r>
            <a:r>
              <a:rPr lang="en-US" dirty="0">
                <a:ea typeface="Cambria Math" pitchFamily="18" charset="0"/>
              </a:rPr>
              <a:t>)= 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j</a:t>
            </a:r>
            <a:r>
              <a:rPr lang="en-US" dirty="0"/>
              <a:t>, where </a:t>
            </a:r>
            <a:r>
              <a:rPr lang="en-US" i="1" dirty="0"/>
              <a:t>t</a:t>
            </a:r>
            <a:r>
              <a:rPr lang="en-US" dirty="0"/>
              <a:t> = </a:t>
            </a:r>
            <a:r>
              <a:rPr lang="en-US" i="1" dirty="0"/>
              <a:t>j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dirty="0"/>
              <a:t>. Hence, there is a loop leading from </a:t>
            </a:r>
            <a:r>
              <a:rPr lang="en-US" i="1" dirty="0" err="1"/>
              <a:t>s</a:t>
            </a:r>
            <a:r>
              <a:rPr lang="en-US" i="1" baseline="-25000" dirty="0" err="1">
                <a:ea typeface="Cambria Math" pitchFamily="18" charset="0"/>
              </a:rPr>
              <a:t>i</a:t>
            </a:r>
            <a:r>
              <a:rPr lang="en-US" i="1" baseline="-25000" dirty="0"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back to itself, using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ea typeface="Cambria Math" pitchFamily="18" charset="0"/>
              </a:rPr>
              <a:t> a total of </a:t>
            </a:r>
            <a:r>
              <a:rPr lang="en-US" i="1" dirty="0">
                <a:ea typeface="Cambria Math" pitchFamily="18" charset="0"/>
              </a:rPr>
              <a:t>t</a:t>
            </a:r>
            <a:r>
              <a:rPr lang="en-US" dirty="0">
                <a:ea typeface="Cambria Math" pitchFamily="18" charset="0"/>
              </a:rPr>
              <a:t> times.</a:t>
            </a:r>
          </a:p>
          <a:p>
            <a:pPr marL="0" indent="0">
              <a:buNone/>
            </a:pPr>
            <a:r>
              <a:rPr lang="en-US" i="1" dirty="0">
                <a:ea typeface="Cambria Math" pitchFamily="18" charset="0"/>
              </a:rPr>
              <a:t>                                                                                                             continued</a:t>
            </a:r>
          </a:p>
          <a:p>
            <a:pPr marL="0"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257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Set Not Recognized by a FSA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marL="0"/>
            <a:r>
              <a:rPr lang="en-US" dirty="0">
                <a:ea typeface="Cambria Math" pitchFamily="18" charset="0"/>
              </a:rPr>
              <a:t>Now consider the input string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t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N+t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i="1" dirty="0"/>
              <a:t> . </a:t>
            </a:r>
            <a:r>
              <a:rPr lang="en-US" dirty="0"/>
              <a:t>The string is not of the correct form and so, it is not recognized by </a:t>
            </a:r>
            <a:r>
              <a:rPr lang="en-US" i="1" dirty="0"/>
              <a:t>M</a:t>
            </a:r>
            <a:r>
              <a:rPr lang="en-US" dirty="0"/>
              <a:t>.</a:t>
            </a:r>
          </a:p>
          <a:p>
            <a:pPr marL="0"/>
            <a:r>
              <a:rPr lang="en-US" dirty="0"/>
              <a:t>Consequently, </a:t>
            </a:r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</a:t>
            </a:r>
            <a:r>
              <a:rPr lang="en-US" dirty="0"/>
              <a:t>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>
                <a:ea typeface="Cambria Math" pitchFamily="18" charset="0"/>
              </a:rPr>
              <a:t>N+t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>
                <a:ea typeface="Cambria Math" pitchFamily="18" charset="0"/>
              </a:rPr>
              <a:t>N</a:t>
            </a:r>
            <a:r>
              <a:rPr lang="en-US" dirty="0">
                <a:ea typeface="Cambria Math" pitchFamily="18" charset="0"/>
              </a:rPr>
              <a:t>) can not be a final state. </a:t>
            </a:r>
          </a:p>
          <a:p>
            <a:pPr marL="0"/>
            <a:r>
              <a:rPr lang="en-US" dirty="0">
                <a:ea typeface="Cambria Math" pitchFamily="18" charset="0"/>
              </a:rPr>
              <a:t>However, when we use the string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N+t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as input, we end up in the same state as before, namely,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-25000" dirty="0">
                <a:ea typeface="Cambria Math" pitchFamily="18" charset="0"/>
              </a:rPr>
              <a:t>N</a:t>
            </a:r>
            <a:r>
              <a:rPr lang="en-US" dirty="0"/>
              <a:t>. The reason is that we go through the loop one more time. </a:t>
            </a:r>
          </a:p>
          <a:p>
            <a:pPr marL="0"/>
            <a:r>
              <a:rPr lang="en-US" dirty="0"/>
              <a:t>This contradiction shows that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…} is not regular.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983" y="2133600"/>
            <a:ext cx="4802886" cy="16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709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4D1A-0A91-7714-667C-C4396CD3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890C899-2F83-B241-B3B9-B6EF4CE62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"/>
            <a:ext cx="8001000" cy="38765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5D6F5E0-6469-2873-357E-54B2B805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43413"/>
            <a:ext cx="7010400" cy="271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984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AD8429-FCD0-04D8-81C6-8CA40325D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7924800" cy="44149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28651C-571B-587B-83DA-CF2AF346B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953000"/>
            <a:ext cx="7848600" cy="13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706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Powerful Types of Machines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main limitation of finite-state automata is their finite amount of memory. This has led to the development of more powerful types of machines.</a:t>
            </a:r>
          </a:p>
          <a:p>
            <a:pPr lvl="1"/>
            <a:r>
              <a:rPr lang="en-US" i="1" dirty="0"/>
              <a:t>Pushdown Automaton </a:t>
            </a:r>
            <a:r>
              <a:rPr lang="en-US" dirty="0"/>
              <a:t>(</a:t>
            </a:r>
            <a:r>
              <a:rPr lang="en-US" i="1" dirty="0"/>
              <a:t>PDA</a:t>
            </a:r>
            <a:r>
              <a:rPr lang="en-US" dirty="0"/>
              <a:t>): includes a stack, which provides unlimited memory. We can use a PDA to recognize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…}, but no PDA recognizes the set 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…}.</a:t>
            </a:r>
          </a:p>
          <a:p>
            <a:pPr lvl="1"/>
            <a:r>
              <a:rPr lang="en-US" i="1" dirty="0"/>
              <a:t>Linear Bounded Automaton </a:t>
            </a:r>
            <a:r>
              <a:rPr lang="en-US" dirty="0"/>
              <a:t>(</a:t>
            </a:r>
            <a:r>
              <a:rPr lang="en-US" i="1" dirty="0"/>
              <a:t>LBA</a:t>
            </a:r>
            <a:r>
              <a:rPr lang="en-US" dirty="0"/>
              <a:t>): More powerful than pushdown automata. We can use a LBA to  recognize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…}, but there are languages generated by phrase-structure grammars that cannot be recognized by a LBA.</a:t>
            </a:r>
          </a:p>
          <a:p>
            <a:pPr lvl="1"/>
            <a:r>
              <a:rPr lang="en-US" i="1" dirty="0"/>
              <a:t>Turing Machine </a:t>
            </a:r>
            <a:r>
              <a:rPr lang="en-US" dirty="0"/>
              <a:t>(</a:t>
            </a:r>
            <a:r>
              <a:rPr lang="en-US" i="1" dirty="0"/>
              <a:t>TM</a:t>
            </a:r>
            <a:r>
              <a:rPr lang="en-US" dirty="0"/>
              <a:t>): Yet more powerful machines (to be studied in the next section) which can recognize all languages generated by phrase-structure grammars.</a:t>
            </a:r>
          </a:p>
        </p:txBody>
      </p:sp>
    </p:spTree>
    <p:extLst>
      <p:ext uri="{BB962C8B-B14F-4D97-AF65-F5344CB8AC3E}">
        <p14:creationId xmlns:p14="http://schemas.microsoft.com/office/powerpoint/2010/main" val="17295356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5172-29C2-20BD-6D53-7B47257D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9FE60F-51F8-0945-F6F6-60476F37E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76400"/>
            <a:ext cx="8305800" cy="268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717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Turing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13.5</a:t>
            </a:r>
          </a:p>
        </p:txBody>
      </p:sp>
    </p:spTree>
    <p:extLst>
      <p:ext uri="{BB962C8B-B14F-4D97-AF65-F5344CB8AC3E}">
        <p14:creationId xmlns:p14="http://schemas.microsoft.com/office/powerpoint/2010/main" val="35279691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of Turing Machines</a:t>
            </a:r>
          </a:p>
          <a:p>
            <a:r>
              <a:rPr lang="en-US" dirty="0"/>
              <a:t>Using Turing Machines to Recognize Sets</a:t>
            </a:r>
          </a:p>
          <a:p>
            <a:r>
              <a:rPr lang="en-US" dirty="0"/>
              <a:t>Computing Functions with Turing Machines </a:t>
            </a:r>
          </a:p>
          <a:p>
            <a:r>
              <a:rPr lang="en-US" dirty="0"/>
              <a:t>Different Types of  Turing Machines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/>
              <a:t>The Church-Turing Thesis</a:t>
            </a:r>
          </a:p>
          <a:p>
            <a:r>
              <a:rPr lang="en-US" dirty="0"/>
              <a:t>Computational Complexity, Computability, and Decidability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0535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CF87C-94D0-2CBE-6D33-18F56A8D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7F937F-728F-F4D0-00A8-21E1538DD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5338762" cy="340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799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Informally, a Turing machine consists of a </a:t>
            </a:r>
            <a:r>
              <a:rPr lang="en-US" i="1" dirty="0"/>
              <a:t>control unit</a:t>
            </a:r>
            <a:r>
              <a:rPr lang="en-US" dirty="0"/>
              <a:t>, which at any step is in one of finitely many different states, together with a </a:t>
            </a:r>
            <a:r>
              <a:rPr lang="en-US" i="1" dirty="0"/>
              <a:t>tape,</a:t>
            </a:r>
            <a:r>
              <a:rPr lang="en-US" dirty="0"/>
              <a:t> infinite in both directions,  which is divided into </a:t>
            </a:r>
            <a:r>
              <a:rPr lang="en-US" i="1" dirty="0"/>
              <a:t>cells</a:t>
            </a:r>
            <a:r>
              <a:rPr lang="en-US" dirty="0"/>
              <a:t>. </a:t>
            </a:r>
          </a:p>
          <a:p>
            <a:r>
              <a:rPr lang="en-US" dirty="0"/>
              <a:t>Turing machines have read and write capabilities on the tape as the control unit moves back and forth along this tape, changing states depending on the tape symbol read. </a:t>
            </a:r>
          </a:p>
          <a:p>
            <a:r>
              <a:rPr lang="en-US" dirty="0"/>
              <a:t>Turing machines are more powerful than finite-state machines because they include additional memory capability. </a:t>
            </a:r>
          </a:p>
          <a:p>
            <a:r>
              <a:rPr lang="en-US" dirty="0"/>
              <a:t>Turing machines are the most general models  of computation; essentially they can do whatever a computer can do.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316" y="152400"/>
            <a:ext cx="893064" cy="103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8200" y="347394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Alan </a:t>
            </a:r>
            <a:r>
              <a:rPr lang="en-US" dirty="0" err="1"/>
              <a:t>Mathison</a:t>
            </a:r>
            <a:r>
              <a:rPr lang="en-US" dirty="0"/>
              <a:t> Turing</a:t>
            </a:r>
          </a:p>
          <a:p>
            <a:r>
              <a:rPr lang="en-US" dirty="0"/>
              <a:t>     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1912-1954</a:t>
            </a:r>
            <a:r>
              <a:rPr lang="en-US" dirty="0"/>
              <a:t>)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257800"/>
            <a:ext cx="4329684" cy="120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795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19CB-556B-4DE1-B646-56B274FB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F14CDB-C884-676A-03D6-6D85B42AD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655"/>
            <a:ext cx="9144000" cy="35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3926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 of Turing Machines (TM)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153400" cy="44196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Turing machine T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) consists of </a:t>
            </a:r>
          </a:p>
          <a:p>
            <a:pPr lvl="1"/>
            <a:r>
              <a:rPr lang="en-US" dirty="0"/>
              <a:t>a finite set </a:t>
            </a:r>
            <a:r>
              <a:rPr lang="en-US" i="1" dirty="0"/>
              <a:t>S</a:t>
            </a:r>
            <a:r>
              <a:rPr lang="en-US" dirty="0"/>
              <a:t> of states, </a:t>
            </a:r>
          </a:p>
          <a:p>
            <a:pPr lvl="1"/>
            <a:r>
              <a:rPr lang="en-US" dirty="0"/>
              <a:t>an alphabet </a:t>
            </a:r>
            <a:r>
              <a:rPr lang="en-US" i="1" dirty="0"/>
              <a:t>I</a:t>
            </a:r>
            <a:r>
              <a:rPr lang="en-US" dirty="0"/>
              <a:t> containing the blank symbol </a:t>
            </a:r>
            <a:r>
              <a:rPr lang="en-US" i="1" dirty="0"/>
              <a:t>B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 partial function </a:t>
            </a:r>
            <a:r>
              <a:rPr lang="en-US" i="1" dirty="0"/>
              <a:t>f</a:t>
            </a:r>
            <a:r>
              <a:rPr lang="en-US" dirty="0"/>
              <a:t> from </a:t>
            </a:r>
            <a:r>
              <a:rPr lang="en-US" i="1" dirty="0"/>
              <a:t>S</a:t>
            </a:r>
            <a:r>
              <a:rPr lang="en-US" dirty="0"/>
              <a:t> × </a:t>
            </a:r>
            <a:r>
              <a:rPr lang="en-US" i="1" dirty="0"/>
              <a:t>I</a:t>
            </a:r>
            <a:r>
              <a:rPr lang="en-US" dirty="0"/>
              <a:t> to  </a:t>
            </a:r>
            <a:r>
              <a:rPr lang="en-US" i="1" dirty="0"/>
              <a:t>S</a:t>
            </a:r>
            <a:r>
              <a:rPr lang="en-US" dirty="0"/>
              <a:t> × </a:t>
            </a:r>
            <a:r>
              <a:rPr lang="en-US" i="1" dirty="0"/>
              <a:t>I</a:t>
            </a:r>
            <a:r>
              <a:rPr lang="en-US" dirty="0"/>
              <a:t> ×{</a:t>
            </a:r>
            <a:r>
              <a:rPr lang="en-US" i="1" dirty="0"/>
              <a:t>R</a:t>
            </a:r>
            <a:r>
              <a:rPr lang="en-US" dirty="0"/>
              <a:t>,</a:t>
            </a:r>
            <a:r>
              <a:rPr lang="en-US" i="1" dirty="0"/>
              <a:t>L</a:t>
            </a:r>
            <a:r>
              <a:rPr lang="en-US" dirty="0"/>
              <a:t>}, and </a:t>
            </a:r>
          </a:p>
          <a:p>
            <a:pPr lvl="1"/>
            <a:r>
              <a:rPr lang="en-US" dirty="0"/>
              <a:t>a starting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</a:t>
            </a:r>
          </a:p>
          <a:p>
            <a:r>
              <a:rPr lang="en-US" dirty="0"/>
              <a:t>For some (state, symbol) pairs the partial function </a:t>
            </a:r>
            <a:r>
              <a:rPr lang="en-US" i="1" dirty="0"/>
              <a:t>f</a:t>
            </a:r>
            <a:r>
              <a:rPr lang="en-US" dirty="0"/>
              <a:t> may be undefined, but for a pair for which it is defined, there is a unique (state, symbol, direction) triple associated to this pair. </a:t>
            </a:r>
          </a:p>
          <a:p>
            <a:r>
              <a:rPr lang="en-US" dirty="0"/>
              <a:t>The five-tuples corresponding to the partial function in the definition of a TM are called the </a:t>
            </a:r>
            <a:r>
              <a:rPr lang="en-US" i="1" dirty="0"/>
              <a:t>transition rules </a:t>
            </a:r>
            <a:r>
              <a:rPr lang="en-US" dirty="0"/>
              <a:t>of the machine.</a:t>
            </a:r>
          </a:p>
          <a:p>
            <a:r>
              <a:rPr lang="en-US" dirty="0"/>
              <a:t>At each step, the control unit reads the current tape symbol </a:t>
            </a:r>
            <a:r>
              <a:rPr lang="en-US" i="1" dirty="0"/>
              <a:t>x</a:t>
            </a:r>
            <a:r>
              <a:rPr lang="en-US" dirty="0"/>
              <a:t>. If the control unit is in state </a:t>
            </a:r>
            <a:r>
              <a:rPr lang="en-US" i="1" dirty="0"/>
              <a:t>s</a:t>
            </a:r>
            <a:r>
              <a:rPr lang="en-US" dirty="0"/>
              <a:t> and if the partial function </a:t>
            </a:r>
            <a:r>
              <a:rPr lang="en-US" i="1" dirty="0"/>
              <a:t>f</a:t>
            </a:r>
            <a:r>
              <a:rPr lang="en-US" dirty="0"/>
              <a:t> is defined for the pair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) with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) = (</a:t>
            </a:r>
            <a:r>
              <a:rPr lang="en-US" i="1" dirty="0"/>
              <a:t>s</a:t>
            </a:r>
            <a:r>
              <a:rPr lang="en-US" i="1" dirty="0">
                <a:ea typeface="Cambria Math"/>
              </a:rPr>
              <a:t>′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>
                <a:ea typeface="Cambria Math"/>
              </a:rPr>
              <a:t>′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), the control unit:</a:t>
            </a:r>
          </a:p>
          <a:p>
            <a:pPr lvl="1"/>
            <a:r>
              <a:rPr lang="en-US" dirty="0"/>
              <a:t>enters the state </a:t>
            </a:r>
            <a:r>
              <a:rPr lang="en-US" i="1" dirty="0"/>
              <a:t>s</a:t>
            </a:r>
            <a:r>
              <a:rPr lang="en-US" dirty="0">
                <a:latin typeface="Cambria Math"/>
                <a:ea typeface="Cambria Math"/>
              </a:rPr>
              <a:t>′,</a:t>
            </a:r>
            <a:endParaRPr lang="en-US" dirty="0"/>
          </a:p>
          <a:p>
            <a:pPr lvl="1"/>
            <a:r>
              <a:rPr lang="en-US" dirty="0"/>
              <a:t>writes the symbol </a:t>
            </a:r>
            <a:r>
              <a:rPr lang="en-US" i="1" dirty="0"/>
              <a:t>x</a:t>
            </a:r>
            <a:r>
              <a:rPr lang="en-US" dirty="0">
                <a:latin typeface="Cambria Math"/>
                <a:ea typeface="Cambria Math"/>
              </a:rPr>
              <a:t>′</a:t>
            </a:r>
            <a:r>
              <a:rPr lang="en-US" dirty="0"/>
              <a:t> in the current cell, erasing </a:t>
            </a:r>
            <a:r>
              <a:rPr lang="en-US" i="1" dirty="0"/>
              <a:t>x</a:t>
            </a:r>
            <a:r>
              <a:rPr lang="en-US" dirty="0"/>
              <a:t>, and</a:t>
            </a:r>
          </a:p>
          <a:p>
            <a:pPr lvl="1"/>
            <a:r>
              <a:rPr lang="en-US" dirty="0"/>
              <a:t>moves right one cell if </a:t>
            </a:r>
            <a:r>
              <a:rPr lang="en-US" i="1" dirty="0"/>
              <a:t>d</a:t>
            </a:r>
            <a:r>
              <a:rPr lang="en-US" dirty="0"/>
              <a:t> = </a:t>
            </a:r>
            <a:r>
              <a:rPr lang="en-US" i="1" dirty="0"/>
              <a:t>R</a:t>
            </a:r>
            <a:r>
              <a:rPr lang="en-US" dirty="0"/>
              <a:t> or moves left one cell if </a:t>
            </a:r>
            <a:r>
              <a:rPr lang="en-US" i="1" dirty="0"/>
              <a:t>d</a:t>
            </a:r>
            <a:r>
              <a:rPr lang="en-US" dirty="0"/>
              <a:t> = </a:t>
            </a:r>
            <a:r>
              <a:rPr lang="en-US" i="1" dirty="0"/>
              <a:t>L</a:t>
            </a:r>
            <a:r>
              <a:rPr lang="en-US" dirty="0"/>
              <a:t>.</a:t>
            </a:r>
          </a:p>
          <a:p>
            <a:r>
              <a:rPr lang="en-US" dirty="0"/>
              <a:t>This step is written as the five-tuple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dirty="0">
                <a:latin typeface="Cambria Math"/>
                <a:ea typeface="Cambria Math"/>
              </a:rPr>
              <a:t>′, </a:t>
            </a:r>
            <a:r>
              <a:rPr lang="en-US" i="1" dirty="0"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′, </a:t>
            </a:r>
            <a:r>
              <a:rPr lang="en-US" i="1" dirty="0">
                <a:ea typeface="Cambria Math"/>
              </a:rPr>
              <a:t>d</a:t>
            </a:r>
            <a:r>
              <a:rPr lang="en-US" dirty="0">
                <a:latin typeface="Cambria Math"/>
                <a:ea typeface="Cambria Math"/>
              </a:rPr>
              <a:t>).  Turing machines are defined by specifying a set of such five-tuples. If the partial function </a:t>
            </a:r>
            <a:r>
              <a:rPr lang="en-US" i="1" dirty="0">
                <a:ea typeface="Cambria Math"/>
              </a:rPr>
              <a:t>f</a:t>
            </a:r>
            <a:r>
              <a:rPr lang="en-US" dirty="0">
                <a:latin typeface="Cambria Math"/>
                <a:ea typeface="Cambria Math"/>
              </a:rPr>
              <a:t> is undefined for the pair (</a:t>
            </a:r>
            <a:r>
              <a:rPr lang="en-US" i="1" dirty="0">
                <a:ea typeface="Cambria Math"/>
              </a:rPr>
              <a:t>s</a:t>
            </a:r>
            <a:r>
              <a:rPr lang="en-US" dirty="0">
                <a:latin typeface="Cambria Math"/>
                <a:ea typeface="Cambria Math"/>
              </a:rPr>
              <a:t>, </a:t>
            </a:r>
            <a:r>
              <a:rPr lang="en-US" i="1" dirty="0"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) then </a:t>
            </a:r>
            <a:r>
              <a:rPr lang="en-US" i="1" dirty="0">
                <a:ea typeface="Cambria Math"/>
              </a:rPr>
              <a:t>T</a:t>
            </a:r>
            <a:r>
              <a:rPr lang="en-US" dirty="0">
                <a:latin typeface="Cambria Math"/>
                <a:ea typeface="Cambria Math"/>
              </a:rPr>
              <a:t>  will </a:t>
            </a:r>
            <a:r>
              <a:rPr lang="en-US" i="1" dirty="0">
                <a:latin typeface="Cambria Math"/>
                <a:ea typeface="Cambria Math"/>
              </a:rPr>
              <a:t>halt</a:t>
            </a:r>
            <a:r>
              <a:rPr lang="en-US" dirty="0">
                <a:latin typeface="Cambria Math"/>
                <a:ea typeface="Cambria Math"/>
              </a:rPr>
              <a:t>.  </a:t>
            </a:r>
          </a:p>
          <a:p>
            <a:r>
              <a:rPr lang="en-US" dirty="0">
                <a:ea typeface="Cambria Math"/>
              </a:rPr>
              <a:t>At the beginning of its operation a TM is assumed to be in the initial state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 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to be positioned over the leftmost nonblank symbol on the tape. This is the </a:t>
            </a:r>
            <a:r>
              <a:rPr lang="en-US" i="1" dirty="0">
                <a:ea typeface="Cambria Math" pitchFamily="18" charset="0"/>
              </a:rPr>
              <a:t>initial positio</a:t>
            </a:r>
            <a:r>
              <a:rPr lang="en-US" dirty="0">
                <a:ea typeface="Cambria Math" pitchFamily="18" charset="0"/>
              </a:rPr>
              <a:t>n of the machine.</a:t>
            </a:r>
          </a:p>
          <a:p>
            <a:pPr marL="0" indent="0">
              <a:buNone/>
            </a:pPr>
            <a:endParaRPr lang="en-US" dirty="0">
              <a:ea typeface="Cambria Math" pitchFamily="18" charset="0"/>
            </a:endParaRPr>
          </a:p>
          <a:p>
            <a:pPr marL="0" indent="0">
              <a:buNone/>
            </a:pPr>
            <a:endParaRPr lang="en-US" dirty="0">
              <a:ea typeface="Cambria Math" pitchFamily="18" charset="0"/>
            </a:endParaRPr>
          </a:p>
          <a:p>
            <a:pPr marL="0"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079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16F1-791C-AF50-B7CD-3E97E121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902F994B-DF07-1669-7ED3-A50BBC016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808562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283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F3800-3CCB-C775-0EC3-FB4C6732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文本, 电子邮件&#10;&#10;AI 生成的内容可能不正确。">
            <a:extLst>
              <a:ext uri="{FF2B5EF4-FFF2-40B4-BE49-F238E27FC236}">
                <a16:creationId xmlns:a16="http://schemas.microsoft.com/office/drawing/2014/main" id="{32980060-BC24-6400-71E8-32FBA91A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760659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75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TM in Operation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35480"/>
            <a:ext cx="4267200" cy="4389120"/>
          </a:xfrm>
        </p:spPr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What is the final tape when the TM </a:t>
            </a:r>
            <a:r>
              <a:rPr lang="en-US" i="1" dirty="0"/>
              <a:t>T</a:t>
            </a:r>
            <a:r>
              <a:rPr lang="en-US" dirty="0"/>
              <a:t> defined by the seven five-tuples           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/>
              <a:t>s</a:t>
            </a:r>
            <a:r>
              <a:rPr lang="en-US" baseline="-2500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>
                <a:latin typeface="Cambria Math" pitchFamily="18" charset="0"/>
                <a:ea typeface="Cambria Math" pitchFamily="18" charset="0"/>
              </a:rPr>
              <a:t>, 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 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>
                <a:ea typeface="Cambria Math" pitchFamily="18" charset="0"/>
              </a:rPr>
              <a:t> 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>
                <a:ea typeface="Cambria Math" pitchFamily="18" charset="0"/>
              </a:rPr>
              <a:t> 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>
                <a:ea typeface="Cambria Math" pitchFamily="18" charset="0"/>
              </a:rPr>
              <a:t> 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 and 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 is run on the tape shown here in (a)?</a:t>
            </a: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r>
              <a:rPr lang="en-US" b="1" dirty="0">
                <a:ea typeface="Cambria Math" pitchFamily="18" charset="0"/>
              </a:rPr>
              <a:t>Solution</a:t>
            </a:r>
            <a:r>
              <a:rPr lang="en-US" dirty="0">
                <a:ea typeface="Cambria Math" pitchFamily="18" charset="0"/>
              </a:rPr>
              <a:t>: The transitions of this TM are shown to the right. The final tape is shown in (g).</a:t>
            </a: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>
              <a:ea typeface="Cambria Math" pitchFamily="18" charset="0"/>
            </a:endParaRP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057400"/>
            <a:ext cx="2552227" cy="438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316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B33E-AA0C-8906-5E8F-AD03D9DA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BE559113-41CD-C809-BD9F-4196CCFA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33400"/>
            <a:ext cx="60657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921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1284-F18A-B282-C424-82C366499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A3EC5EF5-0D4D-E821-943F-31CF20E0D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99"/>
            <a:ext cx="6477000" cy="37660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F31FE6D-233E-5BF9-5E6B-00B687DB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5" y="3962400"/>
            <a:ext cx="6219497" cy="670640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E00656B-C3B8-1C22-736D-4F2095F507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97" y="685800"/>
            <a:ext cx="2552227" cy="438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650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TM to Recognize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 </a:t>
            </a:r>
            <a:r>
              <a:rPr lang="en-US" i="1" dirty="0"/>
              <a:t>V</a:t>
            </a:r>
            <a:r>
              <a:rPr lang="en-US" dirty="0"/>
              <a:t> be a subset of an alphabet </a:t>
            </a:r>
            <a:r>
              <a:rPr lang="en-US" i="1" dirty="0"/>
              <a:t>I</a:t>
            </a:r>
            <a:r>
              <a:rPr lang="en-US" dirty="0"/>
              <a:t>. A TM </a:t>
            </a:r>
            <a:r>
              <a:rPr lang="en-US" i="1" dirty="0"/>
              <a:t>T</a:t>
            </a:r>
            <a:r>
              <a:rPr lang="en-US" dirty="0"/>
              <a:t> =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I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) </a:t>
            </a:r>
            <a:r>
              <a:rPr lang="en-US" i="1" dirty="0"/>
              <a:t>recognizes</a:t>
            </a:r>
            <a:r>
              <a:rPr lang="en-US" dirty="0"/>
              <a:t> a string </a:t>
            </a:r>
            <a:r>
              <a:rPr lang="en-US" i="1" dirty="0"/>
              <a:t>x</a:t>
            </a:r>
            <a:r>
              <a:rPr lang="en-US" dirty="0"/>
              <a:t> in </a:t>
            </a:r>
            <a:r>
              <a:rPr lang="en-US" i="1" dirty="0"/>
              <a:t>V</a:t>
            </a:r>
            <a:r>
              <a:rPr lang="en-US" dirty="0"/>
              <a:t>* if and only if </a:t>
            </a:r>
            <a:r>
              <a:rPr lang="en-US" i="1" dirty="0"/>
              <a:t>T</a:t>
            </a:r>
            <a:r>
              <a:rPr lang="en-US" dirty="0"/>
              <a:t>, starting in the initial position when </a:t>
            </a:r>
            <a:r>
              <a:rPr lang="en-US" i="1" dirty="0"/>
              <a:t>x</a:t>
            </a:r>
            <a:r>
              <a:rPr lang="en-US" dirty="0"/>
              <a:t> is written on the tape, halts in a final state. </a:t>
            </a:r>
          </a:p>
          <a:p>
            <a:r>
              <a:rPr lang="en-US" i="1" dirty="0"/>
              <a:t>T</a:t>
            </a:r>
            <a:r>
              <a:rPr lang="en-US" dirty="0"/>
              <a:t> is said to </a:t>
            </a:r>
            <a:r>
              <a:rPr lang="en-US" i="1" dirty="0"/>
              <a:t>recognize</a:t>
            </a:r>
            <a:r>
              <a:rPr lang="en-US" dirty="0"/>
              <a:t> a subset </a:t>
            </a:r>
            <a:r>
              <a:rPr lang="en-US" i="1" dirty="0"/>
              <a:t>A</a:t>
            </a:r>
            <a:r>
              <a:rPr lang="en-US" dirty="0"/>
              <a:t> of </a:t>
            </a:r>
            <a:r>
              <a:rPr lang="en-US" i="1" dirty="0"/>
              <a:t>V</a:t>
            </a:r>
            <a:r>
              <a:rPr lang="en-US" dirty="0"/>
              <a:t>* if </a:t>
            </a:r>
            <a:r>
              <a:rPr lang="en-US" i="1" dirty="0"/>
              <a:t>x</a:t>
            </a:r>
            <a:r>
              <a:rPr lang="en-US" dirty="0"/>
              <a:t> is recognized by </a:t>
            </a:r>
            <a:r>
              <a:rPr lang="en-US" i="1" dirty="0"/>
              <a:t>T</a:t>
            </a:r>
            <a:r>
              <a:rPr lang="en-US" dirty="0"/>
              <a:t> if and only if </a:t>
            </a:r>
            <a:r>
              <a:rPr lang="en-US" i="1" dirty="0"/>
              <a:t>x</a:t>
            </a:r>
            <a:r>
              <a:rPr lang="en-US" dirty="0"/>
              <a:t> belongs to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r>
              <a:rPr lang="en-US" dirty="0"/>
              <a:t>Note that to recognize a subset </a:t>
            </a:r>
            <a:r>
              <a:rPr lang="en-US" i="1" dirty="0"/>
              <a:t>A</a:t>
            </a:r>
            <a:r>
              <a:rPr lang="en-US" dirty="0"/>
              <a:t> of </a:t>
            </a:r>
            <a:r>
              <a:rPr lang="en-US" i="1" dirty="0"/>
              <a:t>V</a:t>
            </a:r>
            <a:r>
              <a:rPr lang="en-US" dirty="0"/>
              <a:t>* we can use symbols not in </a:t>
            </a:r>
            <a:r>
              <a:rPr lang="en-US" i="1" dirty="0"/>
              <a:t>V</a:t>
            </a:r>
            <a:r>
              <a:rPr lang="en-US" dirty="0"/>
              <a:t>. This means that the input alphabet </a:t>
            </a:r>
            <a:r>
              <a:rPr lang="en-US" i="1" dirty="0"/>
              <a:t>I</a:t>
            </a:r>
            <a:r>
              <a:rPr lang="en-US" dirty="0"/>
              <a:t> may include symbols not in </a:t>
            </a:r>
            <a:r>
              <a:rPr lang="en-US" i="1" dirty="0"/>
              <a:t>V</a:t>
            </a:r>
            <a:r>
              <a:rPr lang="en-US" dirty="0"/>
              <a:t>. We will see that these extra symbols are used as markers.</a:t>
            </a:r>
          </a:p>
          <a:p>
            <a:r>
              <a:rPr lang="en-US" dirty="0"/>
              <a:t>A TM operating on a tape containing the symbols of a string  </a:t>
            </a:r>
            <a:r>
              <a:rPr lang="en-US" i="1" dirty="0"/>
              <a:t>x</a:t>
            </a:r>
            <a:r>
              <a:rPr lang="en-US" dirty="0"/>
              <a:t> in consecutive cells</a:t>
            </a:r>
            <a:r>
              <a:rPr lang="en-US" i="1" dirty="0"/>
              <a:t>, </a:t>
            </a:r>
            <a:r>
              <a:rPr lang="en-US" dirty="0"/>
              <a:t>does not recognize  </a:t>
            </a:r>
            <a:r>
              <a:rPr lang="en-US" i="1" dirty="0"/>
              <a:t>x</a:t>
            </a:r>
            <a:r>
              <a:rPr lang="en-US" dirty="0"/>
              <a:t> if it does not halt or halts in a state that is not final. </a:t>
            </a:r>
          </a:p>
        </p:txBody>
      </p:sp>
    </p:spTree>
    <p:extLst>
      <p:ext uri="{BB962C8B-B14F-4D97-AF65-F5344CB8AC3E}">
        <p14:creationId xmlns:p14="http://schemas.microsoft.com/office/powerpoint/2010/main" val="12699463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1906-0821-2E82-7584-D3F68E37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84BA9B-6EA2-51F7-425D-BED4A9C95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1927"/>
            <a:ext cx="9144000" cy="345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493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TMs to Recognize Sets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13.4</a:t>
            </a:r>
            <a:r>
              <a:rPr lang="en-US" dirty="0"/>
              <a:t> we showed that there is no DFA that recognizes the set the set                   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i="1" baseline="30000" dirty="0"/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baseline="30000" dirty="0"/>
              <a:t>n</a:t>
            </a:r>
            <a:r>
              <a:rPr lang="en-US" dirty="0"/>
              <a:t> |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≥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}. We will now construct a TM that </a:t>
            </a:r>
            <a:r>
              <a:rPr lang="en-US" dirty="0" err="1"/>
              <a:t>recongizes</a:t>
            </a:r>
            <a:r>
              <a:rPr lang="en-US" dirty="0"/>
              <a:t> this set.</a:t>
            </a:r>
          </a:p>
          <a:p>
            <a:pPr lvl="1"/>
            <a:r>
              <a:rPr lang="en-US" dirty="0"/>
              <a:t>We use an auxiliary tape symbol </a:t>
            </a:r>
            <a:r>
              <a:rPr lang="en-US" i="1" dirty="0"/>
              <a:t>M</a:t>
            </a:r>
            <a:r>
              <a:rPr lang="en-US" dirty="0"/>
              <a:t> as a marker, and specify that  </a:t>
            </a:r>
            <a:r>
              <a:rPr lang="en-US" i="1" dirty="0"/>
              <a:t>V</a:t>
            </a:r>
            <a:r>
              <a:rPr lang="en-US" dirty="0"/>
              <a:t>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0, 1</a:t>
            </a:r>
            <a:r>
              <a:rPr lang="en-US" dirty="0"/>
              <a:t>} and    </a:t>
            </a:r>
            <a:r>
              <a:rPr lang="en-US" i="1" dirty="0"/>
              <a:t>I</a:t>
            </a:r>
            <a:r>
              <a:rPr lang="en-US" dirty="0"/>
              <a:t>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}. </a:t>
            </a:r>
          </a:p>
          <a:p>
            <a:pPr lvl="1"/>
            <a:r>
              <a:rPr lang="en-US" dirty="0"/>
              <a:t>Our TM has one final state,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6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The TM successively replaces a 0 at the leftmost position of the string with an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and a 1 at the rightmost position of the string with an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sweeping back and forth, terminating in a final state if and only if the string consists of a block of 0s followed by a block of the same number of 1s.</a:t>
            </a:r>
          </a:p>
          <a:p>
            <a:pPr lvl="1"/>
            <a:r>
              <a:rPr lang="en-US" dirty="0">
                <a:latin typeface="Cambria Math" pitchFamily="18" charset="0"/>
                <a:ea typeface="Cambria Math" pitchFamily="18" charset="0"/>
              </a:rPr>
              <a:t>The five-tuples are 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1,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    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0,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>
                <a:ea typeface="Cambria Math" pitchFamily="18" charset="0"/>
              </a:rPr>
              <a:t> 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),</a:t>
            </a:r>
            <a:r>
              <a:rPr lang="en-US" dirty="0"/>
              <a:t> and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>
                <a:ea typeface="Cambria Math" pitchFamily="18" charset="0"/>
              </a:rPr>
              <a:t> 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/>
              <a:t> 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).</a:t>
            </a:r>
          </a:p>
          <a:p>
            <a:r>
              <a:rPr lang="en-US" dirty="0">
                <a:ea typeface="Cambria Math" pitchFamily="18" charset="0"/>
              </a:rPr>
              <a:t>For example, the string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000111</a:t>
            </a:r>
            <a:r>
              <a:rPr lang="en-US" dirty="0"/>
              <a:t> would successively become </a:t>
            </a:r>
            <a:r>
              <a:rPr lang="en-US" i="1" dirty="0"/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00111, </a:t>
            </a:r>
            <a:r>
              <a:rPr lang="en-US" i="1" dirty="0"/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0011</a:t>
            </a:r>
            <a:r>
              <a:rPr lang="en-US" i="1" dirty="0">
                <a:ea typeface="Cambria Math" pitchFamily="18" charset="0"/>
              </a:rPr>
              <a:t>M, </a:t>
            </a:r>
            <a:r>
              <a:rPr lang="en-US" i="1" dirty="0"/>
              <a:t>M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011</a:t>
            </a:r>
            <a:r>
              <a:rPr lang="en-US" i="1" dirty="0">
                <a:ea typeface="Cambria Math" pitchFamily="18" charset="0"/>
              </a:rPr>
              <a:t>M, </a:t>
            </a:r>
            <a:r>
              <a:rPr lang="en-US" i="1" dirty="0"/>
              <a:t>M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01</a:t>
            </a:r>
            <a:r>
              <a:rPr lang="en-US" i="1" dirty="0">
                <a:ea typeface="Cambria Math" pitchFamily="18" charset="0"/>
              </a:rPr>
              <a:t>MM, </a:t>
            </a:r>
            <a:r>
              <a:rPr lang="en-US" i="1" dirty="0"/>
              <a:t>M</a:t>
            </a:r>
            <a:r>
              <a:rPr lang="en-US" i="1" dirty="0">
                <a:ea typeface="Cambria Math" pitchFamily="18" charset="0"/>
              </a:rPr>
              <a:t>MM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i="1" dirty="0">
                <a:ea typeface="Cambria Math" pitchFamily="18" charset="0"/>
              </a:rPr>
              <a:t>MM, </a:t>
            </a:r>
            <a:r>
              <a:rPr lang="en-US" i="1" dirty="0"/>
              <a:t>M</a:t>
            </a:r>
            <a:r>
              <a:rPr lang="en-US" i="1" dirty="0">
                <a:ea typeface="Cambria Math" pitchFamily="18" charset="0"/>
              </a:rPr>
              <a:t>MMMMM </a:t>
            </a:r>
            <a:r>
              <a:rPr lang="en-US" dirty="0">
                <a:ea typeface="Cambria Math" pitchFamily="18" charset="0"/>
              </a:rPr>
              <a:t>as the machine operates until it halts. </a:t>
            </a:r>
          </a:p>
          <a:p>
            <a:pPr indent="0"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endParaRPr lang="en-US" baseline="-25000" dirty="0">
              <a:latin typeface="Cambria Math" pitchFamily="18" charset="0"/>
              <a:ea typeface="Cambria Math" pitchFamily="18" charset="0"/>
            </a:endParaRPr>
          </a:p>
          <a:p>
            <a:pPr indent="0">
              <a:buNone/>
            </a:pPr>
            <a:endParaRPr lang="en-US" baseline="-25000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8406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电子邮件&#10;&#10;AI 生成的内容可能不正确。">
            <a:extLst>
              <a:ext uri="{FF2B5EF4-FFF2-40B4-BE49-F238E27FC236}">
                <a16:creationId xmlns:a16="http://schemas.microsoft.com/office/drawing/2014/main" id="{939DF203-7B3F-6E4F-1660-0DBD3E22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626"/>
            <a:ext cx="9144000" cy="578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108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AADCD2D2-700D-B922-14FA-1A1E04272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0"/>
            <a:ext cx="8305800" cy="503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44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E826E-099A-D25C-5205-DE58ED20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7E60A5-52E7-10FF-BFF6-AE2EF3452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182"/>
            <a:ext cx="9144000" cy="530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8497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Computing Functions with TMs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43891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 Turing machine can be used to compute the values of a partial function.</a:t>
            </a:r>
          </a:p>
          <a:p>
            <a:r>
              <a:rPr lang="en-US" dirty="0"/>
              <a:t>Suppose that the TM </a:t>
            </a:r>
            <a:r>
              <a:rPr lang="en-US" i="1" dirty="0"/>
              <a:t>T</a:t>
            </a:r>
            <a:r>
              <a:rPr lang="en-US" dirty="0"/>
              <a:t>, when given the string </a:t>
            </a:r>
            <a:r>
              <a:rPr lang="en-US" i="1" dirty="0"/>
              <a:t>x</a:t>
            </a:r>
            <a:r>
              <a:rPr lang="en-US" dirty="0"/>
              <a:t> as input, halts with the string </a:t>
            </a:r>
            <a:r>
              <a:rPr lang="en-US" i="1" dirty="0"/>
              <a:t>y</a:t>
            </a:r>
            <a:r>
              <a:rPr lang="en-US" dirty="0"/>
              <a:t> on its tape. We can then define 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n-US" i="1" dirty="0"/>
              <a:t>y</a:t>
            </a:r>
            <a:r>
              <a:rPr lang="en-US" dirty="0"/>
              <a:t>.</a:t>
            </a:r>
          </a:p>
          <a:p>
            <a:r>
              <a:rPr lang="en-US" dirty="0"/>
              <a:t>To consider a TM as a computer of functions from the set of </a:t>
            </a:r>
            <a:r>
              <a:rPr lang="en-US" i="1" dirty="0"/>
              <a:t>k</a:t>
            </a:r>
            <a:r>
              <a:rPr lang="en-US" dirty="0"/>
              <a:t>-tuples of nonnegative integers to the set of nonnegative integers, we use the </a:t>
            </a:r>
            <a:r>
              <a:rPr lang="en-US" i="1" dirty="0"/>
              <a:t>unary representation </a:t>
            </a:r>
            <a:r>
              <a:rPr lang="en-US" dirty="0"/>
              <a:t>of integers.</a:t>
            </a:r>
          </a:p>
          <a:p>
            <a:r>
              <a:rPr lang="en-US" dirty="0"/>
              <a:t>A nonnegative integer </a:t>
            </a:r>
            <a:r>
              <a:rPr lang="en-US" i="1" dirty="0"/>
              <a:t>n</a:t>
            </a:r>
            <a:r>
              <a:rPr lang="en-US" dirty="0"/>
              <a:t> is represented by a string of </a:t>
            </a:r>
            <a:r>
              <a:rPr lang="en-US" i="1" dirty="0"/>
              <a:t>n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s. So,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is represented by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 by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111111,</a:t>
            </a:r>
            <a:r>
              <a:rPr lang="en-US" dirty="0"/>
              <a:t>  etc.</a:t>
            </a:r>
          </a:p>
          <a:p>
            <a:r>
              <a:rPr lang="en-US" dirty="0"/>
              <a:t>To represent an input that is a </a:t>
            </a:r>
            <a:r>
              <a:rPr lang="en-US" i="1" dirty="0"/>
              <a:t>k</a:t>
            </a:r>
            <a:r>
              <a:rPr lang="en-US" dirty="0"/>
              <a:t>-tuple of integers, we represent each integer in the </a:t>
            </a:r>
            <a:r>
              <a:rPr lang="en-US" i="1" dirty="0"/>
              <a:t>k</a:t>
            </a:r>
            <a:r>
              <a:rPr lang="en-US" dirty="0"/>
              <a:t>-tuple separately and separate these representations using asterisks.  For example,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2,0,1,3</a:t>
            </a:r>
            <a:r>
              <a:rPr lang="en-US" dirty="0"/>
              <a:t>) is represented by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111*1*11*1111</a:t>
            </a:r>
            <a:r>
              <a:rPr lang="en-US" dirty="0"/>
              <a:t>. </a:t>
            </a:r>
          </a:p>
          <a:p>
            <a:r>
              <a:rPr lang="en-US" dirty="0"/>
              <a:t>Constructing a Turing machine that computes a particular function can be extremely complicated.  Fortunately, the ability of Turing machines to compute functions is of theoretical, rather than practical, interest.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15847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BF50-F954-E1A0-1BB5-3F95C266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212B60-7FFC-8B51-6D16-9B220765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641"/>
            <a:ext cx="9144000" cy="39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485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Computing Functions with TMs 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To construct a TM </a:t>
            </a:r>
            <a:r>
              <a:rPr lang="en-US" i="1" dirty="0"/>
              <a:t>T</a:t>
            </a:r>
            <a:r>
              <a:rPr lang="en-US" dirty="0"/>
              <a:t> that computes the function</a:t>
            </a:r>
            <a:r>
              <a:rPr lang="en-US" i="1" dirty="0"/>
              <a:t>                      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) = 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we first represent the pair (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) by a string of 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followed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by an asterisk, followed by 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s</a:t>
            </a:r>
            <a:r>
              <a:rPr lang="en-US" dirty="0"/>
              <a:t>. </a:t>
            </a:r>
          </a:p>
          <a:p>
            <a:r>
              <a:rPr lang="en-US" dirty="0"/>
              <a:t>The machine starts at the leftmost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of the input string,  and proceeds to erase this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r>
              <a:rPr lang="en-US" dirty="0"/>
              <a:t>If the next character is an asterisk, </a:t>
            </a:r>
            <a:r>
              <a:rPr lang="en-US" i="1" dirty="0"/>
              <a:t>n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In this case, it replaces the asterisk with a blank and halts.</a:t>
            </a:r>
          </a:p>
          <a:p>
            <a:r>
              <a:rPr lang="en-US" dirty="0"/>
              <a:t>Otherwise, it erases the next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and then passes over the remaining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s, until it comes to the asterisk. </a:t>
            </a:r>
          </a:p>
          <a:p>
            <a:r>
              <a:rPr lang="en-US" dirty="0"/>
              <a:t>The asterisk is then replaced by a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r>
              <a:rPr lang="en-US" dirty="0"/>
              <a:t>The five-tuples defining this Turing machine are: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),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/>
                <a:ea typeface="Cambria Math"/>
              </a:rPr>
              <a:t>∗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),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),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), (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latin typeface="Cambria Math"/>
                <a:ea typeface="Cambria Math"/>
              </a:rPr>
              <a:t>∗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marL="731520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744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59E7E2DC-C368-8BE7-881D-CB0B3901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6019800" cy="3004377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3FA63F5F-7C61-429D-87C5-DACEBC69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20" y="3004377"/>
            <a:ext cx="7294179" cy="30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246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D73015F6-900D-435C-E636-6AFD6E95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7700"/>
            <a:ext cx="683786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7790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8CF0-EEA2-0CDB-D496-3153A2EE0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8092BB-185C-4D01-56FE-C04FBBB2C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382000" cy="40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038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Church-Turing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Church-Turing Thesis </a:t>
            </a:r>
            <a:r>
              <a:rPr lang="en-US" dirty="0"/>
              <a:t>says that given any problem that can be solved with an effective algorithm, there is a TM that can solve this problem. </a:t>
            </a:r>
          </a:p>
          <a:p>
            <a:r>
              <a:rPr lang="en-US" dirty="0"/>
              <a:t>It is called a </a:t>
            </a:r>
            <a:r>
              <a:rPr lang="en-US" i="1" dirty="0"/>
              <a:t>thesis</a:t>
            </a:r>
            <a:r>
              <a:rPr lang="en-US" dirty="0"/>
              <a:t> rather than a theorem because the concept of solvability by an effective algorithm is informal and imprecise, as opposed to the concept of solvability by a TM, which is formal and precise.</a:t>
            </a:r>
          </a:p>
        </p:txBody>
      </p:sp>
    </p:spTree>
    <p:extLst>
      <p:ext uri="{BB962C8B-B14F-4D97-AF65-F5344CB8AC3E}">
        <p14:creationId xmlns:p14="http://schemas.microsoft.com/office/powerpoint/2010/main" val="151974846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DFEC-28DF-8D2C-5BD0-6C6DE2F4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14516E-28B7-0A28-BFB6-97ADB481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0"/>
            <a:ext cx="8686800" cy="151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4605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Decidability and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decision problem </a:t>
            </a:r>
            <a:r>
              <a:rPr lang="en-US" dirty="0"/>
              <a:t>asks whether statements from a particular class of statements are true. Decision problems are also known as </a:t>
            </a:r>
            <a:r>
              <a:rPr lang="en-US" i="1" dirty="0"/>
              <a:t>yes-or-no problems. </a:t>
            </a:r>
          </a:p>
          <a:p>
            <a:pPr lvl="1"/>
            <a:r>
              <a:rPr lang="en-US" dirty="0"/>
              <a:t>Consider the question for a particular integer  </a:t>
            </a:r>
            <a:r>
              <a:rPr lang="en-US" i="1" dirty="0"/>
              <a:t>n</a:t>
            </a:r>
            <a:r>
              <a:rPr lang="en-US" dirty="0"/>
              <a:t>, “Is </a:t>
            </a:r>
            <a:r>
              <a:rPr lang="en-US" i="1" dirty="0"/>
              <a:t>n</a:t>
            </a:r>
            <a:r>
              <a:rPr lang="en-US" dirty="0"/>
              <a:t> prime?”  The answer is "yes" or "no.“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halting problem </a:t>
            </a:r>
            <a:r>
              <a:rPr lang="en-US" dirty="0"/>
              <a:t>is the decision problem that asks whether a Turing machine </a:t>
            </a:r>
            <a:r>
              <a:rPr lang="en-US" i="1" dirty="0"/>
              <a:t>T</a:t>
            </a:r>
            <a:r>
              <a:rPr lang="en-US" dirty="0"/>
              <a:t> eventually halts when given an input string </a:t>
            </a:r>
            <a:r>
              <a:rPr lang="en-US" i="1" dirty="0"/>
              <a:t>x</a:t>
            </a:r>
            <a:r>
              <a:rPr lang="en-US" dirty="0"/>
              <a:t>. </a:t>
            </a:r>
          </a:p>
          <a:p>
            <a:r>
              <a:rPr lang="en-US" dirty="0"/>
              <a:t>When there is an effective algorithm that decides whether instances of a decision problem are true, we say that this problem is </a:t>
            </a:r>
            <a:r>
              <a:rPr lang="en-US" i="1" dirty="0"/>
              <a:t>solvable</a:t>
            </a:r>
            <a:r>
              <a:rPr lang="en-US" dirty="0"/>
              <a:t> or </a:t>
            </a:r>
            <a:r>
              <a:rPr lang="en-US" i="1" dirty="0"/>
              <a:t>decidable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3.5</a:t>
            </a:r>
            <a:r>
              <a:rPr lang="en-US" dirty="0"/>
              <a:t>, an algorithm was given for determining whether a positive integer </a:t>
            </a:r>
            <a:r>
              <a:rPr lang="en-US" i="1" dirty="0"/>
              <a:t>n</a:t>
            </a:r>
            <a:r>
              <a:rPr lang="en-US" dirty="0"/>
              <a:t> is prime by checking whether it is divisible by primes not exceeding its square root. </a:t>
            </a:r>
          </a:p>
          <a:p>
            <a:r>
              <a:rPr lang="en-US" dirty="0"/>
              <a:t>However, if no effective algorithm exists for solving a problem, then we say the problem is </a:t>
            </a:r>
            <a:r>
              <a:rPr lang="en-US" i="1" dirty="0"/>
              <a:t>unsolvable </a:t>
            </a:r>
            <a:r>
              <a:rPr lang="en-US" dirty="0"/>
              <a:t>or </a:t>
            </a:r>
            <a:r>
              <a:rPr lang="en-US" i="1" dirty="0" err="1"/>
              <a:t>undecidable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halting problem is an unsolvable decision problem (proved in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3.1</a:t>
            </a:r>
            <a:r>
              <a:rPr lang="en-US" dirty="0"/>
              <a:t>). That is, no TM exists that, when given an encoding of a TM </a:t>
            </a:r>
            <a:r>
              <a:rPr lang="en-US" i="1" dirty="0"/>
              <a:t>T</a:t>
            </a:r>
            <a:r>
              <a:rPr lang="en-US" dirty="0"/>
              <a:t> and its input string </a:t>
            </a:r>
            <a:r>
              <a:rPr lang="en-US" i="1" dirty="0"/>
              <a:t>x</a:t>
            </a:r>
            <a:r>
              <a:rPr lang="en-US" dirty="0"/>
              <a:t> as input, can determine whether </a:t>
            </a:r>
            <a:r>
              <a:rPr lang="en-US" i="1" dirty="0"/>
              <a:t>T</a:t>
            </a:r>
            <a:r>
              <a:rPr lang="en-US" dirty="0"/>
              <a:t> eventually halts when started with </a:t>
            </a:r>
            <a:r>
              <a:rPr lang="en-US" i="1" dirty="0"/>
              <a:t>x</a:t>
            </a:r>
            <a:r>
              <a:rPr lang="en-US" dirty="0"/>
              <a:t> written on its tape. </a:t>
            </a:r>
          </a:p>
          <a:p>
            <a:r>
              <a:rPr lang="en-US" dirty="0"/>
              <a:t>A function that can be computed by a TM is called </a:t>
            </a:r>
            <a:r>
              <a:rPr lang="en-US" i="1" dirty="0"/>
              <a:t>computable</a:t>
            </a:r>
            <a:r>
              <a:rPr lang="en-US" dirty="0"/>
              <a:t> and a function that cannot be computed by a TM is called </a:t>
            </a:r>
            <a:r>
              <a:rPr lang="en-US" i="1" dirty="0" err="1"/>
              <a:t>uncomputable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busy beaver function</a:t>
            </a:r>
            <a:r>
              <a:rPr lang="en-US" dirty="0"/>
              <a:t>, which when given a positive integer </a:t>
            </a:r>
            <a:r>
              <a:rPr lang="en-US" i="1" dirty="0"/>
              <a:t>n</a:t>
            </a:r>
            <a:r>
              <a:rPr lang="en-US" dirty="0"/>
              <a:t> gives the maximum number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s that a TM with </a:t>
            </a:r>
            <a:r>
              <a:rPr lang="en-US" i="1" dirty="0"/>
              <a:t>n</a:t>
            </a:r>
            <a:r>
              <a:rPr lang="en-US" dirty="0"/>
              <a:t> states and alphabet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i="1" dirty="0"/>
              <a:t>B</a:t>
            </a:r>
            <a:r>
              <a:rPr lang="en-US" dirty="0"/>
              <a:t>} may print on an initially blank tape is </a:t>
            </a:r>
            <a:r>
              <a:rPr lang="en-US" dirty="0" err="1"/>
              <a:t>uncomputable</a:t>
            </a:r>
            <a:r>
              <a:rPr lang="en-US" dirty="0"/>
              <a:t> (see Exercise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35</a:t>
            </a:r>
            <a:r>
              <a:rPr lang="en-US" dirty="0"/>
              <a:t> in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13.5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8291156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F3EFA-8656-9F50-702A-BAFFDF79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F7A886-B172-B7C0-5504-A8C663AB6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899"/>
            <a:ext cx="9144000" cy="557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1547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Classes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 </a:t>
            </a:r>
            <a:r>
              <a:rPr lang="en-US" i="1" dirty="0"/>
              <a:t>nondeterministic Turing machine </a:t>
            </a:r>
            <a:r>
              <a:rPr lang="en-US" dirty="0"/>
              <a:t>(</a:t>
            </a:r>
            <a:r>
              <a:rPr lang="en-US" i="1" dirty="0"/>
              <a:t>NDTM</a:t>
            </a:r>
            <a:r>
              <a:rPr lang="en-US" dirty="0"/>
              <a:t>), the restriction that no two transition rules begin with the same pair (</a:t>
            </a:r>
            <a:r>
              <a:rPr lang="en-US" i="1" dirty="0"/>
              <a:t>s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) is eliminated. </a:t>
            </a:r>
          </a:p>
          <a:p>
            <a:r>
              <a:rPr lang="en-US" dirty="0"/>
              <a:t>Hence, there may be more than one transition rule beginning with each (state, tape symbol) pair, so that there may be a choice as to which rule to use </a:t>
            </a:r>
            <a:r>
              <a:rPr lang="en-US"/>
              <a:t>at each step. </a:t>
            </a:r>
            <a:endParaRPr lang="en-US" dirty="0"/>
          </a:p>
          <a:p>
            <a:r>
              <a:rPr lang="en-US" dirty="0"/>
              <a:t>A NDTM </a:t>
            </a:r>
            <a:r>
              <a:rPr lang="en-US" i="1" dirty="0"/>
              <a:t>T</a:t>
            </a:r>
            <a:r>
              <a:rPr lang="en-US" dirty="0"/>
              <a:t> recognizes a string </a:t>
            </a:r>
            <a:r>
              <a:rPr lang="en-US" i="1" dirty="0"/>
              <a:t>x</a:t>
            </a:r>
            <a:r>
              <a:rPr lang="en-US" dirty="0"/>
              <a:t> if and only if there exists some sequence of transitions of </a:t>
            </a:r>
            <a:r>
              <a:rPr lang="en-US" i="1" dirty="0"/>
              <a:t>T</a:t>
            </a:r>
            <a:r>
              <a:rPr lang="en-US" dirty="0"/>
              <a:t> that ends in a final state when the machine starts in the initial position with </a:t>
            </a:r>
            <a:r>
              <a:rPr lang="en-US" i="1" dirty="0"/>
              <a:t>x</a:t>
            </a:r>
            <a:r>
              <a:rPr lang="en-US" dirty="0"/>
              <a:t> written on the tape. </a:t>
            </a:r>
          </a:p>
        </p:txBody>
      </p:sp>
    </p:spTree>
    <p:extLst>
      <p:ext uri="{BB962C8B-B14F-4D97-AF65-F5344CB8AC3E}">
        <p14:creationId xmlns:p14="http://schemas.microsoft.com/office/powerpoint/2010/main" val="398587772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6061-8E83-B902-9C70-B25AFB2C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A1A7FF-83EE-8FB1-576A-2397E3B30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9187"/>
            <a:ext cx="9144000" cy="24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3854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Classes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NP </a:t>
            </a:r>
            <a:r>
              <a:rPr lang="en-US" dirty="0"/>
              <a:t>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decision problem is in </a:t>
            </a:r>
            <a:r>
              <a:rPr lang="en-US" i="1" dirty="0"/>
              <a:t>P</a:t>
            </a:r>
            <a:r>
              <a:rPr lang="en-US" dirty="0"/>
              <a:t>, the </a:t>
            </a:r>
            <a:r>
              <a:rPr lang="en-US" i="1" dirty="0"/>
              <a:t>class of polynomial-time problems</a:t>
            </a:r>
            <a:r>
              <a:rPr lang="en-US" dirty="0"/>
              <a:t>, if it can be solved by a deterministic Turing machine in polynomial time in terms of the size of its input. </a:t>
            </a:r>
          </a:p>
          <a:p>
            <a:r>
              <a:rPr lang="en-US" dirty="0"/>
              <a:t>That is, a decision problem is in </a:t>
            </a:r>
            <a:r>
              <a:rPr lang="en-US" i="1" dirty="0"/>
              <a:t>P</a:t>
            </a:r>
            <a:r>
              <a:rPr lang="en-US" dirty="0"/>
              <a:t> if there is a deterministic Turing machine </a:t>
            </a:r>
            <a:r>
              <a:rPr lang="en-US" i="1" dirty="0"/>
              <a:t>T</a:t>
            </a:r>
            <a:r>
              <a:rPr lang="en-US" dirty="0"/>
              <a:t> that solves the decision problem and a polynomial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such that for all integers 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dirty="0"/>
              <a:t> halts in a final state after no more than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transitions whenever the input to </a:t>
            </a:r>
            <a:r>
              <a:rPr lang="en-US" i="1" dirty="0"/>
              <a:t>T</a:t>
            </a:r>
            <a:r>
              <a:rPr lang="en-US" dirty="0"/>
              <a:t> is a string of length </a:t>
            </a:r>
            <a:r>
              <a:rPr lang="en-US" i="1" dirty="0"/>
              <a:t>n</a:t>
            </a:r>
            <a:r>
              <a:rPr lang="en-US" dirty="0"/>
              <a:t>. </a:t>
            </a:r>
          </a:p>
          <a:p>
            <a:r>
              <a:rPr lang="en-US" dirty="0"/>
              <a:t>A decision problem is in </a:t>
            </a:r>
            <a:r>
              <a:rPr lang="en-US" i="1" dirty="0"/>
              <a:t>NP</a:t>
            </a:r>
            <a:r>
              <a:rPr lang="en-US" dirty="0"/>
              <a:t>, the </a:t>
            </a:r>
            <a:r>
              <a:rPr lang="en-US" i="1" dirty="0"/>
              <a:t>class of nondeterministic polynomial-time problems</a:t>
            </a:r>
            <a:r>
              <a:rPr lang="en-US" dirty="0"/>
              <a:t>, if it can be solved by a nondeterministic Turing machine in polynomial time in terms of the size of its input. </a:t>
            </a:r>
          </a:p>
          <a:p>
            <a:r>
              <a:rPr lang="en-US" dirty="0"/>
              <a:t>That is, a decision problem is in </a:t>
            </a:r>
            <a:r>
              <a:rPr lang="en-US" i="1" dirty="0"/>
              <a:t>NP</a:t>
            </a:r>
            <a:r>
              <a:rPr lang="en-US" dirty="0"/>
              <a:t> if there is a nondeterministic Turing machine </a:t>
            </a:r>
            <a:r>
              <a:rPr lang="en-US" i="1" dirty="0"/>
              <a:t>T</a:t>
            </a:r>
            <a:r>
              <a:rPr lang="en-US" dirty="0"/>
              <a:t> that solves the problem and a polynomial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such that for all integers 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dirty="0"/>
              <a:t> halts for every choice of transitions after no more than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transitions whenever the input to </a:t>
            </a:r>
            <a:r>
              <a:rPr lang="en-US" i="1" dirty="0"/>
              <a:t>T</a:t>
            </a:r>
            <a:r>
              <a:rPr lang="en-US" dirty="0"/>
              <a:t> is a string of length </a:t>
            </a:r>
            <a:r>
              <a:rPr lang="en-US" i="1" dirty="0"/>
              <a:t>n</a:t>
            </a:r>
            <a:r>
              <a:rPr lang="en-US" dirty="0"/>
              <a:t>. </a:t>
            </a:r>
          </a:p>
          <a:p>
            <a:r>
              <a:rPr lang="en-US" dirty="0"/>
              <a:t>Problems in </a:t>
            </a:r>
            <a:r>
              <a:rPr lang="en-US" i="1" dirty="0"/>
              <a:t>P</a:t>
            </a:r>
            <a:r>
              <a:rPr lang="en-US" dirty="0"/>
              <a:t> are called </a:t>
            </a:r>
            <a:r>
              <a:rPr lang="en-US" i="1" dirty="0"/>
              <a:t>tractable</a:t>
            </a:r>
            <a:r>
              <a:rPr lang="en-US" dirty="0"/>
              <a:t>, whereas problems not in </a:t>
            </a:r>
            <a:r>
              <a:rPr lang="en-US" i="1" dirty="0"/>
              <a:t>P</a:t>
            </a:r>
            <a:r>
              <a:rPr lang="en-US" dirty="0"/>
              <a:t> are called </a:t>
            </a:r>
            <a:r>
              <a:rPr lang="en-US" i="1" dirty="0"/>
              <a:t>intractable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06203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4BEFB-F4A5-AB0C-5D62-1C8A3069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5B103C-CE67-CEF7-8493-CB9F10F1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034"/>
            <a:ext cx="9144000" cy="485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8491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Classes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NP </a:t>
            </a:r>
            <a:r>
              <a:rPr lang="en-US" dirty="0"/>
              <a:t>(</a:t>
            </a:r>
            <a:r>
              <a:rPr lang="en-US" i="1" dirty="0"/>
              <a:t>cont.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a problem to be in </a:t>
            </a:r>
            <a:r>
              <a:rPr lang="en-US" i="1" dirty="0"/>
              <a:t>NP</a:t>
            </a:r>
            <a:r>
              <a:rPr lang="en-US" dirty="0"/>
              <a:t>, it is necessary only that there be a NDTM that when given a true statement from the set of statements addressed by the problem, can verify its truth in polynomial time by making the correct guess at each step. </a:t>
            </a:r>
          </a:p>
          <a:p>
            <a:pPr lvl="1"/>
            <a:r>
              <a:rPr lang="en-US" dirty="0"/>
              <a:t>The problem of determining whether a given graph has a Hamilton circuit is an </a:t>
            </a:r>
            <a:r>
              <a:rPr lang="en-US" i="1" dirty="0"/>
              <a:t>NP</a:t>
            </a:r>
            <a:r>
              <a:rPr lang="en-US" dirty="0"/>
              <a:t> problem, because a NDTM can easily verify that a simple circuit in a graph passes through each vertex exactly once.</a:t>
            </a:r>
          </a:p>
          <a:p>
            <a:pPr lvl="1"/>
            <a:r>
              <a:rPr lang="en-US" dirty="0"/>
              <a:t>It can do this by making a series of correct guesses corresponding to successively adding edges to form the circuit. </a:t>
            </a:r>
          </a:p>
        </p:txBody>
      </p:sp>
    </p:spTree>
    <p:extLst>
      <p:ext uri="{BB962C8B-B14F-4D97-AF65-F5344CB8AC3E}">
        <p14:creationId xmlns:p14="http://schemas.microsoft.com/office/powerpoint/2010/main" val="174838298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4E6D2D7B-B058-864E-E170-16548214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1615"/>
            <a:ext cx="9144000" cy="387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1377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DCBA1-68DE-78E5-556E-62289AEB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9AFAB1-8852-6167-CB28-E7C05D70A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5612"/>
            <a:ext cx="9144000" cy="22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3920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Wrapping Everything up with a </a:t>
            </a:r>
            <a:r>
              <a:rPr lang="en-US" dirty="0" err="1"/>
              <a:t>Millenium</a:t>
            </a:r>
            <a:r>
              <a:rPr lang="en-US" dirty="0"/>
              <a:t>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Because every DTM can also be a considered to be a NDTM, where each (state, tape symbol) pair occurs in exactly one transition rule, P </a:t>
            </a:r>
            <a:r>
              <a:rPr lang="en-US" dirty="0">
                <a:latin typeface="Cambria Math"/>
                <a:ea typeface="Cambria Math"/>
              </a:rPr>
              <a:t>⊆</a:t>
            </a:r>
            <a:r>
              <a:rPr lang="en-US" dirty="0"/>
              <a:t> NP.</a:t>
            </a:r>
          </a:p>
          <a:p>
            <a:r>
              <a:rPr lang="en-US" dirty="0"/>
              <a:t>The most famous open question in theoretical CS, and one of the millennium problems with a $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1,000,000</a:t>
            </a:r>
            <a:r>
              <a:rPr lang="en-US" dirty="0"/>
              <a:t> prize, is whether every problem in </a:t>
            </a:r>
            <a:r>
              <a:rPr lang="en-US" i="1" dirty="0"/>
              <a:t>NP</a:t>
            </a:r>
            <a:r>
              <a:rPr lang="en-US" dirty="0"/>
              <a:t> is also in </a:t>
            </a:r>
            <a:r>
              <a:rPr lang="en-US" i="1" dirty="0"/>
              <a:t>P</a:t>
            </a:r>
            <a:r>
              <a:rPr lang="en-US" dirty="0"/>
              <a:t>, that is, whether </a:t>
            </a:r>
            <a:r>
              <a:rPr lang="en-US" i="1" dirty="0"/>
              <a:t>P</a:t>
            </a:r>
            <a:r>
              <a:rPr lang="en-US" dirty="0"/>
              <a:t> = </a:t>
            </a:r>
            <a:r>
              <a:rPr lang="en-US" i="1" dirty="0"/>
              <a:t>NP</a:t>
            </a:r>
            <a:r>
              <a:rPr lang="en-US" dirty="0"/>
              <a:t>.</a:t>
            </a:r>
          </a:p>
          <a:p>
            <a:r>
              <a:rPr lang="en-US" dirty="0"/>
              <a:t>There is an important class of problems, known as </a:t>
            </a:r>
            <a:r>
              <a:rPr lang="en-US" i="1" dirty="0"/>
              <a:t>NP-complete</a:t>
            </a:r>
            <a:r>
              <a:rPr lang="en-US" dirty="0"/>
              <a:t> problems, where a problem is in this class if it is the class </a:t>
            </a:r>
            <a:r>
              <a:rPr lang="en-US" i="1" dirty="0"/>
              <a:t>NP</a:t>
            </a:r>
            <a:r>
              <a:rPr lang="en-US" dirty="0"/>
              <a:t> and if this problem was also in the class </a:t>
            </a:r>
            <a:r>
              <a:rPr lang="en-US" i="1" dirty="0"/>
              <a:t>P</a:t>
            </a:r>
            <a:r>
              <a:rPr lang="en-US" dirty="0"/>
              <a:t>, then every problem in </a:t>
            </a:r>
            <a:r>
              <a:rPr lang="en-US" i="1" dirty="0"/>
              <a:t>NP</a:t>
            </a:r>
            <a:r>
              <a:rPr lang="en-US" dirty="0"/>
              <a:t> must also be in </a:t>
            </a:r>
            <a:r>
              <a:rPr lang="en-US" i="1" dirty="0"/>
              <a:t>P</a:t>
            </a:r>
            <a:r>
              <a:rPr lang="en-US" dirty="0"/>
              <a:t>.</a:t>
            </a:r>
          </a:p>
          <a:p>
            <a:r>
              <a:rPr lang="en-US" dirty="0"/>
              <a:t> That is, a problem is </a:t>
            </a:r>
            <a:r>
              <a:rPr lang="en-US" i="1" dirty="0"/>
              <a:t>NP</a:t>
            </a:r>
            <a:r>
              <a:rPr lang="en-US" dirty="0"/>
              <a:t>-complete if the existence of a polynomial-time algorithm for solving it implies the existence of a polynomial-time algorithm for every problem in </a:t>
            </a:r>
            <a:r>
              <a:rPr lang="en-US" i="1" dirty="0"/>
              <a:t>NP</a:t>
            </a:r>
            <a:r>
              <a:rPr lang="en-US" dirty="0"/>
              <a:t>.</a:t>
            </a:r>
          </a:p>
          <a:p>
            <a:r>
              <a:rPr lang="en-US" dirty="0"/>
              <a:t>We have studied several problems that can be shown to be </a:t>
            </a:r>
            <a:r>
              <a:rPr lang="en-US" i="1" dirty="0"/>
              <a:t>NP</a:t>
            </a:r>
            <a:r>
              <a:rPr lang="en-US" dirty="0"/>
              <a:t>-complete in this text, including determining whether a simple graph has a Hamilton circuit and determining whether a proposition in </a:t>
            </a:r>
            <a:r>
              <a:rPr lang="en-US" i="1" dirty="0"/>
              <a:t>n</a:t>
            </a:r>
            <a:r>
              <a:rPr lang="en-US" dirty="0"/>
              <a:t> variables is a tautology.</a:t>
            </a:r>
          </a:p>
          <a:p>
            <a:r>
              <a:rPr lang="en-US" dirty="0"/>
              <a:t>This concludes our introduction to discrete mathematics, but it should come as no surprise that there is a lot more to learn!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37149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B60ADFE3-AF87-41D5-0122-5C1D1AD3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276"/>
            <a:ext cx="8746066" cy="463027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0D677FD-BF19-2255-6152-E6444D68B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4489145"/>
            <a:ext cx="5181600" cy="236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761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E10A-F229-9C30-CF3C-57BED349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D0CFB9-2A54-0EC5-940B-8131569D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3015"/>
            <a:ext cx="9144000" cy="463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06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25791</TotalTime>
  <Words>7589</Words>
  <Application>Microsoft Office PowerPoint</Application>
  <PresentationFormat>全屏显示(4:3)</PresentationFormat>
  <Paragraphs>473</Paragraphs>
  <Slides>125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31" baseType="lpstr">
      <vt:lpstr>Calibri</vt:lpstr>
      <vt:lpstr>Cambria Math</vt:lpstr>
      <vt:lpstr>Constantia</vt:lpstr>
      <vt:lpstr>Symbol</vt:lpstr>
      <vt:lpstr>Wingdings 2</vt:lpstr>
      <vt:lpstr>Flow</vt:lpstr>
      <vt:lpstr>Modeling  Computation</vt:lpstr>
      <vt:lpstr>Chapter Summary</vt:lpstr>
      <vt:lpstr>Languages and Grammars</vt:lpstr>
      <vt:lpstr>Section Summary</vt:lpstr>
      <vt:lpstr>Introduction</vt:lpstr>
      <vt:lpstr>PowerPoint 演示文稿</vt:lpstr>
      <vt:lpstr>Grammars</vt:lpstr>
      <vt:lpstr>PowerPoint 演示文稿</vt:lpstr>
      <vt:lpstr>An Example Grammar</vt:lpstr>
      <vt:lpstr>PowerPoint 演示文稿</vt:lpstr>
      <vt:lpstr>Phrase-Structure Grammars</vt:lpstr>
      <vt:lpstr>PowerPoint 演示文稿</vt:lpstr>
      <vt:lpstr>Phrase-Structure Grammars (cont.)</vt:lpstr>
      <vt:lpstr>PowerPoint 演示文稿</vt:lpstr>
      <vt:lpstr>PowerPoint 演示文稿</vt:lpstr>
      <vt:lpstr>Derivations</vt:lpstr>
      <vt:lpstr>PowerPoint 演示文稿</vt:lpstr>
      <vt:lpstr>PowerPoint 演示文稿</vt:lpstr>
      <vt:lpstr>Language Generation</vt:lpstr>
      <vt:lpstr>PowerPoint 演示文稿</vt:lpstr>
      <vt:lpstr>PowerPoint 演示文稿</vt:lpstr>
      <vt:lpstr>Types of Phrase Structure Grammars</vt:lpstr>
      <vt:lpstr>PowerPoint 演示文稿</vt:lpstr>
      <vt:lpstr>PowerPoint 演示文稿</vt:lpstr>
      <vt:lpstr>Derivation Trees</vt:lpstr>
      <vt:lpstr>PowerPoint 演示文稿</vt:lpstr>
      <vt:lpstr>Backus-Naur Form</vt:lpstr>
      <vt:lpstr>PowerPoint 演示文稿</vt:lpstr>
      <vt:lpstr>PowerPoint 演示文稿</vt:lpstr>
      <vt:lpstr>BNF and ALGOL 60</vt:lpstr>
      <vt:lpstr>PowerPoint 演示文稿</vt:lpstr>
      <vt:lpstr>PowerPoint 演示文稿</vt:lpstr>
      <vt:lpstr>Finite-State Machines with Output</vt:lpstr>
      <vt:lpstr>Section Summary</vt:lpstr>
      <vt:lpstr>Introduction</vt:lpstr>
      <vt:lpstr>PowerPoint 演示文稿</vt:lpstr>
      <vt:lpstr>An Example of a Finite-State Machine with Output</vt:lpstr>
      <vt:lpstr>PowerPoint 演示文稿</vt:lpstr>
      <vt:lpstr>PowerPoint 演示文稿</vt:lpstr>
      <vt:lpstr>PowerPoint 演示文稿</vt:lpstr>
      <vt:lpstr>An Example (cont.)</vt:lpstr>
      <vt:lpstr>PowerPoint 演示文稿</vt:lpstr>
      <vt:lpstr>FSMs with Outputs</vt:lpstr>
      <vt:lpstr>PowerPoint 演示文稿</vt:lpstr>
      <vt:lpstr>PowerPoint 演示文稿</vt:lpstr>
      <vt:lpstr>Unit-delay Machine</vt:lpstr>
      <vt:lpstr>PowerPoint 演示文稿</vt:lpstr>
      <vt:lpstr>Addition Machine</vt:lpstr>
      <vt:lpstr>PowerPoint 演示文稿</vt:lpstr>
      <vt:lpstr>Finite-State Machines with No Output</vt:lpstr>
      <vt:lpstr>Section Summary</vt:lpstr>
      <vt:lpstr>Set of Strings</vt:lpstr>
      <vt:lpstr>PowerPoint 演示文稿</vt:lpstr>
      <vt:lpstr>PowerPoint 演示文稿</vt:lpstr>
      <vt:lpstr>Finite-State Automata (FSA)</vt:lpstr>
      <vt:lpstr>PowerPoint 演示文稿</vt:lpstr>
      <vt:lpstr>PowerPoint 演示文稿</vt:lpstr>
      <vt:lpstr>Language Recognition by FSAs</vt:lpstr>
      <vt:lpstr>PowerPoint 演示文稿</vt:lpstr>
      <vt:lpstr>PowerPoint 演示文稿</vt:lpstr>
      <vt:lpstr>Language Recognition by FSAs (cont.)</vt:lpstr>
      <vt:lpstr>PowerPoint 演示文稿</vt:lpstr>
      <vt:lpstr>PowerPoint 演示文稿</vt:lpstr>
      <vt:lpstr>Language Recognition by FSA (cont.)</vt:lpstr>
      <vt:lpstr>PowerPoint 演示文稿</vt:lpstr>
      <vt:lpstr>NDFSA</vt:lpstr>
      <vt:lpstr>PowerPoint 演示文稿</vt:lpstr>
      <vt:lpstr>PowerPoint 演示文稿</vt:lpstr>
      <vt:lpstr>Finding a DFSA Equivalent to a NFSA</vt:lpstr>
      <vt:lpstr>PowerPoint 演示文稿</vt:lpstr>
      <vt:lpstr>Finding an Equivalent DFSA (cont.)</vt:lpstr>
      <vt:lpstr>PowerPoint 演示文稿</vt:lpstr>
      <vt:lpstr>PowerPoint 演示文稿</vt:lpstr>
      <vt:lpstr>Language Recognition</vt:lpstr>
      <vt:lpstr>Section Summary</vt:lpstr>
      <vt:lpstr>Regular Expressions</vt:lpstr>
      <vt:lpstr>PowerPoint 演示文稿</vt:lpstr>
      <vt:lpstr>PowerPoint 演示文稿</vt:lpstr>
      <vt:lpstr>Regular Expressions (cont.)</vt:lpstr>
      <vt:lpstr>PowerPoint 演示文稿</vt:lpstr>
      <vt:lpstr>Finite-State Automata, Regular Sets, and Regular Grammars</vt:lpstr>
      <vt:lpstr>PowerPoint 演示文稿</vt:lpstr>
      <vt:lpstr>A Set Not Recognized by a FSA</vt:lpstr>
      <vt:lpstr>A Set Not Recognized by a FSA (cont.)</vt:lpstr>
      <vt:lpstr>PowerPoint 演示文稿</vt:lpstr>
      <vt:lpstr>PowerPoint 演示文稿</vt:lpstr>
      <vt:lpstr>More Powerful Types of Machines</vt:lpstr>
      <vt:lpstr>PowerPoint 演示文稿</vt:lpstr>
      <vt:lpstr>Turing Machines</vt:lpstr>
      <vt:lpstr>Section Summary</vt:lpstr>
      <vt:lpstr>PowerPoint 演示文稿</vt:lpstr>
      <vt:lpstr>Introduction</vt:lpstr>
      <vt:lpstr>PowerPoint 演示文稿</vt:lpstr>
      <vt:lpstr>Definition of Turing Machines (TM)</vt:lpstr>
      <vt:lpstr>PowerPoint 演示文稿</vt:lpstr>
      <vt:lpstr>PowerPoint 演示文稿</vt:lpstr>
      <vt:lpstr>A TM in Operation</vt:lpstr>
      <vt:lpstr>PowerPoint 演示文稿</vt:lpstr>
      <vt:lpstr>PowerPoint 演示文稿</vt:lpstr>
      <vt:lpstr>Using TM to Recognize Sets</vt:lpstr>
      <vt:lpstr>PowerPoint 演示文稿</vt:lpstr>
      <vt:lpstr>Using TMs to Recognize Sets (cont.)</vt:lpstr>
      <vt:lpstr>PowerPoint 演示文稿</vt:lpstr>
      <vt:lpstr>PowerPoint 演示文稿</vt:lpstr>
      <vt:lpstr>PowerPoint 演示文稿</vt:lpstr>
      <vt:lpstr>Computing Functions with TMs</vt:lpstr>
      <vt:lpstr>PowerPoint 演示文稿</vt:lpstr>
      <vt:lpstr>Computing Functions with TMs (cont.)</vt:lpstr>
      <vt:lpstr>PowerPoint 演示文稿</vt:lpstr>
      <vt:lpstr>PowerPoint 演示文稿</vt:lpstr>
      <vt:lpstr>PowerPoint 演示文稿</vt:lpstr>
      <vt:lpstr>The Church-Turing Thesis</vt:lpstr>
      <vt:lpstr>PowerPoint 演示文稿</vt:lpstr>
      <vt:lpstr>Decidability and Complexity</vt:lpstr>
      <vt:lpstr>PowerPoint 演示文稿</vt:lpstr>
      <vt:lpstr>The Classes P and NP</vt:lpstr>
      <vt:lpstr>PowerPoint 演示文稿</vt:lpstr>
      <vt:lpstr>The Classes P and NP (cont.)</vt:lpstr>
      <vt:lpstr>PowerPoint 演示文稿</vt:lpstr>
      <vt:lpstr>The Classes P and NP (cont.)</vt:lpstr>
      <vt:lpstr>PowerPoint 演示文稿</vt:lpstr>
      <vt:lpstr>PowerPoint 演示文稿</vt:lpstr>
      <vt:lpstr>Wrapping Everything up with a Millenium Problem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Xiaoqian Zhang</cp:lastModifiedBy>
  <cp:revision>1078</cp:revision>
  <dcterms:created xsi:type="dcterms:W3CDTF">2012-07-15T18:32:41Z</dcterms:created>
  <dcterms:modified xsi:type="dcterms:W3CDTF">2025-12-11T06:40:04Z</dcterms:modified>
</cp:coreProperties>
</file>