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9"/>
  </p:notesMasterIdLst>
  <p:sldIdLst>
    <p:sldId id="256" r:id="rId2"/>
    <p:sldId id="348" r:id="rId3"/>
    <p:sldId id="404" r:id="rId4"/>
    <p:sldId id="405" r:id="rId5"/>
    <p:sldId id="395" r:id="rId6"/>
    <p:sldId id="439" r:id="rId7"/>
    <p:sldId id="397" r:id="rId8"/>
    <p:sldId id="440" r:id="rId9"/>
    <p:sldId id="428" r:id="rId10"/>
    <p:sldId id="441" r:id="rId11"/>
    <p:sldId id="398" r:id="rId12"/>
    <p:sldId id="442" r:id="rId13"/>
    <p:sldId id="416" r:id="rId14"/>
    <p:sldId id="443" r:id="rId15"/>
    <p:sldId id="391" r:id="rId16"/>
    <p:sldId id="444" r:id="rId17"/>
    <p:sldId id="399" r:id="rId18"/>
    <p:sldId id="445" r:id="rId19"/>
    <p:sldId id="400" r:id="rId20"/>
    <p:sldId id="446" r:id="rId21"/>
    <p:sldId id="402" r:id="rId22"/>
    <p:sldId id="447" r:id="rId23"/>
    <p:sldId id="406" r:id="rId24"/>
    <p:sldId id="407" r:id="rId25"/>
    <p:sldId id="449" r:id="rId26"/>
    <p:sldId id="409" r:id="rId27"/>
    <p:sldId id="450" r:id="rId28"/>
    <p:sldId id="408" r:id="rId29"/>
    <p:sldId id="451" r:id="rId30"/>
    <p:sldId id="410" r:id="rId31"/>
    <p:sldId id="452" r:id="rId32"/>
    <p:sldId id="352" r:id="rId33"/>
    <p:sldId id="389" r:id="rId34"/>
    <p:sldId id="417" r:id="rId35"/>
    <p:sldId id="421" r:id="rId36"/>
    <p:sldId id="453" r:id="rId37"/>
    <p:sldId id="473" r:id="rId38"/>
    <p:sldId id="418" r:id="rId39"/>
    <p:sldId id="471" r:id="rId40"/>
    <p:sldId id="419" r:id="rId41"/>
    <p:sldId id="472" r:id="rId42"/>
    <p:sldId id="420" r:id="rId43"/>
    <p:sldId id="454" r:id="rId44"/>
    <p:sldId id="422" r:id="rId45"/>
    <p:sldId id="455" r:id="rId46"/>
    <p:sldId id="423" r:id="rId47"/>
    <p:sldId id="456" r:id="rId48"/>
    <p:sldId id="425" r:id="rId49"/>
    <p:sldId id="457" r:id="rId50"/>
    <p:sldId id="412" r:id="rId51"/>
    <p:sldId id="458" r:id="rId52"/>
    <p:sldId id="426" r:id="rId53"/>
    <p:sldId id="459" r:id="rId54"/>
    <p:sldId id="427" r:id="rId55"/>
    <p:sldId id="460" r:id="rId56"/>
    <p:sldId id="353" r:id="rId57"/>
    <p:sldId id="354" r:id="rId58"/>
    <p:sldId id="429" r:id="rId59"/>
    <p:sldId id="461" r:id="rId60"/>
    <p:sldId id="430" r:id="rId61"/>
    <p:sldId id="462" r:id="rId62"/>
    <p:sldId id="431" r:id="rId63"/>
    <p:sldId id="463" r:id="rId64"/>
    <p:sldId id="432" r:id="rId65"/>
    <p:sldId id="464" r:id="rId66"/>
    <p:sldId id="437" r:id="rId67"/>
    <p:sldId id="465" r:id="rId68"/>
    <p:sldId id="433" r:id="rId69"/>
    <p:sldId id="466" r:id="rId70"/>
    <p:sldId id="434" r:id="rId71"/>
    <p:sldId id="467" r:id="rId72"/>
    <p:sldId id="435" r:id="rId73"/>
    <p:sldId id="468" r:id="rId74"/>
    <p:sldId id="436" r:id="rId75"/>
    <p:sldId id="469" r:id="rId76"/>
    <p:sldId id="438" r:id="rId77"/>
    <p:sldId id="470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5" autoAdjust="0"/>
    <p:restoredTop sz="94617"/>
  </p:normalViewPr>
  <p:slideViewPr>
    <p:cSldViewPr>
      <p:cViewPr varScale="1">
        <p:scale>
          <a:sx n="91" d="100"/>
          <a:sy n="91" d="100"/>
        </p:scale>
        <p:origin x="1215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g zhan" userId="a67b9b2eaa87b568" providerId="LiveId" clId="{9C97F780-DAF9-044F-A497-D430D11139F0}"/>
    <pc:docChg chg="modSld">
      <pc:chgData name="huang zhan" userId="a67b9b2eaa87b568" providerId="LiveId" clId="{9C97F780-DAF9-044F-A497-D430D11139F0}" dt="2023-02-25T01:37:53.074" v="3" actId="20577"/>
      <pc:docMkLst>
        <pc:docMk/>
      </pc:docMkLst>
      <pc:sldChg chg="modSp mod">
        <pc:chgData name="huang zhan" userId="a67b9b2eaa87b568" providerId="LiveId" clId="{9C97F780-DAF9-044F-A497-D430D11139F0}" dt="2023-02-25T01:37:53.074" v="3" actId="20577"/>
        <pc:sldMkLst>
          <pc:docMk/>
          <pc:sldMk cId="0" sldId="256"/>
        </pc:sldMkLst>
        <pc:spChg chg="mod">
          <ac:chgData name="huang zhan" userId="a67b9b2eaa87b568" providerId="LiveId" clId="{9C97F780-DAF9-044F-A497-D430D11139F0}" dt="2023-02-25T01:37:53.074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    </a:t>
            </a:r>
            <a:r>
              <a:rPr lang="en-US" dirty="0"/>
              <a:t>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6553200"/>
            <a:ext cx="91440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000" dirty="0"/>
              <a:t>Copyright ©  McGraw-Hill Education.  All rights reserved. No reproduction or distribution without the prior written consent of McGraw-Hill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r>
              <a:rPr lang="en-US" dirty="0"/>
              <a:t>Chapter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83792"/>
            <a:ext cx="8229600" cy="3645408"/>
          </a:xfrm>
        </p:spPr>
        <p:txBody>
          <a:bodyPr>
            <a:normAutofit/>
          </a:bodyPr>
          <a:lstStyle/>
          <a:p>
            <a:r>
              <a:rPr lang="en-US" dirty="0"/>
              <a:t>Introduction to Trees</a:t>
            </a:r>
          </a:p>
          <a:p>
            <a:r>
              <a:rPr lang="en-US" dirty="0"/>
              <a:t>Applications of Trees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/>
              <a:t>Tree Traversal</a:t>
            </a:r>
          </a:p>
          <a:p>
            <a:r>
              <a:rPr lang="en-US" dirty="0"/>
              <a:t>Spanning Trees</a:t>
            </a:r>
          </a:p>
          <a:p>
            <a:r>
              <a:rPr lang="en-US" dirty="0"/>
              <a:t>Minimum Spanning Trees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80D147-B4C4-0CC3-98DD-72ED780A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82213"/>
            <a:ext cx="3733800" cy="2675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11.1</a:t>
            </a:r>
          </a:p>
        </p:txBody>
      </p:sp>
    </p:spTree>
    <p:extLst>
      <p:ext uri="{BB962C8B-B14F-4D97-AF65-F5344CB8AC3E}">
        <p14:creationId xmlns:p14="http://schemas.microsoft.com/office/powerpoint/2010/main" val="77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Trees</a:t>
            </a:r>
          </a:p>
          <a:p>
            <a:r>
              <a:rPr lang="en-US" dirty="0"/>
              <a:t>Rooted Trees</a:t>
            </a:r>
          </a:p>
          <a:p>
            <a:r>
              <a:rPr lang="en-US" dirty="0"/>
              <a:t>Trees as Models</a:t>
            </a:r>
          </a:p>
          <a:p>
            <a:r>
              <a:rPr lang="en-US" dirty="0"/>
              <a:t>Properties of Trees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1505F6-4FA0-761E-440E-ABAD4EC0C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2400"/>
            <a:ext cx="1565015" cy="210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2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A </a:t>
            </a:r>
            <a:r>
              <a:rPr lang="en-US" i="1" dirty="0"/>
              <a:t>tree</a:t>
            </a:r>
            <a:r>
              <a:rPr lang="en-US" dirty="0"/>
              <a:t> is a connected undirected graph with no simple circuits.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Which of these                                                                                                                                      graphs are trees?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  <a:r>
              <a:rPr lang="en-US" i="1" dirty="0"/>
              <a:t>G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are trees - both are connected and have no simple circuits. Because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 is a simple circuit, </a:t>
            </a:r>
            <a:r>
              <a:rPr lang="en-US" i="1" dirty="0"/>
              <a:t>G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is not a tree. </a:t>
            </a:r>
            <a:r>
              <a:rPr lang="en-US" i="1" dirty="0"/>
              <a:t>G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 is not a tree because it is not connected.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A </a:t>
            </a:r>
            <a:r>
              <a:rPr lang="en-US" i="1" dirty="0"/>
              <a:t>forest</a:t>
            </a:r>
            <a:r>
              <a:rPr lang="en-US" dirty="0"/>
              <a:t> is a graph that has no simple circuit,                                                                                                    but is not connected. Each of the connected                                                                                    components in a forest is a tree.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286000"/>
            <a:ext cx="3207026" cy="14733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876800"/>
            <a:ext cx="3581400" cy="164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3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32F1CE7-C636-2DD3-F48A-ACBEA26B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327"/>
            <a:ext cx="9144000" cy="34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7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Trees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/>
              <a:t>Theorem</a:t>
            </a:r>
            <a:r>
              <a:rPr lang="en-US" dirty="0"/>
              <a:t>: An undirected graph is a tree if and only if there is a unique simple path between any two of its vertices.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: Assume that </a:t>
            </a:r>
            <a:r>
              <a:rPr lang="en-US" i="1" dirty="0"/>
              <a:t>T</a:t>
            </a:r>
            <a:r>
              <a:rPr lang="en-US" dirty="0"/>
              <a:t> is a tree. Then </a:t>
            </a:r>
            <a:r>
              <a:rPr lang="en-US" i="1" dirty="0"/>
              <a:t>T</a:t>
            </a:r>
            <a:r>
              <a:rPr lang="en-US" dirty="0"/>
              <a:t> is connected with no simple circuits. Hence, if 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are distinct vertices of </a:t>
            </a:r>
            <a:r>
              <a:rPr lang="en-US" i="1" dirty="0"/>
              <a:t>T</a:t>
            </a:r>
            <a:r>
              <a:rPr lang="en-US" dirty="0"/>
              <a:t>, there is a simple path between them (by Theorem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of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10.4</a:t>
            </a:r>
            <a:r>
              <a:rPr lang="en-US" dirty="0"/>
              <a:t>). This path must be unique - for if there were a second path, there would be a simple circuit in </a:t>
            </a:r>
            <a:r>
              <a:rPr lang="en-US" i="1" dirty="0"/>
              <a:t>T</a:t>
            </a:r>
            <a:r>
              <a:rPr lang="en-US" dirty="0"/>
              <a:t> (by Exercise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59</a:t>
            </a:r>
            <a:r>
              <a:rPr lang="en-US" dirty="0"/>
              <a:t> of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10.4</a:t>
            </a:r>
            <a:r>
              <a:rPr lang="en-US" dirty="0"/>
              <a:t>). Hence, there is a unique simple path between any two vertices of a tree.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Now assume that there is a unique simple path between any two vertices of a graph </a:t>
            </a:r>
            <a:r>
              <a:rPr lang="en-US" i="1" dirty="0"/>
              <a:t>T</a:t>
            </a:r>
            <a:r>
              <a:rPr lang="en-US" dirty="0"/>
              <a:t>. Then </a:t>
            </a:r>
            <a:r>
              <a:rPr lang="en-US" i="1" dirty="0"/>
              <a:t>T</a:t>
            </a:r>
            <a:r>
              <a:rPr lang="en-US" dirty="0"/>
              <a:t> is connected because there is a path between any two of its vertices.  Furthermore, </a:t>
            </a:r>
            <a:r>
              <a:rPr lang="en-US" i="1" dirty="0"/>
              <a:t>T</a:t>
            </a:r>
            <a:r>
              <a:rPr lang="en-US" dirty="0"/>
              <a:t> can have no simple circuits since if there were a simple circuit, there would be two paths between some two vertices.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Hence, a graph with a unique simple path between any two vertices is a tree.</a:t>
            </a:r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458200" y="5410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A5849D-C23B-08D0-79B3-8B4B76F57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199"/>
            <a:ext cx="9144000" cy="347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3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as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4419600" cy="43891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Trees are used as models in computer science, chemistry, geology, botany,  psychology, and many other areas.</a:t>
            </a:r>
          </a:p>
          <a:p>
            <a:r>
              <a:rPr lang="en-US" dirty="0"/>
              <a:t>Trees were introduced by the mathematician  </a:t>
            </a:r>
            <a:r>
              <a:rPr lang="en-US" dirty="0" err="1"/>
              <a:t>Cayley</a:t>
            </a:r>
            <a:r>
              <a:rPr lang="en-US" dirty="0"/>
              <a:t> in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1857 </a:t>
            </a:r>
            <a:r>
              <a:rPr lang="en-US" dirty="0"/>
              <a:t>in his work counting the number of isomers of saturated hydrocarbons. The two isomers of butane are shown at the right. </a:t>
            </a:r>
          </a:p>
          <a:p>
            <a:r>
              <a:rPr lang="en-US" dirty="0"/>
              <a:t>The organization of a  computer file system into directories, subdirectories, and files is naturally represented as a tree. </a:t>
            </a:r>
          </a:p>
          <a:p>
            <a:r>
              <a:rPr lang="en-US" dirty="0"/>
              <a:t>Trees are used to represent the structure of organizations. 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716449"/>
            <a:ext cx="4838700" cy="16404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625265"/>
            <a:ext cx="3528060" cy="217779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17089"/>
            <a:ext cx="2590800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381000"/>
            <a:ext cx="883158" cy="1030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1200" y="5334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Arthur </a:t>
            </a:r>
            <a:r>
              <a:rPr lang="en-US" dirty="0" err="1"/>
              <a:t>Cayley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1821-1895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6210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DB19-4B8F-4511-173B-C185C367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0F1732-BBC4-65D4-BE70-DC292BE0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9834"/>
            <a:ext cx="9144000" cy="239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6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Rooted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A </a:t>
            </a:r>
            <a:r>
              <a:rPr lang="en-US" i="1" dirty="0"/>
              <a:t>rooted tree </a:t>
            </a:r>
            <a:r>
              <a:rPr lang="en-US" dirty="0"/>
              <a:t>is a tree in which one vertex has been designated as the </a:t>
            </a:r>
            <a:r>
              <a:rPr lang="en-US" i="1" dirty="0"/>
              <a:t>root</a:t>
            </a:r>
            <a:r>
              <a:rPr lang="en-US" dirty="0"/>
              <a:t> and every edge is directed away from the root.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An </a:t>
            </a:r>
            <a:r>
              <a:rPr lang="en-US" dirty="0" err="1"/>
              <a:t>unrooted</a:t>
            </a:r>
            <a:r>
              <a:rPr lang="en-US" dirty="0"/>
              <a:t> tree is converted into different rooted trees when different vertices are chosen as the root.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876800"/>
            <a:ext cx="3756660" cy="125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0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564-E228-8574-0E15-53835666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65B302-5A25-320D-AC1A-AE7D8CBE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737"/>
            <a:ext cx="9144000" cy="18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4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Rooted Tree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077200" cy="438912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Terminology for rooted trees is a                                                                                                                              mix from botany and                                                                                                                                     genealogy (such as this family tree                                                                                                                                    of the Bernoulli family of                                                                                                          mathematicians).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</a:t>
            </a:r>
            <a:r>
              <a:rPr lang="en-US" i="1" dirty="0"/>
              <a:t>v</a:t>
            </a:r>
            <a:r>
              <a:rPr lang="en-US" dirty="0"/>
              <a:t> is a vertex of a rooted tree other than the root, the </a:t>
            </a:r>
            <a:r>
              <a:rPr lang="en-US" i="1" dirty="0"/>
              <a:t>parent</a:t>
            </a:r>
            <a:r>
              <a:rPr lang="en-US" dirty="0"/>
              <a:t> of </a:t>
            </a:r>
            <a:r>
              <a:rPr lang="en-US" i="1" dirty="0"/>
              <a:t>v</a:t>
            </a:r>
            <a:r>
              <a:rPr lang="en-US" dirty="0"/>
              <a:t> is the unique vertex </a:t>
            </a:r>
            <a:r>
              <a:rPr lang="en-US" i="1" dirty="0"/>
              <a:t>u</a:t>
            </a:r>
            <a:r>
              <a:rPr lang="en-US" dirty="0"/>
              <a:t> such that there is a directed edge from </a:t>
            </a:r>
            <a:r>
              <a:rPr lang="en-US" i="1" dirty="0"/>
              <a:t>u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. When </a:t>
            </a:r>
            <a:r>
              <a:rPr lang="en-US" i="1" dirty="0"/>
              <a:t>u</a:t>
            </a:r>
            <a:r>
              <a:rPr lang="en-US" dirty="0"/>
              <a:t> is a parent of 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 is called a </a:t>
            </a:r>
            <a:r>
              <a:rPr lang="en-US" i="1" dirty="0"/>
              <a:t>child</a:t>
            </a:r>
            <a:r>
              <a:rPr lang="en-US" dirty="0"/>
              <a:t> of </a:t>
            </a:r>
            <a:r>
              <a:rPr lang="en-US" i="1" dirty="0"/>
              <a:t>u</a:t>
            </a:r>
            <a:r>
              <a:rPr lang="en-US" dirty="0"/>
              <a:t>. Vertices with the same parent are called </a:t>
            </a:r>
            <a:r>
              <a:rPr lang="en-US" i="1" dirty="0"/>
              <a:t>siblings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i="1" dirty="0"/>
              <a:t>ancestors</a:t>
            </a:r>
            <a:r>
              <a:rPr lang="en-US" dirty="0"/>
              <a:t> of a vertex are the vertices in the path from the root to this vertex, excluding the vertex itself and including the root. The </a:t>
            </a:r>
            <a:r>
              <a:rPr lang="en-US" i="1" dirty="0"/>
              <a:t>descendants </a:t>
            </a:r>
            <a:r>
              <a:rPr lang="en-US" dirty="0"/>
              <a:t>of a vertex </a:t>
            </a:r>
            <a:r>
              <a:rPr lang="en-US" i="1" dirty="0"/>
              <a:t>v</a:t>
            </a:r>
            <a:r>
              <a:rPr lang="en-US" dirty="0"/>
              <a:t> are those vertices that have </a:t>
            </a:r>
            <a:r>
              <a:rPr lang="en-US" i="1" dirty="0"/>
              <a:t>v</a:t>
            </a:r>
            <a:r>
              <a:rPr lang="en-US" dirty="0"/>
              <a:t> as an ancestor.</a:t>
            </a:r>
          </a:p>
          <a:p>
            <a:r>
              <a:rPr lang="en-US" dirty="0"/>
              <a:t>A vertex of a rooted tree with no children is called a </a:t>
            </a:r>
            <a:r>
              <a:rPr lang="en-US" i="1" dirty="0"/>
              <a:t>leaf</a:t>
            </a:r>
            <a:r>
              <a:rPr lang="en-US" dirty="0"/>
              <a:t>. Vertices that have children are called </a:t>
            </a:r>
            <a:r>
              <a:rPr lang="en-US" i="1" dirty="0"/>
              <a:t>internal vertices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vertex in a tree, the </a:t>
            </a:r>
            <a:r>
              <a:rPr lang="en-US" i="1" dirty="0" err="1"/>
              <a:t>subtree</a:t>
            </a:r>
            <a:r>
              <a:rPr lang="en-US" i="1" dirty="0"/>
              <a:t> </a:t>
            </a:r>
            <a:r>
              <a:rPr lang="en-US" dirty="0"/>
              <a:t>with </a:t>
            </a:r>
            <a:r>
              <a:rPr lang="en-US" i="1" dirty="0"/>
              <a:t>a</a:t>
            </a:r>
            <a:r>
              <a:rPr lang="en-US" dirty="0"/>
              <a:t> as its root is the </a:t>
            </a:r>
            <a:r>
              <a:rPr lang="en-US" dirty="0" err="1"/>
              <a:t>subgraph</a:t>
            </a:r>
            <a:r>
              <a:rPr lang="en-US" dirty="0"/>
              <a:t> of the tree consisting of </a:t>
            </a:r>
            <a:r>
              <a:rPr lang="en-US" i="1" dirty="0"/>
              <a:t>a</a:t>
            </a:r>
            <a:r>
              <a:rPr lang="en-US" dirty="0"/>
              <a:t> and its descendants and all edges incident to these descendants.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905000"/>
            <a:ext cx="4315206" cy="205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C89F-92D0-DE42-25A2-AA2E46A8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2544AC-9F6B-B44E-6B90-F0B55159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805"/>
            <a:ext cx="9144000" cy="3554389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0630B14-4AE5-E3F4-C89D-C78E9220B603}"/>
              </a:ext>
            </a:extLst>
          </p:cNvPr>
          <p:cNvCxnSpPr/>
          <p:nvPr/>
        </p:nvCxnSpPr>
        <p:spPr>
          <a:xfrm>
            <a:off x="2971800" y="4419600"/>
            <a:ext cx="533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14C26F-7849-4ACB-4E16-5C0071CE1BE5}"/>
              </a:ext>
            </a:extLst>
          </p:cNvPr>
          <p:cNvCxnSpPr>
            <a:cxnSpLocks/>
          </p:cNvCxnSpPr>
          <p:nvPr/>
        </p:nvCxnSpPr>
        <p:spPr>
          <a:xfrm>
            <a:off x="5410200" y="4419600"/>
            <a:ext cx="685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88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for Rooted Trees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71952"/>
            <a:ext cx="2158746" cy="1977390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981200"/>
            <a:ext cx="6019800" cy="43891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In the rooted tree </a:t>
            </a:r>
            <a:r>
              <a:rPr lang="en-US" i="1" dirty="0"/>
              <a:t>T</a:t>
            </a:r>
            <a:r>
              <a:rPr lang="en-US" dirty="0"/>
              <a:t> (with root </a:t>
            </a:r>
            <a:r>
              <a:rPr lang="en-US" i="1" dirty="0"/>
              <a:t>a</a:t>
            </a:r>
            <a:r>
              <a:rPr lang="en-US" dirty="0"/>
              <a:t>): 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/>
              <a:t>Find the parent of </a:t>
            </a:r>
            <a:r>
              <a:rPr lang="en-US" i="1" dirty="0"/>
              <a:t>c</a:t>
            </a:r>
            <a:r>
              <a:rPr lang="en-US" dirty="0"/>
              <a:t>, the children of </a:t>
            </a:r>
            <a:r>
              <a:rPr lang="en-US" i="1" dirty="0"/>
              <a:t>g</a:t>
            </a:r>
            <a:r>
              <a:rPr lang="en-US" dirty="0"/>
              <a:t>, the siblings   of </a:t>
            </a:r>
            <a:r>
              <a:rPr lang="en-US" i="1" dirty="0"/>
              <a:t>h</a:t>
            </a:r>
            <a:r>
              <a:rPr lang="en-US" dirty="0"/>
              <a:t>, the ancestors of </a:t>
            </a:r>
            <a:r>
              <a:rPr lang="en-US" i="1" dirty="0"/>
              <a:t>e</a:t>
            </a:r>
            <a:r>
              <a:rPr lang="en-US" dirty="0"/>
              <a:t>,  and the descendants of </a:t>
            </a:r>
            <a:r>
              <a:rPr lang="en-US" i="1" dirty="0"/>
              <a:t>b</a:t>
            </a:r>
            <a:r>
              <a:rPr lang="en-US" dirty="0"/>
              <a:t>. 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/>
              <a:t>Find all internal vertices  and all leaves.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/>
              <a:t>What is the </a:t>
            </a:r>
            <a:r>
              <a:rPr lang="en-US" dirty="0" err="1"/>
              <a:t>subtree</a:t>
            </a:r>
            <a:r>
              <a:rPr lang="en-US" dirty="0"/>
              <a:t> rooted at </a:t>
            </a:r>
            <a:r>
              <a:rPr lang="en-US" i="1" dirty="0"/>
              <a:t>G</a:t>
            </a:r>
            <a:r>
              <a:rPr lang="en-US" dirty="0"/>
              <a:t>?</a:t>
            </a:r>
          </a:p>
          <a:p>
            <a:pPr indent="0">
              <a:buNone/>
            </a:pPr>
            <a:endParaRPr lang="en-US" dirty="0"/>
          </a:p>
          <a:p>
            <a:pPr marL="845820" indent="-571500">
              <a:buAutoNum type="romanLcParenBoth"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>
                <a:solidFill>
                  <a:prstClr val="black"/>
                </a:solidFill>
              </a:rPr>
              <a:t>The parent of </a:t>
            </a:r>
            <a:r>
              <a:rPr lang="en-US" i="1" dirty="0">
                <a:solidFill>
                  <a:prstClr val="black"/>
                </a:solidFill>
              </a:rPr>
              <a:t>c</a:t>
            </a:r>
            <a:r>
              <a:rPr lang="en-US" dirty="0">
                <a:solidFill>
                  <a:prstClr val="black"/>
                </a:solidFill>
              </a:rPr>
              <a:t> is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. The children of </a:t>
            </a:r>
            <a:r>
              <a:rPr lang="en-US" i="1" dirty="0">
                <a:solidFill>
                  <a:prstClr val="black"/>
                </a:solidFill>
              </a:rPr>
              <a:t>g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>
                <a:solidFill>
                  <a:prstClr val="black"/>
                </a:solidFill>
              </a:rPr>
              <a:t>h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i="1" dirty="0" err="1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j</a:t>
            </a:r>
            <a:r>
              <a:rPr lang="en-US" dirty="0">
                <a:solidFill>
                  <a:prstClr val="black"/>
                </a:solidFill>
              </a:rPr>
              <a:t>. The siblings of </a:t>
            </a:r>
            <a:r>
              <a:rPr lang="en-US" i="1" dirty="0">
                <a:solidFill>
                  <a:prstClr val="black"/>
                </a:solidFill>
              </a:rPr>
              <a:t>h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 err="1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 and </a:t>
            </a:r>
            <a:r>
              <a:rPr lang="en-US" i="1" dirty="0">
                <a:solidFill>
                  <a:prstClr val="black"/>
                </a:solidFill>
              </a:rPr>
              <a:t>j</a:t>
            </a:r>
            <a:r>
              <a:rPr lang="en-US" dirty="0">
                <a:solidFill>
                  <a:prstClr val="black"/>
                </a:solidFill>
              </a:rPr>
              <a:t>. The ancestors of </a:t>
            </a:r>
            <a:r>
              <a:rPr lang="en-US" i="1" dirty="0">
                <a:solidFill>
                  <a:prstClr val="black"/>
                </a:solidFill>
              </a:rPr>
              <a:t>e</a:t>
            </a:r>
            <a:r>
              <a:rPr lang="en-US" dirty="0">
                <a:solidFill>
                  <a:prstClr val="black"/>
                </a:solidFill>
              </a:rPr>
              <a:t> are c,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a</a:t>
            </a:r>
            <a:r>
              <a:rPr lang="en-US" dirty="0">
                <a:solidFill>
                  <a:prstClr val="black"/>
                </a:solidFill>
              </a:rPr>
              <a:t>. The descendants of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>
                <a:solidFill>
                  <a:prstClr val="black"/>
                </a:solidFill>
              </a:rPr>
              <a:t>c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i="1" dirty="0">
                <a:solidFill>
                  <a:prstClr val="black"/>
                </a:solidFill>
              </a:rPr>
              <a:t>d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e</a:t>
            </a:r>
            <a:r>
              <a:rPr lang="en-US" dirty="0">
                <a:solidFill>
                  <a:prstClr val="black"/>
                </a:solidFill>
              </a:rPr>
              <a:t>. </a:t>
            </a: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/>
              <a:t>The internal vertices are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dirty="0"/>
              <a:t>, and </a:t>
            </a:r>
            <a:r>
              <a:rPr lang="en-US" i="1" dirty="0"/>
              <a:t>j</a:t>
            </a:r>
            <a:r>
              <a:rPr lang="en-US" dirty="0"/>
              <a:t>. The leaves are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l</a:t>
            </a:r>
            <a:r>
              <a:rPr lang="en-US" dirty="0"/>
              <a:t>, and </a:t>
            </a:r>
            <a:r>
              <a:rPr lang="en-US" i="1" dirty="0"/>
              <a:t>m</a:t>
            </a:r>
            <a:r>
              <a:rPr lang="en-US" dirty="0"/>
              <a:t>.  </a:t>
            </a:r>
            <a:endParaRPr lang="en-US" dirty="0">
              <a:solidFill>
                <a:prstClr val="black"/>
              </a:solidFill>
            </a:endParaRP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/>
              <a:t>We display the </a:t>
            </a:r>
            <a:r>
              <a:rPr lang="en-US" dirty="0" err="1"/>
              <a:t>subtree</a:t>
            </a:r>
            <a:r>
              <a:rPr lang="en-US" dirty="0"/>
              <a:t> rooted at </a:t>
            </a:r>
            <a:r>
              <a:rPr lang="en-US" i="1" dirty="0"/>
              <a:t>g</a:t>
            </a:r>
            <a:r>
              <a:rPr lang="en-US" dirty="0"/>
              <a:t>.</a:t>
            </a:r>
          </a:p>
          <a:p>
            <a:pPr marL="1211580" lvl="1" indent="-571500">
              <a:buClr>
                <a:srgbClr val="0BD0D9"/>
              </a:buClr>
              <a:buFont typeface="Wingdings 2"/>
              <a:buAutoNum type="romanLcParenBoth"/>
            </a:pPr>
            <a:endParaRPr lang="en-US" dirty="0"/>
          </a:p>
        </p:txBody>
      </p:sp>
      <p:pic>
        <p:nvPicPr>
          <p:cNvPr id="1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4724400"/>
            <a:ext cx="1084326" cy="140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93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6F8E-0253-12AA-4E0E-140692D2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E528B4-7CF7-660D-6899-F8D247437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556"/>
            <a:ext cx="9144000" cy="51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3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Rooted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n-US" sz="7200" b="1" dirty="0"/>
              <a:t>Definition</a:t>
            </a:r>
            <a:r>
              <a:rPr lang="en-US" sz="7200" dirty="0"/>
              <a:t>: A rooted tree is called an </a:t>
            </a:r>
            <a:r>
              <a:rPr lang="en-US" sz="7200" i="1" dirty="0"/>
              <a:t>m-</a:t>
            </a:r>
            <a:r>
              <a:rPr lang="en-US" sz="7200" i="1" dirty="0" err="1"/>
              <a:t>ary</a:t>
            </a:r>
            <a:r>
              <a:rPr lang="en-US" sz="7200" i="1" dirty="0"/>
              <a:t> tree </a:t>
            </a:r>
            <a:r>
              <a:rPr lang="en-US" sz="7200" dirty="0"/>
              <a:t>if every internal vertex has no more than </a:t>
            </a:r>
            <a:r>
              <a:rPr lang="en-US" sz="7200" i="1" dirty="0"/>
              <a:t>m</a:t>
            </a:r>
            <a:r>
              <a:rPr lang="en-US" sz="7200" dirty="0"/>
              <a:t> children. The tree is called a </a:t>
            </a:r>
            <a:r>
              <a:rPr lang="en-US" sz="7200" i="1" dirty="0"/>
              <a:t>full m-</a:t>
            </a:r>
            <a:r>
              <a:rPr lang="en-US" sz="7200" i="1" dirty="0" err="1"/>
              <a:t>ary</a:t>
            </a:r>
            <a:r>
              <a:rPr lang="en-US" sz="7200" i="1" dirty="0"/>
              <a:t> tree </a:t>
            </a:r>
            <a:r>
              <a:rPr lang="en-US" sz="7200" dirty="0"/>
              <a:t>if every internal vertex has exactly </a:t>
            </a:r>
            <a:r>
              <a:rPr lang="en-US" sz="7200" i="1" dirty="0"/>
              <a:t>m</a:t>
            </a:r>
            <a:r>
              <a:rPr lang="en-US" sz="7200" dirty="0"/>
              <a:t> children. An </a:t>
            </a:r>
            <a:r>
              <a:rPr lang="en-US" sz="7200" i="1" dirty="0"/>
              <a:t>m</a:t>
            </a:r>
            <a:r>
              <a:rPr lang="en-US" sz="7200" dirty="0"/>
              <a:t>-</a:t>
            </a:r>
            <a:r>
              <a:rPr lang="en-US" sz="7200" dirty="0" err="1"/>
              <a:t>ary</a:t>
            </a:r>
            <a:r>
              <a:rPr lang="en-US" sz="7200" dirty="0"/>
              <a:t> tree with </a:t>
            </a:r>
            <a:r>
              <a:rPr lang="en-US" sz="7200" i="1" dirty="0"/>
              <a:t>m</a:t>
            </a:r>
            <a:r>
              <a:rPr lang="en-US" sz="7200" dirty="0"/>
              <a:t> = </a:t>
            </a:r>
            <a:r>
              <a:rPr lang="en-US" sz="72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7200" dirty="0"/>
              <a:t> is called a </a:t>
            </a:r>
            <a:r>
              <a:rPr lang="en-US" sz="7200" i="1" dirty="0"/>
              <a:t>binary</a:t>
            </a:r>
            <a:r>
              <a:rPr lang="en-US" sz="7200" dirty="0"/>
              <a:t> tree.</a:t>
            </a:r>
          </a:p>
          <a:p>
            <a:pPr indent="0">
              <a:buNone/>
            </a:pPr>
            <a:endParaRPr lang="en-US" sz="7200" dirty="0"/>
          </a:p>
          <a:p>
            <a:pPr indent="0">
              <a:buNone/>
            </a:pPr>
            <a:r>
              <a:rPr lang="en-US" sz="7200" b="1" dirty="0"/>
              <a:t>Example</a:t>
            </a:r>
            <a:r>
              <a:rPr lang="en-US" sz="7200" dirty="0"/>
              <a:t>: Are the following rooted trees full </a:t>
            </a:r>
            <a:r>
              <a:rPr lang="en-US" sz="7200" i="1" dirty="0"/>
              <a:t>m</a:t>
            </a:r>
            <a:r>
              <a:rPr lang="en-US" sz="7200" dirty="0"/>
              <a:t>-</a:t>
            </a:r>
            <a:r>
              <a:rPr lang="en-US" sz="7200" dirty="0" err="1"/>
              <a:t>ary</a:t>
            </a:r>
            <a:r>
              <a:rPr lang="en-US" sz="7200" dirty="0"/>
              <a:t> trees for some positive integer </a:t>
            </a:r>
            <a:r>
              <a:rPr lang="en-US" sz="7200" i="1" dirty="0"/>
              <a:t>m</a:t>
            </a:r>
            <a:r>
              <a:rPr lang="en-US" sz="7200" dirty="0"/>
              <a:t>?</a:t>
            </a:r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r>
              <a:rPr lang="en-US" sz="7200" b="1" dirty="0"/>
              <a:t>Solution</a:t>
            </a:r>
            <a:r>
              <a:rPr lang="en-US" sz="7200" dirty="0"/>
              <a:t>: </a:t>
            </a:r>
            <a:r>
              <a:rPr lang="en-US" sz="7200" i="1" dirty="0"/>
              <a:t>T</a:t>
            </a:r>
            <a:r>
              <a:rPr lang="en-US" sz="72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7200" dirty="0"/>
              <a:t> is a full binary tree because each of its internal vertices has two children. </a:t>
            </a:r>
            <a:r>
              <a:rPr lang="en-US" sz="7200" i="1" dirty="0"/>
              <a:t>T</a:t>
            </a:r>
            <a:r>
              <a:rPr lang="en-US" sz="72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7200" baseline="-25000" dirty="0"/>
              <a:t> </a:t>
            </a:r>
            <a:r>
              <a:rPr lang="en-US" sz="7200" dirty="0"/>
              <a:t>is a full </a:t>
            </a:r>
            <a:r>
              <a:rPr lang="en-US" sz="72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/>
              <a:t>-ary tree because each of its internal vertices has three children. In </a:t>
            </a:r>
            <a:r>
              <a:rPr lang="en-US" sz="7200" i="1" dirty="0"/>
              <a:t>T</a:t>
            </a:r>
            <a:r>
              <a:rPr lang="en-US" sz="72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/>
              <a:t> each internal vertex has five children, so </a:t>
            </a:r>
            <a:r>
              <a:rPr lang="en-US" sz="7200" i="1" dirty="0"/>
              <a:t>T</a:t>
            </a:r>
            <a:r>
              <a:rPr lang="en-US" sz="7200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/>
              <a:t> is a full </a:t>
            </a:r>
            <a:r>
              <a:rPr lang="en-US" sz="72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7200" dirty="0"/>
              <a:t>-ary tree. </a:t>
            </a:r>
            <a:r>
              <a:rPr lang="en-US" sz="7200" i="1" dirty="0"/>
              <a:t>T</a:t>
            </a:r>
            <a:r>
              <a:rPr lang="en-US" sz="7200" baseline="-25000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7200" baseline="-25000" dirty="0"/>
              <a:t> </a:t>
            </a:r>
            <a:r>
              <a:rPr lang="en-US" sz="7200" dirty="0"/>
              <a:t>is not a full </a:t>
            </a:r>
            <a:r>
              <a:rPr lang="en-US" sz="7200" i="1" dirty="0"/>
              <a:t>m</a:t>
            </a:r>
            <a:r>
              <a:rPr lang="en-US" sz="7200" dirty="0"/>
              <a:t>-</a:t>
            </a:r>
            <a:r>
              <a:rPr lang="en-US" sz="7200" dirty="0" err="1"/>
              <a:t>ary</a:t>
            </a:r>
            <a:r>
              <a:rPr lang="en-US" sz="7200" dirty="0"/>
              <a:t> tree for any m because some of its internal vertices have two children and others have three children.</a:t>
            </a:r>
          </a:p>
          <a:p>
            <a:pPr indent="0">
              <a:buNone/>
            </a:pPr>
            <a:endParaRPr lang="en-US" sz="7200" dirty="0"/>
          </a:p>
          <a:p>
            <a:pPr indent="0">
              <a:buNone/>
            </a:pPr>
            <a:endParaRPr lang="en-US" sz="7200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733800"/>
            <a:ext cx="5778246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00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3B08-60A9-646F-A9B7-D8BF6E41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4DD225-B899-693F-3011-42465234E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135"/>
            <a:ext cx="9144000" cy="37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8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Rooted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indent="0">
              <a:buNone/>
            </a:pPr>
            <a:r>
              <a:rPr lang="en-US" sz="1400" b="1" dirty="0"/>
              <a:t>Definition</a:t>
            </a:r>
            <a:r>
              <a:rPr lang="en-US" sz="1400" dirty="0"/>
              <a:t>: An </a:t>
            </a:r>
            <a:r>
              <a:rPr lang="en-US" sz="1400" i="1" dirty="0"/>
              <a:t>ordered rooted tree </a:t>
            </a:r>
            <a:r>
              <a:rPr lang="en-US" sz="1400" dirty="0"/>
              <a:t>is a rooted tree where the children of each internal vertex are ordered.</a:t>
            </a:r>
          </a:p>
          <a:p>
            <a:pPr lvl="1"/>
            <a:r>
              <a:rPr lang="en-US" sz="1400" dirty="0"/>
              <a:t>We draw ordered rooted trees so that the children of each internal vertex are shown in order from left to right.</a:t>
            </a:r>
          </a:p>
          <a:p>
            <a:pPr marL="393192" lvl="1" indent="0">
              <a:buNone/>
            </a:pPr>
            <a:endParaRPr lang="en-US" sz="1400" dirty="0"/>
          </a:p>
          <a:p>
            <a:pPr marL="274320" lvl="1" indent="0">
              <a:spcBef>
                <a:spcPts val="0"/>
              </a:spcBef>
              <a:buNone/>
            </a:pPr>
            <a:r>
              <a:rPr lang="en-US" sz="1400" b="1" dirty="0"/>
              <a:t>Definition</a:t>
            </a:r>
            <a:r>
              <a:rPr lang="en-US" sz="1400" dirty="0"/>
              <a:t>: A </a:t>
            </a:r>
            <a:r>
              <a:rPr lang="en-US" sz="1400" i="1" dirty="0"/>
              <a:t>binary tree </a:t>
            </a:r>
            <a:r>
              <a:rPr lang="en-US" sz="1400" dirty="0"/>
              <a:t>is an ordered rooted where </a:t>
            </a:r>
            <a:r>
              <a:rPr lang="en-US" sz="1400" dirty="0" err="1"/>
              <a:t>where</a:t>
            </a:r>
            <a:r>
              <a:rPr lang="en-US" sz="1400" dirty="0"/>
              <a:t> each internal vertex has at most two children.   If an internal vertex of a binary tree has two children, the first is called the </a:t>
            </a:r>
            <a:r>
              <a:rPr lang="en-US" sz="1400" i="1" dirty="0"/>
              <a:t>left child </a:t>
            </a:r>
            <a:r>
              <a:rPr lang="en-US" sz="1400" dirty="0"/>
              <a:t>and the second the </a:t>
            </a:r>
            <a:r>
              <a:rPr lang="en-US" sz="1400" i="1" dirty="0"/>
              <a:t>right child</a:t>
            </a:r>
            <a:r>
              <a:rPr lang="en-US" sz="1400" dirty="0"/>
              <a:t>. The tree rooted at the left child of a vertex is called the </a:t>
            </a:r>
            <a:r>
              <a:rPr lang="en-US" sz="1400" i="1" dirty="0"/>
              <a:t>left </a:t>
            </a:r>
            <a:r>
              <a:rPr lang="en-US" sz="1400" i="1" dirty="0" err="1"/>
              <a:t>subtree</a:t>
            </a:r>
            <a:r>
              <a:rPr lang="en-US" sz="1400" i="1" dirty="0"/>
              <a:t> </a:t>
            </a:r>
            <a:r>
              <a:rPr lang="en-US" sz="1400" dirty="0"/>
              <a:t>of this vertex, and the tree rooted at the right child of a vertex is called the </a:t>
            </a:r>
            <a:r>
              <a:rPr lang="en-US" sz="1400" i="1" dirty="0"/>
              <a:t>right </a:t>
            </a:r>
            <a:r>
              <a:rPr lang="en-US" sz="1400" i="1" dirty="0" err="1"/>
              <a:t>subtree</a:t>
            </a:r>
            <a:r>
              <a:rPr lang="en-US" sz="1400" i="1" dirty="0"/>
              <a:t> </a:t>
            </a:r>
            <a:r>
              <a:rPr lang="en-US" sz="1400" dirty="0"/>
              <a:t>of this vertex.</a:t>
            </a:r>
          </a:p>
          <a:p>
            <a:pPr lvl="1"/>
            <a:endParaRPr lang="en-US" sz="1400" dirty="0"/>
          </a:p>
          <a:p>
            <a:pPr indent="0">
              <a:buNone/>
            </a:pPr>
            <a:r>
              <a:rPr lang="en-US" sz="1400" b="1" dirty="0"/>
              <a:t>Example</a:t>
            </a:r>
            <a:r>
              <a:rPr lang="en-US" sz="1400" dirty="0"/>
              <a:t>:  Consider the binary tree </a:t>
            </a:r>
            <a:r>
              <a:rPr lang="en-US" sz="1400" i="1" dirty="0"/>
              <a:t>T</a:t>
            </a:r>
            <a:r>
              <a:rPr lang="en-US" sz="1400" dirty="0"/>
              <a:t>. </a:t>
            </a:r>
          </a:p>
          <a:p>
            <a:pPr indent="0">
              <a:buNone/>
            </a:pPr>
            <a:r>
              <a:rPr lang="en-US" sz="1400" dirty="0"/>
              <a:t>  </a:t>
            </a:r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i="1" dirty="0" err="1">
                <a:solidFill>
                  <a:schemeClr val="accent2"/>
                </a:solidFill>
              </a:rPr>
              <a:t>i</a:t>
            </a:r>
            <a:r>
              <a:rPr lang="en-US" sz="1400" dirty="0">
                <a:solidFill>
                  <a:schemeClr val="accent2"/>
                </a:solidFill>
              </a:rPr>
              <a:t>)</a:t>
            </a:r>
            <a:r>
              <a:rPr lang="en-US" sz="1400" dirty="0"/>
              <a:t>  What are the left and right children of </a:t>
            </a:r>
            <a:r>
              <a:rPr lang="en-US" sz="1400" i="1" dirty="0"/>
              <a:t>d</a:t>
            </a:r>
            <a:r>
              <a:rPr lang="en-US" sz="1400" dirty="0"/>
              <a:t>? </a:t>
            </a:r>
          </a:p>
          <a:p>
            <a:pPr indent="0">
              <a:buNone/>
            </a:pP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i="1" dirty="0">
                <a:solidFill>
                  <a:schemeClr val="accent2"/>
                </a:solidFill>
              </a:rPr>
              <a:t>ii</a:t>
            </a:r>
            <a:r>
              <a:rPr lang="en-US" sz="1400" dirty="0">
                <a:solidFill>
                  <a:schemeClr val="accent2"/>
                </a:solidFill>
              </a:rPr>
              <a:t>)  </a:t>
            </a:r>
            <a:r>
              <a:rPr lang="en-US" sz="1400" dirty="0"/>
              <a:t>What are the left and right </a:t>
            </a:r>
            <a:r>
              <a:rPr lang="en-US" sz="1400" dirty="0" err="1"/>
              <a:t>subtrees</a:t>
            </a:r>
            <a:r>
              <a:rPr lang="en-US" sz="1400" dirty="0"/>
              <a:t> of </a:t>
            </a:r>
            <a:r>
              <a:rPr lang="en-US" sz="1400" i="1" dirty="0"/>
              <a:t>c</a:t>
            </a:r>
            <a:r>
              <a:rPr lang="en-US" sz="1400" dirty="0"/>
              <a:t>?</a:t>
            </a:r>
          </a:p>
          <a:p>
            <a:pPr indent="0">
              <a:lnSpc>
                <a:spcPts val="1400"/>
              </a:lnSpc>
              <a:buNone/>
            </a:pPr>
            <a:r>
              <a:rPr lang="en-US" sz="1400" b="1" dirty="0"/>
              <a:t>Solution</a:t>
            </a:r>
            <a:r>
              <a:rPr lang="en-US" sz="1400" dirty="0"/>
              <a:t>: </a:t>
            </a:r>
          </a:p>
          <a:p>
            <a:pPr indent="0">
              <a:lnSpc>
                <a:spcPct val="150000"/>
              </a:lnSpc>
              <a:buNone/>
            </a:pPr>
            <a:r>
              <a:rPr lang="en-US" sz="1400" dirty="0"/>
              <a:t>   </a:t>
            </a:r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i="1" dirty="0" err="1">
                <a:solidFill>
                  <a:schemeClr val="accent2"/>
                </a:solidFill>
              </a:rPr>
              <a:t>i</a:t>
            </a:r>
            <a:r>
              <a:rPr lang="en-US" sz="1400" dirty="0">
                <a:solidFill>
                  <a:schemeClr val="accent2"/>
                </a:solidFill>
              </a:rPr>
              <a:t>) </a:t>
            </a:r>
            <a:r>
              <a:rPr lang="en-US" sz="1400" dirty="0"/>
              <a:t>The left child of </a:t>
            </a:r>
            <a:r>
              <a:rPr lang="en-US" sz="1400" i="1" dirty="0"/>
              <a:t>d</a:t>
            </a:r>
            <a:r>
              <a:rPr lang="en-US" sz="1400" dirty="0"/>
              <a:t> is </a:t>
            </a:r>
            <a:r>
              <a:rPr lang="en-US" sz="1400" i="1" dirty="0"/>
              <a:t>f</a:t>
            </a:r>
            <a:r>
              <a:rPr lang="en-US" sz="1400" dirty="0"/>
              <a:t> and the right child is </a:t>
            </a:r>
            <a:r>
              <a:rPr lang="en-US" sz="1400" i="1" dirty="0"/>
              <a:t>g</a:t>
            </a:r>
            <a:r>
              <a:rPr lang="en-US" sz="1400" dirty="0"/>
              <a:t>. </a:t>
            </a:r>
          </a:p>
          <a:p>
            <a:pPr indent="0">
              <a:lnSpc>
                <a:spcPts val="1300"/>
              </a:lnSpc>
              <a:buNone/>
            </a:pPr>
            <a:r>
              <a:rPr lang="en-US" sz="1400" dirty="0"/>
              <a:t>  </a:t>
            </a:r>
            <a:r>
              <a:rPr lang="en-US" sz="1400" dirty="0">
                <a:solidFill>
                  <a:schemeClr val="accent2"/>
                </a:solidFill>
              </a:rPr>
              <a:t>(</a:t>
            </a:r>
            <a:r>
              <a:rPr lang="en-US" sz="1400" i="1" dirty="0">
                <a:solidFill>
                  <a:schemeClr val="accent2"/>
                </a:solidFill>
              </a:rPr>
              <a:t>ii</a:t>
            </a:r>
            <a:r>
              <a:rPr lang="en-US" sz="1400" dirty="0">
                <a:solidFill>
                  <a:schemeClr val="accent2"/>
                </a:solidFill>
              </a:rPr>
              <a:t>) </a:t>
            </a:r>
            <a:r>
              <a:rPr lang="en-US" sz="1400" dirty="0"/>
              <a:t>The left and right </a:t>
            </a:r>
            <a:r>
              <a:rPr lang="en-US" sz="1400" dirty="0" err="1"/>
              <a:t>subtrees</a:t>
            </a:r>
            <a:r>
              <a:rPr lang="en-US" sz="1400" dirty="0"/>
              <a:t> of </a:t>
            </a:r>
            <a:r>
              <a:rPr lang="en-US" sz="1400" i="1" dirty="0"/>
              <a:t>c</a:t>
            </a:r>
            <a:r>
              <a:rPr lang="en-US" sz="1400" dirty="0"/>
              <a:t> are displayed in                                                                                     </a:t>
            </a:r>
          </a:p>
          <a:p>
            <a:pPr indent="0">
              <a:lnSpc>
                <a:spcPts val="1300"/>
              </a:lnSpc>
              <a:buNone/>
            </a:pPr>
            <a:r>
              <a:rPr lang="en-US" sz="1400" dirty="0"/>
              <a:t>        (b) and (c).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57" y="4495800"/>
            <a:ext cx="3042666" cy="16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2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A424-C1C6-FE29-CF6A-7E5058B4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DFC46D-F450-7CF2-C70C-6E7B02D5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686800" cy="560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69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: A tree with </a:t>
            </a:r>
            <a:r>
              <a:rPr lang="en-US" i="1" dirty="0"/>
              <a:t>n</a:t>
            </a:r>
            <a:r>
              <a:rPr lang="en-US" dirty="0"/>
              <a:t> vertices has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edges.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i="1" dirty="0"/>
              <a:t>by mathematical induction</a:t>
            </a:r>
            <a:r>
              <a:rPr lang="en-US" b="1" dirty="0"/>
              <a:t>):</a:t>
            </a:r>
          </a:p>
          <a:p>
            <a:pPr indent="0">
              <a:buNone/>
            </a:pPr>
            <a:r>
              <a:rPr lang="en-US" i="1" dirty="0"/>
              <a:t>BASIS STEP</a:t>
            </a:r>
            <a:r>
              <a:rPr lang="en-US" dirty="0"/>
              <a:t>: When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a tree with one vertex has no edges. Hence, the theorem holds when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indent="0">
              <a:buNone/>
            </a:pPr>
            <a:r>
              <a:rPr lang="en-US" i="1" dirty="0"/>
              <a:t>INDUCTIVE STEP</a:t>
            </a:r>
            <a:r>
              <a:rPr lang="en-US" dirty="0"/>
              <a:t>: Assume that every tree with </a:t>
            </a:r>
            <a:r>
              <a:rPr lang="en-US" i="1" dirty="0"/>
              <a:t>k</a:t>
            </a:r>
            <a:r>
              <a:rPr lang="en-US" dirty="0"/>
              <a:t> vertices has 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edges. </a:t>
            </a:r>
          </a:p>
          <a:p>
            <a:pPr indent="0">
              <a:buNone/>
            </a:pPr>
            <a:r>
              <a:rPr lang="en-US" dirty="0"/>
              <a:t>Suppose that a tree </a:t>
            </a:r>
            <a:r>
              <a:rPr lang="en-US" i="1" dirty="0"/>
              <a:t>T</a:t>
            </a:r>
            <a:r>
              <a:rPr lang="en-US" dirty="0"/>
              <a:t> has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vertices and that </a:t>
            </a:r>
            <a:r>
              <a:rPr lang="en-US" i="1" dirty="0"/>
              <a:t>v</a:t>
            </a:r>
            <a:r>
              <a:rPr lang="en-US" dirty="0"/>
              <a:t> is a leaf of </a:t>
            </a:r>
            <a:r>
              <a:rPr lang="en-US" i="1" dirty="0"/>
              <a:t>T</a:t>
            </a:r>
            <a:r>
              <a:rPr lang="en-US" dirty="0"/>
              <a:t>. Let </a:t>
            </a:r>
            <a:r>
              <a:rPr lang="en-US" i="1" dirty="0"/>
              <a:t>w </a:t>
            </a:r>
            <a:r>
              <a:rPr lang="en-US" dirty="0"/>
              <a:t>be the parent of </a:t>
            </a:r>
            <a:r>
              <a:rPr lang="en-US" i="1" dirty="0"/>
              <a:t>v</a:t>
            </a:r>
            <a:r>
              <a:rPr lang="en-US" dirty="0"/>
              <a:t>. Removing the vertex </a:t>
            </a:r>
            <a:r>
              <a:rPr lang="en-US" i="1" dirty="0"/>
              <a:t>v</a:t>
            </a:r>
            <a:r>
              <a:rPr lang="en-US" dirty="0"/>
              <a:t> and the edge connecting </a:t>
            </a:r>
            <a:r>
              <a:rPr lang="en-US" i="1" dirty="0"/>
              <a:t>w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 produces a tree </a:t>
            </a:r>
            <a:r>
              <a:rPr lang="en-US" i="1" dirty="0"/>
              <a:t>T</a:t>
            </a:r>
            <a:r>
              <a:rPr lang="en-US" dirty="0">
                <a:latin typeface="Cambria Math"/>
                <a:ea typeface="Cambria Math"/>
              </a:rPr>
              <a:t>′</a:t>
            </a:r>
            <a:r>
              <a:rPr lang="en-US" dirty="0"/>
              <a:t> with </a:t>
            </a:r>
            <a:r>
              <a:rPr lang="en-US" i="1" dirty="0"/>
              <a:t>k</a:t>
            </a:r>
            <a:r>
              <a:rPr lang="en-US" dirty="0"/>
              <a:t> vertices. By the inductive hypothesis, </a:t>
            </a:r>
            <a:r>
              <a:rPr lang="en-US" i="1" dirty="0"/>
              <a:t>T</a:t>
            </a:r>
            <a:r>
              <a:rPr lang="en-US" dirty="0">
                <a:latin typeface="Cambria Math"/>
                <a:ea typeface="Cambria Math"/>
              </a:rPr>
              <a:t>′</a:t>
            </a:r>
            <a:r>
              <a:rPr lang="en-US" dirty="0"/>
              <a:t> has </a:t>
            </a:r>
            <a:r>
              <a:rPr lang="en-US" i="1" dirty="0"/>
              <a:t>k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edges. Because </a:t>
            </a:r>
            <a:r>
              <a:rPr lang="en-US" i="1" dirty="0"/>
              <a:t>T</a:t>
            </a:r>
            <a:r>
              <a:rPr lang="en-US" dirty="0"/>
              <a:t> has one more edge  than </a:t>
            </a:r>
            <a:r>
              <a:rPr lang="en-US" i="1" dirty="0"/>
              <a:t>T</a:t>
            </a:r>
            <a:r>
              <a:rPr lang="en-US" dirty="0">
                <a:latin typeface="Cambria Math"/>
                <a:ea typeface="Cambria Math"/>
              </a:rPr>
              <a:t>′</a:t>
            </a:r>
            <a:r>
              <a:rPr lang="en-US" dirty="0"/>
              <a:t>, we see that </a:t>
            </a:r>
            <a:r>
              <a:rPr lang="en-US" i="1" dirty="0"/>
              <a:t>T</a:t>
            </a:r>
            <a:r>
              <a:rPr lang="en-US" dirty="0"/>
              <a:t> has </a:t>
            </a:r>
            <a:r>
              <a:rPr lang="en-US" i="1" dirty="0"/>
              <a:t>k</a:t>
            </a:r>
            <a:r>
              <a:rPr lang="en-US" dirty="0"/>
              <a:t> edges. This completes the inductive step.</a:t>
            </a:r>
          </a:p>
          <a:p>
            <a:pPr indent="0"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295863" y="5943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06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127F-C8EE-F390-3652-4B3F1B4B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1D3574-2377-F0CA-7845-23585F82E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600200"/>
            <a:ext cx="8305800" cy="40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9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Counting Vertices in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: A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with </a:t>
            </a:r>
            <a:r>
              <a:rPr lang="en-US" i="1" dirty="0" err="1"/>
              <a:t>i</a:t>
            </a:r>
            <a:r>
              <a:rPr lang="en-US" dirty="0"/>
              <a:t> internal vertices has  </a:t>
            </a:r>
            <a:r>
              <a:rPr lang="en-US" i="1" dirty="0"/>
              <a:t>n = mi 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vertices.</a:t>
            </a:r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: Every vertex, except the root, is the child of an internal vertex. Because each of the </a:t>
            </a:r>
            <a:r>
              <a:rPr lang="en-US" i="1" dirty="0" err="1"/>
              <a:t>i</a:t>
            </a:r>
            <a:r>
              <a:rPr lang="en-US" dirty="0"/>
              <a:t> internal vertices has </a:t>
            </a:r>
            <a:r>
              <a:rPr lang="en-US" i="1" dirty="0"/>
              <a:t>m</a:t>
            </a:r>
            <a:r>
              <a:rPr lang="en-US" dirty="0"/>
              <a:t> children, there are </a:t>
            </a:r>
            <a:r>
              <a:rPr lang="en-US" i="1" dirty="0"/>
              <a:t>mi</a:t>
            </a:r>
            <a:r>
              <a:rPr lang="en-US" dirty="0"/>
              <a:t> vertices in the tree other than the root. Hence, the tree contains </a:t>
            </a:r>
            <a:r>
              <a:rPr lang="en-US" i="1" dirty="0"/>
              <a:t>n = mi 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vertices.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116961" y="4572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917FFE-5D45-CC78-A7A6-D286FEC0B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76800"/>
            <a:ext cx="8839200" cy="192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03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Counting Vertices in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Trees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: A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with </a:t>
            </a:r>
          </a:p>
          <a:p>
            <a:pPr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i="1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i="1" dirty="0"/>
              <a:t> </a:t>
            </a:r>
          </a:p>
          <a:p>
            <a:pPr lvl="1" indent="0">
              <a:buNone/>
            </a:pPr>
            <a:endParaRPr lang="en-US" i="1" dirty="0">
              <a:latin typeface="Cambria Math"/>
              <a:ea typeface="Cambria Math"/>
            </a:endParaRPr>
          </a:p>
          <a:p>
            <a:pPr lvl="1" indent="0">
              <a:buNone/>
            </a:pPr>
            <a:r>
              <a:rPr lang="en-US" dirty="0">
                <a:solidFill>
                  <a:schemeClr val="accent1"/>
                </a:solidFill>
                <a:ea typeface="Cambria Math"/>
              </a:rPr>
              <a:t>(</a:t>
            </a:r>
            <a:r>
              <a:rPr lang="en-US" i="1" dirty="0">
                <a:solidFill>
                  <a:schemeClr val="accent1"/>
                </a:solidFill>
                <a:ea typeface="Cambria Math"/>
              </a:rPr>
              <a:t>ii</a:t>
            </a:r>
            <a:r>
              <a:rPr lang="en-US" dirty="0">
                <a:solidFill>
                  <a:schemeClr val="accent1"/>
                </a:solidFill>
                <a:ea typeface="Cambria Math"/>
              </a:rPr>
              <a:t>)</a:t>
            </a:r>
          </a:p>
          <a:p>
            <a:pPr lvl="1" indent="0">
              <a:buNone/>
            </a:pPr>
            <a:endParaRPr lang="en-US" dirty="0">
              <a:solidFill>
                <a:schemeClr val="accent1"/>
              </a:solidFill>
              <a:ea typeface="Cambria Math"/>
            </a:endParaRPr>
          </a:p>
          <a:p>
            <a:pPr lvl="1" indent="0">
              <a:buNone/>
            </a:pPr>
            <a:r>
              <a:rPr lang="en-US" dirty="0">
                <a:solidFill>
                  <a:schemeClr val="accent1"/>
                </a:solidFill>
                <a:ea typeface="Cambria Math"/>
              </a:rPr>
              <a:t>(</a:t>
            </a:r>
            <a:r>
              <a:rPr lang="en-US" i="1" dirty="0">
                <a:solidFill>
                  <a:schemeClr val="accent1"/>
                </a:solidFill>
                <a:ea typeface="Cambria Math"/>
              </a:rPr>
              <a:t>iii</a:t>
            </a:r>
            <a:r>
              <a:rPr lang="en-US" dirty="0">
                <a:solidFill>
                  <a:schemeClr val="accent1"/>
                </a:solidFill>
                <a:ea typeface="Cambria Math"/>
              </a:rPr>
              <a:t>)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i="1" dirty="0"/>
              <a:t>of part </a:t>
            </a:r>
            <a:r>
              <a:rPr lang="en-US" b="1" i="1" dirty="0" err="1"/>
              <a:t>i</a:t>
            </a:r>
            <a:r>
              <a:rPr lang="en-US" b="1" dirty="0"/>
              <a:t>): </a:t>
            </a:r>
            <a:r>
              <a:rPr lang="en-US" dirty="0"/>
              <a:t>Solving for </a:t>
            </a:r>
            <a:r>
              <a:rPr lang="en-US" i="1" dirty="0" err="1"/>
              <a:t>i</a:t>
            </a:r>
            <a:r>
              <a:rPr lang="en-US" dirty="0"/>
              <a:t> in </a:t>
            </a: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i="1" dirty="0"/>
              <a:t>mi </a:t>
            </a:r>
            <a:r>
              <a:rPr lang="en-US" dirty="0"/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(from Theorem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gives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(</a:t>
            </a:r>
            <a:r>
              <a:rPr lang="en-US" i="1" dirty="0">
                <a:latin typeface="Cambria Math"/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 − 1)/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.  Since each vertex is either a leaf or an internal vertex,  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= </a:t>
            </a:r>
            <a:r>
              <a:rPr lang="en-US" i="1" dirty="0">
                <a:ea typeface="Cambria Math"/>
              </a:rPr>
              <a:t>l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+ </a:t>
            </a:r>
            <a:r>
              <a:rPr lang="en-US" i="1" dirty="0" err="1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. By solving for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 and using the formula for </a:t>
            </a:r>
            <a:r>
              <a:rPr lang="en-US" i="1" dirty="0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, we see </a:t>
            </a:r>
            <a:r>
              <a:rPr lang="en-US" dirty="0">
                <a:ea typeface="Cambria Math"/>
              </a:rPr>
              <a:t>that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228600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/>
              <a:t>n</a:t>
            </a:r>
            <a:r>
              <a:rPr lang="en-US" dirty="0"/>
              <a:t> vertices has </a:t>
            </a:r>
            <a:r>
              <a:rPr lang="en-US" i="1" dirty="0" err="1"/>
              <a:t>i</a:t>
            </a:r>
            <a:r>
              <a:rPr lang="en-US" dirty="0"/>
              <a:t> = (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− 1)/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internal vertices and                            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 = [(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</a:t>
            </a:r>
            <a:r>
              <a:rPr lang="en-US" i="1" dirty="0">
                <a:latin typeface="Cambria Math"/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+ 1]/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leaves,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480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 err="1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 internal vertices has  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= </a:t>
            </a:r>
            <a:r>
              <a:rPr lang="en-US" i="1" dirty="0">
                <a:ea typeface="Cambria Math"/>
              </a:rPr>
              <a:t>mi</a:t>
            </a:r>
            <a:r>
              <a:rPr lang="en-US" dirty="0">
                <a:latin typeface="Cambria Math"/>
                <a:ea typeface="Cambria Math"/>
              </a:rPr>
              <a:t> + 1 vertices and                               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= 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</a:t>
            </a:r>
            <a:r>
              <a:rPr lang="en-US" i="1" dirty="0" err="1">
                <a:latin typeface="Cambria Math"/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+ 1 leaves,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100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 leaves has  </a:t>
            </a:r>
            <a:r>
              <a:rPr lang="en-US" i="1" dirty="0">
                <a:latin typeface="Cambria Math"/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= (</a:t>
            </a:r>
            <a:r>
              <a:rPr lang="en-US" i="1" dirty="0">
                <a:latin typeface="Cambria Math"/>
                <a:ea typeface="Cambria Math"/>
              </a:rPr>
              <a:t>ml</a:t>
            </a:r>
            <a:r>
              <a:rPr lang="en-US" dirty="0">
                <a:latin typeface="Cambria Math"/>
                <a:ea typeface="Cambria Math"/>
              </a:rPr>
              <a:t>  − 1)/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/>
                <a:ea typeface="Cambria Math"/>
              </a:rPr>
              <a:t>m − 1) vertices and                          </a:t>
            </a:r>
            <a:r>
              <a:rPr lang="en-US" i="1" dirty="0" err="1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= (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 − 1)/ 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   internal vertices.</a:t>
            </a:r>
          </a:p>
        </p:txBody>
      </p:sp>
      <p:sp>
        <p:nvSpPr>
          <p:cNvPr id="7" name="Isosceles Triangle 6"/>
          <p:cNvSpPr/>
          <p:nvPr/>
        </p:nvSpPr>
        <p:spPr>
          <a:xfrm rot="5400000" flipV="1">
            <a:off x="8239543" y="6250632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86600" y="3056205"/>
            <a:ext cx="1590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proofs of parts (ii) and (iii) are left as exercises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0960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dirty="0">
                <a:ea typeface="Cambria Math"/>
              </a:rPr>
              <a:t> </a:t>
            </a:r>
            <a:r>
              <a:rPr lang="en-US" sz="2400" i="1" dirty="0">
                <a:ea typeface="Cambria Math"/>
              </a:rPr>
              <a:t>l </a:t>
            </a:r>
            <a:r>
              <a:rPr lang="en-US" sz="2400" dirty="0">
                <a:ea typeface="Cambria Math"/>
              </a:rPr>
              <a:t>= 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ea typeface="Cambria Math"/>
              </a:rPr>
              <a:t> </a:t>
            </a:r>
            <a:r>
              <a:rPr lang="en-US" sz="2400" dirty="0">
                <a:latin typeface="Cambria Math"/>
                <a:ea typeface="Cambria Math"/>
              </a:rPr>
              <a:t>− </a:t>
            </a:r>
            <a:r>
              <a:rPr lang="en-US" sz="2400" i="1" dirty="0" err="1">
                <a:ea typeface="Cambria Math"/>
              </a:rPr>
              <a:t>i</a:t>
            </a:r>
            <a:r>
              <a:rPr lang="en-US" sz="2400" dirty="0">
                <a:ea typeface="Cambria Math"/>
              </a:rPr>
              <a:t> = 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ea typeface="Cambria Math"/>
              </a:rPr>
              <a:t> </a:t>
            </a:r>
            <a:r>
              <a:rPr lang="en-US" sz="2400" dirty="0">
                <a:latin typeface="Cambria Math"/>
                <a:ea typeface="Cambria Math"/>
              </a:rPr>
              <a:t>−</a:t>
            </a:r>
            <a:r>
              <a:rPr lang="en-US" sz="2400" dirty="0">
                <a:ea typeface="Cambria Math"/>
              </a:rPr>
              <a:t> (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latin typeface="Cambria Math"/>
                <a:ea typeface="Cambria Math"/>
              </a:rPr>
              <a:t> −</a:t>
            </a:r>
            <a:r>
              <a:rPr lang="en-US" sz="2400" dirty="0">
                <a:ea typeface="Cambria Math"/>
              </a:rPr>
              <a:t> 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ea typeface="Cambria Math"/>
              </a:rPr>
              <a:t>)/</a:t>
            </a:r>
            <a:r>
              <a:rPr lang="en-US" sz="2400" i="1" dirty="0">
                <a:ea typeface="Cambria Math"/>
              </a:rPr>
              <a:t>m</a:t>
            </a:r>
            <a:r>
              <a:rPr lang="en-US" sz="2400" dirty="0">
                <a:ea typeface="Cambria Math"/>
              </a:rPr>
              <a:t> =</a:t>
            </a:r>
            <a:r>
              <a:rPr lang="en-US" sz="2400" dirty="0">
                <a:latin typeface="Cambria Math"/>
                <a:ea typeface="Cambria Math"/>
              </a:rPr>
              <a:t> [(</a:t>
            </a:r>
            <a:r>
              <a:rPr lang="en-US" sz="2400" i="1" dirty="0">
                <a:latin typeface="Cambria Math"/>
                <a:ea typeface="Cambria Math"/>
              </a:rPr>
              <a:t>m</a:t>
            </a:r>
            <a:r>
              <a:rPr lang="en-US" sz="2400" dirty="0">
                <a:latin typeface="Cambria Math"/>
                <a:ea typeface="Cambria Math"/>
              </a:rPr>
              <a:t>  − 1)</a:t>
            </a:r>
            <a:r>
              <a:rPr lang="en-US" sz="2400" i="1" dirty="0">
                <a:latin typeface="Cambria Math"/>
                <a:ea typeface="Cambria Math"/>
              </a:rPr>
              <a:t>n</a:t>
            </a:r>
            <a:r>
              <a:rPr lang="en-US" sz="2400" dirty="0">
                <a:latin typeface="Cambria Math"/>
                <a:ea typeface="Cambria Math"/>
              </a:rPr>
              <a:t> + 1]/</a:t>
            </a:r>
            <a:r>
              <a:rPr lang="en-US" sz="2400" i="1" dirty="0">
                <a:latin typeface="Cambria Math"/>
                <a:ea typeface="Cambria Math"/>
              </a:rPr>
              <a:t>m</a:t>
            </a:r>
            <a:r>
              <a:rPr lang="en-US" sz="2400" dirty="0">
                <a:latin typeface="Cambria Math"/>
                <a:ea typeface="Cambria Math"/>
              </a:rPr>
              <a:t> 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1243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26C3-4A75-EC11-30B2-051A02CC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BE0CFA-4F4C-154B-07AE-263F824C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270"/>
            <a:ext cx="9144000" cy="511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68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 of vertices and height of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When working with trees, we often want to have rooted trees where the </a:t>
            </a:r>
            <a:r>
              <a:rPr lang="en-US" dirty="0" err="1"/>
              <a:t>subtrees</a:t>
            </a:r>
            <a:r>
              <a:rPr lang="en-US" dirty="0"/>
              <a:t> at each vertex contain paths of approximately the same length.</a:t>
            </a:r>
          </a:p>
          <a:p>
            <a:r>
              <a:rPr lang="en-US" dirty="0"/>
              <a:t>To make this idea precise we need some definitions: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level</a:t>
            </a:r>
            <a:r>
              <a:rPr lang="en-US" dirty="0"/>
              <a:t> of a vertex </a:t>
            </a:r>
            <a:r>
              <a:rPr lang="en-US" i="1" dirty="0"/>
              <a:t>v</a:t>
            </a:r>
            <a:r>
              <a:rPr lang="en-US" dirty="0"/>
              <a:t> in a rooted tree is the length of the unique path from the root to this vertex.  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height</a:t>
            </a:r>
            <a:r>
              <a:rPr lang="en-US" dirty="0"/>
              <a:t> of a rooted tree is the maximum of the levels of the vertices. </a:t>
            </a:r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i="1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)  </a:t>
            </a:r>
            <a:r>
              <a:rPr lang="en-US" dirty="0"/>
              <a:t>Find the level of each vertex in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       the tree to the right.                        </a:t>
            </a:r>
          </a:p>
          <a:p>
            <a:pPr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i="1" dirty="0">
                <a:solidFill>
                  <a:schemeClr val="accent1"/>
                </a:solidFill>
              </a:rPr>
              <a:t>ii</a:t>
            </a:r>
            <a:r>
              <a:rPr lang="en-US" dirty="0">
                <a:solidFill>
                  <a:schemeClr val="accent1"/>
                </a:solidFill>
              </a:rPr>
              <a:t>)  </a:t>
            </a:r>
            <a:r>
              <a:rPr lang="en-US" dirty="0"/>
              <a:t>What is the height of the tree?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lnSpc>
                <a:spcPts val="1700"/>
              </a:lnSpc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i="1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 The root </a:t>
            </a:r>
            <a:r>
              <a:rPr lang="en-US" i="1" dirty="0"/>
              <a:t>a</a:t>
            </a:r>
            <a:r>
              <a:rPr lang="en-US" dirty="0"/>
              <a:t> is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.  Vertices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j</a:t>
            </a:r>
            <a:r>
              <a:rPr lang="en-US" dirty="0"/>
              <a:t>, and </a:t>
            </a:r>
            <a:r>
              <a:rPr lang="en-US" i="1" dirty="0"/>
              <a:t>k</a:t>
            </a:r>
            <a:r>
              <a:rPr lang="en-US" dirty="0"/>
              <a:t> are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        Vertices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and </a:t>
            </a:r>
            <a:r>
              <a:rPr lang="en-US" i="1" dirty="0"/>
              <a:t>l</a:t>
            </a:r>
            <a:r>
              <a:rPr lang="en-US" dirty="0"/>
              <a:t> are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. Vertices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, and </a:t>
            </a:r>
            <a:r>
              <a:rPr lang="en-US" i="1" dirty="0"/>
              <a:t>n</a:t>
            </a:r>
            <a:r>
              <a:rPr lang="en-US" dirty="0"/>
              <a:t> are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.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        Vertex </a:t>
            </a:r>
            <a:r>
              <a:rPr lang="en-US" i="1" dirty="0"/>
              <a:t>h</a:t>
            </a:r>
            <a:r>
              <a:rPr lang="en-US" dirty="0"/>
              <a:t> is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. </a:t>
            </a:r>
          </a:p>
          <a:p>
            <a:pPr indent="0">
              <a:lnSpc>
                <a:spcPts val="17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  (</a:t>
            </a:r>
            <a:r>
              <a:rPr lang="en-US" i="1" dirty="0">
                <a:solidFill>
                  <a:schemeClr val="accent1"/>
                </a:solidFill>
              </a:rPr>
              <a:t>ii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r>
              <a:rPr lang="en-US" dirty="0"/>
              <a:t>The height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, since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 is the largest level of any vertex. </a:t>
            </a:r>
          </a:p>
          <a:p>
            <a:pPr indent="0">
              <a:lnSpc>
                <a:spcPts val="1700"/>
              </a:lnSpc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505200"/>
            <a:ext cx="1108710" cy="139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40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78DEB-1731-6248-762E-FDC513E5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3113B6-A4A8-8DBA-D11F-6E17F721D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030"/>
            <a:ext cx="9144000" cy="573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67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A rooted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of height </a:t>
            </a:r>
            <a:r>
              <a:rPr lang="en-US" i="1" dirty="0"/>
              <a:t>h</a:t>
            </a:r>
            <a:r>
              <a:rPr lang="en-US" dirty="0"/>
              <a:t> is </a:t>
            </a:r>
            <a:r>
              <a:rPr lang="en-US" i="1" dirty="0"/>
              <a:t>balanced</a:t>
            </a:r>
            <a:r>
              <a:rPr lang="en-US" dirty="0"/>
              <a:t> if all leaves are at levels </a:t>
            </a:r>
            <a:r>
              <a:rPr lang="en-US" i="1" dirty="0"/>
              <a:t>h</a:t>
            </a:r>
            <a:r>
              <a:rPr lang="en-US" dirty="0"/>
              <a:t> or </a:t>
            </a:r>
            <a:r>
              <a:rPr lang="en-US" i="1" dirty="0"/>
              <a:t>h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Which of the rooted trees shown below is balanced?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and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are balanced, but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is not because it has leaves at levels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886200"/>
            <a:ext cx="5734050" cy="12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09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0F78-9C01-D127-2217-FAAAC393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A5A981-AAD4-A3E5-052B-847CACCE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087"/>
            <a:ext cx="9144000" cy="26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9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Bound for the Number of Leaves in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: There are at most </a:t>
            </a:r>
            <a:r>
              <a:rPr lang="en-US" i="1" dirty="0" err="1"/>
              <a:t>m</a:t>
            </a:r>
            <a:r>
              <a:rPr lang="en-US" i="1" baseline="30000" dirty="0" err="1"/>
              <a:t>h</a:t>
            </a:r>
            <a:r>
              <a:rPr lang="en-US" dirty="0"/>
              <a:t> leaves in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of height </a:t>
            </a:r>
            <a:r>
              <a:rPr lang="en-US" i="1" dirty="0"/>
              <a:t>h</a:t>
            </a:r>
            <a:r>
              <a:rPr lang="en-US" dirty="0"/>
              <a:t>.</a:t>
            </a:r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 </a:t>
            </a:r>
            <a:r>
              <a:rPr lang="en-US" b="1" dirty="0"/>
              <a:t>(</a:t>
            </a:r>
            <a:r>
              <a:rPr lang="en-US" b="1" i="1" dirty="0"/>
              <a:t>by mathematical induction on height</a:t>
            </a:r>
            <a:r>
              <a:rPr lang="en-US" b="1" dirty="0"/>
              <a:t>): </a:t>
            </a:r>
          </a:p>
          <a:p>
            <a:pPr indent="0">
              <a:buNone/>
            </a:pPr>
            <a:r>
              <a:rPr lang="en-US" i="1" dirty="0"/>
              <a:t>BASIS STEP</a:t>
            </a:r>
            <a:r>
              <a:rPr lang="en-US" dirty="0"/>
              <a:t>: Consider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trees of height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 The tree consists of a root and no more than </a:t>
            </a:r>
            <a:r>
              <a:rPr lang="en-US" i="1" dirty="0"/>
              <a:t>m</a:t>
            </a:r>
            <a:r>
              <a:rPr lang="en-US" dirty="0"/>
              <a:t> children, all leaves. Hence, there are no more than </a:t>
            </a:r>
            <a:r>
              <a:rPr lang="en-US" i="1" dirty="0"/>
              <a:t>m</a:t>
            </a:r>
            <a:r>
              <a:rPr lang="en-US" baseline="30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 leaves in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of height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</a:t>
            </a:r>
          </a:p>
          <a:p>
            <a:pPr indent="0">
              <a:buNone/>
            </a:pPr>
            <a:r>
              <a:rPr lang="en-US" i="1" dirty="0"/>
              <a:t>INDUCTIVE STEP</a:t>
            </a:r>
            <a:r>
              <a:rPr lang="en-US" dirty="0"/>
              <a:t>: Assume the result is true for all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trees of height &lt; </a:t>
            </a:r>
            <a:r>
              <a:rPr lang="en-US" i="1" dirty="0"/>
              <a:t>h</a:t>
            </a:r>
            <a:r>
              <a:rPr lang="en-US" dirty="0"/>
              <a:t>. Let </a:t>
            </a:r>
            <a:r>
              <a:rPr lang="en-US" i="1" dirty="0"/>
              <a:t>T</a:t>
            </a:r>
            <a:r>
              <a:rPr lang="en-US" dirty="0"/>
              <a:t> be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of height </a:t>
            </a:r>
            <a:r>
              <a:rPr lang="en-US" i="1" dirty="0"/>
              <a:t>h</a:t>
            </a:r>
            <a:r>
              <a:rPr lang="en-US" dirty="0"/>
              <a:t>. The leaves of </a:t>
            </a:r>
            <a:r>
              <a:rPr lang="en-US" i="1" dirty="0"/>
              <a:t>T </a:t>
            </a:r>
            <a:r>
              <a:rPr lang="en-US" dirty="0"/>
              <a:t>are the leaves of the </a:t>
            </a:r>
            <a:r>
              <a:rPr lang="en-US" dirty="0" err="1"/>
              <a:t>subtrees</a:t>
            </a:r>
            <a:r>
              <a:rPr lang="en-US" dirty="0"/>
              <a:t> of </a:t>
            </a:r>
            <a:r>
              <a:rPr lang="en-US" i="1" dirty="0"/>
              <a:t>T</a:t>
            </a:r>
            <a:r>
              <a:rPr lang="en-US" dirty="0"/>
              <a:t> we get when we delete the edges from the root to each of the vertices of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  <a:p>
            <a:pPr indent="0">
              <a:buNone/>
            </a:pPr>
            <a:r>
              <a:rPr lang="en-US" dirty="0"/>
              <a:t>Each of these </a:t>
            </a:r>
            <a:r>
              <a:rPr lang="en-US" dirty="0" err="1"/>
              <a:t>subtrees</a:t>
            </a:r>
            <a:r>
              <a:rPr lang="en-US" dirty="0"/>
              <a:t> has height ≤ </a:t>
            </a:r>
            <a:r>
              <a:rPr lang="en-US" i="1" dirty="0"/>
              <a:t>h</a:t>
            </a:r>
            <a:r>
              <a:rPr lang="en-US" i="1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By the inductive hypothesis, each of these </a:t>
            </a:r>
            <a:r>
              <a:rPr lang="en-US" dirty="0" err="1"/>
              <a:t>subtrees</a:t>
            </a:r>
            <a:r>
              <a:rPr lang="en-US" dirty="0"/>
              <a:t> has at most </a:t>
            </a:r>
            <a:r>
              <a:rPr lang="en-US" i="1" dirty="0" err="1"/>
              <a:t>m</a:t>
            </a:r>
            <a:r>
              <a:rPr lang="en-US" i="1" baseline="30000" dirty="0" err="1"/>
              <a:t>h</a:t>
            </a:r>
            <a:r>
              <a:rPr lang="en-US" i="1" baseline="30000" dirty="0">
                <a:latin typeface="Cambria Math"/>
                <a:ea typeface="Cambria Math"/>
              </a:rPr>
              <a:t>−</a:t>
            </a:r>
            <a:r>
              <a:rPr lang="en-US" baseline="30000" dirty="0"/>
              <a:t> </a:t>
            </a:r>
            <a:r>
              <a:rPr lang="en-US" baseline="30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leaves. Since there are at most </a:t>
            </a:r>
            <a:r>
              <a:rPr lang="en-US" i="1" dirty="0"/>
              <a:t>m</a:t>
            </a:r>
            <a:r>
              <a:rPr lang="en-US" dirty="0"/>
              <a:t> such </a:t>
            </a:r>
            <a:r>
              <a:rPr lang="en-US" dirty="0" err="1"/>
              <a:t>subtees</a:t>
            </a:r>
            <a:r>
              <a:rPr lang="en-US" dirty="0"/>
              <a:t>, there are at most </a:t>
            </a:r>
            <a:r>
              <a:rPr lang="en-US" i="1" dirty="0"/>
              <a:t>m</a:t>
            </a:r>
            <a:r>
              <a:rPr lang="en-US" dirty="0">
                <a:sym typeface="Symbol"/>
              </a:rPr>
              <a:t></a:t>
            </a:r>
            <a:r>
              <a:rPr lang="en-US" dirty="0"/>
              <a:t> </a:t>
            </a:r>
            <a:r>
              <a:rPr lang="en-US" i="1" dirty="0" err="1"/>
              <a:t>m</a:t>
            </a:r>
            <a:r>
              <a:rPr lang="en-US" i="1" baseline="30000" dirty="0" err="1"/>
              <a:t>h</a:t>
            </a:r>
            <a:r>
              <a:rPr lang="en-US" i="1" baseline="30000" dirty="0">
                <a:latin typeface="Cambria Math"/>
                <a:ea typeface="Cambria Math"/>
              </a:rPr>
              <a:t>−</a:t>
            </a:r>
            <a:r>
              <a:rPr lang="en-US" baseline="30000" dirty="0"/>
              <a:t> </a:t>
            </a:r>
            <a:r>
              <a:rPr lang="en-US" baseline="30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= </a:t>
            </a:r>
            <a:r>
              <a:rPr lang="en-US" i="1" dirty="0" err="1"/>
              <a:t>m</a:t>
            </a:r>
            <a:r>
              <a:rPr lang="en-US" i="1" baseline="30000" dirty="0" err="1"/>
              <a:t>h</a:t>
            </a:r>
            <a:r>
              <a:rPr lang="en-US" dirty="0"/>
              <a:t> leaves in the tree.  </a:t>
            </a:r>
          </a:p>
          <a:p>
            <a:pPr indent="0">
              <a:buNone/>
            </a:pPr>
            <a:endParaRPr lang="en-US" baseline="30000" dirty="0"/>
          </a:p>
          <a:p>
            <a:pPr indent="0">
              <a:buNone/>
            </a:pPr>
            <a:r>
              <a:rPr lang="en-US" b="1" dirty="0"/>
              <a:t>Corollary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 If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of height </a:t>
            </a:r>
            <a:r>
              <a:rPr lang="en-US" i="1" dirty="0"/>
              <a:t>h</a:t>
            </a:r>
            <a:r>
              <a:rPr lang="en-US" dirty="0"/>
              <a:t> has </a:t>
            </a:r>
            <a:r>
              <a:rPr lang="en-US" i="1" dirty="0"/>
              <a:t>l</a:t>
            </a:r>
            <a:r>
              <a:rPr lang="en-US" dirty="0"/>
              <a:t> leaves, then  </a:t>
            </a:r>
            <a:r>
              <a:rPr lang="en-US" i="1" dirty="0"/>
              <a:t>h</a:t>
            </a:r>
            <a:r>
              <a:rPr lang="en-US" dirty="0"/>
              <a:t> ≥ </a:t>
            </a:r>
            <a:r>
              <a:rPr lang="en-US" dirty="0">
                <a:latin typeface="Cambria Math"/>
                <a:ea typeface="Cambria Math"/>
              </a:rPr>
              <a:t>⌈</a:t>
            </a:r>
            <a:r>
              <a:rPr lang="en-US" dirty="0" err="1">
                <a:ea typeface="Cambria Math"/>
              </a:rPr>
              <a:t>log</a:t>
            </a:r>
            <a:r>
              <a:rPr lang="en-US" i="1" baseline="-25000" dirty="0" err="1">
                <a:ea typeface="Cambria Math"/>
              </a:rPr>
              <a:t>m</a:t>
            </a:r>
            <a:r>
              <a:rPr lang="en-US" i="1" baseline="-25000" dirty="0">
                <a:ea typeface="Cambria Math"/>
              </a:rPr>
              <a:t>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⌉. </a:t>
            </a:r>
            <a:r>
              <a:rPr lang="en-US" dirty="0">
                <a:ea typeface="Cambria Math"/>
              </a:rPr>
              <a:t>If the </a:t>
            </a:r>
            <a:r>
              <a:rPr lang="en-US" i="1" dirty="0">
                <a:ea typeface="Cambria Math"/>
              </a:rPr>
              <a:t>m</a:t>
            </a:r>
            <a:r>
              <a:rPr lang="en-US" dirty="0">
                <a:ea typeface="Cambria Math"/>
              </a:rPr>
              <a:t>-</a:t>
            </a:r>
            <a:r>
              <a:rPr lang="en-US" dirty="0" err="1">
                <a:ea typeface="Cambria Math"/>
              </a:rPr>
              <a:t>ary</a:t>
            </a:r>
            <a:r>
              <a:rPr lang="en-US" dirty="0">
                <a:ea typeface="Cambria Math"/>
              </a:rPr>
              <a:t> tree is full and balanced, then </a:t>
            </a:r>
            <a:r>
              <a:rPr lang="en-US" i="1" dirty="0">
                <a:ea typeface="Cambria Math"/>
              </a:rPr>
              <a:t>h</a:t>
            </a:r>
            <a:r>
              <a:rPr lang="en-US" dirty="0">
                <a:ea typeface="Cambria Math"/>
              </a:rPr>
              <a:t> = </a:t>
            </a:r>
            <a:r>
              <a:rPr lang="en-US" sz="2500" dirty="0">
                <a:solidFill>
                  <a:prstClr val="black"/>
                </a:solidFill>
                <a:latin typeface="Cambria Math"/>
                <a:ea typeface="Cambria Math"/>
              </a:rPr>
              <a:t>⌈</a:t>
            </a:r>
            <a:r>
              <a:rPr lang="en-US" sz="2500" dirty="0" err="1">
                <a:solidFill>
                  <a:prstClr val="black"/>
                </a:solidFill>
                <a:ea typeface="Cambria Math"/>
              </a:rPr>
              <a:t>log</a:t>
            </a:r>
            <a:r>
              <a:rPr lang="en-US" sz="2500" i="1" baseline="-25000" dirty="0" err="1">
                <a:solidFill>
                  <a:prstClr val="black"/>
                </a:solidFill>
                <a:ea typeface="Cambria Math"/>
              </a:rPr>
              <a:t>m</a:t>
            </a:r>
            <a:r>
              <a:rPr lang="en-US" sz="2500" i="1" baseline="-25000" dirty="0">
                <a:solidFill>
                  <a:prstClr val="black"/>
                </a:solidFill>
                <a:ea typeface="Cambria Math"/>
              </a:rPr>
              <a:t> </a:t>
            </a:r>
            <a:r>
              <a:rPr lang="en-US" sz="2500" i="1" dirty="0">
                <a:solidFill>
                  <a:prstClr val="black"/>
                </a:solidFill>
                <a:ea typeface="Cambria Math"/>
              </a:rPr>
              <a:t>l</a:t>
            </a:r>
            <a:r>
              <a:rPr lang="en-US" sz="2500" dirty="0">
                <a:solidFill>
                  <a:prstClr val="black"/>
                </a:solidFill>
                <a:latin typeface="Cambria Math"/>
                <a:ea typeface="Cambria Math"/>
              </a:rPr>
              <a:t>⌉.  (</a:t>
            </a:r>
            <a:r>
              <a:rPr lang="en-US" sz="2500" i="1" dirty="0">
                <a:solidFill>
                  <a:prstClr val="black"/>
                </a:solidFill>
                <a:latin typeface="Cambria Math"/>
                <a:ea typeface="Cambria Math"/>
              </a:rPr>
              <a:t>see text for the proof</a:t>
            </a:r>
            <a:r>
              <a:rPr lang="en-US" sz="2500" dirty="0">
                <a:solidFill>
                  <a:prstClr val="black"/>
                </a:solidFill>
                <a:latin typeface="Cambria Math"/>
                <a:ea typeface="Cambria Math"/>
              </a:rPr>
              <a:t>)</a:t>
            </a:r>
            <a:endParaRPr lang="en-US" dirty="0"/>
          </a:p>
          <a:p>
            <a:pPr indent="0">
              <a:buNone/>
            </a:pPr>
            <a:endParaRPr lang="en-US" b="1" dirty="0"/>
          </a:p>
          <a:p>
            <a:pPr indent="0">
              <a:buNone/>
            </a:pPr>
            <a:endParaRPr lang="en-US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913" y="3581400"/>
            <a:ext cx="4305300" cy="1299972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 rot="5400000" flipV="1">
            <a:off x="7976154" y="5403574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07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1876-014B-A209-9181-9580B45C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DB4A4B-E4BB-9066-FF4A-91B984B87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883"/>
            <a:ext cx="9144000" cy="57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12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 Traversal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11.3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Universal Address Systems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/>
              <a:t>Traversal Algorithms</a:t>
            </a:r>
          </a:p>
          <a:p>
            <a:r>
              <a:rPr lang="en-US" dirty="0"/>
              <a:t>Infix, Prefix, and Postfix Notation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D84C4F-980A-C953-E343-17FC4FE9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86200"/>
            <a:ext cx="3504260" cy="160496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Procedures for systematically visiting every vertex of an ordered tree are called </a:t>
            </a:r>
            <a:r>
              <a:rPr lang="en-US" i="1" dirty="0"/>
              <a:t>traversals</a:t>
            </a:r>
            <a:r>
              <a:rPr lang="en-US" dirty="0"/>
              <a:t>. </a:t>
            </a:r>
          </a:p>
          <a:p>
            <a:r>
              <a:rPr lang="en-US" dirty="0"/>
              <a:t>The three most commonly used </a:t>
            </a:r>
            <a:r>
              <a:rPr lang="en-US" i="1" dirty="0"/>
              <a:t>traversals</a:t>
            </a:r>
            <a:r>
              <a:rPr lang="en-US" dirty="0"/>
              <a:t> are </a:t>
            </a:r>
            <a:r>
              <a:rPr lang="en-US" i="1" dirty="0"/>
              <a:t>preorder</a:t>
            </a:r>
            <a:r>
              <a:rPr lang="en-US" dirty="0"/>
              <a:t> </a:t>
            </a:r>
            <a:r>
              <a:rPr lang="en-US" i="1" dirty="0"/>
              <a:t>traversal</a:t>
            </a:r>
            <a:r>
              <a:rPr lang="en-US" dirty="0"/>
              <a:t>, </a:t>
            </a:r>
            <a:r>
              <a:rPr lang="en-US" i="1" dirty="0" err="1"/>
              <a:t>inorder</a:t>
            </a:r>
            <a:r>
              <a:rPr lang="en-US" i="1" dirty="0"/>
              <a:t> traversal</a:t>
            </a:r>
            <a:r>
              <a:rPr lang="en-US" dirty="0"/>
              <a:t>, and </a:t>
            </a:r>
            <a:r>
              <a:rPr lang="en-US" i="1" dirty="0" err="1"/>
              <a:t>postorder</a:t>
            </a:r>
            <a:r>
              <a:rPr lang="en-US" i="1" dirty="0"/>
              <a:t> traversal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9579FC-3E36-C8FB-29E6-BF028E319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38600"/>
            <a:ext cx="6748462" cy="169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39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T</a:t>
            </a:r>
            <a:r>
              <a:rPr lang="en-US" dirty="0"/>
              <a:t> be an ordered rooted tree with root </a:t>
            </a:r>
            <a:r>
              <a:rPr lang="en-US" i="1" dirty="0"/>
              <a:t>r</a:t>
            </a:r>
            <a:r>
              <a:rPr lang="en-US" dirty="0"/>
              <a:t>. If </a:t>
            </a:r>
            <a:r>
              <a:rPr lang="en-US" i="1" dirty="0"/>
              <a:t>T</a:t>
            </a:r>
            <a:r>
              <a:rPr lang="en-US" dirty="0"/>
              <a:t> consists only of </a:t>
            </a:r>
            <a:r>
              <a:rPr lang="en-US" i="1" dirty="0"/>
              <a:t>r</a:t>
            </a:r>
            <a:r>
              <a:rPr lang="en-US" dirty="0"/>
              <a:t>, then </a:t>
            </a:r>
            <a:r>
              <a:rPr lang="en-US" i="1" dirty="0"/>
              <a:t>r</a:t>
            </a:r>
            <a:r>
              <a:rPr lang="en-US" dirty="0"/>
              <a:t> is the </a:t>
            </a:r>
            <a:r>
              <a:rPr lang="en-US" i="1" dirty="0"/>
              <a:t>preorder traversal </a:t>
            </a:r>
            <a:r>
              <a:rPr lang="en-US" dirty="0"/>
              <a:t>of </a:t>
            </a:r>
            <a:r>
              <a:rPr lang="en-US" i="1" dirty="0"/>
              <a:t>T</a:t>
            </a:r>
            <a:r>
              <a:rPr lang="en-US" dirty="0"/>
              <a:t>. Otherwise, suppose that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are the </a:t>
            </a:r>
            <a:r>
              <a:rPr lang="en-US" dirty="0" err="1"/>
              <a:t>subtrees</a:t>
            </a:r>
            <a:r>
              <a:rPr lang="en-US" dirty="0"/>
              <a:t> of </a:t>
            </a:r>
            <a:r>
              <a:rPr lang="en-US" i="1" dirty="0"/>
              <a:t>r</a:t>
            </a:r>
            <a:r>
              <a:rPr lang="en-US" dirty="0"/>
              <a:t> from left to right in </a:t>
            </a:r>
            <a:r>
              <a:rPr lang="en-US" i="1" dirty="0"/>
              <a:t>T</a:t>
            </a:r>
            <a:r>
              <a:rPr lang="en-US" dirty="0"/>
              <a:t>. The preorder traversal  begins by visiting </a:t>
            </a:r>
            <a:r>
              <a:rPr lang="en-US" i="1" dirty="0"/>
              <a:t>r</a:t>
            </a:r>
            <a:r>
              <a:rPr lang="en-US" dirty="0"/>
              <a:t>, and continues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in preorder, then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in preorder, and so on, until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 is traversed in preorder. 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724400"/>
            <a:ext cx="2500122" cy="16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8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A130-5E44-2AA9-CB09-A0B7242A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C9262F-D84C-BDA9-D308-02288C4C0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9144000" cy="19382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98FF7DF-95CB-E575-C325-85D4F129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" y="2209800"/>
            <a:ext cx="9144000" cy="27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28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6DFC75-865A-BDA5-8398-646C37724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964591"/>
            <a:ext cx="7193222" cy="38671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EAD63E-86CB-10D8-8F50-E2ADDF8D7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190" cy="293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26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Preorder Traversal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057400"/>
            <a:ext cx="2615691" cy="4389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2286000"/>
            <a:ext cx="45720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procedure  </a:t>
            </a:r>
            <a:r>
              <a:rPr lang="en-US" i="1" dirty="0"/>
              <a:t>preorder</a:t>
            </a:r>
            <a:r>
              <a:rPr lang="en-US" dirty="0"/>
              <a:t> (</a:t>
            </a:r>
            <a:r>
              <a:rPr lang="en-US" i="1" dirty="0"/>
              <a:t>T</a:t>
            </a:r>
            <a:r>
              <a:rPr lang="en-US" dirty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/>
              <a:t> := root of </a:t>
            </a:r>
            <a:r>
              <a:rPr lang="en-US" i="1" dirty="0"/>
              <a:t>T</a:t>
            </a:r>
          </a:p>
          <a:p>
            <a:r>
              <a:rPr lang="en-US" dirty="0"/>
              <a:t>list</a:t>
            </a:r>
            <a:r>
              <a:rPr lang="en-US" i="1" dirty="0"/>
              <a:t> r</a:t>
            </a:r>
          </a:p>
          <a:p>
            <a:r>
              <a:rPr lang="en-US" b="1" dirty="0"/>
              <a:t>for</a:t>
            </a:r>
            <a:r>
              <a:rPr lang="en-US" dirty="0"/>
              <a:t> each child </a:t>
            </a:r>
            <a:r>
              <a:rPr lang="en-US" i="1" dirty="0"/>
              <a:t>c</a:t>
            </a:r>
            <a:r>
              <a:rPr lang="en-US" dirty="0"/>
              <a:t> of</a:t>
            </a:r>
            <a:r>
              <a:rPr lang="en-US" i="1" dirty="0"/>
              <a:t> r </a:t>
            </a:r>
            <a:r>
              <a:rPr lang="en-US" dirty="0"/>
              <a:t>from left to right</a:t>
            </a:r>
          </a:p>
          <a:p>
            <a:r>
              <a:rPr lang="en-US" dirty="0"/>
              <a:t>    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:= </a:t>
            </a:r>
            <a:r>
              <a:rPr lang="en-US" dirty="0" err="1"/>
              <a:t>subtree</a:t>
            </a:r>
            <a:r>
              <a:rPr lang="en-US" dirty="0"/>
              <a:t> with </a:t>
            </a:r>
            <a:r>
              <a:rPr lang="en-US" i="1" dirty="0"/>
              <a:t>c</a:t>
            </a:r>
            <a:r>
              <a:rPr lang="en-US" dirty="0"/>
              <a:t> as root</a:t>
            </a:r>
          </a:p>
          <a:p>
            <a:r>
              <a:rPr lang="en-US" dirty="0"/>
              <a:t>     </a:t>
            </a:r>
            <a:r>
              <a:rPr lang="en-US" i="1" dirty="0"/>
              <a:t>preorder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83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3061A0-F0E1-19DF-2610-49240046F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037"/>
            <a:ext cx="9144000" cy="41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92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T</a:t>
            </a:r>
            <a:r>
              <a:rPr lang="en-US" dirty="0"/>
              <a:t> be an ordered rooted tree with root </a:t>
            </a:r>
            <a:r>
              <a:rPr lang="en-US" i="1" dirty="0"/>
              <a:t>r</a:t>
            </a:r>
            <a:r>
              <a:rPr lang="en-US" dirty="0"/>
              <a:t>. If </a:t>
            </a:r>
            <a:r>
              <a:rPr lang="en-US" i="1" dirty="0"/>
              <a:t>T</a:t>
            </a:r>
            <a:r>
              <a:rPr lang="en-US" dirty="0"/>
              <a:t> consists only of </a:t>
            </a:r>
            <a:r>
              <a:rPr lang="en-US" i="1" dirty="0"/>
              <a:t>r</a:t>
            </a:r>
            <a:r>
              <a:rPr lang="en-US" dirty="0"/>
              <a:t>, then </a:t>
            </a:r>
            <a:r>
              <a:rPr lang="en-US" i="1" dirty="0"/>
              <a:t>r</a:t>
            </a:r>
            <a:r>
              <a:rPr lang="en-US" dirty="0"/>
              <a:t> is the </a:t>
            </a:r>
            <a:r>
              <a:rPr lang="en-US" i="1" dirty="0" err="1"/>
              <a:t>inorder</a:t>
            </a:r>
            <a:r>
              <a:rPr lang="en-US" i="1" dirty="0"/>
              <a:t> traversal </a:t>
            </a:r>
            <a:r>
              <a:rPr lang="en-US" dirty="0"/>
              <a:t>of </a:t>
            </a:r>
            <a:r>
              <a:rPr lang="en-US" i="1" dirty="0"/>
              <a:t>T</a:t>
            </a:r>
            <a:r>
              <a:rPr lang="en-US" dirty="0"/>
              <a:t>. Otherwise, suppose that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are the </a:t>
            </a:r>
            <a:r>
              <a:rPr lang="en-US" dirty="0" err="1"/>
              <a:t>subtrees</a:t>
            </a:r>
            <a:r>
              <a:rPr lang="en-US" dirty="0"/>
              <a:t> of </a:t>
            </a:r>
            <a:r>
              <a:rPr lang="en-US" i="1" dirty="0"/>
              <a:t>r</a:t>
            </a:r>
            <a:r>
              <a:rPr lang="en-US" dirty="0"/>
              <a:t> from left to right in </a:t>
            </a:r>
            <a:r>
              <a:rPr lang="en-US" i="1" dirty="0"/>
              <a:t>T</a:t>
            </a:r>
            <a:r>
              <a:rPr lang="en-US" dirty="0"/>
              <a:t>. The </a:t>
            </a:r>
            <a:r>
              <a:rPr lang="en-US" dirty="0" err="1"/>
              <a:t>inorder</a:t>
            </a:r>
            <a:r>
              <a:rPr lang="en-US" dirty="0"/>
              <a:t> traversal  begins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in </a:t>
            </a:r>
            <a:r>
              <a:rPr lang="en-US" dirty="0" err="1"/>
              <a:t>inorder</a:t>
            </a:r>
            <a:r>
              <a:rPr lang="en-US" dirty="0"/>
              <a:t>, then visiting </a:t>
            </a:r>
            <a:r>
              <a:rPr lang="en-US" i="1" dirty="0"/>
              <a:t>r</a:t>
            </a:r>
            <a:r>
              <a:rPr lang="en-US" dirty="0"/>
              <a:t>, and continues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in </a:t>
            </a:r>
            <a:r>
              <a:rPr lang="en-US" dirty="0" err="1"/>
              <a:t>inorder</a:t>
            </a:r>
            <a:r>
              <a:rPr lang="en-US" dirty="0"/>
              <a:t>, and so on, until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 is traversed in </a:t>
            </a:r>
            <a:r>
              <a:rPr lang="en-US" dirty="0" err="1"/>
              <a:t>inorder</a:t>
            </a:r>
            <a:r>
              <a:rPr lang="en-US" dirty="0"/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4953000"/>
            <a:ext cx="2680716" cy="158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91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BF52-0404-84CD-FBD9-13C653BD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33ED03-A369-F200-A6D1-B6E437F3C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90524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D73095-2F9A-B71D-2C4C-5D7BF4A0F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" y="1923634"/>
            <a:ext cx="7982607" cy="306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91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057400"/>
            <a:ext cx="262266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286000"/>
            <a:ext cx="510540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procedure  </a:t>
            </a:r>
            <a:r>
              <a:rPr lang="en-US" i="1" dirty="0" err="1"/>
              <a:t>inorder</a:t>
            </a:r>
            <a:r>
              <a:rPr lang="en-US" dirty="0"/>
              <a:t> (</a:t>
            </a:r>
            <a:r>
              <a:rPr lang="en-US" i="1" dirty="0"/>
              <a:t>T</a:t>
            </a:r>
            <a:r>
              <a:rPr lang="en-US" dirty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/>
              <a:t> := root of </a:t>
            </a:r>
            <a:r>
              <a:rPr lang="en-US" i="1" dirty="0"/>
              <a:t>T</a:t>
            </a:r>
          </a:p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is a leaf </a:t>
            </a:r>
            <a:r>
              <a:rPr lang="en-US" b="1" dirty="0"/>
              <a:t>then</a:t>
            </a:r>
            <a:r>
              <a:rPr lang="en-US" dirty="0"/>
              <a:t> list</a:t>
            </a:r>
            <a:r>
              <a:rPr lang="en-US" i="1" dirty="0"/>
              <a:t> r</a:t>
            </a:r>
          </a:p>
          <a:p>
            <a:r>
              <a:rPr lang="en-US" b="1" dirty="0"/>
              <a:t>else</a:t>
            </a:r>
          </a:p>
          <a:p>
            <a:r>
              <a:rPr lang="en-US" b="1" dirty="0"/>
              <a:t>     </a:t>
            </a:r>
            <a:r>
              <a:rPr lang="en-US" i="1" dirty="0"/>
              <a:t>l</a:t>
            </a:r>
            <a:r>
              <a:rPr lang="en-US" b="1" dirty="0"/>
              <a:t> </a:t>
            </a:r>
            <a:r>
              <a:rPr lang="en-US" dirty="0"/>
              <a:t>:= first child of </a:t>
            </a:r>
            <a:r>
              <a:rPr lang="en-US" i="1" dirty="0"/>
              <a:t>r</a:t>
            </a:r>
            <a:r>
              <a:rPr lang="en-US" dirty="0"/>
              <a:t> from left to right</a:t>
            </a:r>
          </a:p>
          <a:p>
            <a:r>
              <a:rPr lang="en-US" i="1" dirty="0"/>
              <a:t>    T</a:t>
            </a:r>
            <a:r>
              <a:rPr lang="en-US" dirty="0"/>
              <a:t>(</a:t>
            </a:r>
            <a:r>
              <a:rPr lang="en-US" i="1" dirty="0"/>
              <a:t>l</a:t>
            </a:r>
            <a:r>
              <a:rPr lang="en-US" dirty="0"/>
              <a:t>) := </a:t>
            </a:r>
            <a:r>
              <a:rPr lang="en-US" dirty="0" err="1"/>
              <a:t>subtree</a:t>
            </a:r>
            <a:r>
              <a:rPr lang="en-US" dirty="0"/>
              <a:t> with </a:t>
            </a:r>
            <a:r>
              <a:rPr lang="en-US" i="1" dirty="0"/>
              <a:t>l</a:t>
            </a:r>
            <a:r>
              <a:rPr lang="en-US" dirty="0"/>
              <a:t> as its root</a:t>
            </a:r>
          </a:p>
          <a:p>
            <a:r>
              <a:rPr lang="en-US" dirty="0"/>
              <a:t>    </a:t>
            </a:r>
            <a:r>
              <a:rPr lang="en-US" i="1" dirty="0" err="1"/>
              <a:t>inorder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l</a:t>
            </a:r>
            <a:r>
              <a:rPr lang="en-US" dirty="0"/>
              <a:t>))</a:t>
            </a:r>
          </a:p>
          <a:p>
            <a:r>
              <a:rPr lang="en-US" dirty="0"/>
              <a:t>    list(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r>
              <a:rPr lang="en-US" b="1" dirty="0"/>
              <a:t>    for</a:t>
            </a:r>
            <a:r>
              <a:rPr lang="en-US" dirty="0"/>
              <a:t> each child </a:t>
            </a:r>
            <a:r>
              <a:rPr lang="en-US" i="1" dirty="0"/>
              <a:t>c</a:t>
            </a:r>
            <a:r>
              <a:rPr lang="en-US" dirty="0"/>
              <a:t> of</a:t>
            </a:r>
            <a:r>
              <a:rPr lang="en-US" i="1" dirty="0"/>
              <a:t> r </a:t>
            </a:r>
            <a:r>
              <a:rPr lang="en-US" dirty="0"/>
              <a:t>from left to right</a:t>
            </a:r>
          </a:p>
          <a:p>
            <a:r>
              <a:rPr lang="en-US" dirty="0"/>
              <a:t>         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:= </a:t>
            </a:r>
            <a:r>
              <a:rPr lang="en-US" dirty="0" err="1"/>
              <a:t>subtree</a:t>
            </a:r>
            <a:r>
              <a:rPr lang="en-US" dirty="0"/>
              <a:t> with </a:t>
            </a:r>
            <a:r>
              <a:rPr lang="en-US" i="1" dirty="0"/>
              <a:t>c</a:t>
            </a:r>
            <a:r>
              <a:rPr lang="en-US" dirty="0"/>
              <a:t> as root</a:t>
            </a:r>
          </a:p>
          <a:p>
            <a:r>
              <a:rPr lang="en-US" dirty="0"/>
              <a:t>         </a:t>
            </a:r>
            <a:r>
              <a:rPr lang="en-US" i="1" dirty="0" err="1"/>
              <a:t>inorder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97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C8CC-0736-0A85-9D65-91E07E9A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8B977C-E5B0-34DC-5814-E6F945D3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632"/>
            <a:ext cx="9144000" cy="63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10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T</a:t>
            </a:r>
            <a:r>
              <a:rPr lang="en-US" dirty="0"/>
              <a:t> be an ordered rooted tree with root </a:t>
            </a:r>
            <a:r>
              <a:rPr lang="en-US" i="1" dirty="0"/>
              <a:t>r</a:t>
            </a:r>
            <a:r>
              <a:rPr lang="en-US" dirty="0"/>
              <a:t>. If </a:t>
            </a:r>
            <a:r>
              <a:rPr lang="en-US" i="1" dirty="0"/>
              <a:t>T</a:t>
            </a:r>
            <a:r>
              <a:rPr lang="en-US" dirty="0"/>
              <a:t> consists only of </a:t>
            </a:r>
            <a:r>
              <a:rPr lang="en-US" i="1" dirty="0"/>
              <a:t>r</a:t>
            </a:r>
            <a:r>
              <a:rPr lang="en-US" dirty="0"/>
              <a:t>, then </a:t>
            </a:r>
            <a:r>
              <a:rPr lang="en-US" i="1" dirty="0"/>
              <a:t>r</a:t>
            </a:r>
            <a:r>
              <a:rPr lang="en-US" dirty="0"/>
              <a:t> is the </a:t>
            </a:r>
            <a:r>
              <a:rPr lang="en-US" i="1" dirty="0" err="1"/>
              <a:t>postorder</a:t>
            </a:r>
            <a:r>
              <a:rPr lang="en-US" i="1" dirty="0"/>
              <a:t> traversal </a:t>
            </a:r>
            <a:r>
              <a:rPr lang="en-US" dirty="0"/>
              <a:t>of </a:t>
            </a:r>
            <a:r>
              <a:rPr lang="en-US" i="1" dirty="0"/>
              <a:t>T</a:t>
            </a:r>
            <a:r>
              <a:rPr lang="en-US" dirty="0"/>
              <a:t>. Otherwise, suppose that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are the </a:t>
            </a:r>
            <a:r>
              <a:rPr lang="en-US" dirty="0" err="1"/>
              <a:t>subtrees</a:t>
            </a:r>
            <a:r>
              <a:rPr lang="en-US" dirty="0"/>
              <a:t> of </a:t>
            </a:r>
            <a:r>
              <a:rPr lang="en-US" i="1" dirty="0"/>
              <a:t>r</a:t>
            </a:r>
            <a:r>
              <a:rPr lang="en-US" dirty="0"/>
              <a:t> from left to right in </a:t>
            </a:r>
            <a:r>
              <a:rPr lang="en-US" i="1" dirty="0"/>
              <a:t>T</a:t>
            </a:r>
            <a:r>
              <a:rPr lang="en-US" dirty="0"/>
              <a:t>. The </a:t>
            </a:r>
            <a:r>
              <a:rPr lang="en-US" dirty="0" err="1"/>
              <a:t>postorder</a:t>
            </a:r>
            <a:r>
              <a:rPr lang="en-US" dirty="0"/>
              <a:t> traversal  begins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in </a:t>
            </a:r>
            <a:r>
              <a:rPr lang="en-US" dirty="0" err="1"/>
              <a:t>postorder</a:t>
            </a:r>
            <a:r>
              <a:rPr lang="en-US" dirty="0"/>
              <a:t>, then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 in </a:t>
            </a:r>
            <a:r>
              <a:rPr lang="en-US" dirty="0" err="1"/>
              <a:t>postorder</a:t>
            </a:r>
            <a:r>
              <a:rPr lang="en-US" dirty="0"/>
              <a:t>, and so on, after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  is traversed in </a:t>
            </a:r>
            <a:r>
              <a:rPr lang="en-US" dirty="0" err="1"/>
              <a:t>postorder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 is visited.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799076"/>
            <a:ext cx="2673858" cy="16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13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4D215-2907-5D1D-EBEE-96E6F97C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9DA9B5-0AA1-A7B6-22C1-12C3D1725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9144000" cy="19057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1497551-4E2F-83A9-7500-3171D501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" y="2209800"/>
            <a:ext cx="9144000" cy="39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986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Postorder</a:t>
            </a:r>
            <a:r>
              <a:rPr lang="en-US" dirty="0"/>
              <a:t> Traversal 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57400"/>
            <a:ext cx="2592109" cy="438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286000"/>
            <a:ext cx="52578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procedure  </a:t>
            </a:r>
            <a:r>
              <a:rPr lang="en-US" i="1" dirty="0" err="1"/>
              <a:t>postordered</a:t>
            </a:r>
            <a:r>
              <a:rPr lang="en-US" dirty="0"/>
              <a:t> (</a:t>
            </a:r>
            <a:r>
              <a:rPr lang="en-US" i="1" dirty="0"/>
              <a:t>T</a:t>
            </a:r>
            <a:r>
              <a:rPr lang="en-US" dirty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/>
              <a:t> := root of </a:t>
            </a:r>
            <a:r>
              <a:rPr lang="en-US" i="1" dirty="0"/>
              <a:t>T</a:t>
            </a:r>
          </a:p>
          <a:p>
            <a:r>
              <a:rPr lang="en-US" b="1" dirty="0"/>
              <a:t>for</a:t>
            </a:r>
            <a:r>
              <a:rPr lang="en-US" dirty="0"/>
              <a:t> each child </a:t>
            </a:r>
            <a:r>
              <a:rPr lang="en-US" i="1" dirty="0"/>
              <a:t>c</a:t>
            </a:r>
            <a:r>
              <a:rPr lang="en-US" dirty="0"/>
              <a:t> of</a:t>
            </a:r>
            <a:r>
              <a:rPr lang="en-US" i="1" dirty="0"/>
              <a:t> r </a:t>
            </a:r>
            <a:r>
              <a:rPr lang="en-US" dirty="0"/>
              <a:t>from left to right</a:t>
            </a:r>
          </a:p>
          <a:p>
            <a:r>
              <a:rPr lang="en-US" dirty="0"/>
              <a:t>    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:= </a:t>
            </a:r>
            <a:r>
              <a:rPr lang="en-US" dirty="0" err="1"/>
              <a:t>subtree</a:t>
            </a:r>
            <a:r>
              <a:rPr lang="en-US" dirty="0"/>
              <a:t> with </a:t>
            </a:r>
            <a:r>
              <a:rPr lang="en-US" i="1" dirty="0"/>
              <a:t>c</a:t>
            </a:r>
            <a:r>
              <a:rPr lang="en-US" dirty="0"/>
              <a:t> as root</a:t>
            </a:r>
          </a:p>
          <a:p>
            <a:r>
              <a:rPr lang="en-US" dirty="0"/>
              <a:t>    </a:t>
            </a:r>
            <a:r>
              <a:rPr lang="en-US" dirty="0" err="1"/>
              <a:t>postorder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))</a:t>
            </a:r>
          </a:p>
          <a:p>
            <a:r>
              <a:rPr lang="en-US" dirty="0"/>
              <a:t>list</a:t>
            </a:r>
            <a:r>
              <a:rPr lang="en-US" i="1" dirty="0"/>
              <a:t> 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204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5A5C-2A26-A3D1-9B9C-6B73D896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86A60F-0D35-AE78-FC32-B1746DC09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782"/>
            <a:ext cx="9144000" cy="42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69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Expression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expressions can be represented using ordered rooted trees.</a:t>
            </a:r>
          </a:p>
          <a:p>
            <a:r>
              <a:rPr lang="en-US" dirty="0"/>
              <a:t>Consider the expression ((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↑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) + ((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)/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).</a:t>
            </a:r>
          </a:p>
          <a:p>
            <a:r>
              <a:rPr lang="en-US" dirty="0"/>
              <a:t>A binary tree for the expression can be built from the bottom up, as is illustrated here.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648200"/>
            <a:ext cx="4419600" cy="18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68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7F84-5008-EED7-1375-D902A185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DA5510-FFCE-4348-F378-F4648AFA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69" y="2209800"/>
            <a:ext cx="4919662" cy="214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61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inorder</a:t>
            </a:r>
            <a:r>
              <a:rPr lang="en-US" dirty="0"/>
              <a:t> traversal of the tree representing an expression produces the original expression when parentheses are included except for unary operations, which now immediately follow their operands. </a:t>
            </a:r>
          </a:p>
          <a:p>
            <a:r>
              <a:rPr lang="en-US" dirty="0"/>
              <a:t>We illustrate why parentheses are needed with an example that displays three trees all yield the same infix representation.</a:t>
            </a:r>
          </a:p>
          <a:p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876800"/>
            <a:ext cx="4339244" cy="12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44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5B46-C1AA-851B-5185-1E4DDF97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79CDE3-09A9-888A-174E-3B018D3D8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1540"/>
            <a:ext cx="9144000" cy="16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217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5638800" cy="43891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we traverse the rooted tree representation of an expression in preorder, we obtain the </a:t>
            </a:r>
            <a:r>
              <a:rPr lang="en-US" i="1" dirty="0"/>
              <a:t>prefix</a:t>
            </a:r>
            <a:r>
              <a:rPr lang="en-US" dirty="0"/>
              <a:t> form of the expression.   Expressions in prefix form are said to be in </a:t>
            </a:r>
            <a:r>
              <a:rPr lang="en-US" i="1" dirty="0"/>
              <a:t>Polish notation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dirty="0"/>
              <a:t>named after the Polish logician Jan </a:t>
            </a:r>
            <a:r>
              <a:rPr lang="en-US" dirty="0" err="1">
                <a:latin typeface="Cambria Math"/>
                <a:ea typeface="Cambria Math"/>
              </a:rPr>
              <a:t>Ł</a:t>
            </a:r>
            <a:r>
              <a:rPr lang="en-US" dirty="0" err="1"/>
              <a:t>ukasiewicz</a:t>
            </a:r>
            <a:r>
              <a:rPr lang="en-US" dirty="0"/>
              <a:t>.</a:t>
            </a:r>
          </a:p>
          <a:p>
            <a:r>
              <a:rPr lang="en-US" dirty="0"/>
              <a:t>Operators precede their operands in the prefix form of an expression. Parentheses are not needed as the representation is unambiguous.</a:t>
            </a:r>
          </a:p>
          <a:p>
            <a:r>
              <a:rPr lang="en-US" dirty="0"/>
              <a:t>The prefix form of ((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↑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) + ((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)/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     is + </a:t>
            </a:r>
            <a:r>
              <a:rPr lang="en-US" dirty="0">
                <a:latin typeface="Cambria Math"/>
                <a:ea typeface="Cambria Math"/>
              </a:rPr>
              <a:t>↑ </a:t>
            </a:r>
            <a:r>
              <a:rPr lang="en-US" dirty="0">
                <a:ea typeface="Cambria Math"/>
              </a:rPr>
              <a:t>+ </a:t>
            </a:r>
            <a:r>
              <a:rPr lang="en-US" i="1" dirty="0"/>
              <a:t>x 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/>
              <a:t>/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i="1" dirty="0"/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4 3</a:t>
            </a:r>
            <a:r>
              <a:rPr lang="en-US" dirty="0"/>
              <a:t>.</a:t>
            </a:r>
          </a:p>
          <a:p>
            <a:r>
              <a:rPr lang="en-US" dirty="0"/>
              <a:t>Prefix expressions are evaluated by working from right to left. When we encounter an operator, we perform the corresponding operation with the two operations to the right.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895600"/>
            <a:ext cx="2228850" cy="23766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15240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We show the steps used to evaluate a particular prefix expression: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04800"/>
            <a:ext cx="892302" cy="1032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4200" y="381000"/>
            <a:ext cx="184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Jan </a:t>
            </a:r>
            <a:r>
              <a:rPr lang="en-US" dirty="0" err="1">
                <a:latin typeface="Cambria Math"/>
                <a:ea typeface="Cambria Math"/>
              </a:rPr>
              <a:t>Ł</a:t>
            </a:r>
            <a:r>
              <a:rPr lang="en-US" dirty="0" err="1"/>
              <a:t>ukasiewicz</a:t>
            </a:r>
            <a:r>
              <a:rPr lang="en-US" dirty="0"/>
              <a:t>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1878-1956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10118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9333-38CE-C851-E671-5FFEAB99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BEE102-2C46-1D55-219F-DF4741531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7904270" cy="32888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F8D0CB-993C-528C-3A24-3D61F9C26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259955"/>
            <a:ext cx="592475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289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35480"/>
            <a:ext cx="5943600" cy="438912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We obtain the </a:t>
            </a:r>
            <a:r>
              <a:rPr lang="en-US" i="1" dirty="0"/>
              <a:t>postfix form </a:t>
            </a:r>
            <a:r>
              <a:rPr lang="en-US" dirty="0"/>
              <a:t>of an expression by traversing its binary trees in </a:t>
            </a:r>
            <a:r>
              <a:rPr lang="en-US" dirty="0" err="1"/>
              <a:t>postorder</a:t>
            </a:r>
            <a:r>
              <a:rPr lang="en-US" dirty="0"/>
              <a:t>. Expressions written in postfix form are said to be in </a:t>
            </a:r>
            <a:r>
              <a:rPr lang="en-US" i="1" dirty="0"/>
              <a:t>reverse Polish notation. </a:t>
            </a:r>
          </a:p>
          <a:p>
            <a:r>
              <a:rPr lang="en-US" dirty="0"/>
              <a:t>Parentheses are not needed as the postfix form is unambiguous. </a:t>
            </a:r>
          </a:p>
          <a:p>
            <a:r>
              <a:rPr lang="en-US" i="1" dirty="0"/>
              <a:t>x y </a:t>
            </a:r>
            <a:r>
              <a:rPr lang="en-US" dirty="0"/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>
                <a:latin typeface="Cambria Math"/>
                <a:ea typeface="Cambria Math"/>
              </a:rPr>
              <a:t>↑ </a:t>
            </a:r>
            <a:r>
              <a:rPr lang="en-US" i="1" dirty="0"/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/>
                <a:ea typeface="Cambria Math"/>
              </a:rPr>
              <a:t> 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dirty="0"/>
              <a:t>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+</a:t>
            </a:r>
            <a:r>
              <a:rPr lang="en-US" dirty="0"/>
              <a:t> is the  postfix                              form of ((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↑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) + ((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)/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).</a:t>
            </a:r>
          </a:p>
          <a:p>
            <a:r>
              <a:rPr lang="en-US" dirty="0"/>
              <a:t>A binary operator follows its two operands. So, to evaluate an expression one works from left to right, carrying out an operation represented by an operator on its preceding operands.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14600"/>
            <a:ext cx="2229612" cy="23766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10668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We show the steps used to evaluate a particular postfix expression.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5875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345A-B6F5-1724-D90D-00868663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228510-6AAD-B333-FBE9-A36881CB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"/>
            <a:ext cx="7762033" cy="35228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846A34-9142-5E9D-4175-F786FF83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276600"/>
            <a:ext cx="4953000" cy="3118909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4FEF19BD-D20E-BFD9-0CAB-47924EB1D8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780393" y="4068314"/>
            <a:ext cx="2209800" cy="18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68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11.4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  <a:p>
            <a:r>
              <a:rPr lang="en-US" dirty="0"/>
              <a:t>Depth-First Search</a:t>
            </a:r>
          </a:p>
          <a:p>
            <a:r>
              <a:rPr lang="en-US" dirty="0"/>
              <a:t>Breadth-First Search</a:t>
            </a:r>
          </a:p>
          <a:p>
            <a:r>
              <a:rPr lang="en-US" dirty="0"/>
              <a:t>Backtracking Applications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/>
              <a:t> Depth-First Search in Directed Graphs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0F78FF-5318-8B09-154F-4B1C1BD9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730282"/>
            <a:ext cx="3061633" cy="223361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G</a:t>
            </a:r>
            <a:r>
              <a:rPr lang="en-US" dirty="0"/>
              <a:t> be a simple graph. A spanning tree of </a:t>
            </a:r>
            <a:r>
              <a:rPr lang="en-US" i="1" dirty="0"/>
              <a:t>G</a:t>
            </a:r>
            <a:r>
              <a:rPr lang="en-US" dirty="0"/>
              <a:t> is a </a:t>
            </a:r>
            <a:r>
              <a:rPr lang="en-US" dirty="0" err="1"/>
              <a:t>subgraph</a:t>
            </a:r>
            <a:r>
              <a:rPr lang="en-US" dirty="0"/>
              <a:t> of </a:t>
            </a:r>
            <a:r>
              <a:rPr lang="en-US" i="1" dirty="0"/>
              <a:t>G</a:t>
            </a:r>
            <a:r>
              <a:rPr lang="en-US" dirty="0"/>
              <a:t> that is a tree containing every vertex of </a:t>
            </a:r>
            <a:r>
              <a:rPr lang="en-US" i="1" dirty="0"/>
              <a:t>G</a:t>
            </a:r>
            <a:r>
              <a:rPr lang="en-US" dirty="0"/>
              <a:t>. </a:t>
            </a:r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Find the spanning tree of this                                             simple graph: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The graph is connected, but is not a tree because it contains simple circuits. Remove the edge {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}. Now one simple circuit is gone, but the remaining </a:t>
            </a:r>
            <a:r>
              <a:rPr lang="en-US" dirty="0" err="1"/>
              <a:t>subgraph</a:t>
            </a:r>
            <a:r>
              <a:rPr lang="en-US" dirty="0"/>
              <a:t> still has a simple circuit. Remove the edge {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} and then the edge {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} to produce a simple graph with no simple circuits. It is a spanning tree, because it contains every vertex of the original graph.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362200"/>
            <a:ext cx="1365504" cy="838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805" y="4953000"/>
            <a:ext cx="4633913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5819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FD4AB-C3C3-2409-EA35-FA7B1053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E355BB-1064-04B1-19A9-524BB0BB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2819"/>
            <a:ext cx="9144000" cy="291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85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Trees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0">
              <a:buNone/>
            </a:pPr>
            <a:r>
              <a:rPr lang="en-US" b="1" dirty="0"/>
              <a:t>Theorem</a:t>
            </a:r>
            <a:r>
              <a:rPr lang="en-US" dirty="0"/>
              <a:t>: A simple graph is connected if and only if it has a spanning tree.</a:t>
            </a:r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: Suppose that a simple graph </a:t>
            </a:r>
            <a:r>
              <a:rPr lang="en-US" i="1" dirty="0"/>
              <a:t>G</a:t>
            </a:r>
            <a:r>
              <a:rPr lang="en-US" dirty="0"/>
              <a:t> has a spanning tree </a:t>
            </a:r>
            <a:r>
              <a:rPr lang="en-US" i="1" dirty="0"/>
              <a:t>T</a:t>
            </a:r>
            <a:r>
              <a:rPr lang="en-US" dirty="0"/>
              <a:t>. </a:t>
            </a:r>
            <a:r>
              <a:rPr lang="en-US" i="1" dirty="0"/>
              <a:t>T</a:t>
            </a:r>
            <a:r>
              <a:rPr lang="en-US" dirty="0"/>
              <a:t> contains every vertex of </a:t>
            </a:r>
            <a:r>
              <a:rPr lang="en-US" i="1" dirty="0"/>
              <a:t>G</a:t>
            </a:r>
            <a:r>
              <a:rPr lang="en-US" dirty="0"/>
              <a:t> and there is a path in </a:t>
            </a:r>
            <a:r>
              <a:rPr lang="en-US" i="1" dirty="0"/>
              <a:t>T</a:t>
            </a:r>
            <a:r>
              <a:rPr lang="en-US" dirty="0"/>
              <a:t> between any two of its vertices. Because </a:t>
            </a:r>
            <a:r>
              <a:rPr lang="en-US" i="1" dirty="0"/>
              <a:t>T</a:t>
            </a:r>
            <a:r>
              <a:rPr lang="en-US" dirty="0"/>
              <a:t> is a </a:t>
            </a:r>
            <a:r>
              <a:rPr lang="en-US" dirty="0" err="1"/>
              <a:t>subgraph</a:t>
            </a:r>
            <a:r>
              <a:rPr lang="en-US" dirty="0"/>
              <a:t> of </a:t>
            </a:r>
            <a:r>
              <a:rPr lang="en-US" i="1" dirty="0"/>
              <a:t>G</a:t>
            </a:r>
            <a:r>
              <a:rPr lang="en-US" dirty="0"/>
              <a:t>, there is a path in </a:t>
            </a:r>
            <a:r>
              <a:rPr lang="en-US" i="1" dirty="0"/>
              <a:t>G</a:t>
            </a:r>
            <a:r>
              <a:rPr lang="en-US" dirty="0"/>
              <a:t> between any two of its vertices. Hence, </a:t>
            </a:r>
            <a:r>
              <a:rPr lang="en-US" i="1" dirty="0"/>
              <a:t>G </a:t>
            </a:r>
            <a:r>
              <a:rPr lang="en-US" dirty="0"/>
              <a:t>is connected. </a:t>
            </a:r>
          </a:p>
          <a:p>
            <a:pPr indent="0">
              <a:buNone/>
            </a:pPr>
            <a:r>
              <a:rPr lang="en-US" dirty="0"/>
              <a:t>Now suppose that </a:t>
            </a:r>
            <a:r>
              <a:rPr lang="en-US" i="1" dirty="0"/>
              <a:t>G</a:t>
            </a:r>
            <a:r>
              <a:rPr lang="en-US" dirty="0"/>
              <a:t> is connected. If </a:t>
            </a:r>
            <a:r>
              <a:rPr lang="en-US" i="1" dirty="0"/>
              <a:t>G</a:t>
            </a:r>
            <a:r>
              <a:rPr lang="en-US" dirty="0"/>
              <a:t> is not a tree, it contains a simple circuit. Remove an edge from one of the simple circuits. The resulting </a:t>
            </a:r>
            <a:r>
              <a:rPr lang="en-US" dirty="0" err="1"/>
              <a:t>subgraph</a:t>
            </a:r>
            <a:r>
              <a:rPr lang="en-US" dirty="0"/>
              <a:t> is still connected because any vertices connected via a path containing the removed edge are still connected via a path with the remaining part of the simple circuit. Continue in this fashion until there are no more simple circuits. A tree is produced because the graph remains connected as edges are removed. The resulting tree is a spanning tree because it contains every vertex of </a:t>
            </a:r>
            <a:r>
              <a:rPr lang="en-US" i="1" dirty="0"/>
              <a:t>G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80387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A48F-8A94-424C-23B0-D9CC95EE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3AE51B-F6D5-DE96-7279-3E81FB447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7254"/>
            <a:ext cx="9144000" cy="29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915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 use </a:t>
            </a:r>
            <a:r>
              <a:rPr lang="en-US" i="1" dirty="0"/>
              <a:t>depth-first search </a:t>
            </a:r>
            <a:r>
              <a:rPr lang="en-US" dirty="0"/>
              <a:t>to build a spanning tree for a connected simple graph first arbitrarily choose a vertex of the graph as the root. </a:t>
            </a:r>
          </a:p>
          <a:p>
            <a:pPr lvl="1"/>
            <a:r>
              <a:rPr lang="en-US" dirty="0"/>
              <a:t>Form a path starting at this vertex by successively adding vertices and edges, where each new edge is incident with the last vertex in the path and a vertex not already in the path. Continue adding vertices and edges to this path as long as possible.</a:t>
            </a:r>
          </a:p>
          <a:p>
            <a:pPr lvl="1"/>
            <a:r>
              <a:rPr lang="en-US" dirty="0"/>
              <a:t>If the path goes through all vertices of the graph, the tree consisting of this path is a spanning tree.</a:t>
            </a:r>
          </a:p>
          <a:p>
            <a:pPr lvl="1"/>
            <a:r>
              <a:rPr lang="en-US" dirty="0"/>
              <a:t>Otherwise, move back to the next to the last vertex in the path, and if possible, form a new path starting at this vertex and passing through vertices not already visited. If this cannot be done, move back another vertex in the path.</a:t>
            </a:r>
          </a:p>
          <a:p>
            <a:pPr lvl="1"/>
            <a:r>
              <a:rPr lang="en-US" dirty="0"/>
              <a:t>Repeat this procedure until all vertices are included in the spanning tree. </a:t>
            </a:r>
          </a:p>
        </p:txBody>
      </p:sp>
    </p:spTree>
    <p:extLst>
      <p:ext uri="{BB962C8B-B14F-4D97-AF65-F5344CB8AC3E}">
        <p14:creationId xmlns:p14="http://schemas.microsoft.com/office/powerpoint/2010/main" val="36191585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88F8-E882-4DA7-B26C-E9D45F7A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2103BF-F34F-6A9A-D4A1-46C2EB79A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3918"/>
            <a:ext cx="9144000" cy="299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682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Use depth-first search                                                                                    to find a spanning tree of this graph.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We start arbitrarily with vertex </a:t>
            </a:r>
            <a:r>
              <a:rPr lang="en-US" i="1" dirty="0"/>
              <a:t>f</a:t>
            </a:r>
            <a:r>
              <a:rPr lang="en-US" dirty="0"/>
              <a:t>. We build a path by successively adding an edge that connects the last vertex added to the path and a vertex not already in the path, as long as this is possible. The result is a path that connects 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n-US" dirty="0"/>
              <a:t>, and </a:t>
            </a:r>
            <a:r>
              <a:rPr lang="en-US" i="1" dirty="0"/>
              <a:t>j</a:t>
            </a:r>
            <a:r>
              <a:rPr lang="en-US" dirty="0"/>
              <a:t>. Next, we return to </a:t>
            </a:r>
            <a:r>
              <a:rPr lang="en-US" i="1" dirty="0"/>
              <a:t>k</a:t>
            </a:r>
            <a:r>
              <a:rPr lang="en-US" dirty="0"/>
              <a:t>, but find no new vertices to add. So, we return to </a:t>
            </a:r>
            <a:r>
              <a:rPr lang="en-US" i="1" dirty="0"/>
              <a:t>h</a:t>
            </a:r>
            <a:r>
              <a:rPr lang="en-US" dirty="0"/>
              <a:t> and add the path with one edge that connects </a:t>
            </a:r>
            <a:r>
              <a:rPr lang="en-US" i="1" dirty="0"/>
              <a:t>h</a:t>
            </a:r>
            <a:r>
              <a:rPr lang="en-US" dirty="0"/>
              <a:t> and </a:t>
            </a:r>
            <a:r>
              <a:rPr lang="en-US" i="1" dirty="0" err="1"/>
              <a:t>i</a:t>
            </a:r>
            <a:r>
              <a:rPr lang="en-US" dirty="0"/>
              <a:t>. We next return to </a:t>
            </a:r>
            <a:r>
              <a:rPr lang="en-US" i="1" dirty="0"/>
              <a:t>f</a:t>
            </a:r>
            <a:r>
              <a:rPr lang="en-US" dirty="0"/>
              <a:t>, and add the path connecting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and </a:t>
            </a:r>
            <a:r>
              <a:rPr lang="en-US" i="1" dirty="0"/>
              <a:t>a</a:t>
            </a:r>
            <a:r>
              <a:rPr lang="en-US" dirty="0"/>
              <a:t>. Finally, we return to </a:t>
            </a:r>
            <a:r>
              <a:rPr lang="en-US" i="1" dirty="0"/>
              <a:t>c</a:t>
            </a:r>
            <a:r>
              <a:rPr lang="en-US" dirty="0"/>
              <a:t> and add the path connecting </a:t>
            </a:r>
            <a:r>
              <a:rPr lang="en-US" i="1" dirty="0"/>
              <a:t>c</a:t>
            </a:r>
            <a:r>
              <a:rPr lang="en-US" dirty="0"/>
              <a:t> and </a:t>
            </a:r>
            <a:r>
              <a:rPr lang="en-US" i="1" dirty="0"/>
              <a:t>b.</a:t>
            </a:r>
            <a:r>
              <a:rPr lang="en-US" dirty="0"/>
              <a:t> We now stop because all vertices have been added.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515" y="2057400"/>
            <a:ext cx="211613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160894"/>
            <a:ext cx="3511550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637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AB67-DF8F-EC3F-F841-A9174FD2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DE4482-1643-8CF6-D17D-A356EEB3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560"/>
            <a:ext cx="9144000" cy="272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538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edges selected by depth-first search of a graph are called </a:t>
            </a:r>
            <a:r>
              <a:rPr lang="en-US" i="1" dirty="0"/>
              <a:t>tree edges</a:t>
            </a:r>
            <a:r>
              <a:rPr lang="en-US" dirty="0"/>
              <a:t>. All other edges of the graph must connect a vertex to an ancestor or descendant of the vertex in the graph. These are called </a:t>
            </a:r>
            <a:r>
              <a:rPr lang="en-US" i="1" dirty="0"/>
              <a:t>back edges</a:t>
            </a:r>
            <a:r>
              <a:rPr lang="en-US" dirty="0"/>
              <a:t>. </a:t>
            </a:r>
          </a:p>
          <a:p>
            <a:r>
              <a:rPr lang="en-US" dirty="0"/>
              <a:t>In this figure, the tree edges are shown with heavy blue lines. The two thin black edges are back edges.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876800"/>
            <a:ext cx="212090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1330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E373-E63F-857F-085B-F6B74857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B2DF7E-9267-5B8B-8830-E66EAEFB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8972"/>
            <a:ext cx="9144000" cy="160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410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use </a:t>
            </a:r>
            <a:r>
              <a:rPr lang="en-US" dirty="0" err="1"/>
              <a:t>pseudocode</a:t>
            </a:r>
            <a:r>
              <a:rPr lang="en-US" dirty="0"/>
              <a:t> to specify depth-first search. In this recursive algorithm, after adding an edge connecting  a vertex </a:t>
            </a:r>
            <a:r>
              <a:rPr lang="en-US" i="1" dirty="0"/>
              <a:t>v</a:t>
            </a:r>
            <a:r>
              <a:rPr lang="en-US" dirty="0"/>
              <a:t> to the vertex </a:t>
            </a:r>
            <a:r>
              <a:rPr lang="en-US" i="1" dirty="0"/>
              <a:t>w</a:t>
            </a:r>
            <a:r>
              <a:rPr lang="en-US" dirty="0"/>
              <a:t>, we finish exploring </a:t>
            </a:r>
            <a:r>
              <a:rPr lang="en-US" i="1" dirty="0"/>
              <a:t>w</a:t>
            </a:r>
            <a:r>
              <a:rPr lang="en-US" dirty="0"/>
              <a:t> before we return to </a:t>
            </a:r>
            <a:r>
              <a:rPr lang="en-US" i="1" dirty="0"/>
              <a:t>v</a:t>
            </a:r>
            <a:r>
              <a:rPr lang="en-US" dirty="0"/>
              <a:t> to continue exploring from </a:t>
            </a:r>
            <a:r>
              <a:rPr lang="en-US" i="1" dirty="0"/>
              <a:t>v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78" y="3962400"/>
            <a:ext cx="67818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procedure </a:t>
            </a:r>
            <a:r>
              <a:rPr lang="en-US" i="1" dirty="0"/>
              <a:t>DFS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: connected graph with vertices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en-US" dirty="0"/>
              <a:t>)</a:t>
            </a:r>
          </a:p>
          <a:p>
            <a:r>
              <a:rPr lang="en-US" i="1" dirty="0"/>
              <a:t>T</a:t>
            </a:r>
            <a:r>
              <a:rPr lang="en-US" dirty="0"/>
              <a:t> := tree consisting only of the vertex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 </a:t>
            </a: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r>
              <a:rPr lang="en-US" b="1" dirty="0">
                <a:latin typeface="Cambria Math" pitchFamily="18" charset="0"/>
                <a:ea typeface="Cambria Math" pitchFamily="18" charset="0"/>
              </a:rPr>
              <a:t>procedure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>
                <a:ea typeface="Cambria Math" pitchFamily="18" charset="0"/>
              </a:rPr>
              <a:t>v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vertex of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G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r>
              <a:rPr lang="en-US" b="1" dirty="0">
                <a:latin typeface="Cambria Math" pitchFamily="18" charset="0"/>
                <a:ea typeface="Cambria Math" pitchFamily="18" charset="0"/>
              </a:rPr>
              <a:t>for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each vertex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adjacent to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and not yet in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T</a:t>
            </a: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add vertex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and edge {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dirty="0" err="1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} to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T</a:t>
            </a: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    </a:t>
            </a:r>
            <a:r>
              <a:rPr lang="en-US" i="1" dirty="0">
                <a:ea typeface="Cambria Math" pitchFamily="18" charset="0"/>
              </a:rPr>
              <a:t>visit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i="1" dirty="0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57394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BC6A-D7BD-6536-F08B-7FFBE6B1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88FE43-4A97-5C14-C4F7-81896B6D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909"/>
            <a:ext cx="9144000" cy="4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110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construct a spanning tree using </a:t>
            </a:r>
            <a:r>
              <a:rPr lang="en-US" i="1" dirty="0"/>
              <a:t>breadth-first search</a:t>
            </a:r>
            <a:r>
              <a:rPr lang="en-US" dirty="0"/>
              <a:t>. We first arbitrarily choose a root from the vertices of the graph. </a:t>
            </a:r>
          </a:p>
          <a:p>
            <a:pPr lvl="1"/>
            <a:r>
              <a:rPr lang="en-US" dirty="0"/>
              <a:t>Then we add all of the edges incident to this vertex and the other endpoint of each of these edges. We say that these are the vertices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For each vertex added at the previous level, we add each edge incident to this vertex, as long as it does not produce a simple circuit. The new vertices we find are the vertices at the next level.</a:t>
            </a:r>
          </a:p>
          <a:p>
            <a:pPr lvl="1"/>
            <a:r>
              <a:rPr lang="en-US" dirty="0"/>
              <a:t>We continue in this manner until all the vertices have been added and we have a spanning tree. </a:t>
            </a:r>
          </a:p>
        </p:txBody>
      </p:sp>
    </p:spTree>
    <p:extLst>
      <p:ext uri="{BB962C8B-B14F-4D97-AF65-F5344CB8AC3E}">
        <p14:creationId xmlns:p14="http://schemas.microsoft.com/office/powerpoint/2010/main" val="10061760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CD4B-1972-45BE-0045-FCABB750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8DFD86-D18F-F7DF-BC91-FFA68F1C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220"/>
            <a:ext cx="9144000" cy="225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565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Breadth-First Search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Use breadth-first search to find a spanning tree                                                                                      for this graph.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We arbitrarily choose vertex </a:t>
            </a:r>
            <a:r>
              <a:rPr lang="en-US" i="1" dirty="0"/>
              <a:t>e</a:t>
            </a:r>
            <a:r>
              <a:rPr lang="en-US" dirty="0"/>
              <a:t> as the root. We then add the edges from </a:t>
            </a:r>
            <a:r>
              <a:rPr lang="en-US" i="1" dirty="0"/>
              <a:t>e</a:t>
            </a:r>
            <a:r>
              <a:rPr lang="en-US" dirty="0"/>
              <a:t> to 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and </a:t>
            </a:r>
            <a:r>
              <a:rPr lang="en-US" i="1" dirty="0" err="1"/>
              <a:t>i</a:t>
            </a:r>
            <a:r>
              <a:rPr lang="en-US" dirty="0"/>
              <a:t>. These four vertices make up 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in the tree. Next, we add the edges from </a:t>
            </a:r>
            <a:r>
              <a:rPr lang="en-US" i="1" dirty="0"/>
              <a:t>b</a:t>
            </a:r>
            <a:r>
              <a:rPr lang="en-US" dirty="0"/>
              <a:t> to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c</a:t>
            </a:r>
            <a:r>
              <a:rPr lang="en-US" dirty="0"/>
              <a:t>, the edges from </a:t>
            </a:r>
            <a:r>
              <a:rPr lang="en-US" i="1" dirty="0"/>
              <a:t>d</a:t>
            </a:r>
            <a:r>
              <a:rPr lang="en-US" dirty="0"/>
              <a:t> to </a:t>
            </a:r>
            <a:r>
              <a:rPr lang="en-US" i="1" dirty="0"/>
              <a:t>h</a:t>
            </a:r>
            <a:r>
              <a:rPr lang="en-US" dirty="0"/>
              <a:t>, the edges from </a:t>
            </a:r>
            <a:r>
              <a:rPr lang="en-US" i="1" dirty="0"/>
              <a:t>f </a:t>
            </a:r>
            <a:r>
              <a:rPr lang="en-US" dirty="0"/>
              <a:t>to </a:t>
            </a:r>
            <a:r>
              <a:rPr lang="en-US" i="1" dirty="0"/>
              <a:t>j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dirty="0"/>
              <a:t>, and the edge from </a:t>
            </a:r>
            <a:r>
              <a:rPr lang="en-US" i="1" dirty="0" err="1"/>
              <a:t>i</a:t>
            </a:r>
            <a:r>
              <a:rPr lang="en-US" dirty="0"/>
              <a:t> to </a:t>
            </a:r>
            <a:r>
              <a:rPr lang="en-US" i="1" dirty="0"/>
              <a:t>k</a:t>
            </a:r>
            <a:r>
              <a:rPr lang="en-US" dirty="0"/>
              <a:t>. The endpoints of these edges not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are 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. Next, add edges from these vertices to adjacent vertices not already in the graph. So, we  add edges from </a:t>
            </a:r>
            <a:r>
              <a:rPr lang="en-US" i="1" dirty="0"/>
              <a:t>g</a:t>
            </a:r>
            <a:r>
              <a:rPr lang="en-US" dirty="0"/>
              <a:t> to </a:t>
            </a:r>
            <a:r>
              <a:rPr lang="en-US" i="1" dirty="0"/>
              <a:t>l</a:t>
            </a:r>
            <a:r>
              <a:rPr lang="en-US" dirty="0"/>
              <a:t> and from </a:t>
            </a:r>
            <a:r>
              <a:rPr lang="en-US" i="1" dirty="0"/>
              <a:t>k</a:t>
            </a:r>
            <a:r>
              <a:rPr lang="en-US" dirty="0"/>
              <a:t> to </a:t>
            </a:r>
            <a:r>
              <a:rPr lang="en-US" i="1" dirty="0"/>
              <a:t>m</a:t>
            </a:r>
            <a:r>
              <a:rPr lang="en-US" dirty="0"/>
              <a:t>. We see that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is made up of the vertices </a:t>
            </a:r>
            <a:r>
              <a:rPr lang="en-US" i="1" dirty="0"/>
              <a:t>l</a:t>
            </a:r>
            <a:r>
              <a:rPr lang="en-US" dirty="0"/>
              <a:t> and </a:t>
            </a:r>
            <a:r>
              <a:rPr lang="en-US" i="1" dirty="0"/>
              <a:t>m</a:t>
            </a:r>
            <a:r>
              <a:rPr lang="en-US" dirty="0"/>
              <a:t>.  This is the last level because there are no new vertices to find.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67" y="1981200"/>
            <a:ext cx="1338471" cy="1601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921" y="5029200"/>
            <a:ext cx="4408487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7201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6006-6A9E-5F32-DBAC-DF5BF62E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57358E-6E05-A884-161C-863AC1C4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0402"/>
            <a:ext cx="9144000" cy="23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372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/>
              <a:t>We now </a:t>
            </a:r>
            <a:r>
              <a:rPr lang="en-US" dirty="0"/>
              <a:t>use </a:t>
            </a:r>
            <a:r>
              <a:rPr lang="en-US" dirty="0" err="1"/>
              <a:t>pseudocode</a:t>
            </a:r>
            <a:r>
              <a:rPr lang="en-US" dirty="0"/>
              <a:t> to describe breadth-first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71800"/>
            <a:ext cx="6781800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procedure </a:t>
            </a:r>
            <a:r>
              <a:rPr lang="en-US" i="1" dirty="0"/>
              <a:t>BFS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: connected graph with vertices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v</a:t>
            </a:r>
            <a:r>
              <a:rPr lang="en-US" i="1" baseline="-25000" dirty="0" err="1"/>
              <a:t>n</a:t>
            </a:r>
            <a:r>
              <a:rPr lang="en-US" dirty="0"/>
              <a:t>)</a:t>
            </a:r>
          </a:p>
          <a:p>
            <a:r>
              <a:rPr lang="en-US" i="1" dirty="0"/>
              <a:t>T</a:t>
            </a:r>
            <a:r>
              <a:rPr lang="en-US" dirty="0"/>
              <a:t> := tree consisting only of the vertex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 </a:t>
            </a:r>
          </a:p>
          <a:p>
            <a:r>
              <a:rPr lang="en-US" i="1" dirty="0"/>
              <a:t>L</a:t>
            </a:r>
            <a:r>
              <a:rPr lang="en-US" dirty="0"/>
              <a:t> := empty list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)</a:t>
            </a:r>
          </a:p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put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in the list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L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of unprocessed vertices</a:t>
            </a:r>
          </a:p>
          <a:p>
            <a:r>
              <a:rPr lang="en-US" b="1" dirty="0">
                <a:ea typeface="Cambria Math" pitchFamily="18" charset="0"/>
              </a:rPr>
              <a:t>while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L</a:t>
            </a:r>
            <a:r>
              <a:rPr lang="en-US" dirty="0">
                <a:ea typeface="Cambria Math" pitchFamily="18" charset="0"/>
              </a:rPr>
              <a:t> is not empty</a:t>
            </a:r>
          </a:p>
          <a:p>
            <a:r>
              <a:rPr lang="en-US" dirty="0">
                <a:ea typeface="Cambria Math" pitchFamily="18" charset="0"/>
              </a:rPr>
              <a:t>    remove the first vertex, </a:t>
            </a:r>
            <a:r>
              <a:rPr lang="en-US" i="1" dirty="0">
                <a:ea typeface="Cambria Math" pitchFamily="18" charset="0"/>
              </a:rPr>
              <a:t>v</a:t>
            </a:r>
            <a:r>
              <a:rPr lang="en-US" dirty="0">
                <a:ea typeface="Cambria Math" pitchFamily="18" charset="0"/>
              </a:rPr>
              <a:t>, from </a:t>
            </a:r>
            <a:r>
              <a:rPr lang="en-US" i="1" dirty="0">
                <a:ea typeface="Cambria Math" pitchFamily="18" charset="0"/>
              </a:rPr>
              <a:t>L</a:t>
            </a:r>
          </a:p>
          <a:p>
            <a:r>
              <a:rPr lang="en-US" b="1" dirty="0">
                <a:ea typeface="Cambria Math" pitchFamily="18" charset="0"/>
              </a:rPr>
              <a:t>    for</a:t>
            </a:r>
            <a:r>
              <a:rPr lang="en-US" dirty="0">
                <a:ea typeface="Cambria Math" pitchFamily="18" charset="0"/>
              </a:rPr>
              <a:t> each neighbor </a:t>
            </a:r>
            <a:r>
              <a:rPr lang="en-US" i="1" dirty="0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 of </a:t>
            </a:r>
            <a:r>
              <a:rPr lang="en-US" i="1" dirty="0">
                <a:ea typeface="Cambria Math" pitchFamily="18" charset="0"/>
              </a:rPr>
              <a:t>v</a:t>
            </a:r>
            <a:r>
              <a:rPr lang="en-US" dirty="0">
                <a:ea typeface="Cambria Math" pitchFamily="18" charset="0"/>
              </a:rPr>
              <a:t> </a:t>
            </a:r>
          </a:p>
          <a:p>
            <a:r>
              <a:rPr lang="en-US" b="1" dirty="0">
                <a:ea typeface="Cambria Math" pitchFamily="18" charset="0"/>
              </a:rPr>
              <a:t>        if </a:t>
            </a:r>
            <a:r>
              <a:rPr lang="en-US" i="1" dirty="0">
                <a:ea typeface="Cambria Math" pitchFamily="18" charset="0"/>
              </a:rPr>
              <a:t>w </a:t>
            </a:r>
            <a:r>
              <a:rPr lang="en-US" dirty="0">
                <a:ea typeface="Cambria Math" pitchFamily="18" charset="0"/>
              </a:rPr>
              <a:t>is not in </a:t>
            </a:r>
            <a:r>
              <a:rPr lang="en-US" i="1" dirty="0">
                <a:ea typeface="Cambria Math" pitchFamily="18" charset="0"/>
              </a:rPr>
              <a:t>L </a:t>
            </a:r>
            <a:r>
              <a:rPr lang="en-US" dirty="0">
                <a:ea typeface="Cambria Math" pitchFamily="18" charset="0"/>
              </a:rPr>
              <a:t>and not in </a:t>
            </a:r>
            <a:r>
              <a:rPr lang="en-US" i="1" dirty="0">
                <a:ea typeface="Cambria Math" pitchFamily="18" charset="0"/>
              </a:rPr>
              <a:t>T </a:t>
            </a:r>
            <a:r>
              <a:rPr lang="en-US" b="1" dirty="0">
                <a:ea typeface="Cambria Math" pitchFamily="18" charset="0"/>
              </a:rPr>
              <a:t>then</a:t>
            </a:r>
          </a:p>
          <a:p>
            <a:r>
              <a:rPr lang="en-US" i="1" dirty="0">
                <a:ea typeface="Cambria Math" pitchFamily="18" charset="0"/>
              </a:rPr>
              <a:t>            </a:t>
            </a:r>
            <a:r>
              <a:rPr lang="en-US" dirty="0">
                <a:ea typeface="Cambria Math" pitchFamily="18" charset="0"/>
              </a:rPr>
              <a:t>add  </a:t>
            </a:r>
            <a:r>
              <a:rPr lang="en-US" i="1" dirty="0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 to the end of the list </a:t>
            </a:r>
            <a:r>
              <a:rPr lang="en-US" i="1" dirty="0">
                <a:ea typeface="Cambria Math" pitchFamily="18" charset="0"/>
              </a:rPr>
              <a:t>L</a:t>
            </a:r>
          </a:p>
          <a:p>
            <a:r>
              <a:rPr lang="en-US" i="1" dirty="0">
                <a:ea typeface="Cambria Math" pitchFamily="18" charset="0"/>
              </a:rPr>
              <a:t>            </a:t>
            </a:r>
            <a:r>
              <a:rPr lang="en-US" dirty="0">
                <a:ea typeface="Cambria Math" pitchFamily="18" charset="0"/>
              </a:rPr>
              <a:t>add  </a:t>
            </a:r>
            <a:r>
              <a:rPr lang="en-US" i="1" dirty="0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 and edge {</a:t>
            </a:r>
            <a:r>
              <a:rPr lang="en-US" i="1" dirty="0" err="1">
                <a:ea typeface="Cambria Math" pitchFamily="18" charset="0"/>
              </a:rPr>
              <a:t>v</a:t>
            </a:r>
            <a:r>
              <a:rPr lang="en-US" dirty="0" err="1">
                <a:ea typeface="Cambria Math" pitchFamily="18" charset="0"/>
              </a:rPr>
              <a:t>,</a:t>
            </a:r>
            <a:r>
              <a:rPr lang="en-US" i="1" dirty="0" err="1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} to </a:t>
            </a:r>
            <a:r>
              <a:rPr lang="en-US" i="1" dirty="0">
                <a:ea typeface="Cambria Math" pitchFamily="18" charset="0"/>
              </a:rPr>
              <a:t>T</a:t>
            </a:r>
            <a:endParaRPr lang="en-US" dirty="0"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612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C5F8-8F51-08DC-3B22-88F5B3ED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52D2A3-9F93-8E91-D189-F31E81BD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40594"/>
            <a:ext cx="6619371" cy="497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52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921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Depth-First Search in 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4999"/>
            <a:ext cx="8229600" cy="43891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Both depth-first search and breadth-first search can be easily modified to run on a directed graph. But the result is not necessarily a spanning tree, but rather a spanning forest.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ts val="1300"/>
              </a:lnSpc>
              <a:buNone/>
            </a:pPr>
            <a:r>
              <a:rPr lang="en-US" b="1" dirty="0"/>
              <a:t>      </a:t>
            </a:r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To index websites, search engines such as Google systematically explore the web starting at known sites. The programs that do this exploration are known as </a:t>
            </a:r>
            <a:r>
              <a:rPr lang="en-US" i="1" dirty="0"/>
              <a:t>Web spiders</a:t>
            </a:r>
            <a:r>
              <a:rPr lang="en-US" dirty="0"/>
              <a:t>. They may use both breath-first search or depth-first search to explore the Web graph.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582" y="2971800"/>
            <a:ext cx="4363974" cy="1723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9417" y="2667000"/>
            <a:ext cx="365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Example</a:t>
            </a:r>
            <a:r>
              <a:rPr lang="en-US" sz="1600" dirty="0"/>
              <a:t>: For the graph in (a), if we begin at  vertex </a:t>
            </a:r>
            <a:r>
              <a:rPr lang="en-US" sz="1600" i="1" dirty="0"/>
              <a:t>a</a:t>
            </a:r>
            <a:r>
              <a:rPr lang="en-US" sz="1600" dirty="0"/>
              <a:t>, depth-first search adds the path connecting </a:t>
            </a:r>
            <a:r>
              <a:rPr lang="en-US" sz="1600" i="1" dirty="0"/>
              <a:t>a</a:t>
            </a:r>
            <a:r>
              <a:rPr lang="en-US" sz="1600" dirty="0"/>
              <a:t>, </a:t>
            </a:r>
            <a:r>
              <a:rPr lang="en-US" sz="1600" i="1" dirty="0"/>
              <a:t>b</a:t>
            </a:r>
            <a:r>
              <a:rPr lang="en-US" sz="1600" dirty="0"/>
              <a:t>, </a:t>
            </a:r>
            <a:r>
              <a:rPr lang="en-US" sz="1600" i="1" dirty="0"/>
              <a:t>c</a:t>
            </a:r>
            <a:r>
              <a:rPr lang="en-US" sz="1600" dirty="0"/>
              <a:t>, and </a:t>
            </a:r>
            <a:r>
              <a:rPr lang="en-US" sz="1600" i="1" dirty="0"/>
              <a:t>g</a:t>
            </a:r>
            <a:r>
              <a:rPr lang="en-US" sz="1600" dirty="0"/>
              <a:t>. At </a:t>
            </a:r>
            <a:r>
              <a:rPr lang="en-US" sz="1600" i="1" dirty="0"/>
              <a:t>g</a:t>
            </a:r>
            <a:r>
              <a:rPr lang="en-US" sz="1600" dirty="0"/>
              <a:t>, we are blocked, so we return to </a:t>
            </a:r>
            <a:r>
              <a:rPr lang="en-US" sz="1600" i="1" dirty="0"/>
              <a:t>c</a:t>
            </a:r>
            <a:r>
              <a:rPr lang="en-US" sz="1600" dirty="0"/>
              <a:t>. Next,  we add the path connecting </a:t>
            </a:r>
            <a:r>
              <a:rPr lang="en-US" sz="1600" i="1" dirty="0"/>
              <a:t>f</a:t>
            </a:r>
            <a:r>
              <a:rPr lang="en-US" sz="1600" dirty="0"/>
              <a:t> to </a:t>
            </a:r>
            <a:r>
              <a:rPr lang="en-US" sz="1600" i="1" dirty="0"/>
              <a:t>e</a:t>
            </a:r>
            <a:r>
              <a:rPr lang="en-US" sz="1600" dirty="0"/>
              <a:t>. Next, we return to </a:t>
            </a:r>
            <a:r>
              <a:rPr lang="en-US" sz="1600" i="1" dirty="0"/>
              <a:t>a</a:t>
            </a:r>
            <a:r>
              <a:rPr lang="en-US" sz="1600" dirty="0"/>
              <a:t> and find that we cannot add a new path. So, we begin </a:t>
            </a:r>
            <a:r>
              <a:rPr lang="en-US" sz="1600"/>
              <a:t>another tree with </a:t>
            </a:r>
            <a:r>
              <a:rPr lang="en-US" sz="1600" i="1"/>
              <a:t>d </a:t>
            </a:r>
            <a:r>
              <a:rPr lang="en-US" sz="1600" dirty="0"/>
              <a:t>as its root.  We find that this new  tree consists of the path connecting the vertices </a:t>
            </a:r>
            <a:r>
              <a:rPr lang="en-US" sz="1600" i="1" dirty="0"/>
              <a:t>d</a:t>
            </a:r>
            <a:r>
              <a:rPr lang="en-US" sz="1600" dirty="0"/>
              <a:t>, </a:t>
            </a:r>
            <a:r>
              <a:rPr lang="en-US" sz="1600" i="1" dirty="0"/>
              <a:t>h</a:t>
            </a:r>
            <a:r>
              <a:rPr lang="en-US" sz="1600" dirty="0"/>
              <a:t>, </a:t>
            </a:r>
            <a:r>
              <a:rPr lang="en-US" sz="1600" i="1" dirty="0"/>
              <a:t>l</a:t>
            </a:r>
            <a:r>
              <a:rPr lang="en-US" sz="1600" dirty="0"/>
              <a:t>, </a:t>
            </a:r>
            <a:r>
              <a:rPr lang="en-US" sz="1600" i="1" dirty="0"/>
              <a:t>k</a:t>
            </a:r>
            <a:r>
              <a:rPr lang="en-US" sz="1600" dirty="0"/>
              <a:t>, and </a:t>
            </a:r>
            <a:r>
              <a:rPr lang="en-US" sz="1600" i="1" dirty="0"/>
              <a:t>j</a:t>
            </a:r>
            <a:r>
              <a:rPr lang="en-US" sz="1600" dirty="0"/>
              <a:t>.  Finally, we add a new tree, which only contains</a:t>
            </a:r>
            <a:r>
              <a:rPr lang="en-US" sz="1600" i="1" dirty="0"/>
              <a:t> </a:t>
            </a:r>
            <a:r>
              <a:rPr lang="en-US" sz="1600" i="1" dirty="0" err="1"/>
              <a:t>i</a:t>
            </a:r>
            <a:r>
              <a:rPr lang="en-US" sz="1600" dirty="0"/>
              <a:t>, its root.</a:t>
            </a:r>
          </a:p>
        </p:txBody>
      </p:sp>
    </p:spTree>
    <p:extLst>
      <p:ext uri="{BB962C8B-B14F-4D97-AF65-F5344CB8AC3E}">
        <p14:creationId xmlns:p14="http://schemas.microsoft.com/office/powerpoint/2010/main" val="34097209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C61B-8C63-A93B-70CD-2AF0A0A2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6E1FAC-713C-3BB1-3D27-B34EE8095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296"/>
            <a:ext cx="9144000" cy="26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82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22875</TotalTime>
  <Words>4488</Words>
  <Application>Microsoft Office PowerPoint</Application>
  <PresentationFormat>全屏显示(4:3)</PresentationFormat>
  <Paragraphs>344</Paragraphs>
  <Slides>77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3" baseType="lpstr">
      <vt:lpstr>Calibri</vt:lpstr>
      <vt:lpstr>Cambria Math</vt:lpstr>
      <vt:lpstr>Constantia</vt:lpstr>
      <vt:lpstr>Symbol</vt:lpstr>
      <vt:lpstr>Wingdings 2</vt:lpstr>
      <vt:lpstr>Flow</vt:lpstr>
      <vt:lpstr>    Trees</vt:lpstr>
      <vt:lpstr>Chapter Summary</vt:lpstr>
      <vt:lpstr>Introduction to Trees</vt:lpstr>
      <vt:lpstr>Section Summary</vt:lpstr>
      <vt:lpstr>Trees</vt:lpstr>
      <vt:lpstr>PowerPoint 演示文稿</vt:lpstr>
      <vt:lpstr>Trees (continued)</vt:lpstr>
      <vt:lpstr>PowerPoint 演示文稿</vt:lpstr>
      <vt:lpstr>Trees as Models</vt:lpstr>
      <vt:lpstr>PowerPoint 演示文稿</vt:lpstr>
      <vt:lpstr>Rooted Trees</vt:lpstr>
      <vt:lpstr>PowerPoint 演示文稿</vt:lpstr>
      <vt:lpstr>Rooted Tree Terminology</vt:lpstr>
      <vt:lpstr>PowerPoint 演示文稿</vt:lpstr>
      <vt:lpstr>Terminology for Rooted Trees</vt:lpstr>
      <vt:lpstr>PowerPoint 演示文稿</vt:lpstr>
      <vt:lpstr>m-ary Rooted Trees</vt:lpstr>
      <vt:lpstr>PowerPoint 演示文稿</vt:lpstr>
      <vt:lpstr>Ordered Rooted Trees</vt:lpstr>
      <vt:lpstr>PowerPoint 演示文稿</vt:lpstr>
      <vt:lpstr>Properties of Trees</vt:lpstr>
      <vt:lpstr>PowerPoint 演示文稿</vt:lpstr>
      <vt:lpstr>Counting Vertices in Full m-Ary Trees</vt:lpstr>
      <vt:lpstr>Counting Vertices in Full m-Ary Trees (continued)</vt:lpstr>
      <vt:lpstr>PowerPoint 演示文稿</vt:lpstr>
      <vt:lpstr>Level of vertices and height of trees</vt:lpstr>
      <vt:lpstr>PowerPoint 演示文稿</vt:lpstr>
      <vt:lpstr>Balanced m-Ary Trees</vt:lpstr>
      <vt:lpstr>PowerPoint 演示文稿</vt:lpstr>
      <vt:lpstr>The Bound for the Number of Leaves in an m-Ary Tree</vt:lpstr>
      <vt:lpstr>PowerPoint 演示文稿</vt:lpstr>
      <vt:lpstr>Tree Traversal</vt:lpstr>
      <vt:lpstr>Section Summary</vt:lpstr>
      <vt:lpstr>Tree Traversal</vt:lpstr>
      <vt:lpstr>Preorder Traversal</vt:lpstr>
      <vt:lpstr>PowerPoint 演示文稿</vt:lpstr>
      <vt:lpstr>PowerPoint 演示文稿</vt:lpstr>
      <vt:lpstr>Preorder Traversal (continued)</vt:lpstr>
      <vt:lpstr>PowerPoint 演示文稿</vt:lpstr>
      <vt:lpstr>Inorder Traversal</vt:lpstr>
      <vt:lpstr>PowerPoint 演示文稿</vt:lpstr>
      <vt:lpstr>Inorder Traversal (continued)</vt:lpstr>
      <vt:lpstr>PowerPoint 演示文稿</vt:lpstr>
      <vt:lpstr>Postorder Traversal</vt:lpstr>
      <vt:lpstr>PowerPoint 演示文稿</vt:lpstr>
      <vt:lpstr>Postorder Traversal  (continued)</vt:lpstr>
      <vt:lpstr>PowerPoint 演示文稿</vt:lpstr>
      <vt:lpstr>Expression Trees</vt:lpstr>
      <vt:lpstr>PowerPoint 演示文稿</vt:lpstr>
      <vt:lpstr>Infix Notation</vt:lpstr>
      <vt:lpstr>PowerPoint 演示文稿</vt:lpstr>
      <vt:lpstr>Prefix Notation</vt:lpstr>
      <vt:lpstr>PowerPoint 演示文稿</vt:lpstr>
      <vt:lpstr>Postfix Notation</vt:lpstr>
      <vt:lpstr>PowerPoint 演示文稿</vt:lpstr>
      <vt:lpstr>Spanning Trees</vt:lpstr>
      <vt:lpstr>Section Summary</vt:lpstr>
      <vt:lpstr>Spanning Trees</vt:lpstr>
      <vt:lpstr>PowerPoint 演示文稿</vt:lpstr>
      <vt:lpstr>Spanning Trees (continued)</vt:lpstr>
      <vt:lpstr>PowerPoint 演示文稿</vt:lpstr>
      <vt:lpstr>Depth-First Search</vt:lpstr>
      <vt:lpstr>PowerPoint 演示文稿</vt:lpstr>
      <vt:lpstr>Depth-First Search (continued)</vt:lpstr>
      <vt:lpstr>PowerPoint 演示文稿</vt:lpstr>
      <vt:lpstr>Depth-First Search (continued)</vt:lpstr>
      <vt:lpstr>PowerPoint 演示文稿</vt:lpstr>
      <vt:lpstr>Depth-First Search Algorithm</vt:lpstr>
      <vt:lpstr>PowerPoint 演示文稿</vt:lpstr>
      <vt:lpstr>Breadth-First Search</vt:lpstr>
      <vt:lpstr>PowerPoint 演示文稿</vt:lpstr>
      <vt:lpstr>Breadth-First Search (continued)</vt:lpstr>
      <vt:lpstr>PowerPoint 演示文稿</vt:lpstr>
      <vt:lpstr>Breadth-First Search Algorithm</vt:lpstr>
      <vt:lpstr>PowerPoint 演示文稿</vt:lpstr>
      <vt:lpstr>Depth-First Search in Directed Graphs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Xiaoqian Zhang</cp:lastModifiedBy>
  <cp:revision>842</cp:revision>
  <dcterms:created xsi:type="dcterms:W3CDTF">2011-03-27T19:58:04Z</dcterms:created>
  <dcterms:modified xsi:type="dcterms:W3CDTF">2025-10-23T15:37:19Z</dcterms:modified>
</cp:coreProperties>
</file>