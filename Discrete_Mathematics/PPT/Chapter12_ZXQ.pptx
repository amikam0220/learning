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348" r:id="rId3"/>
    <p:sldId id="404" r:id="rId4"/>
    <p:sldId id="406" r:id="rId5"/>
    <p:sldId id="407" r:id="rId6"/>
    <p:sldId id="501" r:id="rId7"/>
    <p:sldId id="417" r:id="rId8"/>
    <p:sldId id="502" r:id="rId9"/>
    <p:sldId id="418" r:id="rId10"/>
    <p:sldId id="503" r:id="rId11"/>
    <p:sldId id="411" r:id="rId12"/>
    <p:sldId id="505" r:id="rId13"/>
    <p:sldId id="419" r:id="rId14"/>
    <p:sldId id="504" r:id="rId15"/>
    <p:sldId id="520" r:id="rId16"/>
    <p:sldId id="412" r:id="rId17"/>
    <p:sldId id="506" r:id="rId18"/>
    <p:sldId id="413" r:id="rId19"/>
    <p:sldId id="507" r:id="rId20"/>
    <p:sldId id="415" r:id="rId21"/>
    <p:sldId id="508" r:id="rId22"/>
    <p:sldId id="352" r:id="rId23"/>
    <p:sldId id="405" r:id="rId24"/>
    <p:sldId id="420" r:id="rId25"/>
    <p:sldId id="509" r:id="rId26"/>
    <p:sldId id="421" r:id="rId27"/>
    <p:sldId id="510" r:id="rId28"/>
    <p:sldId id="422" r:id="rId29"/>
    <p:sldId id="511" r:id="rId30"/>
    <p:sldId id="423" r:id="rId31"/>
    <p:sldId id="424" r:id="rId32"/>
    <p:sldId id="513" r:id="rId33"/>
    <p:sldId id="353" r:id="rId34"/>
    <p:sldId id="354" r:id="rId35"/>
    <p:sldId id="425" r:id="rId36"/>
    <p:sldId id="514" r:id="rId37"/>
    <p:sldId id="429" r:id="rId38"/>
    <p:sldId id="516" r:id="rId39"/>
    <p:sldId id="430" r:id="rId40"/>
    <p:sldId id="515" r:id="rId41"/>
    <p:sldId id="433" r:id="rId42"/>
    <p:sldId id="517" r:id="rId43"/>
    <p:sldId id="434" r:id="rId44"/>
    <p:sldId id="518" r:id="rId45"/>
    <p:sldId id="521" r:id="rId46"/>
    <p:sldId id="435" r:id="rId47"/>
    <p:sldId id="519" r:id="rId48"/>
    <p:sldId id="522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5" autoAdjust="0"/>
    <p:restoredTop sz="94617"/>
  </p:normalViewPr>
  <p:slideViewPr>
    <p:cSldViewPr>
      <p:cViewPr varScale="1">
        <p:scale>
          <a:sx n="91" d="100"/>
          <a:sy n="91" d="100"/>
        </p:scale>
        <p:origin x="1215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g zhan" userId="a67b9b2eaa87b568" providerId="LiveId" clId="{DF6E790D-00BF-154D-AF3F-697EEF306F1E}"/>
    <pc:docChg chg="modSld">
      <pc:chgData name="huang zhan" userId="a67b9b2eaa87b568" providerId="LiveId" clId="{DF6E790D-00BF-154D-AF3F-697EEF306F1E}" dt="2023-02-25T01:37:25.321" v="0" actId="20577"/>
      <pc:docMkLst>
        <pc:docMk/>
      </pc:docMkLst>
      <pc:sldChg chg="modSp mod">
        <pc:chgData name="huang zhan" userId="a67b9b2eaa87b568" providerId="LiveId" clId="{DF6E790D-00BF-154D-AF3F-697EEF306F1E}" dt="2023-02-25T01:37:25.321" v="0" actId="20577"/>
        <pc:sldMkLst>
          <pc:docMk/>
          <pc:sldMk cId="0" sldId="256"/>
        </pc:sldMkLst>
        <pc:spChg chg="mod">
          <ac:chgData name="huang zhan" userId="a67b9b2eaa87b568" providerId="LiveId" clId="{DF6E790D-00BF-154D-AF3F-697EEF306F1E}" dt="2023-02-25T01:37:25.321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Boolean</a:t>
            </a:r>
            <a:r>
              <a:rPr lang="zh-CN" altLang="en-US"/>
              <a:t> </a:t>
            </a:r>
            <a:r>
              <a:rPr lang="en-US"/>
              <a:t> </a:t>
            </a:r>
            <a:r>
              <a:rPr lang="en-US" dirty="0"/>
              <a:t>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12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6553200"/>
            <a:ext cx="91440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000" dirty="0"/>
              <a:t>Copyright ©  McGraw-Hill Education.  All rights reserved. No reproduction or distribution without the prior written consent of McGraw-Hill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Boolean Functions</a:t>
            </a:r>
          </a:p>
          <a:p>
            <a:r>
              <a:rPr lang="en-US" dirty="0"/>
              <a:t>Representing Boolean Functions</a:t>
            </a:r>
          </a:p>
          <a:p>
            <a:r>
              <a:rPr lang="en-US" dirty="0"/>
              <a:t>Logic Gates</a:t>
            </a:r>
          </a:p>
          <a:p>
            <a:r>
              <a:rPr lang="en-US" dirty="0"/>
              <a:t>Minimization of Circuits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609600"/>
            <a:ext cx="895350" cy="1045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744173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Claude Shannon (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1916 - 2001</a:t>
            </a:r>
            <a:r>
              <a:rPr lang="en-US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9C224A-9119-7AC2-DA76-EDC879DC2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236" y="3917020"/>
            <a:ext cx="3452812" cy="2519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Boolean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12.1</a:t>
            </a:r>
          </a:p>
        </p:txBody>
      </p:sp>
    </p:spTree>
    <p:extLst>
      <p:ext uri="{BB962C8B-B14F-4D97-AF65-F5344CB8AC3E}">
        <p14:creationId xmlns:p14="http://schemas.microsoft.com/office/powerpoint/2010/main" val="77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Boolean Algebra</a:t>
            </a:r>
          </a:p>
          <a:p>
            <a:r>
              <a:rPr lang="en-US" dirty="0"/>
              <a:t>Boolean Expressions and Boolean Functions</a:t>
            </a:r>
          </a:p>
          <a:p>
            <a:r>
              <a:rPr lang="en-US" dirty="0"/>
              <a:t>Identities of Boolean Algebra</a:t>
            </a:r>
          </a:p>
          <a:p>
            <a:r>
              <a:rPr lang="en-US" dirty="0"/>
              <a:t>Duality</a:t>
            </a:r>
          </a:p>
          <a:p>
            <a:r>
              <a:rPr lang="en-US" dirty="0"/>
              <a:t>The Abstract Definition of a Boolean Algebra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A91E9C-DDE9-797F-13B2-7BAA1069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95800"/>
            <a:ext cx="1947862" cy="21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2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Boolean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Boolean algebra has rules for working with elements from the set {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} together with the operators + (Boolean sum), </a:t>
                </a:r>
                <a:r>
                  <a:rPr lang="en-US" dirty="0">
                    <a:sym typeface="Symbol"/>
                  </a:rPr>
                  <a:t> (Boolean product), and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  <m:r>
                      <a:rPr lang="en-US" b="0" i="1" smtClean="0">
                        <a:latin typeface="Cambria Math"/>
                        <a:sym typeface="Symbol"/>
                      </a:rPr>
                      <m:t>  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  <a:sym typeface="Symbol"/>
                      </a:rPr>
                      <m:t>complement</m:t>
                    </m:r>
                    <m:r>
                      <a:rPr lang="en-US" b="0" i="1" smtClean="0">
                        <a:latin typeface="Cambria Math"/>
                        <a:sym typeface="Symbol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These operators are defined by:</a:t>
                </a:r>
              </a:p>
              <a:p>
                <a:pPr lvl="1"/>
                <a:r>
                  <a:rPr lang="en-US" i="1" dirty="0"/>
                  <a:t>Boolean sum</a:t>
                </a:r>
                <a:r>
                  <a:rPr lang="en-US" dirty="0"/>
                  <a:t>: 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+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+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1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</a:p>
              <a:p>
                <a:pPr lvl="1"/>
                <a:r>
                  <a:rPr lang="en-US" i="1" dirty="0"/>
                  <a:t>Boolean product</a:t>
                </a:r>
                <a:r>
                  <a:rPr lang="en-US" dirty="0"/>
                  <a:t>: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>
                    <a:sym typeface="Symbol"/>
                  </a:rPr>
                  <a:t>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  <a:r>
                  <a:rPr lang="en-US" dirty="0">
                    <a:sym typeface="Symbol"/>
                  </a:rPr>
                  <a:t>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>
                    <a:sym typeface="Symbol"/>
                  </a:rPr>
                  <a:t> </a:t>
                </a:r>
                <a:r>
                  <a:rPr lang="en-US" dirty="0"/>
                  <a:t>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endParaRPr lang="en-US" dirty="0"/>
              </a:p>
              <a:p>
                <a:pPr lvl="1"/>
                <a:r>
                  <a:rPr lang="en-US" i="1" dirty="0"/>
                  <a:t>complement</a:t>
                </a:r>
                <a:r>
                  <a:rPr lang="en-US" dirty="0"/>
                  <a:t>: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ea typeface="Cambria Math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dirty="0"/>
                  <a:t>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</a:p>
              <a:p>
                <a:pPr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Find the value of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(0+1)</m:t>
                        </m:r>
                      </m:e>
                    </m:bar>
                  </m:oMath>
                </a14:m>
                <a:endParaRPr lang="en-US" dirty="0"/>
              </a:p>
              <a:p>
                <a:pPr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 :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sym typeface="Symbol"/>
                  </a:rPr>
                  <a:t> 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(0+1)</m:t>
                        </m:r>
                      </m:e>
                    </m:bar>
                  </m:oMath>
                </a14:m>
                <a:r>
                  <a:rPr lang="en-US" dirty="0"/>
                  <a:t> 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=</a:t>
                </a:r>
                <a:r>
                  <a:rPr lang="en-US" dirty="0"/>
                  <a:t>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+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  <a:ea typeface="Cambria Math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en-US" dirty="0">
                  <a:latin typeface="Cambria Math" pitchFamily="18" charset="0"/>
                  <a:ea typeface="Cambria Math" pitchFamily="18" charset="0"/>
                </a:endParaRPr>
              </a:p>
              <a:p>
                <a:pPr indent="0">
                  <a:buNone/>
                </a:pP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                                                    = 0</a:t>
                </a:r>
                <a:r>
                  <a:rPr lang="en-US" dirty="0"/>
                  <a:t> +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</a:p>
              <a:p>
                <a:pPr indent="0">
                  <a:buNone/>
                </a:pP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                                                    = 0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944" r="-889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54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5E3B6F-D0A7-802B-30B4-7930F600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600"/>
            <a:ext cx="7924800" cy="51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1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Expressions and Boolean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b="1" dirty="0"/>
              <a:t>Definition</a:t>
            </a:r>
            <a:r>
              <a:rPr lang="en-US" dirty="0"/>
              <a:t>: Let </a:t>
            </a:r>
            <a:r>
              <a:rPr lang="en-US" i="1" dirty="0"/>
              <a:t>B</a:t>
            </a:r>
            <a:r>
              <a:rPr lang="en-US" dirty="0"/>
              <a:t> =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}. Then </a:t>
            </a:r>
            <a:r>
              <a:rPr lang="en-US" i="1" dirty="0" err="1"/>
              <a:t>B</a:t>
            </a:r>
            <a:r>
              <a:rPr lang="en-US" i="1" baseline="30000" dirty="0" err="1"/>
              <a:t>n</a:t>
            </a:r>
            <a:r>
              <a:rPr lang="en-US" i="1" dirty="0"/>
              <a:t>  </a:t>
            </a:r>
            <a:r>
              <a:rPr lang="en-US" dirty="0"/>
              <a:t>= {(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) |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∈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 for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≤ </a:t>
            </a:r>
            <a:r>
              <a:rPr lang="en-US" i="1" dirty="0" err="1"/>
              <a:t>i</a:t>
            </a:r>
            <a:r>
              <a:rPr lang="en-US" dirty="0"/>
              <a:t> ≤ </a:t>
            </a:r>
            <a:r>
              <a:rPr lang="en-US" i="1" dirty="0"/>
              <a:t>n</a:t>
            </a:r>
            <a:r>
              <a:rPr lang="en-US" dirty="0"/>
              <a:t> } is the set of all possible </a:t>
            </a:r>
            <a:r>
              <a:rPr lang="en-US" i="1" dirty="0"/>
              <a:t>n</a:t>
            </a:r>
            <a:r>
              <a:rPr lang="en-US" dirty="0"/>
              <a:t>-tuples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s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s. The variable </a:t>
            </a:r>
            <a:r>
              <a:rPr lang="en-US" i="1" dirty="0"/>
              <a:t>x</a:t>
            </a:r>
            <a:r>
              <a:rPr lang="en-US" dirty="0"/>
              <a:t> is called a </a:t>
            </a:r>
            <a:r>
              <a:rPr lang="en-US" i="1" dirty="0"/>
              <a:t>Boolean variable </a:t>
            </a:r>
            <a:r>
              <a:rPr lang="en-US" dirty="0"/>
              <a:t>if it assumes values only from </a:t>
            </a:r>
            <a:r>
              <a:rPr lang="en-US" i="1" dirty="0"/>
              <a:t>B</a:t>
            </a:r>
            <a:r>
              <a:rPr lang="en-US" dirty="0"/>
              <a:t>, that is, if its only possible values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. A function from </a:t>
            </a:r>
            <a:r>
              <a:rPr lang="en-US" i="1" dirty="0" err="1"/>
              <a:t>B</a:t>
            </a:r>
            <a:r>
              <a:rPr lang="en-US" i="1" baseline="30000" dirty="0" err="1"/>
              <a:t>n</a:t>
            </a:r>
            <a:r>
              <a:rPr lang="en-US" i="1" baseline="30000" dirty="0"/>
              <a:t> </a:t>
            </a:r>
            <a:r>
              <a:rPr lang="en-US" dirty="0"/>
              <a:t>to </a:t>
            </a:r>
            <a:r>
              <a:rPr lang="en-US" i="1" dirty="0"/>
              <a:t>B</a:t>
            </a:r>
            <a:r>
              <a:rPr lang="en-US" dirty="0"/>
              <a:t> is called a </a:t>
            </a:r>
            <a:r>
              <a:rPr lang="en-US" i="1" dirty="0"/>
              <a:t>Boolean function of degree n</a:t>
            </a:r>
            <a:r>
              <a:rPr lang="en-US" dirty="0"/>
              <a:t>. </a:t>
            </a:r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  <a:r>
              <a:rPr lang="en-US" i="1" dirty="0"/>
              <a:t>  </a:t>
            </a:r>
            <a:r>
              <a:rPr lang="en-US" dirty="0"/>
              <a:t>The function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 from the set of ordered pairs of Boolean variables to the set {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} is a Boolean function of degree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.</a:t>
            </a:r>
          </a:p>
          <a:p>
            <a:pPr indent="0">
              <a:buNone/>
            </a:pPr>
            <a:endParaRPr lang="en-US" i="1" dirty="0"/>
          </a:p>
          <a:p>
            <a:pPr indent="0">
              <a:buNone/>
            </a:pPr>
            <a:endParaRPr lang="en-US" i="1" dirty="0"/>
          </a:p>
          <a:p>
            <a:pPr indent="0">
              <a:buNone/>
            </a:pPr>
            <a:r>
              <a:rPr lang="en-US" i="1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40" y="4953000"/>
            <a:ext cx="1022604" cy="125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29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5F7260-3BB2-F8C8-6DAD-B2C9B9398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"/>
            <a:ext cx="8686800" cy="22549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92C53A-0311-0ADC-D49E-59BE1250C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5628"/>
            <a:ext cx="2694148" cy="35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8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Expressions and Boolean Functions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Find the values of the Boolean function represented by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</a:t>
                </a:r>
                <a:r>
                  <a:rPr lang="en-US" i="1" dirty="0"/>
                  <a:t>z</a:t>
                </a:r>
                <a:r>
                  <a:rPr lang="en-US" dirty="0"/>
                  <a:t>) = </a:t>
                </a:r>
                <a:r>
                  <a:rPr lang="en-US" i="1" dirty="0" err="1"/>
                  <a:t>xy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: We use a table with a row for each combination of values of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and </a:t>
                </a:r>
                <a:r>
                  <a:rPr lang="en-US" i="1" dirty="0"/>
                  <a:t>z</a:t>
                </a:r>
                <a:r>
                  <a:rPr lang="en-US" dirty="0"/>
                  <a:t> to compute the values of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 err="1"/>
                  <a:t>x</a:t>
                </a:r>
                <a:r>
                  <a:rPr lang="en-US" dirty="0" err="1"/>
                  <a:t>,</a:t>
                </a:r>
                <a:r>
                  <a:rPr lang="en-US" i="1" dirty="0" err="1"/>
                  <a:t>y</a:t>
                </a:r>
                <a:r>
                  <a:rPr lang="en-US" dirty="0" err="1"/>
                  <a:t>,</a:t>
                </a:r>
                <a:r>
                  <a:rPr lang="en-US" i="1" dirty="0" err="1"/>
                  <a:t>z</a:t>
                </a:r>
                <a:r>
                  <a:rPr lang="en-US" dirty="0"/>
                  <a:t>).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114800"/>
            <a:ext cx="3250276" cy="19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85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853D91-3403-296C-F764-99C39081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7620000" cy="166373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2BDEF3-0F8C-31CC-C788-AE05AAF1E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3600"/>
            <a:ext cx="428919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61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Expressions and Boolean Functions (</a:t>
            </a:r>
            <a:r>
              <a:rPr lang="en-US" i="1" dirty="0"/>
              <a:t>continued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905000"/>
                <a:ext cx="8229600" cy="4389120"/>
              </a:xfrm>
            </p:spPr>
            <p:txBody>
              <a:bodyPr>
                <a:normAutofit fontScale="92500" lnSpcReduction="10000"/>
              </a:bodyPr>
              <a:lstStyle/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Boolean functions </a:t>
                </a:r>
                <a:r>
                  <a:rPr lang="en-US" i="1" dirty="0"/>
                  <a:t>F</a:t>
                </a:r>
                <a:r>
                  <a:rPr lang="en-US" dirty="0"/>
                  <a:t> and </a:t>
                </a:r>
                <a:r>
                  <a:rPr lang="en-US" i="1" dirty="0"/>
                  <a:t>G</a:t>
                </a:r>
                <a:r>
                  <a:rPr lang="en-US" dirty="0"/>
                  <a:t> of </a:t>
                </a:r>
                <a:r>
                  <a:rPr lang="en-US" i="1" dirty="0"/>
                  <a:t>n</a:t>
                </a:r>
                <a:r>
                  <a:rPr lang="en-US" dirty="0"/>
                  <a:t> variables are equal if and only if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b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)=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b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whenever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b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b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  belong to </a:t>
                </a:r>
                <a:r>
                  <a:rPr lang="en-US" i="1" dirty="0"/>
                  <a:t>B</a:t>
                </a:r>
                <a:r>
                  <a:rPr lang="en-US" dirty="0"/>
                  <a:t>. Two different Boolean expressions that represent the same function are </a:t>
                </a:r>
                <a:r>
                  <a:rPr lang="en-US" i="1" dirty="0"/>
                  <a:t>equivalent</a:t>
                </a:r>
                <a:r>
                  <a:rPr lang="en-US" dirty="0"/>
                  <a:t>.</a:t>
                </a:r>
              </a:p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The complement of the Boolean function </a:t>
                </a:r>
                <a:r>
                  <a:rPr lang="en-US" i="1" dirty="0"/>
                  <a:t>F</a:t>
                </a:r>
                <a:r>
                  <a:rPr lang="en-US" dirty="0"/>
                  <a:t> is the function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</m:acc>
                    <m:r>
                      <a:rPr lang="en-US" b="0" i="0" smtClean="0">
                        <a:latin typeface="Cambria Math"/>
                      </a:rPr>
                      <m:t>,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where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 =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itchFamily="18" charset="0"/>
                            <a:ea typeface="Cambria Math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, 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itchFamily="18" charset="0"/>
                            <a:ea typeface="Cambria Math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, …, </m:t>
                        </m:r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n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bar>
                  </m:oMath>
                </a14:m>
                <a:r>
                  <a:rPr lang="en-US" dirty="0"/>
                  <a:t>. </a:t>
                </a:r>
              </a:p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Let </a:t>
                </a:r>
                <a:r>
                  <a:rPr lang="en-US" i="1" dirty="0"/>
                  <a:t>F</a:t>
                </a:r>
                <a:r>
                  <a:rPr lang="en-US" dirty="0"/>
                  <a:t> and </a:t>
                </a:r>
                <a:r>
                  <a:rPr lang="en-US" i="1" dirty="0"/>
                  <a:t>G</a:t>
                </a:r>
                <a:r>
                  <a:rPr lang="en-US" dirty="0"/>
                  <a:t> be Boolean functions of degree </a:t>
                </a:r>
                <a:r>
                  <a:rPr lang="en-US" i="1" dirty="0"/>
                  <a:t>n</a:t>
                </a:r>
                <a:r>
                  <a:rPr lang="en-US" dirty="0"/>
                  <a:t>. The Boolean sum </a:t>
                </a:r>
                <a:r>
                  <a:rPr lang="en-US" i="1" dirty="0"/>
                  <a:t>F</a:t>
                </a:r>
                <a:r>
                  <a:rPr lang="en-US" dirty="0"/>
                  <a:t> + </a:t>
                </a:r>
                <a:r>
                  <a:rPr lang="en-US" i="1" dirty="0"/>
                  <a:t>G</a:t>
                </a:r>
                <a:r>
                  <a:rPr lang="en-US" dirty="0"/>
                  <a:t> and the Boolean product </a:t>
                </a:r>
                <a:r>
                  <a:rPr lang="en-US" i="1" dirty="0"/>
                  <a:t>FG</a:t>
                </a:r>
                <a:r>
                  <a:rPr lang="en-US" dirty="0"/>
                  <a:t> are defined by </a:t>
                </a:r>
              </a:p>
              <a:p>
                <a:pPr indent="0"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 + </a:t>
                </a:r>
                <a:r>
                  <a:rPr lang="en-US" i="1" dirty="0"/>
                  <a:t>G</a:t>
                </a:r>
                <a:r>
                  <a:rPr lang="en-US" dirty="0"/>
                  <a:t>)(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+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</a:t>
                </a:r>
              </a:p>
              <a:p>
                <a:pPr indent="0">
                  <a:buNone/>
                </a:pPr>
                <a:r>
                  <a:rPr lang="en-US" dirty="0"/>
                  <a:t>(</a:t>
                </a:r>
                <a:r>
                  <a:rPr lang="en-US" i="1" dirty="0"/>
                  <a:t>FG</a:t>
                </a:r>
                <a:r>
                  <a:rPr lang="en-US" dirty="0"/>
                  <a:t>)(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)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n</a:t>
                </a:r>
                <a:r>
                  <a:rPr lang="en-US" dirty="0"/>
                  <a:t>)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905000"/>
                <a:ext cx="8229600" cy="4389120"/>
              </a:xfrm>
              <a:blipFill rotWithShape="1">
                <a:blip r:embed="rId2"/>
                <a:stretch>
                  <a:fillRect t="-1944" r="-74" b="-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04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94D167-F0A9-CA2F-11A3-B46BD4D0B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118"/>
            <a:ext cx="9144000" cy="490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362200"/>
            <a:ext cx="2322576" cy="172821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400548"/>
            <a:ext cx="5361709" cy="12676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981199"/>
                <a:ext cx="5029200" cy="2610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Example</a:t>
                </a:r>
                <a:r>
                  <a:rPr lang="en-US" dirty="0"/>
                  <a:t>: How many different Boolean functions of degree </a:t>
                </a:r>
                <a:r>
                  <a:rPr lang="en-US" i="1" dirty="0"/>
                  <a:t>n</a:t>
                </a:r>
                <a:r>
                  <a:rPr lang="en-US" dirty="0"/>
                  <a:t> are there?</a:t>
                </a:r>
              </a:p>
              <a:p>
                <a:endParaRPr lang="en-US" dirty="0"/>
              </a:p>
              <a:p>
                <a:r>
                  <a:rPr lang="en-US" b="1" dirty="0"/>
                  <a:t>Solution</a:t>
                </a:r>
                <a:r>
                  <a:rPr lang="en-US"/>
                  <a:t>: By </a:t>
                </a:r>
                <a:r>
                  <a:rPr lang="en-US" dirty="0"/>
                  <a:t>the product rule for counting, there are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i="1" baseline="30000" dirty="0"/>
                  <a:t>n</a:t>
                </a:r>
                <a:r>
                  <a:rPr lang="en-US" dirty="0"/>
                  <a:t> different </a:t>
                </a:r>
                <a:r>
                  <a:rPr lang="en-US" i="1" dirty="0"/>
                  <a:t>n</a:t>
                </a:r>
                <a:r>
                  <a:rPr lang="en-US" dirty="0"/>
                  <a:t>-tuples of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s and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s.   Because a Boolean function is an assignment of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or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to each of these  different n-tuples, by the product rule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different Boolean functions of degree </a:t>
                </a:r>
                <a:r>
                  <a:rPr lang="en-US" i="1" dirty="0"/>
                  <a:t>n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199"/>
                <a:ext cx="5029200" cy="2610586"/>
              </a:xfrm>
              <a:prstGeom prst="rect">
                <a:avLst/>
              </a:prstGeom>
              <a:blipFill rotWithShape="1">
                <a:blip r:embed="rId4"/>
                <a:stretch>
                  <a:fillRect l="-1091" t="-1168" r="-1697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18322" y="4737652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example tells us that there are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16</a:t>
            </a:r>
            <a:r>
              <a:rPr lang="en-US" dirty="0"/>
              <a:t> different Boolean functions of degree two. We display these in Table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348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87A66E-1BF8-B60F-BD21-4614EE81D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6200"/>
            <a:ext cx="7924800" cy="21759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DAA38BB-0EED-1F70-B20D-7A54F879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55" y="2727037"/>
            <a:ext cx="4007884" cy="37576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8D9E14-6278-2B1C-7790-E2FB8EF5D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629" y="3200400"/>
            <a:ext cx="5111987" cy="216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9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237DC17-6981-1C0C-A687-F5765FA9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4159"/>
            <a:ext cx="8763000" cy="46437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7C4DC1-A1DE-403B-3E02-9E3667C5B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724400"/>
            <a:ext cx="4343400" cy="160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27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 of Boolean Algebra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81200"/>
            <a:ext cx="3236655" cy="438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05400" y="2362200"/>
            <a:ext cx="381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identity can be proved using a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400" y="3200399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 identities in Table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, except for the first and the last two come in pairs. Each element of the pair is the </a:t>
            </a:r>
            <a:r>
              <a:rPr lang="en-US" i="1" dirty="0"/>
              <a:t>dual</a:t>
            </a:r>
            <a:r>
              <a:rPr lang="en-US" dirty="0"/>
              <a:t> of the other (obtained by switching Boolean sums and Boolean products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’s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’s.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5826" y="5245267"/>
            <a:ext cx="395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Boolean identities correspond to the identities of propositional logic (Section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1.3</a:t>
            </a:r>
            <a:r>
              <a:rPr lang="en-US" dirty="0"/>
              <a:t>) and the set identities (Section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2.2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8767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DAD142-F3D8-FA50-F598-5724598F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28" y="118039"/>
            <a:ext cx="4784013" cy="42253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ECD469-89B5-CC23-642F-F8B350E9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52" y="3505200"/>
            <a:ext cx="4513947" cy="326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8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 of Boolean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b="1" dirty="0"/>
              <a:t>Example</a:t>
            </a:r>
            <a:r>
              <a:rPr lang="en-US" dirty="0"/>
              <a:t>: Show that the distributive law                          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x</a:t>
            </a:r>
            <a:r>
              <a:rPr lang="en-US" dirty="0"/>
              <a:t>)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xz</a:t>
            </a:r>
            <a:r>
              <a:rPr lang="en-US" dirty="0"/>
              <a:t> is valid.</a:t>
            </a:r>
          </a:p>
          <a:p>
            <a:pPr indent="0">
              <a:buNone/>
            </a:pPr>
            <a:r>
              <a:rPr lang="en-US" b="1" dirty="0"/>
              <a:t>Solution</a:t>
            </a:r>
            <a:r>
              <a:rPr lang="en-US" dirty="0"/>
              <a:t>: We show that both sides of this identity always take the same value by constructing this table.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038600"/>
            <a:ext cx="4026408" cy="1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09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8816B9-2670-D5BF-4006-0A82F8FC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68" y="0"/>
            <a:ext cx="7078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4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Formal Definition of a Boolean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0">
                  <a:buNone/>
                </a:pPr>
                <a:r>
                  <a:rPr lang="en-US" b="1" dirty="0"/>
                  <a:t>Definitio</a:t>
                </a:r>
                <a:r>
                  <a:rPr lang="en-US" dirty="0"/>
                  <a:t>n: A </a:t>
                </a:r>
                <a:r>
                  <a:rPr lang="en-US" i="1" dirty="0"/>
                  <a:t>Boolean algebra </a:t>
                </a:r>
                <a:r>
                  <a:rPr lang="en-US" dirty="0"/>
                  <a:t>is a set </a:t>
                </a:r>
                <a:r>
                  <a:rPr lang="en-US" i="1" dirty="0"/>
                  <a:t>B</a:t>
                </a:r>
                <a:r>
                  <a:rPr lang="en-US" dirty="0"/>
                  <a:t> with two binary operations </a:t>
                </a:r>
                <a:r>
                  <a:rPr lang="en-US" dirty="0">
                    <a:latin typeface="Cambria Math"/>
                    <a:ea typeface="Cambria Math"/>
                  </a:rPr>
                  <a:t>∨</a:t>
                </a:r>
                <a:r>
                  <a:rPr lang="en-US" dirty="0"/>
                  <a:t>  and </a:t>
                </a:r>
                <a:r>
                  <a:rPr lang="en-US" dirty="0">
                    <a:latin typeface="Cambria Math"/>
                    <a:ea typeface="Cambria Math"/>
                  </a:rPr>
                  <a:t>∧</a:t>
                </a:r>
                <a:r>
                  <a:rPr lang="en-US" dirty="0"/>
                  <a:t>, elements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and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and a unary operation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  such that for all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and </a:t>
                </a:r>
                <a:r>
                  <a:rPr lang="en-US" i="1" dirty="0"/>
                  <a:t>z</a:t>
                </a:r>
                <a:r>
                  <a:rPr lang="en-US" dirty="0"/>
                  <a:t> in </a:t>
                </a:r>
                <a:r>
                  <a:rPr lang="en-US" i="1" dirty="0"/>
                  <a:t>B</a:t>
                </a:r>
                <a:r>
                  <a:rPr lang="en-US" dirty="0"/>
                  <a:t>: </a:t>
                </a:r>
              </a:p>
              <a:p>
                <a:pPr marL="731520" indent="-457200"/>
                <a:endParaRPr lang="en-US" dirty="0"/>
              </a:p>
              <a:p>
                <a:pPr marL="731520" indent="-457200"/>
                <a:endParaRPr lang="en-US" dirty="0"/>
              </a:p>
              <a:p>
                <a:pPr marL="731520" indent="-457200"/>
                <a:endParaRPr lang="en-US" dirty="0"/>
              </a:p>
              <a:p>
                <a:pPr marL="731520" indent="-457200"/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48138" y="3268461"/>
            <a:ext cx="11330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x</a:t>
            </a:r>
            <a:r>
              <a:rPr lang="en-US" sz="1600" dirty="0">
                <a:latin typeface="Cambria Math"/>
                <a:ea typeface="Cambria Math"/>
              </a:rPr>
              <a:t> ∨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0 = </a:t>
            </a:r>
            <a:r>
              <a:rPr lang="en-US" sz="1600" i="1" dirty="0">
                <a:ea typeface="Cambria Math" pitchFamily="18" charset="0"/>
              </a:rPr>
              <a:t>x</a:t>
            </a:r>
          </a:p>
          <a:p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1 = 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9855" y="3957784"/>
                <a:ext cx="1369945" cy="58477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/>
                  <a:t>x</a:t>
                </a:r>
                <a:r>
                  <a:rPr lang="en-US" sz="1600" dirty="0">
                    <a:latin typeface="Cambria Math"/>
                    <a:ea typeface="Cambria Math"/>
                  </a:rPr>
                  <a:t> ∨ </a:t>
                </a:r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ea typeface="Cambria Math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ea typeface="Cambria Math" pitchFamily="18" charset="0"/>
                  </a:rPr>
                  <a:t> </a:t>
                </a:r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= 1</a:t>
                </a:r>
                <a:endParaRPr lang="en-US" sz="1600" i="1" dirty="0">
                  <a:ea typeface="Cambria Math" pitchFamily="18" charset="0"/>
                </a:endParaRPr>
              </a:p>
              <a:p>
                <a:r>
                  <a:rPr lang="en-US" sz="1600" i="1" dirty="0">
                    <a:ea typeface="Cambria Math" pitchFamily="18" charset="0"/>
                  </a:rPr>
                  <a:t>x</a:t>
                </a:r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US" sz="1600" dirty="0">
                    <a:latin typeface="Cambria Math"/>
                    <a:ea typeface="Cambria Math"/>
                  </a:rPr>
                  <a:t>∧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Cambria Math" pitchFamily="18" charset="0"/>
                    <a:ea typeface="Cambria Math" pitchFamily="18" charset="0"/>
                  </a:rPr>
                  <a:t> = 0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55" y="3957784"/>
                <a:ext cx="1369945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2203" t="-4082" b="-112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61391" y="4584065"/>
            <a:ext cx="2415209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(</a:t>
            </a:r>
            <a:r>
              <a:rPr lang="en-US" sz="1600" i="1" dirty="0"/>
              <a:t>x</a:t>
            </a:r>
            <a:r>
              <a:rPr lang="en-US" sz="1600" dirty="0">
                <a:latin typeface="Cambria Math"/>
                <a:ea typeface="Cambria Math"/>
              </a:rPr>
              <a:t> ∨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ea typeface="Cambria Math" pitchFamily="18" charset="0"/>
              </a:rPr>
              <a:t>)</a:t>
            </a:r>
            <a:r>
              <a:rPr lang="en-US" sz="1600" dirty="0">
                <a:latin typeface="Cambria Math"/>
                <a:ea typeface="Cambria Math"/>
              </a:rPr>
              <a:t> ∨</a:t>
            </a:r>
            <a:r>
              <a:rPr lang="en-US" sz="1600" dirty="0">
                <a:ea typeface="Cambria Math" pitchFamily="18" charset="0"/>
              </a:rPr>
              <a:t>  </a:t>
            </a:r>
            <a:r>
              <a:rPr lang="en-US" sz="1600" i="1" dirty="0">
                <a:ea typeface="Cambria Math" pitchFamily="18" charset="0"/>
              </a:rPr>
              <a:t>z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/>
                <a:ea typeface="Cambria Math"/>
              </a:rPr>
              <a:t> ∨ </a:t>
            </a:r>
            <a:r>
              <a:rPr lang="en-US" sz="1600" dirty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i="1" dirty="0">
              <a:ea typeface="Cambria Math" pitchFamily="18" charset="0"/>
            </a:endParaRPr>
          </a:p>
          <a:p>
            <a:r>
              <a:rPr lang="en-US" sz="1600" dirty="0">
                <a:ea typeface="Cambria Math" pitchFamily="18" charset="0"/>
              </a:rPr>
              <a:t>(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 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ea typeface="Cambria Math" pitchFamily="18" charset="0"/>
              </a:rPr>
              <a:t>) </a:t>
            </a:r>
            <a:r>
              <a:rPr lang="en-US" sz="1600" dirty="0">
                <a:latin typeface="Cambria Math"/>
                <a:ea typeface="Cambria Math"/>
              </a:rPr>
              <a:t>∧ </a:t>
            </a:r>
            <a:r>
              <a:rPr lang="en-US" sz="1600" i="1" dirty="0">
                <a:latin typeface="Cambria Math"/>
                <a:ea typeface="Cambria Math"/>
              </a:rPr>
              <a:t>z 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/>
              <a:t> </a:t>
            </a:r>
            <a:r>
              <a:rPr lang="en-US" sz="1600" dirty="0">
                <a:latin typeface="Cambria Math"/>
                <a:ea typeface="Cambria Math"/>
              </a:rPr>
              <a:t>∧ </a:t>
            </a:r>
            <a:r>
              <a:rPr lang="en-US" sz="1600" dirty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>
                <a:ea typeface="Cambria Math" pitchFamily="18" charset="0"/>
              </a:rPr>
              <a:t>  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854765" y="5334000"/>
            <a:ext cx="2040836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x</a:t>
            </a:r>
            <a:r>
              <a:rPr lang="en-US" sz="1600" dirty="0">
                <a:latin typeface="Cambria Math"/>
                <a:ea typeface="Cambria Math"/>
              </a:rPr>
              <a:t> ∨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x</a:t>
            </a:r>
            <a:r>
              <a:rPr lang="en-US" sz="1600" dirty="0">
                <a:ea typeface="Cambria Math"/>
              </a:rPr>
              <a:t> </a:t>
            </a:r>
            <a:endParaRPr lang="en-US" sz="1600" i="1" dirty="0">
              <a:ea typeface="Cambria Math" pitchFamily="18" charset="0"/>
            </a:endParaRPr>
          </a:p>
          <a:p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 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ea typeface="Cambria Math" pitchFamily="18" charset="0"/>
              </a:rPr>
              <a:t>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>
                <a:ea typeface="Cambria Math" pitchFamily="18" charset="0"/>
              </a:rPr>
              <a:t>  x</a:t>
            </a:r>
            <a:r>
              <a:rPr lang="en-US" sz="1600" dirty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48139" y="6146751"/>
            <a:ext cx="28094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/>
              <a:t>x</a:t>
            </a:r>
            <a:r>
              <a:rPr lang="en-US" sz="1600" dirty="0">
                <a:latin typeface="Cambria Math"/>
                <a:ea typeface="Cambria Math"/>
              </a:rPr>
              <a:t> ∨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1600" dirty="0">
                <a:ea typeface="Cambria Math" pitchFamily="18" charset="0"/>
              </a:rPr>
              <a:t>(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</a:t>
            </a:r>
            <a:r>
              <a:rPr lang="en-US" sz="1600" dirty="0">
                <a:ea typeface="Cambria Math" pitchFamily="18" charset="0"/>
              </a:rPr>
              <a:t> </a:t>
            </a:r>
            <a:r>
              <a:rPr lang="en-US" sz="1600" i="1" dirty="0">
                <a:ea typeface="Cambria Math" pitchFamily="18" charset="0"/>
              </a:rPr>
              <a:t>z</a:t>
            </a:r>
            <a:r>
              <a:rPr lang="en-US" sz="1600" dirty="0">
                <a:ea typeface="Cambria Math" pitchFamily="18" charset="0"/>
              </a:rPr>
              <a:t>)</a:t>
            </a:r>
            <a:r>
              <a:rPr lang="en-US" sz="1600" i="1" dirty="0">
                <a:ea typeface="Cambria Math" pitchFamily="18" charset="0"/>
              </a:rPr>
              <a:t>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(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/>
                <a:ea typeface="Cambria Math"/>
              </a:rPr>
              <a:t> ∨ 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ea typeface="Cambria Math" pitchFamily="18" charset="0"/>
              </a:rPr>
              <a:t>)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>
                <a:ea typeface="Cambria Math" pitchFamily="18" charset="0"/>
              </a:rPr>
              <a:t> </a:t>
            </a:r>
            <a:r>
              <a:rPr lang="en-US" sz="1600" dirty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i="1" dirty="0">
                <a:ea typeface="Cambria Math" pitchFamily="18" charset="0"/>
              </a:rPr>
              <a:t> 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i="1" dirty="0">
              <a:ea typeface="Cambria Math" pitchFamily="18" charset="0"/>
            </a:endParaRPr>
          </a:p>
          <a:p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∧  </a:t>
            </a:r>
            <a:r>
              <a:rPr lang="en-US" sz="1600" dirty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 </a:t>
            </a:r>
            <a:r>
              <a:rPr lang="en-US" sz="1600" dirty="0">
                <a:latin typeface="Cambria Math"/>
                <a:ea typeface="Cambria Math"/>
              </a:rPr>
              <a:t>∨ </a:t>
            </a:r>
            <a:r>
              <a:rPr lang="en-US" sz="1600" i="1" dirty="0">
                <a:latin typeface="Cambria Math"/>
                <a:ea typeface="Cambria Math"/>
              </a:rPr>
              <a:t>z </a:t>
            </a:r>
            <a:r>
              <a:rPr lang="en-US" sz="1600" dirty="0">
                <a:ea typeface="Cambria Math"/>
              </a:rPr>
              <a:t>) 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= (</a:t>
            </a:r>
            <a:r>
              <a:rPr lang="en-US" sz="1600" i="1" dirty="0">
                <a:ea typeface="Cambria Math" pitchFamily="18" charset="0"/>
              </a:rPr>
              <a:t>x</a:t>
            </a:r>
            <a:r>
              <a:rPr lang="en-US" sz="1600" dirty="0">
                <a:latin typeface="Cambria Math"/>
                <a:ea typeface="Cambria Math"/>
              </a:rPr>
              <a:t> ∧ 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ea typeface="Cambria Math" pitchFamily="18" charset="0"/>
              </a:rPr>
              <a:t>)</a:t>
            </a:r>
            <a:r>
              <a:rPr lang="en-US" sz="16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1600" dirty="0">
                <a:latin typeface="Cambria Math"/>
                <a:ea typeface="Cambria Math"/>
              </a:rPr>
              <a:t>∨ </a:t>
            </a:r>
            <a:r>
              <a:rPr lang="en-US" sz="1600" dirty="0">
                <a:ea typeface="Cambria Math"/>
              </a:rPr>
              <a:t>(</a:t>
            </a:r>
            <a:r>
              <a:rPr lang="en-US" sz="1600" i="1" dirty="0">
                <a:ea typeface="Cambria Math" pitchFamily="18" charset="0"/>
              </a:rPr>
              <a:t>y</a:t>
            </a:r>
            <a:r>
              <a:rPr lang="en-US" sz="1600" dirty="0">
                <a:latin typeface="Cambria Math"/>
                <a:ea typeface="Cambria Math"/>
              </a:rPr>
              <a:t> ∧</a:t>
            </a:r>
            <a:r>
              <a:rPr lang="en-US" sz="1600" i="1" dirty="0">
                <a:ea typeface="Cambria Math" pitchFamily="18" charset="0"/>
              </a:rPr>
              <a:t>  z</a:t>
            </a:r>
            <a:r>
              <a:rPr lang="en-US" sz="1600" dirty="0">
                <a:latin typeface="Cambria Math"/>
                <a:ea typeface="Cambria Math"/>
              </a:rPr>
              <a:t>)</a:t>
            </a:r>
            <a:r>
              <a:rPr lang="en-US" sz="1600" dirty="0">
                <a:ea typeface="Cambria Math"/>
              </a:rPr>
              <a:t> 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2252868" y="337618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identity laws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8583" y="4065505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complement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8818" y="4691786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associative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352" y="544172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commutative laws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318" y="6254472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457200"/>
            <a:r>
              <a:rPr lang="en-US" i="1" dirty="0">
                <a:solidFill>
                  <a:schemeClr val="accent2"/>
                </a:solidFill>
              </a:rPr>
              <a:t>distributive laws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26841"/>
            <a:ext cx="3018182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The set of propositional variables with the operators </a:t>
            </a:r>
            <a:r>
              <a:rPr lang="en-US" sz="1600" dirty="0">
                <a:latin typeface="Cambria Math"/>
                <a:ea typeface="Cambria Math"/>
              </a:rPr>
              <a:t>∧</a:t>
            </a:r>
            <a:r>
              <a:rPr lang="en-US" sz="1600" dirty="0"/>
              <a:t> and </a:t>
            </a:r>
            <a:r>
              <a:rPr lang="en-US" sz="1600" dirty="0">
                <a:latin typeface="Cambria Math"/>
                <a:ea typeface="Cambria Math"/>
              </a:rPr>
              <a:t>∨</a:t>
            </a:r>
            <a:r>
              <a:rPr lang="en-US" sz="1600" dirty="0"/>
              <a:t>, elements </a:t>
            </a:r>
            <a:r>
              <a:rPr lang="en-US" sz="1600" b="1" dirty="0"/>
              <a:t>T</a:t>
            </a:r>
            <a:r>
              <a:rPr lang="en-US" sz="1600" dirty="0"/>
              <a:t> and </a:t>
            </a:r>
            <a:r>
              <a:rPr lang="en-US" sz="1600" b="1" dirty="0"/>
              <a:t>F</a:t>
            </a:r>
            <a:r>
              <a:rPr lang="en-US" sz="1600" dirty="0"/>
              <a:t>, and the negation operator </a:t>
            </a:r>
            <a:r>
              <a:rPr lang="en-US" sz="1600" dirty="0">
                <a:latin typeface="Cambria Math"/>
                <a:ea typeface="Cambria Math"/>
              </a:rPr>
              <a:t>¬ </a:t>
            </a:r>
            <a:r>
              <a:rPr lang="en-US" sz="1600" dirty="0"/>
              <a:t> is a Boolean algebra.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562600" y="4783175"/>
                <a:ext cx="3341205" cy="13234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set of subsets of a universal set with the operators </a:t>
                </a:r>
                <a:r>
                  <a:rPr lang="en-US" sz="1600" dirty="0">
                    <a:latin typeface="Cambria Math"/>
                    <a:ea typeface="Cambria Math"/>
                  </a:rPr>
                  <a:t>∪</a:t>
                </a:r>
                <a:r>
                  <a:rPr lang="en-US" sz="1600" dirty="0"/>
                  <a:t> and </a:t>
                </a:r>
                <a:r>
                  <a:rPr lang="en-US" sz="1600" dirty="0">
                    <a:latin typeface="Cambria Math"/>
                    <a:ea typeface="Cambria Math"/>
                  </a:rPr>
                  <a:t>∩</a:t>
                </a:r>
                <a:r>
                  <a:rPr lang="en-US" sz="1600" dirty="0"/>
                  <a:t>, the empty set (</a:t>
                </a:r>
                <a:r>
                  <a:rPr lang="en-US" sz="1600" dirty="0">
                    <a:latin typeface="Cambria Math"/>
                    <a:ea typeface="Cambria Math"/>
                    <a:sym typeface="Symbol"/>
                  </a:rPr>
                  <a:t></a:t>
                </a:r>
                <a:r>
                  <a:rPr lang="en-US" sz="1600" dirty="0"/>
                  <a:t>), universal set (</a:t>
                </a:r>
                <a:r>
                  <a:rPr lang="en-US" sz="1600" i="1" dirty="0"/>
                  <a:t>U</a:t>
                </a:r>
                <a:r>
                  <a:rPr lang="en-US" sz="1600" dirty="0"/>
                  <a:t>), and the set complementation operator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1600" dirty="0"/>
                  <a:t>)</a:t>
                </a:r>
                <a:r>
                  <a:rPr lang="en-US" sz="1600" dirty="0">
                    <a:latin typeface="Cambria Math"/>
                    <a:ea typeface="Cambria Math"/>
                  </a:rPr>
                  <a:t> </a:t>
                </a:r>
                <a:r>
                  <a:rPr lang="en-US" sz="1600" dirty="0"/>
                  <a:t> is a Boolean algebra.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783175"/>
                <a:ext cx="3341205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909" t="-913" b="-45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739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9D5CDA-E9F0-1149-A825-5447F5566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85800"/>
            <a:ext cx="7315200" cy="33938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1C357CC-5E8F-8A33-0B17-27F59AE1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0"/>
            <a:ext cx="7391400" cy="15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75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Representing Boolean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12.2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Sum-of-Products Expansions</a:t>
            </a:r>
          </a:p>
          <a:p>
            <a:r>
              <a:rPr lang="en-US" dirty="0"/>
              <a:t>Functional Completeness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BDA91D-9B43-EE85-E206-344CD0F9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6600"/>
            <a:ext cx="2240577" cy="191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21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Sum-of-Products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Find Boolean expressions that  represent the functions  </a:t>
                </a:r>
                <a:r>
                  <a:rPr lang="en-US" dirty="0">
                    <a:solidFill>
                      <a:schemeClr val="accent1"/>
                    </a:solidFill>
                  </a:rPr>
                  <a:t>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i</a:t>
                </a:r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</a:t>
                </a:r>
                <a:r>
                  <a:rPr lang="en-US" i="1" dirty="0"/>
                  <a:t>z</a:t>
                </a:r>
                <a:r>
                  <a:rPr lang="en-US" dirty="0"/>
                  <a:t>) and </a:t>
                </a:r>
                <a:r>
                  <a:rPr lang="en-US" dirty="0">
                    <a:solidFill>
                      <a:schemeClr val="accent1"/>
                    </a:solidFill>
                  </a:rPr>
                  <a:t>(ii) </a:t>
                </a:r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</a:t>
                </a:r>
                <a:r>
                  <a:rPr lang="en-US" i="1" dirty="0"/>
                  <a:t>z</a:t>
                </a:r>
                <a:r>
                  <a:rPr lang="en-US" dirty="0"/>
                  <a:t>) in Table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</a:t>
                </a:r>
              </a:p>
              <a:p>
                <a:pPr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: </a:t>
                </a:r>
              </a:p>
              <a:p>
                <a:pPr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</a:t>
                </a:r>
                <a:r>
                  <a:rPr lang="en-US" dirty="0" err="1">
                    <a:solidFill>
                      <a:schemeClr val="accent1"/>
                    </a:solidFill>
                  </a:rPr>
                  <a:t>i</a:t>
                </a:r>
                <a:r>
                  <a:rPr lang="en-US" dirty="0">
                    <a:solidFill>
                      <a:schemeClr val="accent1"/>
                    </a:solidFill>
                  </a:rPr>
                  <a:t>) </a:t>
                </a:r>
                <a:r>
                  <a:rPr lang="en-US" dirty="0"/>
                  <a:t>To represent </a:t>
                </a:r>
                <a:r>
                  <a:rPr lang="en-US" i="1" dirty="0"/>
                  <a:t>F</a:t>
                </a:r>
                <a:r>
                  <a:rPr lang="en-US" dirty="0"/>
                  <a:t> we need the one term </a:t>
                </a:r>
                <a:r>
                  <a:rPr lang="en-US" i="1" dirty="0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 </a:t>
                </a:r>
                <a:r>
                  <a:rPr lang="en-US" dirty="0"/>
                  <a:t>because this expression has the value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when</a:t>
                </a:r>
                <a:r>
                  <a:rPr lang="en-US" i="1" dirty="0"/>
                  <a:t> x = z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y</a:t>
                </a:r>
                <a:r>
                  <a:rPr lang="en-US" i="1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/>
                  <a:t>.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(ii) </a:t>
                </a:r>
                <a:r>
                  <a:rPr lang="en-US" dirty="0"/>
                  <a:t>To represent the function  </a:t>
                </a:r>
                <a:r>
                  <a:rPr lang="en-US" i="1" dirty="0"/>
                  <a:t>G, </a:t>
                </a:r>
                <a:r>
                  <a:rPr lang="en-US" dirty="0"/>
                  <a:t> we use the sum                          </a:t>
                </a:r>
                <a:r>
                  <a:rPr lang="en-US" i="1" dirty="0" err="1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  </a:t>
                </a:r>
                <a:r>
                  <a:rPr lang="en-US" dirty="0"/>
                  <a:t>because this expression has the value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when</a:t>
                </a:r>
                <a:r>
                  <a:rPr lang="en-US" i="1" dirty="0"/>
                  <a:t> x = y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:r>
                  <a:rPr lang="en-US" i="1" dirty="0">
                    <a:ea typeface="Cambria Math" pitchFamily="18" charset="0"/>
                  </a:rPr>
                  <a:t>z</a:t>
                </a:r>
                <a:r>
                  <a:rPr lang="en-US" i="1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/>
                  <a:t>, </a:t>
                </a:r>
                <a:r>
                  <a:rPr lang="en-US" dirty="0"/>
                  <a:t>or </a:t>
                </a:r>
                <a:r>
                  <a:rPr lang="en-US" i="1" dirty="0"/>
                  <a:t>x = z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y</a:t>
                </a:r>
                <a:r>
                  <a:rPr lang="en-US" i="1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.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pPr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67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676400"/>
            <a:ext cx="1062228" cy="1929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76400" y="5334000"/>
            <a:ext cx="5867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general principle is that each combination of values of the variables for which the function has the value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requires a term in the Boolean sum that is the Boolean product of the variables or their complements. </a:t>
            </a:r>
          </a:p>
        </p:txBody>
      </p:sp>
    </p:spTree>
    <p:extLst>
      <p:ext uri="{BB962C8B-B14F-4D97-AF65-F5344CB8AC3E}">
        <p14:creationId xmlns:p14="http://schemas.microsoft.com/office/powerpoint/2010/main" val="1288551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91DDF1-2C8B-A66D-83F8-53EBFED1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7162800" cy="30257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3A6AFA-37D5-0D9D-BE18-99B2FC9DA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178105"/>
            <a:ext cx="231384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8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Sum-of-Products Expansion (</a:t>
            </a:r>
            <a:r>
              <a:rPr lang="en-US" i="1" dirty="0" err="1"/>
              <a:t>cont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A </a:t>
                </a:r>
                <a:r>
                  <a:rPr lang="en-US" i="1" dirty="0"/>
                  <a:t>literal</a:t>
                </a:r>
                <a:r>
                  <a:rPr lang="en-US" dirty="0"/>
                  <a:t> is a Boolean variable or its complement. A </a:t>
                </a:r>
                <a:r>
                  <a:rPr lang="en-US" i="1" dirty="0" err="1"/>
                  <a:t>minterm</a:t>
                </a:r>
                <a:r>
                  <a:rPr lang="en-US" dirty="0"/>
                  <a:t> of the Boolean variables</a:t>
                </a:r>
                <a:r>
                  <a:rPr lang="en-US" i="1" dirty="0"/>
                  <a:t>                         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x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x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  is a Boolean product </a:t>
                </a:r>
                <a:r>
                  <a:rPr lang="en-US" i="1" dirty="0"/>
                  <a:t>y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i="1" dirty="0"/>
                  <a:t>y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 </a:t>
                </a:r>
                <a:r>
                  <a:rPr lang="en-US" dirty="0">
                    <a:sym typeface="Symbol"/>
                  </a:rPr>
                  <a:t>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n</a:t>
                </a:r>
                <a:r>
                  <a:rPr lang="en-US" i="1" baseline="-25000" dirty="0"/>
                  <a:t> ,</a:t>
                </a:r>
                <a:r>
                  <a:rPr lang="en-US" dirty="0"/>
                  <a:t> where 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x</a:t>
                </a:r>
                <a:r>
                  <a:rPr lang="en-US" i="1" baseline="-25000" dirty="0"/>
                  <a:t>i</a:t>
                </a:r>
                <a:r>
                  <a:rPr lang="en-US" i="1" dirty="0"/>
                  <a:t>  </a:t>
                </a:r>
                <a:r>
                  <a:rPr lang="en-US" dirty="0"/>
                  <a:t>or</a:t>
                </a:r>
                <a:r>
                  <a:rPr lang="en-US" i="1" dirty="0"/>
                  <a:t>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i="1" baseline="-25000" dirty="0"/>
                  <a:t> </a:t>
                </a:r>
                <a:r>
                  <a:rPr lang="en-US" dirty="0"/>
                  <a:t>. Hence, a </a:t>
                </a:r>
                <a:r>
                  <a:rPr lang="en-US" dirty="0" err="1"/>
                  <a:t>minterm</a:t>
                </a:r>
                <a:r>
                  <a:rPr lang="en-US" dirty="0"/>
                  <a:t> is a product of </a:t>
                </a:r>
                <a:r>
                  <a:rPr lang="en-US" i="1" dirty="0"/>
                  <a:t>n</a:t>
                </a:r>
                <a:r>
                  <a:rPr lang="en-US" dirty="0"/>
                  <a:t> literals, with one literal for each variable. 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dirty="0"/>
                  <a:t>The </a:t>
                </a:r>
                <a:r>
                  <a:rPr lang="en-US" dirty="0" err="1"/>
                  <a:t>minterm</a:t>
                </a:r>
                <a:r>
                  <a:rPr lang="en-US" dirty="0"/>
                  <a:t> </a:t>
                </a:r>
                <a:r>
                  <a:rPr lang="en-US" i="1" dirty="0"/>
                  <a:t>y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2</a:t>
                </a:r>
                <a:r>
                  <a:rPr lang="en-US" dirty="0"/>
                  <a:t>, …,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n</a:t>
                </a:r>
                <a:r>
                  <a:rPr lang="en-US" i="1" baseline="-25000" dirty="0"/>
                  <a:t>  </a:t>
                </a:r>
                <a:r>
                  <a:rPr lang="en-US" dirty="0"/>
                  <a:t>has value has value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if and only if each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</a:t>
                </a:r>
                <a:r>
                  <a:rPr lang="en-US" dirty="0"/>
                  <a:t> is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.This occurs if and only if </a:t>
                </a:r>
                <a:r>
                  <a:rPr lang="en-US" i="1" dirty="0"/>
                  <a:t>x</a:t>
                </a:r>
                <a:r>
                  <a:rPr lang="en-US" i="1" baseline="-25000" dirty="0"/>
                  <a:t>i</a:t>
                </a:r>
                <a:r>
                  <a:rPr lang="en-US" dirty="0"/>
                  <a:t>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when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x</a:t>
                </a:r>
                <a:r>
                  <a:rPr lang="en-US" i="1" baseline="-25000" dirty="0"/>
                  <a:t>i</a:t>
                </a:r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:r>
                  <a:rPr lang="en-US" i="1" dirty="0">
                    <a:solidFill>
                      <a:prstClr val="black"/>
                    </a:solidFill>
                  </a:rPr>
                  <a:t>x</a:t>
                </a:r>
                <a:r>
                  <a:rPr lang="en-US" i="1" baseline="-25000" dirty="0">
                    <a:solidFill>
                      <a:prstClr val="black"/>
                    </a:solidFill>
                  </a:rPr>
                  <a:t>i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:r>
                  <a:rPr lang="en-US" dirty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/>
                  <a:t>  when </a:t>
                </a:r>
                <a:r>
                  <a:rPr lang="en-US" i="1" dirty="0" err="1"/>
                  <a:t>y</a:t>
                </a:r>
                <a:r>
                  <a:rPr lang="en-US" i="1" baseline="-25000" dirty="0" err="1"/>
                  <a:t>i</a:t>
                </a:r>
                <a:r>
                  <a:rPr lang="en-US" i="1" baseline="-25000" dirty="0"/>
                  <a:t>  </a:t>
                </a:r>
                <a:r>
                  <a:rPr lang="en-US" i="1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 dirty="0"/>
                          <m:t>x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The sum of </a:t>
                </a:r>
                <a:r>
                  <a:rPr lang="en-US" dirty="0" err="1"/>
                  <a:t>minterms</a:t>
                </a:r>
                <a:r>
                  <a:rPr lang="en-US" dirty="0"/>
                  <a:t> that represents the function is called the </a:t>
                </a:r>
                <a:r>
                  <a:rPr lang="en-US" i="1" dirty="0"/>
                  <a:t>sum-of-products expansion </a:t>
                </a:r>
                <a:r>
                  <a:rPr lang="en-US" dirty="0"/>
                  <a:t>or the </a:t>
                </a:r>
                <a:r>
                  <a:rPr lang="en-US" i="1" dirty="0"/>
                  <a:t>disjunctive normal form </a:t>
                </a:r>
                <a:r>
                  <a:rPr lang="en-US" dirty="0"/>
                  <a:t>of the Boolean function.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199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B19690-885B-BD0F-CAAA-BAE21A3D1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278"/>
            <a:ext cx="9144000" cy="36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8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Sum-of-Products Expansion (</a:t>
            </a:r>
            <a:r>
              <a:rPr lang="en-US" i="1" dirty="0" err="1"/>
              <a:t>cont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Find the sum-of-products expansion for the function F(</a:t>
                </a:r>
                <a:r>
                  <a:rPr lang="en-US" i="1" dirty="0" err="1"/>
                  <a:t>x</a:t>
                </a:r>
                <a:r>
                  <a:rPr lang="en-US" dirty="0" err="1"/>
                  <a:t>,</a:t>
                </a:r>
                <a:r>
                  <a:rPr lang="en-US" i="1" dirty="0" err="1"/>
                  <a:t>y</a:t>
                </a:r>
                <a:r>
                  <a:rPr lang="en-US" dirty="0" err="1"/>
                  <a:t>,</a:t>
                </a:r>
                <a:r>
                  <a:rPr lang="en-US" i="1" dirty="0" err="1"/>
                  <a:t>z</a:t>
                </a:r>
                <a:r>
                  <a:rPr lang="en-US" dirty="0"/>
                  <a:t>) = (</a:t>
                </a:r>
                <a:r>
                  <a:rPr lang="en-US" i="1" dirty="0"/>
                  <a:t>x</a:t>
                </a:r>
                <a:r>
                  <a:rPr lang="en-US" dirty="0"/>
                  <a:t> + </a:t>
                </a:r>
                <a:r>
                  <a:rPr lang="en-US" i="1" dirty="0"/>
                  <a:t>y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:  We use two methods, first using a table and second using Boolean identities. </a:t>
                </a:r>
              </a:p>
              <a:p>
                <a:pPr marL="36576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</a:t>
                </a:r>
                <a:r>
                  <a:rPr lang="en-US" i="1" dirty="0" err="1">
                    <a:solidFill>
                      <a:schemeClr val="accent1"/>
                    </a:solidFill>
                  </a:rPr>
                  <a:t>i</a:t>
                </a:r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  <a:r>
                  <a:rPr lang="en-US" dirty="0"/>
                  <a:t>  Form the sum of the </a:t>
                </a:r>
                <a:r>
                  <a:rPr lang="en-US" dirty="0" err="1"/>
                  <a:t>minterms</a:t>
                </a:r>
                <a:r>
                  <a:rPr lang="en-US" dirty="0"/>
                  <a:t>                                      corresponding to each row of the                                                                      table that has the value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. </a:t>
                </a:r>
              </a:p>
              <a:p>
                <a:pPr marL="365760" indent="-571500">
                  <a:buAutoNum type="romanLcParenBoth"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dirty="0"/>
                  <a:t>Including a tem for each row of the table for which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 err="1"/>
                  <a:t>x</a:t>
                </a:r>
                <a:r>
                  <a:rPr lang="en-US" dirty="0" err="1"/>
                  <a:t>,</a:t>
                </a:r>
                <a:r>
                  <a:rPr lang="en-US" i="1" dirty="0" err="1"/>
                  <a:t>y</a:t>
                </a:r>
                <a:r>
                  <a:rPr lang="en-US" dirty="0" err="1"/>
                  <a:t>,</a:t>
                </a:r>
                <a:r>
                  <a:rPr lang="en-US" i="1" dirty="0" err="1"/>
                  <a:t>z</a:t>
                </a:r>
                <a:r>
                  <a:rPr lang="en-US" dirty="0"/>
                  <a:t>) =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/>
                  <a:t> gives us </a:t>
                </a:r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:r>
                  <a:rPr lang="en-US" i="1" dirty="0"/>
                  <a:t>y</a:t>
                </a:r>
                <a:r>
                  <a:rPr lang="en-US" dirty="0"/>
                  <a:t>, </a:t>
                </a:r>
                <a:r>
                  <a:rPr lang="en-US" i="1" dirty="0"/>
                  <a:t>z</a:t>
                </a:r>
                <a:r>
                  <a:rPr lang="en-US" dirty="0"/>
                  <a:t>) = </a:t>
                </a:r>
                <a:r>
                  <a:rPr lang="en-US" i="1" dirty="0" err="1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i="1" dirty="0"/>
                  <a:t>.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44" r="-4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76600"/>
            <a:ext cx="2822575" cy="192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011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9757C9-1585-B226-2032-9706265F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4800"/>
            <a:ext cx="6400800" cy="22065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038C89-77FC-3042-319F-47EBC49F8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11344"/>
            <a:ext cx="525428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46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Sum-of-Products Expansion (</a:t>
            </a:r>
            <a:r>
              <a:rPr lang="en-US" i="1" dirty="0" err="1"/>
              <a:t>cont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59992"/>
                <a:ext cx="8229600" cy="4389120"/>
              </a:xfrm>
            </p:spPr>
            <p:txBody>
              <a:bodyPr>
                <a:normAutofit fontScale="77500" lnSpcReduction="20000"/>
              </a:bodyPr>
              <a:lstStyle/>
              <a:p>
                <a:pPr marL="36576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(</a:t>
                </a:r>
                <a:r>
                  <a:rPr lang="en-US" i="1" dirty="0">
                    <a:solidFill>
                      <a:schemeClr val="accent1"/>
                    </a:solidFill>
                  </a:rPr>
                  <a:t>ii</a:t>
                </a:r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  <a:r>
                  <a:rPr lang="en-US" dirty="0"/>
                  <a:t> We now use Boolean identities to find the disjunctive normal form of F(</a:t>
                </a:r>
                <a:r>
                  <a:rPr lang="en-US" i="1" dirty="0" err="1"/>
                  <a:t>x</a:t>
                </a:r>
                <a:r>
                  <a:rPr lang="en-US" dirty="0" err="1"/>
                  <a:t>,</a:t>
                </a:r>
                <a:r>
                  <a:rPr lang="en-US" i="1" dirty="0" err="1"/>
                  <a:t>y</a:t>
                </a:r>
                <a:r>
                  <a:rPr lang="en-US" dirty="0" err="1"/>
                  <a:t>,</a:t>
                </a:r>
                <a:r>
                  <a:rPr lang="en-US" i="1" dirty="0" err="1"/>
                  <a:t>z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:r>
                  <a:rPr lang="en-US" sz="2900" dirty="0"/>
                  <a:t>                       F(</a:t>
                </a:r>
                <a:r>
                  <a:rPr lang="en-US" sz="2900" i="1" dirty="0" err="1"/>
                  <a:t>x</a:t>
                </a:r>
                <a:r>
                  <a:rPr lang="en-US" sz="2900" dirty="0" err="1"/>
                  <a:t>,</a:t>
                </a:r>
                <a:r>
                  <a:rPr lang="en-US" sz="2900" i="1" dirty="0" err="1"/>
                  <a:t>y</a:t>
                </a:r>
                <a:r>
                  <a:rPr lang="en-US" sz="2900" dirty="0" err="1"/>
                  <a:t>,</a:t>
                </a:r>
                <a:r>
                  <a:rPr lang="en-US" sz="2900" i="1" dirty="0" err="1"/>
                  <a:t>z</a:t>
                </a:r>
                <a:r>
                  <a:rPr lang="en-US" sz="2900" dirty="0"/>
                  <a:t>)  = (</a:t>
                </a:r>
                <a:r>
                  <a:rPr lang="en-US" sz="2900" i="1" dirty="0"/>
                  <a:t>x</a:t>
                </a:r>
                <a:r>
                  <a:rPr lang="en-US" sz="2900" dirty="0"/>
                  <a:t> + </a:t>
                </a:r>
                <a:r>
                  <a:rPr lang="en-US" sz="2900" i="1" dirty="0"/>
                  <a:t>y</a:t>
                </a:r>
                <a:r>
                  <a:rPr lang="en-US" sz="29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endParaRPr lang="en-US" sz="2900" dirty="0"/>
              </a:p>
              <a:p>
                <a:pPr indent="0">
                  <a:buNone/>
                </a:pPr>
                <a:r>
                  <a:rPr lang="en-US" sz="2900" dirty="0"/>
                  <a:t>                                  = </a:t>
                </a:r>
                <a:r>
                  <a:rPr lang="en-US" sz="2900" i="1" dirty="0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/>
                  <a:t> + </a:t>
                </a:r>
                <a:r>
                  <a:rPr lang="en-US" sz="2900" i="1" dirty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/>
                  <a:t>   </a:t>
                </a:r>
                <a:r>
                  <a:rPr lang="en-US" sz="2900" i="1" dirty="0">
                    <a:solidFill>
                      <a:schemeClr val="accent2"/>
                    </a:solidFill>
                  </a:rPr>
                  <a:t>distributive law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indent="0">
                  <a:buNone/>
                </a:pPr>
                <a:r>
                  <a:rPr lang="en-US" sz="2900" dirty="0">
                    <a:solidFill>
                      <a:prstClr val="black"/>
                    </a:solidFill>
                  </a:rPr>
                  <a:t>                                  = 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1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:r>
                  <a:rPr lang="en-US" sz="2900" dirty="0">
                    <a:solidFill>
                      <a:prstClr val="black"/>
                    </a:solidFill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  </a:t>
                </a:r>
                <a:r>
                  <a:rPr lang="en-US" sz="2900" i="1" dirty="0">
                    <a:solidFill>
                      <a:schemeClr val="accent2"/>
                    </a:solidFill>
                  </a:rPr>
                  <a:t>identity law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lvl="0" indent="0">
                  <a:buClr>
                    <a:srgbClr val="0BD0D9"/>
                  </a:buClr>
                  <a:buNone/>
                </a:pPr>
                <a:r>
                  <a:rPr lang="en-US" sz="2900" dirty="0">
                    <a:solidFill>
                      <a:prstClr val="black"/>
                    </a:solidFill>
                  </a:rPr>
                  <a:t>                                  = 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>
                    <a:solidFill>
                      <a:prstClr val="black"/>
                    </a:solidFill>
                  </a:rPr>
                  <a:t>(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+ (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x</a:t>
                </a:r>
                <a:r>
                  <a:rPr lang="en-US" sz="29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)</a:t>
                </a:r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>
                    <a:solidFill>
                      <a:prstClr val="black"/>
                    </a:solidFill>
                  </a:rPr>
                  <a:t>   </a:t>
                </a:r>
                <a:r>
                  <a:rPr lang="en-US" sz="2900" dirty="0">
                    <a:solidFill>
                      <a:schemeClr val="accent2"/>
                    </a:solidFill>
                  </a:rPr>
                  <a:t>u</a:t>
                </a:r>
                <a:r>
                  <a:rPr lang="en-US" sz="2900" i="1" dirty="0">
                    <a:solidFill>
                      <a:schemeClr val="accent2"/>
                    </a:solidFill>
                  </a:rPr>
                  <a:t>nit property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indent="0">
                  <a:buClr>
                    <a:srgbClr val="0BD0D9"/>
                  </a:buClr>
                  <a:buNone/>
                </a:pPr>
                <a:r>
                  <a:rPr lang="en-US" sz="2900" i="1" dirty="0">
                    <a:solidFill>
                      <a:prstClr val="black"/>
                    </a:solidFill>
                  </a:rPr>
                  <a:t>                                    = </a:t>
                </a:r>
                <a:r>
                  <a:rPr lang="en-US" sz="2900" i="1" dirty="0" err="1">
                    <a:solidFill>
                      <a:prstClr val="black"/>
                    </a:solidFill>
                  </a:rPr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+ 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 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i="1" dirty="0">
                    <a:solidFill>
                      <a:prstClr val="black"/>
                    </a:solidFill>
                  </a:rPr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/>
                  <a:t>   </a:t>
                </a:r>
                <a:r>
                  <a:rPr lang="en-US" sz="2900" i="1" dirty="0">
                    <a:solidFill>
                      <a:schemeClr val="accent2"/>
                    </a:solidFill>
                  </a:rPr>
                  <a:t>distributive law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lvl="0" indent="0">
                  <a:buClr>
                    <a:srgbClr val="0BD0D9"/>
                  </a:buClr>
                  <a:buNone/>
                </a:pPr>
                <a:r>
                  <a:rPr lang="en-US" sz="2900" i="1" dirty="0"/>
                  <a:t>                                    = </a:t>
                </a:r>
                <a:r>
                  <a:rPr lang="en-US" sz="2900" i="1" dirty="0" err="1"/>
                  <a:t>xy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/>
                  <a:t> 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𝑦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i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900" i="1" dirty="0"/>
                  <a:t>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900" dirty="0"/>
                  <a:t>  </a:t>
                </a:r>
                <a:r>
                  <a:rPr lang="en-US" sz="2900" i="1" dirty="0">
                    <a:solidFill>
                      <a:schemeClr val="accent2"/>
                    </a:solidFill>
                  </a:rPr>
                  <a:t>idempotent law</a:t>
                </a:r>
                <a:endParaRPr lang="en-US" sz="2900" dirty="0">
                  <a:solidFill>
                    <a:schemeClr val="accent2"/>
                  </a:solidFill>
                </a:endParaRP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r>
                  <a:rPr lang="en-US" dirty="0"/>
                  <a:t> </a:t>
                </a:r>
                <a:endParaRPr lang="en-US" i="1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59992"/>
                <a:ext cx="8229600" cy="4389120"/>
              </a:xfrm>
              <a:blipFill>
                <a:blip r:embed="rId2"/>
                <a:stretch>
                  <a:fillRect t="-2083" r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479320A-54C7-C426-2DFE-51934EE9C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236012"/>
            <a:ext cx="5257800" cy="262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71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Completeness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Because every Boolean function can be represented using the Boolean operators </a:t>
                </a:r>
                <a:r>
                  <a:rPr lang="en-US" dirty="0">
                    <a:sym typeface="Symbol"/>
                  </a:rPr>
                  <a:t>, +, and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, we say that the set  {, + 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} is </a:t>
                </a:r>
                <a:r>
                  <a:rPr lang="en-US" i="1" dirty="0">
                    <a:sym typeface="Symbol"/>
                  </a:rPr>
                  <a:t>functionally complete</a:t>
                </a:r>
                <a:r>
                  <a:rPr lang="en-US" dirty="0">
                    <a:sym typeface="Symbol"/>
                  </a:rPr>
                  <a:t>.</a:t>
                </a:r>
              </a:p>
              <a:p>
                <a:pPr indent="0">
                  <a:buNone/>
                </a:pPr>
                <a:endParaRPr lang="en-US" dirty="0">
                  <a:sym typeface="Symbol"/>
                </a:endParaRPr>
              </a:p>
              <a:p>
                <a:pPr marL="731520" indent="-457200"/>
                <a:r>
                  <a:rPr lang="en-US" dirty="0">
                    <a:sym typeface="Symbol"/>
                  </a:rPr>
                  <a:t>The set {,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} is functionally complete since </a:t>
                </a:r>
                <a:r>
                  <a:rPr lang="en-US" i="1" dirty="0">
                    <a:sym typeface="Symbol"/>
                  </a:rPr>
                  <a:t>x </a:t>
                </a:r>
                <a:r>
                  <a:rPr lang="en-US" dirty="0">
                    <a:sym typeface="Symbol"/>
                  </a:rPr>
                  <a:t>+ </a:t>
                </a:r>
                <a:r>
                  <a:rPr lang="en-US" i="1" dirty="0">
                    <a:sym typeface="Symbol"/>
                  </a:rPr>
                  <a:t>y</a:t>
                </a:r>
                <a:r>
                  <a:rPr lang="en-US" dirty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ar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𝑦</m:t>
                            </m:r>
                          </m:e>
                        </m:acc>
                      </m:e>
                    </m:bar>
                  </m:oMath>
                </a14:m>
                <a:r>
                  <a:rPr lang="en-US" dirty="0"/>
                  <a:t> .</a:t>
                </a:r>
              </a:p>
              <a:p>
                <a:pPr marL="731520" indent="-457200"/>
                <a:endParaRPr lang="en-US" dirty="0"/>
              </a:p>
              <a:p>
                <a:pPr marL="731520" indent="-457200"/>
                <a:r>
                  <a:rPr lang="en-US" dirty="0">
                    <a:sym typeface="Symbol"/>
                  </a:rPr>
                  <a:t>The set {+,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sym typeface="Symbol"/>
                  </a:rPr>
                  <a:t> } is functionally complete since  </a:t>
                </a:r>
                <a:r>
                  <a:rPr lang="en-US" i="1" dirty="0" err="1">
                    <a:sym typeface="Symbol"/>
                  </a:rPr>
                  <a:t>xy</a:t>
                </a:r>
                <a:r>
                  <a:rPr lang="en-US" dirty="0">
                    <a:sym typeface="Symbol"/>
                  </a:rPr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bar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  <a:sym typeface="Symbol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+ 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/>
                                <a:sym typeface="Symbol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/>
                            <a:sym typeface="Symbol"/>
                          </a:rPr>
                          <m:t> </m:t>
                        </m:r>
                      </m:e>
                    </m:bar>
                  </m:oMath>
                </a14:m>
                <a:r>
                  <a:rPr lang="en-US" dirty="0"/>
                  <a:t> .</a:t>
                </a:r>
              </a:p>
              <a:p>
                <a:pPr marL="731520" indent="-457200"/>
                <a:endParaRPr lang="en-US" dirty="0"/>
              </a:p>
              <a:p>
                <a:pPr marL="731520" indent="-457200"/>
                <a:r>
                  <a:rPr lang="en-US" dirty="0"/>
                  <a:t>The </a:t>
                </a:r>
                <a:r>
                  <a:rPr lang="en-US" i="1" dirty="0" err="1"/>
                  <a:t>nand</a:t>
                </a:r>
                <a:r>
                  <a:rPr lang="en-US" i="1" dirty="0"/>
                  <a:t> </a:t>
                </a:r>
                <a:r>
                  <a:rPr lang="en-US" dirty="0"/>
                  <a:t>operator, denoted by |, is defined by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1|1 = 0</a:t>
                </a:r>
                <a:r>
                  <a:rPr lang="en-US" dirty="0"/>
                  <a:t>, and                      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1|0 = 0|1 = 0|0 = 1. </a:t>
                </a:r>
                <a:r>
                  <a:rPr lang="en-US" dirty="0"/>
                  <a:t>The set consisting of just the one operator </a:t>
                </a:r>
                <a:r>
                  <a:rPr lang="en-US" dirty="0" err="1"/>
                  <a:t>nand</a:t>
                </a:r>
                <a:r>
                  <a:rPr lang="en-US" dirty="0"/>
                  <a:t> {|} is functionally complete.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ea typeface="Cambria Math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= </a:t>
                </a:r>
                <a:r>
                  <a:rPr lang="en-US" i="1" dirty="0">
                    <a:ea typeface="Cambria Math" pitchFamily="18" charset="0"/>
                  </a:rPr>
                  <a:t>x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| </a:t>
                </a:r>
                <a:r>
                  <a:rPr lang="en-US" i="1" dirty="0">
                    <a:ea typeface="Cambria Math" pitchFamily="18" charset="0"/>
                  </a:rPr>
                  <a:t>x  </a:t>
                </a:r>
                <a:r>
                  <a:rPr lang="en-US" dirty="0">
                    <a:ea typeface="Cambria Math" pitchFamily="18" charset="0"/>
                  </a:rPr>
                  <a:t>and </a:t>
                </a:r>
                <a:r>
                  <a:rPr lang="en-US" i="1" dirty="0" err="1">
                    <a:ea typeface="Cambria Math" pitchFamily="18" charset="0"/>
                  </a:rPr>
                  <a:t>xy</a:t>
                </a:r>
                <a:r>
                  <a:rPr lang="en-US" dirty="0">
                    <a:ea typeface="Cambria Math" pitchFamily="18" charset="0"/>
                  </a:rPr>
                  <a:t> = (</a:t>
                </a:r>
                <a:r>
                  <a:rPr lang="en-US" i="1" dirty="0" err="1">
                    <a:ea typeface="Cambria Math" pitchFamily="18" charset="0"/>
                  </a:rPr>
                  <a:t>x</a:t>
                </a:r>
                <a:r>
                  <a:rPr lang="en-US" dirty="0" err="1">
                    <a:ea typeface="Cambria Math" pitchFamily="18" charset="0"/>
                  </a:rPr>
                  <a:t>|</a:t>
                </a:r>
                <a:r>
                  <a:rPr lang="en-US" i="1" dirty="0" err="1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)|(</a:t>
                </a:r>
                <a:r>
                  <a:rPr lang="en-US" i="1" dirty="0" err="1">
                    <a:ea typeface="Cambria Math" pitchFamily="18" charset="0"/>
                  </a:rPr>
                  <a:t>x</a:t>
                </a:r>
                <a:r>
                  <a:rPr lang="en-US" dirty="0" err="1">
                    <a:ea typeface="Cambria Math" pitchFamily="18" charset="0"/>
                  </a:rPr>
                  <a:t>|</a:t>
                </a:r>
                <a:r>
                  <a:rPr lang="en-US" i="1" dirty="0" err="1">
                    <a:ea typeface="Cambria Math" pitchFamily="18" charset="0"/>
                  </a:rPr>
                  <a:t>y</a:t>
                </a:r>
                <a:r>
                  <a:rPr lang="en-US" dirty="0">
                    <a:ea typeface="Cambria Math" pitchFamily="18" charset="0"/>
                  </a:rPr>
                  <a:t>). </a:t>
                </a:r>
              </a:p>
              <a:p>
                <a:pPr indent="0">
                  <a:buNone/>
                </a:pPr>
                <a:endParaRPr lang="en-US" dirty="0">
                  <a:latin typeface="Cambria Math" pitchFamily="18" charset="0"/>
                  <a:ea typeface="Cambria Math" pitchFamily="18" charset="0"/>
                </a:endParaRPr>
              </a:p>
              <a:p>
                <a:pPr marL="731520" indent="-457200"/>
                <a:r>
                  <a:rPr lang="en-US" dirty="0"/>
                  <a:t>The </a:t>
                </a:r>
                <a:r>
                  <a:rPr lang="en-US" i="1" dirty="0"/>
                  <a:t>nor </a:t>
                </a:r>
                <a:r>
                  <a:rPr lang="en-US" dirty="0"/>
                  <a:t>operator, denoted by </a:t>
                </a:r>
                <a:r>
                  <a:rPr lang="en-US" dirty="0">
                    <a:latin typeface="Cambria Math"/>
                    <a:ea typeface="Cambria Math"/>
                  </a:rPr>
                  <a:t>↓</a:t>
                </a:r>
                <a:r>
                  <a:rPr lang="en-US" dirty="0"/>
                  <a:t>, is defined by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 = 1</a:t>
                </a:r>
                <a:r>
                  <a:rPr lang="en-US" dirty="0"/>
                  <a:t>, and                         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0 = 0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= 1</a:t>
                </a:r>
                <a:r>
                  <a:rPr lang="en-US" dirty="0">
                    <a:latin typeface="Cambria Math"/>
                    <a:ea typeface="Cambria Math"/>
                  </a:rPr>
                  <a:t> ↓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 = 0. </a:t>
                </a:r>
                <a:r>
                  <a:rPr lang="en-US" dirty="0"/>
                  <a:t> The set consisting of just the one operator nor {</a:t>
                </a:r>
                <a:r>
                  <a:rPr lang="en-US" dirty="0">
                    <a:latin typeface="Cambria Math"/>
                    <a:ea typeface="Cambria Math"/>
                  </a:rPr>
                  <a:t>↓</a:t>
                </a:r>
                <a:r>
                  <a:rPr lang="en-US" dirty="0"/>
                  <a:t>} is functionally complete.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i="1" dirty="0">
                    <a:ea typeface="Cambria Math" pitchFamily="18" charset="0"/>
                  </a:rPr>
                  <a:t>see Exercises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15 </a:t>
                </a:r>
                <a:r>
                  <a:rPr lang="en-US" i="1" dirty="0">
                    <a:ea typeface="Cambria Math" pitchFamily="18" charset="0"/>
                  </a:rPr>
                  <a:t>and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 16)</a:t>
                </a:r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806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049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7A8D46-A571-411C-9BC6-6BF0E120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840"/>
            <a:ext cx="9144000" cy="459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7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12.3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  <a:p>
            <a:r>
              <a:rPr lang="en-US" dirty="0"/>
              <a:t>Combinations of Gates</a:t>
            </a:r>
          </a:p>
          <a:p>
            <a:r>
              <a:rPr lang="en-US" dirty="0"/>
              <a:t>Examples of Circuits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4B0F9D-24EF-5EC4-06D8-33E8FF695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1421389" cy="21002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construct circuits using </a:t>
            </a:r>
            <a:r>
              <a:rPr lang="en-US" i="1" dirty="0"/>
              <a:t>gates</a:t>
            </a:r>
            <a:r>
              <a:rPr lang="en-US" dirty="0"/>
              <a:t>, which take as input the values of two or more Boolean variables and produce one or more bits as output, and </a:t>
            </a:r>
            <a:r>
              <a:rPr lang="en-US" i="1" dirty="0"/>
              <a:t>inverters</a:t>
            </a:r>
            <a:r>
              <a:rPr lang="en-US" dirty="0"/>
              <a:t>, which take the value of a Boolean variable as input and produce the complement of this value as output.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04" y="4270513"/>
            <a:ext cx="4203192" cy="540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639910"/>
            <a:ext cx="3968496" cy="41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73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222157-BEE6-94E2-EE76-166E656E7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8441"/>
            <a:ext cx="9144000" cy="530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904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of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Combinatorial circuits can be constructed using a combination of inverters, OR gates, and </a:t>
                </a:r>
                <a:r>
                  <a:rPr lang="en-US" dirty="0" err="1"/>
                  <a:t>AND</a:t>
                </a:r>
                <a:r>
                  <a:rPr lang="en-US" dirty="0"/>
                  <a:t> gates.  Gates may share input and the output of one or more gates may be input to another.</a:t>
                </a:r>
              </a:p>
              <a:p>
                <a:r>
                  <a:rPr lang="en-US" dirty="0"/>
                  <a:t>We show two ways of                                             constructing a circuit                                                            that produces the                                                              output </a:t>
                </a:r>
                <a:r>
                  <a:rPr lang="en-US" i="1" dirty="0" err="1"/>
                  <a:t>xy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i="1" dirty="0"/>
                  <a:t>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733800"/>
            <a:ext cx="2859087" cy="24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8936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39DDCA-DC02-6824-E2C6-A24F8A12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923"/>
            <a:ext cx="9144000" cy="21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90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of Gates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935480"/>
                <a:ext cx="3810000" cy="4389120"/>
              </a:xfrm>
            </p:spPr>
            <p:txBody>
              <a:bodyPr/>
              <a:lstStyle/>
              <a:p>
                <a:pPr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: Construct circuits that produce these outputs </a:t>
                </a:r>
              </a:p>
              <a:p>
                <a:pPr indent="0">
                  <a:buNone/>
                </a:pPr>
                <a:r>
                  <a:rPr lang="en-US" dirty="0"/>
                  <a:t>(a) (</a:t>
                </a:r>
                <a:r>
                  <a:rPr lang="en-US" i="1" dirty="0"/>
                  <a:t>x + y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  <a:p>
                <a:pPr indent="0">
                  <a:buNone/>
                </a:pPr>
                <a:r>
                  <a:rPr lang="en-US" dirty="0"/>
                  <a:t>(b)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𝑧</m:t>
                            </m:r>
                            <m:r>
                              <a:rPr lang="en-US" b="0" i="1" dirty="0" smtClean="0">
                                <a:latin typeface="Cambria Math"/>
                              </a:rPr>
                              <m:t>)</m:t>
                            </m:r>
                          </m:e>
                        </m:acc>
                      </m:e>
                    </m:bar>
                  </m:oMath>
                </a14:m>
                <a:endParaRPr lang="en-US" dirty="0"/>
              </a:p>
              <a:p>
                <a:pPr indent="0">
                  <a:buNone/>
                </a:pPr>
                <a:r>
                  <a:rPr lang="en-US" dirty="0"/>
                  <a:t>(c) (</a:t>
                </a:r>
                <a:r>
                  <a:rPr lang="en-US" i="1" dirty="0"/>
                  <a:t>x</a:t>
                </a:r>
                <a:r>
                  <a:rPr lang="en-US" dirty="0"/>
                  <a:t> + </a:t>
                </a:r>
                <a:r>
                  <a:rPr lang="en-US" i="1" dirty="0"/>
                  <a:t>y</a:t>
                </a:r>
                <a:r>
                  <a:rPr lang="en-US" dirty="0"/>
                  <a:t> +</a:t>
                </a:r>
                <a:r>
                  <a:rPr lang="en-US" i="1" dirty="0"/>
                  <a:t>z</a:t>
                </a:r>
                <a:r>
                  <a:rPr lang="en-US" dirty="0"/>
                  <a:t>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) 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935480"/>
                <a:ext cx="3810000" cy="4389120"/>
              </a:xfrm>
              <a:blipFill rotWithShape="1"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292600" cy="439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86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3014E6-8E96-FD47-3405-7F2C22500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3400"/>
            <a:ext cx="731921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60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Logic circuits can be used to add two positive integers from their binary expansions. </a:t>
            </a:r>
          </a:p>
          <a:p>
            <a:r>
              <a:rPr lang="en-US" dirty="0"/>
              <a:t>The first step is to build a </a:t>
            </a:r>
            <a:r>
              <a:rPr lang="en-US" i="1" dirty="0"/>
              <a:t>half adder </a:t>
            </a:r>
            <a:r>
              <a:rPr lang="en-US" dirty="0"/>
              <a:t>that adds two bits, but which does not accept a carry from a previous addition.</a:t>
            </a:r>
          </a:p>
          <a:p>
            <a:r>
              <a:rPr lang="en-US" dirty="0"/>
              <a:t>Since the circuit has more than one output, it is a </a:t>
            </a:r>
            <a:r>
              <a:rPr lang="en-US" i="1" dirty="0"/>
              <a:t>multiple output circuit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91000"/>
            <a:ext cx="1090613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419600"/>
            <a:ext cx="3041650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3964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3A11A6-3BAD-AD6D-C32F-DFFAB42DA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94571"/>
            <a:ext cx="5334000" cy="484300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BBA33C-3B75-5465-198B-9234924C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11299"/>
            <a:ext cx="6553200" cy="90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75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full adder </a:t>
            </a:r>
            <a:r>
              <a:rPr lang="en-US" dirty="0"/>
              <a:t>is used to compute the sum bit and the carry bit when two bits and a carry are added.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352800"/>
            <a:ext cx="11461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10000"/>
            <a:ext cx="2925763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76672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991960-B86A-F9BB-7E89-AFBE3E40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6200"/>
            <a:ext cx="5969869" cy="4953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53D5C2-D60D-4032-5AB1-C9B7D9AF6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105400"/>
            <a:ext cx="7620000" cy="84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996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8D7DF5-C387-CE47-A827-218AFF68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600"/>
            <a:ext cx="7986357" cy="2057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616777-9150-A2FF-B1D8-B1A58A1E2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0"/>
            <a:ext cx="8153400" cy="425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12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half adder and multiple full adders can be used to produce the sum of </a:t>
            </a:r>
            <a:r>
              <a:rPr lang="en-US" i="1" dirty="0"/>
              <a:t>n</a:t>
            </a:r>
            <a:r>
              <a:rPr lang="en-US" dirty="0"/>
              <a:t> bit integers. </a:t>
            </a:r>
          </a:p>
          <a:p>
            <a:pPr indent="0">
              <a:buNone/>
            </a:pPr>
            <a:r>
              <a:rPr lang="en-US" b="1" dirty="0"/>
              <a:t>Example</a:t>
            </a:r>
            <a:r>
              <a:rPr lang="en-US"/>
              <a:t>:  Here </a:t>
            </a:r>
            <a:r>
              <a:rPr lang="en-US" dirty="0"/>
              <a:t>is a circuit to compute the sum of two </a:t>
            </a:r>
            <a:r>
              <a:rPr lang="en-US"/>
              <a:t>three-bit integers.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142392"/>
            <a:ext cx="2237426" cy="1237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18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11EF6D-D39E-B76C-2A61-0A788493A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458"/>
            <a:ext cx="9144000" cy="46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41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C23F1E-15A1-4310-9518-FC9EF3CE3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7620000" cy="41104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100B8B-A0AD-1714-9EBF-99DC4C4A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95800"/>
            <a:ext cx="7391400" cy="17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98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20121</TotalTime>
  <Words>2018</Words>
  <Application>Microsoft Office PowerPoint</Application>
  <PresentationFormat>全屏显示(4:3)</PresentationFormat>
  <Paragraphs>167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4" baseType="lpstr">
      <vt:lpstr>Calibri</vt:lpstr>
      <vt:lpstr>Cambria Math</vt:lpstr>
      <vt:lpstr>Constantia</vt:lpstr>
      <vt:lpstr>Symbol</vt:lpstr>
      <vt:lpstr>Wingdings 2</vt:lpstr>
      <vt:lpstr>Flow</vt:lpstr>
      <vt:lpstr>Boolean  Algebra</vt:lpstr>
      <vt:lpstr>Chapter Summary</vt:lpstr>
      <vt:lpstr>Boolean Functions</vt:lpstr>
      <vt:lpstr>Section Summary</vt:lpstr>
      <vt:lpstr>Introduction to Boolean Algebra</vt:lpstr>
      <vt:lpstr>PowerPoint 演示文稿</vt:lpstr>
      <vt:lpstr>Boolean Expressions and Boolean Functions</vt:lpstr>
      <vt:lpstr>PowerPoint 演示文稿</vt:lpstr>
      <vt:lpstr>Boolean Expressions and Boolean Functions (continued)</vt:lpstr>
      <vt:lpstr>PowerPoint 演示文稿</vt:lpstr>
      <vt:lpstr>Boolean Expressions and Boolean Functions (continued)</vt:lpstr>
      <vt:lpstr>PowerPoint 演示文稿</vt:lpstr>
      <vt:lpstr>Boolean Functions</vt:lpstr>
      <vt:lpstr>PowerPoint 演示文稿</vt:lpstr>
      <vt:lpstr>PowerPoint 演示文稿</vt:lpstr>
      <vt:lpstr>Identities of Boolean Algebra</vt:lpstr>
      <vt:lpstr>PowerPoint 演示文稿</vt:lpstr>
      <vt:lpstr>Identities of Boolean Algebra</vt:lpstr>
      <vt:lpstr>PowerPoint 演示文稿</vt:lpstr>
      <vt:lpstr>Formal Definition of a Boolean Algebra</vt:lpstr>
      <vt:lpstr>PowerPoint 演示文稿</vt:lpstr>
      <vt:lpstr>Representing Boolean Functions</vt:lpstr>
      <vt:lpstr>Section Summary</vt:lpstr>
      <vt:lpstr>Sum-of-Products Expansion</vt:lpstr>
      <vt:lpstr>PowerPoint 演示文稿</vt:lpstr>
      <vt:lpstr>Sum-of-Products Expansion (cont)</vt:lpstr>
      <vt:lpstr>PowerPoint 演示文稿</vt:lpstr>
      <vt:lpstr>Sum-of-Products Expansion (cont)</vt:lpstr>
      <vt:lpstr>PowerPoint 演示文稿</vt:lpstr>
      <vt:lpstr>Sum-of-Products Expansion (cont)</vt:lpstr>
      <vt:lpstr>Functional Completeness</vt:lpstr>
      <vt:lpstr>PowerPoint 演示文稿</vt:lpstr>
      <vt:lpstr>Logic Gates</vt:lpstr>
      <vt:lpstr>Section Summary</vt:lpstr>
      <vt:lpstr>Logic Gates</vt:lpstr>
      <vt:lpstr>PowerPoint 演示文稿</vt:lpstr>
      <vt:lpstr>Combinations of Gates</vt:lpstr>
      <vt:lpstr>PowerPoint 演示文稿</vt:lpstr>
      <vt:lpstr>Combinations of Gates</vt:lpstr>
      <vt:lpstr>PowerPoint 演示文稿</vt:lpstr>
      <vt:lpstr>Adders</vt:lpstr>
      <vt:lpstr>PowerPoint 演示文稿</vt:lpstr>
      <vt:lpstr>Adders (continued)</vt:lpstr>
      <vt:lpstr>PowerPoint 演示文稿</vt:lpstr>
      <vt:lpstr>PowerPoint 演示文稿</vt:lpstr>
      <vt:lpstr>Adders (continued)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Xiaoqian Zhang</cp:lastModifiedBy>
  <cp:revision>851</cp:revision>
  <dcterms:created xsi:type="dcterms:W3CDTF">2012-07-15T18:32:41Z</dcterms:created>
  <dcterms:modified xsi:type="dcterms:W3CDTF">2025-11-06T13:56:45Z</dcterms:modified>
</cp:coreProperties>
</file>