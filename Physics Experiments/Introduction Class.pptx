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pn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image12.jpg" ContentType="image/jpeg"/>
  <Override PartName="/ppt/notesSlides/notesSlide7.xml" ContentType="application/vnd.openxmlformats-officedocument.presentationml.notesSlide+xml"/>
  <Override PartName="/ppt/notesSlides/notesSlide8.xml" ContentType="application/vnd.openxmlformats-officedocument.presentationml.notesSlide+xml"/>
  <Override PartName="/ppt/media/image20.jpg" ContentType="image/jpeg"/>
  <Override PartName="/ppt/media/image21.jpg" ContentType="image/jpeg"/>
  <Override PartName="/ppt/media/image22.jpg" ContentType="image/jpeg"/>
  <Override PartName="/ppt/media/image23.jpg" ContentType="image/jpeg"/>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1"/>
  </p:sldMasterIdLst>
  <p:notesMasterIdLst>
    <p:notesMasterId r:id="rId39"/>
  </p:notesMasterIdLst>
  <p:sldIdLst>
    <p:sldId id="297" r:id="rId2"/>
    <p:sldId id="409" r:id="rId3"/>
    <p:sldId id="298" r:id="rId4"/>
    <p:sldId id="300" r:id="rId5"/>
    <p:sldId id="344" r:id="rId6"/>
    <p:sldId id="1694" r:id="rId7"/>
    <p:sldId id="349" r:id="rId8"/>
    <p:sldId id="402" r:id="rId9"/>
    <p:sldId id="398" r:id="rId10"/>
    <p:sldId id="353" r:id="rId11"/>
    <p:sldId id="309" r:id="rId12"/>
    <p:sldId id="410" r:id="rId13"/>
    <p:sldId id="340" r:id="rId14"/>
    <p:sldId id="403" r:id="rId15"/>
    <p:sldId id="370" r:id="rId16"/>
    <p:sldId id="368" r:id="rId17"/>
    <p:sldId id="404" r:id="rId18"/>
    <p:sldId id="381" r:id="rId19"/>
    <p:sldId id="406" r:id="rId20"/>
    <p:sldId id="341" r:id="rId21"/>
    <p:sldId id="372" r:id="rId22"/>
    <p:sldId id="405" r:id="rId23"/>
    <p:sldId id="407" r:id="rId24"/>
    <p:sldId id="378" r:id="rId25"/>
    <p:sldId id="377" r:id="rId26"/>
    <p:sldId id="373" r:id="rId27"/>
    <p:sldId id="374" r:id="rId28"/>
    <p:sldId id="408" r:id="rId29"/>
    <p:sldId id="342" r:id="rId30"/>
    <p:sldId id="339" r:id="rId31"/>
    <p:sldId id="384" r:id="rId32"/>
    <p:sldId id="385" r:id="rId33"/>
    <p:sldId id="386" r:id="rId34"/>
    <p:sldId id="387" r:id="rId35"/>
    <p:sldId id="388" r:id="rId36"/>
    <p:sldId id="389" r:id="rId37"/>
    <p:sldId id="390" r:id="rId38"/>
  </p:sldIdLst>
  <p:sldSz cx="9144000" cy="5143500" type="screen16x9"/>
  <p:notesSz cx="6797675" cy="99298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ingting Shi" initials="TS" lastIdx="1" clrIdx="0">
    <p:extLst>
      <p:ext uri="{19B8F6BF-5375-455C-9EA6-DF929625EA0E}">
        <p15:presenceInfo xmlns:p15="http://schemas.microsoft.com/office/powerpoint/2012/main" userId="b4e9d7f8f6131942" providerId="Windows Live"/>
      </p:ext>
    </p:extLst>
  </p:cmAuthor>
  <p:cmAuthor id="2" name="Tingting Shi" initials="TS [2]" lastIdx="1" clrIdx="1">
    <p:extLst>
      <p:ext uri="{19B8F6BF-5375-455C-9EA6-DF929625EA0E}">
        <p15:presenceInfo xmlns:p15="http://schemas.microsoft.com/office/powerpoint/2012/main" userId="de3757cb75a7b15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7EA"/>
    <a:srgbClr val="FFDDE2"/>
    <a:srgbClr val="0000FF"/>
    <a:srgbClr val="005A9E"/>
    <a:srgbClr val="0066FF"/>
    <a:srgbClr val="103F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BA111F-9A44-4976-AC49-44D9203E5238}" v="1" dt="2025-09-10T09:14:37.2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279" autoAdjust="0"/>
    <p:restoredTop sz="93634" autoAdjust="0"/>
  </p:normalViewPr>
  <p:slideViewPr>
    <p:cSldViewPr snapToGrid="0">
      <p:cViewPr varScale="1">
        <p:scale>
          <a:sx n="137" d="100"/>
          <a:sy n="137" d="100"/>
        </p:scale>
        <p:origin x="488" y="72"/>
      </p:cViewPr>
      <p:guideLst>
        <p:guide orient="horz" pos="1620"/>
        <p:guide pos="2880"/>
      </p:guideLst>
    </p:cSldViewPr>
  </p:slideViewPr>
  <p:notesTextViewPr>
    <p:cViewPr>
      <p:scale>
        <a:sx n="100" d="100"/>
        <a:sy n="100" d="100"/>
      </p:scale>
      <p:origin x="0" y="0"/>
    </p:cViewPr>
  </p:notesTextViewPr>
  <p:sorterViewPr>
    <p:cViewPr>
      <p:scale>
        <a:sx n="75" d="100"/>
        <a:sy n="75" d="100"/>
      </p:scale>
      <p:origin x="0" y="-542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g Zhou" userId="419b049e5439fd68" providerId="LiveId" clId="{6C8E2742-4E1B-4D87-8567-64587C14F4CE}"/>
    <pc:docChg chg="undo custSel addSld modSld sldOrd">
      <pc:chgData name="Yang Zhou" userId="419b049e5439fd68" providerId="LiveId" clId="{6C8E2742-4E1B-4D87-8567-64587C14F4CE}" dt="2025-03-03T07:22:15.846" v="198" actId="20577"/>
      <pc:docMkLst>
        <pc:docMk/>
      </pc:docMkLst>
      <pc:sldChg chg="modSp mod">
        <pc:chgData name="Yang Zhou" userId="419b049e5439fd68" providerId="LiveId" clId="{6C8E2742-4E1B-4D87-8567-64587C14F4CE}" dt="2025-03-03T04:19:09.968" v="182" actId="20577"/>
        <pc:sldMkLst>
          <pc:docMk/>
          <pc:sldMk cId="2815871349" sldId="297"/>
        </pc:sldMkLst>
      </pc:sldChg>
      <pc:sldChg chg="modSp mod">
        <pc:chgData name="Yang Zhou" userId="419b049e5439fd68" providerId="LiveId" clId="{6C8E2742-4E1B-4D87-8567-64587C14F4CE}" dt="2025-03-03T02:51:17.737" v="89" actId="20577"/>
        <pc:sldMkLst>
          <pc:docMk/>
          <pc:sldMk cId="3252160488" sldId="309"/>
        </pc:sldMkLst>
      </pc:sldChg>
      <pc:sldChg chg="modSp mod">
        <pc:chgData name="Yang Zhou" userId="419b049e5439fd68" providerId="LiveId" clId="{6C8E2742-4E1B-4D87-8567-64587C14F4CE}" dt="2025-03-03T04:16:36.961" v="176" actId="20577"/>
        <pc:sldMkLst>
          <pc:docMk/>
          <pc:sldMk cId="369927675" sldId="342"/>
        </pc:sldMkLst>
      </pc:sldChg>
      <pc:sldChg chg="addSp delSp modSp mod">
        <pc:chgData name="Yang Zhou" userId="419b049e5439fd68" providerId="LiveId" clId="{6C8E2742-4E1B-4D87-8567-64587C14F4CE}" dt="2025-03-03T02:45:15.064" v="21" actId="1076"/>
        <pc:sldMkLst>
          <pc:docMk/>
          <pc:sldMk cId="2289741068" sldId="344"/>
        </pc:sldMkLst>
      </pc:sldChg>
      <pc:sldChg chg="modSp mod">
        <pc:chgData name="Yang Zhou" userId="419b049e5439fd68" providerId="LiveId" clId="{6C8E2742-4E1B-4D87-8567-64587C14F4CE}" dt="2025-03-03T07:22:15.846" v="198" actId="20577"/>
        <pc:sldMkLst>
          <pc:docMk/>
          <pc:sldMk cId="2554950298" sldId="349"/>
        </pc:sldMkLst>
      </pc:sldChg>
      <pc:sldChg chg="modSp mod">
        <pc:chgData name="Yang Zhou" userId="419b049e5439fd68" providerId="LiveId" clId="{6C8E2742-4E1B-4D87-8567-64587C14F4CE}" dt="2025-03-03T04:12:34.356" v="172" actId="1076"/>
        <pc:sldMkLst>
          <pc:docMk/>
          <pc:sldMk cId="765489669" sldId="372"/>
        </pc:sldMkLst>
      </pc:sldChg>
      <pc:sldChg chg="ord">
        <pc:chgData name="Yang Zhou" userId="419b049e5439fd68" providerId="LiveId" clId="{6C8E2742-4E1B-4D87-8567-64587C14F4CE}" dt="2025-03-03T04:14:03.107" v="174"/>
        <pc:sldMkLst>
          <pc:docMk/>
          <pc:sldMk cId="844862690" sldId="378"/>
        </pc:sldMkLst>
      </pc:sldChg>
      <pc:sldChg chg="modSp mod">
        <pc:chgData name="Yang Zhou" userId="419b049e5439fd68" providerId="LiveId" clId="{6C8E2742-4E1B-4D87-8567-64587C14F4CE}" dt="2025-03-03T03:04:46.505" v="170" actId="1037"/>
        <pc:sldMkLst>
          <pc:docMk/>
          <pc:sldMk cId="335528040" sldId="381"/>
        </pc:sldMkLst>
      </pc:sldChg>
      <pc:sldChg chg="modSp mod">
        <pc:chgData name="Yang Zhou" userId="419b049e5439fd68" providerId="LiveId" clId="{6C8E2742-4E1B-4D87-8567-64587C14F4CE}" dt="2025-03-03T02:47:51.139" v="22" actId="113"/>
        <pc:sldMkLst>
          <pc:docMk/>
          <pc:sldMk cId="3682048706" sldId="398"/>
        </pc:sldMkLst>
      </pc:sldChg>
      <pc:sldChg chg="modSp mod">
        <pc:chgData name="Yang Zhou" userId="419b049e5439fd68" providerId="LiveId" clId="{6C8E2742-4E1B-4D87-8567-64587C14F4CE}" dt="2025-03-03T02:52:13.259" v="93" actId="1038"/>
        <pc:sldMkLst>
          <pc:docMk/>
          <pc:sldMk cId="2296316221" sldId="403"/>
        </pc:sldMkLst>
      </pc:sldChg>
      <pc:sldChg chg="addSp delSp modSp mod">
        <pc:chgData name="Yang Zhou" userId="419b049e5439fd68" providerId="LiveId" clId="{6C8E2742-4E1B-4D87-8567-64587C14F4CE}" dt="2025-03-03T02:36:14.049" v="8" actId="27614"/>
        <pc:sldMkLst>
          <pc:docMk/>
          <pc:sldMk cId="3545330335" sldId="409"/>
        </pc:sldMkLst>
      </pc:sldChg>
      <pc:sldChg chg="add ord">
        <pc:chgData name="Yang Zhou" userId="419b049e5439fd68" providerId="LiveId" clId="{6C8E2742-4E1B-4D87-8567-64587C14F4CE}" dt="2025-03-03T02:40:04.889" v="11"/>
        <pc:sldMkLst>
          <pc:docMk/>
          <pc:sldMk cId="3073145073" sldId="1694"/>
        </pc:sldMkLst>
      </pc:sldChg>
    </pc:docChg>
  </pc:docChgLst>
  <pc:docChgLst>
    <pc:chgData name="Yang Zhou" userId="419b049e5439fd68" providerId="LiveId" clId="{AD4DEFAE-0661-4CA9-8E1D-8A759CC1CBC9}"/>
    <pc:docChg chg="undo custSel modSld">
      <pc:chgData name="Yang Zhou" userId="419b049e5439fd68" providerId="LiveId" clId="{AD4DEFAE-0661-4CA9-8E1D-8A759CC1CBC9}" dt="2024-02-26T04:44:33.039" v="21" actId="115"/>
      <pc:docMkLst>
        <pc:docMk/>
      </pc:docMkLst>
      <pc:sldChg chg="addSp modSp mod modNotesTx">
        <pc:chgData name="Yang Zhou" userId="419b049e5439fd68" providerId="LiveId" clId="{AD4DEFAE-0661-4CA9-8E1D-8A759CC1CBC9}" dt="2024-02-26T04:44:33.039" v="21" actId="115"/>
        <pc:sldMkLst>
          <pc:docMk/>
          <pc:sldMk cId="2289741068" sldId="344"/>
        </pc:sldMkLst>
      </pc:sldChg>
      <pc:sldChg chg="modNotesTx">
        <pc:chgData name="Yang Zhou" userId="419b049e5439fd68" providerId="LiveId" clId="{AD4DEFAE-0661-4CA9-8E1D-8A759CC1CBC9}" dt="2024-02-26T04:43:27.259" v="13" actId="20577"/>
        <pc:sldMkLst>
          <pc:docMk/>
          <pc:sldMk cId="2554950298" sldId="349"/>
        </pc:sldMkLst>
      </pc:sldChg>
      <pc:sldChg chg="modSp mod modNotesTx">
        <pc:chgData name="Yang Zhou" userId="419b049e5439fd68" providerId="LiveId" clId="{AD4DEFAE-0661-4CA9-8E1D-8A759CC1CBC9}" dt="2024-02-26T04:43:43.334" v="15" actId="20577"/>
        <pc:sldMkLst>
          <pc:docMk/>
          <pc:sldMk cId="353873176" sldId="368"/>
        </pc:sldMkLst>
      </pc:sldChg>
      <pc:sldChg chg="modSp mod">
        <pc:chgData name="Yang Zhou" userId="419b049e5439fd68" providerId="LiveId" clId="{AD4DEFAE-0661-4CA9-8E1D-8A759CC1CBC9}" dt="2024-02-26T02:33:42.839" v="1" actId="14100"/>
        <pc:sldMkLst>
          <pc:docMk/>
          <pc:sldMk cId="2606764736" sldId="370"/>
        </pc:sldMkLst>
      </pc:sldChg>
      <pc:sldChg chg="modNotesTx">
        <pc:chgData name="Yang Zhou" userId="419b049e5439fd68" providerId="LiveId" clId="{AD4DEFAE-0661-4CA9-8E1D-8A759CC1CBC9}" dt="2024-02-26T04:44:04.146" v="16" actId="20577"/>
        <pc:sldMkLst>
          <pc:docMk/>
          <pc:sldMk cId="3321927328" sldId="386"/>
        </pc:sldMkLst>
      </pc:sldChg>
      <pc:sldChg chg="modNotesTx">
        <pc:chgData name="Yang Zhou" userId="419b049e5439fd68" providerId="LiveId" clId="{AD4DEFAE-0661-4CA9-8E1D-8A759CC1CBC9}" dt="2024-02-26T04:44:08.405" v="17" actId="20577"/>
        <pc:sldMkLst>
          <pc:docMk/>
          <pc:sldMk cId="1155304432" sldId="387"/>
        </pc:sldMkLst>
      </pc:sldChg>
      <pc:sldChg chg="modNotesTx">
        <pc:chgData name="Yang Zhou" userId="419b049e5439fd68" providerId="LiveId" clId="{AD4DEFAE-0661-4CA9-8E1D-8A759CC1CBC9}" dt="2024-02-26T04:44:11.912" v="18" actId="20577"/>
        <pc:sldMkLst>
          <pc:docMk/>
          <pc:sldMk cId="1950717353" sldId="388"/>
        </pc:sldMkLst>
      </pc:sldChg>
      <pc:sldChg chg="modNotesTx">
        <pc:chgData name="Yang Zhou" userId="419b049e5439fd68" providerId="LiveId" clId="{AD4DEFAE-0661-4CA9-8E1D-8A759CC1CBC9}" dt="2024-02-26T04:43:23.425" v="12" actId="20577"/>
        <pc:sldMkLst>
          <pc:docMk/>
          <pc:sldMk cId="1183641297" sldId="399"/>
        </pc:sldMkLst>
      </pc:sldChg>
      <pc:sldChg chg="modNotesTx">
        <pc:chgData name="Yang Zhou" userId="419b049e5439fd68" providerId="LiveId" clId="{AD4DEFAE-0661-4CA9-8E1D-8A759CC1CBC9}" dt="2024-02-26T04:43:33.066" v="14" actId="20577"/>
        <pc:sldMkLst>
          <pc:docMk/>
          <pc:sldMk cId="2094768154" sldId="402"/>
        </pc:sldMkLst>
      </pc:sldChg>
    </pc:docChg>
  </pc:docChgLst>
  <pc:docChgLst>
    <pc:chgData name="Yang Zhou" userId="419b049e5439fd68" providerId="LiveId" clId="{C38C233E-F9CD-45E0-9E73-3B174DDFAD7F}"/>
    <pc:docChg chg="custSel modSld">
      <pc:chgData name="Yang Zhou" userId="419b049e5439fd68" providerId="LiveId" clId="{C38C233E-F9CD-45E0-9E73-3B174DDFAD7F}" dt="2025-09-11T05:31:20.169" v="51" actId="20577"/>
      <pc:docMkLst>
        <pc:docMk/>
      </pc:docMkLst>
      <pc:sldChg chg="modSp mod">
        <pc:chgData name="Yang Zhou" userId="419b049e5439fd68" providerId="LiveId" clId="{C38C233E-F9CD-45E0-9E73-3B174DDFAD7F}" dt="2025-09-10T09:27:01.725" v="8" actId="14100"/>
        <pc:sldMkLst>
          <pc:docMk/>
          <pc:sldMk cId="3252160488" sldId="309"/>
        </pc:sldMkLst>
        <pc:spChg chg="mod">
          <ac:chgData name="Yang Zhou" userId="419b049e5439fd68" providerId="LiveId" clId="{C38C233E-F9CD-45E0-9E73-3B174DDFAD7F}" dt="2025-09-10T09:27:01.725" v="8" actId="14100"/>
          <ac:spMkLst>
            <pc:docMk/>
            <pc:sldMk cId="3252160488" sldId="309"/>
            <ac:spMk id="51" creationId="{3C008B29-FB31-4ADF-8A59-2301E81AF313}"/>
          </ac:spMkLst>
        </pc:spChg>
      </pc:sldChg>
      <pc:sldChg chg="modSp mod">
        <pc:chgData name="Yang Zhou" userId="419b049e5439fd68" providerId="LiveId" clId="{C38C233E-F9CD-45E0-9E73-3B174DDFAD7F}" dt="2025-09-11T05:31:20.169" v="51" actId="20577"/>
        <pc:sldMkLst>
          <pc:docMk/>
          <pc:sldMk cId="2554950298" sldId="349"/>
        </pc:sldMkLst>
        <pc:spChg chg="mod">
          <ac:chgData name="Yang Zhou" userId="419b049e5439fd68" providerId="LiveId" clId="{C38C233E-F9CD-45E0-9E73-3B174DDFAD7F}" dt="2025-09-11T05:31:20.169" v="51" actId="20577"/>
          <ac:spMkLst>
            <pc:docMk/>
            <pc:sldMk cId="2554950298" sldId="349"/>
            <ac:spMk id="10" creationId="{8AB3AFF9-5E5D-4AF1-871E-90636F0E3245}"/>
          </ac:spMkLst>
        </pc:spChg>
      </pc:sldChg>
      <pc:sldChg chg="modSp mod">
        <pc:chgData name="Yang Zhou" userId="419b049e5439fd68" providerId="LiveId" clId="{C38C233E-F9CD-45E0-9E73-3B174DDFAD7F}" dt="2025-09-10T09:27:37.361" v="10" actId="14100"/>
        <pc:sldMkLst>
          <pc:docMk/>
          <pc:sldMk cId="2606764736" sldId="370"/>
        </pc:sldMkLst>
        <pc:spChg chg="mod">
          <ac:chgData name="Yang Zhou" userId="419b049e5439fd68" providerId="LiveId" clId="{C38C233E-F9CD-45E0-9E73-3B174DDFAD7F}" dt="2025-09-10T09:27:37.361" v="10" actId="14100"/>
          <ac:spMkLst>
            <pc:docMk/>
            <pc:sldMk cId="2606764736" sldId="370"/>
            <ac:spMk id="12" creationId="{A4076346-39F4-43AB-94CA-F392FE123A46}"/>
          </ac:spMkLst>
        </pc:spChg>
      </pc:sldChg>
      <pc:sldChg chg="modSp mod">
        <pc:chgData name="Yang Zhou" userId="419b049e5439fd68" providerId="LiveId" clId="{C38C233E-F9CD-45E0-9E73-3B174DDFAD7F}" dt="2025-09-10T09:27:20.318" v="9" actId="14100"/>
        <pc:sldMkLst>
          <pc:docMk/>
          <pc:sldMk cId="2296316221" sldId="403"/>
        </pc:sldMkLst>
        <pc:spChg chg="mod">
          <ac:chgData name="Yang Zhou" userId="419b049e5439fd68" providerId="LiveId" clId="{C38C233E-F9CD-45E0-9E73-3B174DDFAD7F}" dt="2025-09-10T09:27:20.318" v="9" actId="14100"/>
          <ac:spMkLst>
            <pc:docMk/>
            <pc:sldMk cId="2296316221" sldId="403"/>
            <ac:spMk id="2" creationId="{BB404253-4035-4B43-8016-399E95532868}"/>
          </ac:spMkLst>
        </pc:spChg>
      </pc:sldChg>
      <pc:sldChg chg="modSp mod">
        <pc:chgData name="Yang Zhou" userId="419b049e5439fd68" providerId="LiveId" clId="{C38C233E-F9CD-45E0-9E73-3B174DDFAD7F}" dt="2025-09-10T09:28:14.163" v="23" actId="1035"/>
        <pc:sldMkLst>
          <pc:docMk/>
          <pc:sldMk cId="403487931" sldId="408"/>
        </pc:sldMkLst>
        <pc:spChg chg="mod">
          <ac:chgData name="Yang Zhou" userId="419b049e5439fd68" providerId="LiveId" clId="{C38C233E-F9CD-45E0-9E73-3B174DDFAD7F}" dt="2025-09-10T09:28:14.163" v="23" actId="1035"/>
          <ac:spMkLst>
            <pc:docMk/>
            <pc:sldMk cId="403487931" sldId="408"/>
            <ac:spMk id="12" creationId="{DD371C74-EABD-44C3-BB9D-A2CDF6B87B6F}"/>
          </ac:spMkLst>
        </pc:spChg>
      </pc:sldChg>
      <pc:sldChg chg="addSp delSp modSp mod">
        <pc:chgData name="Yang Zhou" userId="419b049e5439fd68" providerId="LiveId" clId="{C38C233E-F9CD-45E0-9E73-3B174DDFAD7F}" dt="2025-09-10T09:14:40.174" v="2" actId="27614"/>
        <pc:sldMkLst>
          <pc:docMk/>
          <pc:sldMk cId="3545330335" sldId="409"/>
        </pc:sldMkLst>
        <pc:picChg chg="del">
          <ac:chgData name="Yang Zhou" userId="419b049e5439fd68" providerId="LiveId" clId="{C38C233E-F9CD-45E0-9E73-3B174DDFAD7F}" dt="2025-09-10T09:13:29.678" v="0" actId="478"/>
          <ac:picMkLst>
            <pc:docMk/>
            <pc:sldMk cId="3545330335" sldId="409"/>
            <ac:picMk id="3" creationId="{5D88687D-FD4D-97B6-0B39-CE79BD2B2567}"/>
          </ac:picMkLst>
        </pc:picChg>
        <pc:picChg chg="add mod">
          <ac:chgData name="Yang Zhou" userId="419b049e5439fd68" providerId="LiveId" clId="{C38C233E-F9CD-45E0-9E73-3B174DDFAD7F}" dt="2025-09-10T09:14:40.174" v="2" actId="27614"/>
          <ac:picMkLst>
            <pc:docMk/>
            <pc:sldMk cId="3545330335" sldId="409"/>
            <ac:picMk id="4" creationId="{354886A2-3416-974F-261F-E89030A63846}"/>
          </ac:picMkLst>
        </pc:picChg>
      </pc:sldChg>
      <pc:sldChg chg="addSp delSp modSp mod">
        <pc:chgData name="Yang Zhou" userId="419b049e5439fd68" providerId="LiveId" clId="{C38C233E-F9CD-45E0-9E73-3B174DDFAD7F}" dt="2025-09-10T09:38:46.160" v="37" actId="1038"/>
        <pc:sldMkLst>
          <pc:docMk/>
          <pc:sldMk cId="3073145073" sldId="1694"/>
        </pc:sldMkLst>
        <pc:spChg chg="mod">
          <ac:chgData name="Yang Zhou" userId="419b049e5439fd68" providerId="LiveId" clId="{C38C233E-F9CD-45E0-9E73-3B174DDFAD7F}" dt="2025-09-10T09:25:50.639" v="7" actId="14100"/>
          <ac:spMkLst>
            <pc:docMk/>
            <pc:sldMk cId="3073145073" sldId="1694"/>
            <ac:spMk id="6" creationId="{FCF63FED-5780-0826-9E33-FE59280677ED}"/>
          </ac:spMkLst>
        </pc:spChg>
        <pc:spChg chg="del">
          <ac:chgData name="Yang Zhou" userId="419b049e5439fd68" providerId="LiveId" clId="{C38C233E-F9CD-45E0-9E73-3B174DDFAD7F}" dt="2025-09-10T09:38:06.211" v="25" actId="478"/>
          <ac:spMkLst>
            <pc:docMk/>
            <pc:sldMk cId="3073145073" sldId="1694"/>
            <ac:spMk id="14" creationId="{957B223C-38B7-77FA-1961-92332986C39C}"/>
          </ac:spMkLst>
        </pc:spChg>
        <pc:spChg chg="del">
          <ac:chgData name="Yang Zhou" userId="419b049e5439fd68" providerId="LiveId" clId="{C38C233E-F9CD-45E0-9E73-3B174DDFAD7F}" dt="2025-09-10T09:38:02.772" v="24" actId="478"/>
          <ac:spMkLst>
            <pc:docMk/>
            <pc:sldMk cId="3073145073" sldId="1694"/>
            <ac:spMk id="16" creationId="{CDB39DFB-8DE6-0F88-B6B6-988D5D280663}"/>
          </ac:spMkLst>
        </pc:spChg>
        <pc:picChg chg="del">
          <ac:chgData name="Yang Zhou" userId="419b049e5439fd68" providerId="LiveId" clId="{C38C233E-F9CD-45E0-9E73-3B174DDFAD7F}" dt="2025-09-10T09:38:23.162" v="26" actId="478"/>
          <ac:picMkLst>
            <pc:docMk/>
            <pc:sldMk cId="3073145073" sldId="1694"/>
            <ac:picMk id="11" creationId="{EF0E67A7-26FA-FFD7-A992-3F26D559CFBF}"/>
          </ac:picMkLst>
        </pc:picChg>
        <pc:picChg chg="add mod">
          <ac:chgData name="Yang Zhou" userId="419b049e5439fd68" providerId="LiveId" clId="{C38C233E-F9CD-45E0-9E73-3B174DDFAD7F}" dt="2025-09-10T09:38:46.160" v="37" actId="1038"/>
          <ac:picMkLst>
            <pc:docMk/>
            <pc:sldMk cId="3073145073" sldId="1694"/>
            <ac:picMk id="1026" creationId="{F3D6B0B9-351B-E9CB-C9C1-E7C435AF1F29}"/>
          </ac:picMkLst>
        </pc:picChg>
      </pc:sldChg>
    </pc:docChg>
  </pc:docChgLst>
  <pc:docChgLst>
    <pc:chgData name="Yang Zhou" userId="419b049e5439fd68" providerId="LiveId" clId="{45642B51-297C-40CA-9574-D4384F5D8D45}"/>
    <pc:docChg chg="undo custSel delSld modSld">
      <pc:chgData name="Yang Zhou" userId="419b049e5439fd68" providerId="LiveId" clId="{45642B51-297C-40CA-9574-D4384F5D8D45}" dt="2024-09-04T02:08:54.266" v="24" actId="2696"/>
      <pc:docMkLst>
        <pc:docMk/>
      </pc:docMkLst>
      <pc:sldChg chg="addSp delSp modSp mod">
        <pc:chgData name="Yang Zhou" userId="419b049e5439fd68" providerId="LiveId" clId="{45642B51-297C-40CA-9574-D4384F5D8D45}" dt="2024-09-04T01:53:22.520" v="17" actId="1076"/>
        <pc:sldMkLst>
          <pc:docMk/>
          <pc:sldMk cId="2289741068" sldId="344"/>
        </pc:sldMkLst>
      </pc:sldChg>
      <pc:sldChg chg="modSp mod">
        <pc:chgData name="Yang Zhou" userId="419b049e5439fd68" providerId="LiveId" clId="{45642B51-297C-40CA-9574-D4384F5D8D45}" dt="2024-09-04T01:53:38.012" v="23" actId="20577"/>
        <pc:sldMkLst>
          <pc:docMk/>
          <pc:sldMk cId="2554950298" sldId="349"/>
        </pc:sldMkLst>
      </pc:sldChg>
      <pc:sldChg chg="del">
        <pc:chgData name="Yang Zhou" userId="419b049e5439fd68" providerId="LiveId" clId="{45642B51-297C-40CA-9574-D4384F5D8D45}" dt="2024-09-04T02:08:54.266" v="24" actId="2696"/>
        <pc:sldMkLst>
          <pc:docMk/>
          <pc:sldMk cId="1183641297" sldId="399"/>
        </pc:sldMkLst>
      </pc:sldChg>
      <pc:sldChg chg="addSp delSp modSp mod">
        <pc:chgData name="Yang Zhou" userId="419b049e5439fd68" providerId="LiveId" clId="{45642B51-297C-40CA-9574-D4384F5D8D45}" dt="2024-09-04T01:47:34.321" v="2" actId="27614"/>
        <pc:sldMkLst>
          <pc:docMk/>
          <pc:sldMk cId="3545330335" sldId="409"/>
        </pc:sldMkLst>
      </pc:sldChg>
    </pc:docChg>
  </pc:docChgLst>
  <pc:docChgLst>
    <pc:chgData name="Yang Zhou" userId="419b049e5439fd68" providerId="LiveId" clId="{582C9C0F-B2B7-45F8-974D-D3FB03A92FFE}"/>
    <pc:docChg chg="undo custSel addSld delSld modSld sldOrd">
      <pc:chgData name="Yang Zhou" userId="419b049e5439fd68" providerId="LiveId" clId="{582C9C0F-B2B7-45F8-974D-D3FB03A92FFE}" dt="2024-02-25T05:41:10.743" v="381" actId="14100"/>
      <pc:docMkLst>
        <pc:docMk/>
      </pc:docMkLst>
      <pc:sldChg chg="modSp mod">
        <pc:chgData name="Yang Zhou" userId="419b049e5439fd68" providerId="LiveId" clId="{582C9C0F-B2B7-45F8-974D-D3FB03A92FFE}" dt="2024-02-25T05:00:34.274" v="1" actId="20577"/>
        <pc:sldMkLst>
          <pc:docMk/>
          <pc:sldMk cId="2815871349" sldId="297"/>
        </pc:sldMkLst>
      </pc:sldChg>
      <pc:sldChg chg="addSp delSp modSp mod delAnim">
        <pc:chgData name="Yang Zhou" userId="419b049e5439fd68" providerId="LiveId" clId="{582C9C0F-B2B7-45F8-974D-D3FB03A92FFE}" dt="2024-02-25T05:26:53.649" v="356" actId="113"/>
        <pc:sldMkLst>
          <pc:docMk/>
          <pc:sldMk cId="3252160488" sldId="309"/>
        </pc:sldMkLst>
      </pc:sldChg>
      <pc:sldChg chg="modSp mod">
        <pc:chgData name="Yang Zhou" userId="419b049e5439fd68" providerId="LiveId" clId="{582C9C0F-B2B7-45F8-974D-D3FB03A92FFE}" dt="2024-02-25T05:03:03.650" v="2" actId="20577"/>
        <pc:sldMkLst>
          <pc:docMk/>
          <pc:sldMk cId="369927675" sldId="342"/>
        </pc:sldMkLst>
      </pc:sldChg>
      <pc:sldChg chg="modSp mod">
        <pc:chgData name="Yang Zhou" userId="419b049e5439fd68" providerId="LiveId" clId="{582C9C0F-B2B7-45F8-974D-D3FB03A92FFE}" dt="2024-02-25T05:27:54.561" v="376" actId="20577"/>
        <pc:sldMkLst>
          <pc:docMk/>
          <pc:sldMk cId="2554950298" sldId="349"/>
        </pc:sldMkLst>
      </pc:sldChg>
      <pc:sldChg chg="modSp mod">
        <pc:chgData name="Yang Zhou" userId="419b049e5439fd68" providerId="LiveId" clId="{582C9C0F-B2B7-45F8-974D-D3FB03A92FFE}" dt="2024-02-25T05:27:31.708" v="361"/>
        <pc:sldMkLst>
          <pc:docMk/>
          <pc:sldMk cId="1183641297" sldId="399"/>
        </pc:sldMkLst>
      </pc:sldChg>
      <pc:sldChg chg="addSp delSp modSp mod">
        <pc:chgData name="Yang Zhou" userId="419b049e5439fd68" providerId="LiveId" clId="{582C9C0F-B2B7-45F8-974D-D3FB03A92FFE}" dt="2024-02-25T05:41:10.743" v="381" actId="14100"/>
        <pc:sldMkLst>
          <pc:docMk/>
          <pc:sldMk cId="3545330335" sldId="409"/>
        </pc:sldMkLst>
      </pc:sldChg>
      <pc:sldChg chg="addSp modSp add mod ord setBg">
        <pc:chgData name="Yang Zhou" userId="419b049e5439fd68" providerId="LiveId" clId="{582C9C0F-B2B7-45F8-974D-D3FB03A92FFE}" dt="2024-02-25T05:17:54.498" v="20"/>
        <pc:sldMkLst>
          <pc:docMk/>
          <pc:sldMk cId="60642079" sldId="410"/>
        </pc:sldMkLst>
      </pc:sldChg>
      <pc:sldChg chg="addSp modSp new del mod">
        <pc:chgData name="Yang Zhou" userId="419b049e5439fd68" providerId="LiveId" clId="{582C9C0F-B2B7-45F8-974D-D3FB03A92FFE}" dt="2024-02-25T05:16:49.458" v="9" actId="2696"/>
        <pc:sldMkLst>
          <pc:docMk/>
          <pc:sldMk cId="2325613607" sldId="41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4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6491"/>
          </a:xfrm>
          <a:prstGeom prst="rect">
            <a:avLst/>
          </a:prstGeom>
        </p:spPr>
        <p:txBody>
          <a:bodyPr vert="horz" lIns="91440" tIns="45720" rIns="91440" bIns="45720" rtlCol="0"/>
          <a:lstStyle>
            <a:lvl1pPr algn="r">
              <a:defRPr sz="1200"/>
            </a:lvl1pPr>
          </a:lstStyle>
          <a:p>
            <a:fld id="{3B25D477-AE64-46E1-9AB5-695E408BAA85}" type="datetimeFigureOut">
              <a:rPr lang="zh-CN" altLang="en-US" smtClean="0"/>
              <a:t>2025/9/11</a:t>
            </a:fld>
            <a:endParaRPr lang="zh-CN" altLang="en-US"/>
          </a:p>
        </p:txBody>
      </p:sp>
      <p:sp>
        <p:nvSpPr>
          <p:cNvPr id="4" name="幻灯片图像占位符 3"/>
          <p:cNvSpPr>
            <a:spLocks noGrp="1" noRot="1" noChangeAspect="1"/>
          </p:cNvSpPr>
          <p:nvPr>
            <p:ph type="sldImg" idx="2"/>
          </p:nvPr>
        </p:nvSpPr>
        <p:spPr>
          <a:xfrm>
            <a:off x="88900" y="744538"/>
            <a:ext cx="6619875" cy="37242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16661"/>
            <a:ext cx="5438140" cy="4468416"/>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31599"/>
            <a:ext cx="2945659" cy="496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1599"/>
            <a:ext cx="2945659" cy="496491"/>
          </a:xfrm>
          <a:prstGeom prst="rect">
            <a:avLst/>
          </a:prstGeom>
        </p:spPr>
        <p:txBody>
          <a:bodyPr vert="horz" lIns="91440" tIns="45720" rIns="91440" bIns="45720" rtlCol="0" anchor="b"/>
          <a:lstStyle>
            <a:lvl1pPr algn="r">
              <a:defRPr sz="1200"/>
            </a:lvl1pPr>
          </a:lstStyle>
          <a:p>
            <a:fld id="{6BA23211-66F3-4E52-BE2E-D8A9E8DA1D06}" type="slidenum">
              <a:rPr lang="zh-CN" altLang="en-US" smtClean="0"/>
              <a:t>‹#›</a:t>
            </a:fld>
            <a:endParaRPr lang="zh-CN" altLang="en-US"/>
          </a:p>
        </p:txBody>
      </p:sp>
    </p:spTree>
    <p:extLst>
      <p:ext uri="{BB962C8B-B14F-4D97-AF65-F5344CB8AC3E}">
        <p14:creationId xmlns:p14="http://schemas.microsoft.com/office/powerpoint/2010/main" val="37050083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noRot="1" noChangeAspect="1" noTextEdit="1"/>
          </p:cNvSpPr>
          <p:nvPr>
            <p:ph type="sldImg"/>
          </p:nvPr>
        </p:nvSpPr>
        <p:spPr bwMode="auto">
          <a:noFill/>
          <a:ln>
            <a:solidFill>
              <a:srgbClr val="000000"/>
            </a:solidFill>
            <a:miter lim="800000"/>
          </a:ln>
        </p:spPr>
      </p:sp>
      <p:sp>
        <p:nvSpPr>
          <p:cNvPr id="8194" name="Rectangle 3"/>
          <p:cNvSpPr>
            <a:spLocks noGrp="1"/>
          </p:cNvSpPr>
          <p:nvPr>
            <p:ph type="body" idx="1"/>
          </p:nvPr>
        </p:nvSpPr>
        <p:spPr bwMode="auto">
          <a:noFill/>
        </p:spPr>
        <p:txBody>
          <a:bodyPr wrap="square" numCol="1" anchor="t" anchorCtr="0" compatLnSpc="1"/>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6BA23211-66F3-4E52-BE2E-D8A9E8DA1D06}" type="slidenum">
              <a:rPr lang="zh-CN" altLang="en-US" smtClean="0"/>
              <a:t>5</a:t>
            </a:fld>
            <a:endParaRPr lang="zh-CN" altLang="en-US"/>
          </a:p>
        </p:txBody>
      </p:sp>
    </p:spTree>
    <p:extLst>
      <p:ext uri="{BB962C8B-B14F-4D97-AF65-F5344CB8AC3E}">
        <p14:creationId xmlns:p14="http://schemas.microsoft.com/office/powerpoint/2010/main" val="3353767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8E01C-4388-5F93-ED92-9A47414078A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48B3BA6-6B90-36AA-FB36-114F2F202F7D}"/>
              </a:ext>
            </a:extLst>
          </p:cNvPr>
          <p:cNvSpPr>
            <a:spLocks noGrp="1" noRot="1" noChangeAspect="1"/>
          </p:cNvSpPr>
          <p:nvPr>
            <p:ph type="sldImg"/>
          </p:nvPr>
        </p:nvSpPr>
        <p:spPr>
          <a:xfrm>
            <a:off x="2514600" y="857250"/>
            <a:ext cx="4114800" cy="2314575"/>
          </a:xfrm>
        </p:spPr>
      </p:sp>
      <p:sp>
        <p:nvSpPr>
          <p:cNvPr id="3" name="备注占位符 2">
            <a:extLst>
              <a:ext uri="{FF2B5EF4-FFF2-40B4-BE49-F238E27FC236}">
                <a16:creationId xmlns:a16="http://schemas.microsoft.com/office/drawing/2014/main" id="{F6BCA74A-B50D-7408-DB1B-D314DB1137C4}"/>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DB84F86B-E543-AFAF-CD53-26E1ED90BA13}"/>
              </a:ext>
            </a:extLst>
          </p:cNvPr>
          <p:cNvSpPr>
            <a:spLocks noGrp="1"/>
          </p:cNvSpPr>
          <p:nvPr>
            <p:ph type="sldNum" sz="quarter" idx="5"/>
          </p:nvPr>
        </p:nvSpPr>
        <p:spPr/>
        <p:txBody>
          <a:bodyPr/>
          <a:lstStyle/>
          <a:p>
            <a:fld id="{4B98AC6D-04A9-3B48-9ECE-46D5916113A0}" type="slidenum">
              <a:rPr kumimoji="1" lang="zh-CN" altLang="en-US" smtClean="0"/>
              <a:t>6</a:t>
            </a:fld>
            <a:endParaRPr kumimoji="1" lang="zh-CN" altLang="en-US"/>
          </a:p>
        </p:txBody>
      </p:sp>
    </p:spTree>
    <p:extLst>
      <p:ext uri="{BB962C8B-B14F-4D97-AF65-F5344CB8AC3E}">
        <p14:creationId xmlns:p14="http://schemas.microsoft.com/office/powerpoint/2010/main" val="8349000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6BA23211-66F3-4E52-BE2E-D8A9E8DA1D06}" type="slidenum">
              <a:rPr lang="zh-CN" altLang="en-US" smtClean="0"/>
              <a:t>7</a:t>
            </a:fld>
            <a:endParaRPr lang="zh-CN" altLang="en-US"/>
          </a:p>
        </p:txBody>
      </p:sp>
    </p:spTree>
    <p:extLst>
      <p:ext uri="{BB962C8B-B14F-4D97-AF65-F5344CB8AC3E}">
        <p14:creationId xmlns:p14="http://schemas.microsoft.com/office/powerpoint/2010/main" val="2156746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6BA23211-66F3-4E52-BE2E-D8A9E8DA1D06}" type="slidenum">
              <a:rPr lang="zh-CN" altLang="en-US" smtClean="0"/>
              <a:t>8</a:t>
            </a:fld>
            <a:endParaRPr lang="zh-CN" altLang="en-US"/>
          </a:p>
        </p:txBody>
      </p:sp>
    </p:spTree>
    <p:extLst>
      <p:ext uri="{BB962C8B-B14F-4D97-AF65-F5344CB8AC3E}">
        <p14:creationId xmlns:p14="http://schemas.microsoft.com/office/powerpoint/2010/main" val="17406051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6BA23211-66F3-4E52-BE2E-D8A9E8DA1D06}" type="slidenum">
              <a:rPr lang="zh-CN" altLang="en-US" smtClean="0"/>
              <a:t>11</a:t>
            </a:fld>
            <a:endParaRPr lang="zh-CN" altLang="en-US"/>
          </a:p>
        </p:txBody>
      </p:sp>
    </p:spTree>
    <p:extLst>
      <p:ext uri="{BB962C8B-B14F-4D97-AF65-F5344CB8AC3E}">
        <p14:creationId xmlns:p14="http://schemas.microsoft.com/office/powerpoint/2010/main" val="14766735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6BA23211-66F3-4E52-BE2E-D8A9E8DA1D06}" type="slidenum">
              <a:rPr lang="zh-CN" altLang="en-US" smtClean="0"/>
              <a:t>16</a:t>
            </a:fld>
            <a:endParaRPr lang="zh-CN" altLang="en-US"/>
          </a:p>
        </p:txBody>
      </p:sp>
    </p:spTree>
    <p:extLst>
      <p:ext uri="{BB962C8B-B14F-4D97-AF65-F5344CB8AC3E}">
        <p14:creationId xmlns:p14="http://schemas.microsoft.com/office/powerpoint/2010/main" val="37209467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BA23211-66F3-4E52-BE2E-D8A9E8DA1D06}" type="slidenum">
              <a:rPr lang="zh-CN" altLang="en-US" smtClean="0"/>
              <a:t>18</a:t>
            </a:fld>
            <a:endParaRPr lang="zh-CN" altLang="en-US"/>
          </a:p>
        </p:txBody>
      </p:sp>
    </p:spTree>
    <p:extLst>
      <p:ext uri="{BB962C8B-B14F-4D97-AF65-F5344CB8AC3E}">
        <p14:creationId xmlns:p14="http://schemas.microsoft.com/office/powerpoint/2010/main" val="23946215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noRot="1" noChangeAspect="1" noTextEdit="1"/>
          </p:cNvSpPr>
          <p:nvPr>
            <p:ph type="sldImg"/>
          </p:nvPr>
        </p:nvSpPr>
        <p:spPr bwMode="auto">
          <a:noFill/>
          <a:ln>
            <a:solidFill>
              <a:srgbClr val="000000"/>
            </a:solidFill>
            <a:miter lim="800000"/>
          </a:ln>
        </p:spPr>
      </p:sp>
      <p:sp>
        <p:nvSpPr>
          <p:cNvPr id="8194" name="Rectangle 3"/>
          <p:cNvSpPr>
            <a:spLocks noGrp="1"/>
          </p:cNvSpPr>
          <p:nvPr>
            <p:ph type="body" idx="1"/>
          </p:nvPr>
        </p:nvSpPr>
        <p:spPr bwMode="auto">
          <a:noFill/>
        </p:spPr>
        <p:txBody>
          <a:bodyPr wrap="square" numCol="1" anchor="t" anchorCtr="0" compatLnSpc="1"/>
          <a:lstStyle/>
          <a:p>
            <a:endParaRPr lang="zh-CN" altLang="en-US" dirty="0"/>
          </a:p>
        </p:txBody>
      </p:sp>
    </p:spTree>
    <p:extLst>
      <p:ext uri="{BB962C8B-B14F-4D97-AF65-F5344CB8AC3E}">
        <p14:creationId xmlns:p14="http://schemas.microsoft.com/office/powerpoint/2010/main" val="1597590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6BA23211-66F3-4E52-BE2E-D8A9E8DA1D06}" type="slidenum">
              <a:rPr lang="zh-CN" altLang="en-US" smtClean="0"/>
              <a:t>33</a:t>
            </a:fld>
            <a:endParaRPr lang="zh-CN" altLang="en-US"/>
          </a:p>
        </p:txBody>
      </p:sp>
    </p:spTree>
    <p:extLst>
      <p:ext uri="{BB962C8B-B14F-4D97-AF65-F5344CB8AC3E}">
        <p14:creationId xmlns:p14="http://schemas.microsoft.com/office/powerpoint/2010/main" val="1660506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6BA23211-66F3-4E52-BE2E-D8A9E8DA1D06}" type="slidenum">
              <a:rPr lang="zh-CN" altLang="en-US" smtClean="0"/>
              <a:t>34</a:t>
            </a:fld>
            <a:endParaRPr lang="zh-CN" altLang="en-US"/>
          </a:p>
        </p:txBody>
      </p:sp>
    </p:spTree>
    <p:extLst>
      <p:ext uri="{BB962C8B-B14F-4D97-AF65-F5344CB8AC3E}">
        <p14:creationId xmlns:p14="http://schemas.microsoft.com/office/powerpoint/2010/main" val="3866949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6BA23211-66F3-4E52-BE2E-D8A9E8DA1D06}" type="slidenum">
              <a:rPr lang="zh-CN" altLang="en-US" smtClean="0"/>
              <a:t>35</a:t>
            </a:fld>
            <a:endParaRPr lang="zh-CN" altLang="en-US"/>
          </a:p>
        </p:txBody>
      </p:sp>
    </p:spTree>
    <p:extLst>
      <p:ext uri="{BB962C8B-B14F-4D97-AF65-F5344CB8AC3E}">
        <p14:creationId xmlns:p14="http://schemas.microsoft.com/office/powerpoint/2010/main" val="24851904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4" name="Picture 4"/>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8907"/>
            <a:ext cx="9141222" cy="5140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8035949"/>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a:xfrm>
          <a:off x="0" y="0"/>
          <a:ext cx="0" cy="0"/>
          <a:chOff x="0" y="0"/>
          <a:chExt cx="0" cy="0"/>
        </a:xfrm>
      </p:grpSpPr>
      <p:sp>
        <p:nvSpPr>
          <p:cNvPr id="10" name="矩形 9"/>
          <p:cNvSpPr/>
          <p:nvPr userDrawn="1"/>
        </p:nvSpPr>
        <p:spPr>
          <a:xfrm>
            <a:off x="0" y="92849"/>
            <a:ext cx="292550" cy="504265"/>
          </a:xfrm>
          <a:prstGeom prst="rect">
            <a:avLst/>
          </a:prstGeom>
          <a:solidFill>
            <a:srgbClr val="58BC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3" name="直接连接符 8"/>
          <p:cNvCxnSpPr/>
          <p:nvPr userDrawn="1"/>
        </p:nvCxnSpPr>
        <p:spPr>
          <a:xfrm>
            <a:off x="528945" y="658170"/>
            <a:ext cx="8446219"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336265" y="92848"/>
            <a:ext cx="107605" cy="504265"/>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extLst>
      <p:ext uri="{BB962C8B-B14F-4D97-AF65-F5344CB8AC3E}">
        <p14:creationId xmlns:p14="http://schemas.microsoft.com/office/powerpoint/2010/main" val="254790481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AFAFA"/>
            </a:gs>
            <a:gs pos="50000">
              <a:srgbClr val="FBFBFB"/>
            </a:gs>
            <a:gs pos="100000">
              <a:srgbClr val="FCFCFC"/>
            </a:gs>
          </a:gsLst>
          <a:lin ang="5400000"/>
        </a:gradFill>
        <a:effectLst/>
      </p:bgPr>
    </p:bg>
    <p:spTree>
      <p:nvGrpSpPr>
        <p:cNvPr id="1" name=""/>
        <p:cNvGrpSpPr/>
        <p:nvPr/>
      </p:nvGrpSpPr>
      <p:grpSpPr>
        <a:xfrm>
          <a:off x="0" y="0"/>
          <a:ext cx="0" cy="0"/>
          <a:chOff x="0" y="0"/>
          <a:chExt cx="0" cy="0"/>
        </a:xfrm>
      </p:grpSpPr>
      <p:pic>
        <p:nvPicPr>
          <p:cNvPr id="2" name="Picture 4"/>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907"/>
            <a:ext cx="9141222" cy="5140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2282216"/>
      </p:ext>
    </p:extLst>
  </p:cSld>
  <p:clrMap bg1="lt1" tx1="dk1" bg2="lt2" tx2="dk2" accent1="accent1" accent2="accent2" accent3="accent3" accent4="accent4" accent5="accent5" accent6="accent6" hlink="hlink" folHlink="folHlink"/>
  <p:sldLayoutIdLst>
    <p:sldLayoutId id="2147483671" r:id="rId1"/>
    <p:sldLayoutId id="2147483672" r:id="rId2"/>
  </p:sldLayoutIdLst>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hf hdr="0" ftr="0" dt="0"/>
  <p:txStyles>
    <p:titleStyle>
      <a:lvl1pPr algn="ctr" rtl="0" eaLnBrk="0" fontAlgn="base" hangingPunct="0">
        <a:spcBef>
          <a:spcPct val="0"/>
        </a:spcBef>
        <a:spcAft>
          <a:spcPct val="0"/>
        </a:spcAft>
        <a:defRPr sz="3300" kern="1200">
          <a:solidFill>
            <a:schemeClr val="tx1"/>
          </a:solidFill>
          <a:latin typeface="Arial" charset="0"/>
          <a:ea typeface="+mj-ea"/>
          <a:cs typeface="+mj-cs"/>
        </a:defRPr>
      </a:lvl1pPr>
      <a:lvl2pPr algn="ctr" rtl="0" eaLnBrk="0" fontAlgn="base" hangingPunct="0">
        <a:spcBef>
          <a:spcPct val="0"/>
        </a:spcBef>
        <a:spcAft>
          <a:spcPct val="0"/>
        </a:spcAft>
        <a:defRPr sz="3300">
          <a:solidFill>
            <a:schemeClr val="tx1"/>
          </a:solidFill>
          <a:latin typeface="Arial" charset="0"/>
          <a:ea typeface="宋体" charset="-122"/>
        </a:defRPr>
      </a:lvl2pPr>
      <a:lvl3pPr algn="ctr" rtl="0" eaLnBrk="0" fontAlgn="base" hangingPunct="0">
        <a:spcBef>
          <a:spcPct val="0"/>
        </a:spcBef>
        <a:spcAft>
          <a:spcPct val="0"/>
        </a:spcAft>
        <a:defRPr sz="3300">
          <a:solidFill>
            <a:schemeClr val="tx1"/>
          </a:solidFill>
          <a:latin typeface="Arial" charset="0"/>
          <a:ea typeface="宋体" charset="-122"/>
        </a:defRPr>
      </a:lvl3pPr>
      <a:lvl4pPr algn="ctr" rtl="0" eaLnBrk="0" fontAlgn="base" hangingPunct="0">
        <a:spcBef>
          <a:spcPct val="0"/>
        </a:spcBef>
        <a:spcAft>
          <a:spcPct val="0"/>
        </a:spcAft>
        <a:defRPr sz="3300">
          <a:solidFill>
            <a:schemeClr val="tx1"/>
          </a:solidFill>
          <a:latin typeface="Arial" charset="0"/>
          <a:ea typeface="宋体" charset="-122"/>
        </a:defRPr>
      </a:lvl4pPr>
      <a:lvl5pPr algn="ctr" rtl="0" eaLnBrk="0" fontAlgn="base" hangingPunct="0">
        <a:spcBef>
          <a:spcPct val="0"/>
        </a:spcBef>
        <a:spcAft>
          <a:spcPct val="0"/>
        </a:spcAft>
        <a:defRPr sz="3300">
          <a:solidFill>
            <a:schemeClr val="tx1"/>
          </a:solidFill>
          <a:latin typeface="Arial" charset="0"/>
          <a:ea typeface="宋体" charset="-122"/>
        </a:defRPr>
      </a:lvl5pPr>
      <a:lvl6pPr marL="342900" algn="ctr" rtl="0" fontAlgn="base">
        <a:spcBef>
          <a:spcPct val="0"/>
        </a:spcBef>
        <a:spcAft>
          <a:spcPct val="0"/>
        </a:spcAft>
        <a:defRPr sz="3300">
          <a:solidFill>
            <a:schemeClr val="tx1"/>
          </a:solidFill>
          <a:latin typeface="Calibri" pitchFamily="34" charset="0"/>
          <a:ea typeface="宋体" charset="-122"/>
        </a:defRPr>
      </a:lvl6pPr>
      <a:lvl7pPr marL="685800" algn="ctr" rtl="0" fontAlgn="base">
        <a:spcBef>
          <a:spcPct val="0"/>
        </a:spcBef>
        <a:spcAft>
          <a:spcPct val="0"/>
        </a:spcAft>
        <a:defRPr sz="3300">
          <a:solidFill>
            <a:schemeClr val="tx1"/>
          </a:solidFill>
          <a:latin typeface="Calibri" pitchFamily="34" charset="0"/>
          <a:ea typeface="宋体" charset="-122"/>
        </a:defRPr>
      </a:lvl7pPr>
      <a:lvl8pPr marL="1028700" algn="ctr" rtl="0" fontAlgn="base">
        <a:spcBef>
          <a:spcPct val="0"/>
        </a:spcBef>
        <a:spcAft>
          <a:spcPct val="0"/>
        </a:spcAft>
        <a:defRPr sz="3300">
          <a:solidFill>
            <a:schemeClr val="tx1"/>
          </a:solidFill>
          <a:latin typeface="Calibri" pitchFamily="34" charset="0"/>
          <a:ea typeface="宋体" charset="-122"/>
        </a:defRPr>
      </a:lvl8pPr>
      <a:lvl9pPr marL="1371600" algn="ctr" rtl="0" fontAlgn="base">
        <a:spcBef>
          <a:spcPct val="0"/>
        </a:spcBef>
        <a:spcAft>
          <a:spcPct val="0"/>
        </a:spcAft>
        <a:defRPr sz="3300">
          <a:solidFill>
            <a:schemeClr val="tx1"/>
          </a:solidFill>
          <a:latin typeface="Calibri" pitchFamily="34" charset="0"/>
          <a:ea typeface="宋体" charset="-122"/>
        </a:defRPr>
      </a:lvl9pPr>
    </p:titleStyle>
    <p:bodyStyle>
      <a:lvl1pPr marL="257175" indent="-257175"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1pPr>
      <a:lvl2pPr marL="557213" indent="-214313" algn="l" rtl="0" eaLnBrk="0" fontAlgn="base" hangingPunct="0">
        <a:spcBef>
          <a:spcPct val="20000"/>
        </a:spcBef>
        <a:spcAft>
          <a:spcPct val="0"/>
        </a:spcAft>
        <a:buFont typeface="Arial" charset="0"/>
        <a:buChar char="–"/>
        <a:defRPr sz="2100" kern="1200">
          <a:solidFill>
            <a:schemeClr val="tx1"/>
          </a:solidFill>
          <a:latin typeface="Arial" charset="0"/>
          <a:ea typeface="+mn-ea"/>
          <a:cs typeface="+mn-cs"/>
        </a:defRPr>
      </a:lvl2pPr>
      <a:lvl3pPr marL="857250" indent="-171450" algn="l" rtl="0" eaLnBrk="0" fontAlgn="base" hangingPunct="0">
        <a:spcBef>
          <a:spcPct val="20000"/>
        </a:spcBef>
        <a:spcAft>
          <a:spcPct val="0"/>
        </a:spcAft>
        <a:buFont typeface="Arial" charset="0"/>
        <a:buChar char="•"/>
        <a:defRPr sz="1800" kern="1200">
          <a:solidFill>
            <a:schemeClr val="tx1"/>
          </a:solidFill>
          <a:latin typeface="Arial" charset="0"/>
          <a:ea typeface="+mn-ea"/>
          <a:cs typeface="+mn-cs"/>
        </a:defRPr>
      </a:lvl3pPr>
      <a:lvl4pPr marL="12001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4pPr>
      <a:lvl5pPr marL="15430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www.icourse163.org/course/0702JNU098-1471431162?outVendor=zw_mooc_pclszykctj_" TargetMode="Externa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image" Target="../media/image25.png"/><Relationship Id="rId7" Type="http://schemas.openxmlformats.org/officeDocument/2006/relationships/oleObject" Target="../embeddings/oleObject2.bin"/><Relationship Id="rId2"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wmf"/><Relationship Id="rId10" Type="http://schemas.openxmlformats.org/officeDocument/2006/relationships/image" Target="../media/image29.wmf"/><Relationship Id="rId4" Type="http://schemas.openxmlformats.org/officeDocument/2006/relationships/oleObject" Target="../embeddings/oleObject1.bin"/><Relationship Id="rId9" Type="http://schemas.openxmlformats.org/officeDocument/2006/relationships/oleObject" Target="../embeddings/oleObject3.bin"/></Relationships>
</file>

<file path=ppt/slides/_rels/slide28.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4.bin"/><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5.wmf"/><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oleObject" Target="../embeddings/oleObject6.bin"/><Relationship Id="rId5" Type="http://schemas.openxmlformats.org/officeDocument/2006/relationships/image" Target="../media/image34.wmf"/><Relationship Id="rId4" Type="http://schemas.openxmlformats.org/officeDocument/2006/relationships/oleObject" Target="../embeddings/oleObject5.bin"/></Relationships>
</file>

<file path=ppt/slides/_rels/slide34.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7.wmf"/><Relationship Id="rId5" Type="http://schemas.openxmlformats.org/officeDocument/2006/relationships/oleObject" Target="../embeddings/oleObject8.bin"/><Relationship Id="rId10" Type="http://schemas.openxmlformats.org/officeDocument/2006/relationships/image" Target="../media/image39.emf"/><Relationship Id="rId4" Type="http://schemas.openxmlformats.org/officeDocument/2006/relationships/image" Target="../media/image36.wmf"/><Relationship Id="rId9" Type="http://schemas.openxmlformats.org/officeDocument/2006/relationships/oleObject" Target="../embeddings/oleObject10.bin"/></Relationships>
</file>

<file path=ppt/slides/_rels/slide35.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1.wmf"/><Relationship Id="rId5" Type="http://schemas.openxmlformats.org/officeDocument/2006/relationships/oleObject" Target="../embeddings/oleObject12.bin"/><Relationship Id="rId4" Type="http://schemas.openxmlformats.org/officeDocument/2006/relationships/image" Target="../media/image40.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0" y="2695576"/>
            <a:ext cx="9144000" cy="2447924"/>
          </a:xfrm>
          <a:prstGeom prst="rect">
            <a:avLst/>
          </a:prstGeom>
          <a:solidFill>
            <a:srgbClr val="005A9E"/>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sp>
        <p:nvSpPr>
          <p:cNvPr id="38" name="TextBox 37"/>
          <p:cNvSpPr txBox="1"/>
          <p:nvPr/>
        </p:nvSpPr>
        <p:spPr>
          <a:xfrm>
            <a:off x="0" y="2658998"/>
            <a:ext cx="9144000" cy="707886"/>
          </a:xfrm>
          <a:prstGeom prst="rect">
            <a:avLst/>
          </a:prstGeom>
          <a:noFill/>
        </p:spPr>
        <p:txBody>
          <a:bodyPr wrap="square" rtlCol="0">
            <a:spAutoFit/>
          </a:bodyPr>
          <a:lstStyle/>
          <a:p>
            <a:pPr algn="ctr"/>
            <a:r>
              <a:rPr lang="en-US" altLang="zh-CN" sz="4000" b="1" dirty="0">
                <a:solidFill>
                  <a:prstClr val="white"/>
                </a:solidFill>
                <a:cs typeface="+mn-ea"/>
                <a:sym typeface="+mn-lt"/>
              </a:rPr>
              <a:t>Introduction to Physics Experiments</a:t>
            </a:r>
            <a:endParaRPr lang="zh-CN" altLang="en-US" sz="4000" b="1" dirty="0">
              <a:solidFill>
                <a:prstClr val="white"/>
              </a:solidFill>
              <a:cs typeface="+mn-ea"/>
              <a:sym typeface="+mn-lt"/>
            </a:endParaRPr>
          </a:p>
        </p:txBody>
      </p:sp>
      <p:sp>
        <p:nvSpPr>
          <p:cNvPr id="39" name="TextBox 38"/>
          <p:cNvSpPr txBox="1"/>
          <p:nvPr/>
        </p:nvSpPr>
        <p:spPr>
          <a:xfrm>
            <a:off x="546180" y="132080"/>
            <a:ext cx="1884045" cy="400110"/>
          </a:xfrm>
          <a:prstGeom prst="rect">
            <a:avLst/>
          </a:prstGeom>
          <a:noFill/>
        </p:spPr>
        <p:txBody>
          <a:bodyPr wrap="square" rtlCol="0">
            <a:spAutoFit/>
          </a:bodyPr>
          <a:lstStyle/>
          <a:p>
            <a:r>
              <a:rPr lang="zh-CN" altLang="en-US" sz="2000" b="1" dirty="0">
                <a:solidFill>
                  <a:srgbClr val="005A9E"/>
                </a:solidFill>
                <a:cs typeface="+mn-ea"/>
                <a:sym typeface="+mn-lt"/>
              </a:rPr>
              <a:t> </a:t>
            </a:r>
            <a:endParaRPr lang="zh-CN" altLang="zh-CN" sz="2000" b="1" dirty="0">
              <a:solidFill>
                <a:srgbClr val="005A9E"/>
              </a:solidFill>
              <a:cs typeface="+mn-ea"/>
              <a:sym typeface="+mn-lt"/>
            </a:endParaRPr>
          </a:p>
        </p:txBody>
      </p:sp>
      <p:sp>
        <p:nvSpPr>
          <p:cNvPr id="40" name="流程图: 摘录 39"/>
          <p:cNvSpPr/>
          <p:nvPr/>
        </p:nvSpPr>
        <p:spPr>
          <a:xfrm rot="5400000">
            <a:off x="96180" y="129634"/>
            <a:ext cx="379141" cy="376987"/>
          </a:xfrm>
          <a:prstGeom prst="flowChartExtract">
            <a:avLst/>
          </a:prstGeom>
          <a:solidFill>
            <a:schemeClr val="bg1">
              <a:lumMod val="65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5A9E"/>
              </a:solidFill>
              <a:effectLst/>
              <a:uLnTx/>
              <a:uFillTx/>
              <a:cs typeface="+mn-ea"/>
              <a:sym typeface="+mn-lt"/>
            </a:endParaRPr>
          </a:p>
        </p:txBody>
      </p:sp>
      <p:sp>
        <p:nvSpPr>
          <p:cNvPr id="42" name="圆角矩形 41"/>
          <p:cNvSpPr/>
          <p:nvPr/>
        </p:nvSpPr>
        <p:spPr>
          <a:xfrm>
            <a:off x="3203848" y="3604627"/>
            <a:ext cx="3600400"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43" name="矩形 42"/>
          <p:cNvSpPr/>
          <p:nvPr/>
        </p:nvSpPr>
        <p:spPr>
          <a:xfrm>
            <a:off x="3538269" y="3628690"/>
            <a:ext cx="2931572" cy="523220"/>
          </a:xfrm>
          <a:prstGeom prst="rect">
            <a:avLst/>
          </a:prstGeom>
        </p:spPr>
        <p:txBody>
          <a:bodyPr wrap="none">
            <a:spAutoFit/>
          </a:bodyPr>
          <a:lstStyle/>
          <a:p>
            <a:pPr algn="ctr"/>
            <a:r>
              <a:rPr lang="en-US" altLang="zh-CN" sz="2800" b="1" dirty="0">
                <a:solidFill>
                  <a:srgbClr val="005A9E"/>
                </a:solidFill>
                <a:cs typeface="+mn-ea"/>
                <a:sym typeface="+mn-lt"/>
              </a:rPr>
              <a:t>Zhou Yang </a:t>
            </a:r>
            <a:r>
              <a:rPr lang="zh-CN" altLang="en-US" sz="2800" b="1" dirty="0">
                <a:solidFill>
                  <a:srgbClr val="005A9E"/>
                </a:solidFill>
                <a:cs typeface="+mn-ea"/>
                <a:sym typeface="+mn-lt"/>
              </a:rPr>
              <a:t>周洋 </a:t>
            </a:r>
            <a:endParaRPr lang="zh-CN" altLang="zh-CN" sz="2800" b="1" dirty="0">
              <a:solidFill>
                <a:srgbClr val="005A9E"/>
              </a:solidFill>
              <a:cs typeface="+mn-ea"/>
              <a:sym typeface="+mn-lt"/>
            </a:endParaRPr>
          </a:p>
        </p:txBody>
      </p:sp>
      <p:grpSp>
        <p:nvGrpSpPr>
          <p:cNvPr id="2" name="组合 1"/>
          <p:cNvGrpSpPr/>
          <p:nvPr/>
        </p:nvGrpSpPr>
        <p:grpSpPr>
          <a:xfrm>
            <a:off x="1306673" y="750699"/>
            <a:ext cx="1571498" cy="1571498"/>
            <a:chOff x="1306673" y="750699"/>
            <a:chExt cx="1571498" cy="1571498"/>
          </a:xfrm>
        </p:grpSpPr>
        <p:grpSp>
          <p:nvGrpSpPr>
            <p:cNvPr id="57" name="组合 56"/>
            <p:cNvGrpSpPr/>
            <p:nvPr/>
          </p:nvGrpSpPr>
          <p:grpSpPr>
            <a:xfrm>
              <a:off x="1306673" y="750699"/>
              <a:ext cx="1571498" cy="1571498"/>
              <a:chOff x="1200760" y="3842074"/>
              <a:chExt cx="1784148" cy="1784148"/>
            </a:xfrm>
          </p:grpSpPr>
          <p:sp>
            <p:nvSpPr>
              <p:cNvPr id="58" name="椭圆 57"/>
              <p:cNvSpPr/>
              <p:nvPr/>
            </p:nvSpPr>
            <p:spPr>
              <a:xfrm>
                <a:off x="1200760" y="3842074"/>
                <a:ext cx="1784148" cy="1784148"/>
              </a:xfrm>
              <a:prstGeom prst="ellipse">
                <a:avLst/>
              </a:prstGeom>
              <a:gradFill flip="none" rotWithShape="1">
                <a:gsLst>
                  <a:gs pos="0">
                    <a:srgbClr val="CBCBCB"/>
                  </a:gs>
                  <a:gs pos="100000">
                    <a:srgbClr val="F3F3F3"/>
                  </a:gs>
                </a:gsLst>
                <a:lin ang="2700000" scaled="1"/>
                <a:tileRect/>
              </a:gradFill>
              <a:ln w="31750" cap="flat" cmpd="sng" algn="ctr">
                <a:gradFill flip="none" rotWithShape="1">
                  <a:gsLst>
                    <a:gs pos="0">
                      <a:sysClr val="window" lastClr="FFFFFF"/>
                    </a:gs>
                    <a:gs pos="100000">
                      <a:srgbClr val="CBCBCB"/>
                    </a:gs>
                  </a:gsLst>
                  <a:lin ang="2700000" scaled="1"/>
                  <a:tileRect/>
                </a:gradFill>
                <a:prstDash val="solid"/>
              </a:ln>
              <a:effectLst>
                <a:outerShdw blurRad="127000" dist="762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cs typeface="+mn-ea"/>
                  <a:sym typeface="+mn-lt"/>
                </a:endParaRPr>
              </a:p>
            </p:txBody>
          </p:sp>
          <p:sp>
            <p:nvSpPr>
              <p:cNvPr id="77" name="椭圆 76"/>
              <p:cNvSpPr/>
              <p:nvPr/>
            </p:nvSpPr>
            <p:spPr>
              <a:xfrm>
                <a:off x="1475770" y="4117085"/>
                <a:ext cx="1234127" cy="1234127"/>
              </a:xfrm>
              <a:prstGeom prst="ellipse">
                <a:avLst/>
              </a:prstGeom>
              <a:solidFill>
                <a:srgbClr val="005A9E"/>
              </a:solidFill>
              <a:ln w="25400" cap="flat" cmpd="sng" algn="ctr">
                <a:noFill/>
                <a:prstDash val="solid"/>
              </a:ln>
              <a:effectLst>
                <a:innerShdw blurRad="101600" dist="50800" dir="13500000">
                  <a:prstClr val="black">
                    <a:alpha val="50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cs typeface="+mn-ea"/>
                  <a:sym typeface="+mn-lt"/>
                </a:endParaRPr>
              </a:p>
            </p:txBody>
          </p:sp>
        </p:grpSp>
        <p:sp>
          <p:nvSpPr>
            <p:cNvPr id="87" name="TextBox 86"/>
            <p:cNvSpPr txBox="1"/>
            <p:nvPr/>
          </p:nvSpPr>
          <p:spPr>
            <a:xfrm>
              <a:off x="1741020" y="906421"/>
              <a:ext cx="733283" cy="132343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8000" b="1" i="0" u="none" strike="noStrike" kern="0" cap="none" spc="0" normalizeH="0" baseline="0" noProof="0" dirty="0">
                  <a:ln>
                    <a:noFill/>
                  </a:ln>
                  <a:solidFill>
                    <a:sysClr val="window" lastClr="FFFFFF"/>
                  </a:solidFill>
                  <a:effectLst/>
                  <a:uLnTx/>
                  <a:uFillTx/>
                  <a:cs typeface="+mn-ea"/>
                  <a:sym typeface="+mn-lt"/>
                </a:rPr>
                <a:t>2</a:t>
              </a:r>
            </a:p>
          </p:txBody>
        </p:sp>
      </p:grpSp>
      <p:grpSp>
        <p:nvGrpSpPr>
          <p:cNvPr id="3" name="组合 2"/>
          <p:cNvGrpSpPr/>
          <p:nvPr/>
        </p:nvGrpSpPr>
        <p:grpSpPr>
          <a:xfrm>
            <a:off x="2881706" y="750699"/>
            <a:ext cx="1571498" cy="1571498"/>
            <a:chOff x="2881706" y="750699"/>
            <a:chExt cx="1571498" cy="1571498"/>
          </a:xfrm>
        </p:grpSpPr>
        <p:grpSp>
          <p:nvGrpSpPr>
            <p:cNvPr id="78" name="组合 77"/>
            <p:cNvGrpSpPr/>
            <p:nvPr/>
          </p:nvGrpSpPr>
          <p:grpSpPr>
            <a:xfrm>
              <a:off x="2881706" y="750699"/>
              <a:ext cx="1571498" cy="1571498"/>
              <a:chOff x="1200760" y="3842074"/>
              <a:chExt cx="1784148" cy="1784148"/>
            </a:xfrm>
          </p:grpSpPr>
          <p:sp>
            <p:nvSpPr>
              <p:cNvPr id="79" name="椭圆 78"/>
              <p:cNvSpPr/>
              <p:nvPr/>
            </p:nvSpPr>
            <p:spPr>
              <a:xfrm>
                <a:off x="1200760" y="3842074"/>
                <a:ext cx="1784148" cy="1784148"/>
              </a:xfrm>
              <a:prstGeom prst="ellipse">
                <a:avLst/>
              </a:prstGeom>
              <a:gradFill flip="none" rotWithShape="1">
                <a:gsLst>
                  <a:gs pos="0">
                    <a:srgbClr val="CBCBCB"/>
                  </a:gs>
                  <a:gs pos="100000">
                    <a:srgbClr val="F3F3F3"/>
                  </a:gs>
                </a:gsLst>
                <a:lin ang="2700000" scaled="1"/>
                <a:tileRect/>
              </a:gradFill>
              <a:ln w="31750" cap="flat" cmpd="sng" algn="ctr">
                <a:gradFill flip="none" rotWithShape="1">
                  <a:gsLst>
                    <a:gs pos="0">
                      <a:sysClr val="window" lastClr="FFFFFF"/>
                    </a:gs>
                    <a:gs pos="100000">
                      <a:srgbClr val="CBCBCB"/>
                    </a:gs>
                  </a:gsLst>
                  <a:lin ang="2700000" scaled="1"/>
                  <a:tileRect/>
                </a:gradFill>
                <a:prstDash val="solid"/>
              </a:ln>
              <a:effectLst>
                <a:outerShdw blurRad="127000" dist="762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cs typeface="+mn-ea"/>
                  <a:sym typeface="+mn-lt"/>
                </a:endParaRPr>
              </a:p>
            </p:txBody>
          </p:sp>
          <p:sp>
            <p:nvSpPr>
              <p:cNvPr id="80" name="椭圆 79"/>
              <p:cNvSpPr/>
              <p:nvPr/>
            </p:nvSpPr>
            <p:spPr>
              <a:xfrm>
                <a:off x="1475770" y="4117085"/>
                <a:ext cx="1234127" cy="1234127"/>
              </a:xfrm>
              <a:prstGeom prst="ellipse">
                <a:avLst/>
              </a:prstGeom>
              <a:solidFill>
                <a:sysClr val="window" lastClr="FFFFFF">
                  <a:lumMod val="75000"/>
                </a:sysClr>
              </a:solidFill>
              <a:ln w="25400" cap="flat" cmpd="sng" algn="ctr">
                <a:noFill/>
                <a:prstDash val="solid"/>
              </a:ln>
              <a:effectLst>
                <a:innerShdw blurRad="101600" dist="50800" dir="13500000">
                  <a:prstClr val="black">
                    <a:alpha val="50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cs typeface="+mn-ea"/>
                  <a:sym typeface="+mn-lt"/>
                </a:endParaRPr>
              </a:p>
            </p:txBody>
          </p:sp>
        </p:grpSp>
        <p:sp>
          <p:nvSpPr>
            <p:cNvPr id="88" name="TextBox 87"/>
            <p:cNvSpPr txBox="1"/>
            <p:nvPr/>
          </p:nvSpPr>
          <p:spPr>
            <a:xfrm>
              <a:off x="3408824" y="910373"/>
              <a:ext cx="525559" cy="1323439"/>
            </a:xfrm>
            <a:prstGeom prst="rect">
              <a:avLst/>
            </a:prstGeom>
            <a:noFill/>
          </p:spPr>
          <p:txBody>
            <a:bodyPr wrap="square" rtlCol="0">
              <a:spAutoFit/>
            </a:bodyPr>
            <a:lstStyle/>
            <a:p>
              <a:pPr algn="ctr"/>
              <a:r>
                <a:rPr lang="en-US" altLang="zh-CN" sz="8000" b="1" dirty="0">
                  <a:solidFill>
                    <a:srgbClr val="005A9E"/>
                  </a:solidFill>
                  <a:cs typeface="+mn-ea"/>
                  <a:sym typeface="+mn-lt"/>
                </a:rPr>
                <a:t>0</a:t>
              </a:r>
            </a:p>
          </p:txBody>
        </p:sp>
      </p:grpSp>
      <p:grpSp>
        <p:nvGrpSpPr>
          <p:cNvPr id="4" name="组合 3"/>
          <p:cNvGrpSpPr/>
          <p:nvPr/>
        </p:nvGrpSpPr>
        <p:grpSpPr>
          <a:xfrm>
            <a:off x="4490117" y="750699"/>
            <a:ext cx="1571498" cy="1571498"/>
            <a:chOff x="4490117" y="750699"/>
            <a:chExt cx="1571498" cy="1571498"/>
          </a:xfrm>
        </p:grpSpPr>
        <p:grpSp>
          <p:nvGrpSpPr>
            <p:cNvPr id="81" name="组合 80"/>
            <p:cNvGrpSpPr/>
            <p:nvPr/>
          </p:nvGrpSpPr>
          <p:grpSpPr>
            <a:xfrm>
              <a:off x="4490117" y="750699"/>
              <a:ext cx="1571498" cy="1571498"/>
              <a:chOff x="1200760" y="3842074"/>
              <a:chExt cx="1784148" cy="1784148"/>
            </a:xfrm>
          </p:grpSpPr>
          <p:sp>
            <p:nvSpPr>
              <p:cNvPr id="82" name="椭圆 81"/>
              <p:cNvSpPr/>
              <p:nvPr/>
            </p:nvSpPr>
            <p:spPr>
              <a:xfrm>
                <a:off x="1200760" y="3842074"/>
                <a:ext cx="1784148" cy="1784148"/>
              </a:xfrm>
              <a:prstGeom prst="ellipse">
                <a:avLst/>
              </a:prstGeom>
              <a:gradFill flip="none" rotWithShape="1">
                <a:gsLst>
                  <a:gs pos="0">
                    <a:srgbClr val="CBCBCB"/>
                  </a:gs>
                  <a:gs pos="100000">
                    <a:srgbClr val="F3F3F3"/>
                  </a:gs>
                </a:gsLst>
                <a:lin ang="2700000" scaled="1"/>
                <a:tileRect/>
              </a:gradFill>
              <a:ln w="31750" cap="flat" cmpd="sng" algn="ctr">
                <a:gradFill flip="none" rotWithShape="1">
                  <a:gsLst>
                    <a:gs pos="0">
                      <a:sysClr val="window" lastClr="FFFFFF"/>
                    </a:gs>
                    <a:gs pos="100000">
                      <a:srgbClr val="CBCBCB"/>
                    </a:gs>
                  </a:gsLst>
                  <a:lin ang="2700000" scaled="1"/>
                  <a:tileRect/>
                </a:gradFill>
                <a:prstDash val="solid"/>
              </a:ln>
              <a:effectLst>
                <a:outerShdw blurRad="127000" dist="762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cs typeface="+mn-ea"/>
                  <a:sym typeface="+mn-lt"/>
                </a:endParaRPr>
              </a:p>
            </p:txBody>
          </p:sp>
          <p:sp>
            <p:nvSpPr>
              <p:cNvPr id="83" name="椭圆 82"/>
              <p:cNvSpPr/>
              <p:nvPr/>
            </p:nvSpPr>
            <p:spPr>
              <a:xfrm>
                <a:off x="1475770" y="4117085"/>
                <a:ext cx="1234127" cy="1234127"/>
              </a:xfrm>
              <a:prstGeom prst="ellipse">
                <a:avLst/>
              </a:prstGeom>
              <a:solidFill>
                <a:srgbClr val="005A9E"/>
              </a:solidFill>
              <a:ln w="25400" cap="flat" cmpd="sng" algn="ctr">
                <a:noFill/>
                <a:prstDash val="solid"/>
              </a:ln>
              <a:effectLst>
                <a:innerShdw blurRad="101600" dist="50800" dir="13500000">
                  <a:prstClr val="black">
                    <a:alpha val="50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cs typeface="+mn-ea"/>
                  <a:sym typeface="+mn-lt"/>
                </a:endParaRPr>
              </a:p>
            </p:txBody>
          </p:sp>
        </p:grpSp>
        <p:sp>
          <p:nvSpPr>
            <p:cNvPr id="89" name="TextBox 88"/>
            <p:cNvSpPr txBox="1"/>
            <p:nvPr/>
          </p:nvSpPr>
          <p:spPr>
            <a:xfrm>
              <a:off x="5028325" y="911215"/>
              <a:ext cx="525559" cy="132343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8000" b="1" i="0" u="none" strike="noStrike" kern="0" cap="none" spc="0" normalizeH="0" baseline="0" noProof="0" dirty="0">
                  <a:ln>
                    <a:noFill/>
                  </a:ln>
                  <a:solidFill>
                    <a:sysClr val="window" lastClr="FFFFFF"/>
                  </a:solidFill>
                  <a:effectLst/>
                  <a:uLnTx/>
                  <a:uFillTx/>
                  <a:cs typeface="+mn-ea"/>
                  <a:sym typeface="+mn-lt"/>
                </a:rPr>
                <a:t>2</a:t>
              </a:r>
            </a:p>
          </p:txBody>
        </p:sp>
      </p:grpSp>
      <p:grpSp>
        <p:nvGrpSpPr>
          <p:cNvPr id="5" name="组合 4"/>
          <p:cNvGrpSpPr/>
          <p:nvPr/>
        </p:nvGrpSpPr>
        <p:grpSpPr>
          <a:xfrm>
            <a:off x="6098528" y="750699"/>
            <a:ext cx="1571498" cy="1571498"/>
            <a:chOff x="6098528" y="750699"/>
            <a:chExt cx="1571498" cy="1571498"/>
          </a:xfrm>
        </p:grpSpPr>
        <p:grpSp>
          <p:nvGrpSpPr>
            <p:cNvPr id="84" name="组合 83"/>
            <p:cNvGrpSpPr/>
            <p:nvPr/>
          </p:nvGrpSpPr>
          <p:grpSpPr>
            <a:xfrm>
              <a:off x="6098528" y="750699"/>
              <a:ext cx="1571498" cy="1571498"/>
              <a:chOff x="1200760" y="3842074"/>
              <a:chExt cx="1784148" cy="1784148"/>
            </a:xfrm>
          </p:grpSpPr>
          <p:sp>
            <p:nvSpPr>
              <p:cNvPr id="85" name="椭圆 84"/>
              <p:cNvSpPr/>
              <p:nvPr/>
            </p:nvSpPr>
            <p:spPr>
              <a:xfrm>
                <a:off x="1200760" y="3842074"/>
                <a:ext cx="1784148" cy="1784148"/>
              </a:xfrm>
              <a:prstGeom prst="ellipse">
                <a:avLst/>
              </a:prstGeom>
              <a:gradFill flip="none" rotWithShape="1">
                <a:gsLst>
                  <a:gs pos="0">
                    <a:srgbClr val="CBCBCB"/>
                  </a:gs>
                  <a:gs pos="100000">
                    <a:srgbClr val="F3F3F3"/>
                  </a:gs>
                </a:gsLst>
                <a:lin ang="2700000" scaled="1"/>
                <a:tileRect/>
              </a:gradFill>
              <a:ln w="31750" cap="flat" cmpd="sng" algn="ctr">
                <a:gradFill flip="none" rotWithShape="1">
                  <a:gsLst>
                    <a:gs pos="0">
                      <a:sysClr val="window" lastClr="FFFFFF"/>
                    </a:gs>
                    <a:gs pos="100000">
                      <a:srgbClr val="CBCBCB"/>
                    </a:gs>
                  </a:gsLst>
                  <a:lin ang="2700000" scaled="1"/>
                  <a:tileRect/>
                </a:gradFill>
                <a:prstDash val="solid"/>
              </a:ln>
              <a:effectLst>
                <a:outerShdw blurRad="127000" dist="762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cs typeface="+mn-ea"/>
                  <a:sym typeface="+mn-lt"/>
                </a:endParaRPr>
              </a:p>
            </p:txBody>
          </p:sp>
          <p:sp>
            <p:nvSpPr>
              <p:cNvPr id="86" name="椭圆 85"/>
              <p:cNvSpPr/>
              <p:nvPr/>
            </p:nvSpPr>
            <p:spPr>
              <a:xfrm>
                <a:off x="1475770" y="4117085"/>
                <a:ext cx="1234127" cy="1234127"/>
              </a:xfrm>
              <a:prstGeom prst="ellipse">
                <a:avLst/>
              </a:prstGeom>
              <a:solidFill>
                <a:sysClr val="window" lastClr="FFFFFF">
                  <a:lumMod val="75000"/>
                </a:sysClr>
              </a:solidFill>
              <a:ln w="25400" cap="flat" cmpd="sng" algn="ctr">
                <a:noFill/>
                <a:prstDash val="solid"/>
              </a:ln>
              <a:effectLst>
                <a:innerShdw blurRad="101600" dist="50800" dir="13500000">
                  <a:prstClr val="black">
                    <a:alpha val="50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cs typeface="+mn-ea"/>
                  <a:sym typeface="+mn-lt"/>
                </a:endParaRPr>
              </a:p>
            </p:txBody>
          </p:sp>
        </p:grpSp>
        <p:sp>
          <p:nvSpPr>
            <p:cNvPr id="90" name="TextBox 89"/>
            <p:cNvSpPr txBox="1"/>
            <p:nvPr/>
          </p:nvSpPr>
          <p:spPr>
            <a:xfrm>
              <a:off x="6608249" y="911215"/>
              <a:ext cx="525559" cy="1323439"/>
            </a:xfrm>
            <a:prstGeom prst="rect">
              <a:avLst/>
            </a:prstGeom>
            <a:noFill/>
          </p:spPr>
          <p:txBody>
            <a:bodyPr wrap="square" rtlCol="0">
              <a:spAutoFit/>
            </a:bodyPr>
            <a:lstStyle/>
            <a:p>
              <a:pPr algn="ctr"/>
              <a:r>
                <a:rPr lang="en-US" altLang="zh-CN" sz="8000" b="1" dirty="0">
                  <a:solidFill>
                    <a:srgbClr val="005A9E"/>
                  </a:solidFill>
                  <a:cs typeface="+mn-ea"/>
                  <a:sym typeface="+mn-lt"/>
                </a:rPr>
                <a:t>5</a:t>
              </a:r>
            </a:p>
          </p:txBody>
        </p:sp>
      </p:grpSp>
      <p:sp>
        <p:nvSpPr>
          <p:cNvPr id="91" name="流程图: 摘录 90"/>
          <p:cNvSpPr/>
          <p:nvPr/>
        </p:nvSpPr>
        <p:spPr>
          <a:xfrm rot="5400000">
            <a:off x="168116" y="129635"/>
            <a:ext cx="379141" cy="376987"/>
          </a:xfrm>
          <a:prstGeom prst="flowChartExtract">
            <a:avLst/>
          </a:prstGeom>
          <a:solidFill>
            <a:srgbClr val="005A9E"/>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5A9E"/>
              </a:solidFill>
              <a:effectLst/>
              <a:uLnTx/>
              <a:uFillTx/>
              <a:cs typeface="+mn-ea"/>
              <a:sym typeface="+mn-lt"/>
            </a:endParaRPr>
          </a:p>
        </p:txBody>
      </p:sp>
      <p:grpSp>
        <p:nvGrpSpPr>
          <p:cNvPr id="97" name="Group 17"/>
          <p:cNvGrpSpPr>
            <a:grpSpLocks noChangeAspect="1"/>
          </p:cNvGrpSpPr>
          <p:nvPr/>
        </p:nvGrpSpPr>
        <p:grpSpPr bwMode="auto">
          <a:xfrm>
            <a:off x="2640415" y="3625549"/>
            <a:ext cx="457188" cy="490764"/>
            <a:chOff x="231" y="1205"/>
            <a:chExt cx="640" cy="687"/>
          </a:xfrm>
          <a:solidFill>
            <a:schemeClr val="bg1"/>
          </a:solidFill>
          <a:effectLst>
            <a:outerShdw blurRad="50800" dist="38100" dir="2700000" algn="tl" rotWithShape="0">
              <a:prstClr val="black">
                <a:alpha val="40000"/>
              </a:prstClr>
            </a:outerShdw>
          </a:effectLst>
        </p:grpSpPr>
        <p:sp>
          <p:nvSpPr>
            <p:cNvPr id="98" name="Freeform 18"/>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99"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sp>
        <p:nvSpPr>
          <p:cNvPr id="6" name="矩形 5"/>
          <p:cNvSpPr/>
          <p:nvPr/>
        </p:nvSpPr>
        <p:spPr>
          <a:xfrm>
            <a:off x="2053292" y="4322967"/>
            <a:ext cx="5634669" cy="646331"/>
          </a:xfrm>
          <a:prstGeom prst="rect">
            <a:avLst/>
          </a:prstGeom>
        </p:spPr>
        <p:txBody>
          <a:bodyPr wrap="square">
            <a:spAutoFit/>
          </a:bodyPr>
          <a:lstStyle/>
          <a:p>
            <a:pPr algn="ctr"/>
            <a:r>
              <a:rPr lang="en-US" altLang="zh-CN" dirty="0">
                <a:solidFill>
                  <a:schemeClr val="bg1"/>
                </a:solidFill>
              </a:rPr>
              <a:t>The Teaching Center of Physics Laboratory</a:t>
            </a:r>
          </a:p>
          <a:p>
            <a:pPr algn="ctr"/>
            <a:r>
              <a:rPr lang="en-US" altLang="zh-CN" dirty="0">
                <a:solidFill>
                  <a:schemeClr val="bg1"/>
                </a:solidFill>
              </a:rPr>
              <a:t> Physics Department, Jinan University</a:t>
            </a:r>
            <a:endParaRPr lang="zh-CN" altLang="en-US" dirty="0">
              <a:solidFill>
                <a:schemeClr val="bg1"/>
              </a:solidFill>
            </a:endParaRPr>
          </a:p>
        </p:txBody>
      </p:sp>
    </p:spTree>
    <p:extLst>
      <p:ext uri="{BB962C8B-B14F-4D97-AF65-F5344CB8AC3E}">
        <p14:creationId xmlns:p14="http://schemas.microsoft.com/office/powerpoint/2010/main" val="2815871349"/>
      </p:ext>
    </p:extLst>
  </p:cSld>
  <p:clrMapOvr>
    <a:masterClrMapping/>
  </p:clrMapOvr>
  <mc:AlternateContent xmlns:mc="http://schemas.openxmlformats.org/markup-compatibility/2006" xmlns:p14="http://schemas.microsoft.com/office/powerpoint/2010/main">
    <mc:Choice Requires="p14">
      <p:transition spd="slow" p14:dur="4000" advTm="35000">
        <p14:prism/>
      </p:transition>
    </mc:Choice>
    <mc:Fallback xmlns="">
      <p:transition spd="slow" advTm="35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QR 代码&#10;&#10;AI 生成的内容可能不正确。">
            <a:extLst>
              <a:ext uri="{FF2B5EF4-FFF2-40B4-BE49-F238E27FC236}">
                <a16:creationId xmlns:a16="http://schemas.microsoft.com/office/drawing/2014/main" id="{354886A2-3416-974F-261F-E89030A638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3698" y="0"/>
            <a:ext cx="2896603" cy="5143500"/>
          </a:xfrm>
          <a:prstGeom prst="rect">
            <a:avLst/>
          </a:prstGeom>
        </p:spPr>
      </p:pic>
    </p:spTree>
    <p:extLst>
      <p:ext uri="{BB962C8B-B14F-4D97-AF65-F5344CB8AC3E}">
        <p14:creationId xmlns:p14="http://schemas.microsoft.com/office/powerpoint/2010/main" val="3545330335"/>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六边形 33"/>
          <p:cNvSpPr/>
          <p:nvPr/>
        </p:nvSpPr>
        <p:spPr>
          <a:xfrm>
            <a:off x="3118822" y="1339787"/>
            <a:ext cx="5325506" cy="756084"/>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35" name="六边形 34"/>
          <p:cNvSpPr/>
          <p:nvPr/>
        </p:nvSpPr>
        <p:spPr>
          <a:xfrm>
            <a:off x="3778265" y="1413619"/>
            <a:ext cx="4564456" cy="608420"/>
          </a:xfrm>
          <a:prstGeom prst="hexagon">
            <a:avLst/>
          </a:prstGeom>
          <a:solidFill>
            <a:schemeClr val="bg1">
              <a:lumMod val="65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36" name="六边形 35"/>
          <p:cNvSpPr/>
          <p:nvPr/>
        </p:nvSpPr>
        <p:spPr>
          <a:xfrm>
            <a:off x="3118822" y="2367245"/>
            <a:ext cx="5325506" cy="756084"/>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37" name="六边形 36"/>
          <p:cNvSpPr/>
          <p:nvPr/>
        </p:nvSpPr>
        <p:spPr>
          <a:xfrm>
            <a:off x="3778265" y="2441077"/>
            <a:ext cx="4564456" cy="608420"/>
          </a:xfrm>
          <a:prstGeom prst="hexagon">
            <a:avLst/>
          </a:prstGeom>
          <a:solidFill>
            <a:srgbClr val="005A9E"/>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38" name="六边形 37"/>
          <p:cNvSpPr/>
          <p:nvPr/>
        </p:nvSpPr>
        <p:spPr>
          <a:xfrm>
            <a:off x="3118822" y="3392015"/>
            <a:ext cx="5325506" cy="756084"/>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39" name="六边形 38"/>
          <p:cNvSpPr/>
          <p:nvPr/>
        </p:nvSpPr>
        <p:spPr>
          <a:xfrm>
            <a:off x="3778265" y="3465847"/>
            <a:ext cx="4564456" cy="608420"/>
          </a:xfrm>
          <a:prstGeom prst="hexagon">
            <a:avLst/>
          </a:prstGeom>
          <a:solidFill>
            <a:schemeClr val="bg1">
              <a:lumMod val="65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2" name="Rectangle 7"/>
          <p:cNvSpPr>
            <a:spLocks noChangeArrowheads="1"/>
          </p:cNvSpPr>
          <p:nvPr/>
        </p:nvSpPr>
        <p:spPr bwMode="auto">
          <a:xfrm>
            <a:off x="4901020" y="1494873"/>
            <a:ext cx="3348372" cy="484748"/>
          </a:xfrm>
          <a:prstGeom prst="rect">
            <a:avLst/>
          </a:prstGeom>
          <a:noFill/>
          <a:ln w="9525">
            <a:noFill/>
            <a:miter lim="800000"/>
          </a:ln>
        </p:spPr>
        <p:txBody>
          <a:bodyPr wrap="square" lIns="68580" tIns="34290" rIns="68580" bIns="34290">
            <a:spAutoFit/>
          </a:bodyPr>
          <a:lstStyle/>
          <a:p>
            <a:pPr defTabSz="913924">
              <a:spcBef>
                <a:spcPts val="0"/>
              </a:spcBef>
              <a:spcAft>
                <a:spcPts val="0"/>
              </a:spcAft>
              <a:defRPr/>
            </a:pPr>
            <a:r>
              <a:rPr lang="en-US" altLang="zh-CN" sz="2700" b="1" kern="0" dirty="0">
                <a:solidFill>
                  <a:schemeClr val="bg1"/>
                </a:solidFill>
                <a:cs typeface="+mn-ea"/>
                <a:sym typeface="+mn-lt"/>
              </a:rPr>
              <a:t>Requirements</a:t>
            </a:r>
            <a:endParaRPr lang="zh-CN" altLang="en-US" sz="2700" b="1" kern="0" dirty="0">
              <a:solidFill>
                <a:schemeClr val="bg1"/>
              </a:solidFill>
              <a:cs typeface="+mn-ea"/>
              <a:sym typeface="+mn-lt"/>
            </a:endParaRPr>
          </a:p>
        </p:txBody>
      </p:sp>
      <p:sp>
        <p:nvSpPr>
          <p:cNvPr id="43" name="Rectangle 7"/>
          <p:cNvSpPr>
            <a:spLocks noChangeArrowheads="1"/>
          </p:cNvSpPr>
          <p:nvPr/>
        </p:nvSpPr>
        <p:spPr bwMode="auto">
          <a:xfrm>
            <a:off x="4901020" y="2502913"/>
            <a:ext cx="3132348" cy="484748"/>
          </a:xfrm>
          <a:prstGeom prst="rect">
            <a:avLst/>
          </a:prstGeom>
          <a:noFill/>
          <a:ln w="9525">
            <a:noFill/>
            <a:miter lim="800000"/>
          </a:ln>
        </p:spPr>
        <p:txBody>
          <a:bodyPr wrap="square" lIns="68580" tIns="34290" rIns="68580" bIns="34290">
            <a:spAutoFit/>
          </a:bodyPr>
          <a:lstStyle/>
          <a:p>
            <a:pPr defTabSz="913924">
              <a:spcBef>
                <a:spcPts val="0"/>
              </a:spcBef>
              <a:spcAft>
                <a:spcPts val="0"/>
              </a:spcAft>
              <a:defRPr/>
            </a:pPr>
            <a:r>
              <a:rPr lang="en-US" altLang="zh-CN" sz="2700" b="1" kern="0" dirty="0">
                <a:solidFill>
                  <a:schemeClr val="bg1"/>
                </a:solidFill>
                <a:cs typeface="+mn-ea"/>
                <a:sym typeface="+mn-lt"/>
              </a:rPr>
              <a:t>Measurements </a:t>
            </a:r>
            <a:endParaRPr lang="zh-CN" altLang="en-US" sz="2700" b="1" kern="0" dirty="0">
              <a:solidFill>
                <a:schemeClr val="bg1"/>
              </a:solidFill>
              <a:cs typeface="+mn-ea"/>
              <a:sym typeface="+mn-lt"/>
            </a:endParaRPr>
          </a:p>
        </p:txBody>
      </p:sp>
      <p:sp>
        <p:nvSpPr>
          <p:cNvPr id="44" name="Rectangle 7"/>
          <p:cNvSpPr>
            <a:spLocks noChangeArrowheads="1"/>
          </p:cNvSpPr>
          <p:nvPr/>
        </p:nvSpPr>
        <p:spPr bwMode="auto">
          <a:xfrm>
            <a:off x="4901020" y="3527683"/>
            <a:ext cx="3348372" cy="484748"/>
          </a:xfrm>
          <a:prstGeom prst="rect">
            <a:avLst/>
          </a:prstGeom>
          <a:noFill/>
          <a:ln w="9525">
            <a:noFill/>
            <a:miter lim="800000"/>
          </a:ln>
        </p:spPr>
        <p:txBody>
          <a:bodyPr wrap="square" lIns="68580" tIns="34290" rIns="68580" bIns="34290">
            <a:spAutoFit/>
          </a:bodyPr>
          <a:lstStyle/>
          <a:p>
            <a:pPr defTabSz="913924">
              <a:spcBef>
                <a:spcPts val="0"/>
              </a:spcBef>
              <a:spcAft>
                <a:spcPts val="0"/>
              </a:spcAft>
              <a:defRPr/>
            </a:pPr>
            <a:r>
              <a:rPr lang="en-US" altLang="zh-CN" sz="2700" b="1" kern="0" dirty="0">
                <a:solidFill>
                  <a:schemeClr val="bg1"/>
                </a:solidFill>
                <a:cs typeface="+mn-ea"/>
                <a:sym typeface="+mn-lt"/>
              </a:rPr>
              <a:t>Data Processing</a:t>
            </a:r>
            <a:endParaRPr lang="zh-CN" altLang="en-US" sz="2700" b="1" kern="0" dirty="0">
              <a:solidFill>
                <a:schemeClr val="bg1"/>
              </a:solidFill>
              <a:cs typeface="+mn-ea"/>
              <a:sym typeface="+mn-lt"/>
            </a:endParaRPr>
          </a:p>
        </p:txBody>
      </p:sp>
      <p:sp>
        <p:nvSpPr>
          <p:cNvPr id="46" name="Freeform 5"/>
          <p:cNvSpPr/>
          <p:nvPr/>
        </p:nvSpPr>
        <p:spPr bwMode="auto">
          <a:xfrm>
            <a:off x="387999" y="1611844"/>
            <a:ext cx="2212496" cy="196091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80" tIns="34290" rIns="68580" bIns="34290" numCol="1" anchor="t" anchorCtr="0" compatLnSpc="1"/>
          <a:lstStyle/>
          <a:p>
            <a:endParaRPr lang="zh-CN" altLang="en-US">
              <a:solidFill>
                <a:srgbClr val="005A9E"/>
              </a:solidFill>
              <a:cs typeface="+mn-ea"/>
              <a:sym typeface="+mn-lt"/>
            </a:endParaRPr>
          </a:p>
        </p:txBody>
      </p:sp>
      <p:sp>
        <p:nvSpPr>
          <p:cNvPr id="47" name="Freeform 5"/>
          <p:cNvSpPr/>
          <p:nvPr/>
        </p:nvSpPr>
        <p:spPr bwMode="auto">
          <a:xfrm>
            <a:off x="583259" y="1676240"/>
            <a:ext cx="2212496" cy="196091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80" tIns="34290" rIns="68580" bIns="34290" numCol="1" anchor="t" anchorCtr="0" compatLnSpc="1"/>
          <a:lstStyle/>
          <a:p>
            <a:endParaRPr lang="zh-CN" altLang="en-US">
              <a:solidFill>
                <a:srgbClr val="005A9E"/>
              </a:solidFill>
              <a:cs typeface="+mn-ea"/>
              <a:sym typeface="+mn-lt"/>
            </a:endParaRPr>
          </a:p>
        </p:txBody>
      </p:sp>
      <p:sp>
        <p:nvSpPr>
          <p:cNvPr id="48" name="矩形 47"/>
          <p:cNvSpPr/>
          <p:nvPr/>
        </p:nvSpPr>
        <p:spPr>
          <a:xfrm>
            <a:off x="906326" y="2095871"/>
            <a:ext cx="1638756" cy="784808"/>
          </a:xfrm>
          <a:prstGeom prst="rect">
            <a:avLst/>
          </a:prstGeom>
        </p:spPr>
        <p:txBody>
          <a:bodyPr wrap="square" lIns="91418" tIns="45709" rIns="91418" bIns="45709">
            <a:spAutoFit/>
          </a:bodyPr>
          <a:lstStyle/>
          <a:p>
            <a:pPr defTabSz="933926">
              <a:spcBef>
                <a:spcPts val="0"/>
              </a:spcBef>
              <a:spcAft>
                <a:spcPts val="0"/>
              </a:spcAft>
              <a:defRPr/>
            </a:pPr>
            <a:r>
              <a:rPr lang="zh-CN" altLang="en-US" sz="4500" b="1" kern="0" dirty="0">
                <a:solidFill>
                  <a:srgbClr val="005A9E"/>
                </a:solidFill>
                <a:cs typeface="+mn-ea"/>
                <a:sym typeface="+mn-lt"/>
              </a:rPr>
              <a:t>目 录</a:t>
            </a:r>
          </a:p>
        </p:txBody>
      </p:sp>
      <p:sp>
        <p:nvSpPr>
          <p:cNvPr id="49" name="Rectangle 4"/>
          <p:cNvSpPr txBox="1">
            <a:spLocks noChangeArrowheads="1"/>
          </p:cNvSpPr>
          <p:nvPr/>
        </p:nvSpPr>
        <p:spPr bwMode="auto">
          <a:xfrm>
            <a:off x="938441" y="2797950"/>
            <a:ext cx="1480053" cy="3809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54" tIns="34277" rIns="68554" bIns="34277"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spcBef>
                <a:spcPts val="0"/>
              </a:spcBef>
              <a:spcAft>
                <a:spcPts val="0"/>
              </a:spcAft>
              <a:defRPr/>
            </a:pPr>
            <a:r>
              <a:rPr lang="en-US" altLang="zh-CN" sz="1800" kern="0" dirty="0">
                <a:solidFill>
                  <a:srgbClr val="005A9E"/>
                </a:solidFill>
                <a:latin typeface="+mn-lt"/>
                <a:ea typeface="+mn-ea"/>
                <a:cs typeface="+mn-ea"/>
                <a:sym typeface="+mn-lt"/>
              </a:rPr>
              <a:t>CONTENTS</a:t>
            </a:r>
            <a:endParaRPr lang="zh-CN" altLang="en-US" sz="1800" kern="0" dirty="0">
              <a:solidFill>
                <a:srgbClr val="005A9E"/>
              </a:solidFill>
              <a:latin typeface="+mn-lt"/>
              <a:ea typeface="+mn-ea"/>
              <a:cs typeface="+mn-ea"/>
              <a:sym typeface="+mn-lt"/>
            </a:endParaRPr>
          </a:p>
        </p:txBody>
      </p:sp>
      <p:grpSp>
        <p:nvGrpSpPr>
          <p:cNvPr id="50" name="组合 49"/>
          <p:cNvGrpSpPr/>
          <p:nvPr/>
        </p:nvGrpSpPr>
        <p:grpSpPr>
          <a:xfrm rot="16200000">
            <a:off x="3352723" y="1222947"/>
            <a:ext cx="851086" cy="960278"/>
            <a:chOff x="8439634" y="3544648"/>
            <a:chExt cx="1611146" cy="1817848"/>
          </a:xfrm>
        </p:grpSpPr>
        <p:sp>
          <p:nvSpPr>
            <p:cNvPr id="51"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91440" tIns="45720" rIns="91440" bIns="45720" numCol="1" anchor="t" anchorCtr="0" compatLnSpc="1"/>
            <a:lstStyle/>
            <a:p>
              <a:endParaRPr lang="zh-CN" altLang="en-US">
                <a:solidFill>
                  <a:prstClr val="black"/>
                </a:solidFill>
                <a:cs typeface="+mn-ea"/>
                <a:sym typeface="+mn-lt"/>
              </a:endParaRPr>
            </a:p>
          </p:txBody>
        </p:sp>
        <p:sp>
          <p:nvSpPr>
            <p:cNvPr id="52"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005A9E"/>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91440" tIns="45720" rIns="91440" bIns="45720" numCol="1" anchor="t" anchorCtr="0" compatLnSpc="1"/>
            <a:lstStyle/>
            <a:p>
              <a:endParaRPr lang="zh-CN" altLang="en-US">
                <a:solidFill>
                  <a:prstClr val="black"/>
                </a:solidFill>
                <a:cs typeface="+mn-ea"/>
                <a:sym typeface="+mn-lt"/>
              </a:endParaRPr>
            </a:p>
          </p:txBody>
        </p:sp>
      </p:grpSp>
      <p:sp>
        <p:nvSpPr>
          <p:cNvPr id="53" name="Rectangle 7"/>
          <p:cNvSpPr>
            <a:spLocks noChangeArrowheads="1"/>
          </p:cNvSpPr>
          <p:nvPr/>
        </p:nvSpPr>
        <p:spPr bwMode="auto">
          <a:xfrm>
            <a:off x="3612836" y="1487043"/>
            <a:ext cx="330860" cy="484748"/>
          </a:xfrm>
          <a:prstGeom prst="rect">
            <a:avLst/>
          </a:prstGeom>
          <a:noFill/>
          <a:ln w="9525">
            <a:noFill/>
            <a:miter lim="800000"/>
          </a:ln>
        </p:spPr>
        <p:txBody>
          <a:bodyPr wrap="none" lIns="68580" tIns="34290" rIns="68580" bIns="34290">
            <a:spAutoFit/>
          </a:bodyPr>
          <a:lstStyle/>
          <a:p>
            <a:r>
              <a:rPr lang="en-US" altLang="zh-CN" sz="2700" b="1" dirty="0">
                <a:solidFill>
                  <a:schemeClr val="bg1"/>
                </a:solidFill>
                <a:cs typeface="+mn-ea"/>
                <a:sym typeface="+mn-lt"/>
              </a:rPr>
              <a:t>1</a:t>
            </a:r>
            <a:endParaRPr lang="zh-CN" altLang="en-US" sz="2700" b="1" dirty="0">
              <a:solidFill>
                <a:schemeClr val="bg1"/>
              </a:solidFill>
              <a:cs typeface="+mn-ea"/>
              <a:sym typeface="+mn-lt"/>
            </a:endParaRPr>
          </a:p>
        </p:txBody>
      </p:sp>
      <p:grpSp>
        <p:nvGrpSpPr>
          <p:cNvPr id="54" name="组合 53"/>
          <p:cNvGrpSpPr/>
          <p:nvPr/>
        </p:nvGrpSpPr>
        <p:grpSpPr>
          <a:xfrm rot="16200000">
            <a:off x="3352723" y="2250405"/>
            <a:ext cx="851086" cy="960278"/>
            <a:chOff x="8439634" y="3544648"/>
            <a:chExt cx="1611146" cy="1817848"/>
          </a:xfrm>
        </p:grpSpPr>
        <p:sp>
          <p:nvSpPr>
            <p:cNvPr id="55"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91440" tIns="45720" rIns="91440" bIns="45720" numCol="1" anchor="t" anchorCtr="0" compatLnSpc="1"/>
            <a:lstStyle/>
            <a:p>
              <a:endParaRPr lang="zh-CN" altLang="en-US">
                <a:solidFill>
                  <a:prstClr val="black"/>
                </a:solidFill>
                <a:cs typeface="+mn-ea"/>
                <a:sym typeface="+mn-lt"/>
              </a:endParaRPr>
            </a:p>
          </p:txBody>
        </p:sp>
        <p:sp>
          <p:nvSpPr>
            <p:cNvPr id="56"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91440" tIns="45720" rIns="91440" bIns="45720" numCol="1" anchor="t" anchorCtr="0" compatLnSpc="1"/>
            <a:lstStyle/>
            <a:p>
              <a:endParaRPr lang="zh-CN" altLang="en-US">
                <a:solidFill>
                  <a:prstClr val="black"/>
                </a:solidFill>
                <a:cs typeface="+mn-ea"/>
                <a:sym typeface="+mn-lt"/>
              </a:endParaRPr>
            </a:p>
          </p:txBody>
        </p:sp>
      </p:grpSp>
      <p:grpSp>
        <p:nvGrpSpPr>
          <p:cNvPr id="57" name="组合 56"/>
          <p:cNvGrpSpPr/>
          <p:nvPr/>
        </p:nvGrpSpPr>
        <p:grpSpPr>
          <a:xfrm rot="16200000">
            <a:off x="3352723" y="3275175"/>
            <a:ext cx="851086" cy="960278"/>
            <a:chOff x="8439634" y="3544648"/>
            <a:chExt cx="1611146" cy="1817848"/>
          </a:xfrm>
        </p:grpSpPr>
        <p:sp>
          <p:nvSpPr>
            <p:cNvPr id="58"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91440" tIns="45720" rIns="91440" bIns="45720" numCol="1" anchor="t" anchorCtr="0" compatLnSpc="1"/>
            <a:lstStyle/>
            <a:p>
              <a:endParaRPr lang="zh-CN" altLang="en-US">
                <a:solidFill>
                  <a:prstClr val="black"/>
                </a:solidFill>
                <a:cs typeface="+mn-ea"/>
                <a:sym typeface="+mn-lt"/>
              </a:endParaRPr>
            </a:p>
          </p:txBody>
        </p:sp>
        <p:sp>
          <p:nvSpPr>
            <p:cNvPr id="59"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005A9E"/>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91440" tIns="45720" rIns="91440" bIns="45720" numCol="1" anchor="t" anchorCtr="0" compatLnSpc="1"/>
            <a:lstStyle/>
            <a:p>
              <a:endParaRPr lang="zh-CN" altLang="en-US">
                <a:solidFill>
                  <a:prstClr val="black"/>
                </a:solidFill>
                <a:cs typeface="+mn-ea"/>
                <a:sym typeface="+mn-lt"/>
              </a:endParaRPr>
            </a:p>
          </p:txBody>
        </p:sp>
      </p:grpSp>
      <p:sp>
        <p:nvSpPr>
          <p:cNvPr id="63" name="Rectangle 7"/>
          <p:cNvSpPr>
            <a:spLocks noChangeArrowheads="1"/>
          </p:cNvSpPr>
          <p:nvPr/>
        </p:nvSpPr>
        <p:spPr bwMode="auto">
          <a:xfrm>
            <a:off x="3612836" y="2502913"/>
            <a:ext cx="330860" cy="484748"/>
          </a:xfrm>
          <a:prstGeom prst="rect">
            <a:avLst/>
          </a:prstGeom>
          <a:noFill/>
          <a:ln w="9525">
            <a:noFill/>
            <a:miter lim="800000"/>
          </a:ln>
        </p:spPr>
        <p:txBody>
          <a:bodyPr wrap="none" lIns="68580" tIns="34290" rIns="68580" bIns="34290">
            <a:spAutoFit/>
          </a:bodyPr>
          <a:lstStyle/>
          <a:p>
            <a:r>
              <a:rPr lang="en-US" altLang="zh-CN" sz="2700" b="1" dirty="0">
                <a:solidFill>
                  <a:schemeClr val="bg1"/>
                </a:solidFill>
                <a:cs typeface="+mn-ea"/>
                <a:sym typeface="+mn-lt"/>
              </a:rPr>
              <a:t>2</a:t>
            </a:r>
            <a:endParaRPr lang="zh-CN" altLang="en-US" sz="2700" b="1" dirty="0">
              <a:solidFill>
                <a:schemeClr val="bg1"/>
              </a:solidFill>
              <a:cs typeface="+mn-ea"/>
              <a:sym typeface="+mn-lt"/>
            </a:endParaRPr>
          </a:p>
        </p:txBody>
      </p:sp>
      <p:sp>
        <p:nvSpPr>
          <p:cNvPr id="64" name="Rectangle 7"/>
          <p:cNvSpPr>
            <a:spLocks noChangeArrowheads="1"/>
          </p:cNvSpPr>
          <p:nvPr/>
        </p:nvSpPr>
        <p:spPr bwMode="auto">
          <a:xfrm>
            <a:off x="3612836" y="3512940"/>
            <a:ext cx="330860" cy="484748"/>
          </a:xfrm>
          <a:prstGeom prst="rect">
            <a:avLst/>
          </a:prstGeom>
          <a:noFill/>
          <a:ln w="9525">
            <a:noFill/>
            <a:miter lim="800000"/>
          </a:ln>
        </p:spPr>
        <p:txBody>
          <a:bodyPr wrap="none" lIns="68580" tIns="34290" rIns="68580" bIns="34290">
            <a:spAutoFit/>
          </a:bodyPr>
          <a:lstStyle/>
          <a:p>
            <a:r>
              <a:rPr lang="en-US" altLang="zh-CN" sz="2700" b="1" dirty="0">
                <a:solidFill>
                  <a:schemeClr val="bg1"/>
                </a:solidFill>
                <a:cs typeface="+mn-ea"/>
                <a:sym typeface="+mn-lt"/>
              </a:rPr>
              <a:t>3</a:t>
            </a:r>
            <a:endParaRPr lang="zh-CN" altLang="en-US" sz="2700" b="1" dirty="0">
              <a:solidFill>
                <a:schemeClr val="bg1"/>
              </a:solidFill>
              <a:cs typeface="+mn-ea"/>
              <a:sym typeface="+mn-lt"/>
            </a:endParaRPr>
          </a:p>
        </p:txBody>
      </p:sp>
    </p:spTree>
    <p:extLst>
      <p:ext uri="{BB962C8B-B14F-4D97-AF65-F5344CB8AC3E}">
        <p14:creationId xmlns:p14="http://schemas.microsoft.com/office/powerpoint/2010/main" val="1894887770"/>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a:cxnSpLocks/>
          </p:cNvCxnSpPr>
          <p:nvPr/>
        </p:nvCxnSpPr>
        <p:spPr>
          <a:xfrm>
            <a:off x="3517954" y="2393736"/>
            <a:ext cx="5254160" cy="0"/>
          </a:xfrm>
          <a:prstGeom prst="line">
            <a:avLst/>
          </a:prstGeom>
          <a:noFill/>
          <a:ln w="19050" cap="flat" cmpd="sng" algn="ctr">
            <a:solidFill>
              <a:srgbClr val="E7E6E6">
                <a:lumMod val="50000"/>
              </a:srgbClr>
            </a:solidFill>
            <a:prstDash val="sysDot"/>
            <a:miter lim="800000"/>
            <a:tailEnd type="oval"/>
          </a:ln>
          <a:effectLst/>
        </p:spPr>
      </p:cxnSp>
      <p:grpSp>
        <p:nvGrpSpPr>
          <p:cNvPr id="15" name="组合 14"/>
          <p:cNvGrpSpPr/>
          <p:nvPr/>
        </p:nvGrpSpPr>
        <p:grpSpPr>
          <a:xfrm>
            <a:off x="1136404" y="1629843"/>
            <a:ext cx="1837257" cy="1837257"/>
            <a:chOff x="1959919" y="2023759"/>
            <a:chExt cx="2773806" cy="2773806"/>
          </a:xfrm>
        </p:grpSpPr>
        <p:grpSp>
          <p:nvGrpSpPr>
            <p:cNvPr id="16" name="组合 15"/>
            <p:cNvGrpSpPr/>
            <p:nvPr/>
          </p:nvGrpSpPr>
          <p:grpSpPr>
            <a:xfrm>
              <a:off x="1959919" y="2023759"/>
              <a:ext cx="2773806" cy="2773806"/>
              <a:chOff x="2099081" y="2031187"/>
              <a:chExt cx="2739620" cy="2739620"/>
            </a:xfrm>
          </p:grpSpPr>
          <p:sp>
            <p:nvSpPr>
              <p:cNvPr id="19" name="椭圆 18"/>
              <p:cNvSpPr/>
              <p:nvPr/>
            </p:nvSpPr>
            <p:spPr>
              <a:xfrm>
                <a:off x="2099081" y="2031187"/>
                <a:ext cx="2739620" cy="2739620"/>
              </a:xfrm>
              <a:prstGeom prst="ellipse">
                <a:avLst/>
              </a:prstGeom>
              <a:gradFill flip="none" rotWithShape="1">
                <a:gsLst>
                  <a:gs pos="0">
                    <a:sysClr val="window" lastClr="FFFFFF">
                      <a:lumMod val="85000"/>
                    </a:sysClr>
                  </a:gs>
                  <a:gs pos="100000">
                    <a:sysClr val="window" lastClr="FFFFFF">
                      <a:alpha val="99000"/>
                    </a:sysClr>
                  </a:gs>
                </a:gsLst>
                <a:path path="circle">
                  <a:fillToRect l="100000" t="100000"/>
                </a:path>
                <a:tileRect r="-100000" b="-100000"/>
              </a:gradFill>
              <a:ln w="12700" cap="flat" cmpd="sng" algn="ctr">
                <a:noFill/>
                <a:prstDash val="solid"/>
                <a:miter lim="800000"/>
              </a:ln>
              <a:effectLst>
                <a:softEdge rad="101600"/>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cs typeface="+mn-ea"/>
                  <a:sym typeface="+mn-lt"/>
                </a:endParaRPr>
              </a:p>
            </p:txBody>
          </p:sp>
          <p:sp>
            <p:nvSpPr>
              <p:cNvPr id="20" name="圆角矩形 19"/>
              <p:cNvSpPr/>
              <p:nvPr/>
            </p:nvSpPr>
            <p:spPr>
              <a:xfrm>
                <a:off x="2377216" y="2309322"/>
                <a:ext cx="2183348" cy="2183348"/>
              </a:xfrm>
              <a:prstGeom prst="roundRect">
                <a:avLst>
                  <a:gd name="adj" fmla="val 50000"/>
                </a:avLst>
              </a:prstGeom>
              <a:gradFill flip="none" rotWithShape="1">
                <a:gsLst>
                  <a:gs pos="100000">
                    <a:sysClr val="window" lastClr="FFFFFF"/>
                  </a:gs>
                  <a:gs pos="0">
                    <a:srgbClr val="B8BBBC"/>
                  </a:gs>
                </a:gsLst>
                <a:lin ang="5400000" scaled="0"/>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cs typeface="+mn-ea"/>
                  <a:sym typeface="+mn-lt"/>
                </a:endParaRPr>
              </a:p>
            </p:txBody>
          </p:sp>
        </p:grpSp>
        <p:sp>
          <p:nvSpPr>
            <p:cNvPr id="17" name="椭圆 16"/>
            <p:cNvSpPr/>
            <p:nvPr/>
          </p:nvSpPr>
          <p:spPr>
            <a:xfrm>
              <a:off x="2510240" y="2574081"/>
              <a:ext cx="1673164" cy="1673161"/>
            </a:xfrm>
            <a:prstGeom prst="ellipse">
              <a:avLst/>
            </a:prstGeom>
            <a:solidFill>
              <a:srgbClr val="005A9E"/>
            </a:solidFill>
            <a:ln w="12700" cap="flat" cmpd="sng" algn="ctr">
              <a:noFill/>
              <a:prstDash val="solid"/>
              <a:miter lim="800000"/>
            </a:ln>
            <a:effectLst>
              <a:innerShdw blurRad="203200" dist="50800" dir="16200000">
                <a:prstClr val="black">
                  <a:alpha val="50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9000" b="0" i="0" u="none" strike="noStrike" kern="0" cap="none" spc="0" normalizeH="0" baseline="0" noProof="0">
                <a:ln>
                  <a:noFill/>
                </a:ln>
                <a:solidFill>
                  <a:sysClr val="window" lastClr="FFFFFF"/>
                </a:solidFill>
                <a:effectLst/>
                <a:uLnTx/>
                <a:uFillTx/>
                <a:cs typeface="+mn-ea"/>
                <a:sym typeface="+mn-lt"/>
              </a:endParaRPr>
            </a:p>
          </p:txBody>
        </p:sp>
      </p:grpSp>
      <p:sp>
        <p:nvSpPr>
          <p:cNvPr id="21" name="矩形 20"/>
          <p:cNvSpPr/>
          <p:nvPr/>
        </p:nvSpPr>
        <p:spPr>
          <a:xfrm>
            <a:off x="3434036" y="1629843"/>
            <a:ext cx="4703852" cy="623248"/>
          </a:xfrm>
          <a:prstGeom prst="rect">
            <a:avLst/>
          </a:prstGeom>
        </p:spPr>
        <p:txBody>
          <a:bodyPr wrap="none" lIns="68580" tIns="34290" rIns="68580" bIns="34290">
            <a:spAutoFit/>
          </a:bodyPr>
          <a:lstStyle/>
          <a:p>
            <a:pPr defTabSz="913924">
              <a:spcBef>
                <a:spcPts val="0"/>
              </a:spcBef>
              <a:spcAft>
                <a:spcPts val="0"/>
              </a:spcAft>
              <a:defRPr/>
            </a:pPr>
            <a:r>
              <a:rPr lang="en-US" altLang="zh-CN" sz="3600" b="1" kern="0" dirty="0">
                <a:solidFill>
                  <a:srgbClr val="005A9E"/>
                </a:solidFill>
                <a:cs typeface="+mn-ea"/>
                <a:sym typeface="+mn-lt"/>
              </a:rPr>
              <a:t>Requirements in Lab</a:t>
            </a:r>
            <a:endParaRPr lang="zh-CN" altLang="en-US" sz="3600" b="1" kern="0" dirty="0">
              <a:solidFill>
                <a:srgbClr val="005A9E"/>
              </a:solidFill>
              <a:cs typeface="+mn-ea"/>
              <a:sym typeface="+mn-lt"/>
            </a:endParaRPr>
          </a:p>
        </p:txBody>
      </p:sp>
      <p:cxnSp>
        <p:nvCxnSpPr>
          <p:cNvPr id="26" name="直接连接符 25"/>
          <p:cNvCxnSpPr/>
          <p:nvPr/>
        </p:nvCxnSpPr>
        <p:spPr>
          <a:xfrm flipV="1">
            <a:off x="3203848" y="1203598"/>
            <a:ext cx="0" cy="2808312"/>
          </a:xfrm>
          <a:prstGeom prst="line">
            <a:avLst/>
          </a:prstGeom>
          <a:noFill/>
          <a:ln w="12700" cap="flat" cmpd="sng" algn="ctr">
            <a:solidFill>
              <a:sysClr val="windowText" lastClr="000000"/>
            </a:solidFill>
            <a:prstDash val="dash"/>
          </a:ln>
          <a:effectLst/>
        </p:spPr>
      </p:cxnSp>
      <p:sp>
        <p:nvSpPr>
          <p:cNvPr id="27" name="矩形 26"/>
          <p:cNvSpPr/>
          <p:nvPr/>
        </p:nvSpPr>
        <p:spPr>
          <a:xfrm>
            <a:off x="0" y="5009752"/>
            <a:ext cx="9144000" cy="133747"/>
          </a:xfrm>
          <a:prstGeom prst="rect">
            <a:avLst/>
          </a:prstGeom>
          <a:solidFill>
            <a:srgbClr val="005A9E"/>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28" name="TextBox 27"/>
          <p:cNvSpPr txBox="1"/>
          <p:nvPr/>
        </p:nvSpPr>
        <p:spPr>
          <a:xfrm>
            <a:off x="1629197" y="1896383"/>
            <a:ext cx="635927" cy="132343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8000" b="1" i="0" u="none" strike="noStrike" kern="0" cap="none" spc="0" normalizeH="0" baseline="0" noProof="0" dirty="0">
                <a:ln>
                  <a:noFill/>
                </a:ln>
                <a:solidFill>
                  <a:sysClr val="window" lastClr="FFFFFF"/>
                </a:solidFill>
                <a:effectLst/>
                <a:uLnTx/>
                <a:uFillTx/>
                <a:cs typeface="+mn-ea"/>
                <a:sym typeface="+mn-lt"/>
              </a:rPr>
              <a:t>1</a:t>
            </a:r>
          </a:p>
        </p:txBody>
      </p:sp>
      <p:sp>
        <p:nvSpPr>
          <p:cNvPr id="29" name="矩形 28"/>
          <p:cNvSpPr/>
          <p:nvPr/>
        </p:nvSpPr>
        <p:spPr>
          <a:xfrm>
            <a:off x="3643550" y="2665277"/>
            <a:ext cx="3048270" cy="346249"/>
          </a:xfrm>
          <a:prstGeom prst="rect">
            <a:avLst/>
          </a:prstGeom>
        </p:spPr>
        <p:txBody>
          <a:bodyPr wrap="none" lIns="68580" tIns="34290" rIns="68580" bIns="34290">
            <a:spAutoFit/>
          </a:bodyPr>
          <a:lstStyle/>
          <a:p>
            <a:pPr marL="214313" indent="-214313">
              <a:buFont typeface="Wingdings" pitchFamily="2" charset="2"/>
              <a:buChar char="l"/>
            </a:pPr>
            <a:r>
              <a:rPr lang="en-US" altLang="zh-CN" b="1" kern="0" dirty="0">
                <a:solidFill>
                  <a:schemeClr val="accent2">
                    <a:lumMod val="75000"/>
                  </a:schemeClr>
                </a:solidFill>
                <a:cs typeface="+mn-ea"/>
                <a:sym typeface="+mn-lt"/>
              </a:rPr>
              <a:t>Preparation before class</a:t>
            </a:r>
            <a:endParaRPr lang="zh-CN" altLang="en-US" kern="0" dirty="0">
              <a:solidFill>
                <a:schemeClr val="accent2">
                  <a:lumMod val="75000"/>
                </a:schemeClr>
              </a:solidFill>
              <a:cs typeface="+mn-ea"/>
              <a:sym typeface="+mn-lt"/>
            </a:endParaRPr>
          </a:p>
        </p:txBody>
      </p:sp>
      <p:sp>
        <p:nvSpPr>
          <p:cNvPr id="30" name="矩形 29"/>
          <p:cNvSpPr/>
          <p:nvPr/>
        </p:nvSpPr>
        <p:spPr>
          <a:xfrm>
            <a:off x="3643550" y="3060531"/>
            <a:ext cx="3509935" cy="346249"/>
          </a:xfrm>
          <a:prstGeom prst="rect">
            <a:avLst/>
          </a:prstGeom>
        </p:spPr>
        <p:txBody>
          <a:bodyPr wrap="none" lIns="68580" tIns="34290" rIns="68580" bIns="34290">
            <a:spAutoFit/>
          </a:bodyPr>
          <a:lstStyle/>
          <a:p>
            <a:pPr marL="214313" indent="-214313">
              <a:buFont typeface="Wingdings" pitchFamily="2" charset="2"/>
              <a:buChar char="l"/>
            </a:pPr>
            <a:r>
              <a:rPr lang="en-US" altLang="zh-CN" b="1" kern="0" dirty="0">
                <a:solidFill>
                  <a:schemeClr val="accent2">
                    <a:lumMod val="75000"/>
                  </a:schemeClr>
                </a:solidFill>
                <a:cs typeface="+mn-ea"/>
                <a:sym typeface="+mn-lt"/>
              </a:rPr>
              <a:t>Rules and Operation in Lab!!</a:t>
            </a:r>
            <a:endParaRPr lang="zh-CN" altLang="en-US" kern="0" dirty="0">
              <a:solidFill>
                <a:schemeClr val="accent2">
                  <a:lumMod val="75000"/>
                </a:schemeClr>
              </a:solidFill>
              <a:cs typeface="+mn-ea"/>
              <a:sym typeface="+mn-lt"/>
            </a:endParaRPr>
          </a:p>
        </p:txBody>
      </p:sp>
      <p:sp>
        <p:nvSpPr>
          <p:cNvPr id="31" name="矩形 30"/>
          <p:cNvSpPr/>
          <p:nvPr/>
        </p:nvSpPr>
        <p:spPr>
          <a:xfrm>
            <a:off x="3643550" y="3479625"/>
            <a:ext cx="4959050" cy="346249"/>
          </a:xfrm>
          <a:prstGeom prst="rect">
            <a:avLst/>
          </a:prstGeom>
        </p:spPr>
        <p:txBody>
          <a:bodyPr wrap="none" lIns="68580" tIns="34290" rIns="68580" bIns="34290">
            <a:spAutoFit/>
          </a:bodyPr>
          <a:lstStyle/>
          <a:p>
            <a:pPr marL="214313" indent="-214313">
              <a:buFont typeface="Wingdings" pitchFamily="2" charset="2"/>
              <a:buChar char="l"/>
            </a:pPr>
            <a:r>
              <a:rPr lang="en-US" altLang="zh-CN" b="1" kern="0" dirty="0">
                <a:solidFill>
                  <a:srgbClr val="C00000"/>
                </a:solidFill>
                <a:cs typeface="+mn-ea"/>
                <a:sym typeface="+mn-lt"/>
              </a:rPr>
              <a:t>Laboratory Report (completed after-class)</a:t>
            </a:r>
            <a:endParaRPr lang="zh-CN" altLang="en-US" kern="0" dirty="0">
              <a:solidFill>
                <a:srgbClr val="C00000"/>
              </a:solidFill>
              <a:cs typeface="+mn-ea"/>
              <a:sym typeface="+mn-lt"/>
            </a:endParaRPr>
          </a:p>
        </p:txBody>
      </p:sp>
    </p:spTree>
    <p:extLst>
      <p:ext uri="{BB962C8B-B14F-4D97-AF65-F5344CB8AC3E}">
        <p14:creationId xmlns:p14="http://schemas.microsoft.com/office/powerpoint/2010/main" val="3165944184"/>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38" presetClass="entr" presetSubtype="0" accel="50000" fill="hold" grpId="0" nodeType="withEffect">
                                  <p:stCondLst>
                                    <p:cond delay="0"/>
                                  </p:stCondLst>
                                  <p:iterate type="lt">
                                    <p:tmPct val="50000"/>
                                  </p:iterate>
                                  <p:childTnLst>
                                    <p:set>
                                      <p:cBhvr>
                                        <p:cTn id="11" dur="1" fill="hold">
                                          <p:stCondLst>
                                            <p:cond delay="0"/>
                                          </p:stCondLst>
                                        </p:cTn>
                                        <p:tgtEl>
                                          <p:spTgt spid="28"/>
                                        </p:tgtEl>
                                        <p:attrNameLst>
                                          <p:attrName>style.visibility</p:attrName>
                                        </p:attrNameLst>
                                      </p:cBhvr>
                                      <p:to>
                                        <p:strVal val="visible"/>
                                      </p:to>
                                    </p:set>
                                    <p:set>
                                      <p:cBhvr>
                                        <p:cTn id="12" dur="364" fill="hold">
                                          <p:stCondLst>
                                            <p:cond delay="0"/>
                                          </p:stCondLst>
                                        </p:cTn>
                                        <p:tgtEl>
                                          <p:spTgt spid="28"/>
                                        </p:tgtEl>
                                        <p:attrNameLst>
                                          <p:attrName>style.rotation</p:attrName>
                                        </p:attrNameLst>
                                      </p:cBhvr>
                                      <p:to>
                                        <p:strVal val="-45.0"/>
                                      </p:to>
                                    </p:set>
                                    <p:anim calcmode="lin" valueType="num">
                                      <p:cBhvr>
                                        <p:cTn id="13" dur="364" fill="hold">
                                          <p:stCondLst>
                                            <p:cond delay="364"/>
                                          </p:stCondLst>
                                        </p:cTn>
                                        <p:tgtEl>
                                          <p:spTgt spid="28"/>
                                        </p:tgtEl>
                                        <p:attrNameLst>
                                          <p:attrName>style.rotation</p:attrName>
                                        </p:attrNameLst>
                                      </p:cBhvr>
                                      <p:tavLst>
                                        <p:tav tm="0">
                                          <p:val>
                                            <p:fltVal val="-45"/>
                                          </p:val>
                                        </p:tav>
                                        <p:tav tm="69900">
                                          <p:val>
                                            <p:fltVal val="45"/>
                                          </p:val>
                                        </p:tav>
                                        <p:tav tm="100000">
                                          <p:val>
                                            <p:fltVal val="0"/>
                                          </p:val>
                                        </p:tav>
                                      </p:tavLst>
                                    </p:anim>
                                    <p:anim calcmode="lin" valueType="num">
                                      <p:cBhvr>
                                        <p:cTn id="14" dur="364" fill="hold">
                                          <p:stCondLst>
                                            <p:cond delay="0"/>
                                          </p:stCondLst>
                                        </p:cTn>
                                        <p:tgtEl>
                                          <p:spTgt spid="28"/>
                                        </p:tgtEl>
                                        <p:attrNameLst>
                                          <p:attrName>ppt_y</p:attrName>
                                        </p:attrNameLst>
                                      </p:cBhvr>
                                      <p:tavLst>
                                        <p:tav tm="0">
                                          <p:val>
                                            <p:strVal val="#ppt_y-1"/>
                                          </p:val>
                                        </p:tav>
                                        <p:tav tm="100000">
                                          <p:val>
                                            <p:strVal val="#ppt_y-(0.354*#ppt_w-0.172*#ppt_h)"/>
                                          </p:val>
                                        </p:tav>
                                      </p:tavLst>
                                    </p:anim>
                                    <p:anim calcmode="lin" valueType="num">
                                      <p:cBhvr>
                                        <p:cTn id="15" dur="125" decel="50000" autoRev="1" fill="hold">
                                          <p:stCondLst>
                                            <p:cond delay="364"/>
                                          </p:stCondLst>
                                        </p:cTn>
                                        <p:tgtEl>
                                          <p:spTgt spid="28"/>
                                        </p:tgtEl>
                                        <p:attrNameLst>
                                          <p:attrName>ppt_y</p:attrName>
                                        </p:attrNameLst>
                                      </p:cBhvr>
                                      <p:tavLst>
                                        <p:tav tm="0">
                                          <p:val>
                                            <p:strVal val="#ppt_y-(0.354*#ppt_w-0.172*#ppt_h)"/>
                                          </p:val>
                                        </p:tav>
                                        <p:tav tm="100000">
                                          <p:val>
                                            <p:strVal val="#ppt_y-(0.354*#ppt_w-0.172*#ppt_h)-#ppt_h/2"/>
                                          </p:val>
                                        </p:tav>
                                      </p:tavLst>
                                    </p:anim>
                                    <p:anim calcmode="lin" valueType="num">
                                      <p:cBhvr>
                                        <p:cTn id="16" dur="109" fill="hold">
                                          <p:stCondLst>
                                            <p:cond delay="691"/>
                                          </p:stCondLst>
                                        </p:cTn>
                                        <p:tgtEl>
                                          <p:spTgt spid="28"/>
                                        </p:tgtEl>
                                        <p:attrNameLst>
                                          <p:attrName>ppt_y</p:attrName>
                                        </p:attrNameLst>
                                      </p:cBhvr>
                                      <p:tavLst>
                                        <p:tav tm="0">
                                          <p:val>
                                            <p:strVal val="#ppt_y-(0.354*#ppt_w-0.172*#ppt_h)"/>
                                          </p:val>
                                        </p:tav>
                                        <p:tav tm="100000">
                                          <p:val>
                                            <p:strVal val="#ppt_y"/>
                                          </p:val>
                                        </p:tav>
                                      </p:tavLst>
                                    </p:anim>
                                  </p:childTnLst>
                                </p:cTn>
                              </p:par>
                              <p:par>
                                <p:cTn id="17" presetID="22" presetClass="entr" presetSubtype="4"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down)">
                                      <p:cBhvr>
                                        <p:cTn id="19" dur="500"/>
                                        <p:tgtEl>
                                          <p:spTgt spid="26"/>
                                        </p:tgtEl>
                                      </p:cBhvr>
                                    </p:animEffect>
                                  </p:childTnLst>
                                </p:cTn>
                              </p:par>
                            </p:childTnLst>
                          </p:cTn>
                        </p:par>
                        <p:par>
                          <p:cTn id="20" fill="hold">
                            <p:stCondLst>
                              <p:cond delay="800"/>
                            </p:stCondLst>
                            <p:childTnLst>
                              <p:par>
                                <p:cTn id="21" presetID="22" presetClass="entr" presetSubtype="8" fill="hold"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left)">
                                      <p:cBhvr>
                                        <p:cTn id="23" dur="500"/>
                                        <p:tgtEl>
                                          <p:spTgt spid="14"/>
                                        </p:tgtEl>
                                      </p:cBhvr>
                                    </p:animEffect>
                                  </p:childTnLst>
                                </p:cTn>
                              </p:par>
                            </p:childTnLst>
                          </p:cTn>
                        </p:par>
                        <p:par>
                          <p:cTn id="24" fill="hold">
                            <p:stCondLst>
                              <p:cond delay="1300"/>
                            </p:stCondLst>
                            <p:childTnLst>
                              <p:par>
                                <p:cTn id="25" presetID="2" presetClass="entr" presetSubtype="2" decel="100000" fill="hold" grpId="0" nodeType="afterEffect">
                                  <p:stCondLst>
                                    <p:cond delay="0"/>
                                  </p:stCondLst>
                                  <p:iterate type="lt">
                                    <p:tmPct val="10000"/>
                                  </p:iterate>
                                  <p:childTnLst>
                                    <p:set>
                                      <p:cBhvr>
                                        <p:cTn id="26" dur="1" fill="hold">
                                          <p:stCondLst>
                                            <p:cond delay="0"/>
                                          </p:stCondLst>
                                        </p:cTn>
                                        <p:tgtEl>
                                          <p:spTgt spid="21"/>
                                        </p:tgtEl>
                                        <p:attrNameLst>
                                          <p:attrName>style.visibility</p:attrName>
                                        </p:attrNameLst>
                                      </p:cBhvr>
                                      <p:to>
                                        <p:strVal val="visible"/>
                                      </p:to>
                                    </p:set>
                                    <p:anim calcmode="lin" valueType="num">
                                      <p:cBhvr additive="base">
                                        <p:cTn id="27" dur="500" fill="hold"/>
                                        <p:tgtEl>
                                          <p:spTgt spid="21"/>
                                        </p:tgtEl>
                                        <p:attrNameLst>
                                          <p:attrName>ppt_x</p:attrName>
                                        </p:attrNameLst>
                                      </p:cBhvr>
                                      <p:tavLst>
                                        <p:tav tm="0">
                                          <p:val>
                                            <p:strVal val="1+#ppt_w/2"/>
                                          </p:val>
                                        </p:tav>
                                        <p:tav tm="100000">
                                          <p:val>
                                            <p:strVal val="#ppt_x"/>
                                          </p:val>
                                        </p:tav>
                                      </p:tavLst>
                                    </p:anim>
                                    <p:anim calcmode="lin" valueType="num">
                                      <p:cBhvr additive="base">
                                        <p:cTn id="28" dur="500" fill="hold"/>
                                        <p:tgtEl>
                                          <p:spTgt spid="21"/>
                                        </p:tgtEl>
                                        <p:attrNameLst>
                                          <p:attrName>ppt_y</p:attrName>
                                        </p:attrNameLst>
                                      </p:cBhvr>
                                      <p:tavLst>
                                        <p:tav tm="0">
                                          <p:val>
                                            <p:strVal val="#ppt_y"/>
                                          </p:val>
                                        </p:tav>
                                        <p:tav tm="100000">
                                          <p:val>
                                            <p:strVal val="#ppt_y"/>
                                          </p:val>
                                        </p:tav>
                                      </p:tavLst>
                                    </p:anim>
                                  </p:childTnLst>
                                </p:cTn>
                              </p:par>
                            </p:childTnLst>
                          </p:cTn>
                        </p:par>
                        <p:par>
                          <p:cTn id="29" fill="hold">
                            <p:stCondLst>
                              <p:cond delay="2600"/>
                            </p:stCondLst>
                            <p:childTnLst>
                              <p:par>
                                <p:cTn id="30" presetID="50" presetClass="entr" presetSubtype="0" decel="100000" fill="hold" grpId="0" nodeType="afterEffect">
                                  <p:stCondLst>
                                    <p:cond delay="0"/>
                                  </p:stCondLst>
                                  <p:childTnLst>
                                    <p:set>
                                      <p:cBhvr>
                                        <p:cTn id="31" dur="1" fill="hold">
                                          <p:stCondLst>
                                            <p:cond delay="0"/>
                                          </p:stCondLst>
                                        </p:cTn>
                                        <p:tgtEl>
                                          <p:spTgt spid="29"/>
                                        </p:tgtEl>
                                        <p:attrNameLst>
                                          <p:attrName>style.visibility</p:attrName>
                                        </p:attrNameLst>
                                      </p:cBhvr>
                                      <p:to>
                                        <p:strVal val="visible"/>
                                      </p:to>
                                    </p:set>
                                    <p:anim calcmode="lin" valueType="num">
                                      <p:cBhvr>
                                        <p:cTn id="32" dur="1000" fill="hold"/>
                                        <p:tgtEl>
                                          <p:spTgt spid="29"/>
                                        </p:tgtEl>
                                        <p:attrNameLst>
                                          <p:attrName>ppt_w</p:attrName>
                                        </p:attrNameLst>
                                      </p:cBhvr>
                                      <p:tavLst>
                                        <p:tav tm="0">
                                          <p:val>
                                            <p:strVal val="#ppt_w+.3"/>
                                          </p:val>
                                        </p:tav>
                                        <p:tav tm="100000">
                                          <p:val>
                                            <p:strVal val="#ppt_w"/>
                                          </p:val>
                                        </p:tav>
                                      </p:tavLst>
                                    </p:anim>
                                    <p:anim calcmode="lin" valueType="num">
                                      <p:cBhvr>
                                        <p:cTn id="33" dur="1000" fill="hold"/>
                                        <p:tgtEl>
                                          <p:spTgt spid="29"/>
                                        </p:tgtEl>
                                        <p:attrNameLst>
                                          <p:attrName>ppt_h</p:attrName>
                                        </p:attrNameLst>
                                      </p:cBhvr>
                                      <p:tavLst>
                                        <p:tav tm="0">
                                          <p:val>
                                            <p:strVal val="#ppt_h"/>
                                          </p:val>
                                        </p:tav>
                                        <p:tav tm="100000">
                                          <p:val>
                                            <p:strVal val="#ppt_h"/>
                                          </p:val>
                                        </p:tav>
                                      </p:tavLst>
                                    </p:anim>
                                    <p:animEffect transition="in" filter="fade">
                                      <p:cBhvr>
                                        <p:cTn id="34" dur="1000"/>
                                        <p:tgtEl>
                                          <p:spTgt spid="29"/>
                                        </p:tgtEl>
                                      </p:cBhvr>
                                    </p:animEffect>
                                  </p:childTnLst>
                                </p:cTn>
                              </p:par>
                              <p:par>
                                <p:cTn id="35" presetID="50" presetClass="entr" presetSubtype="0" decel="100000" fill="hold" grpId="0" nodeType="withEffect">
                                  <p:stCondLst>
                                    <p:cond delay="450"/>
                                  </p:stCondLst>
                                  <p:childTnLst>
                                    <p:set>
                                      <p:cBhvr>
                                        <p:cTn id="36" dur="1" fill="hold">
                                          <p:stCondLst>
                                            <p:cond delay="0"/>
                                          </p:stCondLst>
                                        </p:cTn>
                                        <p:tgtEl>
                                          <p:spTgt spid="30"/>
                                        </p:tgtEl>
                                        <p:attrNameLst>
                                          <p:attrName>style.visibility</p:attrName>
                                        </p:attrNameLst>
                                      </p:cBhvr>
                                      <p:to>
                                        <p:strVal val="visible"/>
                                      </p:to>
                                    </p:set>
                                    <p:anim calcmode="lin" valueType="num">
                                      <p:cBhvr>
                                        <p:cTn id="37" dur="1000" fill="hold"/>
                                        <p:tgtEl>
                                          <p:spTgt spid="30"/>
                                        </p:tgtEl>
                                        <p:attrNameLst>
                                          <p:attrName>ppt_w</p:attrName>
                                        </p:attrNameLst>
                                      </p:cBhvr>
                                      <p:tavLst>
                                        <p:tav tm="0">
                                          <p:val>
                                            <p:strVal val="#ppt_w+.3"/>
                                          </p:val>
                                        </p:tav>
                                        <p:tav tm="100000">
                                          <p:val>
                                            <p:strVal val="#ppt_w"/>
                                          </p:val>
                                        </p:tav>
                                      </p:tavLst>
                                    </p:anim>
                                    <p:anim calcmode="lin" valueType="num">
                                      <p:cBhvr>
                                        <p:cTn id="38" dur="1000" fill="hold"/>
                                        <p:tgtEl>
                                          <p:spTgt spid="30"/>
                                        </p:tgtEl>
                                        <p:attrNameLst>
                                          <p:attrName>ppt_h</p:attrName>
                                        </p:attrNameLst>
                                      </p:cBhvr>
                                      <p:tavLst>
                                        <p:tav tm="0">
                                          <p:val>
                                            <p:strVal val="#ppt_h"/>
                                          </p:val>
                                        </p:tav>
                                        <p:tav tm="100000">
                                          <p:val>
                                            <p:strVal val="#ppt_h"/>
                                          </p:val>
                                        </p:tav>
                                      </p:tavLst>
                                    </p:anim>
                                    <p:animEffect transition="in" filter="fade">
                                      <p:cBhvr>
                                        <p:cTn id="39" dur="1000"/>
                                        <p:tgtEl>
                                          <p:spTgt spid="30"/>
                                        </p:tgtEl>
                                      </p:cBhvr>
                                    </p:animEffect>
                                  </p:childTnLst>
                                </p:cTn>
                              </p:par>
                              <p:par>
                                <p:cTn id="40" presetID="50" presetClass="entr" presetSubtype="0" decel="100000" fill="hold" grpId="0" nodeType="withEffect">
                                  <p:stCondLst>
                                    <p:cond delay="850"/>
                                  </p:stCondLst>
                                  <p:childTnLst>
                                    <p:set>
                                      <p:cBhvr>
                                        <p:cTn id="41" dur="1" fill="hold">
                                          <p:stCondLst>
                                            <p:cond delay="0"/>
                                          </p:stCondLst>
                                        </p:cTn>
                                        <p:tgtEl>
                                          <p:spTgt spid="31"/>
                                        </p:tgtEl>
                                        <p:attrNameLst>
                                          <p:attrName>style.visibility</p:attrName>
                                        </p:attrNameLst>
                                      </p:cBhvr>
                                      <p:to>
                                        <p:strVal val="visible"/>
                                      </p:to>
                                    </p:set>
                                    <p:anim calcmode="lin" valueType="num">
                                      <p:cBhvr>
                                        <p:cTn id="42" dur="1000" fill="hold"/>
                                        <p:tgtEl>
                                          <p:spTgt spid="31"/>
                                        </p:tgtEl>
                                        <p:attrNameLst>
                                          <p:attrName>ppt_w</p:attrName>
                                        </p:attrNameLst>
                                      </p:cBhvr>
                                      <p:tavLst>
                                        <p:tav tm="0">
                                          <p:val>
                                            <p:strVal val="#ppt_w+.3"/>
                                          </p:val>
                                        </p:tav>
                                        <p:tav tm="100000">
                                          <p:val>
                                            <p:strVal val="#ppt_w"/>
                                          </p:val>
                                        </p:tav>
                                      </p:tavLst>
                                    </p:anim>
                                    <p:anim calcmode="lin" valueType="num">
                                      <p:cBhvr>
                                        <p:cTn id="43" dur="1000" fill="hold"/>
                                        <p:tgtEl>
                                          <p:spTgt spid="31"/>
                                        </p:tgtEl>
                                        <p:attrNameLst>
                                          <p:attrName>ppt_h</p:attrName>
                                        </p:attrNameLst>
                                      </p:cBhvr>
                                      <p:tavLst>
                                        <p:tav tm="0">
                                          <p:val>
                                            <p:strVal val="#ppt_h"/>
                                          </p:val>
                                        </p:tav>
                                        <p:tav tm="100000">
                                          <p:val>
                                            <p:strVal val="#ppt_h"/>
                                          </p:val>
                                        </p:tav>
                                      </p:tavLst>
                                    </p:anim>
                                    <p:animEffect transition="in" filter="fade">
                                      <p:cBhvr>
                                        <p:cTn id="44"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8" grpId="0"/>
      <p:bldP spid="29" grpId="0"/>
      <p:bldP spid="30" grpId="0"/>
      <p:bldP spid="3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flipH="1">
            <a:off x="2918943" y="457535"/>
            <a:ext cx="6225059"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 name="圆角矩形 2"/>
          <p:cNvSpPr/>
          <p:nvPr/>
        </p:nvSpPr>
        <p:spPr>
          <a:xfrm>
            <a:off x="692971" y="182379"/>
            <a:ext cx="2448272"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4" name="矩形 3"/>
          <p:cNvSpPr/>
          <p:nvPr/>
        </p:nvSpPr>
        <p:spPr>
          <a:xfrm>
            <a:off x="1027196" y="226702"/>
            <a:ext cx="1723549" cy="461665"/>
          </a:xfrm>
          <a:prstGeom prst="rect">
            <a:avLst/>
          </a:prstGeom>
        </p:spPr>
        <p:txBody>
          <a:bodyPr wrap="none">
            <a:spAutoFit/>
          </a:bodyPr>
          <a:lstStyle/>
          <a:p>
            <a:pPr defTabSz="913924"/>
            <a:r>
              <a:rPr lang="en-US" altLang="zh-CN" sz="2400" b="1" kern="0" dirty="0">
                <a:solidFill>
                  <a:srgbClr val="005A9E"/>
                </a:solidFill>
                <a:cs typeface="+mn-ea"/>
                <a:sym typeface="+mn-lt"/>
              </a:rPr>
              <a:t>Textbooks</a:t>
            </a:r>
            <a:endParaRPr lang="zh-CN" altLang="en-US" sz="2400" b="1" kern="0" dirty="0">
              <a:solidFill>
                <a:srgbClr val="005A9E"/>
              </a:solidFill>
              <a:cs typeface="+mn-ea"/>
              <a:sym typeface="+mn-lt"/>
            </a:endParaRPr>
          </a:p>
        </p:txBody>
      </p:sp>
      <p:grpSp>
        <p:nvGrpSpPr>
          <p:cNvPr id="5" name="Group 17"/>
          <p:cNvGrpSpPr>
            <a:grpSpLocks noChangeAspect="1"/>
          </p:cNvGrpSpPr>
          <p:nvPr/>
        </p:nvGrpSpPr>
        <p:grpSpPr bwMode="auto">
          <a:xfrm>
            <a:off x="179512" y="212152"/>
            <a:ext cx="457188" cy="490764"/>
            <a:chOff x="231" y="1205"/>
            <a:chExt cx="640" cy="687"/>
          </a:xfrm>
          <a:solidFill>
            <a:srgbClr val="005A9E"/>
          </a:solidFill>
          <a:effectLst/>
        </p:grpSpPr>
        <p:sp>
          <p:nvSpPr>
            <p:cNvPr id="6" name="Freeform 18"/>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7"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sp>
        <p:nvSpPr>
          <p:cNvPr id="12" name="文本框 34"/>
          <p:cNvSpPr txBox="1">
            <a:spLocks noChangeArrowheads="1"/>
          </p:cNvSpPr>
          <p:nvPr/>
        </p:nvSpPr>
        <p:spPr bwMode="auto">
          <a:xfrm>
            <a:off x="1986083" y="977246"/>
            <a:ext cx="1234953"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fontAlgn="base">
              <a:spcBef>
                <a:spcPct val="0"/>
              </a:spcBef>
              <a:spcAft>
                <a:spcPct val="0"/>
              </a:spcAft>
              <a:defRPr>
                <a:solidFill>
                  <a:schemeClr val="tx1"/>
                </a:solidFill>
                <a:latin typeface="Arial" pitchFamily="34" charset="0"/>
                <a:ea typeface="宋体" pitchFamily="2" charset="-122"/>
              </a:defRPr>
            </a:lvl6pPr>
            <a:lvl7pPr marL="2971800" indent="-228600" fontAlgn="base">
              <a:spcBef>
                <a:spcPct val="0"/>
              </a:spcBef>
              <a:spcAft>
                <a:spcPct val="0"/>
              </a:spcAft>
              <a:defRPr>
                <a:solidFill>
                  <a:schemeClr val="tx1"/>
                </a:solidFill>
                <a:latin typeface="Arial" pitchFamily="34" charset="0"/>
                <a:ea typeface="宋体" pitchFamily="2" charset="-122"/>
              </a:defRPr>
            </a:lvl7pPr>
            <a:lvl8pPr marL="3429000" indent="-228600" fontAlgn="base">
              <a:spcBef>
                <a:spcPct val="0"/>
              </a:spcBef>
              <a:spcAft>
                <a:spcPct val="0"/>
              </a:spcAft>
              <a:defRPr>
                <a:solidFill>
                  <a:schemeClr val="tx1"/>
                </a:solidFill>
                <a:latin typeface="Arial" pitchFamily="34" charset="0"/>
                <a:ea typeface="宋体" pitchFamily="2" charset="-122"/>
              </a:defRPr>
            </a:lvl8pPr>
            <a:lvl9pPr marL="3886200" indent="-228600" fontAlgn="base">
              <a:spcBef>
                <a:spcPct val="0"/>
              </a:spcBef>
              <a:spcAft>
                <a:spcPct val="0"/>
              </a:spcAft>
              <a:defRPr>
                <a:solidFill>
                  <a:schemeClr val="tx1"/>
                </a:solidFill>
                <a:latin typeface="Arial" pitchFamily="34" charset="0"/>
                <a:ea typeface="宋体" pitchFamily="2" charset="-122"/>
              </a:defRPr>
            </a:lvl9pPr>
          </a:lstStyle>
          <a:p>
            <a:r>
              <a:rPr lang="en-US" altLang="zh-CN" sz="2000" b="1" dirty="0">
                <a:solidFill>
                  <a:srgbClr val="FF0000"/>
                </a:solidFill>
                <a:latin typeface="+mn-lt"/>
                <a:ea typeface="+mn-ea"/>
                <a:cs typeface="+mn-ea"/>
                <a:sym typeface="+mn-lt"/>
              </a:rPr>
              <a:t>PDF</a:t>
            </a:r>
            <a:r>
              <a:rPr lang="zh-CN" altLang="en-US" sz="2000" b="1" dirty="0">
                <a:solidFill>
                  <a:srgbClr val="FF0000"/>
                </a:solidFill>
                <a:latin typeface="+mn-lt"/>
                <a:ea typeface="+mn-ea"/>
                <a:cs typeface="+mn-ea"/>
                <a:sym typeface="+mn-lt"/>
              </a:rPr>
              <a:t> </a:t>
            </a:r>
            <a:r>
              <a:rPr lang="en-US" altLang="zh-CN" sz="2000" b="1" dirty="0">
                <a:solidFill>
                  <a:srgbClr val="FF0000"/>
                </a:solidFill>
                <a:latin typeface="+mn-lt"/>
                <a:ea typeface="+mn-ea"/>
                <a:cs typeface="+mn-ea"/>
                <a:sym typeface="+mn-lt"/>
              </a:rPr>
              <a:t>files</a:t>
            </a:r>
            <a:endParaRPr lang="zh-CN" altLang="en-US" sz="2000" b="1" dirty="0">
              <a:solidFill>
                <a:srgbClr val="FF0000"/>
              </a:solidFill>
              <a:latin typeface="+mn-lt"/>
              <a:ea typeface="+mn-ea"/>
              <a:cs typeface="+mn-ea"/>
              <a:sym typeface="+mn-lt"/>
            </a:endParaRPr>
          </a:p>
        </p:txBody>
      </p:sp>
      <p:sp>
        <p:nvSpPr>
          <p:cNvPr id="14" name="矩形 36"/>
          <p:cNvSpPr>
            <a:spLocks noChangeArrowheads="1"/>
          </p:cNvSpPr>
          <p:nvPr/>
        </p:nvSpPr>
        <p:spPr bwMode="auto">
          <a:xfrm>
            <a:off x="1863378" y="1405402"/>
            <a:ext cx="1350169" cy="34289"/>
          </a:xfrm>
          <a:prstGeom prst="rect">
            <a:avLst/>
          </a:prstGeom>
          <a:solidFill>
            <a:schemeClr val="bg1">
              <a:lumMod val="75000"/>
            </a:schemeClr>
          </a:solidFill>
          <a:ln>
            <a:noFill/>
          </a:ln>
        </p:spPr>
        <p:txBody>
          <a:bodyPr lIns="68580" tIns="34290" rIns="68580" bIns="34290" anchor="ctr"/>
          <a:lstStyle/>
          <a:p>
            <a:pPr algn="ctr"/>
            <a:endParaRPr lang="zh-CN" altLang="zh-CN" sz="1500">
              <a:solidFill>
                <a:srgbClr val="005A9E"/>
              </a:solidFill>
              <a:cs typeface="+mn-ea"/>
              <a:sym typeface="+mn-lt"/>
            </a:endParaRPr>
          </a:p>
        </p:txBody>
      </p:sp>
      <p:pic>
        <p:nvPicPr>
          <p:cNvPr id="10" name="图片 9">
            <a:extLst>
              <a:ext uri="{FF2B5EF4-FFF2-40B4-BE49-F238E27FC236}">
                <a16:creationId xmlns:a16="http://schemas.microsoft.com/office/drawing/2014/main" id="{CC3AD85A-BB6E-91EE-61F3-6F818707AF92}"/>
              </a:ext>
            </a:extLst>
          </p:cNvPr>
          <p:cNvPicPr>
            <a:picLocks noChangeAspect="1"/>
          </p:cNvPicPr>
          <p:nvPr/>
        </p:nvPicPr>
        <p:blipFill>
          <a:blip r:embed="rId3"/>
          <a:srcRect r="31712"/>
          <a:stretch/>
        </p:blipFill>
        <p:spPr>
          <a:xfrm>
            <a:off x="44263" y="1629428"/>
            <a:ext cx="4527737" cy="2943636"/>
          </a:xfrm>
          <a:prstGeom prst="rect">
            <a:avLst/>
          </a:prstGeom>
        </p:spPr>
      </p:pic>
      <p:pic>
        <p:nvPicPr>
          <p:cNvPr id="15" name="图片 14">
            <a:extLst>
              <a:ext uri="{FF2B5EF4-FFF2-40B4-BE49-F238E27FC236}">
                <a16:creationId xmlns:a16="http://schemas.microsoft.com/office/drawing/2014/main" id="{F023AB4C-9DA0-7BB3-E793-09965253B27C}"/>
              </a:ext>
            </a:extLst>
          </p:cNvPr>
          <p:cNvPicPr>
            <a:picLocks noChangeAspect="1"/>
          </p:cNvPicPr>
          <p:nvPr/>
        </p:nvPicPr>
        <p:blipFill>
          <a:blip r:embed="rId4"/>
          <a:stretch>
            <a:fillRect/>
          </a:stretch>
        </p:blipFill>
        <p:spPr>
          <a:xfrm>
            <a:off x="4837929" y="1629428"/>
            <a:ext cx="4261808" cy="2872409"/>
          </a:xfrm>
          <a:prstGeom prst="rect">
            <a:avLst/>
          </a:prstGeom>
        </p:spPr>
      </p:pic>
    </p:spTree>
    <p:extLst>
      <p:ext uri="{BB962C8B-B14F-4D97-AF65-F5344CB8AC3E}">
        <p14:creationId xmlns:p14="http://schemas.microsoft.com/office/powerpoint/2010/main" val="2289741068"/>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45DF1-1056-7F34-942E-91C52D5BCAEC}"/>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F3D6B0B9-351B-E9CB-C9C1-E7C435AF1F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9808" y="920182"/>
            <a:ext cx="3002791" cy="3294631"/>
          </a:xfrm>
          <a:prstGeom prst="rect">
            <a:avLst/>
          </a:prstGeom>
          <a:noFill/>
          <a:extLst>
            <a:ext uri="{909E8E84-426E-40DD-AFC4-6F175D3DCCD1}">
              <a14:hiddenFill xmlns:a14="http://schemas.microsoft.com/office/drawing/2010/main">
                <a:solidFill>
                  <a:srgbClr val="FFFFFF"/>
                </a:solidFill>
              </a14:hiddenFill>
            </a:ext>
          </a:extLst>
        </p:spPr>
      </p:pic>
      <p:sp>
        <p:nvSpPr>
          <p:cNvPr id="18" name="矩形 17">
            <a:extLst>
              <a:ext uri="{FF2B5EF4-FFF2-40B4-BE49-F238E27FC236}">
                <a16:creationId xmlns:a16="http://schemas.microsoft.com/office/drawing/2014/main" id="{2C273C74-A629-A47D-1A85-84E179C2E02D}"/>
              </a:ext>
            </a:extLst>
          </p:cNvPr>
          <p:cNvSpPr/>
          <p:nvPr/>
        </p:nvSpPr>
        <p:spPr>
          <a:xfrm>
            <a:off x="496968" y="96203"/>
            <a:ext cx="1598837" cy="482441"/>
          </a:xfrm>
          <a:prstGeom prst="rect">
            <a:avLst/>
          </a:prstGeom>
          <a:solidFill>
            <a:srgbClr val="FC1F3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fontAlgn="ctr">
              <a:lnSpc>
                <a:spcPct val="150000"/>
              </a:lnSpc>
              <a:buClrTx/>
              <a:buSzTx/>
              <a:buFontTx/>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课程资源</a:t>
            </a:r>
          </a:p>
        </p:txBody>
      </p:sp>
      <p:grpSp>
        <p:nvGrpSpPr>
          <p:cNvPr id="49" name="组合 48">
            <a:extLst>
              <a:ext uri="{FF2B5EF4-FFF2-40B4-BE49-F238E27FC236}">
                <a16:creationId xmlns:a16="http://schemas.microsoft.com/office/drawing/2014/main" id="{05689ED1-6453-7995-646D-D5531D9D5F6B}"/>
              </a:ext>
            </a:extLst>
          </p:cNvPr>
          <p:cNvGrpSpPr/>
          <p:nvPr/>
        </p:nvGrpSpPr>
        <p:grpSpPr>
          <a:xfrm>
            <a:off x="-1666" y="96679"/>
            <a:ext cx="455771" cy="502920"/>
            <a:chOff x="-6" y="203"/>
            <a:chExt cx="957" cy="1056"/>
          </a:xfrm>
        </p:grpSpPr>
        <p:sp>
          <p:nvSpPr>
            <p:cNvPr id="47" name="矩形 46">
              <a:extLst>
                <a:ext uri="{FF2B5EF4-FFF2-40B4-BE49-F238E27FC236}">
                  <a16:creationId xmlns:a16="http://schemas.microsoft.com/office/drawing/2014/main" id="{E3998289-5B0F-6807-8F35-3C85831532A3}"/>
                </a:ext>
              </a:extLst>
            </p:cNvPr>
            <p:cNvSpPr/>
            <p:nvPr/>
          </p:nvSpPr>
          <p:spPr>
            <a:xfrm>
              <a:off x="-6" y="203"/>
              <a:ext cx="630" cy="1056"/>
            </a:xfrm>
            <a:prstGeom prst="rect">
              <a:avLst/>
            </a:prstGeom>
            <a:gradFill>
              <a:gsLst>
                <a:gs pos="0">
                  <a:srgbClr val="FB153B"/>
                </a:gs>
                <a:gs pos="100000">
                  <a:srgbClr val="FE460D"/>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8" name="矩形 47">
              <a:extLst>
                <a:ext uri="{FF2B5EF4-FFF2-40B4-BE49-F238E27FC236}">
                  <a16:creationId xmlns:a16="http://schemas.microsoft.com/office/drawing/2014/main" id="{7F34AA58-E3C7-956D-7CC4-6CD4E852CA43}"/>
                </a:ext>
              </a:extLst>
            </p:cNvPr>
            <p:cNvSpPr/>
            <p:nvPr/>
          </p:nvSpPr>
          <p:spPr>
            <a:xfrm>
              <a:off x="719" y="203"/>
              <a:ext cx="232" cy="1056"/>
            </a:xfrm>
            <a:prstGeom prst="rect">
              <a:avLst/>
            </a:prstGeom>
            <a:gradFill>
              <a:gsLst>
                <a:gs pos="0">
                  <a:srgbClr val="FB153B"/>
                </a:gs>
                <a:gs pos="100000">
                  <a:srgbClr val="FE460D"/>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pic>
        <p:nvPicPr>
          <p:cNvPr id="3" name="图片 2">
            <a:extLst>
              <a:ext uri="{FF2B5EF4-FFF2-40B4-BE49-F238E27FC236}">
                <a16:creationId xmlns:a16="http://schemas.microsoft.com/office/drawing/2014/main" id="{9DBC28CB-45CB-6EE7-D8C1-3F1EFDD414BD}"/>
              </a:ext>
            </a:extLst>
          </p:cNvPr>
          <p:cNvPicPr>
            <a:picLocks noChangeAspect="1"/>
          </p:cNvPicPr>
          <p:nvPr/>
        </p:nvPicPr>
        <p:blipFill>
          <a:blip r:embed="rId4"/>
          <a:stretch>
            <a:fillRect/>
          </a:stretch>
        </p:blipFill>
        <p:spPr>
          <a:xfrm>
            <a:off x="398860" y="920182"/>
            <a:ext cx="4644280" cy="3366978"/>
          </a:xfrm>
          <a:prstGeom prst="rect">
            <a:avLst/>
          </a:prstGeom>
        </p:spPr>
      </p:pic>
      <p:sp>
        <p:nvSpPr>
          <p:cNvPr id="6" name="文本框 5">
            <a:extLst>
              <a:ext uri="{FF2B5EF4-FFF2-40B4-BE49-F238E27FC236}">
                <a16:creationId xmlns:a16="http://schemas.microsoft.com/office/drawing/2014/main" id="{FCF63FED-5780-0826-9E33-FE59280677ED}"/>
              </a:ext>
            </a:extLst>
          </p:cNvPr>
          <p:cNvSpPr txBox="1"/>
          <p:nvPr/>
        </p:nvSpPr>
        <p:spPr>
          <a:xfrm>
            <a:off x="561629" y="4461571"/>
            <a:ext cx="4212508" cy="300082"/>
          </a:xfrm>
          <a:prstGeom prst="rect">
            <a:avLst/>
          </a:prstGeom>
          <a:noFill/>
        </p:spPr>
        <p:txBody>
          <a:bodyPr wrap="square">
            <a:spAutoFit/>
          </a:bodyPr>
          <a:lstStyle/>
          <a:p>
            <a:r>
              <a:rPr lang="zh-CN" altLang="en-US" sz="1350" dirty="0">
                <a:hlinkClick r:id="rId5"/>
              </a:rPr>
              <a:t>普通物理学实验</a:t>
            </a:r>
            <a:r>
              <a:rPr lang="en-US" altLang="zh-CN" sz="1350" dirty="0">
                <a:hlinkClick r:id="rId5"/>
              </a:rPr>
              <a:t>_</a:t>
            </a:r>
            <a:r>
              <a:rPr lang="zh-CN" altLang="en-US" sz="1350" dirty="0">
                <a:hlinkClick r:id="rId5"/>
              </a:rPr>
              <a:t>暨南大学</a:t>
            </a:r>
            <a:r>
              <a:rPr lang="en-US" altLang="zh-CN" sz="1350" dirty="0">
                <a:hlinkClick r:id="rId5"/>
              </a:rPr>
              <a:t>_</a:t>
            </a:r>
            <a:r>
              <a:rPr lang="zh-CN" altLang="en-US" sz="1350" dirty="0">
                <a:hlinkClick r:id="rId5"/>
              </a:rPr>
              <a:t>中国大学</a:t>
            </a:r>
            <a:r>
              <a:rPr lang="en-US" altLang="zh-CN" sz="1350" dirty="0">
                <a:hlinkClick r:id="rId5"/>
              </a:rPr>
              <a:t>MOOC(</a:t>
            </a:r>
            <a:r>
              <a:rPr lang="zh-CN" altLang="en-US" sz="1350" dirty="0">
                <a:hlinkClick r:id="rId5"/>
              </a:rPr>
              <a:t>慕课</a:t>
            </a:r>
            <a:r>
              <a:rPr lang="en-US" altLang="zh-CN" sz="1350" dirty="0">
                <a:hlinkClick r:id="rId5"/>
              </a:rPr>
              <a:t>)</a:t>
            </a:r>
            <a:endParaRPr lang="zh-CN" altLang="en-US" sz="1350" dirty="0"/>
          </a:p>
        </p:txBody>
      </p:sp>
      <p:sp>
        <p:nvSpPr>
          <p:cNvPr id="8" name="文本框 7">
            <a:extLst>
              <a:ext uri="{FF2B5EF4-FFF2-40B4-BE49-F238E27FC236}">
                <a16:creationId xmlns:a16="http://schemas.microsoft.com/office/drawing/2014/main" id="{8AEB12A5-1798-586A-141D-BF418F903CC3}"/>
              </a:ext>
            </a:extLst>
          </p:cNvPr>
          <p:cNvSpPr txBox="1"/>
          <p:nvPr/>
        </p:nvSpPr>
        <p:spPr>
          <a:xfrm>
            <a:off x="561629" y="4703946"/>
            <a:ext cx="4572000" cy="346249"/>
          </a:xfrm>
          <a:prstGeom prst="rect">
            <a:avLst/>
          </a:prstGeom>
          <a:noFill/>
        </p:spPr>
        <p:txBody>
          <a:bodyPr wrap="square">
            <a:spAutoFit/>
          </a:bodyPr>
          <a:lstStyle/>
          <a:p>
            <a:r>
              <a:rPr lang="en-US" altLang="zh-CN" sz="825" dirty="0"/>
              <a:t>https://www.icourse163.org/course/0702JNU098-1471431162?outVendor=zw_mooc_pclszykctj_</a:t>
            </a:r>
            <a:endParaRPr lang="zh-CN" altLang="en-US" sz="825" dirty="0"/>
          </a:p>
        </p:txBody>
      </p:sp>
      <p:sp>
        <p:nvSpPr>
          <p:cNvPr id="17" name="文本框 16">
            <a:extLst>
              <a:ext uri="{FF2B5EF4-FFF2-40B4-BE49-F238E27FC236}">
                <a16:creationId xmlns:a16="http://schemas.microsoft.com/office/drawing/2014/main" id="{959610E8-4292-4A83-2139-BE6223BE05A0}"/>
              </a:ext>
            </a:extLst>
          </p:cNvPr>
          <p:cNvSpPr txBox="1"/>
          <p:nvPr/>
        </p:nvSpPr>
        <p:spPr>
          <a:xfrm>
            <a:off x="7932809" y="1754932"/>
            <a:ext cx="345914" cy="1708160"/>
          </a:xfrm>
          <a:prstGeom prst="rect">
            <a:avLst/>
          </a:prstGeom>
          <a:noFill/>
        </p:spPr>
        <p:txBody>
          <a:bodyPr wrap="square" rtlCol="0">
            <a:spAutoFit/>
          </a:bodyPr>
          <a:lstStyle/>
          <a:p>
            <a:r>
              <a:rPr lang="zh-CN" altLang="en-US" sz="1500" b="1" dirty="0">
                <a:solidFill>
                  <a:schemeClr val="accent2"/>
                </a:solidFill>
                <a:latin typeface="Microsoft YaHei Light" panose="020B0502040204020203" pitchFamily="34" charset="-122"/>
                <a:ea typeface="Microsoft YaHei Light" panose="020B0502040204020203" pitchFamily="34" charset="-122"/>
              </a:rPr>
              <a:t>请支持正版教材</a:t>
            </a:r>
          </a:p>
        </p:txBody>
      </p:sp>
      <p:sp>
        <p:nvSpPr>
          <p:cNvPr id="5" name="文本框 4">
            <a:extLst>
              <a:ext uri="{FF2B5EF4-FFF2-40B4-BE49-F238E27FC236}">
                <a16:creationId xmlns:a16="http://schemas.microsoft.com/office/drawing/2014/main" id="{8F328B13-30B3-0947-7A15-7FAC73A0C815}"/>
              </a:ext>
            </a:extLst>
          </p:cNvPr>
          <p:cNvSpPr txBox="1"/>
          <p:nvPr/>
        </p:nvSpPr>
        <p:spPr>
          <a:xfrm>
            <a:off x="3461486" y="114851"/>
            <a:ext cx="4644280" cy="507831"/>
          </a:xfrm>
          <a:prstGeom prst="rect">
            <a:avLst/>
          </a:prstGeom>
          <a:noFill/>
        </p:spPr>
        <p:txBody>
          <a:bodyPr wrap="square">
            <a:spAutoFit/>
          </a:bodyPr>
          <a:lstStyle/>
          <a:p>
            <a:r>
              <a:rPr lang="zh-CN" altLang="en-US" sz="1350" b="1" dirty="0">
                <a:solidFill>
                  <a:schemeClr val="accent5">
                    <a:lumMod val="75000"/>
                  </a:schemeClr>
                </a:solidFill>
                <a:latin typeface="Times New Roman" panose="02020603050405020304" pitchFamily="18" charset="0"/>
                <a:ea typeface="Microsoft YaHei Light" panose="020B0502040204020203" pitchFamily="34" charset="-122"/>
                <a:cs typeface="Times New Roman" panose="02020603050405020304" pitchFamily="18" charset="0"/>
              </a:rPr>
              <a:t>欢迎大家指出 教材 及 </a:t>
            </a:r>
            <a:r>
              <a:rPr lang="en-US" altLang="zh-CN" sz="1350" b="1" dirty="0">
                <a:solidFill>
                  <a:schemeClr val="accent5">
                    <a:lumMod val="75000"/>
                  </a:schemeClr>
                </a:solidFill>
                <a:latin typeface="Times New Roman" panose="02020603050405020304" pitchFamily="18" charset="0"/>
                <a:ea typeface="Microsoft YaHei Light" panose="020B0502040204020203" pitchFamily="34" charset="-122"/>
                <a:cs typeface="Times New Roman" panose="02020603050405020304" pitchFamily="18" charset="0"/>
              </a:rPr>
              <a:t>MOOC</a:t>
            </a:r>
            <a:r>
              <a:rPr lang="zh-CN" altLang="en-US" sz="1350" b="1" dirty="0">
                <a:solidFill>
                  <a:schemeClr val="accent5">
                    <a:lumMod val="75000"/>
                  </a:schemeClr>
                </a:solidFill>
                <a:latin typeface="Times New Roman" panose="02020603050405020304" pitchFamily="18" charset="0"/>
                <a:ea typeface="Microsoft YaHei Light" panose="020B0502040204020203" pitchFamily="34" charset="-122"/>
                <a:cs typeface="Times New Roman" panose="02020603050405020304" pitchFamily="18" charset="0"/>
              </a:rPr>
              <a:t>中</a:t>
            </a:r>
            <a:r>
              <a:rPr lang="en-US" altLang="zh-CN" sz="1350" b="1" dirty="0">
                <a:solidFill>
                  <a:schemeClr val="accent5">
                    <a:lumMod val="75000"/>
                  </a:schemeClr>
                </a:solidFill>
                <a:latin typeface="Times New Roman" panose="02020603050405020304" pitchFamily="18" charset="0"/>
                <a:ea typeface="Microsoft YaHei Light" panose="020B0502040204020203" pitchFamily="34" charset="-122"/>
                <a:cs typeface="Times New Roman" panose="02020603050405020304" pitchFamily="18" charset="0"/>
              </a:rPr>
              <a:t> </a:t>
            </a:r>
            <a:r>
              <a:rPr lang="zh-CN" altLang="en-US" sz="1350" b="1" dirty="0">
                <a:solidFill>
                  <a:schemeClr val="accent5">
                    <a:lumMod val="75000"/>
                  </a:schemeClr>
                </a:solidFill>
                <a:latin typeface="Times New Roman" panose="02020603050405020304" pitchFamily="18" charset="0"/>
                <a:ea typeface="Microsoft YaHei Light" panose="020B0502040204020203" pitchFamily="34" charset="-122"/>
                <a:cs typeface="Times New Roman" panose="02020603050405020304" pitchFamily="18" charset="0"/>
              </a:rPr>
              <a:t>的不足，帮助我们改进。</a:t>
            </a:r>
            <a:endParaRPr lang="en-US" altLang="zh-CN" sz="1350" b="1" dirty="0">
              <a:solidFill>
                <a:schemeClr val="accent5">
                  <a:lumMod val="75000"/>
                </a:schemeClr>
              </a:solidFill>
              <a:latin typeface="Times New Roman" panose="02020603050405020304" pitchFamily="18" charset="0"/>
              <a:ea typeface="Microsoft YaHei Light" panose="020B0502040204020203" pitchFamily="34" charset="-122"/>
              <a:cs typeface="Times New Roman" panose="02020603050405020304" pitchFamily="18" charset="0"/>
            </a:endParaRPr>
          </a:p>
          <a:p>
            <a:r>
              <a:rPr lang="zh-CN" altLang="en-US" sz="1350" b="1" dirty="0">
                <a:solidFill>
                  <a:schemeClr val="accent5">
                    <a:lumMod val="75000"/>
                  </a:schemeClr>
                </a:solidFill>
                <a:latin typeface="Times New Roman" panose="02020603050405020304" pitchFamily="18" charset="0"/>
                <a:ea typeface="Microsoft YaHei Light" panose="020B0502040204020203" pitchFamily="34" charset="-122"/>
                <a:cs typeface="Times New Roman" panose="02020603050405020304" pitchFamily="18" charset="0"/>
              </a:rPr>
              <a:t>反馈意见和建议请发送至   </a:t>
            </a:r>
            <a:r>
              <a:rPr lang="en-US" altLang="zh-CN" sz="1350" b="1" dirty="0">
                <a:solidFill>
                  <a:schemeClr val="accent5">
                    <a:lumMod val="75000"/>
                  </a:schemeClr>
                </a:solidFill>
                <a:latin typeface="Times New Roman" panose="02020603050405020304" pitchFamily="18" charset="0"/>
                <a:ea typeface="Microsoft YaHei Light" panose="020B0502040204020203" pitchFamily="34" charset="-122"/>
                <a:cs typeface="Times New Roman" panose="02020603050405020304" pitchFamily="18" charset="0"/>
              </a:rPr>
              <a:t>twzhang@jnu.edu.cn</a:t>
            </a:r>
            <a:endParaRPr lang="zh-CN" altLang="en-US" sz="1350" b="1" dirty="0">
              <a:solidFill>
                <a:schemeClr val="accent5">
                  <a:lumMod val="75000"/>
                </a:schemeClr>
              </a:solidFill>
              <a:latin typeface="Times New Roman" panose="02020603050405020304" pitchFamily="18" charset="0"/>
              <a:ea typeface="Microsoft YaHei Light" panose="020B0502040204020203" pitchFamily="34" charset="-122"/>
              <a:cs typeface="Times New Roman" panose="02020603050405020304" pitchFamily="18" charset="0"/>
            </a:endParaRPr>
          </a:p>
        </p:txBody>
      </p:sp>
    </p:spTree>
    <p:extLst>
      <p:ext uri="{BB962C8B-B14F-4D97-AF65-F5344CB8AC3E}">
        <p14:creationId xmlns:p14="http://schemas.microsoft.com/office/powerpoint/2010/main" val="30731450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flipH="1">
            <a:off x="2918943" y="457535"/>
            <a:ext cx="6225059"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 name="圆角矩形 2"/>
          <p:cNvSpPr/>
          <p:nvPr/>
        </p:nvSpPr>
        <p:spPr>
          <a:xfrm>
            <a:off x="742945" y="191230"/>
            <a:ext cx="2448272"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4" name="矩形 3"/>
          <p:cNvSpPr/>
          <p:nvPr/>
        </p:nvSpPr>
        <p:spPr>
          <a:xfrm>
            <a:off x="1027196" y="226702"/>
            <a:ext cx="1739579" cy="461665"/>
          </a:xfrm>
          <a:prstGeom prst="rect">
            <a:avLst/>
          </a:prstGeom>
        </p:spPr>
        <p:txBody>
          <a:bodyPr wrap="none">
            <a:spAutoFit/>
          </a:bodyPr>
          <a:lstStyle/>
          <a:p>
            <a:pPr defTabSz="913924"/>
            <a:r>
              <a:rPr lang="en-US" altLang="zh-CN" sz="2400" b="1" kern="0" dirty="0">
                <a:solidFill>
                  <a:srgbClr val="005A9E"/>
                </a:solidFill>
                <a:cs typeface="+mn-ea"/>
                <a:sym typeface="+mn-lt"/>
              </a:rPr>
              <a:t>Lab Rule 1</a:t>
            </a:r>
            <a:endParaRPr lang="zh-CN" altLang="en-US" sz="2400" b="1" kern="0" dirty="0">
              <a:solidFill>
                <a:srgbClr val="005A9E"/>
              </a:solidFill>
              <a:cs typeface="+mn-ea"/>
              <a:sym typeface="+mn-lt"/>
            </a:endParaRPr>
          </a:p>
        </p:txBody>
      </p:sp>
      <p:grpSp>
        <p:nvGrpSpPr>
          <p:cNvPr id="5" name="Group 17"/>
          <p:cNvGrpSpPr>
            <a:grpSpLocks noChangeAspect="1"/>
          </p:cNvGrpSpPr>
          <p:nvPr/>
        </p:nvGrpSpPr>
        <p:grpSpPr bwMode="auto">
          <a:xfrm>
            <a:off x="179512" y="212152"/>
            <a:ext cx="457188" cy="490764"/>
            <a:chOff x="231" y="1205"/>
            <a:chExt cx="640" cy="687"/>
          </a:xfrm>
          <a:solidFill>
            <a:srgbClr val="005A9E"/>
          </a:solidFill>
          <a:effectLst/>
        </p:grpSpPr>
        <p:sp>
          <p:nvSpPr>
            <p:cNvPr id="6" name="Freeform 18"/>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7"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sp>
        <p:nvSpPr>
          <p:cNvPr id="10" name="内容占位符 2">
            <a:extLst>
              <a:ext uri="{FF2B5EF4-FFF2-40B4-BE49-F238E27FC236}">
                <a16:creationId xmlns:a16="http://schemas.microsoft.com/office/drawing/2014/main" id="{8AB3AFF9-5E5D-4AF1-871E-90636F0E3245}"/>
              </a:ext>
            </a:extLst>
          </p:cNvPr>
          <p:cNvSpPr txBox="1">
            <a:spLocks/>
          </p:cNvSpPr>
          <p:nvPr/>
        </p:nvSpPr>
        <p:spPr>
          <a:xfrm>
            <a:off x="357743" y="1176867"/>
            <a:ext cx="8605101" cy="3446892"/>
          </a:xfrm>
          <a:prstGeom prst="rect">
            <a:avLst/>
          </a:prstGeom>
        </p:spPr>
        <p:txBody>
          <a:bodyPr>
            <a:normAutofit/>
          </a:bodyPr>
          <a:lstStyle>
            <a:lvl1pPr marL="257175" indent="-257175"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1pPr>
            <a:lvl2pPr marL="557213" indent="-214313" algn="l" rtl="0" eaLnBrk="0" fontAlgn="base" hangingPunct="0">
              <a:spcBef>
                <a:spcPct val="20000"/>
              </a:spcBef>
              <a:spcAft>
                <a:spcPct val="0"/>
              </a:spcAft>
              <a:buFont typeface="Arial" charset="0"/>
              <a:buChar char="–"/>
              <a:defRPr sz="2100" kern="1200">
                <a:solidFill>
                  <a:schemeClr val="tx1"/>
                </a:solidFill>
                <a:latin typeface="Arial" charset="0"/>
                <a:ea typeface="+mn-ea"/>
                <a:cs typeface="+mn-cs"/>
              </a:defRPr>
            </a:lvl2pPr>
            <a:lvl3pPr marL="857250" indent="-171450" algn="l" rtl="0" eaLnBrk="0" fontAlgn="base" hangingPunct="0">
              <a:spcBef>
                <a:spcPct val="20000"/>
              </a:spcBef>
              <a:spcAft>
                <a:spcPct val="0"/>
              </a:spcAft>
              <a:buFont typeface="Arial" charset="0"/>
              <a:buChar char="•"/>
              <a:defRPr sz="1800" kern="1200">
                <a:solidFill>
                  <a:schemeClr val="tx1"/>
                </a:solidFill>
                <a:latin typeface="Arial" charset="0"/>
                <a:ea typeface="+mn-ea"/>
                <a:cs typeface="+mn-cs"/>
              </a:defRPr>
            </a:lvl3pPr>
            <a:lvl4pPr marL="12001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4pPr>
            <a:lvl5pPr marL="15430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20000"/>
              </a:lnSpc>
            </a:pPr>
            <a:r>
              <a:rPr lang="en-US" altLang="zh-CN" sz="1800" dirty="0"/>
              <a:t>Groups</a:t>
            </a:r>
            <a:r>
              <a:rPr lang="zh-CN" altLang="en-US" sz="1800" dirty="0"/>
              <a:t>（分组）</a:t>
            </a:r>
            <a:endParaRPr lang="en-US" altLang="zh-CN" sz="1800" dirty="0"/>
          </a:p>
          <a:p>
            <a:pPr>
              <a:lnSpc>
                <a:spcPct val="120000"/>
              </a:lnSpc>
            </a:pPr>
            <a:r>
              <a:rPr lang="en-US" altLang="zh-CN" sz="1800" dirty="0"/>
              <a:t>Time </a:t>
            </a:r>
            <a:r>
              <a:rPr lang="zh-CN" altLang="en-US" sz="1800" dirty="0"/>
              <a:t>（</a:t>
            </a:r>
            <a:r>
              <a:rPr lang="en-US" altLang="zh-CN" sz="1800" b="1" dirty="0">
                <a:solidFill>
                  <a:srgbClr val="FF0000"/>
                </a:solidFill>
              </a:rPr>
              <a:t>13:45</a:t>
            </a:r>
            <a:r>
              <a:rPr lang="en-US" altLang="zh-CN" sz="1800" dirty="0"/>
              <a:t>-16:00</a:t>
            </a:r>
            <a:r>
              <a:rPr lang="zh-CN" altLang="en-US" sz="1800" dirty="0"/>
              <a:t>）</a:t>
            </a:r>
            <a:r>
              <a:rPr lang="en-US" altLang="zh-CN" sz="1800" dirty="0"/>
              <a:t>&amp; Room number</a:t>
            </a:r>
            <a:r>
              <a:rPr lang="zh-CN" altLang="en-US" sz="1800" dirty="0"/>
              <a:t>（时间和实验室）</a:t>
            </a:r>
            <a:endParaRPr lang="en-US" altLang="zh-CN" sz="1800" dirty="0"/>
          </a:p>
          <a:p>
            <a:pPr>
              <a:lnSpc>
                <a:spcPct val="120000"/>
              </a:lnSpc>
            </a:pPr>
            <a:r>
              <a:rPr lang="en-US" altLang="zh-CN" sz="1800" dirty="0"/>
              <a:t>If you are late, you will suffer a five or more points penalty</a:t>
            </a:r>
            <a:r>
              <a:rPr lang="zh-CN" altLang="en-US" sz="1800" dirty="0"/>
              <a:t>（迟到至少扣除</a:t>
            </a:r>
            <a:r>
              <a:rPr lang="en-US" altLang="zh-CN" sz="1800" dirty="0"/>
              <a:t>5</a:t>
            </a:r>
            <a:r>
              <a:rPr lang="zh-CN" altLang="en-US" sz="1800" dirty="0"/>
              <a:t>分）</a:t>
            </a:r>
            <a:endParaRPr lang="en-US" altLang="zh-CN" sz="1800" dirty="0"/>
          </a:p>
          <a:p>
            <a:pPr>
              <a:lnSpc>
                <a:spcPct val="120000"/>
              </a:lnSpc>
            </a:pPr>
            <a:r>
              <a:rPr lang="en-US" altLang="zh-CN" sz="1800" dirty="0"/>
              <a:t>Entry with </a:t>
            </a:r>
            <a:r>
              <a:rPr lang="en-US" altLang="zh-CN" sz="1800" b="1" dirty="0">
                <a:solidFill>
                  <a:srgbClr val="FF0000"/>
                </a:solidFill>
              </a:rPr>
              <a:t>pre-laboratory report </a:t>
            </a:r>
            <a:r>
              <a:rPr lang="en-US" altLang="zh-CN" sz="1800" dirty="0"/>
              <a:t>(</a:t>
            </a:r>
            <a:r>
              <a:rPr lang="zh-CN" altLang="en-US" sz="1800" dirty="0"/>
              <a:t>进入实验室必须携带</a:t>
            </a:r>
            <a:r>
              <a:rPr lang="zh-CN" altLang="en-US" sz="1800" b="1" dirty="0">
                <a:solidFill>
                  <a:srgbClr val="FF0000"/>
                </a:solidFill>
              </a:rPr>
              <a:t>实验预习报告</a:t>
            </a:r>
            <a:r>
              <a:rPr lang="en-US" altLang="zh-CN" sz="1800" dirty="0"/>
              <a:t>)</a:t>
            </a:r>
          </a:p>
          <a:p>
            <a:pPr>
              <a:lnSpc>
                <a:spcPct val="120000"/>
              </a:lnSpc>
            </a:pPr>
            <a:r>
              <a:rPr lang="en-US" altLang="zh-CN" sz="1800" dirty="0"/>
              <a:t>Please submit the</a:t>
            </a:r>
            <a:r>
              <a:rPr lang="zh-CN" altLang="en-US" sz="1800" dirty="0"/>
              <a:t> </a:t>
            </a:r>
            <a:r>
              <a:rPr lang="en-US" altLang="zh-CN" sz="1800" dirty="0"/>
              <a:t>reports on time</a:t>
            </a:r>
            <a:r>
              <a:rPr lang="zh-CN" altLang="en-US" sz="1800" dirty="0"/>
              <a:t>（</a:t>
            </a:r>
            <a:r>
              <a:rPr lang="zh-CN" altLang="en-US" sz="1800" b="1" dirty="0">
                <a:solidFill>
                  <a:srgbClr val="FF0000"/>
                </a:solidFill>
                <a:latin typeface="微软雅黑" panose="020B0503020204020204" pitchFamily="34" charset="-122"/>
                <a:ea typeface="微软雅黑" panose="020B0503020204020204" pitchFamily="34" charset="-122"/>
              </a:rPr>
              <a:t>迟交</a:t>
            </a:r>
            <a:r>
              <a:rPr lang="en-US" altLang="zh-CN" sz="1800" b="1" dirty="0">
                <a:solidFill>
                  <a:srgbClr val="FF0000"/>
                </a:solidFill>
                <a:latin typeface="微软雅黑" panose="020B0503020204020204" pitchFamily="34" charset="-122"/>
                <a:ea typeface="微软雅黑" panose="020B0503020204020204" pitchFamily="34" charset="-122"/>
              </a:rPr>
              <a:t>≤60</a:t>
            </a:r>
            <a:r>
              <a:rPr lang="zh-CN" altLang="en-US" sz="1800" b="1" dirty="0">
                <a:solidFill>
                  <a:srgbClr val="FF0000"/>
                </a:solidFill>
                <a:latin typeface="微软雅黑" panose="020B0503020204020204" pitchFamily="34" charset="-122"/>
                <a:ea typeface="微软雅黑" panose="020B0503020204020204" pitchFamily="34" charset="-122"/>
              </a:rPr>
              <a:t>分，不交</a:t>
            </a:r>
            <a:r>
              <a:rPr lang="en-US" altLang="zh-CN" sz="1800" b="1" dirty="0">
                <a:solidFill>
                  <a:srgbClr val="FF0000"/>
                </a:solidFill>
                <a:latin typeface="微软雅黑" panose="020B0503020204020204" pitchFamily="34" charset="-122"/>
                <a:ea typeface="微软雅黑" panose="020B0503020204020204" pitchFamily="34" charset="-122"/>
              </a:rPr>
              <a:t>0</a:t>
            </a:r>
            <a:r>
              <a:rPr lang="zh-CN" altLang="en-US" sz="1800" b="1" dirty="0">
                <a:solidFill>
                  <a:srgbClr val="FF0000"/>
                </a:solidFill>
                <a:latin typeface="微软雅黑" panose="020B0503020204020204" pitchFamily="34" charset="-122"/>
                <a:ea typeface="微软雅黑" panose="020B0503020204020204" pitchFamily="34" charset="-122"/>
              </a:rPr>
              <a:t>分。</a:t>
            </a:r>
            <a:r>
              <a:rPr lang="zh-CN" altLang="en-US" sz="1800" dirty="0">
                <a:latin typeface="华文楷体" panose="02010600040101010101" pitchFamily="2" charset="-122"/>
                <a:ea typeface="华文楷体" panose="02010600040101010101" pitchFamily="2" charset="-122"/>
              </a:rPr>
              <a:t>）</a:t>
            </a:r>
            <a:endParaRPr lang="en-US" altLang="zh-CN" sz="1800" dirty="0"/>
          </a:p>
          <a:p>
            <a:pPr>
              <a:lnSpc>
                <a:spcPct val="120000"/>
              </a:lnSpc>
            </a:pPr>
            <a:r>
              <a:rPr lang="en-US" altLang="zh-CN" sz="1800" dirty="0"/>
              <a:t>Leave should be supported by a formal written request in advance. In case of emergency, leave a message to the teacher. Provide supported document later. E.g. you are ill and can be verified by a doctor‘s note. (</a:t>
            </a:r>
            <a:r>
              <a:rPr lang="zh-CN" altLang="en-US" sz="1800" dirty="0"/>
              <a:t>请假需正式请假条，紧急情况下可先给老师留言，后续提供证明材料</a:t>
            </a:r>
            <a:r>
              <a:rPr lang="en-US" altLang="zh-CN" sz="1800" dirty="0"/>
              <a:t>) </a:t>
            </a:r>
          </a:p>
          <a:p>
            <a:pPr>
              <a:lnSpc>
                <a:spcPct val="120000"/>
              </a:lnSpc>
            </a:pPr>
            <a:endParaRPr lang="zh-CN" altLang="en-US" sz="1800" dirty="0"/>
          </a:p>
        </p:txBody>
      </p:sp>
    </p:spTree>
    <p:extLst>
      <p:ext uri="{BB962C8B-B14F-4D97-AF65-F5344CB8AC3E}">
        <p14:creationId xmlns:p14="http://schemas.microsoft.com/office/powerpoint/2010/main" val="2554950298"/>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flipH="1">
            <a:off x="2918943" y="457535"/>
            <a:ext cx="6225059"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 name="圆角矩形 2"/>
          <p:cNvSpPr/>
          <p:nvPr/>
        </p:nvSpPr>
        <p:spPr>
          <a:xfrm>
            <a:off x="742945" y="191230"/>
            <a:ext cx="2448272"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4" name="矩形 3"/>
          <p:cNvSpPr/>
          <p:nvPr/>
        </p:nvSpPr>
        <p:spPr>
          <a:xfrm>
            <a:off x="814361" y="210271"/>
            <a:ext cx="2305439" cy="461665"/>
          </a:xfrm>
          <a:prstGeom prst="rect">
            <a:avLst/>
          </a:prstGeom>
        </p:spPr>
        <p:txBody>
          <a:bodyPr wrap="none">
            <a:spAutoFit/>
          </a:bodyPr>
          <a:lstStyle/>
          <a:p>
            <a:pPr defTabSz="913924"/>
            <a:r>
              <a:rPr lang="en-US" altLang="zh-CN" sz="2400" b="1" kern="0" dirty="0">
                <a:solidFill>
                  <a:srgbClr val="005A9E"/>
                </a:solidFill>
                <a:cs typeface="+mn-ea"/>
                <a:sym typeface="+mn-lt"/>
              </a:rPr>
              <a:t>Pre-lab Report</a:t>
            </a:r>
            <a:endParaRPr lang="zh-CN" altLang="en-US" sz="2400" b="1" kern="0" dirty="0">
              <a:solidFill>
                <a:srgbClr val="005A9E"/>
              </a:solidFill>
              <a:cs typeface="+mn-ea"/>
              <a:sym typeface="+mn-lt"/>
            </a:endParaRPr>
          </a:p>
        </p:txBody>
      </p:sp>
      <p:grpSp>
        <p:nvGrpSpPr>
          <p:cNvPr id="5" name="Group 17"/>
          <p:cNvGrpSpPr>
            <a:grpSpLocks noChangeAspect="1"/>
          </p:cNvGrpSpPr>
          <p:nvPr/>
        </p:nvGrpSpPr>
        <p:grpSpPr bwMode="auto">
          <a:xfrm>
            <a:off x="179512" y="212152"/>
            <a:ext cx="457188" cy="490764"/>
            <a:chOff x="231" y="1205"/>
            <a:chExt cx="640" cy="687"/>
          </a:xfrm>
          <a:solidFill>
            <a:srgbClr val="005A9E"/>
          </a:solidFill>
          <a:effectLst/>
        </p:grpSpPr>
        <p:sp>
          <p:nvSpPr>
            <p:cNvPr id="6" name="Freeform 18"/>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7"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sp>
        <p:nvSpPr>
          <p:cNvPr id="9" name="内容占位符 2">
            <a:extLst>
              <a:ext uri="{FF2B5EF4-FFF2-40B4-BE49-F238E27FC236}">
                <a16:creationId xmlns:a16="http://schemas.microsoft.com/office/drawing/2014/main" id="{BA2E664E-7396-4A59-8EF8-5DB0EAFF211B}"/>
              </a:ext>
            </a:extLst>
          </p:cNvPr>
          <p:cNvSpPr txBox="1">
            <a:spLocks/>
          </p:cNvSpPr>
          <p:nvPr/>
        </p:nvSpPr>
        <p:spPr>
          <a:xfrm>
            <a:off x="179512" y="1244838"/>
            <a:ext cx="8662673" cy="3611502"/>
          </a:xfrm>
          <a:prstGeom prst="rect">
            <a:avLst/>
          </a:prstGeom>
        </p:spPr>
        <p:txBody>
          <a:bodyPr/>
          <a:lstStyle>
            <a:lvl1pPr marL="257175" indent="-257175"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1pPr>
            <a:lvl2pPr marL="557213" indent="-214313" algn="l" rtl="0" eaLnBrk="0" fontAlgn="base" hangingPunct="0">
              <a:spcBef>
                <a:spcPct val="20000"/>
              </a:spcBef>
              <a:spcAft>
                <a:spcPct val="0"/>
              </a:spcAft>
              <a:buFont typeface="Arial" charset="0"/>
              <a:buChar char="–"/>
              <a:defRPr sz="2100" kern="1200">
                <a:solidFill>
                  <a:schemeClr val="tx1"/>
                </a:solidFill>
                <a:latin typeface="Arial" charset="0"/>
                <a:ea typeface="+mn-ea"/>
                <a:cs typeface="+mn-cs"/>
              </a:defRPr>
            </a:lvl2pPr>
            <a:lvl3pPr marL="857250" indent="-171450" algn="l" rtl="0" eaLnBrk="0" fontAlgn="base" hangingPunct="0">
              <a:spcBef>
                <a:spcPct val="20000"/>
              </a:spcBef>
              <a:spcAft>
                <a:spcPct val="0"/>
              </a:spcAft>
              <a:buFont typeface="Arial" charset="0"/>
              <a:buChar char="•"/>
              <a:defRPr sz="1800" kern="1200">
                <a:solidFill>
                  <a:schemeClr val="tx1"/>
                </a:solidFill>
                <a:latin typeface="Arial" charset="0"/>
                <a:ea typeface="+mn-ea"/>
                <a:cs typeface="+mn-cs"/>
              </a:defRPr>
            </a:lvl3pPr>
            <a:lvl4pPr marL="12001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4pPr>
            <a:lvl5pPr marL="15430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buFont typeface="Arial" charset="0"/>
              <a:buNone/>
            </a:pPr>
            <a:r>
              <a:rPr lang="en-US" altLang="zh-CN" sz="1800" dirty="0"/>
              <a:t>The Pre-lab report should include:</a:t>
            </a:r>
          </a:p>
          <a:p>
            <a:pPr lvl="1"/>
            <a:r>
              <a:rPr lang="en-US" altLang="zh-CN" sz="1800" dirty="0"/>
              <a:t>Objective</a:t>
            </a:r>
            <a:r>
              <a:rPr lang="zh-CN" altLang="en-US" sz="1800" dirty="0"/>
              <a:t>（实验目的）</a:t>
            </a:r>
            <a:endParaRPr lang="en-US" altLang="zh-CN" sz="1800" dirty="0"/>
          </a:p>
          <a:p>
            <a:pPr lvl="1"/>
            <a:r>
              <a:rPr lang="en-US" altLang="zh-CN" sz="1800" dirty="0"/>
              <a:t>Principle</a:t>
            </a:r>
            <a:r>
              <a:rPr lang="zh-CN" altLang="en-US" sz="1800" dirty="0"/>
              <a:t>（实验原理）</a:t>
            </a:r>
            <a:endParaRPr lang="en-US" altLang="zh-CN" sz="1800" dirty="0"/>
          </a:p>
          <a:p>
            <a:pPr lvl="1"/>
            <a:r>
              <a:rPr lang="en-US" altLang="zh-CN" sz="1800" dirty="0"/>
              <a:t>Content and procedures</a:t>
            </a:r>
            <a:r>
              <a:rPr lang="zh-CN" altLang="en-US" sz="1800" dirty="0"/>
              <a:t>（实验步骤）</a:t>
            </a:r>
            <a:endParaRPr lang="en-US" altLang="zh-CN" sz="1800" dirty="0"/>
          </a:p>
          <a:p>
            <a:pPr lvl="1"/>
            <a:r>
              <a:rPr lang="en-US" altLang="zh-CN" sz="1800" dirty="0"/>
              <a:t>Data recording table(s)</a:t>
            </a:r>
            <a:r>
              <a:rPr lang="zh-CN" altLang="en-US" sz="1800" dirty="0"/>
              <a:t>（数据表格）</a:t>
            </a:r>
            <a:endParaRPr lang="en-US" altLang="zh-CN" sz="1800" dirty="0"/>
          </a:p>
          <a:p>
            <a:endParaRPr lang="en-US" altLang="zh-CN" sz="1800" dirty="0">
              <a:solidFill>
                <a:srgbClr val="FF0000"/>
              </a:solidFill>
              <a:cs typeface="Times New Roman" panose="02020603050405020304" pitchFamily="18" charset="0"/>
            </a:endParaRPr>
          </a:p>
          <a:p>
            <a:endParaRPr lang="en-US" altLang="zh-CN" sz="1800" dirty="0">
              <a:solidFill>
                <a:srgbClr val="FF0000"/>
              </a:solidFill>
              <a:cs typeface="Times New Roman" panose="02020603050405020304" pitchFamily="18" charset="0"/>
            </a:endParaRPr>
          </a:p>
          <a:p>
            <a:r>
              <a:rPr lang="en-US" altLang="zh-CN" sz="1800" dirty="0">
                <a:solidFill>
                  <a:srgbClr val="FF0000"/>
                </a:solidFill>
                <a:cs typeface="Times New Roman" panose="02020603050405020304" pitchFamily="18" charset="0"/>
              </a:rPr>
              <a:t>Write </a:t>
            </a:r>
            <a:r>
              <a:rPr lang="en-US" altLang="zh-CN" sz="1800" dirty="0">
                <a:cs typeface="Times New Roman" panose="02020603050405020304" pitchFamily="18" charset="0"/>
              </a:rPr>
              <a:t>in the unified lab reports paper of Jinan University</a:t>
            </a:r>
            <a:r>
              <a:rPr lang="zh-CN" altLang="en-US" sz="1800" dirty="0">
                <a:cs typeface="Times New Roman" panose="02020603050405020304" pitchFamily="18" charset="0"/>
              </a:rPr>
              <a:t>（采用暨大实验报告纸）</a:t>
            </a:r>
            <a:r>
              <a:rPr lang="en-US" altLang="zh-CN" sz="1800" dirty="0">
                <a:cs typeface="Times New Roman" panose="02020603050405020304" pitchFamily="18" charset="0"/>
              </a:rPr>
              <a:t> </a:t>
            </a:r>
            <a:endParaRPr lang="zh-CN" altLang="en-US" sz="1800" dirty="0">
              <a:cs typeface="Times New Roman" panose="02020603050405020304" pitchFamily="18" charset="0"/>
            </a:endParaRPr>
          </a:p>
          <a:p>
            <a:r>
              <a:rPr lang="en-US" altLang="zh-CN" sz="1800" dirty="0">
                <a:cs typeface="Times New Roman" panose="02020603050405020304" pitchFamily="18" charset="0"/>
              </a:rPr>
              <a:t>The teacher will check you Pre-lab report when you come to the laboratory.</a:t>
            </a:r>
            <a:endParaRPr lang="zh-CN" altLang="en-US" sz="1800" dirty="0">
              <a:cs typeface="Times New Roman" panose="02020603050405020304" pitchFamily="18" charset="0"/>
            </a:endParaRPr>
          </a:p>
        </p:txBody>
      </p:sp>
      <p:pic>
        <p:nvPicPr>
          <p:cNvPr id="13" name="图片 12">
            <a:extLst>
              <a:ext uri="{FF2B5EF4-FFF2-40B4-BE49-F238E27FC236}">
                <a16:creationId xmlns:a16="http://schemas.microsoft.com/office/drawing/2014/main" id="{A2E420DB-F862-4665-A86E-4CFB0971297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149" t="4087" r="4398" b="5583"/>
          <a:stretch/>
        </p:blipFill>
        <p:spPr>
          <a:xfrm>
            <a:off x="4632265" y="210271"/>
            <a:ext cx="4356363" cy="312458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094768154"/>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a:extLst>
              <a:ext uri="{FF2B5EF4-FFF2-40B4-BE49-F238E27FC236}">
                <a16:creationId xmlns:a16="http://schemas.microsoft.com/office/drawing/2014/main" id="{0D97B006-78EF-461A-AF92-B39DE05E6992}"/>
              </a:ext>
            </a:extLst>
          </p:cNvPr>
          <p:cNvCxnSpPr/>
          <p:nvPr/>
        </p:nvCxnSpPr>
        <p:spPr>
          <a:xfrm flipH="1">
            <a:off x="2918943" y="457535"/>
            <a:ext cx="6225059"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 name="圆角矩形 2">
            <a:extLst>
              <a:ext uri="{FF2B5EF4-FFF2-40B4-BE49-F238E27FC236}">
                <a16:creationId xmlns:a16="http://schemas.microsoft.com/office/drawing/2014/main" id="{31CB3212-7D15-4CEC-8FD2-45FF55F78400}"/>
              </a:ext>
            </a:extLst>
          </p:cNvPr>
          <p:cNvSpPr/>
          <p:nvPr/>
        </p:nvSpPr>
        <p:spPr>
          <a:xfrm>
            <a:off x="742945" y="191230"/>
            <a:ext cx="2697456"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5" name="矩形 4">
            <a:extLst>
              <a:ext uri="{FF2B5EF4-FFF2-40B4-BE49-F238E27FC236}">
                <a16:creationId xmlns:a16="http://schemas.microsoft.com/office/drawing/2014/main" id="{22CD65D4-26B2-4F50-9C5D-9BD5DF0E2498}"/>
              </a:ext>
            </a:extLst>
          </p:cNvPr>
          <p:cNvSpPr/>
          <p:nvPr/>
        </p:nvSpPr>
        <p:spPr>
          <a:xfrm>
            <a:off x="814361" y="210271"/>
            <a:ext cx="2626040" cy="461665"/>
          </a:xfrm>
          <a:prstGeom prst="rect">
            <a:avLst/>
          </a:prstGeom>
        </p:spPr>
        <p:txBody>
          <a:bodyPr wrap="none">
            <a:spAutoFit/>
          </a:bodyPr>
          <a:lstStyle/>
          <a:p>
            <a:pPr defTabSz="913924"/>
            <a:r>
              <a:rPr lang="en-US" altLang="zh-CN" sz="2400" b="1" kern="0" dirty="0">
                <a:solidFill>
                  <a:srgbClr val="005A9E"/>
                </a:solidFill>
                <a:cs typeface="+mn-ea"/>
                <a:sym typeface="+mn-lt"/>
              </a:rPr>
              <a:t>Operation in Lab</a:t>
            </a:r>
            <a:endParaRPr lang="zh-CN" altLang="en-US" sz="2400" b="1" kern="0" dirty="0">
              <a:solidFill>
                <a:srgbClr val="005A9E"/>
              </a:solidFill>
              <a:cs typeface="+mn-ea"/>
              <a:sym typeface="+mn-lt"/>
            </a:endParaRPr>
          </a:p>
        </p:txBody>
      </p:sp>
      <p:grpSp>
        <p:nvGrpSpPr>
          <p:cNvPr id="6" name="Group 17">
            <a:extLst>
              <a:ext uri="{FF2B5EF4-FFF2-40B4-BE49-F238E27FC236}">
                <a16:creationId xmlns:a16="http://schemas.microsoft.com/office/drawing/2014/main" id="{3D745C2F-0B71-4071-B2A3-69AE67BF4027}"/>
              </a:ext>
            </a:extLst>
          </p:cNvPr>
          <p:cNvGrpSpPr>
            <a:grpSpLocks noChangeAspect="1"/>
          </p:cNvGrpSpPr>
          <p:nvPr/>
        </p:nvGrpSpPr>
        <p:grpSpPr bwMode="auto">
          <a:xfrm>
            <a:off x="179512" y="212152"/>
            <a:ext cx="457188" cy="490764"/>
            <a:chOff x="231" y="1205"/>
            <a:chExt cx="640" cy="687"/>
          </a:xfrm>
          <a:solidFill>
            <a:srgbClr val="005A9E"/>
          </a:solidFill>
          <a:effectLst/>
        </p:grpSpPr>
        <p:sp>
          <p:nvSpPr>
            <p:cNvPr id="7" name="Freeform 18">
              <a:extLst>
                <a:ext uri="{FF2B5EF4-FFF2-40B4-BE49-F238E27FC236}">
                  <a16:creationId xmlns:a16="http://schemas.microsoft.com/office/drawing/2014/main" id="{81C8C516-2B19-4952-97A4-B19AB72D135E}"/>
                </a:ext>
              </a:extLst>
            </p:cNvPr>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8" name="Freeform 19">
              <a:extLst>
                <a:ext uri="{FF2B5EF4-FFF2-40B4-BE49-F238E27FC236}">
                  <a16:creationId xmlns:a16="http://schemas.microsoft.com/office/drawing/2014/main" id="{65A98FF5-C14C-47E0-B642-05622D9EB9E9}"/>
                </a:ext>
              </a:extLst>
            </p:cNvPr>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sp>
        <p:nvSpPr>
          <p:cNvPr id="9" name="内容占位符 2">
            <a:extLst>
              <a:ext uri="{FF2B5EF4-FFF2-40B4-BE49-F238E27FC236}">
                <a16:creationId xmlns:a16="http://schemas.microsoft.com/office/drawing/2014/main" id="{780A3EA4-49E9-48A3-80B1-59B72800B861}"/>
              </a:ext>
            </a:extLst>
          </p:cNvPr>
          <p:cNvSpPr txBox="1">
            <a:spLocks/>
          </p:cNvSpPr>
          <p:nvPr/>
        </p:nvSpPr>
        <p:spPr>
          <a:xfrm>
            <a:off x="325955" y="1171916"/>
            <a:ext cx="8454965" cy="3345196"/>
          </a:xfrm>
          <a:prstGeom prst="rect">
            <a:avLst/>
          </a:prstGeom>
        </p:spPr>
        <p:txBody>
          <a:bodyPr>
            <a:normAutofit fontScale="92500" lnSpcReduction="10000"/>
          </a:bodyPr>
          <a:lstStyle>
            <a:lvl1pPr marL="257175" indent="-257175"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1pPr>
            <a:lvl2pPr marL="557213" indent="-214313" algn="l" rtl="0" eaLnBrk="0" fontAlgn="base" hangingPunct="0">
              <a:spcBef>
                <a:spcPct val="20000"/>
              </a:spcBef>
              <a:spcAft>
                <a:spcPct val="0"/>
              </a:spcAft>
              <a:buFont typeface="Arial" charset="0"/>
              <a:buChar char="–"/>
              <a:defRPr sz="2100" kern="1200">
                <a:solidFill>
                  <a:schemeClr val="tx1"/>
                </a:solidFill>
                <a:latin typeface="Arial" charset="0"/>
                <a:ea typeface="+mn-ea"/>
                <a:cs typeface="+mn-cs"/>
              </a:defRPr>
            </a:lvl2pPr>
            <a:lvl3pPr marL="857250" indent="-171450" algn="l" rtl="0" eaLnBrk="0" fontAlgn="base" hangingPunct="0">
              <a:spcBef>
                <a:spcPct val="20000"/>
              </a:spcBef>
              <a:spcAft>
                <a:spcPct val="0"/>
              </a:spcAft>
              <a:buFont typeface="Arial" charset="0"/>
              <a:buChar char="•"/>
              <a:defRPr sz="1800" kern="1200">
                <a:solidFill>
                  <a:schemeClr val="tx1"/>
                </a:solidFill>
                <a:latin typeface="Arial" charset="0"/>
                <a:ea typeface="+mn-ea"/>
                <a:cs typeface="+mn-cs"/>
              </a:defRPr>
            </a:lvl3pPr>
            <a:lvl4pPr marL="12001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4pPr>
            <a:lvl5pPr marL="15430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pPr>
            <a:r>
              <a:rPr lang="en-US" altLang="zh-CN" sz="1800" u="sng" dirty="0">
                <a:solidFill>
                  <a:srgbClr val="FF0000"/>
                </a:solidFill>
              </a:rPr>
              <a:t>Sign in</a:t>
            </a:r>
            <a:r>
              <a:rPr lang="zh-CN" altLang="en-US" sz="1800" dirty="0"/>
              <a:t>（签到）</a:t>
            </a:r>
            <a:endParaRPr lang="en-US" altLang="zh-CN" sz="1800" dirty="0"/>
          </a:p>
          <a:p>
            <a:pPr>
              <a:lnSpc>
                <a:spcPct val="150000"/>
              </a:lnSpc>
            </a:pPr>
            <a:r>
              <a:rPr lang="en-US" altLang="zh-CN" sz="1800" dirty="0"/>
              <a:t>Prepare the experiments according to the pre-lab report</a:t>
            </a:r>
            <a:r>
              <a:rPr lang="zh-CN" altLang="en-US" sz="1800" dirty="0"/>
              <a:t>（准备实验）</a:t>
            </a:r>
            <a:endParaRPr lang="en-US" altLang="zh-CN" sz="1800" dirty="0"/>
          </a:p>
          <a:p>
            <a:pPr>
              <a:lnSpc>
                <a:spcPct val="150000"/>
              </a:lnSpc>
            </a:pPr>
            <a:r>
              <a:rPr lang="en-US" altLang="zh-CN" sz="1800" dirty="0"/>
              <a:t>Listen to</a:t>
            </a:r>
            <a:r>
              <a:rPr lang="zh-CN" altLang="en-US" sz="1800" dirty="0"/>
              <a:t> </a:t>
            </a:r>
            <a:r>
              <a:rPr lang="en-US" altLang="zh-CN" sz="1800" dirty="0"/>
              <a:t>the</a:t>
            </a:r>
            <a:r>
              <a:rPr lang="zh-CN" altLang="en-US" sz="1800" dirty="0"/>
              <a:t> </a:t>
            </a:r>
            <a:r>
              <a:rPr lang="en-US" altLang="zh-CN" sz="1800" dirty="0"/>
              <a:t>introduction</a:t>
            </a:r>
            <a:r>
              <a:rPr lang="zh-CN" altLang="en-US" sz="1800" dirty="0"/>
              <a:t> </a:t>
            </a:r>
            <a:r>
              <a:rPr lang="en-US" altLang="zh-CN" sz="1800" dirty="0"/>
              <a:t>of the experiments</a:t>
            </a:r>
            <a:r>
              <a:rPr lang="zh-CN" altLang="en-US" sz="1800" dirty="0"/>
              <a:t>（聆听实验介绍）</a:t>
            </a:r>
            <a:endParaRPr lang="en-US" altLang="zh-CN" sz="1800" dirty="0"/>
          </a:p>
          <a:p>
            <a:pPr>
              <a:lnSpc>
                <a:spcPct val="150000"/>
              </a:lnSpc>
            </a:pPr>
            <a:r>
              <a:rPr lang="en-US" altLang="zh-CN" sz="1800" dirty="0"/>
              <a:t>Start the experiments and take data</a:t>
            </a:r>
            <a:r>
              <a:rPr lang="zh-CN" altLang="en-US" sz="1800" dirty="0"/>
              <a:t>（开始实验、记录数据）</a:t>
            </a:r>
            <a:endParaRPr lang="en-US" altLang="zh-CN" sz="1800" dirty="0"/>
          </a:p>
          <a:p>
            <a:pPr>
              <a:lnSpc>
                <a:spcPct val="150000"/>
              </a:lnSpc>
            </a:pPr>
            <a:r>
              <a:rPr lang="en-US" altLang="zh-CN" sz="1800" u="sng" dirty="0">
                <a:solidFill>
                  <a:srgbClr val="FF0000"/>
                </a:solidFill>
              </a:rPr>
              <a:t>Ask the teacher to sign the report </a:t>
            </a:r>
            <a:r>
              <a:rPr lang="en-US" altLang="zh-CN" sz="1800" dirty="0"/>
              <a:t>when finished. Report that is not signed will not be scored. (</a:t>
            </a:r>
            <a:r>
              <a:rPr lang="zh-CN" altLang="en-US" sz="1800" dirty="0"/>
              <a:t>实验完成后请老师签字，没有签字的报告不能给予成绩）</a:t>
            </a:r>
            <a:endParaRPr lang="en-US" altLang="zh-CN" sz="1800" dirty="0"/>
          </a:p>
          <a:p>
            <a:pPr>
              <a:lnSpc>
                <a:spcPct val="150000"/>
              </a:lnSpc>
            </a:pPr>
            <a:r>
              <a:rPr lang="en-US" altLang="zh-CN" sz="1800" b="1" dirty="0"/>
              <a:t>Put the equipment back</a:t>
            </a:r>
            <a:r>
              <a:rPr lang="zh-CN" altLang="en-US" sz="1800" b="1" dirty="0"/>
              <a:t>（整理实验设备，复位）</a:t>
            </a:r>
            <a:endParaRPr lang="en-US" altLang="zh-CN" sz="1800" b="1" dirty="0"/>
          </a:p>
          <a:p>
            <a:pPr>
              <a:lnSpc>
                <a:spcPct val="150000"/>
              </a:lnSpc>
            </a:pPr>
            <a:r>
              <a:rPr lang="en-US" altLang="zh-CN" sz="1800" u="sng" dirty="0">
                <a:solidFill>
                  <a:srgbClr val="FF0000"/>
                </a:solidFill>
              </a:rPr>
              <a:t>Sign out</a:t>
            </a:r>
            <a:r>
              <a:rPr lang="zh-CN" altLang="en-US" sz="1800" dirty="0"/>
              <a:t>（签离）</a:t>
            </a:r>
            <a:endParaRPr lang="en-US" altLang="zh-CN" sz="1800" dirty="0"/>
          </a:p>
          <a:p>
            <a:endParaRPr lang="en-US" altLang="zh-CN" sz="1800" dirty="0"/>
          </a:p>
          <a:p>
            <a:endParaRPr lang="en-US" altLang="zh-CN" sz="1800" dirty="0"/>
          </a:p>
          <a:p>
            <a:endParaRPr lang="zh-CN" altLang="en-US" sz="1800" dirty="0"/>
          </a:p>
        </p:txBody>
      </p:sp>
      <p:pic>
        <p:nvPicPr>
          <p:cNvPr id="10" name="Picture 2">
            <a:extLst>
              <a:ext uri="{FF2B5EF4-FFF2-40B4-BE49-F238E27FC236}">
                <a16:creationId xmlns:a16="http://schemas.microsoft.com/office/drawing/2014/main" id="{AC5ECDC3-9EB5-4F9D-AB1E-1226910540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23827" y="287160"/>
            <a:ext cx="1664062" cy="221988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lgn="ctr">
                <a:solidFill>
                  <a:srgbClr val="92270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2048706"/>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flipH="1">
            <a:off x="2918943" y="457535"/>
            <a:ext cx="6225059"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 name="圆角矩形 2"/>
          <p:cNvSpPr/>
          <p:nvPr/>
        </p:nvSpPr>
        <p:spPr>
          <a:xfrm>
            <a:off x="742945" y="199856"/>
            <a:ext cx="4862352"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4" name="矩形 3"/>
          <p:cNvSpPr/>
          <p:nvPr/>
        </p:nvSpPr>
        <p:spPr>
          <a:xfrm>
            <a:off x="783143" y="226701"/>
            <a:ext cx="4822154" cy="461665"/>
          </a:xfrm>
          <a:prstGeom prst="rect">
            <a:avLst/>
          </a:prstGeom>
        </p:spPr>
        <p:txBody>
          <a:bodyPr wrap="none">
            <a:spAutoFit/>
          </a:bodyPr>
          <a:lstStyle/>
          <a:p>
            <a:pPr defTabSz="913924"/>
            <a:r>
              <a:rPr lang="en-US" altLang="zh-CN" sz="2400" b="1" kern="0" dirty="0">
                <a:solidFill>
                  <a:srgbClr val="005A9E"/>
                </a:solidFill>
                <a:cs typeface="+mn-ea"/>
                <a:sym typeface="+mn-lt"/>
              </a:rPr>
              <a:t>Report</a:t>
            </a:r>
            <a:r>
              <a:rPr lang="zh-CN" altLang="en-US" sz="2400" b="1" kern="0" dirty="0">
                <a:solidFill>
                  <a:srgbClr val="005A9E"/>
                </a:solidFill>
                <a:cs typeface="+mn-ea"/>
                <a:sym typeface="+mn-lt"/>
              </a:rPr>
              <a:t> </a:t>
            </a:r>
            <a:r>
              <a:rPr lang="en-US" altLang="zh-CN" sz="2400" b="1" kern="0" dirty="0">
                <a:solidFill>
                  <a:srgbClr val="005A9E"/>
                </a:solidFill>
                <a:cs typeface="+mn-ea"/>
                <a:sym typeface="+mn-lt"/>
              </a:rPr>
              <a:t>requirements</a:t>
            </a:r>
            <a:r>
              <a:rPr lang="zh-CN" altLang="en-US" sz="2400" b="1" kern="0" dirty="0">
                <a:solidFill>
                  <a:srgbClr val="005A9E"/>
                </a:solidFill>
                <a:cs typeface="+mn-ea"/>
                <a:sym typeface="+mn-lt"/>
              </a:rPr>
              <a:t> </a:t>
            </a:r>
            <a:r>
              <a:rPr lang="en-US" altLang="zh-CN" sz="2400" b="1" kern="0" dirty="0">
                <a:solidFill>
                  <a:srgbClr val="005A9E"/>
                </a:solidFill>
                <a:cs typeface="+mn-ea"/>
                <a:sym typeface="+mn-lt"/>
              </a:rPr>
              <a:t>after class</a:t>
            </a:r>
            <a:endParaRPr lang="zh-CN" altLang="en-US" sz="2400" b="1" kern="0" dirty="0">
              <a:solidFill>
                <a:srgbClr val="005A9E"/>
              </a:solidFill>
              <a:cs typeface="+mn-ea"/>
              <a:sym typeface="+mn-lt"/>
            </a:endParaRPr>
          </a:p>
        </p:txBody>
      </p:sp>
      <p:grpSp>
        <p:nvGrpSpPr>
          <p:cNvPr id="5" name="Group 17"/>
          <p:cNvGrpSpPr>
            <a:grpSpLocks noChangeAspect="1"/>
          </p:cNvGrpSpPr>
          <p:nvPr/>
        </p:nvGrpSpPr>
        <p:grpSpPr bwMode="auto">
          <a:xfrm>
            <a:off x="179512" y="212152"/>
            <a:ext cx="457188" cy="490764"/>
            <a:chOff x="231" y="1205"/>
            <a:chExt cx="640" cy="687"/>
          </a:xfrm>
          <a:solidFill>
            <a:srgbClr val="005A9E"/>
          </a:solidFill>
          <a:effectLst/>
        </p:grpSpPr>
        <p:sp>
          <p:nvSpPr>
            <p:cNvPr id="6" name="Freeform 18"/>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7"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sp>
        <p:nvSpPr>
          <p:cNvPr id="12" name="内容占位符 2">
            <a:extLst>
              <a:ext uri="{FF2B5EF4-FFF2-40B4-BE49-F238E27FC236}">
                <a16:creationId xmlns:a16="http://schemas.microsoft.com/office/drawing/2014/main" id="{195FE951-2F52-4F62-A348-DBAD623FDB7D}"/>
              </a:ext>
            </a:extLst>
          </p:cNvPr>
          <p:cNvSpPr txBox="1">
            <a:spLocks/>
          </p:cNvSpPr>
          <p:nvPr/>
        </p:nvSpPr>
        <p:spPr>
          <a:xfrm>
            <a:off x="535976" y="1123896"/>
            <a:ext cx="7886700" cy="3451184"/>
          </a:xfrm>
          <a:prstGeom prst="rect">
            <a:avLst/>
          </a:prstGeom>
        </p:spPr>
        <p:txBody>
          <a:bodyPr>
            <a:normAutofit/>
          </a:bodyPr>
          <a:lstStyle>
            <a:lvl1pPr marL="257175" indent="-257175"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1pPr>
            <a:lvl2pPr marL="557213" indent="-214313" algn="l" rtl="0" eaLnBrk="0" fontAlgn="base" hangingPunct="0">
              <a:spcBef>
                <a:spcPct val="20000"/>
              </a:spcBef>
              <a:spcAft>
                <a:spcPct val="0"/>
              </a:spcAft>
              <a:buFont typeface="Arial" charset="0"/>
              <a:buChar char="–"/>
              <a:defRPr sz="2100" kern="1200">
                <a:solidFill>
                  <a:schemeClr val="tx1"/>
                </a:solidFill>
                <a:latin typeface="Arial" charset="0"/>
                <a:ea typeface="+mn-ea"/>
                <a:cs typeface="+mn-cs"/>
              </a:defRPr>
            </a:lvl2pPr>
            <a:lvl3pPr marL="857250" indent="-171450" algn="l" rtl="0" eaLnBrk="0" fontAlgn="base" hangingPunct="0">
              <a:spcBef>
                <a:spcPct val="20000"/>
              </a:spcBef>
              <a:spcAft>
                <a:spcPct val="0"/>
              </a:spcAft>
              <a:buFont typeface="Arial" charset="0"/>
              <a:buChar char="•"/>
              <a:defRPr sz="1800" kern="1200">
                <a:solidFill>
                  <a:schemeClr val="tx1"/>
                </a:solidFill>
                <a:latin typeface="Arial" charset="0"/>
                <a:ea typeface="+mn-ea"/>
                <a:cs typeface="+mn-cs"/>
              </a:defRPr>
            </a:lvl3pPr>
            <a:lvl4pPr marL="12001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4pPr>
            <a:lvl5pPr marL="15430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altLang="zh-CN" sz="2000" dirty="0"/>
              <a:t>In the pre-lab report, complete the data analysis and answer the questions in the experiment note.</a:t>
            </a:r>
          </a:p>
          <a:p>
            <a:pPr marL="0" indent="0">
              <a:buFont typeface="Arial" charset="0"/>
              <a:buNone/>
            </a:pPr>
            <a:r>
              <a:rPr lang="zh-CN" altLang="en-US" sz="2000" dirty="0"/>
              <a:t>（在预习报告基础上完成</a:t>
            </a:r>
            <a:r>
              <a:rPr lang="zh-CN" altLang="en-US" sz="2000" b="1" dirty="0">
                <a:solidFill>
                  <a:srgbClr val="FF0000"/>
                </a:solidFill>
              </a:rPr>
              <a:t>数据分析和思考题</a:t>
            </a:r>
            <a:r>
              <a:rPr lang="zh-CN" altLang="en-US" sz="2000" dirty="0"/>
              <a:t>）</a:t>
            </a:r>
            <a:endParaRPr lang="en-US" altLang="zh-CN" sz="2000" dirty="0"/>
          </a:p>
          <a:p>
            <a:r>
              <a:rPr lang="en-US" altLang="zh-CN" sz="2000" dirty="0"/>
              <a:t>Suggestion, discussion or thoughts on the experiment are recommended (Not required)</a:t>
            </a:r>
          </a:p>
          <a:p>
            <a:pPr marL="0" indent="0">
              <a:buFont typeface="Arial" charset="0"/>
              <a:buNone/>
            </a:pPr>
            <a:r>
              <a:rPr lang="zh-CN" altLang="en-US" sz="2000" dirty="0"/>
              <a:t>（可以对实验给出建议、讨论或者个人想法）</a:t>
            </a:r>
            <a:endParaRPr lang="en-US" altLang="zh-CN" sz="2000" dirty="0"/>
          </a:p>
          <a:p>
            <a:r>
              <a:rPr lang="en-US" altLang="zh-CN" sz="2000" dirty="0"/>
              <a:t>Submit the lab-report at the beginning of next experiment.</a:t>
            </a:r>
          </a:p>
          <a:p>
            <a:pPr marL="0" indent="0">
              <a:buNone/>
            </a:pPr>
            <a:r>
              <a:rPr lang="zh-CN" altLang="en-US" sz="2000" dirty="0"/>
              <a:t>（</a:t>
            </a:r>
            <a:r>
              <a:rPr lang="zh-CN" altLang="en-US" sz="2000" b="1" dirty="0">
                <a:solidFill>
                  <a:srgbClr val="FF0000"/>
                </a:solidFill>
              </a:rPr>
              <a:t>下次实验开始时提交实验报告</a:t>
            </a:r>
            <a:r>
              <a:rPr lang="zh-CN" altLang="en-US" sz="2000" dirty="0"/>
              <a:t>）</a:t>
            </a:r>
            <a:endParaRPr lang="en-US" altLang="zh-CN" sz="2000" dirty="0"/>
          </a:p>
          <a:p>
            <a:endParaRPr lang="zh-CN" altLang="en-US" sz="2000" dirty="0"/>
          </a:p>
        </p:txBody>
      </p:sp>
    </p:spTree>
    <p:extLst>
      <p:ext uri="{BB962C8B-B14F-4D97-AF65-F5344CB8AC3E}">
        <p14:creationId xmlns:p14="http://schemas.microsoft.com/office/powerpoint/2010/main" val="525907731"/>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flipH="1">
            <a:off x="2918943" y="457535"/>
            <a:ext cx="6225059"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 name="圆角矩形 2"/>
          <p:cNvSpPr/>
          <p:nvPr/>
        </p:nvSpPr>
        <p:spPr>
          <a:xfrm>
            <a:off x="742945" y="191230"/>
            <a:ext cx="1685210"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4" name="矩形 3"/>
          <p:cNvSpPr/>
          <p:nvPr/>
        </p:nvSpPr>
        <p:spPr>
          <a:xfrm>
            <a:off x="827584" y="226702"/>
            <a:ext cx="1212191" cy="461665"/>
          </a:xfrm>
          <a:prstGeom prst="rect">
            <a:avLst/>
          </a:prstGeom>
        </p:spPr>
        <p:txBody>
          <a:bodyPr wrap="none">
            <a:spAutoFit/>
          </a:bodyPr>
          <a:lstStyle/>
          <a:p>
            <a:pPr defTabSz="913924"/>
            <a:r>
              <a:rPr lang="en-US" altLang="zh-CN" sz="2400" b="1" kern="0" dirty="0">
                <a:solidFill>
                  <a:srgbClr val="005A9E"/>
                </a:solidFill>
                <a:cs typeface="+mn-ea"/>
                <a:sym typeface="+mn-lt"/>
              </a:rPr>
              <a:t>Scores</a:t>
            </a:r>
            <a:endParaRPr lang="zh-CN" altLang="en-US" sz="2400" b="1" kern="0" dirty="0">
              <a:solidFill>
                <a:srgbClr val="005A9E"/>
              </a:solidFill>
              <a:cs typeface="+mn-ea"/>
              <a:sym typeface="+mn-lt"/>
            </a:endParaRPr>
          </a:p>
        </p:txBody>
      </p:sp>
      <p:grpSp>
        <p:nvGrpSpPr>
          <p:cNvPr id="5" name="Group 17"/>
          <p:cNvGrpSpPr>
            <a:grpSpLocks noChangeAspect="1"/>
          </p:cNvGrpSpPr>
          <p:nvPr/>
        </p:nvGrpSpPr>
        <p:grpSpPr bwMode="auto">
          <a:xfrm>
            <a:off x="179512" y="212152"/>
            <a:ext cx="457188" cy="490764"/>
            <a:chOff x="231" y="1205"/>
            <a:chExt cx="640" cy="687"/>
          </a:xfrm>
          <a:solidFill>
            <a:srgbClr val="005A9E"/>
          </a:solidFill>
          <a:effectLst/>
        </p:grpSpPr>
        <p:sp>
          <p:nvSpPr>
            <p:cNvPr id="6" name="Freeform 18"/>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7"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grpSp>
        <p:nvGrpSpPr>
          <p:cNvPr id="8" name="组合 7"/>
          <p:cNvGrpSpPr/>
          <p:nvPr/>
        </p:nvGrpSpPr>
        <p:grpSpPr>
          <a:xfrm>
            <a:off x="215905" y="993769"/>
            <a:ext cx="5000625" cy="671513"/>
            <a:chOff x="2071688" y="1157967"/>
            <a:chExt cx="5000625" cy="671513"/>
          </a:xfrm>
        </p:grpSpPr>
        <p:grpSp>
          <p:nvGrpSpPr>
            <p:cNvPr id="107" name="组合 106"/>
            <p:cNvGrpSpPr/>
            <p:nvPr/>
          </p:nvGrpSpPr>
          <p:grpSpPr>
            <a:xfrm>
              <a:off x="2071688" y="1157967"/>
              <a:ext cx="5000625" cy="671513"/>
              <a:chOff x="2762250" y="1362508"/>
              <a:chExt cx="6667500" cy="895350"/>
            </a:xfrm>
          </p:grpSpPr>
          <p:sp>
            <p:nvSpPr>
              <p:cNvPr id="108" name="圆角矩形 107"/>
              <p:cNvSpPr/>
              <p:nvPr/>
            </p:nvSpPr>
            <p:spPr>
              <a:xfrm>
                <a:off x="2762250" y="1362508"/>
                <a:ext cx="6667500" cy="895350"/>
              </a:xfrm>
              <a:prstGeom prst="roundRect">
                <a:avLst>
                  <a:gd name="adj" fmla="val 50000"/>
                </a:avLst>
              </a:prstGeom>
              <a:gradFill flip="none" rotWithShape="1">
                <a:gsLst>
                  <a:gs pos="100000">
                    <a:sysClr val="window" lastClr="FFFFFF">
                      <a:lumMod val="95000"/>
                    </a:sysClr>
                  </a:gs>
                  <a:gs pos="0">
                    <a:sysClr val="window" lastClr="FFFFFF">
                      <a:lumMod val="85000"/>
                    </a:sysClr>
                  </a:gs>
                </a:gsLst>
                <a:lin ang="2700000" scaled="1"/>
                <a:tileRect/>
              </a:gradFill>
              <a:ln w="25400" cap="flat" cmpd="sng" algn="ctr">
                <a:gradFill>
                  <a:gsLst>
                    <a:gs pos="0">
                      <a:sysClr val="window" lastClr="FFFFFF"/>
                    </a:gs>
                    <a:gs pos="100000">
                      <a:sysClr val="window" lastClr="FFFFFF">
                        <a:lumMod val="75000"/>
                      </a:sysClr>
                    </a:gs>
                  </a:gsLst>
                  <a:lin ang="4800000" scaled="0"/>
                </a:gradFill>
                <a:prstDash val="solid"/>
                <a:miter lim="800000"/>
              </a:ln>
              <a:effectLst>
                <a:outerShdw blurRad="114300" dist="635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109" name="椭圆 108"/>
              <p:cNvSpPr/>
              <p:nvPr/>
            </p:nvSpPr>
            <p:spPr>
              <a:xfrm>
                <a:off x="2984561" y="1486183"/>
                <a:ext cx="648000" cy="648000"/>
              </a:xfrm>
              <a:prstGeom prst="ellipse">
                <a:avLst/>
              </a:prstGeom>
              <a:solidFill>
                <a:srgbClr val="005A9E"/>
              </a:solidFill>
              <a:ln w="19050" cap="flat" cmpd="sng" algn="ctr">
                <a:solidFill>
                  <a:schemeClr val="bg1">
                    <a:lumMod val="75000"/>
                  </a:schemeClr>
                </a:solidFill>
                <a:prstDash val="solid"/>
                <a:miter lim="800000"/>
              </a:ln>
              <a:effectLst>
                <a:outerShdw blurRad="50800" dist="38100" dir="2700000" algn="tl" rotWithShape="0">
                  <a:prstClr val="black">
                    <a:alpha val="40000"/>
                  </a:prstClr>
                </a:outerShdw>
                <a:softEdge rad="0"/>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110" name="文本框 5"/>
              <p:cNvSpPr txBox="1"/>
              <p:nvPr/>
            </p:nvSpPr>
            <p:spPr>
              <a:xfrm>
                <a:off x="2937086" y="1548573"/>
                <a:ext cx="742951" cy="55399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100" b="0" i="0" u="none" strike="noStrike" kern="0" cap="none" spc="0" normalizeH="0" baseline="0" noProof="0" dirty="0">
                    <a:ln>
                      <a:noFill/>
                    </a:ln>
                    <a:solidFill>
                      <a:prstClr val="white"/>
                    </a:solidFill>
                    <a:effectLst/>
                    <a:uLnTx/>
                    <a:uFillTx/>
                    <a:cs typeface="+mn-ea"/>
                    <a:sym typeface="+mn-lt"/>
                  </a:rPr>
                  <a:t>01</a:t>
                </a:r>
                <a:endParaRPr kumimoji="0" lang="zh-CN" altLang="en-US" sz="2100" b="0" i="0" u="none" strike="noStrike" kern="0" cap="none" spc="0" normalizeH="0" baseline="0" noProof="0" dirty="0">
                  <a:ln>
                    <a:noFill/>
                  </a:ln>
                  <a:solidFill>
                    <a:prstClr val="white"/>
                  </a:solidFill>
                  <a:effectLst/>
                  <a:uLnTx/>
                  <a:uFillTx/>
                  <a:cs typeface="+mn-ea"/>
                  <a:sym typeface="+mn-lt"/>
                </a:endParaRPr>
              </a:p>
            </p:txBody>
          </p:sp>
        </p:grpSp>
        <p:grpSp>
          <p:nvGrpSpPr>
            <p:cNvPr id="123" name="组合 122"/>
            <p:cNvGrpSpPr/>
            <p:nvPr/>
          </p:nvGrpSpPr>
          <p:grpSpPr>
            <a:xfrm>
              <a:off x="3136308" y="1604790"/>
              <a:ext cx="3157136" cy="149130"/>
              <a:chOff x="3891937" y="1868890"/>
              <a:chExt cx="4209515" cy="198840"/>
            </a:xfrm>
          </p:grpSpPr>
          <p:sp>
            <p:nvSpPr>
              <p:cNvPr id="124" name="矩形 123"/>
              <p:cNvSpPr/>
              <p:nvPr/>
            </p:nvSpPr>
            <p:spPr>
              <a:xfrm>
                <a:off x="3891937" y="1868890"/>
                <a:ext cx="4209515" cy="178085"/>
              </a:xfrm>
              <a:prstGeom prst="rect">
                <a:avLst/>
              </a:prstGeom>
              <a:solidFill>
                <a:schemeClr val="bg1">
                  <a:lumMod val="95000"/>
                </a:schemeClr>
              </a:solidFill>
              <a:ln w="12700" cap="flat" cmpd="sng" algn="ctr">
                <a:noFill/>
                <a:prstDash val="solid"/>
                <a:miter lim="800000"/>
              </a:ln>
              <a:effectLst>
                <a:innerShdw blurRad="38100" dist="38100" dir="13500000">
                  <a:prstClr val="black">
                    <a:alpha val="50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125" name="矩形 124"/>
              <p:cNvSpPr/>
              <p:nvPr/>
            </p:nvSpPr>
            <p:spPr>
              <a:xfrm>
                <a:off x="3891937" y="1870869"/>
                <a:ext cx="582343" cy="196861"/>
              </a:xfrm>
              <a:prstGeom prst="rect">
                <a:avLst/>
              </a:prstGeom>
              <a:solidFill>
                <a:srgbClr val="005A9E"/>
              </a:solidFill>
              <a:ln w="12700" cap="flat" cmpd="sng" algn="ctr">
                <a:noFill/>
                <a:prstDash val="solid"/>
                <a:miter lim="800000"/>
              </a:ln>
              <a:effectLst>
                <a:innerShdw blurRad="38100" dist="38100" dir="13500000">
                  <a:prstClr val="black">
                    <a:alpha val="50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grpSp>
        <p:sp>
          <p:nvSpPr>
            <p:cNvPr id="135" name="文本框 44"/>
            <p:cNvSpPr txBox="1"/>
            <p:nvPr/>
          </p:nvSpPr>
          <p:spPr>
            <a:xfrm>
              <a:off x="3136307" y="1310302"/>
              <a:ext cx="1724142" cy="300083"/>
            </a:xfrm>
            <a:prstGeom prst="rect">
              <a:avLst/>
            </a:prstGeom>
            <a:noFill/>
          </p:spPr>
          <p:txBody>
            <a:bodyPr wrap="square" lIns="68579" tIns="34289" rIns="68579" bIns="34289" rtlCol="0">
              <a:spAutoFit/>
            </a:bodyPr>
            <a:lstStyle/>
            <a:p>
              <a:r>
                <a:rPr lang="en-US" altLang="zh-CN" sz="1500" dirty="0">
                  <a:solidFill>
                    <a:prstClr val="black">
                      <a:lumMod val="50000"/>
                      <a:lumOff val="50000"/>
                    </a:prstClr>
                  </a:solidFill>
                  <a:cs typeface="+mn-ea"/>
                  <a:sym typeface="+mn-lt"/>
                </a:rPr>
                <a:t>Pre-Lab Report</a:t>
              </a:r>
              <a:endParaRPr lang="zh-CN" altLang="en-US" sz="1500" dirty="0">
                <a:solidFill>
                  <a:prstClr val="black">
                    <a:lumMod val="50000"/>
                    <a:lumOff val="50000"/>
                  </a:prstClr>
                </a:solidFill>
                <a:cs typeface="+mn-ea"/>
                <a:sym typeface="+mn-lt"/>
              </a:endParaRPr>
            </a:p>
          </p:txBody>
        </p:sp>
        <p:sp>
          <p:nvSpPr>
            <p:cNvPr id="139" name="文本框 48"/>
            <p:cNvSpPr txBox="1"/>
            <p:nvPr/>
          </p:nvSpPr>
          <p:spPr>
            <a:xfrm>
              <a:off x="5570936" y="1285468"/>
              <a:ext cx="718528" cy="346247"/>
            </a:xfrm>
            <a:prstGeom prst="rect">
              <a:avLst/>
            </a:prstGeom>
            <a:noFill/>
          </p:spPr>
          <p:txBody>
            <a:bodyPr wrap="square" lIns="68579" tIns="34289" rIns="68579" bIns="34289" rtlCol="0">
              <a:spAutoFit/>
            </a:bodyPr>
            <a:lstStyle/>
            <a:p>
              <a:pPr algn="r"/>
              <a:r>
                <a:rPr lang="en-US" altLang="zh-CN" dirty="0">
                  <a:solidFill>
                    <a:srgbClr val="005A9E"/>
                  </a:solidFill>
                  <a:cs typeface="+mn-ea"/>
                  <a:sym typeface="+mn-lt"/>
                </a:rPr>
                <a:t>10</a:t>
              </a:r>
              <a:r>
                <a:rPr lang="en-US" altLang="zh-CN" sz="1200" dirty="0">
                  <a:solidFill>
                    <a:srgbClr val="005A9E"/>
                  </a:solidFill>
                  <a:cs typeface="+mn-ea"/>
                  <a:sym typeface="+mn-lt"/>
                </a:rPr>
                <a:t>%</a:t>
              </a:r>
              <a:endParaRPr lang="zh-CN" altLang="en-US" sz="1800" dirty="0">
                <a:solidFill>
                  <a:srgbClr val="005A9E"/>
                </a:solidFill>
                <a:cs typeface="+mn-ea"/>
                <a:sym typeface="+mn-lt"/>
              </a:endParaRPr>
            </a:p>
          </p:txBody>
        </p:sp>
      </p:grpSp>
      <p:grpSp>
        <p:nvGrpSpPr>
          <p:cNvPr id="9" name="组合 8"/>
          <p:cNvGrpSpPr/>
          <p:nvPr/>
        </p:nvGrpSpPr>
        <p:grpSpPr>
          <a:xfrm>
            <a:off x="215905" y="1700770"/>
            <a:ext cx="5000625" cy="671513"/>
            <a:chOff x="2071688" y="2058079"/>
            <a:chExt cx="5000625" cy="671513"/>
          </a:xfrm>
        </p:grpSpPr>
        <p:grpSp>
          <p:nvGrpSpPr>
            <p:cNvPr id="111" name="组合 110"/>
            <p:cNvGrpSpPr/>
            <p:nvPr/>
          </p:nvGrpSpPr>
          <p:grpSpPr>
            <a:xfrm>
              <a:off x="2071688" y="2058079"/>
              <a:ext cx="5000625" cy="671513"/>
              <a:chOff x="2762250" y="1362508"/>
              <a:chExt cx="6667500" cy="895350"/>
            </a:xfrm>
          </p:grpSpPr>
          <p:sp>
            <p:nvSpPr>
              <p:cNvPr id="112" name="圆角矩形 111"/>
              <p:cNvSpPr/>
              <p:nvPr/>
            </p:nvSpPr>
            <p:spPr>
              <a:xfrm>
                <a:off x="2762250" y="1362508"/>
                <a:ext cx="6667500" cy="895350"/>
              </a:xfrm>
              <a:prstGeom prst="roundRect">
                <a:avLst>
                  <a:gd name="adj" fmla="val 50000"/>
                </a:avLst>
              </a:prstGeom>
              <a:gradFill flip="none" rotWithShape="1">
                <a:gsLst>
                  <a:gs pos="100000">
                    <a:sysClr val="window" lastClr="FFFFFF">
                      <a:lumMod val="95000"/>
                    </a:sysClr>
                  </a:gs>
                  <a:gs pos="0">
                    <a:sysClr val="window" lastClr="FFFFFF">
                      <a:lumMod val="85000"/>
                    </a:sysClr>
                  </a:gs>
                </a:gsLst>
                <a:lin ang="2700000" scaled="1"/>
                <a:tileRect/>
              </a:gradFill>
              <a:ln w="25400" cap="flat" cmpd="sng" algn="ctr">
                <a:gradFill>
                  <a:gsLst>
                    <a:gs pos="0">
                      <a:sysClr val="window" lastClr="FFFFFF"/>
                    </a:gs>
                    <a:gs pos="100000">
                      <a:sysClr val="window" lastClr="FFFFFF">
                        <a:lumMod val="75000"/>
                      </a:sysClr>
                    </a:gs>
                  </a:gsLst>
                  <a:lin ang="4800000" scaled="0"/>
                </a:gradFill>
                <a:prstDash val="solid"/>
                <a:miter lim="800000"/>
              </a:ln>
              <a:effectLst>
                <a:outerShdw blurRad="114300" dist="635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113" name="椭圆 112"/>
              <p:cNvSpPr/>
              <p:nvPr/>
            </p:nvSpPr>
            <p:spPr>
              <a:xfrm>
                <a:off x="2984561" y="1486183"/>
                <a:ext cx="648000" cy="648000"/>
              </a:xfrm>
              <a:prstGeom prst="ellipse">
                <a:avLst/>
              </a:prstGeom>
              <a:solidFill>
                <a:schemeClr val="bg1">
                  <a:lumMod val="65000"/>
                </a:schemeClr>
              </a:solidFill>
              <a:ln w="19050" cap="flat" cmpd="sng" algn="ctr">
                <a:solidFill>
                  <a:srgbClr val="005A9E"/>
                </a:solidFill>
                <a:prstDash val="solid"/>
                <a:miter lim="800000"/>
              </a:ln>
              <a:effectLst>
                <a:outerShdw blurRad="50800" dist="38100" dir="2700000" algn="tl" rotWithShape="0">
                  <a:prstClr val="black">
                    <a:alpha val="40000"/>
                  </a:prstClr>
                </a:outerShdw>
                <a:softEdge rad="0"/>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114" name="文本框 14"/>
              <p:cNvSpPr txBox="1"/>
              <p:nvPr/>
            </p:nvSpPr>
            <p:spPr>
              <a:xfrm>
                <a:off x="2937086" y="1548573"/>
                <a:ext cx="742951" cy="55399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100" b="0" i="0" u="none" strike="noStrike" kern="0" cap="none" spc="0" normalizeH="0" baseline="0" noProof="0" dirty="0">
                    <a:ln>
                      <a:noFill/>
                    </a:ln>
                    <a:solidFill>
                      <a:prstClr val="white"/>
                    </a:solidFill>
                    <a:effectLst/>
                    <a:uLnTx/>
                    <a:uFillTx/>
                    <a:cs typeface="+mn-ea"/>
                    <a:sym typeface="+mn-lt"/>
                  </a:rPr>
                  <a:t>02</a:t>
                </a:r>
                <a:endParaRPr kumimoji="0" lang="zh-CN" altLang="en-US" sz="2100" b="0" i="0" u="none" strike="noStrike" kern="0" cap="none" spc="0" normalizeH="0" baseline="0" noProof="0" dirty="0">
                  <a:ln>
                    <a:noFill/>
                  </a:ln>
                  <a:solidFill>
                    <a:prstClr val="white"/>
                  </a:solidFill>
                  <a:effectLst/>
                  <a:uLnTx/>
                  <a:uFillTx/>
                  <a:cs typeface="+mn-ea"/>
                  <a:sym typeface="+mn-lt"/>
                </a:endParaRPr>
              </a:p>
            </p:txBody>
          </p:sp>
        </p:grpSp>
        <p:grpSp>
          <p:nvGrpSpPr>
            <p:cNvPr id="126" name="组合 125"/>
            <p:cNvGrpSpPr/>
            <p:nvPr/>
          </p:nvGrpSpPr>
          <p:grpSpPr>
            <a:xfrm>
              <a:off x="3136308" y="2497709"/>
              <a:ext cx="3157136" cy="133564"/>
              <a:chOff x="3891937" y="5505188"/>
              <a:chExt cx="4209515" cy="178085"/>
            </a:xfrm>
          </p:grpSpPr>
          <p:sp>
            <p:nvSpPr>
              <p:cNvPr id="127" name="矩形 126"/>
              <p:cNvSpPr/>
              <p:nvPr/>
            </p:nvSpPr>
            <p:spPr>
              <a:xfrm>
                <a:off x="3891937" y="5505188"/>
                <a:ext cx="4209515" cy="178085"/>
              </a:xfrm>
              <a:prstGeom prst="rect">
                <a:avLst/>
              </a:prstGeom>
              <a:solidFill>
                <a:schemeClr val="bg1">
                  <a:lumMod val="95000"/>
                </a:schemeClr>
              </a:solidFill>
              <a:ln w="12700" cap="flat" cmpd="sng" algn="ctr">
                <a:noFill/>
                <a:prstDash val="solid"/>
                <a:miter lim="800000"/>
              </a:ln>
              <a:effectLst>
                <a:innerShdw blurRad="38100" dist="38100" dir="13500000">
                  <a:prstClr val="black">
                    <a:alpha val="50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128" name="矩形 127"/>
              <p:cNvSpPr/>
              <p:nvPr/>
            </p:nvSpPr>
            <p:spPr>
              <a:xfrm>
                <a:off x="3891937" y="5505188"/>
                <a:ext cx="2298856" cy="178085"/>
              </a:xfrm>
              <a:prstGeom prst="rect">
                <a:avLst/>
              </a:prstGeom>
              <a:solidFill>
                <a:schemeClr val="bg1">
                  <a:lumMod val="65000"/>
                </a:schemeClr>
              </a:solidFill>
              <a:ln w="12700" cap="flat" cmpd="sng" algn="ctr">
                <a:noFill/>
                <a:prstDash val="solid"/>
                <a:miter lim="800000"/>
              </a:ln>
              <a:effectLst>
                <a:innerShdw blurRad="38100" dist="38100" dir="13500000">
                  <a:prstClr val="black">
                    <a:alpha val="50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sp>
          <p:nvSpPr>
            <p:cNvPr id="136" name="文本框 45"/>
            <p:cNvSpPr txBox="1"/>
            <p:nvPr/>
          </p:nvSpPr>
          <p:spPr>
            <a:xfrm>
              <a:off x="3136307" y="2201617"/>
              <a:ext cx="1724142" cy="300083"/>
            </a:xfrm>
            <a:prstGeom prst="rect">
              <a:avLst/>
            </a:prstGeom>
            <a:noFill/>
          </p:spPr>
          <p:txBody>
            <a:bodyPr wrap="square" lIns="68579" tIns="34289" rIns="68579" bIns="34289" rtlCol="0">
              <a:spAutoFit/>
            </a:bodyPr>
            <a:lstStyle/>
            <a:p>
              <a:r>
                <a:rPr lang="en-US" altLang="zh-CN" sz="1500" dirty="0">
                  <a:solidFill>
                    <a:prstClr val="black">
                      <a:lumMod val="50000"/>
                      <a:lumOff val="50000"/>
                    </a:prstClr>
                  </a:solidFill>
                  <a:cs typeface="+mn-ea"/>
                  <a:sym typeface="+mn-lt"/>
                </a:rPr>
                <a:t>Operation</a:t>
              </a:r>
              <a:endParaRPr lang="zh-CN" altLang="en-US" sz="1500" dirty="0">
                <a:solidFill>
                  <a:prstClr val="black">
                    <a:lumMod val="50000"/>
                    <a:lumOff val="50000"/>
                  </a:prstClr>
                </a:solidFill>
                <a:cs typeface="+mn-ea"/>
                <a:sym typeface="+mn-lt"/>
              </a:endParaRPr>
            </a:p>
          </p:txBody>
        </p:sp>
        <p:sp>
          <p:nvSpPr>
            <p:cNvPr id="140" name="文本框 49"/>
            <p:cNvSpPr txBox="1"/>
            <p:nvPr/>
          </p:nvSpPr>
          <p:spPr>
            <a:xfrm>
              <a:off x="5570936" y="2165729"/>
              <a:ext cx="718528" cy="346249"/>
            </a:xfrm>
            <a:prstGeom prst="rect">
              <a:avLst/>
            </a:prstGeom>
            <a:noFill/>
          </p:spPr>
          <p:txBody>
            <a:bodyPr wrap="square" lIns="68579" tIns="34289" rIns="68579" bIns="34289" rtlCol="0">
              <a:spAutoFit/>
            </a:bodyPr>
            <a:lstStyle/>
            <a:p>
              <a:pPr algn="r"/>
              <a:r>
                <a:rPr lang="en-US" altLang="zh-CN" sz="1800" dirty="0">
                  <a:solidFill>
                    <a:srgbClr val="005A9E"/>
                  </a:solidFill>
                  <a:cs typeface="+mn-ea"/>
                  <a:sym typeface="+mn-lt"/>
                </a:rPr>
                <a:t>50</a:t>
              </a:r>
              <a:r>
                <a:rPr lang="en-US" altLang="zh-CN" sz="1200" dirty="0">
                  <a:solidFill>
                    <a:srgbClr val="005A9E"/>
                  </a:solidFill>
                  <a:cs typeface="+mn-ea"/>
                  <a:sym typeface="+mn-lt"/>
                </a:rPr>
                <a:t>%</a:t>
              </a:r>
              <a:endParaRPr lang="zh-CN" altLang="en-US" sz="1800" dirty="0">
                <a:solidFill>
                  <a:srgbClr val="005A9E"/>
                </a:solidFill>
                <a:cs typeface="+mn-ea"/>
                <a:sym typeface="+mn-lt"/>
              </a:endParaRPr>
            </a:p>
          </p:txBody>
        </p:sp>
      </p:grpSp>
      <p:grpSp>
        <p:nvGrpSpPr>
          <p:cNvPr id="10" name="组合 9"/>
          <p:cNvGrpSpPr/>
          <p:nvPr/>
        </p:nvGrpSpPr>
        <p:grpSpPr>
          <a:xfrm>
            <a:off x="215905" y="2402098"/>
            <a:ext cx="5000625" cy="671513"/>
            <a:chOff x="2071688" y="2958192"/>
            <a:chExt cx="5000625" cy="671513"/>
          </a:xfrm>
        </p:grpSpPr>
        <p:grpSp>
          <p:nvGrpSpPr>
            <p:cNvPr id="115" name="组合 114"/>
            <p:cNvGrpSpPr/>
            <p:nvPr/>
          </p:nvGrpSpPr>
          <p:grpSpPr>
            <a:xfrm>
              <a:off x="2071688" y="2958192"/>
              <a:ext cx="5000625" cy="671513"/>
              <a:chOff x="2762250" y="1362508"/>
              <a:chExt cx="6667500" cy="895350"/>
            </a:xfrm>
          </p:grpSpPr>
          <p:sp>
            <p:nvSpPr>
              <p:cNvPr id="116" name="圆角矩形 115"/>
              <p:cNvSpPr/>
              <p:nvPr/>
            </p:nvSpPr>
            <p:spPr>
              <a:xfrm>
                <a:off x="2762250" y="1362508"/>
                <a:ext cx="6667500" cy="895350"/>
              </a:xfrm>
              <a:prstGeom prst="roundRect">
                <a:avLst>
                  <a:gd name="adj" fmla="val 50000"/>
                </a:avLst>
              </a:prstGeom>
              <a:gradFill flip="none" rotWithShape="1">
                <a:gsLst>
                  <a:gs pos="100000">
                    <a:sysClr val="window" lastClr="FFFFFF">
                      <a:lumMod val="95000"/>
                    </a:sysClr>
                  </a:gs>
                  <a:gs pos="0">
                    <a:sysClr val="window" lastClr="FFFFFF">
                      <a:lumMod val="85000"/>
                    </a:sysClr>
                  </a:gs>
                </a:gsLst>
                <a:lin ang="2700000" scaled="1"/>
                <a:tileRect/>
              </a:gradFill>
              <a:ln w="25400" cap="flat" cmpd="sng" algn="ctr">
                <a:gradFill>
                  <a:gsLst>
                    <a:gs pos="0">
                      <a:sysClr val="window" lastClr="FFFFFF"/>
                    </a:gs>
                    <a:gs pos="100000">
                      <a:sysClr val="window" lastClr="FFFFFF">
                        <a:lumMod val="75000"/>
                      </a:sysClr>
                    </a:gs>
                  </a:gsLst>
                  <a:lin ang="4800000" scaled="0"/>
                </a:gradFill>
                <a:prstDash val="solid"/>
                <a:miter lim="800000"/>
              </a:ln>
              <a:effectLst>
                <a:outerShdw blurRad="114300" dist="635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117" name="椭圆 116"/>
              <p:cNvSpPr/>
              <p:nvPr/>
            </p:nvSpPr>
            <p:spPr>
              <a:xfrm>
                <a:off x="2984561" y="1486183"/>
                <a:ext cx="648000" cy="648000"/>
              </a:xfrm>
              <a:prstGeom prst="ellipse">
                <a:avLst/>
              </a:prstGeom>
              <a:solidFill>
                <a:srgbClr val="005A9E"/>
              </a:solidFill>
              <a:ln w="19050" cap="flat" cmpd="sng" algn="ctr">
                <a:solidFill>
                  <a:schemeClr val="bg1">
                    <a:lumMod val="75000"/>
                  </a:schemeClr>
                </a:solidFill>
                <a:prstDash val="solid"/>
                <a:miter lim="800000"/>
              </a:ln>
              <a:effectLst>
                <a:outerShdw blurRad="50800" dist="38100" dir="2700000" algn="tl" rotWithShape="0">
                  <a:prstClr val="black">
                    <a:alpha val="40000"/>
                  </a:prstClr>
                </a:outerShdw>
                <a:softEdge rad="0"/>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118" name="文本框 18"/>
              <p:cNvSpPr txBox="1"/>
              <p:nvPr/>
            </p:nvSpPr>
            <p:spPr>
              <a:xfrm>
                <a:off x="2937086" y="1548573"/>
                <a:ext cx="742951" cy="55399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100" b="0" i="0" u="none" strike="noStrike" kern="0" cap="none" spc="0" normalizeH="0" baseline="0" noProof="0" dirty="0">
                    <a:ln>
                      <a:noFill/>
                    </a:ln>
                    <a:solidFill>
                      <a:prstClr val="white"/>
                    </a:solidFill>
                    <a:effectLst/>
                    <a:uLnTx/>
                    <a:uFillTx/>
                    <a:cs typeface="+mn-ea"/>
                    <a:sym typeface="+mn-lt"/>
                  </a:rPr>
                  <a:t>03</a:t>
                </a:r>
                <a:endParaRPr kumimoji="0" lang="zh-CN" altLang="en-US" sz="2100" b="0" i="0" u="none" strike="noStrike" kern="0" cap="none" spc="0" normalizeH="0" baseline="0" noProof="0" dirty="0">
                  <a:ln>
                    <a:noFill/>
                  </a:ln>
                  <a:solidFill>
                    <a:prstClr val="white"/>
                  </a:solidFill>
                  <a:effectLst/>
                  <a:uLnTx/>
                  <a:uFillTx/>
                  <a:cs typeface="+mn-ea"/>
                  <a:sym typeface="+mn-lt"/>
                </a:endParaRPr>
              </a:p>
            </p:txBody>
          </p:sp>
        </p:grpSp>
        <p:grpSp>
          <p:nvGrpSpPr>
            <p:cNvPr id="129" name="组合 128"/>
            <p:cNvGrpSpPr/>
            <p:nvPr/>
          </p:nvGrpSpPr>
          <p:grpSpPr>
            <a:xfrm>
              <a:off x="3136308" y="3389143"/>
              <a:ext cx="3157136" cy="133564"/>
              <a:chOff x="3891937" y="3685308"/>
              <a:chExt cx="4209515" cy="178085"/>
            </a:xfrm>
          </p:grpSpPr>
          <p:sp>
            <p:nvSpPr>
              <p:cNvPr id="130" name="矩形 129"/>
              <p:cNvSpPr/>
              <p:nvPr/>
            </p:nvSpPr>
            <p:spPr>
              <a:xfrm>
                <a:off x="3891937" y="3685308"/>
                <a:ext cx="4209515" cy="178085"/>
              </a:xfrm>
              <a:prstGeom prst="rect">
                <a:avLst/>
              </a:prstGeom>
              <a:solidFill>
                <a:schemeClr val="bg1">
                  <a:lumMod val="95000"/>
                </a:schemeClr>
              </a:solidFill>
              <a:ln w="12700" cap="flat" cmpd="sng" algn="ctr">
                <a:noFill/>
                <a:prstDash val="solid"/>
                <a:miter lim="800000"/>
              </a:ln>
              <a:effectLst>
                <a:innerShdw blurRad="38100" dist="38100" dir="13500000">
                  <a:prstClr val="black">
                    <a:alpha val="50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131" name="矩形 130"/>
              <p:cNvSpPr/>
              <p:nvPr/>
            </p:nvSpPr>
            <p:spPr>
              <a:xfrm>
                <a:off x="3891937" y="3687288"/>
                <a:ext cx="1818245" cy="174425"/>
              </a:xfrm>
              <a:prstGeom prst="rect">
                <a:avLst/>
              </a:prstGeom>
              <a:solidFill>
                <a:srgbClr val="005A9E"/>
              </a:solidFill>
              <a:ln w="12700" cap="flat" cmpd="sng" algn="ctr">
                <a:noFill/>
                <a:prstDash val="solid"/>
                <a:miter lim="800000"/>
              </a:ln>
              <a:effectLst>
                <a:innerShdw blurRad="38100" dist="38100" dir="13500000">
                  <a:prstClr val="black">
                    <a:alpha val="50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grpSp>
        <p:sp>
          <p:nvSpPr>
            <p:cNvPr id="137" name="文本框 46"/>
            <p:cNvSpPr txBox="1"/>
            <p:nvPr/>
          </p:nvSpPr>
          <p:spPr>
            <a:xfrm>
              <a:off x="3136306" y="3089778"/>
              <a:ext cx="3153157" cy="300080"/>
            </a:xfrm>
            <a:prstGeom prst="rect">
              <a:avLst/>
            </a:prstGeom>
            <a:noFill/>
          </p:spPr>
          <p:txBody>
            <a:bodyPr wrap="square" lIns="68579" tIns="34289" rIns="68579" bIns="34289" rtlCol="0">
              <a:spAutoFit/>
            </a:bodyPr>
            <a:lstStyle/>
            <a:p>
              <a:r>
                <a:rPr lang="en-US" altLang="zh-CN" sz="1500" dirty="0">
                  <a:solidFill>
                    <a:prstClr val="black">
                      <a:lumMod val="50000"/>
                      <a:lumOff val="50000"/>
                    </a:prstClr>
                  </a:solidFill>
                  <a:cs typeface="+mn-ea"/>
                  <a:sym typeface="+mn-lt"/>
                </a:rPr>
                <a:t>Data</a:t>
              </a:r>
              <a:r>
                <a:rPr lang="zh-CN" altLang="en-US" sz="1500" dirty="0">
                  <a:solidFill>
                    <a:prstClr val="black">
                      <a:lumMod val="50000"/>
                      <a:lumOff val="50000"/>
                    </a:prstClr>
                  </a:solidFill>
                  <a:cs typeface="+mn-ea"/>
                  <a:sym typeface="+mn-lt"/>
                </a:rPr>
                <a:t> </a:t>
              </a:r>
              <a:r>
                <a:rPr lang="en-US" altLang="zh-CN" sz="1500" dirty="0">
                  <a:solidFill>
                    <a:prstClr val="black">
                      <a:lumMod val="50000"/>
                      <a:lumOff val="50000"/>
                    </a:prstClr>
                  </a:solidFill>
                  <a:cs typeface="+mn-ea"/>
                  <a:sym typeface="+mn-lt"/>
                </a:rPr>
                <a:t>Processing</a:t>
              </a:r>
              <a:r>
                <a:rPr lang="zh-CN" altLang="en-US" sz="1500" dirty="0">
                  <a:solidFill>
                    <a:prstClr val="black">
                      <a:lumMod val="50000"/>
                      <a:lumOff val="50000"/>
                    </a:prstClr>
                  </a:solidFill>
                  <a:cs typeface="+mn-ea"/>
                  <a:sym typeface="+mn-lt"/>
                </a:rPr>
                <a:t>（</a:t>
              </a:r>
              <a:r>
                <a:rPr lang="en-US" altLang="zh-CN" sz="1500" dirty="0">
                  <a:solidFill>
                    <a:prstClr val="black">
                      <a:lumMod val="50000"/>
                      <a:lumOff val="50000"/>
                    </a:prstClr>
                  </a:solidFill>
                  <a:cs typeface="+mn-ea"/>
                  <a:sym typeface="+mn-lt"/>
                </a:rPr>
                <a:t>Questions</a:t>
              </a:r>
              <a:r>
                <a:rPr lang="zh-CN" altLang="en-US" sz="1500" dirty="0">
                  <a:solidFill>
                    <a:prstClr val="black">
                      <a:lumMod val="50000"/>
                      <a:lumOff val="50000"/>
                    </a:prstClr>
                  </a:solidFill>
                  <a:cs typeface="+mn-ea"/>
                  <a:sym typeface="+mn-lt"/>
                </a:rPr>
                <a:t>）</a:t>
              </a:r>
            </a:p>
          </p:txBody>
        </p:sp>
        <p:sp>
          <p:nvSpPr>
            <p:cNvPr id="141" name="文本框 50"/>
            <p:cNvSpPr txBox="1"/>
            <p:nvPr/>
          </p:nvSpPr>
          <p:spPr>
            <a:xfrm>
              <a:off x="5570936" y="3059559"/>
              <a:ext cx="718528" cy="346247"/>
            </a:xfrm>
            <a:prstGeom prst="rect">
              <a:avLst/>
            </a:prstGeom>
            <a:noFill/>
          </p:spPr>
          <p:txBody>
            <a:bodyPr wrap="square" lIns="68579" tIns="34289" rIns="68579" bIns="34289" rtlCol="0">
              <a:spAutoFit/>
            </a:bodyPr>
            <a:lstStyle/>
            <a:p>
              <a:pPr algn="r"/>
              <a:r>
                <a:rPr lang="en-US" altLang="zh-CN" dirty="0">
                  <a:solidFill>
                    <a:srgbClr val="005A9E"/>
                  </a:solidFill>
                  <a:cs typeface="+mn-ea"/>
                  <a:sym typeface="+mn-lt"/>
                </a:rPr>
                <a:t>40</a:t>
              </a:r>
              <a:r>
                <a:rPr lang="en-US" altLang="zh-CN" sz="1200" dirty="0">
                  <a:solidFill>
                    <a:srgbClr val="005A9E"/>
                  </a:solidFill>
                  <a:cs typeface="+mn-ea"/>
                  <a:sym typeface="+mn-lt"/>
                </a:rPr>
                <a:t>%</a:t>
              </a:r>
              <a:endParaRPr lang="zh-CN" altLang="en-US" sz="1800" dirty="0">
                <a:solidFill>
                  <a:srgbClr val="005A9E"/>
                </a:solidFill>
                <a:cs typeface="+mn-ea"/>
                <a:sym typeface="+mn-lt"/>
              </a:endParaRPr>
            </a:p>
          </p:txBody>
        </p:sp>
      </p:grpSp>
      <p:sp>
        <p:nvSpPr>
          <p:cNvPr id="51" name="Rectangle 3">
            <a:extLst>
              <a:ext uri="{FF2B5EF4-FFF2-40B4-BE49-F238E27FC236}">
                <a16:creationId xmlns:a16="http://schemas.microsoft.com/office/drawing/2014/main" id="{3C008B29-FB31-4ADF-8A59-2301E81AF313}"/>
              </a:ext>
            </a:extLst>
          </p:cNvPr>
          <p:cNvSpPr txBox="1">
            <a:spLocks noChangeArrowheads="1"/>
          </p:cNvSpPr>
          <p:nvPr/>
        </p:nvSpPr>
        <p:spPr>
          <a:xfrm>
            <a:off x="5405067" y="1115675"/>
            <a:ext cx="3750256" cy="3693292"/>
          </a:xfrm>
          <a:prstGeom prst="rect">
            <a:avLst/>
          </a:prstGeom>
        </p:spPr>
        <p:txBody>
          <a:bodyPr/>
          <a:lstStyle>
            <a:lvl1pPr marL="257175" indent="-257175"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1pPr>
            <a:lvl2pPr marL="557213" indent="-214313" algn="l" rtl="0" eaLnBrk="0" fontAlgn="base" hangingPunct="0">
              <a:spcBef>
                <a:spcPct val="20000"/>
              </a:spcBef>
              <a:spcAft>
                <a:spcPct val="0"/>
              </a:spcAft>
              <a:buFont typeface="Arial" charset="0"/>
              <a:buChar char="–"/>
              <a:defRPr sz="2100" kern="1200">
                <a:solidFill>
                  <a:schemeClr val="tx1"/>
                </a:solidFill>
                <a:latin typeface="Arial" charset="0"/>
                <a:ea typeface="+mn-ea"/>
                <a:cs typeface="+mn-cs"/>
              </a:defRPr>
            </a:lvl2pPr>
            <a:lvl3pPr marL="857250" indent="-171450" algn="l" rtl="0" eaLnBrk="0" fontAlgn="base" hangingPunct="0">
              <a:spcBef>
                <a:spcPct val="20000"/>
              </a:spcBef>
              <a:spcAft>
                <a:spcPct val="0"/>
              </a:spcAft>
              <a:buFont typeface="Arial" charset="0"/>
              <a:buChar char="•"/>
              <a:defRPr sz="1800" kern="1200">
                <a:solidFill>
                  <a:schemeClr val="tx1"/>
                </a:solidFill>
                <a:latin typeface="Arial" charset="0"/>
                <a:ea typeface="+mn-ea"/>
                <a:cs typeface="+mn-cs"/>
              </a:defRPr>
            </a:lvl3pPr>
            <a:lvl4pPr marL="12001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4pPr>
            <a:lvl5pPr marL="15430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defRPr/>
            </a:pPr>
            <a:r>
              <a:rPr lang="zh-CN" altLang="en-US" sz="1600" dirty="0"/>
              <a:t>每次实验，按照百分制评分</a:t>
            </a:r>
            <a:endParaRPr lang="en-US" altLang="zh-CN" sz="1600" dirty="0"/>
          </a:p>
          <a:p>
            <a:pPr>
              <a:spcBef>
                <a:spcPts val="1200"/>
              </a:spcBef>
              <a:buFontTx/>
              <a:buNone/>
              <a:defRPr/>
            </a:pPr>
            <a:r>
              <a:rPr lang="zh-CN" altLang="en-US" sz="1600" dirty="0"/>
              <a:t>预习报告</a:t>
            </a:r>
            <a:r>
              <a:rPr lang="en-US" altLang="zh-CN" sz="1600" b="1" dirty="0">
                <a:solidFill>
                  <a:srgbClr val="FF0000"/>
                </a:solidFill>
              </a:rPr>
              <a:t>10</a:t>
            </a:r>
            <a:r>
              <a:rPr lang="zh-CN" altLang="en-US" sz="1600" dirty="0"/>
              <a:t>分，</a:t>
            </a:r>
            <a:endParaRPr lang="en-US" altLang="zh-CN" sz="1600" dirty="0"/>
          </a:p>
          <a:p>
            <a:pPr>
              <a:spcBef>
                <a:spcPts val="1200"/>
              </a:spcBef>
              <a:buFontTx/>
              <a:buNone/>
              <a:defRPr/>
            </a:pPr>
            <a:r>
              <a:rPr lang="zh-CN" altLang="en-US" sz="1600" dirty="0"/>
              <a:t>实验操作</a:t>
            </a:r>
            <a:r>
              <a:rPr lang="en-US" altLang="zh-CN" sz="1600" b="1" dirty="0">
                <a:solidFill>
                  <a:srgbClr val="FF0000"/>
                </a:solidFill>
              </a:rPr>
              <a:t>50</a:t>
            </a:r>
            <a:r>
              <a:rPr lang="zh-CN" altLang="en-US" sz="1600" dirty="0"/>
              <a:t>分，</a:t>
            </a:r>
            <a:endParaRPr lang="en-US" altLang="zh-CN" sz="1600" dirty="0"/>
          </a:p>
          <a:p>
            <a:pPr>
              <a:spcBef>
                <a:spcPts val="1200"/>
              </a:spcBef>
              <a:buFontTx/>
              <a:buNone/>
              <a:defRPr/>
            </a:pPr>
            <a:r>
              <a:rPr lang="zh-CN" altLang="en-US" sz="1600" dirty="0"/>
              <a:t>实验报告</a:t>
            </a:r>
            <a:r>
              <a:rPr lang="en-US" altLang="zh-CN" sz="1600" b="1" dirty="0">
                <a:solidFill>
                  <a:srgbClr val="FF0000"/>
                </a:solidFill>
              </a:rPr>
              <a:t>40</a:t>
            </a:r>
            <a:r>
              <a:rPr lang="zh-CN" altLang="en-US" sz="1600" dirty="0"/>
              <a:t>分</a:t>
            </a:r>
            <a:endParaRPr lang="en-US" altLang="zh-CN" sz="1600" dirty="0"/>
          </a:p>
          <a:p>
            <a:pPr>
              <a:spcBef>
                <a:spcPts val="1200"/>
              </a:spcBef>
              <a:buFontTx/>
              <a:buNone/>
              <a:defRPr/>
            </a:pPr>
            <a:r>
              <a:rPr lang="zh-CN" altLang="en-US" sz="1600" dirty="0"/>
              <a:t>重视：</a:t>
            </a:r>
            <a:r>
              <a:rPr lang="zh-CN" altLang="en-US" sz="1600" u="sng" dirty="0">
                <a:solidFill>
                  <a:srgbClr val="0000FF"/>
                </a:solidFill>
              </a:rPr>
              <a:t>数据处理、思考题、实验总结</a:t>
            </a:r>
            <a:endParaRPr lang="en-US" altLang="zh-CN" sz="1600" u="sng" dirty="0">
              <a:solidFill>
                <a:srgbClr val="0000FF"/>
              </a:solidFill>
            </a:endParaRPr>
          </a:p>
          <a:p>
            <a:pPr>
              <a:spcBef>
                <a:spcPts val="1200"/>
              </a:spcBef>
              <a:buFontTx/>
              <a:buNone/>
              <a:defRPr/>
            </a:pPr>
            <a:endParaRPr lang="en-US" altLang="zh-CN" sz="1600" u="sng" dirty="0">
              <a:solidFill>
                <a:srgbClr val="0000FF"/>
              </a:solidFill>
            </a:endParaRPr>
          </a:p>
        </p:txBody>
      </p:sp>
      <p:sp>
        <p:nvSpPr>
          <p:cNvPr id="12" name="文本框 11">
            <a:extLst>
              <a:ext uri="{FF2B5EF4-FFF2-40B4-BE49-F238E27FC236}">
                <a16:creationId xmlns:a16="http://schemas.microsoft.com/office/drawing/2014/main" id="{DEB0530F-5CFC-9272-4107-7F3E9CCBA07F}"/>
              </a:ext>
            </a:extLst>
          </p:cNvPr>
          <p:cNvSpPr txBox="1"/>
          <p:nvPr/>
        </p:nvSpPr>
        <p:spPr>
          <a:xfrm>
            <a:off x="481327" y="3731749"/>
            <a:ext cx="7246558" cy="1077218"/>
          </a:xfrm>
          <a:prstGeom prst="rect">
            <a:avLst/>
          </a:prstGeom>
          <a:noFill/>
        </p:spPr>
        <p:txBody>
          <a:bodyPr wrap="square" rtlCol="0">
            <a:spAutoFit/>
          </a:bodyPr>
          <a:lstStyle/>
          <a:p>
            <a:pPr>
              <a:spcBef>
                <a:spcPts val="600"/>
              </a:spcBef>
              <a:defRPr/>
            </a:pPr>
            <a:r>
              <a:rPr lang="zh-CN" altLang="en-US" sz="1800" b="1" dirty="0"/>
              <a:t>实验课最终成绩 </a:t>
            </a:r>
            <a:r>
              <a:rPr lang="en-US" altLang="zh-CN" b="1" dirty="0"/>
              <a:t>Final score</a:t>
            </a:r>
            <a:r>
              <a:rPr lang="zh-CN" altLang="en-US" sz="1800" b="1" dirty="0"/>
              <a:t>：</a:t>
            </a:r>
            <a:endParaRPr lang="en-US" altLang="zh-CN" sz="1800" b="1" dirty="0"/>
          </a:p>
          <a:p>
            <a:pPr marL="285750" indent="-285750">
              <a:spcBef>
                <a:spcPts val="600"/>
              </a:spcBef>
              <a:buFont typeface="Wingdings" panose="05000000000000000000" pitchFamily="2" charset="2"/>
              <a:buChar char="Ø"/>
              <a:defRPr/>
            </a:pPr>
            <a:r>
              <a:rPr lang="en-US" altLang="zh-CN" sz="1800" b="1" dirty="0">
                <a:solidFill>
                  <a:srgbClr val="FF0000"/>
                </a:solidFill>
              </a:rPr>
              <a:t>Average of scores for all experiments</a:t>
            </a:r>
          </a:p>
          <a:p>
            <a:pPr marL="285750" indent="-285750">
              <a:spcBef>
                <a:spcPts val="600"/>
              </a:spcBef>
              <a:buFont typeface="Wingdings" panose="05000000000000000000" pitchFamily="2" charset="2"/>
              <a:buChar char="Ø"/>
              <a:defRPr/>
            </a:pPr>
            <a:r>
              <a:rPr lang="en-US" altLang="zh-CN" b="1" dirty="0">
                <a:solidFill>
                  <a:srgbClr val="FF0000"/>
                </a:solidFill>
              </a:rPr>
              <a:t>Possible</a:t>
            </a:r>
            <a:r>
              <a:rPr lang="en-US" altLang="zh-CN" sz="1800" b="1" dirty="0">
                <a:solidFill>
                  <a:srgbClr val="FF0000"/>
                </a:solidFill>
              </a:rPr>
              <a:t> bonus</a:t>
            </a:r>
          </a:p>
        </p:txBody>
      </p:sp>
    </p:spTree>
    <p:extLst>
      <p:ext uri="{BB962C8B-B14F-4D97-AF65-F5344CB8AC3E}">
        <p14:creationId xmlns:p14="http://schemas.microsoft.com/office/powerpoint/2010/main" val="3252160488"/>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0-#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1+#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13FF40-CAD2-8FC1-229F-7FA54B5505C0}"/>
            </a:ext>
          </a:extLst>
        </p:cNvPr>
        <p:cNvGrpSpPr/>
        <p:nvPr/>
      </p:nvGrpSpPr>
      <p:grpSpPr>
        <a:xfrm>
          <a:off x="0" y="0"/>
          <a:ext cx="0" cy="0"/>
          <a:chOff x="0" y="0"/>
          <a:chExt cx="0" cy="0"/>
        </a:xfrm>
      </p:grpSpPr>
      <p:pic>
        <p:nvPicPr>
          <p:cNvPr id="3" name="图片 2" descr="电脑屏幕的照片上有文字&#10;&#10;描述已自动生成">
            <a:extLst>
              <a:ext uri="{FF2B5EF4-FFF2-40B4-BE49-F238E27FC236}">
                <a16:creationId xmlns:a16="http://schemas.microsoft.com/office/drawing/2014/main" id="{7E9FED33-CBE6-D47B-F8CF-BBA9D3AFB7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600" y="1083469"/>
            <a:ext cx="3968749" cy="2976561"/>
          </a:xfrm>
          <a:prstGeom prst="rect">
            <a:avLst/>
          </a:prstGeom>
        </p:spPr>
      </p:pic>
      <p:pic>
        <p:nvPicPr>
          <p:cNvPr id="4" name="图片 3" descr="文本&#10;&#10;描述已自动生成">
            <a:extLst>
              <a:ext uri="{FF2B5EF4-FFF2-40B4-BE49-F238E27FC236}">
                <a16:creationId xmlns:a16="http://schemas.microsoft.com/office/drawing/2014/main" id="{169D12D9-20B2-C71A-8941-A8EACE01BA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92648" y="1083468"/>
            <a:ext cx="3968751" cy="2976563"/>
          </a:xfrm>
          <a:prstGeom prst="rect">
            <a:avLst/>
          </a:prstGeom>
        </p:spPr>
      </p:pic>
    </p:spTree>
    <p:extLst>
      <p:ext uri="{BB962C8B-B14F-4D97-AF65-F5344CB8AC3E}">
        <p14:creationId xmlns:p14="http://schemas.microsoft.com/office/powerpoint/2010/main" val="60642079"/>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a:off x="3700059" y="2462747"/>
            <a:ext cx="3236046" cy="0"/>
          </a:xfrm>
          <a:prstGeom prst="line">
            <a:avLst/>
          </a:prstGeom>
          <a:noFill/>
          <a:ln w="19050" cap="flat" cmpd="sng" algn="ctr">
            <a:solidFill>
              <a:srgbClr val="E7E6E6">
                <a:lumMod val="50000"/>
              </a:srgbClr>
            </a:solidFill>
            <a:prstDash val="sysDot"/>
            <a:miter lim="800000"/>
            <a:tailEnd type="oval"/>
          </a:ln>
          <a:effectLst/>
        </p:spPr>
      </p:cxnSp>
      <p:grpSp>
        <p:nvGrpSpPr>
          <p:cNvPr id="15" name="组合 14"/>
          <p:cNvGrpSpPr/>
          <p:nvPr/>
        </p:nvGrpSpPr>
        <p:grpSpPr>
          <a:xfrm>
            <a:off x="1136404" y="1629843"/>
            <a:ext cx="1837257" cy="1837257"/>
            <a:chOff x="1959919" y="2023759"/>
            <a:chExt cx="2773806" cy="2773806"/>
          </a:xfrm>
        </p:grpSpPr>
        <p:grpSp>
          <p:nvGrpSpPr>
            <p:cNvPr id="16" name="组合 15"/>
            <p:cNvGrpSpPr/>
            <p:nvPr/>
          </p:nvGrpSpPr>
          <p:grpSpPr>
            <a:xfrm>
              <a:off x="1959919" y="2023759"/>
              <a:ext cx="2773806" cy="2773806"/>
              <a:chOff x="2099081" y="2031187"/>
              <a:chExt cx="2739620" cy="2739620"/>
            </a:xfrm>
          </p:grpSpPr>
          <p:sp>
            <p:nvSpPr>
              <p:cNvPr id="19" name="椭圆 18"/>
              <p:cNvSpPr/>
              <p:nvPr/>
            </p:nvSpPr>
            <p:spPr>
              <a:xfrm>
                <a:off x="2099081" y="2031187"/>
                <a:ext cx="2739620" cy="2739620"/>
              </a:xfrm>
              <a:prstGeom prst="ellipse">
                <a:avLst/>
              </a:prstGeom>
              <a:gradFill flip="none" rotWithShape="1">
                <a:gsLst>
                  <a:gs pos="0">
                    <a:sysClr val="window" lastClr="FFFFFF">
                      <a:lumMod val="85000"/>
                    </a:sysClr>
                  </a:gs>
                  <a:gs pos="100000">
                    <a:sysClr val="window" lastClr="FFFFFF">
                      <a:alpha val="99000"/>
                    </a:sysClr>
                  </a:gs>
                </a:gsLst>
                <a:path path="circle">
                  <a:fillToRect l="100000" t="100000"/>
                </a:path>
                <a:tileRect r="-100000" b="-100000"/>
              </a:gradFill>
              <a:ln w="12700" cap="flat" cmpd="sng" algn="ctr">
                <a:noFill/>
                <a:prstDash val="solid"/>
                <a:miter lim="800000"/>
              </a:ln>
              <a:effectLst>
                <a:softEdge rad="101600"/>
              </a:effectLst>
            </p:spPr>
            <p:txBody>
              <a:bodyPr rtlCol="0" anchor="ctr"/>
              <a:lstStyle/>
              <a:p>
                <a:pPr algn="ctr">
                  <a:defRPr/>
                </a:pPr>
                <a:endParaRPr lang="zh-CN" altLang="en-US" kern="0">
                  <a:solidFill>
                    <a:sysClr val="window" lastClr="FFFFFF"/>
                  </a:solidFill>
                  <a:cs typeface="+mn-ea"/>
                  <a:sym typeface="+mn-lt"/>
                </a:endParaRPr>
              </a:p>
            </p:txBody>
          </p:sp>
          <p:sp>
            <p:nvSpPr>
              <p:cNvPr id="20" name="圆角矩形 19"/>
              <p:cNvSpPr/>
              <p:nvPr/>
            </p:nvSpPr>
            <p:spPr>
              <a:xfrm>
                <a:off x="2377216" y="2309322"/>
                <a:ext cx="2183348" cy="2183348"/>
              </a:xfrm>
              <a:prstGeom prst="roundRect">
                <a:avLst>
                  <a:gd name="adj" fmla="val 50000"/>
                </a:avLst>
              </a:prstGeom>
              <a:gradFill flip="none" rotWithShape="1">
                <a:gsLst>
                  <a:gs pos="100000">
                    <a:sysClr val="window" lastClr="FFFFFF"/>
                  </a:gs>
                  <a:gs pos="0">
                    <a:srgbClr val="B8BBBC"/>
                  </a:gs>
                </a:gsLst>
                <a:lin ang="5400000" scaled="0"/>
                <a:tileRect/>
              </a:gradFill>
              <a:ln w="12700" cap="flat" cmpd="sng" algn="ctr">
                <a:noFill/>
                <a:prstDash val="solid"/>
                <a:miter lim="800000"/>
              </a:ln>
              <a:effectLst/>
            </p:spPr>
            <p:txBody>
              <a:bodyPr rtlCol="0" anchor="ctr"/>
              <a:lstStyle/>
              <a:p>
                <a:pPr algn="ctr">
                  <a:defRPr/>
                </a:pPr>
                <a:endParaRPr lang="zh-CN" altLang="en-US" kern="0">
                  <a:solidFill>
                    <a:sysClr val="window" lastClr="FFFFFF"/>
                  </a:solidFill>
                  <a:cs typeface="+mn-ea"/>
                  <a:sym typeface="+mn-lt"/>
                </a:endParaRPr>
              </a:p>
            </p:txBody>
          </p:sp>
        </p:grpSp>
        <p:sp>
          <p:nvSpPr>
            <p:cNvPr id="17" name="椭圆 16"/>
            <p:cNvSpPr/>
            <p:nvPr/>
          </p:nvSpPr>
          <p:spPr>
            <a:xfrm>
              <a:off x="2510240" y="2574081"/>
              <a:ext cx="1673164" cy="1673161"/>
            </a:xfrm>
            <a:prstGeom prst="ellipse">
              <a:avLst/>
            </a:prstGeom>
            <a:solidFill>
              <a:schemeClr val="bg1">
                <a:lumMod val="65000"/>
              </a:schemeClr>
            </a:solidFill>
            <a:ln w="12700" cap="flat" cmpd="sng" algn="ctr">
              <a:noFill/>
              <a:prstDash val="solid"/>
              <a:miter lim="800000"/>
            </a:ln>
            <a:effectLst>
              <a:innerShdw blurRad="203200" dist="50800" dir="16200000">
                <a:prstClr val="black">
                  <a:alpha val="50000"/>
                </a:prstClr>
              </a:innerShdw>
            </a:effectLst>
          </p:spPr>
          <p:txBody>
            <a:bodyPr rtlCol="0" anchor="ctr"/>
            <a:lstStyle/>
            <a:p>
              <a:pPr algn="ctr">
                <a:defRPr/>
              </a:pPr>
              <a:endParaRPr lang="zh-CN" altLang="en-US" sz="9000" kern="0">
                <a:solidFill>
                  <a:sysClr val="window" lastClr="FFFFFF"/>
                </a:solidFill>
                <a:cs typeface="+mn-ea"/>
                <a:sym typeface="+mn-lt"/>
              </a:endParaRPr>
            </a:p>
          </p:txBody>
        </p:sp>
      </p:grpSp>
      <p:sp>
        <p:nvSpPr>
          <p:cNvPr id="21" name="矩形 20"/>
          <p:cNvSpPr/>
          <p:nvPr/>
        </p:nvSpPr>
        <p:spPr>
          <a:xfrm>
            <a:off x="3635896" y="1629843"/>
            <a:ext cx="3370153" cy="1177245"/>
          </a:xfrm>
          <a:prstGeom prst="rect">
            <a:avLst/>
          </a:prstGeom>
        </p:spPr>
        <p:txBody>
          <a:bodyPr wrap="none" lIns="68580" tIns="34290" rIns="68580" bIns="34290">
            <a:spAutoFit/>
          </a:bodyPr>
          <a:lstStyle/>
          <a:p>
            <a:pPr defTabSz="913924">
              <a:defRPr/>
            </a:pPr>
            <a:r>
              <a:rPr lang="en-US" altLang="zh-CN" sz="3600" b="1" kern="0" dirty="0">
                <a:solidFill>
                  <a:schemeClr val="accent1">
                    <a:lumMod val="75000"/>
                  </a:schemeClr>
                </a:solidFill>
                <a:cs typeface="+mn-ea"/>
                <a:sym typeface="+mn-lt"/>
              </a:rPr>
              <a:t>Measurements</a:t>
            </a:r>
            <a:endParaRPr lang="zh-CN" altLang="en-US" sz="3600" b="1" kern="0" dirty="0">
              <a:solidFill>
                <a:schemeClr val="accent1">
                  <a:lumMod val="75000"/>
                </a:schemeClr>
              </a:solidFill>
              <a:cs typeface="+mn-ea"/>
              <a:sym typeface="+mn-lt"/>
            </a:endParaRPr>
          </a:p>
          <a:p>
            <a:pPr defTabSz="913924">
              <a:defRPr/>
            </a:pPr>
            <a:endParaRPr lang="zh-CN" altLang="en-US" sz="3600" b="1" kern="0" dirty="0">
              <a:solidFill>
                <a:schemeClr val="accent1">
                  <a:lumMod val="75000"/>
                </a:schemeClr>
              </a:solidFill>
              <a:cs typeface="+mn-ea"/>
              <a:sym typeface="+mn-lt"/>
            </a:endParaRPr>
          </a:p>
        </p:txBody>
      </p:sp>
      <p:cxnSp>
        <p:nvCxnSpPr>
          <p:cNvPr id="26" name="直接连接符 25"/>
          <p:cNvCxnSpPr/>
          <p:nvPr/>
        </p:nvCxnSpPr>
        <p:spPr>
          <a:xfrm flipV="1">
            <a:off x="3203848" y="1203598"/>
            <a:ext cx="0" cy="2808312"/>
          </a:xfrm>
          <a:prstGeom prst="line">
            <a:avLst/>
          </a:prstGeom>
          <a:noFill/>
          <a:ln w="12700" cap="flat" cmpd="sng" algn="ctr">
            <a:solidFill>
              <a:sysClr val="windowText" lastClr="000000"/>
            </a:solidFill>
            <a:prstDash val="dash"/>
          </a:ln>
          <a:effectLst/>
        </p:spPr>
      </p:cxnSp>
      <p:sp>
        <p:nvSpPr>
          <p:cNvPr id="27" name="矩形 26"/>
          <p:cNvSpPr/>
          <p:nvPr/>
        </p:nvSpPr>
        <p:spPr>
          <a:xfrm>
            <a:off x="0" y="5009752"/>
            <a:ext cx="9144000" cy="133747"/>
          </a:xfrm>
          <a:prstGeom prst="rect">
            <a:avLst/>
          </a:prstGeom>
          <a:solidFill>
            <a:srgbClr val="005A9E"/>
          </a:solidFill>
          <a:ln w="25400" cap="flat" cmpd="sng" algn="ctr">
            <a:no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28" name="TextBox 27"/>
          <p:cNvSpPr txBox="1"/>
          <p:nvPr/>
        </p:nvSpPr>
        <p:spPr>
          <a:xfrm>
            <a:off x="1729447" y="1881143"/>
            <a:ext cx="635927" cy="1323439"/>
          </a:xfrm>
          <a:prstGeom prst="rect">
            <a:avLst/>
          </a:prstGeom>
          <a:noFill/>
        </p:spPr>
        <p:txBody>
          <a:bodyPr wrap="square" rtlCol="0">
            <a:spAutoFit/>
          </a:bodyPr>
          <a:lstStyle/>
          <a:p>
            <a:pPr algn="ctr">
              <a:defRPr/>
            </a:pPr>
            <a:r>
              <a:rPr lang="en-US" altLang="zh-CN" sz="8000" b="1" kern="0" dirty="0">
                <a:solidFill>
                  <a:sysClr val="window" lastClr="FFFFFF"/>
                </a:solidFill>
                <a:cs typeface="+mn-ea"/>
                <a:sym typeface="+mn-lt"/>
              </a:rPr>
              <a:t>2</a:t>
            </a:r>
          </a:p>
        </p:txBody>
      </p:sp>
      <p:sp>
        <p:nvSpPr>
          <p:cNvPr id="29" name="矩形 28"/>
          <p:cNvSpPr/>
          <p:nvPr/>
        </p:nvSpPr>
        <p:spPr>
          <a:xfrm>
            <a:off x="3735758" y="2960241"/>
            <a:ext cx="1304203" cy="346249"/>
          </a:xfrm>
          <a:prstGeom prst="rect">
            <a:avLst/>
          </a:prstGeom>
        </p:spPr>
        <p:txBody>
          <a:bodyPr wrap="none" lIns="68580" tIns="34290" rIns="68580" bIns="34290">
            <a:spAutoFit/>
          </a:bodyPr>
          <a:lstStyle/>
          <a:p>
            <a:pPr marL="214313" indent="-214313">
              <a:buFont typeface="Wingdings" pitchFamily="2" charset="2"/>
              <a:buChar char="l"/>
            </a:pPr>
            <a:r>
              <a:rPr lang="en-US" altLang="zh-CN" b="1" kern="0" dirty="0">
                <a:solidFill>
                  <a:srgbClr val="005A9E"/>
                </a:solidFill>
                <a:cs typeface="+mn-ea"/>
                <a:sym typeface="+mn-lt"/>
              </a:rPr>
              <a:t>Methods</a:t>
            </a:r>
            <a:endParaRPr lang="zh-CN" altLang="en-US" kern="0" dirty="0">
              <a:solidFill>
                <a:sysClr val="window" lastClr="FFFFFF">
                  <a:lumMod val="50000"/>
                </a:sysClr>
              </a:solidFill>
              <a:cs typeface="+mn-ea"/>
              <a:sym typeface="+mn-lt"/>
            </a:endParaRPr>
          </a:p>
        </p:txBody>
      </p:sp>
      <p:sp>
        <p:nvSpPr>
          <p:cNvPr id="30" name="矩形 29"/>
          <p:cNvSpPr/>
          <p:nvPr/>
        </p:nvSpPr>
        <p:spPr>
          <a:xfrm>
            <a:off x="5364533" y="2944186"/>
            <a:ext cx="2702022" cy="346249"/>
          </a:xfrm>
          <a:prstGeom prst="rect">
            <a:avLst/>
          </a:prstGeom>
        </p:spPr>
        <p:txBody>
          <a:bodyPr wrap="none" lIns="68580" tIns="34290" rIns="68580" bIns="34290">
            <a:spAutoFit/>
          </a:bodyPr>
          <a:lstStyle/>
          <a:p>
            <a:pPr marL="214313" indent="-214313">
              <a:buFont typeface="Wingdings" pitchFamily="2" charset="2"/>
              <a:buChar char="l"/>
            </a:pPr>
            <a:r>
              <a:rPr lang="en-US" altLang="zh-CN" b="1" kern="0" dirty="0">
                <a:solidFill>
                  <a:srgbClr val="005A9E"/>
                </a:solidFill>
                <a:cs typeface="+mn-ea"/>
                <a:sym typeface="+mn-lt"/>
              </a:rPr>
              <a:t>Uncertainty and error</a:t>
            </a:r>
            <a:endParaRPr lang="zh-CN" altLang="en-US" kern="0" dirty="0">
              <a:solidFill>
                <a:sysClr val="window" lastClr="FFFFFF">
                  <a:lumMod val="50000"/>
                </a:sysClr>
              </a:solidFill>
              <a:cs typeface="+mn-ea"/>
              <a:sym typeface="+mn-lt"/>
            </a:endParaRPr>
          </a:p>
        </p:txBody>
      </p:sp>
      <p:sp>
        <p:nvSpPr>
          <p:cNvPr id="31" name="矩形 30"/>
          <p:cNvSpPr/>
          <p:nvPr/>
        </p:nvSpPr>
        <p:spPr>
          <a:xfrm>
            <a:off x="3735758" y="3273817"/>
            <a:ext cx="2240357" cy="346249"/>
          </a:xfrm>
          <a:prstGeom prst="rect">
            <a:avLst/>
          </a:prstGeom>
        </p:spPr>
        <p:txBody>
          <a:bodyPr wrap="none" lIns="68580" tIns="34290" rIns="68580" bIns="34290">
            <a:spAutoFit/>
          </a:bodyPr>
          <a:lstStyle/>
          <a:p>
            <a:pPr marL="214313" indent="-214313">
              <a:buFont typeface="Wingdings" pitchFamily="2" charset="2"/>
              <a:buChar char="l"/>
            </a:pPr>
            <a:r>
              <a:rPr lang="en-US" altLang="zh-CN" b="1" kern="0" dirty="0">
                <a:solidFill>
                  <a:srgbClr val="005A9E"/>
                </a:solidFill>
                <a:cs typeface="+mn-ea"/>
                <a:sym typeface="+mn-lt"/>
              </a:rPr>
              <a:t>Significant figure</a:t>
            </a:r>
            <a:endParaRPr lang="zh-CN" altLang="en-US" kern="0" dirty="0">
              <a:solidFill>
                <a:sysClr val="window" lastClr="FFFFFF">
                  <a:lumMod val="50000"/>
                </a:sysClr>
              </a:solidFill>
              <a:cs typeface="+mn-ea"/>
              <a:sym typeface="+mn-lt"/>
            </a:endParaRPr>
          </a:p>
        </p:txBody>
      </p:sp>
    </p:spTree>
    <p:extLst>
      <p:ext uri="{BB962C8B-B14F-4D97-AF65-F5344CB8AC3E}">
        <p14:creationId xmlns:p14="http://schemas.microsoft.com/office/powerpoint/2010/main" val="2134255727"/>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38" presetClass="entr" presetSubtype="0" accel="50000" fill="hold" grpId="0" nodeType="withEffect">
                                  <p:stCondLst>
                                    <p:cond delay="0"/>
                                  </p:stCondLst>
                                  <p:iterate type="lt">
                                    <p:tmPct val="50000"/>
                                  </p:iterate>
                                  <p:childTnLst>
                                    <p:set>
                                      <p:cBhvr>
                                        <p:cTn id="11" dur="1" fill="hold">
                                          <p:stCondLst>
                                            <p:cond delay="0"/>
                                          </p:stCondLst>
                                        </p:cTn>
                                        <p:tgtEl>
                                          <p:spTgt spid="28"/>
                                        </p:tgtEl>
                                        <p:attrNameLst>
                                          <p:attrName>style.visibility</p:attrName>
                                        </p:attrNameLst>
                                      </p:cBhvr>
                                      <p:to>
                                        <p:strVal val="visible"/>
                                      </p:to>
                                    </p:set>
                                    <p:set>
                                      <p:cBhvr>
                                        <p:cTn id="12" dur="364" fill="hold">
                                          <p:stCondLst>
                                            <p:cond delay="0"/>
                                          </p:stCondLst>
                                        </p:cTn>
                                        <p:tgtEl>
                                          <p:spTgt spid="28"/>
                                        </p:tgtEl>
                                        <p:attrNameLst>
                                          <p:attrName>style.rotation</p:attrName>
                                        </p:attrNameLst>
                                      </p:cBhvr>
                                      <p:to>
                                        <p:strVal val="-45.0"/>
                                      </p:to>
                                    </p:set>
                                    <p:anim calcmode="lin" valueType="num">
                                      <p:cBhvr>
                                        <p:cTn id="13" dur="364" fill="hold">
                                          <p:stCondLst>
                                            <p:cond delay="364"/>
                                          </p:stCondLst>
                                        </p:cTn>
                                        <p:tgtEl>
                                          <p:spTgt spid="28"/>
                                        </p:tgtEl>
                                        <p:attrNameLst>
                                          <p:attrName>style.rotation</p:attrName>
                                        </p:attrNameLst>
                                      </p:cBhvr>
                                      <p:tavLst>
                                        <p:tav tm="0">
                                          <p:val>
                                            <p:fltVal val="-45"/>
                                          </p:val>
                                        </p:tav>
                                        <p:tav tm="69900">
                                          <p:val>
                                            <p:fltVal val="45"/>
                                          </p:val>
                                        </p:tav>
                                        <p:tav tm="100000">
                                          <p:val>
                                            <p:fltVal val="0"/>
                                          </p:val>
                                        </p:tav>
                                      </p:tavLst>
                                    </p:anim>
                                    <p:anim calcmode="lin" valueType="num">
                                      <p:cBhvr>
                                        <p:cTn id="14" dur="364" fill="hold">
                                          <p:stCondLst>
                                            <p:cond delay="0"/>
                                          </p:stCondLst>
                                        </p:cTn>
                                        <p:tgtEl>
                                          <p:spTgt spid="28"/>
                                        </p:tgtEl>
                                        <p:attrNameLst>
                                          <p:attrName>ppt_y</p:attrName>
                                        </p:attrNameLst>
                                      </p:cBhvr>
                                      <p:tavLst>
                                        <p:tav tm="0">
                                          <p:val>
                                            <p:strVal val="#ppt_y-1"/>
                                          </p:val>
                                        </p:tav>
                                        <p:tav tm="100000">
                                          <p:val>
                                            <p:strVal val="#ppt_y-(0.354*#ppt_w-0.172*#ppt_h)"/>
                                          </p:val>
                                        </p:tav>
                                      </p:tavLst>
                                    </p:anim>
                                    <p:anim calcmode="lin" valueType="num">
                                      <p:cBhvr>
                                        <p:cTn id="15" dur="125" decel="50000" autoRev="1" fill="hold">
                                          <p:stCondLst>
                                            <p:cond delay="364"/>
                                          </p:stCondLst>
                                        </p:cTn>
                                        <p:tgtEl>
                                          <p:spTgt spid="28"/>
                                        </p:tgtEl>
                                        <p:attrNameLst>
                                          <p:attrName>ppt_y</p:attrName>
                                        </p:attrNameLst>
                                      </p:cBhvr>
                                      <p:tavLst>
                                        <p:tav tm="0">
                                          <p:val>
                                            <p:strVal val="#ppt_y-(0.354*#ppt_w-0.172*#ppt_h)"/>
                                          </p:val>
                                        </p:tav>
                                        <p:tav tm="100000">
                                          <p:val>
                                            <p:strVal val="#ppt_y-(0.354*#ppt_w-0.172*#ppt_h)-#ppt_h/2"/>
                                          </p:val>
                                        </p:tav>
                                      </p:tavLst>
                                    </p:anim>
                                    <p:anim calcmode="lin" valueType="num">
                                      <p:cBhvr>
                                        <p:cTn id="16" dur="109" fill="hold">
                                          <p:stCondLst>
                                            <p:cond delay="691"/>
                                          </p:stCondLst>
                                        </p:cTn>
                                        <p:tgtEl>
                                          <p:spTgt spid="28"/>
                                        </p:tgtEl>
                                        <p:attrNameLst>
                                          <p:attrName>ppt_y</p:attrName>
                                        </p:attrNameLst>
                                      </p:cBhvr>
                                      <p:tavLst>
                                        <p:tav tm="0">
                                          <p:val>
                                            <p:strVal val="#ppt_y-(0.354*#ppt_w-0.172*#ppt_h)"/>
                                          </p:val>
                                        </p:tav>
                                        <p:tav tm="100000">
                                          <p:val>
                                            <p:strVal val="#ppt_y"/>
                                          </p:val>
                                        </p:tav>
                                      </p:tavLst>
                                    </p:anim>
                                  </p:childTnLst>
                                </p:cTn>
                              </p:par>
                              <p:par>
                                <p:cTn id="17" presetID="22" presetClass="entr" presetSubtype="4"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down)">
                                      <p:cBhvr>
                                        <p:cTn id="19" dur="500"/>
                                        <p:tgtEl>
                                          <p:spTgt spid="26"/>
                                        </p:tgtEl>
                                      </p:cBhvr>
                                    </p:animEffect>
                                  </p:childTnLst>
                                </p:cTn>
                              </p:par>
                            </p:childTnLst>
                          </p:cTn>
                        </p:par>
                        <p:par>
                          <p:cTn id="20" fill="hold">
                            <p:stCondLst>
                              <p:cond delay="800"/>
                            </p:stCondLst>
                            <p:childTnLst>
                              <p:par>
                                <p:cTn id="21" presetID="22" presetClass="entr" presetSubtype="8" fill="hold"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left)">
                                      <p:cBhvr>
                                        <p:cTn id="23" dur="500"/>
                                        <p:tgtEl>
                                          <p:spTgt spid="14"/>
                                        </p:tgtEl>
                                      </p:cBhvr>
                                    </p:animEffect>
                                  </p:childTnLst>
                                </p:cTn>
                              </p:par>
                            </p:childTnLst>
                          </p:cTn>
                        </p:par>
                        <p:par>
                          <p:cTn id="24" fill="hold">
                            <p:stCondLst>
                              <p:cond delay="1300"/>
                            </p:stCondLst>
                            <p:childTnLst>
                              <p:par>
                                <p:cTn id="25" presetID="2" presetClass="entr" presetSubtype="2" decel="100000" fill="hold" grpId="0" nodeType="afterEffect">
                                  <p:stCondLst>
                                    <p:cond delay="0"/>
                                  </p:stCondLst>
                                  <p:iterate type="lt">
                                    <p:tmPct val="10000"/>
                                  </p:iterate>
                                  <p:childTnLst>
                                    <p:set>
                                      <p:cBhvr>
                                        <p:cTn id="26" dur="1" fill="hold">
                                          <p:stCondLst>
                                            <p:cond delay="0"/>
                                          </p:stCondLst>
                                        </p:cTn>
                                        <p:tgtEl>
                                          <p:spTgt spid="21"/>
                                        </p:tgtEl>
                                        <p:attrNameLst>
                                          <p:attrName>style.visibility</p:attrName>
                                        </p:attrNameLst>
                                      </p:cBhvr>
                                      <p:to>
                                        <p:strVal val="visible"/>
                                      </p:to>
                                    </p:set>
                                    <p:anim calcmode="lin" valueType="num">
                                      <p:cBhvr additive="base">
                                        <p:cTn id="27" dur="500" fill="hold"/>
                                        <p:tgtEl>
                                          <p:spTgt spid="21"/>
                                        </p:tgtEl>
                                        <p:attrNameLst>
                                          <p:attrName>ppt_x</p:attrName>
                                        </p:attrNameLst>
                                      </p:cBhvr>
                                      <p:tavLst>
                                        <p:tav tm="0">
                                          <p:val>
                                            <p:strVal val="1+#ppt_w/2"/>
                                          </p:val>
                                        </p:tav>
                                        <p:tav tm="100000">
                                          <p:val>
                                            <p:strVal val="#ppt_x"/>
                                          </p:val>
                                        </p:tav>
                                      </p:tavLst>
                                    </p:anim>
                                    <p:anim calcmode="lin" valueType="num">
                                      <p:cBhvr additive="base">
                                        <p:cTn id="28" dur="500" fill="hold"/>
                                        <p:tgtEl>
                                          <p:spTgt spid="21"/>
                                        </p:tgtEl>
                                        <p:attrNameLst>
                                          <p:attrName>ppt_y</p:attrName>
                                        </p:attrNameLst>
                                      </p:cBhvr>
                                      <p:tavLst>
                                        <p:tav tm="0">
                                          <p:val>
                                            <p:strVal val="#ppt_y"/>
                                          </p:val>
                                        </p:tav>
                                        <p:tav tm="100000">
                                          <p:val>
                                            <p:strVal val="#ppt_y"/>
                                          </p:val>
                                        </p:tav>
                                      </p:tavLst>
                                    </p:anim>
                                  </p:childTnLst>
                                </p:cTn>
                              </p:par>
                            </p:childTnLst>
                          </p:cTn>
                        </p:par>
                        <p:par>
                          <p:cTn id="29" fill="hold">
                            <p:stCondLst>
                              <p:cond delay="2350"/>
                            </p:stCondLst>
                            <p:childTnLst>
                              <p:par>
                                <p:cTn id="30" presetID="50" presetClass="entr" presetSubtype="0" decel="100000" fill="hold" grpId="0" nodeType="afterEffect">
                                  <p:stCondLst>
                                    <p:cond delay="0"/>
                                  </p:stCondLst>
                                  <p:childTnLst>
                                    <p:set>
                                      <p:cBhvr>
                                        <p:cTn id="31" dur="1" fill="hold">
                                          <p:stCondLst>
                                            <p:cond delay="0"/>
                                          </p:stCondLst>
                                        </p:cTn>
                                        <p:tgtEl>
                                          <p:spTgt spid="29"/>
                                        </p:tgtEl>
                                        <p:attrNameLst>
                                          <p:attrName>style.visibility</p:attrName>
                                        </p:attrNameLst>
                                      </p:cBhvr>
                                      <p:to>
                                        <p:strVal val="visible"/>
                                      </p:to>
                                    </p:set>
                                    <p:anim calcmode="lin" valueType="num">
                                      <p:cBhvr>
                                        <p:cTn id="32" dur="1000" fill="hold"/>
                                        <p:tgtEl>
                                          <p:spTgt spid="29"/>
                                        </p:tgtEl>
                                        <p:attrNameLst>
                                          <p:attrName>ppt_w</p:attrName>
                                        </p:attrNameLst>
                                      </p:cBhvr>
                                      <p:tavLst>
                                        <p:tav tm="0">
                                          <p:val>
                                            <p:strVal val="#ppt_w+.3"/>
                                          </p:val>
                                        </p:tav>
                                        <p:tav tm="100000">
                                          <p:val>
                                            <p:strVal val="#ppt_w"/>
                                          </p:val>
                                        </p:tav>
                                      </p:tavLst>
                                    </p:anim>
                                    <p:anim calcmode="lin" valueType="num">
                                      <p:cBhvr>
                                        <p:cTn id="33" dur="1000" fill="hold"/>
                                        <p:tgtEl>
                                          <p:spTgt spid="29"/>
                                        </p:tgtEl>
                                        <p:attrNameLst>
                                          <p:attrName>ppt_h</p:attrName>
                                        </p:attrNameLst>
                                      </p:cBhvr>
                                      <p:tavLst>
                                        <p:tav tm="0">
                                          <p:val>
                                            <p:strVal val="#ppt_h"/>
                                          </p:val>
                                        </p:tav>
                                        <p:tav tm="100000">
                                          <p:val>
                                            <p:strVal val="#ppt_h"/>
                                          </p:val>
                                        </p:tav>
                                      </p:tavLst>
                                    </p:anim>
                                    <p:animEffect transition="in" filter="fade">
                                      <p:cBhvr>
                                        <p:cTn id="34" dur="1000"/>
                                        <p:tgtEl>
                                          <p:spTgt spid="29"/>
                                        </p:tgtEl>
                                      </p:cBhvr>
                                    </p:animEffect>
                                  </p:childTnLst>
                                </p:cTn>
                              </p:par>
                              <p:par>
                                <p:cTn id="35" presetID="50" presetClass="entr" presetSubtype="0" decel="100000" fill="hold" grpId="0" nodeType="withEffect">
                                  <p:stCondLst>
                                    <p:cond delay="450"/>
                                  </p:stCondLst>
                                  <p:childTnLst>
                                    <p:set>
                                      <p:cBhvr>
                                        <p:cTn id="36" dur="1" fill="hold">
                                          <p:stCondLst>
                                            <p:cond delay="0"/>
                                          </p:stCondLst>
                                        </p:cTn>
                                        <p:tgtEl>
                                          <p:spTgt spid="30"/>
                                        </p:tgtEl>
                                        <p:attrNameLst>
                                          <p:attrName>style.visibility</p:attrName>
                                        </p:attrNameLst>
                                      </p:cBhvr>
                                      <p:to>
                                        <p:strVal val="visible"/>
                                      </p:to>
                                    </p:set>
                                    <p:anim calcmode="lin" valueType="num">
                                      <p:cBhvr>
                                        <p:cTn id="37" dur="1000" fill="hold"/>
                                        <p:tgtEl>
                                          <p:spTgt spid="30"/>
                                        </p:tgtEl>
                                        <p:attrNameLst>
                                          <p:attrName>ppt_w</p:attrName>
                                        </p:attrNameLst>
                                      </p:cBhvr>
                                      <p:tavLst>
                                        <p:tav tm="0">
                                          <p:val>
                                            <p:strVal val="#ppt_w+.3"/>
                                          </p:val>
                                        </p:tav>
                                        <p:tav tm="100000">
                                          <p:val>
                                            <p:strVal val="#ppt_w"/>
                                          </p:val>
                                        </p:tav>
                                      </p:tavLst>
                                    </p:anim>
                                    <p:anim calcmode="lin" valueType="num">
                                      <p:cBhvr>
                                        <p:cTn id="38" dur="1000" fill="hold"/>
                                        <p:tgtEl>
                                          <p:spTgt spid="30"/>
                                        </p:tgtEl>
                                        <p:attrNameLst>
                                          <p:attrName>ppt_h</p:attrName>
                                        </p:attrNameLst>
                                      </p:cBhvr>
                                      <p:tavLst>
                                        <p:tav tm="0">
                                          <p:val>
                                            <p:strVal val="#ppt_h"/>
                                          </p:val>
                                        </p:tav>
                                        <p:tav tm="100000">
                                          <p:val>
                                            <p:strVal val="#ppt_h"/>
                                          </p:val>
                                        </p:tav>
                                      </p:tavLst>
                                    </p:anim>
                                    <p:animEffect transition="in" filter="fade">
                                      <p:cBhvr>
                                        <p:cTn id="39" dur="1000"/>
                                        <p:tgtEl>
                                          <p:spTgt spid="30"/>
                                        </p:tgtEl>
                                      </p:cBhvr>
                                    </p:animEffect>
                                  </p:childTnLst>
                                </p:cTn>
                              </p:par>
                              <p:par>
                                <p:cTn id="40" presetID="50" presetClass="entr" presetSubtype="0" decel="100000" fill="hold" grpId="0" nodeType="withEffect">
                                  <p:stCondLst>
                                    <p:cond delay="850"/>
                                  </p:stCondLst>
                                  <p:childTnLst>
                                    <p:set>
                                      <p:cBhvr>
                                        <p:cTn id="41" dur="1" fill="hold">
                                          <p:stCondLst>
                                            <p:cond delay="0"/>
                                          </p:stCondLst>
                                        </p:cTn>
                                        <p:tgtEl>
                                          <p:spTgt spid="31"/>
                                        </p:tgtEl>
                                        <p:attrNameLst>
                                          <p:attrName>style.visibility</p:attrName>
                                        </p:attrNameLst>
                                      </p:cBhvr>
                                      <p:to>
                                        <p:strVal val="visible"/>
                                      </p:to>
                                    </p:set>
                                    <p:anim calcmode="lin" valueType="num">
                                      <p:cBhvr>
                                        <p:cTn id="42" dur="1000" fill="hold"/>
                                        <p:tgtEl>
                                          <p:spTgt spid="31"/>
                                        </p:tgtEl>
                                        <p:attrNameLst>
                                          <p:attrName>ppt_w</p:attrName>
                                        </p:attrNameLst>
                                      </p:cBhvr>
                                      <p:tavLst>
                                        <p:tav tm="0">
                                          <p:val>
                                            <p:strVal val="#ppt_w+.3"/>
                                          </p:val>
                                        </p:tav>
                                        <p:tav tm="100000">
                                          <p:val>
                                            <p:strVal val="#ppt_w"/>
                                          </p:val>
                                        </p:tav>
                                      </p:tavLst>
                                    </p:anim>
                                    <p:anim calcmode="lin" valueType="num">
                                      <p:cBhvr>
                                        <p:cTn id="43" dur="1000" fill="hold"/>
                                        <p:tgtEl>
                                          <p:spTgt spid="31"/>
                                        </p:tgtEl>
                                        <p:attrNameLst>
                                          <p:attrName>ppt_h</p:attrName>
                                        </p:attrNameLst>
                                      </p:cBhvr>
                                      <p:tavLst>
                                        <p:tav tm="0">
                                          <p:val>
                                            <p:strVal val="#ppt_h"/>
                                          </p:val>
                                        </p:tav>
                                        <p:tav tm="100000">
                                          <p:val>
                                            <p:strVal val="#ppt_h"/>
                                          </p:val>
                                        </p:tav>
                                      </p:tavLst>
                                    </p:anim>
                                    <p:animEffect transition="in" filter="fade">
                                      <p:cBhvr>
                                        <p:cTn id="44"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8" grpId="0"/>
      <p:bldP spid="29" grpId="0"/>
      <p:bldP spid="30" grpId="0"/>
      <p:bldP spid="3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BB404253-4035-4B43-8016-399E95532868}"/>
              </a:ext>
            </a:extLst>
          </p:cNvPr>
          <p:cNvSpPr txBox="1">
            <a:spLocks/>
          </p:cNvSpPr>
          <p:nvPr/>
        </p:nvSpPr>
        <p:spPr>
          <a:xfrm>
            <a:off x="179512" y="721368"/>
            <a:ext cx="8643668" cy="4195357"/>
          </a:xfrm>
          <a:prstGeom prst="rect">
            <a:avLst/>
          </a:prstGeom>
        </p:spPr>
        <p:txBody>
          <a:bodyPr/>
          <a:lstStyle>
            <a:lvl1pPr marL="257175" indent="-257175"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1pPr>
            <a:lvl2pPr marL="557213" indent="-214313" algn="l" rtl="0" eaLnBrk="0" fontAlgn="base" hangingPunct="0">
              <a:spcBef>
                <a:spcPct val="20000"/>
              </a:spcBef>
              <a:spcAft>
                <a:spcPct val="0"/>
              </a:spcAft>
              <a:buFont typeface="Arial" charset="0"/>
              <a:buChar char="–"/>
              <a:defRPr sz="2100" kern="1200">
                <a:solidFill>
                  <a:schemeClr val="tx1"/>
                </a:solidFill>
                <a:latin typeface="Arial" charset="0"/>
                <a:ea typeface="+mn-ea"/>
                <a:cs typeface="+mn-cs"/>
              </a:defRPr>
            </a:lvl2pPr>
            <a:lvl3pPr marL="857250" indent="-171450" algn="l" rtl="0" eaLnBrk="0" fontAlgn="base" hangingPunct="0">
              <a:spcBef>
                <a:spcPct val="20000"/>
              </a:spcBef>
              <a:spcAft>
                <a:spcPct val="0"/>
              </a:spcAft>
              <a:buFont typeface="Arial" charset="0"/>
              <a:buChar char="•"/>
              <a:defRPr sz="1800" kern="1200">
                <a:solidFill>
                  <a:schemeClr val="tx1"/>
                </a:solidFill>
                <a:latin typeface="Arial" charset="0"/>
                <a:ea typeface="+mn-ea"/>
                <a:cs typeface="+mn-cs"/>
              </a:defRPr>
            </a:lvl3pPr>
            <a:lvl4pPr marL="12001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4pPr>
            <a:lvl5pPr marL="15430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gn="just"/>
            <a:r>
              <a:rPr lang="en-US" altLang="zh-CN" dirty="0">
                <a:uFill>
                  <a:solidFill>
                    <a:srgbClr val="FF0000"/>
                  </a:solidFill>
                </a:uFill>
              </a:rPr>
              <a:t>Direct measurement</a:t>
            </a:r>
            <a:r>
              <a:rPr lang="zh-CN" altLang="en-US" dirty="0">
                <a:uFill>
                  <a:solidFill>
                    <a:srgbClr val="FF0000"/>
                  </a:solidFill>
                </a:uFill>
              </a:rPr>
              <a:t>（直接测量）</a:t>
            </a:r>
            <a:r>
              <a:rPr lang="en-US" altLang="zh-CN" dirty="0"/>
              <a:t>:</a:t>
            </a:r>
            <a:endParaRPr lang="zh-CN" altLang="en-US" dirty="0"/>
          </a:p>
          <a:p>
            <a:pPr lvl="1" algn="just"/>
            <a:r>
              <a:rPr lang="en-US" altLang="zh-CN" dirty="0"/>
              <a:t>The value of the physical quantity is directly obtained using a proper instrument.</a:t>
            </a:r>
          </a:p>
          <a:p>
            <a:pPr lvl="1" algn="just"/>
            <a:endParaRPr lang="en-US" altLang="zh-CN" dirty="0"/>
          </a:p>
          <a:p>
            <a:pPr marL="342900" lvl="1" indent="0" algn="just">
              <a:buNone/>
            </a:pPr>
            <a:endParaRPr lang="zh-CN" altLang="en-US" dirty="0"/>
          </a:p>
          <a:p>
            <a:pPr algn="just"/>
            <a:r>
              <a:rPr lang="en-US" altLang="zh-CN" dirty="0">
                <a:uFill>
                  <a:solidFill>
                    <a:srgbClr val="FF0000"/>
                  </a:solidFill>
                </a:uFill>
              </a:rPr>
              <a:t>Indirect measurement</a:t>
            </a:r>
            <a:r>
              <a:rPr lang="zh-CN" altLang="en-US" dirty="0">
                <a:uFill>
                  <a:solidFill>
                    <a:srgbClr val="FF0000"/>
                  </a:solidFill>
                </a:uFill>
              </a:rPr>
              <a:t>（间接测量）</a:t>
            </a:r>
            <a:r>
              <a:rPr lang="en-US" altLang="zh-CN" dirty="0"/>
              <a:t>:</a:t>
            </a:r>
            <a:endParaRPr lang="zh-CN" altLang="en-US" dirty="0"/>
          </a:p>
          <a:p>
            <a:pPr lvl="1" algn="just"/>
            <a:r>
              <a:rPr lang="en-US" altLang="zh-CN" dirty="0"/>
              <a:t>The value of the physical quantity is obtained using the function that gives the relation between the direct measurement quantities and the desired quantity</a:t>
            </a:r>
            <a:endParaRPr lang="zh-CN" altLang="en-US" dirty="0"/>
          </a:p>
        </p:txBody>
      </p:sp>
      <p:grpSp>
        <p:nvGrpSpPr>
          <p:cNvPr id="3" name="组合 2">
            <a:extLst>
              <a:ext uri="{FF2B5EF4-FFF2-40B4-BE49-F238E27FC236}">
                <a16:creationId xmlns:a16="http://schemas.microsoft.com/office/drawing/2014/main" id="{7620EC53-C317-4D70-B806-A5911916FAC3}"/>
              </a:ext>
            </a:extLst>
          </p:cNvPr>
          <p:cNvGrpSpPr/>
          <p:nvPr/>
        </p:nvGrpSpPr>
        <p:grpSpPr>
          <a:xfrm>
            <a:off x="3709929" y="1653926"/>
            <a:ext cx="4424782" cy="840156"/>
            <a:chOff x="3714744" y="4572008"/>
            <a:chExt cx="5184000" cy="1500198"/>
          </a:xfrm>
        </p:grpSpPr>
        <p:pic>
          <p:nvPicPr>
            <p:cNvPr id="4" name="Picture 2" descr="C:\Documents and Settings\WGXie\桌面\centimeter-millimeter-ruler.jpg">
              <a:extLst>
                <a:ext uri="{FF2B5EF4-FFF2-40B4-BE49-F238E27FC236}">
                  <a16:creationId xmlns:a16="http://schemas.microsoft.com/office/drawing/2014/main" id="{3A45917E-08CA-4EA6-9BAA-58ACCDD049B4}"/>
                </a:ext>
              </a:extLst>
            </p:cNvPr>
            <p:cNvPicPr>
              <a:picLocks noChangeAspect="1" noChangeArrowheads="1"/>
            </p:cNvPicPr>
            <p:nvPr/>
          </p:nvPicPr>
          <p:blipFill>
            <a:blip r:embed="rId2"/>
            <a:srcRect l="2082" t="2392" r="78751" b="92139"/>
            <a:stretch>
              <a:fillRect/>
            </a:stretch>
          </p:blipFill>
          <p:spPr bwMode="auto">
            <a:xfrm>
              <a:off x="3714744" y="4929198"/>
              <a:ext cx="5184000" cy="1143008"/>
            </a:xfrm>
            <a:prstGeom prst="rect">
              <a:avLst/>
            </a:prstGeom>
            <a:noFill/>
          </p:spPr>
        </p:pic>
        <p:sp>
          <p:nvSpPr>
            <p:cNvPr id="5" name="矩形 4">
              <a:extLst>
                <a:ext uri="{FF2B5EF4-FFF2-40B4-BE49-F238E27FC236}">
                  <a16:creationId xmlns:a16="http://schemas.microsoft.com/office/drawing/2014/main" id="{52E45C40-731C-40C7-8A17-D6445A73A777}"/>
                </a:ext>
              </a:extLst>
            </p:cNvPr>
            <p:cNvSpPr/>
            <p:nvPr/>
          </p:nvSpPr>
          <p:spPr>
            <a:xfrm>
              <a:off x="4400148" y="4572008"/>
              <a:ext cx="2952001" cy="4286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6" name="图片 5">
            <a:extLst>
              <a:ext uri="{FF2B5EF4-FFF2-40B4-BE49-F238E27FC236}">
                <a16:creationId xmlns:a16="http://schemas.microsoft.com/office/drawing/2014/main" id="{57367B3F-CBA3-4BC2-B1BC-6AEDB4F555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5737" y="3859298"/>
            <a:ext cx="2091158" cy="1189671"/>
          </a:xfrm>
          <a:prstGeom prst="rect">
            <a:avLst/>
          </a:prstGeom>
        </p:spPr>
      </p:pic>
      <p:sp>
        <p:nvSpPr>
          <p:cNvPr id="7" name="文本框 6">
            <a:extLst>
              <a:ext uri="{FF2B5EF4-FFF2-40B4-BE49-F238E27FC236}">
                <a16:creationId xmlns:a16="http://schemas.microsoft.com/office/drawing/2014/main" id="{A1132F66-B771-4EBC-8DC1-9140E8763688}"/>
              </a:ext>
            </a:extLst>
          </p:cNvPr>
          <p:cNvSpPr txBox="1"/>
          <p:nvPr/>
        </p:nvSpPr>
        <p:spPr>
          <a:xfrm>
            <a:off x="753403" y="4266796"/>
            <a:ext cx="3818597" cy="461665"/>
          </a:xfrm>
          <a:prstGeom prst="rect">
            <a:avLst/>
          </a:prstGeom>
          <a:noFill/>
        </p:spPr>
        <p:txBody>
          <a:bodyPr wrap="square" rtlCol="0">
            <a:spAutoFit/>
          </a:bodyPr>
          <a:lstStyle/>
          <a:p>
            <a:r>
              <a:rPr lang="en-US" altLang="zh-CN" sz="2400" dirty="0"/>
              <a:t>Velocity=Distance/Time</a:t>
            </a:r>
            <a:endParaRPr lang="zh-CN" altLang="en-US" sz="2400" dirty="0"/>
          </a:p>
        </p:txBody>
      </p:sp>
      <p:sp>
        <p:nvSpPr>
          <p:cNvPr id="8" name="圆角矩形 2">
            <a:extLst>
              <a:ext uri="{FF2B5EF4-FFF2-40B4-BE49-F238E27FC236}">
                <a16:creationId xmlns:a16="http://schemas.microsoft.com/office/drawing/2014/main" id="{F1BDB452-2FA2-48FF-A8F9-C71A299F94D6}"/>
              </a:ext>
            </a:extLst>
          </p:cNvPr>
          <p:cNvSpPr/>
          <p:nvPr/>
        </p:nvSpPr>
        <p:spPr>
          <a:xfrm>
            <a:off x="742944" y="130845"/>
            <a:ext cx="3401893"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9" name="矩形 8">
            <a:extLst>
              <a:ext uri="{FF2B5EF4-FFF2-40B4-BE49-F238E27FC236}">
                <a16:creationId xmlns:a16="http://schemas.microsoft.com/office/drawing/2014/main" id="{443519B7-5A4C-42CD-A2F9-D6B6C8848598}"/>
              </a:ext>
            </a:extLst>
          </p:cNvPr>
          <p:cNvSpPr/>
          <p:nvPr/>
        </p:nvSpPr>
        <p:spPr>
          <a:xfrm>
            <a:off x="881687" y="149886"/>
            <a:ext cx="3401893" cy="461665"/>
          </a:xfrm>
          <a:prstGeom prst="rect">
            <a:avLst/>
          </a:prstGeom>
        </p:spPr>
        <p:txBody>
          <a:bodyPr wrap="none">
            <a:spAutoFit/>
          </a:bodyPr>
          <a:lstStyle/>
          <a:p>
            <a:pPr defTabSz="913924"/>
            <a:r>
              <a:rPr lang="en-US" altLang="zh-CN" sz="2400" b="1" kern="0" dirty="0">
                <a:solidFill>
                  <a:srgbClr val="005A9E"/>
                </a:solidFill>
                <a:cs typeface="+mn-ea"/>
                <a:sym typeface="+mn-lt"/>
              </a:rPr>
              <a:t>Measurement</a:t>
            </a:r>
            <a:r>
              <a:rPr lang="zh-CN" altLang="en-US" sz="2400" b="1" kern="0" dirty="0">
                <a:solidFill>
                  <a:srgbClr val="005A9E"/>
                </a:solidFill>
                <a:cs typeface="+mn-ea"/>
                <a:sym typeface="+mn-lt"/>
              </a:rPr>
              <a:t>（测量）</a:t>
            </a:r>
          </a:p>
        </p:txBody>
      </p:sp>
      <p:grpSp>
        <p:nvGrpSpPr>
          <p:cNvPr id="10" name="Group 17">
            <a:extLst>
              <a:ext uri="{FF2B5EF4-FFF2-40B4-BE49-F238E27FC236}">
                <a16:creationId xmlns:a16="http://schemas.microsoft.com/office/drawing/2014/main" id="{960008DD-3389-4455-ADD7-40A1BC889596}"/>
              </a:ext>
            </a:extLst>
          </p:cNvPr>
          <p:cNvGrpSpPr>
            <a:grpSpLocks noChangeAspect="1"/>
          </p:cNvGrpSpPr>
          <p:nvPr/>
        </p:nvGrpSpPr>
        <p:grpSpPr bwMode="auto">
          <a:xfrm>
            <a:off x="179512" y="151767"/>
            <a:ext cx="457188" cy="490764"/>
            <a:chOff x="231" y="1205"/>
            <a:chExt cx="640" cy="687"/>
          </a:xfrm>
          <a:solidFill>
            <a:srgbClr val="005A9E"/>
          </a:solidFill>
          <a:effectLst/>
        </p:grpSpPr>
        <p:sp>
          <p:nvSpPr>
            <p:cNvPr id="11" name="Freeform 18">
              <a:extLst>
                <a:ext uri="{FF2B5EF4-FFF2-40B4-BE49-F238E27FC236}">
                  <a16:creationId xmlns:a16="http://schemas.microsoft.com/office/drawing/2014/main" id="{56AFB2A4-D2EC-48C6-8073-6FC8F1882AEE}"/>
                </a:ext>
              </a:extLst>
            </p:cNvPr>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12" name="Freeform 19">
              <a:extLst>
                <a:ext uri="{FF2B5EF4-FFF2-40B4-BE49-F238E27FC236}">
                  <a16:creationId xmlns:a16="http://schemas.microsoft.com/office/drawing/2014/main" id="{9A5ABF9A-D621-40AA-B9CE-5AA32ABBCBF5}"/>
                </a:ext>
              </a:extLst>
            </p:cNvPr>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spTree>
    <p:extLst>
      <p:ext uri="{BB962C8B-B14F-4D97-AF65-F5344CB8AC3E}">
        <p14:creationId xmlns:p14="http://schemas.microsoft.com/office/powerpoint/2010/main" val="2296316221"/>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flipH="1">
            <a:off x="2918943" y="457535"/>
            <a:ext cx="6225059"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 name="圆角矩形 2"/>
          <p:cNvSpPr/>
          <p:nvPr/>
        </p:nvSpPr>
        <p:spPr>
          <a:xfrm>
            <a:off x="742945" y="191230"/>
            <a:ext cx="6085320"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4" name="矩形 3"/>
          <p:cNvSpPr/>
          <p:nvPr/>
        </p:nvSpPr>
        <p:spPr>
          <a:xfrm>
            <a:off x="871926" y="226702"/>
            <a:ext cx="6085320" cy="461665"/>
          </a:xfrm>
          <a:prstGeom prst="rect">
            <a:avLst/>
          </a:prstGeom>
        </p:spPr>
        <p:txBody>
          <a:bodyPr wrap="none">
            <a:spAutoFit/>
          </a:bodyPr>
          <a:lstStyle/>
          <a:p>
            <a:pPr defTabSz="913924"/>
            <a:r>
              <a:rPr lang="en-US" altLang="zh-CN" sz="2400" b="1" kern="0" dirty="0">
                <a:solidFill>
                  <a:srgbClr val="005A9E"/>
                </a:solidFill>
                <a:cs typeface="+mn-ea"/>
                <a:sym typeface="+mn-lt"/>
              </a:rPr>
              <a:t>Uncertainty and error</a:t>
            </a:r>
            <a:r>
              <a:rPr lang="zh-CN" altLang="en-US" sz="2400" b="1" kern="0" dirty="0">
                <a:solidFill>
                  <a:srgbClr val="005A9E"/>
                </a:solidFill>
                <a:cs typeface="+mn-ea"/>
                <a:sym typeface="+mn-lt"/>
              </a:rPr>
              <a:t>（不确定度和误差）</a:t>
            </a:r>
          </a:p>
        </p:txBody>
      </p:sp>
      <p:grpSp>
        <p:nvGrpSpPr>
          <p:cNvPr id="5" name="Group 17"/>
          <p:cNvGrpSpPr>
            <a:grpSpLocks noChangeAspect="1"/>
          </p:cNvGrpSpPr>
          <p:nvPr/>
        </p:nvGrpSpPr>
        <p:grpSpPr bwMode="auto">
          <a:xfrm>
            <a:off x="179512" y="212152"/>
            <a:ext cx="457188" cy="490764"/>
            <a:chOff x="231" y="1205"/>
            <a:chExt cx="640" cy="687"/>
          </a:xfrm>
          <a:solidFill>
            <a:srgbClr val="005A9E"/>
          </a:solidFill>
          <a:effectLst/>
        </p:grpSpPr>
        <p:sp>
          <p:nvSpPr>
            <p:cNvPr id="6" name="Freeform 18"/>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7"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sp>
        <p:nvSpPr>
          <p:cNvPr id="12" name="内容占位符 2">
            <a:extLst>
              <a:ext uri="{FF2B5EF4-FFF2-40B4-BE49-F238E27FC236}">
                <a16:creationId xmlns:a16="http://schemas.microsoft.com/office/drawing/2014/main" id="{A4076346-39F4-43AB-94CA-F392FE123A46}"/>
              </a:ext>
            </a:extLst>
          </p:cNvPr>
          <p:cNvSpPr txBox="1">
            <a:spLocks/>
          </p:cNvSpPr>
          <p:nvPr/>
        </p:nvSpPr>
        <p:spPr>
          <a:xfrm>
            <a:off x="481327" y="954673"/>
            <a:ext cx="8513133" cy="3976676"/>
          </a:xfrm>
          <a:prstGeom prst="rect">
            <a:avLst/>
          </a:prstGeom>
        </p:spPr>
        <p:txBody>
          <a:bodyPr/>
          <a:lstStyle>
            <a:lvl1pPr marL="257175" indent="-257175"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1pPr>
            <a:lvl2pPr marL="557213" indent="-214313" algn="l" rtl="0" eaLnBrk="0" fontAlgn="base" hangingPunct="0">
              <a:spcBef>
                <a:spcPct val="20000"/>
              </a:spcBef>
              <a:spcAft>
                <a:spcPct val="0"/>
              </a:spcAft>
              <a:buFont typeface="Arial" charset="0"/>
              <a:buChar char="–"/>
              <a:defRPr sz="2100" kern="1200">
                <a:solidFill>
                  <a:schemeClr val="tx1"/>
                </a:solidFill>
                <a:latin typeface="Arial" charset="0"/>
                <a:ea typeface="+mn-ea"/>
                <a:cs typeface="+mn-cs"/>
              </a:defRPr>
            </a:lvl2pPr>
            <a:lvl3pPr marL="857250" indent="-171450" algn="l" rtl="0" eaLnBrk="0" fontAlgn="base" hangingPunct="0">
              <a:spcBef>
                <a:spcPct val="20000"/>
              </a:spcBef>
              <a:spcAft>
                <a:spcPct val="0"/>
              </a:spcAft>
              <a:buFont typeface="Arial" charset="0"/>
              <a:buChar char="•"/>
              <a:defRPr sz="1800" kern="1200">
                <a:solidFill>
                  <a:schemeClr val="tx1"/>
                </a:solidFill>
                <a:latin typeface="Arial" charset="0"/>
                <a:ea typeface="+mn-ea"/>
                <a:cs typeface="+mn-cs"/>
              </a:defRPr>
            </a:lvl3pPr>
            <a:lvl4pPr marL="12001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4pPr>
            <a:lvl5pPr marL="15430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altLang="zh-CN" sz="1800" b="1" dirty="0"/>
              <a:t>No measurement is absolutely accurate or exact.</a:t>
            </a:r>
          </a:p>
          <a:p>
            <a:pPr marL="0" indent="0">
              <a:buNone/>
            </a:pPr>
            <a:r>
              <a:rPr lang="zh-CN" altLang="en-US" sz="1800" b="1" dirty="0"/>
              <a:t>（没有任何测量能够做到绝对准确）</a:t>
            </a:r>
            <a:endParaRPr lang="en-US" altLang="zh-CN" sz="1800" b="1" dirty="0"/>
          </a:p>
          <a:p>
            <a:endParaRPr lang="en-US" altLang="zh-CN" sz="1800" b="1" dirty="0"/>
          </a:p>
          <a:p>
            <a:endParaRPr lang="en-US" altLang="zh-CN" sz="1800" b="1" dirty="0"/>
          </a:p>
          <a:p>
            <a:endParaRPr lang="en-US" altLang="zh-CN" sz="1800" b="1" dirty="0"/>
          </a:p>
          <a:p>
            <a:endParaRPr lang="en-US" altLang="zh-CN" sz="1800" b="1" dirty="0"/>
          </a:p>
          <a:p>
            <a:endParaRPr lang="en-US" altLang="zh-CN" sz="1800" b="1" dirty="0"/>
          </a:p>
          <a:p>
            <a:r>
              <a:rPr lang="en-US" altLang="zh-CN" sz="1800" b="1" dirty="0"/>
              <a:t>The deviation of the value of a particular measurement from its “</a:t>
            </a:r>
            <a:r>
              <a:rPr lang="en-US" altLang="zh-CN" sz="1800" b="1" dirty="0">
                <a:solidFill>
                  <a:srgbClr val="FF0000"/>
                </a:solidFill>
              </a:rPr>
              <a:t>true</a:t>
            </a:r>
            <a:r>
              <a:rPr lang="en-US" altLang="zh-CN" sz="1800" b="1" dirty="0"/>
              <a:t>” value is called the </a:t>
            </a:r>
            <a:r>
              <a:rPr lang="en-US" altLang="zh-CN" sz="1800" b="1" dirty="0">
                <a:solidFill>
                  <a:srgbClr val="FF0000"/>
                </a:solidFill>
              </a:rPr>
              <a:t>uncertainty (error) </a:t>
            </a:r>
            <a:r>
              <a:rPr lang="en-US" altLang="zh-CN" sz="1800" b="1" dirty="0"/>
              <a:t>in that measurement.</a:t>
            </a:r>
            <a:r>
              <a:rPr lang="zh-CN" altLang="en-US" sz="1800" b="1" dirty="0"/>
              <a:t>（实验上对</a:t>
            </a:r>
            <a:r>
              <a:rPr lang="zh-CN" altLang="en-US" sz="1800" b="1" dirty="0">
                <a:solidFill>
                  <a:srgbClr val="FF0000"/>
                </a:solidFill>
              </a:rPr>
              <a:t>真值</a:t>
            </a:r>
            <a:r>
              <a:rPr lang="zh-CN" altLang="en-US" sz="1800" b="1" dirty="0"/>
              <a:t>的偏离就称为</a:t>
            </a:r>
            <a:r>
              <a:rPr lang="zh-CN" altLang="en-US" sz="1800" b="1" dirty="0">
                <a:solidFill>
                  <a:srgbClr val="FF0000"/>
                </a:solidFill>
              </a:rPr>
              <a:t>不确定度</a:t>
            </a:r>
            <a:r>
              <a:rPr lang="en-US" altLang="zh-CN" sz="1800" b="1" dirty="0">
                <a:solidFill>
                  <a:srgbClr val="FF0000"/>
                </a:solidFill>
              </a:rPr>
              <a:t>/</a:t>
            </a:r>
            <a:r>
              <a:rPr lang="zh-CN" altLang="en-US" sz="1800" b="1" dirty="0">
                <a:solidFill>
                  <a:srgbClr val="FF0000"/>
                </a:solidFill>
              </a:rPr>
              <a:t>误差</a:t>
            </a:r>
            <a:r>
              <a:rPr lang="zh-CN" altLang="en-US" sz="1800" b="1" dirty="0"/>
              <a:t>）</a:t>
            </a:r>
            <a:endParaRPr lang="zh-CN" altLang="en-US" sz="1800" dirty="0"/>
          </a:p>
        </p:txBody>
      </p:sp>
      <p:grpSp>
        <p:nvGrpSpPr>
          <p:cNvPr id="13" name="组合 12">
            <a:extLst>
              <a:ext uri="{FF2B5EF4-FFF2-40B4-BE49-F238E27FC236}">
                <a16:creationId xmlns:a16="http://schemas.microsoft.com/office/drawing/2014/main" id="{83AFF963-E3BD-4E92-9A5F-DC288D16616C}"/>
              </a:ext>
            </a:extLst>
          </p:cNvPr>
          <p:cNvGrpSpPr/>
          <p:nvPr/>
        </p:nvGrpSpPr>
        <p:grpSpPr>
          <a:xfrm>
            <a:off x="1381917" y="1856023"/>
            <a:ext cx="4649555" cy="1249141"/>
            <a:chOff x="3714744" y="4572008"/>
            <a:chExt cx="5184000" cy="1500198"/>
          </a:xfrm>
        </p:grpSpPr>
        <p:pic>
          <p:nvPicPr>
            <p:cNvPr id="14" name="Picture 2" descr="C:\Documents and Settings\WGXie\桌面\centimeter-millimeter-ruler.jpg">
              <a:extLst>
                <a:ext uri="{FF2B5EF4-FFF2-40B4-BE49-F238E27FC236}">
                  <a16:creationId xmlns:a16="http://schemas.microsoft.com/office/drawing/2014/main" id="{D23E53D8-49FC-4C55-B02A-467AA683C4FA}"/>
                </a:ext>
              </a:extLst>
            </p:cNvPr>
            <p:cNvPicPr>
              <a:picLocks noChangeAspect="1" noChangeArrowheads="1"/>
            </p:cNvPicPr>
            <p:nvPr/>
          </p:nvPicPr>
          <p:blipFill>
            <a:blip r:embed="rId2"/>
            <a:srcRect l="2082" t="2392" r="78751" b="92139"/>
            <a:stretch>
              <a:fillRect/>
            </a:stretch>
          </p:blipFill>
          <p:spPr bwMode="auto">
            <a:xfrm>
              <a:off x="3714744" y="4929198"/>
              <a:ext cx="5184000" cy="1143008"/>
            </a:xfrm>
            <a:prstGeom prst="rect">
              <a:avLst/>
            </a:prstGeom>
            <a:noFill/>
          </p:spPr>
        </p:pic>
        <p:sp>
          <p:nvSpPr>
            <p:cNvPr id="15" name="矩形 14">
              <a:extLst>
                <a:ext uri="{FF2B5EF4-FFF2-40B4-BE49-F238E27FC236}">
                  <a16:creationId xmlns:a16="http://schemas.microsoft.com/office/drawing/2014/main" id="{2DC0A5FC-7BF4-4DC8-8998-54153DE5EFB0}"/>
                </a:ext>
              </a:extLst>
            </p:cNvPr>
            <p:cNvSpPr/>
            <p:nvPr/>
          </p:nvSpPr>
          <p:spPr>
            <a:xfrm>
              <a:off x="4397373" y="4572008"/>
              <a:ext cx="2931484" cy="428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TextBox 10">
            <a:extLst>
              <a:ext uri="{FF2B5EF4-FFF2-40B4-BE49-F238E27FC236}">
                <a16:creationId xmlns:a16="http://schemas.microsoft.com/office/drawing/2014/main" id="{BD128D0A-58AE-40BC-9969-8715CBCA8683}"/>
              </a:ext>
            </a:extLst>
          </p:cNvPr>
          <p:cNvSpPr txBox="1"/>
          <p:nvPr/>
        </p:nvSpPr>
        <p:spPr>
          <a:xfrm>
            <a:off x="6235924" y="2153438"/>
            <a:ext cx="1864613" cy="707886"/>
          </a:xfrm>
          <a:prstGeom prst="rect">
            <a:avLst/>
          </a:prstGeom>
          <a:noFill/>
        </p:spPr>
        <p:txBody>
          <a:bodyPr wrap="none" rtlCol="0">
            <a:spAutoFit/>
          </a:bodyPr>
          <a:lstStyle/>
          <a:p>
            <a:r>
              <a:rPr lang="en-US" altLang="zh-CN" sz="2000" b="1" dirty="0"/>
              <a:t>3.0</a:t>
            </a:r>
            <a:r>
              <a:rPr lang="en-US" altLang="zh-CN" sz="2000" b="1" dirty="0">
                <a:solidFill>
                  <a:srgbClr val="FF0000"/>
                </a:solidFill>
              </a:rPr>
              <a:t>5</a:t>
            </a:r>
            <a:r>
              <a:rPr lang="en-US" altLang="zh-CN" sz="2000" b="1" dirty="0"/>
              <a:t>cm?</a:t>
            </a:r>
          </a:p>
          <a:p>
            <a:r>
              <a:rPr lang="en-US" altLang="zh-CN" sz="2000" b="1" dirty="0"/>
              <a:t>3.0</a:t>
            </a:r>
            <a:r>
              <a:rPr lang="en-US" altLang="zh-CN" sz="2000" b="1" dirty="0">
                <a:solidFill>
                  <a:srgbClr val="FF0000"/>
                </a:solidFill>
              </a:rPr>
              <a:t>6</a:t>
            </a:r>
            <a:r>
              <a:rPr lang="en-US" altLang="zh-CN" sz="2000" b="1" dirty="0"/>
              <a:t>cm? or …</a:t>
            </a:r>
            <a:endParaRPr lang="zh-CN" altLang="en-US" sz="2000" b="1" dirty="0"/>
          </a:p>
        </p:txBody>
      </p:sp>
    </p:spTree>
    <p:extLst>
      <p:ext uri="{BB962C8B-B14F-4D97-AF65-F5344CB8AC3E}">
        <p14:creationId xmlns:p14="http://schemas.microsoft.com/office/powerpoint/2010/main" val="2606764736"/>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flipH="1">
            <a:off x="2918943" y="457535"/>
            <a:ext cx="6225059"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 name="圆角矩形 2"/>
          <p:cNvSpPr/>
          <p:nvPr/>
        </p:nvSpPr>
        <p:spPr>
          <a:xfrm>
            <a:off x="742944" y="191230"/>
            <a:ext cx="4545559"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4" name="矩形 3"/>
          <p:cNvSpPr/>
          <p:nvPr/>
        </p:nvSpPr>
        <p:spPr>
          <a:xfrm>
            <a:off x="792738" y="226702"/>
            <a:ext cx="4626588" cy="461665"/>
          </a:xfrm>
          <a:prstGeom prst="rect">
            <a:avLst/>
          </a:prstGeom>
        </p:spPr>
        <p:txBody>
          <a:bodyPr wrap="none">
            <a:spAutoFit/>
          </a:bodyPr>
          <a:lstStyle/>
          <a:p>
            <a:pPr defTabSz="913924"/>
            <a:r>
              <a:rPr lang="en-US" altLang="zh-CN" sz="2400" b="1" kern="0" dirty="0">
                <a:solidFill>
                  <a:srgbClr val="005A9E"/>
                </a:solidFill>
                <a:cs typeface="+mn-ea"/>
                <a:sym typeface="+mn-lt"/>
              </a:rPr>
              <a:t>Significant Figure</a:t>
            </a:r>
            <a:r>
              <a:rPr lang="zh-CN" altLang="en-US" sz="2400" b="1" kern="0" dirty="0">
                <a:solidFill>
                  <a:srgbClr val="005A9E"/>
                </a:solidFill>
                <a:cs typeface="+mn-ea"/>
                <a:sym typeface="+mn-lt"/>
              </a:rPr>
              <a:t>（有效数字）</a:t>
            </a:r>
          </a:p>
        </p:txBody>
      </p:sp>
      <p:grpSp>
        <p:nvGrpSpPr>
          <p:cNvPr id="5" name="Group 17"/>
          <p:cNvGrpSpPr>
            <a:grpSpLocks noChangeAspect="1"/>
          </p:cNvGrpSpPr>
          <p:nvPr/>
        </p:nvGrpSpPr>
        <p:grpSpPr bwMode="auto">
          <a:xfrm>
            <a:off x="179512" y="212152"/>
            <a:ext cx="457188" cy="490764"/>
            <a:chOff x="231" y="1205"/>
            <a:chExt cx="640" cy="687"/>
          </a:xfrm>
          <a:solidFill>
            <a:srgbClr val="005A9E"/>
          </a:solidFill>
          <a:effectLst/>
        </p:grpSpPr>
        <p:sp>
          <p:nvSpPr>
            <p:cNvPr id="6" name="Freeform 18"/>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7"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sp>
        <p:nvSpPr>
          <p:cNvPr id="9" name="内容占位符 2">
            <a:extLst>
              <a:ext uri="{FF2B5EF4-FFF2-40B4-BE49-F238E27FC236}">
                <a16:creationId xmlns:a16="http://schemas.microsoft.com/office/drawing/2014/main" id="{2BF28A09-82ED-4EF6-9006-F559916BDD24}"/>
              </a:ext>
            </a:extLst>
          </p:cNvPr>
          <p:cNvSpPr txBox="1">
            <a:spLocks/>
          </p:cNvSpPr>
          <p:nvPr/>
        </p:nvSpPr>
        <p:spPr>
          <a:xfrm>
            <a:off x="535976" y="791377"/>
            <a:ext cx="7886700" cy="1405772"/>
          </a:xfrm>
          <a:prstGeom prst="rect">
            <a:avLst/>
          </a:prstGeom>
        </p:spPr>
        <p:txBody>
          <a:bodyPr/>
          <a:lstStyle>
            <a:lvl1pPr marL="257175" indent="-257175"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1pPr>
            <a:lvl2pPr marL="557213" indent="-214313" algn="l" rtl="0" eaLnBrk="0" fontAlgn="base" hangingPunct="0">
              <a:spcBef>
                <a:spcPct val="20000"/>
              </a:spcBef>
              <a:spcAft>
                <a:spcPct val="0"/>
              </a:spcAft>
              <a:buFont typeface="Arial" charset="0"/>
              <a:buChar char="–"/>
              <a:defRPr sz="2100" kern="1200">
                <a:solidFill>
                  <a:schemeClr val="tx1"/>
                </a:solidFill>
                <a:latin typeface="Arial" charset="0"/>
                <a:ea typeface="+mn-ea"/>
                <a:cs typeface="+mn-cs"/>
              </a:defRPr>
            </a:lvl2pPr>
            <a:lvl3pPr marL="857250" indent="-171450" algn="l" rtl="0" eaLnBrk="0" fontAlgn="base" hangingPunct="0">
              <a:spcBef>
                <a:spcPct val="20000"/>
              </a:spcBef>
              <a:spcAft>
                <a:spcPct val="0"/>
              </a:spcAft>
              <a:buFont typeface="Arial" charset="0"/>
              <a:buChar char="•"/>
              <a:defRPr sz="1800" kern="1200">
                <a:solidFill>
                  <a:schemeClr val="tx1"/>
                </a:solidFill>
                <a:latin typeface="Arial" charset="0"/>
                <a:ea typeface="+mn-ea"/>
                <a:cs typeface="+mn-cs"/>
              </a:defRPr>
            </a:lvl3pPr>
            <a:lvl4pPr marL="12001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4pPr>
            <a:lvl5pPr marL="15430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gn="just"/>
            <a:r>
              <a:rPr lang="en-US" altLang="zh-CN" sz="2000" b="1" dirty="0"/>
              <a:t>uncertainties are necessary in measurement results</a:t>
            </a:r>
            <a:r>
              <a:rPr lang="en-US" altLang="zh-CN" sz="2000" b="1" dirty="0">
                <a:solidFill>
                  <a:srgbClr val="FF0000"/>
                </a:solidFill>
              </a:rPr>
              <a:t>. </a:t>
            </a:r>
            <a:r>
              <a:rPr lang="en-US" altLang="zh-CN" sz="2000" b="1" dirty="0"/>
              <a:t>The less the </a:t>
            </a:r>
            <a:r>
              <a:rPr lang="en-US" altLang="zh-CN" sz="2000" b="1" dirty="0">
                <a:solidFill>
                  <a:srgbClr val="FF0000"/>
                </a:solidFill>
              </a:rPr>
              <a:t>uncertainty </a:t>
            </a:r>
            <a:r>
              <a:rPr lang="en-US" altLang="zh-CN" sz="2000" b="1" dirty="0"/>
              <a:t>is, the higher the </a:t>
            </a:r>
            <a:r>
              <a:rPr lang="en-US" altLang="zh-CN" sz="2000" b="1" dirty="0">
                <a:solidFill>
                  <a:srgbClr val="FF0000"/>
                </a:solidFill>
              </a:rPr>
              <a:t>reliability </a:t>
            </a:r>
            <a:r>
              <a:rPr lang="en-US" altLang="zh-CN" sz="2000" b="1" dirty="0"/>
              <a:t>of the value for measurement is.</a:t>
            </a:r>
            <a:endParaRPr lang="zh-CN" altLang="en-US" sz="2000" dirty="0"/>
          </a:p>
          <a:p>
            <a:pPr algn="just"/>
            <a:endParaRPr lang="zh-CN" altLang="en-US" sz="2000" dirty="0"/>
          </a:p>
        </p:txBody>
      </p:sp>
      <p:grpSp>
        <p:nvGrpSpPr>
          <p:cNvPr id="10" name="组合 9">
            <a:extLst>
              <a:ext uri="{FF2B5EF4-FFF2-40B4-BE49-F238E27FC236}">
                <a16:creationId xmlns:a16="http://schemas.microsoft.com/office/drawing/2014/main" id="{708DE54B-8EDD-4E41-9AC8-719F1FEB8945}"/>
              </a:ext>
            </a:extLst>
          </p:cNvPr>
          <p:cNvGrpSpPr/>
          <p:nvPr/>
        </p:nvGrpSpPr>
        <p:grpSpPr>
          <a:xfrm>
            <a:off x="801819" y="2011651"/>
            <a:ext cx="4649555" cy="1249141"/>
            <a:chOff x="3714744" y="4572008"/>
            <a:chExt cx="5184000" cy="1500198"/>
          </a:xfrm>
        </p:grpSpPr>
        <p:pic>
          <p:nvPicPr>
            <p:cNvPr id="11" name="Picture 2" descr="C:\Documents and Settings\WGXie\桌面\centimeter-millimeter-ruler.jpg">
              <a:extLst>
                <a:ext uri="{FF2B5EF4-FFF2-40B4-BE49-F238E27FC236}">
                  <a16:creationId xmlns:a16="http://schemas.microsoft.com/office/drawing/2014/main" id="{5427A3B5-4932-473E-A99C-CC11E2187889}"/>
                </a:ext>
              </a:extLst>
            </p:cNvPr>
            <p:cNvPicPr>
              <a:picLocks noChangeAspect="1" noChangeArrowheads="1"/>
            </p:cNvPicPr>
            <p:nvPr/>
          </p:nvPicPr>
          <p:blipFill>
            <a:blip r:embed="rId3"/>
            <a:srcRect l="2082" t="2392" r="78751" b="92139"/>
            <a:stretch>
              <a:fillRect/>
            </a:stretch>
          </p:blipFill>
          <p:spPr bwMode="auto">
            <a:xfrm>
              <a:off x="3714744" y="4929198"/>
              <a:ext cx="5184000" cy="1143008"/>
            </a:xfrm>
            <a:prstGeom prst="rect">
              <a:avLst/>
            </a:prstGeom>
            <a:noFill/>
          </p:spPr>
        </p:pic>
        <p:sp>
          <p:nvSpPr>
            <p:cNvPr id="12" name="矩形 11">
              <a:extLst>
                <a:ext uri="{FF2B5EF4-FFF2-40B4-BE49-F238E27FC236}">
                  <a16:creationId xmlns:a16="http://schemas.microsoft.com/office/drawing/2014/main" id="{A3F5A9B4-6DD9-432D-A643-694A7DD0C15E}"/>
                </a:ext>
              </a:extLst>
            </p:cNvPr>
            <p:cNvSpPr/>
            <p:nvPr/>
          </p:nvSpPr>
          <p:spPr>
            <a:xfrm>
              <a:off x="4398824" y="4572008"/>
              <a:ext cx="2930032" cy="428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TextBox 10">
            <a:extLst>
              <a:ext uri="{FF2B5EF4-FFF2-40B4-BE49-F238E27FC236}">
                <a16:creationId xmlns:a16="http://schemas.microsoft.com/office/drawing/2014/main" id="{EE920AF2-5530-4DA5-8B29-3384ADA0B06A}"/>
              </a:ext>
            </a:extLst>
          </p:cNvPr>
          <p:cNvSpPr txBox="1"/>
          <p:nvPr/>
        </p:nvSpPr>
        <p:spPr>
          <a:xfrm>
            <a:off x="5866856" y="1945961"/>
            <a:ext cx="1669047" cy="1200329"/>
          </a:xfrm>
          <a:prstGeom prst="rect">
            <a:avLst/>
          </a:prstGeom>
          <a:noFill/>
        </p:spPr>
        <p:txBody>
          <a:bodyPr wrap="none" rtlCol="0">
            <a:spAutoFit/>
          </a:bodyPr>
          <a:lstStyle/>
          <a:p>
            <a:r>
              <a:rPr lang="en-US" altLang="zh-CN" sz="2400" b="1" dirty="0"/>
              <a:t>3.0</a:t>
            </a:r>
            <a:r>
              <a:rPr lang="en-US" altLang="zh-CN" sz="2400" b="1" dirty="0">
                <a:solidFill>
                  <a:srgbClr val="FF0000"/>
                </a:solidFill>
              </a:rPr>
              <a:t>5</a:t>
            </a:r>
            <a:r>
              <a:rPr lang="en-US" altLang="zh-CN" sz="2400" b="1" dirty="0"/>
              <a:t>1cm?</a:t>
            </a:r>
          </a:p>
          <a:p>
            <a:r>
              <a:rPr lang="en-US" altLang="zh-CN" sz="2400" b="1" dirty="0"/>
              <a:t>3.0</a:t>
            </a:r>
            <a:r>
              <a:rPr lang="en-US" altLang="zh-CN" sz="2400" b="1" dirty="0">
                <a:solidFill>
                  <a:srgbClr val="FF0000"/>
                </a:solidFill>
              </a:rPr>
              <a:t>5</a:t>
            </a:r>
            <a:r>
              <a:rPr lang="en-US" altLang="zh-CN" sz="2400" b="1" dirty="0"/>
              <a:t>9cm? </a:t>
            </a:r>
          </a:p>
          <a:p>
            <a:r>
              <a:rPr lang="en-US" altLang="zh-CN" sz="2400" b="1" dirty="0"/>
              <a:t>3.0</a:t>
            </a:r>
            <a:r>
              <a:rPr lang="en-US" altLang="zh-CN" sz="2400" b="1" dirty="0">
                <a:solidFill>
                  <a:srgbClr val="FF0000"/>
                </a:solidFill>
              </a:rPr>
              <a:t>6</a:t>
            </a:r>
            <a:r>
              <a:rPr lang="en-US" altLang="zh-CN" sz="2400" b="1" dirty="0"/>
              <a:t>41cm?</a:t>
            </a:r>
          </a:p>
        </p:txBody>
      </p:sp>
      <p:sp>
        <p:nvSpPr>
          <p:cNvPr id="14" name="文本框 13">
            <a:extLst>
              <a:ext uri="{FF2B5EF4-FFF2-40B4-BE49-F238E27FC236}">
                <a16:creationId xmlns:a16="http://schemas.microsoft.com/office/drawing/2014/main" id="{033DE8A1-7B0A-4400-A9AD-B4763B83B434}"/>
              </a:ext>
            </a:extLst>
          </p:cNvPr>
          <p:cNvSpPr txBox="1"/>
          <p:nvPr/>
        </p:nvSpPr>
        <p:spPr>
          <a:xfrm>
            <a:off x="4462700" y="3176426"/>
            <a:ext cx="2808312" cy="707886"/>
          </a:xfrm>
          <a:prstGeom prst="rect">
            <a:avLst/>
          </a:prstGeom>
          <a:noFill/>
        </p:spPr>
        <p:txBody>
          <a:bodyPr wrap="square">
            <a:spAutoFit/>
          </a:bodyPr>
          <a:lstStyle/>
          <a:p>
            <a:r>
              <a:rPr lang="en-US" altLang="zh-CN" sz="4000" b="1" dirty="0"/>
              <a:t>3.0</a:t>
            </a:r>
            <a:r>
              <a:rPr lang="en-US" altLang="zh-CN" sz="4000" b="1" dirty="0">
                <a:solidFill>
                  <a:srgbClr val="FF0000"/>
                </a:solidFill>
              </a:rPr>
              <a:t>6</a:t>
            </a:r>
            <a:r>
              <a:rPr lang="en-US" altLang="zh-CN" sz="4000" b="1" strike="dblStrike" dirty="0">
                <a:solidFill>
                  <a:srgbClr val="92D050"/>
                </a:solidFill>
              </a:rPr>
              <a:t>41</a:t>
            </a:r>
            <a:r>
              <a:rPr lang="en-US" altLang="zh-CN" sz="4000" b="1" dirty="0"/>
              <a:t>cm?</a:t>
            </a:r>
          </a:p>
        </p:txBody>
      </p:sp>
      <p:sp>
        <p:nvSpPr>
          <p:cNvPr id="15" name="文本框 14">
            <a:extLst>
              <a:ext uri="{FF2B5EF4-FFF2-40B4-BE49-F238E27FC236}">
                <a16:creationId xmlns:a16="http://schemas.microsoft.com/office/drawing/2014/main" id="{1F18C31C-00E1-41A4-B809-605492EB755C}"/>
              </a:ext>
            </a:extLst>
          </p:cNvPr>
          <p:cNvSpPr txBox="1"/>
          <p:nvPr/>
        </p:nvSpPr>
        <p:spPr>
          <a:xfrm>
            <a:off x="2967158" y="3917547"/>
            <a:ext cx="2088232" cy="1200329"/>
          </a:xfrm>
          <a:prstGeom prst="rect">
            <a:avLst/>
          </a:prstGeom>
          <a:noFill/>
        </p:spPr>
        <p:txBody>
          <a:bodyPr wrap="square" rtlCol="0">
            <a:spAutoFit/>
          </a:bodyPr>
          <a:lstStyle/>
          <a:p>
            <a:pPr algn="ctr"/>
            <a:r>
              <a:rPr lang="en-US" altLang="zh-CN" b="1" dirty="0"/>
              <a:t>Directly readable value from the instrument</a:t>
            </a:r>
          </a:p>
          <a:p>
            <a:pPr algn="ctr"/>
            <a:r>
              <a:rPr lang="en-US" altLang="zh-CN" b="1" dirty="0"/>
              <a:t>(reliable)</a:t>
            </a:r>
            <a:endParaRPr lang="zh-CN" altLang="en-US" b="1" dirty="0"/>
          </a:p>
        </p:txBody>
      </p:sp>
      <p:sp>
        <p:nvSpPr>
          <p:cNvPr id="16" name="文本框 15">
            <a:extLst>
              <a:ext uri="{FF2B5EF4-FFF2-40B4-BE49-F238E27FC236}">
                <a16:creationId xmlns:a16="http://schemas.microsoft.com/office/drawing/2014/main" id="{B116E0ED-7184-452D-A6EC-092A6CDDC41B}"/>
              </a:ext>
            </a:extLst>
          </p:cNvPr>
          <p:cNvSpPr txBox="1"/>
          <p:nvPr/>
        </p:nvSpPr>
        <p:spPr>
          <a:xfrm>
            <a:off x="5288504" y="3912280"/>
            <a:ext cx="1423070" cy="1200329"/>
          </a:xfrm>
          <a:prstGeom prst="rect">
            <a:avLst/>
          </a:prstGeom>
          <a:noFill/>
        </p:spPr>
        <p:txBody>
          <a:bodyPr wrap="square" rtlCol="0">
            <a:spAutoFit/>
          </a:bodyPr>
          <a:lstStyle/>
          <a:p>
            <a:pPr algn="ctr"/>
            <a:r>
              <a:rPr lang="en-US" altLang="zh-CN" b="1" dirty="0">
                <a:solidFill>
                  <a:srgbClr val="FF0000"/>
                </a:solidFill>
              </a:rPr>
              <a:t>The First estimated number </a:t>
            </a:r>
          </a:p>
          <a:p>
            <a:pPr algn="ctr"/>
            <a:r>
              <a:rPr lang="en-US" altLang="zh-CN" b="1" dirty="0">
                <a:solidFill>
                  <a:srgbClr val="FF0000"/>
                </a:solidFill>
              </a:rPr>
              <a:t>(uncertain)</a:t>
            </a:r>
            <a:endParaRPr lang="zh-CN" altLang="en-US" b="1" dirty="0">
              <a:solidFill>
                <a:srgbClr val="FF0000"/>
              </a:solidFill>
            </a:endParaRPr>
          </a:p>
        </p:txBody>
      </p:sp>
      <p:sp>
        <p:nvSpPr>
          <p:cNvPr id="17" name="加号 16">
            <a:extLst>
              <a:ext uri="{FF2B5EF4-FFF2-40B4-BE49-F238E27FC236}">
                <a16:creationId xmlns:a16="http://schemas.microsoft.com/office/drawing/2014/main" id="{831A8FD2-9934-40C2-AA4E-99A3F2687A4D}"/>
              </a:ext>
            </a:extLst>
          </p:cNvPr>
          <p:cNvSpPr/>
          <p:nvPr/>
        </p:nvSpPr>
        <p:spPr>
          <a:xfrm>
            <a:off x="4911374" y="4128304"/>
            <a:ext cx="540000" cy="5400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3171EEF3-97B6-4713-897B-D23A2062373C}"/>
              </a:ext>
            </a:extLst>
          </p:cNvPr>
          <p:cNvSpPr txBox="1"/>
          <p:nvPr/>
        </p:nvSpPr>
        <p:spPr>
          <a:xfrm>
            <a:off x="535976" y="3967387"/>
            <a:ext cx="1996845" cy="830997"/>
          </a:xfrm>
          <a:prstGeom prst="rect">
            <a:avLst/>
          </a:prstGeom>
          <a:noFill/>
        </p:spPr>
        <p:txBody>
          <a:bodyPr wrap="square">
            <a:spAutoFit/>
          </a:bodyPr>
          <a:lstStyle/>
          <a:p>
            <a:pPr algn="ctr"/>
            <a:r>
              <a:rPr lang="en-US" altLang="zh-CN" sz="2400" b="1" dirty="0"/>
              <a:t>Significant Figure</a:t>
            </a:r>
            <a:endParaRPr lang="zh-CN" altLang="en-US" sz="2400" b="1" dirty="0"/>
          </a:p>
        </p:txBody>
      </p:sp>
      <p:sp>
        <p:nvSpPr>
          <p:cNvPr id="19" name="等号 18">
            <a:extLst>
              <a:ext uri="{FF2B5EF4-FFF2-40B4-BE49-F238E27FC236}">
                <a16:creationId xmlns:a16="http://schemas.microsoft.com/office/drawing/2014/main" id="{263B83C3-46A1-4701-B580-E37C258C9564}"/>
              </a:ext>
            </a:extLst>
          </p:cNvPr>
          <p:cNvSpPr/>
          <p:nvPr/>
        </p:nvSpPr>
        <p:spPr>
          <a:xfrm>
            <a:off x="2497962" y="4182304"/>
            <a:ext cx="504056" cy="432000"/>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353873176"/>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游标卡尺如何使用-数控圈">
            <a:extLst>
              <a:ext uri="{FF2B5EF4-FFF2-40B4-BE49-F238E27FC236}">
                <a16:creationId xmlns:a16="http://schemas.microsoft.com/office/drawing/2014/main" id="{D9E39751-1F3E-41A7-98F5-02B0990B7C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0100" y="2510822"/>
            <a:ext cx="3488127" cy="192544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数字电压表">
            <a:extLst>
              <a:ext uri="{FF2B5EF4-FFF2-40B4-BE49-F238E27FC236}">
                <a16:creationId xmlns:a16="http://schemas.microsoft.com/office/drawing/2014/main" id="{362506EA-A03C-4B57-85FB-9983D723CCEC}"/>
              </a:ext>
            </a:extLst>
          </p:cNvPr>
          <p:cNvPicPr>
            <a:picLocks noChangeAspect="1" noChangeArrowheads="1"/>
          </p:cNvPicPr>
          <p:nvPr/>
        </p:nvPicPr>
        <p:blipFill>
          <a:blip r:embed="rId3"/>
          <a:srcRect/>
          <a:stretch>
            <a:fillRect/>
          </a:stretch>
        </p:blipFill>
        <p:spPr bwMode="auto">
          <a:xfrm>
            <a:off x="1480094" y="704088"/>
            <a:ext cx="1795125" cy="983045"/>
          </a:xfrm>
          <a:prstGeom prst="rect">
            <a:avLst/>
          </a:prstGeom>
          <a:noFill/>
        </p:spPr>
      </p:pic>
      <p:pic>
        <p:nvPicPr>
          <p:cNvPr id="3" name="Picture 2" descr="电阻箱">
            <a:extLst>
              <a:ext uri="{FF2B5EF4-FFF2-40B4-BE49-F238E27FC236}">
                <a16:creationId xmlns:a16="http://schemas.microsoft.com/office/drawing/2014/main" id="{0E70C537-8DAF-4F22-8320-8582CC396656}"/>
              </a:ext>
            </a:extLst>
          </p:cNvPr>
          <p:cNvPicPr>
            <a:picLocks noChangeAspect="1" noChangeArrowheads="1"/>
          </p:cNvPicPr>
          <p:nvPr/>
        </p:nvPicPr>
        <p:blipFill>
          <a:blip r:embed="rId4"/>
          <a:srcRect/>
          <a:stretch>
            <a:fillRect/>
          </a:stretch>
        </p:blipFill>
        <p:spPr bwMode="auto">
          <a:xfrm>
            <a:off x="1287658" y="2381955"/>
            <a:ext cx="2179995" cy="2114607"/>
          </a:xfrm>
          <a:prstGeom prst="rect">
            <a:avLst/>
          </a:prstGeom>
          <a:noFill/>
        </p:spPr>
      </p:pic>
      <p:grpSp>
        <p:nvGrpSpPr>
          <p:cNvPr id="4" name="组合 3">
            <a:extLst>
              <a:ext uri="{FF2B5EF4-FFF2-40B4-BE49-F238E27FC236}">
                <a16:creationId xmlns:a16="http://schemas.microsoft.com/office/drawing/2014/main" id="{E02FDE04-1351-4710-83CF-08B63061222E}"/>
              </a:ext>
            </a:extLst>
          </p:cNvPr>
          <p:cNvGrpSpPr/>
          <p:nvPr/>
        </p:nvGrpSpPr>
        <p:grpSpPr>
          <a:xfrm>
            <a:off x="5667288" y="665077"/>
            <a:ext cx="2510553" cy="1649400"/>
            <a:chOff x="5072066" y="1477962"/>
            <a:chExt cx="3643338" cy="2665418"/>
          </a:xfrm>
        </p:grpSpPr>
        <p:pic>
          <p:nvPicPr>
            <p:cNvPr id="5" name="Picture 3" descr="千分尺">
              <a:extLst>
                <a:ext uri="{FF2B5EF4-FFF2-40B4-BE49-F238E27FC236}">
                  <a16:creationId xmlns:a16="http://schemas.microsoft.com/office/drawing/2014/main" id="{B3DFA8F1-BCA0-4591-8AD4-6837C6996AEA}"/>
                </a:ext>
              </a:extLst>
            </p:cNvPr>
            <p:cNvPicPr>
              <a:picLocks noChangeAspect="1" noChangeArrowheads="1"/>
            </p:cNvPicPr>
            <p:nvPr/>
          </p:nvPicPr>
          <p:blipFill>
            <a:blip r:embed="rId5"/>
            <a:srcRect l="6659" r="9825" b="31692"/>
            <a:stretch>
              <a:fillRect/>
            </a:stretch>
          </p:blipFill>
          <p:spPr bwMode="auto">
            <a:xfrm>
              <a:off x="5072066" y="1477962"/>
              <a:ext cx="3643338" cy="2665418"/>
            </a:xfrm>
            <a:prstGeom prst="rect">
              <a:avLst/>
            </a:prstGeom>
            <a:noFill/>
          </p:spPr>
        </p:pic>
        <p:sp>
          <p:nvSpPr>
            <p:cNvPr id="6" name="TextBox 7">
              <a:extLst>
                <a:ext uri="{FF2B5EF4-FFF2-40B4-BE49-F238E27FC236}">
                  <a16:creationId xmlns:a16="http://schemas.microsoft.com/office/drawing/2014/main" id="{4D932ABA-1A35-4FF2-BF67-01733D8F8D66}"/>
                </a:ext>
              </a:extLst>
            </p:cNvPr>
            <p:cNvSpPr txBox="1"/>
            <p:nvPr/>
          </p:nvSpPr>
          <p:spPr>
            <a:xfrm>
              <a:off x="7437073" y="1857364"/>
              <a:ext cx="1003801" cy="369332"/>
            </a:xfrm>
            <a:prstGeom prst="rect">
              <a:avLst/>
            </a:prstGeom>
            <a:noFill/>
          </p:spPr>
          <p:txBody>
            <a:bodyPr wrap="none" rtlCol="0">
              <a:spAutoFit/>
            </a:bodyPr>
            <a:lstStyle/>
            <a:p>
              <a:r>
                <a:rPr lang="en-US" altLang="zh-CN" b="1" dirty="0">
                  <a:solidFill>
                    <a:srgbClr val="FF0000"/>
                  </a:solidFill>
                </a:rPr>
                <a:t>5.737mm</a:t>
              </a:r>
              <a:endParaRPr lang="zh-CN" altLang="en-US" b="1" dirty="0">
                <a:solidFill>
                  <a:srgbClr val="FF0000"/>
                </a:solidFill>
              </a:endParaRPr>
            </a:p>
          </p:txBody>
        </p:sp>
      </p:grpSp>
      <p:sp>
        <p:nvSpPr>
          <p:cNvPr id="7" name="矩形 6">
            <a:extLst>
              <a:ext uri="{FF2B5EF4-FFF2-40B4-BE49-F238E27FC236}">
                <a16:creationId xmlns:a16="http://schemas.microsoft.com/office/drawing/2014/main" id="{F04DEA26-C45A-433B-8639-D9C5CB3DDAD9}"/>
              </a:ext>
            </a:extLst>
          </p:cNvPr>
          <p:cNvSpPr/>
          <p:nvPr/>
        </p:nvSpPr>
        <p:spPr>
          <a:xfrm>
            <a:off x="185976" y="98957"/>
            <a:ext cx="2698175" cy="523220"/>
          </a:xfrm>
          <a:prstGeom prst="rect">
            <a:avLst/>
          </a:prstGeom>
        </p:spPr>
        <p:txBody>
          <a:bodyPr wrap="none">
            <a:spAutoFit/>
          </a:bodyPr>
          <a:lstStyle/>
          <a:p>
            <a:r>
              <a:rPr lang="en-US" sz="2800" b="1" dirty="0"/>
              <a:t>digital meter </a:t>
            </a:r>
            <a:endParaRPr lang="zh-CN" altLang="en-US" sz="2800" b="1" dirty="0"/>
          </a:p>
        </p:txBody>
      </p:sp>
      <p:sp>
        <p:nvSpPr>
          <p:cNvPr id="8" name="矩形 7">
            <a:extLst>
              <a:ext uri="{FF2B5EF4-FFF2-40B4-BE49-F238E27FC236}">
                <a16:creationId xmlns:a16="http://schemas.microsoft.com/office/drawing/2014/main" id="{A3F56F99-9676-43CC-9727-588F911D1324}"/>
              </a:ext>
            </a:extLst>
          </p:cNvPr>
          <p:cNvSpPr/>
          <p:nvPr/>
        </p:nvSpPr>
        <p:spPr>
          <a:xfrm>
            <a:off x="185975" y="1791257"/>
            <a:ext cx="2698175" cy="523220"/>
          </a:xfrm>
          <a:prstGeom prst="rect">
            <a:avLst/>
          </a:prstGeom>
        </p:spPr>
        <p:txBody>
          <a:bodyPr wrap="none">
            <a:spAutoFit/>
          </a:bodyPr>
          <a:lstStyle/>
          <a:p>
            <a:r>
              <a:rPr lang="en-US" sz="2800" b="1" dirty="0"/>
              <a:t>resistance box</a:t>
            </a:r>
            <a:endParaRPr lang="zh-CN" altLang="en-US" sz="2800" b="1" dirty="0"/>
          </a:p>
        </p:txBody>
      </p:sp>
      <p:sp>
        <p:nvSpPr>
          <p:cNvPr id="9" name="矩形 8">
            <a:extLst>
              <a:ext uri="{FF2B5EF4-FFF2-40B4-BE49-F238E27FC236}">
                <a16:creationId xmlns:a16="http://schemas.microsoft.com/office/drawing/2014/main" id="{3FA0C9B8-57D6-4C7F-B05D-39555E3DD5E3}"/>
              </a:ext>
            </a:extLst>
          </p:cNvPr>
          <p:cNvSpPr/>
          <p:nvPr/>
        </p:nvSpPr>
        <p:spPr>
          <a:xfrm>
            <a:off x="4572000" y="35658"/>
            <a:ext cx="3445174" cy="523220"/>
          </a:xfrm>
          <a:prstGeom prst="rect">
            <a:avLst/>
          </a:prstGeom>
        </p:spPr>
        <p:txBody>
          <a:bodyPr wrap="none">
            <a:spAutoFit/>
          </a:bodyPr>
          <a:lstStyle/>
          <a:p>
            <a:r>
              <a:rPr lang="en-US" sz="2800" b="1" dirty="0"/>
              <a:t>micrometer caliper</a:t>
            </a:r>
            <a:endParaRPr lang="zh-CN" altLang="en-US" sz="2800" dirty="0"/>
          </a:p>
        </p:txBody>
      </p:sp>
      <p:sp>
        <p:nvSpPr>
          <p:cNvPr id="10" name="矩形 9">
            <a:extLst>
              <a:ext uri="{FF2B5EF4-FFF2-40B4-BE49-F238E27FC236}">
                <a16:creationId xmlns:a16="http://schemas.microsoft.com/office/drawing/2014/main" id="{687F63D7-3211-4A8A-B010-BB3A6600F6A4}"/>
              </a:ext>
            </a:extLst>
          </p:cNvPr>
          <p:cNvSpPr/>
          <p:nvPr/>
        </p:nvSpPr>
        <p:spPr>
          <a:xfrm>
            <a:off x="4528204" y="2249212"/>
            <a:ext cx="2642070" cy="523220"/>
          </a:xfrm>
          <a:prstGeom prst="rect">
            <a:avLst/>
          </a:prstGeom>
        </p:spPr>
        <p:txBody>
          <a:bodyPr wrap="none">
            <a:spAutoFit/>
          </a:bodyPr>
          <a:lstStyle/>
          <a:p>
            <a:r>
              <a:rPr lang="en-US" altLang="zh-CN" sz="2800" b="1" dirty="0"/>
              <a:t>vernier </a:t>
            </a:r>
            <a:r>
              <a:rPr lang="en-US" sz="2800" b="1" dirty="0"/>
              <a:t>caliper</a:t>
            </a:r>
            <a:endParaRPr lang="zh-CN" altLang="en-US" sz="2800" dirty="0"/>
          </a:p>
        </p:txBody>
      </p:sp>
    </p:spTree>
    <p:extLst>
      <p:ext uri="{BB962C8B-B14F-4D97-AF65-F5344CB8AC3E}">
        <p14:creationId xmlns:p14="http://schemas.microsoft.com/office/powerpoint/2010/main" val="2685225669"/>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flipH="1">
            <a:off x="2918943" y="457535"/>
            <a:ext cx="6225059"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 name="圆角矩形 2"/>
          <p:cNvSpPr/>
          <p:nvPr/>
        </p:nvSpPr>
        <p:spPr>
          <a:xfrm>
            <a:off x="742944" y="191230"/>
            <a:ext cx="2672245"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4" name="矩形 3"/>
          <p:cNvSpPr/>
          <p:nvPr/>
        </p:nvSpPr>
        <p:spPr>
          <a:xfrm>
            <a:off x="827583" y="226702"/>
            <a:ext cx="2587607" cy="461665"/>
          </a:xfrm>
          <a:prstGeom prst="rect">
            <a:avLst/>
          </a:prstGeom>
        </p:spPr>
        <p:txBody>
          <a:bodyPr wrap="square">
            <a:spAutoFit/>
          </a:bodyPr>
          <a:lstStyle/>
          <a:p>
            <a:pPr defTabSz="913924"/>
            <a:r>
              <a:rPr lang="en-US" altLang="zh-CN" sz="2400" b="1" kern="0" dirty="0">
                <a:solidFill>
                  <a:srgbClr val="005A9E"/>
                </a:solidFill>
                <a:cs typeface="+mn-ea"/>
                <a:sym typeface="+mn-lt"/>
              </a:rPr>
              <a:t>Calculation Rule</a:t>
            </a:r>
            <a:endParaRPr lang="zh-CN" altLang="en-US" sz="2400" b="1" kern="0" dirty="0">
              <a:solidFill>
                <a:srgbClr val="005A9E"/>
              </a:solidFill>
              <a:cs typeface="+mn-ea"/>
              <a:sym typeface="+mn-lt"/>
            </a:endParaRPr>
          </a:p>
        </p:txBody>
      </p:sp>
      <p:grpSp>
        <p:nvGrpSpPr>
          <p:cNvPr id="5" name="Group 17"/>
          <p:cNvGrpSpPr>
            <a:grpSpLocks noChangeAspect="1"/>
          </p:cNvGrpSpPr>
          <p:nvPr/>
        </p:nvGrpSpPr>
        <p:grpSpPr bwMode="auto">
          <a:xfrm>
            <a:off x="179512" y="212152"/>
            <a:ext cx="457188" cy="490764"/>
            <a:chOff x="231" y="1205"/>
            <a:chExt cx="640" cy="687"/>
          </a:xfrm>
          <a:solidFill>
            <a:srgbClr val="005A9E"/>
          </a:solidFill>
          <a:effectLst/>
        </p:grpSpPr>
        <p:sp>
          <p:nvSpPr>
            <p:cNvPr id="6" name="Freeform 18"/>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7"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sp>
        <p:nvSpPr>
          <p:cNvPr id="9" name="内容占位符 2">
            <a:extLst>
              <a:ext uri="{FF2B5EF4-FFF2-40B4-BE49-F238E27FC236}">
                <a16:creationId xmlns:a16="http://schemas.microsoft.com/office/drawing/2014/main" id="{E25BA5F4-F2B1-404E-AC01-20599B4C2934}"/>
              </a:ext>
            </a:extLst>
          </p:cNvPr>
          <p:cNvSpPr txBox="1">
            <a:spLocks/>
          </p:cNvSpPr>
          <p:nvPr/>
        </p:nvSpPr>
        <p:spPr>
          <a:xfrm>
            <a:off x="641638" y="936158"/>
            <a:ext cx="7886700" cy="2858083"/>
          </a:xfrm>
          <a:prstGeom prst="rect">
            <a:avLst/>
          </a:prstGeom>
        </p:spPr>
        <p:txBody>
          <a:bodyPr>
            <a:normAutofit lnSpcReduction="10000"/>
          </a:bodyPr>
          <a:lstStyle>
            <a:lvl1pPr marL="257175" indent="-257175"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1pPr>
            <a:lvl2pPr marL="557213" indent="-214313" algn="l" rtl="0" eaLnBrk="0" fontAlgn="base" hangingPunct="0">
              <a:spcBef>
                <a:spcPct val="20000"/>
              </a:spcBef>
              <a:spcAft>
                <a:spcPct val="0"/>
              </a:spcAft>
              <a:buFont typeface="Arial" charset="0"/>
              <a:buChar char="–"/>
              <a:defRPr sz="2100" kern="1200">
                <a:solidFill>
                  <a:schemeClr val="tx1"/>
                </a:solidFill>
                <a:latin typeface="Arial" charset="0"/>
                <a:ea typeface="+mn-ea"/>
                <a:cs typeface="+mn-cs"/>
              </a:defRPr>
            </a:lvl2pPr>
            <a:lvl3pPr marL="857250" indent="-171450" algn="l" rtl="0" eaLnBrk="0" fontAlgn="base" hangingPunct="0">
              <a:spcBef>
                <a:spcPct val="20000"/>
              </a:spcBef>
              <a:spcAft>
                <a:spcPct val="0"/>
              </a:spcAft>
              <a:buFont typeface="Arial" charset="0"/>
              <a:buChar char="•"/>
              <a:defRPr sz="1800" kern="1200">
                <a:solidFill>
                  <a:schemeClr val="tx1"/>
                </a:solidFill>
                <a:latin typeface="Arial" charset="0"/>
                <a:ea typeface="+mn-ea"/>
                <a:cs typeface="+mn-cs"/>
              </a:defRPr>
            </a:lvl3pPr>
            <a:lvl4pPr marL="12001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4pPr>
            <a:lvl5pPr marL="15430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gn="just"/>
            <a:r>
              <a:rPr lang="en-US" altLang="zh-CN" sz="1800" dirty="0"/>
              <a:t>Significant digit answers the precision of the measurement</a:t>
            </a:r>
          </a:p>
          <a:p>
            <a:pPr marL="0" indent="0" algn="just">
              <a:buNone/>
            </a:pPr>
            <a:r>
              <a:rPr lang="zh-CN" altLang="en-US" sz="1800" dirty="0"/>
              <a:t>（有效数字描述测量的精度）</a:t>
            </a:r>
            <a:endParaRPr lang="en-US" altLang="zh-CN" sz="1800" dirty="0"/>
          </a:p>
          <a:p>
            <a:pPr algn="just"/>
            <a:endParaRPr lang="en-US" altLang="zh-CN" sz="1800" dirty="0"/>
          </a:p>
          <a:p>
            <a:pPr algn="just"/>
            <a:endParaRPr lang="en-US" altLang="zh-CN" sz="1800" dirty="0"/>
          </a:p>
          <a:p>
            <a:pPr marL="0" indent="0" algn="just">
              <a:buNone/>
            </a:pPr>
            <a:endParaRPr lang="en-US" altLang="zh-CN" sz="1800" dirty="0"/>
          </a:p>
          <a:p>
            <a:pPr algn="just"/>
            <a:r>
              <a:rPr lang="en-US" altLang="zh-CN" sz="1800" dirty="0"/>
              <a:t>The significant digit </a:t>
            </a:r>
            <a:r>
              <a:rPr lang="en-US" altLang="zh-CN" sz="1800" dirty="0">
                <a:solidFill>
                  <a:srgbClr val="FF0000"/>
                </a:solidFill>
              </a:rPr>
              <a:t>exclude</a:t>
            </a:r>
            <a:r>
              <a:rPr lang="en-US" altLang="zh-CN" sz="1800" dirty="0"/>
              <a:t> the zero that are included to locating the decimal point.</a:t>
            </a:r>
            <a:r>
              <a:rPr lang="zh-CN" altLang="en-US" sz="1800" dirty="0"/>
              <a:t>（数位前面的</a:t>
            </a:r>
            <a:r>
              <a:rPr lang="en-US" altLang="zh-CN" sz="1800" dirty="0"/>
              <a:t>0</a:t>
            </a:r>
            <a:r>
              <a:rPr lang="zh-CN" altLang="en-US" sz="1800" dirty="0"/>
              <a:t>不包括在有效数位内）</a:t>
            </a:r>
            <a:endParaRPr lang="en-US" altLang="zh-CN" sz="1800" dirty="0"/>
          </a:p>
          <a:p>
            <a:pPr algn="just"/>
            <a:r>
              <a:rPr lang="en-US" altLang="zh-CN" sz="1800" dirty="0"/>
              <a:t>The last digit is an estimate and we must not neglect it, </a:t>
            </a:r>
            <a:r>
              <a:rPr lang="en-US" altLang="zh-CN" sz="1800" dirty="0">
                <a:solidFill>
                  <a:srgbClr val="FF0000"/>
                </a:solidFill>
              </a:rPr>
              <a:t>even if it is zero</a:t>
            </a:r>
            <a:r>
              <a:rPr lang="en-US" altLang="zh-CN" sz="1800" dirty="0"/>
              <a:t>. </a:t>
            </a:r>
            <a:r>
              <a:rPr lang="zh-CN" altLang="en-US" sz="1800" dirty="0"/>
              <a:t>（最后一位即使是</a:t>
            </a:r>
            <a:r>
              <a:rPr lang="en-US" altLang="zh-CN" sz="1800" dirty="0"/>
              <a:t>0</a:t>
            </a:r>
            <a:r>
              <a:rPr lang="zh-CN" altLang="en-US" sz="1800" dirty="0"/>
              <a:t>也是有效数位）</a:t>
            </a:r>
            <a:endParaRPr lang="en-US" altLang="zh-CN" sz="1800" dirty="0"/>
          </a:p>
          <a:p>
            <a:pPr algn="just"/>
            <a:endParaRPr lang="en-US" altLang="zh-CN" sz="1800" dirty="0"/>
          </a:p>
          <a:p>
            <a:pPr algn="just"/>
            <a:endParaRPr lang="en-US" altLang="zh-CN" sz="1800" dirty="0"/>
          </a:p>
          <a:p>
            <a:pPr algn="just"/>
            <a:endParaRPr lang="zh-CN" altLang="en-US" sz="1800" dirty="0"/>
          </a:p>
        </p:txBody>
      </p:sp>
      <p:sp>
        <p:nvSpPr>
          <p:cNvPr id="10" name="TextBox 5">
            <a:extLst>
              <a:ext uri="{FF2B5EF4-FFF2-40B4-BE49-F238E27FC236}">
                <a16:creationId xmlns:a16="http://schemas.microsoft.com/office/drawing/2014/main" id="{F243C4BC-BFB5-4984-A8D8-A1EBA1A13E2C}"/>
              </a:ext>
            </a:extLst>
          </p:cNvPr>
          <p:cNvSpPr txBox="1"/>
          <p:nvPr/>
        </p:nvSpPr>
        <p:spPr>
          <a:xfrm>
            <a:off x="2780777" y="1520144"/>
            <a:ext cx="3951463" cy="523220"/>
          </a:xfrm>
          <a:prstGeom prst="rect">
            <a:avLst/>
          </a:prstGeom>
          <a:noFill/>
        </p:spPr>
        <p:txBody>
          <a:bodyPr wrap="square" rtlCol="0">
            <a:spAutoFit/>
          </a:bodyPr>
          <a:lstStyle/>
          <a:p>
            <a:r>
              <a:rPr lang="en-US" altLang="zh-CN" sz="2800" b="1" dirty="0"/>
              <a:t>0.258</a:t>
            </a:r>
            <a:r>
              <a:rPr lang="en-US" altLang="zh-CN" sz="2800" b="1" dirty="0">
                <a:solidFill>
                  <a:srgbClr val="FF0000"/>
                </a:solidFill>
              </a:rPr>
              <a:t>0</a:t>
            </a:r>
            <a:r>
              <a:rPr lang="en-US" altLang="zh-CN" sz="2800" b="1" dirty="0"/>
              <a:t> cm≠0.25</a:t>
            </a:r>
            <a:r>
              <a:rPr lang="en-US" altLang="zh-CN" sz="2800" b="1" dirty="0">
                <a:solidFill>
                  <a:srgbClr val="FF0000"/>
                </a:solidFill>
              </a:rPr>
              <a:t>8</a:t>
            </a:r>
            <a:r>
              <a:rPr lang="en-US" altLang="zh-CN" sz="2800" b="1" dirty="0"/>
              <a:t>cm;	</a:t>
            </a:r>
            <a:endParaRPr lang="zh-CN" altLang="en-US" sz="2800" b="1" dirty="0"/>
          </a:p>
        </p:txBody>
      </p:sp>
      <p:sp>
        <p:nvSpPr>
          <p:cNvPr id="11" name="TextBox 6">
            <a:extLst>
              <a:ext uri="{FF2B5EF4-FFF2-40B4-BE49-F238E27FC236}">
                <a16:creationId xmlns:a16="http://schemas.microsoft.com/office/drawing/2014/main" id="{C1E5D104-6A6D-4F49-9422-77185C1D951E}"/>
              </a:ext>
            </a:extLst>
          </p:cNvPr>
          <p:cNvSpPr txBox="1"/>
          <p:nvPr/>
        </p:nvSpPr>
        <p:spPr>
          <a:xfrm>
            <a:off x="3014771" y="1995868"/>
            <a:ext cx="1003801" cy="369332"/>
          </a:xfrm>
          <a:prstGeom prst="rect">
            <a:avLst/>
          </a:prstGeom>
          <a:noFill/>
        </p:spPr>
        <p:txBody>
          <a:bodyPr wrap="none" rtlCol="0">
            <a:spAutoFit/>
          </a:bodyPr>
          <a:lstStyle/>
          <a:p>
            <a:r>
              <a:rPr lang="en-US" altLang="zh-CN" b="1" dirty="0"/>
              <a:t>4 digit</a:t>
            </a:r>
            <a:endParaRPr lang="zh-CN" altLang="en-US" b="1" dirty="0"/>
          </a:p>
        </p:txBody>
      </p:sp>
      <p:sp>
        <p:nvSpPr>
          <p:cNvPr id="12" name="TextBox 7">
            <a:extLst>
              <a:ext uri="{FF2B5EF4-FFF2-40B4-BE49-F238E27FC236}">
                <a16:creationId xmlns:a16="http://schemas.microsoft.com/office/drawing/2014/main" id="{4682BF9B-79AC-4B1B-BAF5-4F90D6F34D05}"/>
              </a:ext>
            </a:extLst>
          </p:cNvPr>
          <p:cNvSpPr txBox="1"/>
          <p:nvPr/>
        </p:nvSpPr>
        <p:spPr>
          <a:xfrm>
            <a:off x="4954922" y="1995868"/>
            <a:ext cx="1003801" cy="369332"/>
          </a:xfrm>
          <a:prstGeom prst="rect">
            <a:avLst/>
          </a:prstGeom>
          <a:noFill/>
        </p:spPr>
        <p:txBody>
          <a:bodyPr wrap="none" rtlCol="0">
            <a:spAutoFit/>
          </a:bodyPr>
          <a:lstStyle/>
          <a:p>
            <a:r>
              <a:rPr lang="en-US" altLang="zh-CN" b="1" dirty="0"/>
              <a:t>3 digit</a:t>
            </a:r>
            <a:endParaRPr lang="zh-CN" altLang="en-US" b="1" dirty="0"/>
          </a:p>
        </p:txBody>
      </p:sp>
      <p:sp>
        <p:nvSpPr>
          <p:cNvPr id="13" name="内容占位符 2">
            <a:extLst>
              <a:ext uri="{FF2B5EF4-FFF2-40B4-BE49-F238E27FC236}">
                <a16:creationId xmlns:a16="http://schemas.microsoft.com/office/drawing/2014/main" id="{34364738-7658-47AB-8F01-864AA16301DE}"/>
              </a:ext>
            </a:extLst>
          </p:cNvPr>
          <p:cNvSpPr txBox="1">
            <a:spLocks/>
          </p:cNvSpPr>
          <p:nvPr/>
        </p:nvSpPr>
        <p:spPr>
          <a:xfrm>
            <a:off x="646398" y="3630651"/>
            <a:ext cx="7886700" cy="831988"/>
          </a:xfrm>
          <a:prstGeom prst="rect">
            <a:avLst/>
          </a:prstGeom>
        </p:spPr>
        <p:txBody>
          <a:bodyPr>
            <a:normAutofit/>
          </a:bodyPr>
          <a:lstStyle>
            <a:lvl1pPr marL="257175" indent="-257175"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1pPr>
            <a:lvl2pPr marL="557213" indent="-214313" algn="l" rtl="0" eaLnBrk="0" fontAlgn="base" hangingPunct="0">
              <a:spcBef>
                <a:spcPct val="20000"/>
              </a:spcBef>
              <a:spcAft>
                <a:spcPct val="0"/>
              </a:spcAft>
              <a:buFont typeface="Arial" charset="0"/>
              <a:buChar char="–"/>
              <a:defRPr sz="2100" kern="1200">
                <a:solidFill>
                  <a:schemeClr val="tx1"/>
                </a:solidFill>
                <a:latin typeface="Arial" charset="0"/>
                <a:ea typeface="+mn-ea"/>
                <a:cs typeface="+mn-cs"/>
              </a:defRPr>
            </a:lvl2pPr>
            <a:lvl3pPr marL="857250" indent="-171450" algn="l" rtl="0" eaLnBrk="0" fontAlgn="base" hangingPunct="0">
              <a:spcBef>
                <a:spcPct val="20000"/>
              </a:spcBef>
              <a:spcAft>
                <a:spcPct val="0"/>
              </a:spcAft>
              <a:buFont typeface="Arial" charset="0"/>
              <a:buChar char="•"/>
              <a:defRPr sz="1800" kern="1200">
                <a:solidFill>
                  <a:schemeClr val="tx1"/>
                </a:solidFill>
                <a:latin typeface="Arial" charset="0"/>
                <a:ea typeface="+mn-ea"/>
                <a:cs typeface="+mn-cs"/>
              </a:defRPr>
            </a:lvl3pPr>
            <a:lvl4pPr marL="12001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4pPr>
            <a:lvl5pPr marL="15430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altLang="zh-CN" sz="1800" dirty="0"/>
              <a:t>You must not change the significant digit when you make unit transform. </a:t>
            </a:r>
            <a:r>
              <a:rPr lang="zh-CN" altLang="en-US" sz="1800" dirty="0"/>
              <a:t>（单位变换时不能改变有效数位）</a:t>
            </a:r>
          </a:p>
          <a:p>
            <a:endParaRPr lang="en-US" altLang="zh-CN" sz="1800" dirty="0"/>
          </a:p>
          <a:p>
            <a:endParaRPr lang="zh-CN" altLang="en-US" sz="1800" dirty="0"/>
          </a:p>
        </p:txBody>
      </p:sp>
      <p:sp>
        <p:nvSpPr>
          <p:cNvPr id="14" name="文本框 13">
            <a:extLst>
              <a:ext uri="{FF2B5EF4-FFF2-40B4-BE49-F238E27FC236}">
                <a16:creationId xmlns:a16="http://schemas.microsoft.com/office/drawing/2014/main" id="{036EB6F5-6D76-4508-A998-42352DF3B1F6}"/>
              </a:ext>
            </a:extLst>
          </p:cNvPr>
          <p:cNvSpPr txBox="1"/>
          <p:nvPr/>
        </p:nvSpPr>
        <p:spPr>
          <a:xfrm>
            <a:off x="2267374" y="4201295"/>
            <a:ext cx="5328592" cy="523220"/>
          </a:xfrm>
          <a:prstGeom prst="rect">
            <a:avLst/>
          </a:prstGeom>
          <a:noFill/>
        </p:spPr>
        <p:txBody>
          <a:bodyPr wrap="square">
            <a:spAutoFit/>
          </a:bodyPr>
          <a:lstStyle/>
          <a:p>
            <a:r>
              <a:rPr lang="en-US" altLang="zh-CN" sz="2800" b="1" dirty="0"/>
              <a:t>12.</a:t>
            </a:r>
            <a:r>
              <a:rPr lang="en-US" altLang="zh-CN" sz="2800" b="1" dirty="0">
                <a:solidFill>
                  <a:srgbClr val="FF0000"/>
                </a:solidFill>
              </a:rPr>
              <a:t>0</a:t>
            </a:r>
            <a:r>
              <a:rPr lang="en-US" altLang="zh-CN" sz="2800" b="1" dirty="0"/>
              <a:t>cm=12</a:t>
            </a:r>
            <a:r>
              <a:rPr lang="en-US" altLang="zh-CN" sz="2800" b="1" dirty="0">
                <a:solidFill>
                  <a:srgbClr val="FF0000"/>
                </a:solidFill>
              </a:rPr>
              <a:t>0</a:t>
            </a:r>
            <a:r>
              <a:rPr lang="en-US" altLang="zh-CN" sz="2800" b="1" dirty="0"/>
              <a:t>mm ≠ 0.1</a:t>
            </a:r>
            <a:r>
              <a:rPr lang="en-US" altLang="zh-CN" sz="2800" b="1" dirty="0">
                <a:solidFill>
                  <a:srgbClr val="FF0000"/>
                </a:solidFill>
              </a:rPr>
              <a:t>2</a:t>
            </a:r>
            <a:r>
              <a:rPr lang="en-US" altLang="zh-CN" sz="2800" b="1" dirty="0"/>
              <a:t>m</a:t>
            </a:r>
            <a:endParaRPr lang="zh-CN" altLang="en-US" sz="2800" dirty="0"/>
          </a:p>
        </p:txBody>
      </p:sp>
      <p:sp>
        <p:nvSpPr>
          <p:cNvPr id="15" name="TextBox 8">
            <a:extLst>
              <a:ext uri="{FF2B5EF4-FFF2-40B4-BE49-F238E27FC236}">
                <a16:creationId xmlns:a16="http://schemas.microsoft.com/office/drawing/2014/main" id="{AB194CE0-9757-4E40-831D-159BAECF9CDB}"/>
              </a:ext>
            </a:extLst>
          </p:cNvPr>
          <p:cNvSpPr txBox="1"/>
          <p:nvPr/>
        </p:nvSpPr>
        <p:spPr>
          <a:xfrm>
            <a:off x="2411390" y="4695842"/>
            <a:ext cx="1003801" cy="369332"/>
          </a:xfrm>
          <a:prstGeom prst="rect">
            <a:avLst/>
          </a:prstGeom>
          <a:noFill/>
        </p:spPr>
        <p:txBody>
          <a:bodyPr wrap="none" rtlCol="0">
            <a:spAutoFit/>
          </a:bodyPr>
          <a:lstStyle/>
          <a:p>
            <a:r>
              <a:rPr lang="en-US" altLang="zh-CN" b="1" dirty="0"/>
              <a:t>3 digit</a:t>
            </a:r>
            <a:endParaRPr lang="zh-CN" altLang="en-US" b="1" dirty="0"/>
          </a:p>
        </p:txBody>
      </p:sp>
      <p:sp>
        <p:nvSpPr>
          <p:cNvPr id="16" name="TextBox 9">
            <a:extLst>
              <a:ext uri="{FF2B5EF4-FFF2-40B4-BE49-F238E27FC236}">
                <a16:creationId xmlns:a16="http://schemas.microsoft.com/office/drawing/2014/main" id="{6DCA7021-D44A-43FA-9752-C7103AF78319}"/>
              </a:ext>
            </a:extLst>
          </p:cNvPr>
          <p:cNvSpPr txBox="1"/>
          <p:nvPr/>
        </p:nvSpPr>
        <p:spPr>
          <a:xfrm>
            <a:off x="3956409" y="4695842"/>
            <a:ext cx="861133" cy="369332"/>
          </a:xfrm>
          <a:prstGeom prst="rect">
            <a:avLst/>
          </a:prstGeom>
          <a:noFill/>
        </p:spPr>
        <p:txBody>
          <a:bodyPr wrap="none" rtlCol="0">
            <a:spAutoFit/>
          </a:bodyPr>
          <a:lstStyle/>
          <a:p>
            <a:r>
              <a:rPr lang="en-US" altLang="zh-CN" b="1" dirty="0"/>
              <a:t>3 digit</a:t>
            </a:r>
            <a:endParaRPr lang="zh-CN" altLang="en-US" b="1" dirty="0"/>
          </a:p>
        </p:txBody>
      </p:sp>
      <p:sp>
        <p:nvSpPr>
          <p:cNvPr id="18" name="TextBox 9">
            <a:extLst>
              <a:ext uri="{FF2B5EF4-FFF2-40B4-BE49-F238E27FC236}">
                <a16:creationId xmlns:a16="http://schemas.microsoft.com/office/drawing/2014/main" id="{26DE30DF-67F3-4753-91D9-563D16458359}"/>
              </a:ext>
            </a:extLst>
          </p:cNvPr>
          <p:cNvSpPr txBox="1"/>
          <p:nvPr/>
        </p:nvSpPr>
        <p:spPr>
          <a:xfrm>
            <a:off x="5474051" y="4724515"/>
            <a:ext cx="1003801" cy="369332"/>
          </a:xfrm>
          <a:prstGeom prst="rect">
            <a:avLst/>
          </a:prstGeom>
          <a:noFill/>
        </p:spPr>
        <p:txBody>
          <a:bodyPr wrap="none" rtlCol="0">
            <a:spAutoFit/>
          </a:bodyPr>
          <a:lstStyle/>
          <a:p>
            <a:r>
              <a:rPr lang="en-US" altLang="zh-CN" b="1" dirty="0"/>
              <a:t>2 digit</a:t>
            </a:r>
            <a:endParaRPr lang="zh-CN" altLang="en-US" b="1" dirty="0"/>
          </a:p>
        </p:txBody>
      </p:sp>
    </p:spTree>
    <p:extLst>
      <p:ext uri="{BB962C8B-B14F-4D97-AF65-F5344CB8AC3E}">
        <p14:creationId xmlns:p14="http://schemas.microsoft.com/office/powerpoint/2010/main" val="335528040"/>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ppt_x"/>
                                          </p:val>
                                        </p:tav>
                                        <p:tav tm="100000">
                                          <p:val>
                                            <p:strVal val="#ppt_x"/>
                                          </p:val>
                                        </p:tav>
                                      </p:tavLst>
                                    </p:anim>
                                    <p:anim calcmode="lin" valueType="num">
                                      <p:cBhvr additive="base">
                                        <p:cTn id="1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33E6EF59-382A-429A-8585-2F79BC965B4B}"/>
              </a:ext>
            </a:extLst>
          </p:cNvPr>
          <p:cNvSpPr txBox="1">
            <a:spLocks/>
          </p:cNvSpPr>
          <p:nvPr/>
        </p:nvSpPr>
        <p:spPr>
          <a:xfrm>
            <a:off x="628650" y="1340769"/>
            <a:ext cx="7886700" cy="2592288"/>
          </a:xfrm>
          <a:prstGeom prst="rect">
            <a:avLst/>
          </a:prstGeom>
        </p:spPr>
        <p:txBody>
          <a:bodyPr>
            <a:normAutofit/>
          </a:bodyPr>
          <a:lstStyle>
            <a:lvl1pPr marL="257175" indent="-257175"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1pPr>
            <a:lvl2pPr marL="557213" indent="-214313" algn="l" rtl="0" eaLnBrk="0" fontAlgn="base" hangingPunct="0">
              <a:spcBef>
                <a:spcPct val="20000"/>
              </a:spcBef>
              <a:spcAft>
                <a:spcPct val="0"/>
              </a:spcAft>
              <a:buFont typeface="Arial" charset="0"/>
              <a:buChar char="–"/>
              <a:defRPr sz="2100" kern="1200">
                <a:solidFill>
                  <a:schemeClr val="tx1"/>
                </a:solidFill>
                <a:latin typeface="Arial" charset="0"/>
                <a:ea typeface="+mn-ea"/>
                <a:cs typeface="+mn-cs"/>
              </a:defRPr>
            </a:lvl2pPr>
            <a:lvl3pPr marL="857250" indent="-171450" algn="l" rtl="0" eaLnBrk="0" fontAlgn="base" hangingPunct="0">
              <a:spcBef>
                <a:spcPct val="20000"/>
              </a:spcBef>
              <a:spcAft>
                <a:spcPct val="0"/>
              </a:spcAft>
              <a:buFont typeface="Arial" charset="0"/>
              <a:buChar char="•"/>
              <a:defRPr sz="1800" kern="1200">
                <a:solidFill>
                  <a:schemeClr val="tx1"/>
                </a:solidFill>
                <a:latin typeface="Arial" charset="0"/>
                <a:ea typeface="+mn-ea"/>
                <a:cs typeface="+mn-cs"/>
              </a:defRPr>
            </a:lvl3pPr>
            <a:lvl4pPr marL="12001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4pPr>
            <a:lvl5pPr marL="15430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gn="just"/>
            <a:r>
              <a:rPr lang="en-US" altLang="zh-CN" sz="1800" dirty="0"/>
              <a:t>Mathematical calculation(Addition,</a:t>
            </a:r>
            <a:r>
              <a:rPr lang="zh-CN" altLang="en-US" sz="1800" dirty="0"/>
              <a:t> </a:t>
            </a:r>
            <a:r>
              <a:rPr lang="en-US" altLang="zh-CN" sz="1800" dirty="0"/>
              <a:t>subtraction, Multiplication &amp; division) </a:t>
            </a:r>
          </a:p>
          <a:p>
            <a:pPr marL="177800" indent="0" algn="just">
              <a:buFont typeface="Arial" charset="0"/>
              <a:buNone/>
            </a:pPr>
            <a:r>
              <a:rPr lang="en-US" altLang="zh-CN" sz="1800" dirty="0"/>
              <a:t>The final result should contain the same significant figure as the </a:t>
            </a:r>
            <a:r>
              <a:rPr lang="en-US" altLang="zh-CN" sz="1800" dirty="0">
                <a:solidFill>
                  <a:srgbClr val="FF0000"/>
                </a:solidFill>
              </a:rPr>
              <a:t>least one </a:t>
            </a:r>
            <a:r>
              <a:rPr lang="en-US" altLang="zh-CN" sz="1800" dirty="0"/>
              <a:t>entering into a calculation.(</a:t>
            </a:r>
            <a:r>
              <a:rPr lang="zh-CN" altLang="en-US" sz="1800" dirty="0"/>
              <a:t>简单数学运算结果的有效数字只须与诸因子中有效数字最少的一个相同</a:t>
            </a:r>
            <a:r>
              <a:rPr lang="en-US" altLang="zh-CN" sz="1800" dirty="0"/>
              <a:t>)</a:t>
            </a:r>
            <a:r>
              <a:rPr lang="zh-CN" altLang="en-US" sz="1800" dirty="0"/>
              <a:t>。</a:t>
            </a:r>
            <a:endParaRPr lang="en-US" altLang="zh-CN" sz="1800" dirty="0"/>
          </a:p>
          <a:p>
            <a:pPr algn="just"/>
            <a:endParaRPr lang="zh-CN" altLang="en-US" sz="1800" dirty="0"/>
          </a:p>
        </p:txBody>
      </p:sp>
      <p:pic>
        <p:nvPicPr>
          <p:cNvPr id="3" name="图片 2">
            <a:extLst>
              <a:ext uri="{FF2B5EF4-FFF2-40B4-BE49-F238E27FC236}">
                <a16:creationId xmlns:a16="http://schemas.microsoft.com/office/drawing/2014/main" id="{1F8A663B-A093-4BDF-8C6B-FE21207607D5}"/>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313584" y="2768717"/>
            <a:ext cx="3048022" cy="1752613"/>
          </a:xfrm>
          <a:prstGeom prst="rect">
            <a:avLst/>
          </a:prstGeom>
        </p:spPr>
      </p:pic>
      <p:pic>
        <p:nvPicPr>
          <p:cNvPr id="4" name="图片 3">
            <a:extLst>
              <a:ext uri="{FF2B5EF4-FFF2-40B4-BE49-F238E27FC236}">
                <a16:creationId xmlns:a16="http://schemas.microsoft.com/office/drawing/2014/main" id="{F268C9B3-5564-45E3-A814-DE957BBFF545}"/>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710286" y="2675774"/>
            <a:ext cx="3456384" cy="1938501"/>
          </a:xfrm>
          <a:prstGeom prst="rect">
            <a:avLst/>
          </a:prstGeom>
        </p:spPr>
      </p:pic>
      <p:cxnSp>
        <p:nvCxnSpPr>
          <p:cNvPr id="5" name="直接连接符 4">
            <a:extLst>
              <a:ext uri="{FF2B5EF4-FFF2-40B4-BE49-F238E27FC236}">
                <a16:creationId xmlns:a16="http://schemas.microsoft.com/office/drawing/2014/main" id="{3DB8EE7C-92AF-4DC4-8D7B-7F32854BC4BE}"/>
              </a:ext>
            </a:extLst>
          </p:cNvPr>
          <p:cNvCxnSpPr/>
          <p:nvPr/>
        </p:nvCxnSpPr>
        <p:spPr>
          <a:xfrm flipH="1">
            <a:off x="2918943" y="457535"/>
            <a:ext cx="6225059"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6" name="圆角矩形 2">
            <a:extLst>
              <a:ext uri="{FF2B5EF4-FFF2-40B4-BE49-F238E27FC236}">
                <a16:creationId xmlns:a16="http://schemas.microsoft.com/office/drawing/2014/main" id="{B5B07EC2-7A0F-4A54-922D-D58C42B1CFEB}"/>
              </a:ext>
            </a:extLst>
          </p:cNvPr>
          <p:cNvSpPr/>
          <p:nvPr/>
        </p:nvSpPr>
        <p:spPr>
          <a:xfrm>
            <a:off x="742944" y="191230"/>
            <a:ext cx="2672245"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7" name="矩形 6">
            <a:extLst>
              <a:ext uri="{FF2B5EF4-FFF2-40B4-BE49-F238E27FC236}">
                <a16:creationId xmlns:a16="http://schemas.microsoft.com/office/drawing/2014/main" id="{18360E60-F2F0-4B66-8F62-A364FC675D8F}"/>
              </a:ext>
            </a:extLst>
          </p:cNvPr>
          <p:cNvSpPr/>
          <p:nvPr/>
        </p:nvSpPr>
        <p:spPr>
          <a:xfrm>
            <a:off x="827583" y="226702"/>
            <a:ext cx="2587607" cy="461665"/>
          </a:xfrm>
          <a:prstGeom prst="rect">
            <a:avLst/>
          </a:prstGeom>
        </p:spPr>
        <p:txBody>
          <a:bodyPr wrap="square">
            <a:spAutoFit/>
          </a:bodyPr>
          <a:lstStyle/>
          <a:p>
            <a:pPr defTabSz="913924"/>
            <a:r>
              <a:rPr lang="en-US" altLang="zh-CN" sz="2400" b="1" kern="0" dirty="0">
                <a:solidFill>
                  <a:srgbClr val="005A9E"/>
                </a:solidFill>
                <a:cs typeface="+mn-ea"/>
                <a:sym typeface="+mn-lt"/>
              </a:rPr>
              <a:t>Calculation Rule</a:t>
            </a:r>
            <a:endParaRPr lang="zh-CN" altLang="en-US" sz="2400" b="1" kern="0" dirty="0">
              <a:solidFill>
                <a:srgbClr val="005A9E"/>
              </a:solidFill>
              <a:cs typeface="+mn-ea"/>
              <a:sym typeface="+mn-lt"/>
            </a:endParaRPr>
          </a:p>
        </p:txBody>
      </p:sp>
      <p:grpSp>
        <p:nvGrpSpPr>
          <p:cNvPr id="8" name="Group 17">
            <a:extLst>
              <a:ext uri="{FF2B5EF4-FFF2-40B4-BE49-F238E27FC236}">
                <a16:creationId xmlns:a16="http://schemas.microsoft.com/office/drawing/2014/main" id="{0A007420-561A-4E06-AA4B-52B49AA4B824}"/>
              </a:ext>
            </a:extLst>
          </p:cNvPr>
          <p:cNvGrpSpPr>
            <a:grpSpLocks noChangeAspect="1"/>
          </p:cNvGrpSpPr>
          <p:nvPr/>
        </p:nvGrpSpPr>
        <p:grpSpPr bwMode="auto">
          <a:xfrm>
            <a:off x="179512" y="212152"/>
            <a:ext cx="457188" cy="490764"/>
            <a:chOff x="231" y="1205"/>
            <a:chExt cx="640" cy="687"/>
          </a:xfrm>
          <a:solidFill>
            <a:srgbClr val="005A9E"/>
          </a:solidFill>
          <a:effectLst/>
        </p:grpSpPr>
        <p:sp>
          <p:nvSpPr>
            <p:cNvPr id="9" name="Freeform 18">
              <a:extLst>
                <a:ext uri="{FF2B5EF4-FFF2-40B4-BE49-F238E27FC236}">
                  <a16:creationId xmlns:a16="http://schemas.microsoft.com/office/drawing/2014/main" id="{B558DFD8-81F7-47FE-AE1C-004723DF3437}"/>
                </a:ext>
              </a:extLst>
            </p:cNvPr>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10" name="Freeform 19">
              <a:extLst>
                <a:ext uri="{FF2B5EF4-FFF2-40B4-BE49-F238E27FC236}">
                  <a16:creationId xmlns:a16="http://schemas.microsoft.com/office/drawing/2014/main" id="{B98805FC-C417-4170-8EA1-4B6AC3E81586}"/>
                </a:ext>
              </a:extLst>
            </p:cNvPr>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spTree>
    <p:extLst>
      <p:ext uri="{BB962C8B-B14F-4D97-AF65-F5344CB8AC3E}">
        <p14:creationId xmlns:p14="http://schemas.microsoft.com/office/powerpoint/2010/main" val="3344489575"/>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a:cxnSpLocks/>
          </p:cNvCxnSpPr>
          <p:nvPr/>
        </p:nvCxnSpPr>
        <p:spPr>
          <a:xfrm>
            <a:off x="3700059" y="2462747"/>
            <a:ext cx="3776506" cy="0"/>
          </a:xfrm>
          <a:prstGeom prst="line">
            <a:avLst/>
          </a:prstGeom>
          <a:noFill/>
          <a:ln w="19050" cap="flat" cmpd="sng" algn="ctr">
            <a:solidFill>
              <a:srgbClr val="E7E6E6">
                <a:lumMod val="50000"/>
              </a:srgbClr>
            </a:solidFill>
            <a:prstDash val="sysDot"/>
            <a:miter lim="800000"/>
            <a:tailEnd type="oval"/>
          </a:ln>
          <a:effectLst/>
        </p:spPr>
      </p:cxnSp>
      <p:grpSp>
        <p:nvGrpSpPr>
          <p:cNvPr id="15" name="组合 14"/>
          <p:cNvGrpSpPr/>
          <p:nvPr/>
        </p:nvGrpSpPr>
        <p:grpSpPr>
          <a:xfrm>
            <a:off x="1136404" y="1629843"/>
            <a:ext cx="1837257" cy="1837257"/>
            <a:chOff x="1959919" y="2023759"/>
            <a:chExt cx="2773806" cy="2773806"/>
          </a:xfrm>
        </p:grpSpPr>
        <p:grpSp>
          <p:nvGrpSpPr>
            <p:cNvPr id="16" name="组合 15"/>
            <p:cNvGrpSpPr/>
            <p:nvPr/>
          </p:nvGrpSpPr>
          <p:grpSpPr>
            <a:xfrm>
              <a:off x="1959919" y="2023759"/>
              <a:ext cx="2773806" cy="2773806"/>
              <a:chOff x="2099081" y="2031187"/>
              <a:chExt cx="2739620" cy="2739620"/>
            </a:xfrm>
          </p:grpSpPr>
          <p:sp>
            <p:nvSpPr>
              <p:cNvPr id="19" name="椭圆 18"/>
              <p:cNvSpPr/>
              <p:nvPr/>
            </p:nvSpPr>
            <p:spPr>
              <a:xfrm>
                <a:off x="2099081" y="2031187"/>
                <a:ext cx="2739620" cy="2739620"/>
              </a:xfrm>
              <a:prstGeom prst="ellipse">
                <a:avLst/>
              </a:prstGeom>
              <a:gradFill flip="none" rotWithShape="1">
                <a:gsLst>
                  <a:gs pos="0">
                    <a:sysClr val="window" lastClr="FFFFFF">
                      <a:lumMod val="85000"/>
                    </a:sysClr>
                  </a:gs>
                  <a:gs pos="100000">
                    <a:sysClr val="window" lastClr="FFFFFF">
                      <a:alpha val="99000"/>
                    </a:sysClr>
                  </a:gs>
                </a:gsLst>
                <a:path path="circle">
                  <a:fillToRect l="100000" t="100000"/>
                </a:path>
                <a:tileRect r="-100000" b="-100000"/>
              </a:gradFill>
              <a:ln w="12700" cap="flat" cmpd="sng" algn="ctr">
                <a:noFill/>
                <a:prstDash val="solid"/>
                <a:miter lim="800000"/>
              </a:ln>
              <a:effectLst>
                <a:softEdge rad="101600"/>
              </a:effectLst>
            </p:spPr>
            <p:txBody>
              <a:bodyPr rtlCol="0" anchor="ctr"/>
              <a:lstStyle/>
              <a:p>
                <a:pPr algn="ctr">
                  <a:defRPr/>
                </a:pPr>
                <a:endParaRPr lang="zh-CN" altLang="en-US" kern="0">
                  <a:solidFill>
                    <a:sysClr val="window" lastClr="FFFFFF"/>
                  </a:solidFill>
                  <a:cs typeface="+mn-ea"/>
                  <a:sym typeface="+mn-lt"/>
                </a:endParaRPr>
              </a:p>
            </p:txBody>
          </p:sp>
          <p:sp>
            <p:nvSpPr>
              <p:cNvPr id="20" name="圆角矩形 19"/>
              <p:cNvSpPr/>
              <p:nvPr/>
            </p:nvSpPr>
            <p:spPr>
              <a:xfrm>
                <a:off x="2377216" y="2309322"/>
                <a:ext cx="2183348" cy="2183348"/>
              </a:xfrm>
              <a:prstGeom prst="roundRect">
                <a:avLst>
                  <a:gd name="adj" fmla="val 50000"/>
                </a:avLst>
              </a:prstGeom>
              <a:gradFill flip="none" rotWithShape="1">
                <a:gsLst>
                  <a:gs pos="100000">
                    <a:sysClr val="window" lastClr="FFFFFF"/>
                  </a:gs>
                  <a:gs pos="0">
                    <a:srgbClr val="B8BBBC"/>
                  </a:gs>
                </a:gsLst>
                <a:lin ang="5400000" scaled="0"/>
                <a:tileRect/>
              </a:gradFill>
              <a:ln w="12700" cap="flat" cmpd="sng" algn="ctr">
                <a:noFill/>
                <a:prstDash val="solid"/>
                <a:miter lim="800000"/>
              </a:ln>
              <a:effectLst/>
            </p:spPr>
            <p:txBody>
              <a:bodyPr rtlCol="0" anchor="ctr"/>
              <a:lstStyle/>
              <a:p>
                <a:pPr algn="ctr">
                  <a:defRPr/>
                </a:pPr>
                <a:endParaRPr lang="zh-CN" altLang="en-US" kern="0">
                  <a:solidFill>
                    <a:sysClr val="window" lastClr="FFFFFF"/>
                  </a:solidFill>
                  <a:cs typeface="+mn-ea"/>
                  <a:sym typeface="+mn-lt"/>
                </a:endParaRPr>
              </a:p>
            </p:txBody>
          </p:sp>
        </p:grpSp>
        <p:sp>
          <p:nvSpPr>
            <p:cNvPr id="17" name="椭圆 16"/>
            <p:cNvSpPr/>
            <p:nvPr/>
          </p:nvSpPr>
          <p:spPr>
            <a:xfrm>
              <a:off x="2510240" y="2574081"/>
              <a:ext cx="1673164" cy="1673161"/>
            </a:xfrm>
            <a:prstGeom prst="ellipse">
              <a:avLst/>
            </a:prstGeom>
            <a:solidFill>
              <a:schemeClr val="bg1">
                <a:lumMod val="65000"/>
              </a:schemeClr>
            </a:solidFill>
            <a:ln w="12700" cap="flat" cmpd="sng" algn="ctr">
              <a:noFill/>
              <a:prstDash val="solid"/>
              <a:miter lim="800000"/>
            </a:ln>
            <a:effectLst>
              <a:innerShdw blurRad="203200" dist="50800" dir="16200000">
                <a:prstClr val="black">
                  <a:alpha val="50000"/>
                </a:prstClr>
              </a:innerShdw>
            </a:effectLst>
          </p:spPr>
          <p:txBody>
            <a:bodyPr rtlCol="0" anchor="ctr"/>
            <a:lstStyle/>
            <a:p>
              <a:pPr algn="ctr">
                <a:defRPr/>
              </a:pPr>
              <a:endParaRPr lang="zh-CN" altLang="en-US" sz="9000" kern="0">
                <a:solidFill>
                  <a:sysClr val="window" lastClr="FFFFFF"/>
                </a:solidFill>
                <a:cs typeface="+mn-ea"/>
                <a:sym typeface="+mn-lt"/>
              </a:endParaRPr>
            </a:p>
          </p:txBody>
        </p:sp>
      </p:grpSp>
      <p:sp>
        <p:nvSpPr>
          <p:cNvPr id="21" name="矩形 20"/>
          <p:cNvSpPr/>
          <p:nvPr/>
        </p:nvSpPr>
        <p:spPr>
          <a:xfrm>
            <a:off x="3635896" y="1629843"/>
            <a:ext cx="3754874" cy="623248"/>
          </a:xfrm>
          <a:prstGeom prst="rect">
            <a:avLst/>
          </a:prstGeom>
        </p:spPr>
        <p:txBody>
          <a:bodyPr wrap="none" lIns="68580" tIns="34290" rIns="68580" bIns="34290">
            <a:spAutoFit/>
          </a:bodyPr>
          <a:lstStyle/>
          <a:p>
            <a:pPr defTabSz="913924">
              <a:defRPr/>
            </a:pPr>
            <a:r>
              <a:rPr lang="en-US" altLang="zh-CN" sz="3600" b="1" kern="0" dirty="0">
                <a:solidFill>
                  <a:srgbClr val="005A9E"/>
                </a:solidFill>
                <a:cs typeface="+mn-ea"/>
                <a:sym typeface="+mn-lt"/>
              </a:rPr>
              <a:t>Data Processing</a:t>
            </a:r>
            <a:endParaRPr lang="zh-CN" altLang="en-US" sz="3600" b="1" kern="0" dirty="0">
              <a:solidFill>
                <a:srgbClr val="005A9E"/>
              </a:solidFill>
              <a:cs typeface="+mn-ea"/>
              <a:sym typeface="+mn-lt"/>
            </a:endParaRPr>
          </a:p>
        </p:txBody>
      </p:sp>
      <p:cxnSp>
        <p:nvCxnSpPr>
          <p:cNvPr id="26" name="直接连接符 25"/>
          <p:cNvCxnSpPr/>
          <p:nvPr/>
        </p:nvCxnSpPr>
        <p:spPr>
          <a:xfrm flipV="1">
            <a:off x="3203848" y="1203598"/>
            <a:ext cx="0" cy="2808312"/>
          </a:xfrm>
          <a:prstGeom prst="line">
            <a:avLst/>
          </a:prstGeom>
          <a:noFill/>
          <a:ln w="12700" cap="flat" cmpd="sng" algn="ctr">
            <a:solidFill>
              <a:sysClr val="windowText" lastClr="000000"/>
            </a:solidFill>
            <a:prstDash val="dash"/>
          </a:ln>
          <a:effectLst/>
        </p:spPr>
      </p:cxnSp>
      <p:sp>
        <p:nvSpPr>
          <p:cNvPr id="27" name="矩形 26"/>
          <p:cNvSpPr/>
          <p:nvPr/>
        </p:nvSpPr>
        <p:spPr>
          <a:xfrm>
            <a:off x="0" y="5009752"/>
            <a:ext cx="9144000" cy="133747"/>
          </a:xfrm>
          <a:prstGeom prst="rect">
            <a:avLst/>
          </a:prstGeom>
          <a:solidFill>
            <a:srgbClr val="005A9E"/>
          </a:solidFill>
          <a:ln w="25400" cap="flat" cmpd="sng" algn="ctr">
            <a:no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28" name="TextBox 27"/>
          <p:cNvSpPr txBox="1"/>
          <p:nvPr/>
        </p:nvSpPr>
        <p:spPr>
          <a:xfrm>
            <a:off x="1729447" y="1881143"/>
            <a:ext cx="635927" cy="1323439"/>
          </a:xfrm>
          <a:prstGeom prst="rect">
            <a:avLst/>
          </a:prstGeom>
          <a:noFill/>
        </p:spPr>
        <p:txBody>
          <a:bodyPr wrap="square" rtlCol="0">
            <a:spAutoFit/>
          </a:bodyPr>
          <a:lstStyle/>
          <a:p>
            <a:pPr algn="ctr">
              <a:defRPr/>
            </a:pPr>
            <a:r>
              <a:rPr lang="en-US" altLang="zh-CN" sz="8000" b="1" kern="0" dirty="0">
                <a:solidFill>
                  <a:sysClr val="window" lastClr="FFFFFF"/>
                </a:solidFill>
                <a:cs typeface="+mn-ea"/>
                <a:sym typeface="+mn-lt"/>
              </a:rPr>
              <a:t>3</a:t>
            </a:r>
          </a:p>
        </p:txBody>
      </p:sp>
      <p:sp>
        <p:nvSpPr>
          <p:cNvPr id="29" name="矩形 28"/>
          <p:cNvSpPr/>
          <p:nvPr/>
        </p:nvSpPr>
        <p:spPr>
          <a:xfrm>
            <a:off x="3735758" y="2960241"/>
            <a:ext cx="2407069" cy="346249"/>
          </a:xfrm>
          <a:prstGeom prst="rect">
            <a:avLst/>
          </a:prstGeom>
        </p:spPr>
        <p:txBody>
          <a:bodyPr wrap="none" lIns="68580" tIns="34290" rIns="68580" bIns="34290">
            <a:spAutoFit/>
          </a:bodyPr>
          <a:lstStyle/>
          <a:p>
            <a:pPr marL="214313" indent="-214313">
              <a:buFont typeface="Wingdings" pitchFamily="2" charset="2"/>
              <a:buChar char="l"/>
            </a:pPr>
            <a:r>
              <a:rPr lang="en-US" altLang="zh-CN" b="1" kern="0" dirty="0">
                <a:solidFill>
                  <a:srgbClr val="005A9E"/>
                </a:solidFill>
                <a:cs typeface="+mn-ea"/>
                <a:sym typeface="+mn-lt"/>
              </a:rPr>
              <a:t>Tabulation Method</a:t>
            </a:r>
            <a:endParaRPr lang="zh-CN" altLang="en-US" kern="0" dirty="0">
              <a:solidFill>
                <a:sysClr val="window" lastClr="FFFFFF">
                  <a:lumMod val="50000"/>
                </a:sysClr>
              </a:solidFill>
              <a:cs typeface="+mn-ea"/>
              <a:sym typeface="+mn-lt"/>
            </a:endParaRPr>
          </a:p>
        </p:txBody>
      </p:sp>
      <p:sp>
        <p:nvSpPr>
          <p:cNvPr id="30" name="矩形 29"/>
          <p:cNvSpPr/>
          <p:nvPr/>
        </p:nvSpPr>
        <p:spPr>
          <a:xfrm>
            <a:off x="6420216" y="2972715"/>
            <a:ext cx="2304477" cy="346249"/>
          </a:xfrm>
          <a:prstGeom prst="rect">
            <a:avLst/>
          </a:prstGeom>
        </p:spPr>
        <p:txBody>
          <a:bodyPr wrap="none" lIns="68580" tIns="34290" rIns="68580" bIns="34290">
            <a:spAutoFit/>
          </a:bodyPr>
          <a:lstStyle/>
          <a:p>
            <a:pPr marL="214313" indent="-214313">
              <a:buFont typeface="Wingdings" pitchFamily="2" charset="2"/>
              <a:buChar char="l"/>
            </a:pPr>
            <a:r>
              <a:rPr lang="en-US" altLang="zh-CN" b="1" kern="0" dirty="0">
                <a:solidFill>
                  <a:srgbClr val="005A9E"/>
                </a:solidFill>
                <a:cs typeface="+mn-ea"/>
                <a:sym typeface="+mn-lt"/>
              </a:rPr>
              <a:t>Graphical Method</a:t>
            </a:r>
            <a:endParaRPr lang="zh-CN" altLang="en-US" kern="0" dirty="0">
              <a:solidFill>
                <a:sysClr val="window" lastClr="FFFFFF">
                  <a:lumMod val="50000"/>
                </a:sysClr>
              </a:solidFill>
              <a:cs typeface="+mn-ea"/>
              <a:sym typeface="+mn-lt"/>
            </a:endParaRPr>
          </a:p>
        </p:txBody>
      </p:sp>
      <p:sp>
        <p:nvSpPr>
          <p:cNvPr id="31" name="矩形 30"/>
          <p:cNvSpPr/>
          <p:nvPr/>
        </p:nvSpPr>
        <p:spPr>
          <a:xfrm>
            <a:off x="3735758" y="3273817"/>
            <a:ext cx="3689472" cy="346249"/>
          </a:xfrm>
          <a:prstGeom prst="rect">
            <a:avLst/>
          </a:prstGeom>
        </p:spPr>
        <p:txBody>
          <a:bodyPr wrap="none" lIns="68580" tIns="34290" rIns="68580" bIns="34290">
            <a:spAutoFit/>
          </a:bodyPr>
          <a:lstStyle/>
          <a:p>
            <a:pPr marL="214313" indent="-214313">
              <a:buFont typeface="Wingdings" pitchFamily="2" charset="2"/>
              <a:buChar char="l"/>
            </a:pPr>
            <a:r>
              <a:rPr lang="en-US" altLang="zh-CN" b="1" kern="0" dirty="0">
                <a:solidFill>
                  <a:srgbClr val="005A9E"/>
                </a:solidFill>
                <a:cs typeface="+mn-ea"/>
                <a:sym typeface="+mn-lt"/>
              </a:rPr>
              <a:t>Successive Difference Method</a:t>
            </a:r>
            <a:endParaRPr lang="zh-CN" altLang="en-US" kern="0" dirty="0">
              <a:solidFill>
                <a:sysClr val="window" lastClr="FFFFFF">
                  <a:lumMod val="50000"/>
                </a:sysClr>
              </a:solidFill>
              <a:cs typeface="+mn-ea"/>
              <a:sym typeface="+mn-lt"/>
            </a:endParaRPr>
          </a:p>
        </p:txBody>
      </p:sp>
    </p:spTree>
    <p:extLst>
      <p:ext uri="{BB962C8B-B14F-4D97-AF65-F5344CB8AC3E}">
        <p14:creationId xmlns:p14="http://schemas.microsoft.com/office/powerpoint/2010/main" val="3648331737"/>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38" presetClass="entr" presetSubtype="0" accel="50000" fill="hold" grpId="0" nodeType="withEffect">
                                  <p:stCondLst>
                                    <p:cond delay="0"/>
                                  </p:stCondLst>
                                  <p:iterate type="lt">
                                    <p:tmPct val="50000"/>
                                  </p:iterate>
                                  <p:childTnLst>
                                    <p:set>
                                      <p:cBhvr>
                                        <p:cTn id="11" dur="1" fill="hold">
                                          <p:stCondLst>
                                            <p:cond delay="0"/>
                                          </p:stCondLst>
                                        </p:cTn>
                                        <p:tgtEl>
                                          <p:spTgt spid="28"/>
                                        </p:tgtEl>
                                        <p:attrNameLst>
                                          <p:attrName>style.visibility</p:attrName>
                                        </p:attrNameLst>
                                      </p:cBhvr>
                                      <p:to>
                                        <p:strVal val="visible"/>
                                      </p:to>
                                    </p:set>
                                    <p:set>
                                      <p:cBhvr>
                                        <p:cTn id="12" dur="364" fill="hold">
                                          <p:stCondLst>
                                            <p:cond delay="0"/>
                                          </p:stCondLst>
                                        </p:cTn>
                                        <p:tgtEl>
                                          <p:spTgt spid="28"/>
                                        </p:tgtEl>
                                        <p:attrNameLst>
                                          <p:attrName>style.rotation</p:attrName>
                                        </p:attrNameLst>
                                      </p:cBhvr>
                                      <p:to>
                                        <p:strVal val="-45.0"/>
                                      </p:to>
                                    </p:set>
                                    <p:anim calcmode="lin" valueType="num">
                                      <p:cBhvr>
                                        <p:cTn id="13" dur="364" fill="hold">
                                          <p:stCondLst>
                                            <p:cond delay="364"/>
                                          </p:stCondLst>
                                        </p:cTn>
                                        <p:tgtEl>
                                          <p:spTgt spid="28"/>
                                        </p:tgtEl>
                                        <p:attrNameLst>
                                          <p:attrName>style.rotation</p:attrName>
                                        </p:attrNameLst>
                                      </p:cBhvr>
                                      <p:tavLst>
                                        <p:tav tm="0">
                                          <p:val>
                                            <p:fltVal val="-45"/>
                                          </p:val>
                                        </p:tav>
                                        <p:tav tm="69900">
                                          <p:val>
                                            <p:fltVal val="45"/>
                                          </p:val>
                                        </p:tav>
                                        <p:tav tm="100000">
                                          <p:val>
                                            <p:fltVal val="0"/>
                                          </p:val>
                                        </p:tav>
                                      </p:tavLst>
                                    </p:anim>
                                    <p:anim calcmode="lin" valueType="num">
                                      <p:cBhvr>
                                        <p:cTn id="14" dur="364" fill="hold">
                                          <p:stCondLst>
                                            <p:cond delay="0"/>
                                          </p:stCondLst>
                                        </p:cTn>
                                        <p:tgtEl>
                                          <p:spTgt spid="28"/>
                                        </p:tgtEl>
                                        <p:attrNameLst>
                                          <p:attrName>ppt_y</p:attrName>
                                        </p:attrNameLst>
                                      </p:cBhvr>
                                      <p:tavLst>
                                        <p:tav tm="0">
                                          <p:val>
                                            <p:strVal val="#ppt_y-1"/>
                                          </p:val>
                                        </p:tav>
                                        <p:tav tm="100000">
                                          <p:val>
                                            <p:strVal val="#ppt_y-(0.354*#ppt_w-0.172*#ppt_h)"/>
                                          </p:val>
                                        </p:tav>
                                      </p:tavLst>
                                    </p:anim>
                                    <p:anim calcmode="lin" valueType="num">
                                      <p:cBhvr>
                                        <p:cTn id="15" dur="125" decel="50000" autoRev="1" fill="hold">
                                          <p:stCondLst>
                                            <p:cond delay="364"/>
                                          </p:stCondLst>
                                        </p:cTn>
                                        <p:tgtEl>
                                          <p:spTgt spid="28"/>
                                        </p:tgtEl>
                                        <p:attrNameLst>
                                          <p:attrName>ppt_y</p:attrName>
                                        </p:attrNameLst>
                                      </p:cBhvr>
                                      <p:tavLst>
                                        <p:tav tm="0">
                                          <p:val>
                                            <p:strVal val="#ppt_y-(0.354*#ppt_w-0.172*#ppt_h)"/>
                                          </p:val>
                                        </p:tav>
                                        <p:tav tm="100000">
                                          <p:val>
                                            <p:strVal val="#ppt_y-(0.354*#ppt_w-0.172*#ppt_h)-#ppt_h/2"/>
                                          </p:val>
                                        </p:tav>
                                      </p:tavLst>
                                    </p:anim>
                                    <p:anim calcmode="lin" valueType="num">
                                      <p:cBhvr>
                                        <p:cTn id="16" dur="109" fill="hold">
                                          <p:stCondLst>
                                            <p:cond delay="691"/>
                                          </p:stCondLst>
                                        </p:cTn>
                                        <p:tgtEl>
                                          <p:spTgt spid="28"/>
                                        </p:tgtEl>
                                        <p:attrNameLst>
                                          <p:attrName>ppt_y</p:attrName>
                                        </p:attrNameLst>
                                      </p:cBhvr>
                                      <p:tavLst>
                                        <p:tav tm="0">
                                          <p:val>
                                            <p:strVal val="#ppt_y-(0.354*#ppt_w-0.172*#ppt_h)"/>
                                          </p:val>
                                        </p:tav>
                                        <p:tav tm="100000">
                                          <p:val>
                                            <p:strVal val="#ppt_y"/>
                                          </p:val>
                                        </p:tav>
                                      </p:tavLst>
                                    </p:anim>
                                  </p:childTnLst>
                                </p:cTn>
                              </p:par>
                              <p:par>
                                <p:cTn id="17" presetID="22" presetClass="entr" presetSubtype="4"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down)">
                                      <p:cBhvr>
                                        <p:cTn id="19" dur="500"/>
                                        <p:tgtEl>
                                          <p:spTgt spid="26"/>
                                        </p:tgtEl>
                                      </p:cBhvr>
                                    </p:animEffect>
                                  </p:childTnLst>
                                </p:cTn>
                              </p:par>
                            </p:childTnLst>
                          </p:cTn>
                        </p:par>
                        <p:par>
                          <p:cTn id="20" fill="hold">
                            <p:stCondLst>
                              <p:cond delay="800"/>
                            </p:stCondLst>
                            <p:childTnLst>
                              <p:par>
                                <p:cTn id="21" presetID="22" presetClass="entr" presetSubtype="8" fill="hold"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left)">
                                      <p:cBhvr>
                                        <p:cTn id="23" dur="500"/>
                                        <p:tgtEl>
                                          <p:spTgt spid="14"/>
                                        </p:tgtEl>
                                      </p:cBhvr>
                                    </p:animEffect>
                                  </p:childTnLst>
                                </p:cTn>
                              </p:par>
                            </p:childTnLst>
                          </p:cTn>
                        </p:par>
                        <p:par>
                          <p:cTn id="24" fill="hold">
                            <p:stCondLst>
                              <p:cond delay="1300"/>
                            </p:stCondLst>
                            <p:childTnLst>
                              <p:par>
                                <p:cTn id="25" presetID="2" presetClass="entr" presetSubtype="2" decel="100000" fill="hold" grpId="0" nodeType="afterEffect">
                                  <p:stCondLst>
                                    <p:cond delay="0"/>
                                  </p:stCondLst>
                                  <p:iterate type="lt">
                                    <p:tmPct val="10000"/>
                                  </p:iterate>
                                  <p:childTnLst>
                                    <p:set>
                                      <p:cBhvr>
                                        <p:cTn id="26" dur="1" fill="hold">
                                          <p:stCondLst>
                                            <p:cond delay="0"/>
                                          </p:stCondLst>
                                        </p:cTn>
                                        <p:tgtEl>
                                          <p:spTgt spid="21"/>
                                        </p:tgtEl>
                                        <p:attrNameLst>
                                          <p:attrName>style.visibility</p:attrName>
                                        </p:attrNameLst>
                                      </p:cBhvr>
                                      <p:to>
                                        <p:strVal val="visible"/>
                                      </p:to>
                                    </p:set>
                                    <p:anim calcmode="lin" valueType="num">
                                      <p:cBhvr additive="base">
                                        <p:cTn id="27" dur="500" fill="hold"/>
                                        <p:tgtEl>
                                          <p:spTgt spid="21"/>
                                        </p:tgtEl>
                                        <p:attrNameLst>
                                          <p:attrName>ppt_x</p:attrName>
                                        </p:attrNameLst>
                                      </p:cBhvr>
                                      <p:tavLst>
                                        <p:tav tm="0">
                                          <p:val>
                                            <p:strVal val="1+#ppt_w/2"/>
                                          </p:val>
                                        </p:tav>
                                        <p:tav tm="100000">
                                          <p:val>
                                            <p:strVal val="#ppt_x"/>
                                          </p:val>
                                        </p:tav>
                                      </p:tavLst>
                                    </p:anim>
                                    <p:anim calcmode="lin" valueType="num">
                                      <p:cBhvr additive="base">
                                        <p:cTn id="28" dur="500" fill="hold"/>
                                        <p:tgtEl>
                                          <p:spTgt spid="21"/>
                                        </p:tgtEl>
                                        <p:attrNameLst>
                                          <p:attrName>ppt_y</p:attrName>
                                        </p:attrNameLst>
                                      </p:cBhvr>
                                      <p:tavLst>
                                        <p:tav tm="0">
                                          <p:val>
                                            <p:strVal val="#ppt_y"/>
                                          </p:val>
                                        </p:tav>
                                        <p:tav tm="100000">
                                          <p:val>
                                            <p:strVal val="#ppt_y"/>
                                          </p:val>
                                        </p:tav>
                                      </p:tavLst>
                                    </p:anim>
                                  </p:childTnLst>
                                </p:cTn>
                              </p:par>
                            </p:childTnLst>
                          </p:cTn>
                        </p:par>
                        <p:par>
                          <p:cTn id="29" fill="hold">
                            <p:stCondLst>
                              <p:cond delay="2450"/>
                            </p:stCondLst>
                            <p:childTnLst>
                              <p:par>
                                <p:cTn id="30" presetID="50" presetClass="entr" presetSubtype="0" decel="100000" fill="hold" grpId="0" nodeType="afterEffect">
                                  <p:stCondLst>
                                    <p:cond delay="0"/>
                                  </p:stCondLst>
                                  <p:childTnLst>
                                    <p:set>
                                      <p:cBhvr>
                                        <p:cTn id="31" dur="1" fill="hold">
                                          <p:stCondLst>
                                            <p:cond delay="0"/>
                                          </p:stCondLst>
                                        </p:cTn>
                                        <p:tgtEl>
                                          <p:spTgt spid="29"/>
                                        </p:tgtEl>
                                        <p:attrNameLst>
                                          <p:attrName>style.visibility</p:attrName>
                                        </p:attrNameLst>
                                      </p:cBhvr>
                                      <p:to>
                                        <p:strVal val="visible"/>
                                      </p:to>
                                    </p:set>
                                    <p:anim calcmode="lin" valueType="num">
                                      <p:cBhvr>
                                        <p:cTn id="32" dur="1000" fill="hold"/>
                                        <p:tgtEl>
                                          <p:spTgt spid="29"/>
                                        </p:tgtEl>
                                        <p:attrNameLst>
                                          <p:attrName>ppt_w</p:attrName>
                                        </p:attrNameLst>
                                      </p:cBhvr>
                                      <p:tavLst>
                                        <p:tav tm="0">
                                          <p:val>
                                            <p:strVal val="#ppt_w+.3"/>
                                          </p:val>
                                        </p:tav>
                                        <p:tav tm="100000">
                                          <p:val>
                                            <p:strVal val="#ppt_w"/>
                                          </p:val>
                                        </p:tav>
                                      </p:tavLst>
                                    </p:anim>
                                    <p:anim calcmode="lin" valueType="num">
                                      <p:cBhvr>
                                        <p:cTn id="33" dur="1000" fill="hold"/>
                                        <p:tgtEl>
                                          <p:spTgt spid="29"/>
                                        </p:tgtEl>
                                        <p:attrNameLst>
                                          <p:attrName>ppt_h</p:attrName>
                                        </p:attrNameLst>
                                      </p:cBhvr>
                                      <p:tavLst>
                                        <p:tav tm="0">
                                          <p:val>
                                            <p:strVal val="#ppt_h"/>
                                          </p:val>
                                        </p:tav>
                                        <p:tav tm="100000">
                                          <p:val>
                                            <p:strVal val="#ppt_h"/>
                                          </p:val>
                                        </p:tav>
                                      </p:tavLst>
                                    </p:anim>
                                    <p:animEffect transition="in" filter="fade">
                                      <p:cBhvr>
                                        <p:cTn id="34" dur="1000"/>
                                        <p:tgtEl>
                                          <p:spTgt spid="29"/>
                                        </p:tgtEl>
                                      </p:cBhvr>
                                    </p:animEffect>
                                  </p:childTnLst>
                                </p:cTn>
                              </p:par>
                              <p:par>
                                <p:cTn id="35" presetID="50" presetClass="entr" presetSubtype="0" decel="100000" fill="hold" grpId="0" nodeType="withEffect">
                                  <p:stCondLst>
                                    <p:cond delay="450"/>
                                  </p:stCondLst>
                                  <p:childTnLst>
                                    <p:set>
                                      <p:cBhvr>
                                        <p:cTn id="36" dur="1" fill="hold">
                                          <p:stCondLst>
                                            <p:cond delay="0"/>
                                          </p:stCondLst>
                                        </p:cTn>
                                        <p:tgtEl>
                                          <p:spTgt spid="30"/>
                                        </p:tgtEl>
                                        <p:attrNameLst>
                                          <p:attrName>style.visibility</p:attrName>
                                        </p:attrNameLst>
                                      </p:cBhvr>
                                      <p:to>
                                        <p:strVal val="visible"/>
                                      </p:to>
                                    </p:set>
                                    <p:anim calcmode="lin" valueType="num">
                                      <p:cBhvr>
                                        <p:cTn id="37" dur="1000" fill="hold"/>
                                        <p:tgtEl>
                                          <p:spTgt spid="30"/>
                                        </p:tgtEl>
                                        <p:attrNameLst>
                                          <p:attrName>ppt_w</p:attrName>
                                        </p:attrNameLst>
                                      </p:cBhvr>
                                      <p:tavLst>
                                        <p:tav tm="0">
                                          <p:val>
                                            <p:strVal val="#ppt_w+.3"/>
                                          </p:val>
                                        </p:tav>
                                        <p:tav tm="100000">
                                          <p:val>
                                            <p:strVal val="#ppt_w"/>
                                          </p:val>
                                        </p:tav>
                                      </p:tavLst>
                                    </p:anim>
                                    <p:anim calcmode="lin" valueType="num">
                                      <p:cBhvr>
                                        <p:cTn id="38" dur="1000" fill="hold"/>
                                        <p:tgtEl>
                                          <p:spTgt spid="30"/>
                                        </p:tgtEl>
                                        <p:attrNameLst>
                                          <p:attrName>ppt_h</p:attrName>
                                        </p:attrNameLst>
                                      </p:cBhvr>
                                      <p:tavLst>
                                        <p:tav tm="0">
                                          <p:val>
                                            <p:strVal val="#ppt_h"/>
                                          </p:val>
                                        </p:tav>
                                        <p:tav tm="100000">
                                          <p:val>
                                            <p:strVal val="#ppt_h"/>
                                          </p:val>
                                        </p:tav>
                                      </p:tavLst>
                                    </p:anim>
                                    <p:animEffect transition="in" filter="fade">
                                      <p:cBhvr>
                                        <p:cTn id="39" dur="1000"/>
                                        <p:tgtEl>
                                          <p:spTgt spid="30"/>
                                        </p:tgtEl>
                                      </p:cBhvr>
                                    </p:animEffect>
                                  </p:childTnLst>
                                </p:cTn>
                              </p:par>
                              <p:par>
                                <p:cTn id="40" presetID="50" presetClass="entr" presetSubtype="0" decel="100000" fill="hold" grpId="0" nodeType="withEffect">
                                  <p:stCondLst>
                                    <p:cond delay="850"/>
                                  </p:stCondLst>
                                  <p:childTnLst>
                                    <p:set>
                                      <p:cBhvr>
                                        <p:cTn id="41" dur="1" fill="hold">
                                          <p:stCondLst>
                                            <p:cond delay="0"/>
                                          </p:stCondLst>
                                        </p:cTn>
                                        <p:tgtEl>
                                          <p:spTgt spid="31"/>
                                        </p:tgtEl>
                                        <p:attrNameLst>
                                          <p:attrName>style.visibility</p:attrName>
                                        </p:attrNameLst>
                                      </p:cBhvr>
                                      <p:to>
                                        <p:strVal val="visible"/>
                                      </p:to>
                                    </p:set>
                                    <p:anim calcmode="lin" valueType="num">
                                      <p:cBhvr>
                                        <p:cTn id="42" dur="1000" fill="hold"/>
                                        <p:tgtEl>
                                          <p:spTgt spid="31"/>
                                        </p:tgtEl>
                                        <p:attrNameLst>
                                          <p:attrName>ppt_w</p:attrName>
                                        </p:attrNameLst>
                                      </p:cBhvr>
                                      <p:tavLst>
                                        <p:tav tm="0">
                                          <p:val>
                                            <p:strVal val="#ppt_w+.3"/>
                                          </p:val>
                                        </p:tav>
                                        <p:tav tm="100000">
                                          <p:val>
                                            <p:strVal val="#ppt_w"/>
                                          </p:val>
                                        </p:tav>
                                      </p:tavLst>
                                    </p:anim>
                                    <p:anim calcmode="lin" valueType="num">
                                      <p:cBhvr>
                                        <p:cTn id="43" dur="1000" fill="hold"/>
                                        <p:tgtEl>
                                          <p:spTgt spid="31"/>
                                        </p:tgtEl>
                                        <p:attrNameLst>
                                          <p:attrName>ppt_h</p:attrName>
                                        </p:attrNameLst>
                                      </p:cBhvr>
                                      <p:tavLst>
                                        <p:tav tm="0">
                                          <p:val>
                                            <p:strVal val="#ppt_h"/>
                                          </p:val>
                                        </p:tav>
                                        <p:tav tm="100000">
                                          <p:val>
                                            <p:strVal val="#ppt_h"/>
                                          </p:val>
                                        </p:tav>
                                      </p:tavLst>
                                    </p:anim>
                                    <p:animEffect transition="in" filter="fade">
                                      <p:cBhvr>
                                        <p:cTn id="44"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8" grpId="0"/>
      <p:bldP spid="29" grpId="0"/>
      <p:bldP spid="30" grpId="0"/>
      <p:bldP spid="3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flipH="1">
            <a:off x="2918943" y="457535"/>
            <a:ext cx="6225059"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 name="圆角矩形 2"/>
          <p:cNvSpPr/>
          <p:nvPr/>
        </p:nvSpPr>
        <p:spPr>
          <a:xfrm>
            <a:off x="742944" y="191230"/>
            <a:ext cx="4546232"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4" name="矩形 3"/>
          <p:cNvSpPr/>
          <p:nvPr/>
        </p:nvSpPr>
        <p:spPr>
          <a:xfrm>
            <a:off x="817669" y="238250"/>
            <a:ext cx="4540025" cy="461665"/>
          </a:xfrm>
          <a:prstGeom prst="rect">
            <a:avLst/>
          </a:prstGeom>
        </p:spPr>
        <p:txBody>
          <a:bodyPr wrap="none">
            <a:spAutoFit/>
          </a:bodyPr>
          <a:lstStyle/>
          <a:p>
            <a:pPr defTabSz="913924"/>
            <a:r>
              <a:rPr lang="en-US" altLang="zh-CN" sz="2400" b="1" kern="0" dirty="0">
                <a:solidFill>
                  <a:srgbClr val="005A9E"/>
                </a:solidFill>
                <a:cs typeface="+mn-ea"/>
                <a:sym typeface="+mn-lt"/>
              </a:rPr>
              <a:t>Tabulation Method </a:t>
            </a:r>
            <a:r>
              <a:rPr lang="zh-CN" altLang="en-US" sz="2400" b="1" kern="0" dirty="0">
                <a:solidFill>
                  <a:srgbClr val="005A9E"/>
                </a:solidFill>
                <a:cs typeface="+mn-ea"/>
                <a:sym typeface="+mn-lt"/>
              </a:rPr>
              <a:t>（列表法）</a:t>
            </a:r>
          </a:p>
        </p:txBody>
      </p:sp>
      <p:grpSp>
        <p:nvGrpSpPr>
          <p:cNvPr id="5" name="Group 17"/>
          <p:cNvGrpSpPr>
            <a:grpSpLocks noChangeAspect="1"/>
          </p:cNvGrpSpPr>
          <p:nvPr/>
        </p:nvGrpSpPr>
        <p:grpSpPr bwMode="auto">
          <a:xfrm>
            <a:off x="179512" y="212152"/>
            <a:ext cx="457188" cy="490764"/>
            <a:chOff x="231" y="1205"/>
            <a:chExt cx="640" cy="687"/>
          </a:xfrm>
          <a:solidFill>
            <a:srgbClr val="005A9E"/>
          </a:solidFill>
          <a:effectLst/>
        </p:grpSpPr>
        <p:sp>
          <p:nvSpPr>
            <p:cNvPr id="6" name="Freeform 18"/>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7"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sp>
        <p:nvSpPr>
          <p:cNvPr id="9" name="Rectangle 8">
            <a:extLst>
              <a:ext uri="{FF2B5EF4-FFF2-40B4-BE49-F238E27FC236}">
                <a16:creationId xmlns:a16="http://schemas.microsoft.com/office/drawing/2014/main" id="{1B3EAEC3-625E-431E-883D-0FC247248D40}"/>
              </a:ext>
            </a:extLst>
          </p:cNvPr>
          <p:cNvSpPr/>
          <p:nvPr/>
        </p:nvSpPr>
        <p:spPr>
          <a:xfrm>
            <a:off x="6695728" y="138386"/>
            <a:ext cx="2448272" cy="1444370"/>
          </a:xfrm>
          <a:prstGeom prst="rect">
            <a:avLst/>
          </a:prstGeom>
        </p:spPr>
        <p:txBody>
          <a:bodyPr wrap="square">
            <a:spAutoFit/>
          </a:bodyPr>
          <a:lstStyle/>
          <a:p>
            <a:pPr algn="r">
              <a:lnSpc>
                <a:spcPct val="150000"/>
              </a:lnSpc>
            </a:pPr>
            <a:r>
              <a:rPr lang="zh-CN" altLang="en-US" sz="1200" b="1" dirty="0">
                <a:solidFill>
                  <a:srgbClr val="0033CC"/>
                </a:solidFill>
                <a:ea typeface="楷体_GB2312" pitchFamily="49" charset="-122"/>
              </a:rPr>
              <a:t> 要求：  </a:t>
            </a:r>
            <a:endParaRPr lang="en-US" altLang="zh-CN" sz="1200" b="1" dirty="0">
              <a:solidFill>
                <a:srgbClr val="0033CC"/>
              </a:solidFill>
              <a:ea typeface="楷体_GB2312" pitchFamily="49" charset="-122"/>
            </a:endParaRPr>
          </a:p>
          <a:p>
            <a:pPr algn="r">
              <a:lnSpc>
                <a:spcPct val="150000"/>
              </a:lnSpc>
            </a:pPr>
            <a:r>
              <a:rPr lang="zh-CN" altLang="en-US" sz="1200" b="1" dirty="0">
                <a:ea typeface="楷体_GB2312" pitchFamily="49" charset="-122"/>
              </a:rPr>
              <a:t>简单明了</a:t>
            </a:r>
          </a:p>
          <a:p>
            <a:pPr algn="r">
              <a:lnSpc>
                <a:spcPct val="150000"/>
              </a:lnSpc>
            </a:pPr>
            <a:r>
              <a:rPr lang="zh-CN" altLang="en-US" sz="1200" b="1" dirty="0">
                <a:ea typeface="楷体_GB2312" pitchFamily="49" charset="-122"/>
              </a:rPr>
              <a:t>标明物理量的含义、单位</a:t>
            </a:r>
          </a:p>
          <a:p>
            <a:pPr algn="r">
              <a:lnSpc>
                <a:spcPct val="150000"/>
              </a:lnSpc>
            </a:pPr>
            <a:r>
              <a:rPr lang="zh-CN" altLang="en-US" sz="1200" b="1" dirty="0">
                <a:ea typeface="楷体_GB2312" pitchFamily="49" charset="-122"/>
              </a:rPr>
              <a:t>表中的数据是有效数据</a:t>
            </a:r>
            <a:endParaRPr lang="en-US" altLang="zh-CN" sz="1200" b="1" dirty="0">
              <a:ea typeface="楷体_GB2312" pitchFamily="49" charset="-122"/>
            </a:endParaRPr>
          </a:p>
          <a:p>
            <a:pPr algn="r">
              <a:lnSpc>
                <a:spcPct val="150000"/>
              </a:lnSpc>
            </a:pPr>
            <a:r>
              <a:rPr lang="zh-CN" altLang="en-US" sz="1200" b="1" dirty="0">
                <a:ea typeface="楷体_GB2312" pitchFamily="49" charset="-122"/>
              </a:rPr>
              <a:t>必要的文字说明</a:t>
            </a:r>
            <a:endParaRPr lang="zh-CN" altLang="en-US" sz="1200" dirty="0"/>
          </a:p>
        </p:txBody>
      </p:sp>
      <p:sp>
        <p:nvSpPr>
          <p:cNvPr id="10" name="内容占位符 2">
            <a:extLst>
              <a:ext uri="{FF2B5EF4-FFF2-40B4-BE49-F238E27FC236}">
                <a16:creationId xmlns:a16="http://schemas.microsoft.com/office/drawing/2014/main" id="{E92E02E5-B0B9-457D-B83C-3C8EA1CBD35E}"/>
              </a:ext>
            </a:extLst>
          </p:cNvPr>
          <p:cNvSpPr txBox="1">
            <a:spLocks/>
          </p:cNvSpPr>
          <p:nvPr/>
        </p:nvSpPr>
        <p:spPr>
          <a:xfrm>
            <a:off x="481327" y="915986"/>
            <a:ext cx="8250863" cy="2880320"/>
          </a:xfrm>
          <a:prstGeom prst="rect">
            <a:avLst/>
          </a:prstGeom>
        </p:spPr>
        <p:txBody>
          <a:bodyPr>
            <a:normAutofit/>
          </a:bodyPr>
          <a:lstStyle>
            <a:lvl1pPr marL="257175" indent="-257175"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1pPr>
            <a:lvl2pPr marL="557213" indent="-214313" algn="l" rtl="0" eaLnBrk="0" fontAlgn="base" hangingPunct="0">
              <a:spcBef>
                <a:spcPct val="20000"/>
              </a:spcBef>
              <a:spcAft>
                <a:spcPct val="0"/>
              </a:spcAft>
              <a:buFont typeface="Arial" charset="0"/>
              <a:buChar char="–"/>
              <a:defRPr sz="2100" kern="1200">
                <a:solidFill>
                  <a:schemeClr val="tx1"/>
                </a:solidFill>
                <a:latin typeface="Arial" charset="0"/>
                <a:ea typeface="+mn-ea"/>
                <a:cs typeface="+mn-cs"/>
              </a:defRPr>
            </a:lvl2pPr>
            <a:lvl3pPr marL="857250" indent="-171450" algn="l" rtl="0" eaLnBrk="0" fontAlgn="base" hangingPunct="0">
              <a:spcBef>
                <a:spcPct val="20000"/>
              </a:spcBef>
              <a:spcAft>
                <a:spcPct val="0"/>
              </a:spcAft>
              <a:buFont typeface="Arial" charset="0"/>
              <a:buChar char="•"/>
              <a:defRPr sz="1800" kern="1200">
                <a:solidFill>
                  <a:schemeClr val="tx1"/>
                </a:solidFill>
                <a:latin typeface="Arial" charset="0"/>
                <a:ea typeface="+mn-ea"/>
                <a:cs typeface="+mn-cs"/>
              </a:defRPr>
            </a:lvl3pPr>
            <a:lvl4pPr marL="12001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4pPr>
            <a:lvl5pPr marL="15430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60363" indent="-360363">
              <a:lnSpc>
                <a:spcPct val="120000"/>
              </a:lnSpc>
              <a:buFont typeface="+mj-lt"/>
              <a:buAutoNum type="arabicPeriod"/>
            </a:pPr>
            <a:r>
              <a:rPr lang="en-US" altLang="zh-CN" sz="1800" dirty="0"/>
              <a:t>All tables must have a title</a:t>
            </a:r>
            <a:r>
              <a:rPr lang="zh-CN" altLang="en-US" sz="1800" dirty="0"/>
              <a:t>（表头）</a:t>
            </a:r>
            <a:r>
              <a:rPr lang="en-US" altLang="zh-CN" sz="1800" dirty="0"/>
              <a:t>.</a:t>
            </a:r>
          </a:p>
          <a:p>
            <a:pPr marL="360363" indent="-360363">
              <a:lnSpc>
                <a:spcPct val="120000"/>
              </a:lnSpc>
              <a:buFont typeface="+mj-lt"/>
              <a:buAutoNum type="arabicPeriod"/>
            </a:pPr>
            <a:r>
              <a:rPr lang="en-US" altLang="zh-CN" sz="1800" dirty="0"/>
              <a:t>All the data in the table(s) should be original.</a:t>
            </a:r>
            <a:r>
              <a:rPr lang="zh-CN" altLang="en-US" sz="1800" dirty="0"/>
              <a:t>（原始数据）</a:t>
            </a:r>
            <a:endParaRPr lang="en-US" altLang="zh-CN" sz="1800" dirty="0"/>
          </a:p>
          <a:p>
            <a:pPr marL="360363" indent="-360363">
              <a:lnSpc>
                <a:spcPct val="120000"/>
              </a:lnSpc>
              <a:buFont typeface="+mj-lt"/>
              <a:buAutoNum type="arabicPeriod"/>
            </a:pPr>
            <a:r>
              <a:rPr lang="en-US" altLang="zh-CN" sz="1800" dirty="0"/>
              <a:t>Quantities and units should be showed.</a:t>
            </a:r>
            <a:r>
              <a:rPr lang="zh-CN" altLang="en-US" sz="1800" dirty="0"/>
              <a:t>（物理量</a:t>
            </a:r>
            <a:r>
              <a:rPr lang="en-US" altLang="zh-CN" sz="1800" dirty="0"/>
              <a:t>&amp;</a:t>
            </a:r>
            <a:r>
              <a:rPr lang="zh-CN" altLang="en-US" sz="1800" dirty="0"/>
              <a:t>单位）</a:t>
            </a:r>
            <a:endParaRPr lang="en-US" altLang="zh-CN" sz="1800" dirty="0"/>
          </a:p>
          <a:p>
            <a:pPr marL="360363" indent="-360363">
              <a:lnSpc>
                <a:spcPct val="120000"/>
              </a:lnSpc>
              <a:buFont typeface="+mj-lt"/>
              <a:buAutoNum type="arabicPeriod"/>
            </a:pPr>
            <a:r>
              <a:rPr lang="en-US" altLang="zh-CN" sz="1800" dirty="0"/>
              <a:t>Row or column sequence should answer the relation between independent variable and dependent variable.</a:t>
            </a:r>
            <a:r>
              <a:rPr lang="zh-CN" altLang="en-US" sz="1800" dirty="0"/>
              <a:t>（行</a:t>
            </a:r>
            <a:r>
              <a:rPr lang="en-US" altLang="zh-CN" sz="1800" dirty="0"/>
              <a:t>/</a:t>
            </a:r>
            <a:r>
              <a:rPr lang="zh-CN" altLang="en-US" sz="1800" dirty="0"/>
              <a:t>列是自变量，列</a:t>
            </a:r>
            <a:r>
              <a:rPr lang="en-US" altLang="zh-CN" sz="1800" dirty="0"/>
              <a:t>/</a:t>
            </a:r>
            <a:r>
              <a:rPr lang="zh-CN" altLang="en-US" sz="1800" dirty="0"/>
              <a:t>行是因变量）</a:t>
            </a:r>
          </a:p>
        </p:txBody>
      </p:sp>
      <p:graphicFrame>
        <p:nvGraphicFramePr>
          <p:cNvPr id="11" name="内容占位符 3">
            <a:extLst>
              <a:ext uri="{FF2B5EF4-FFF2-40B4-BE49-F238E27FC236}">
                <a16:creationId xmlns:a16="http://schemas.microsoft.com/office/drawing/2014/main" id="{2012364B-377F-4A25-B937-9566AEDAE491}"/>
              </a:ext>
            </a:extLst>
          </p:cNvPr>
          <p:cNvGraphicFramePr>
            <a:graphicFrameLocks/>
          </p:cNvGraphicFramePr>
          <p:nvPr>
            <p:extLst>
              <p:ext uri="{D42A27DB-BD31-4B8C-83A1-F6EECF244321}">
                <p14:modId xmlns:p14="http://schemas.microsoft.com/office/powerpoint/2010/main" val="2789706838"/>
              </p:ext>
            </p:extLst>
          </p:nvPr>
        </p:nvGraphicFramePr>
        <p:xfrm>
          <a:off x="553098" y="3456098"/>
          <a:ext cx="8429678" cy="1502231"/>
        </p:xfrm>
        <a:graphic>
          <a:graphicData uri="http://schemas.openxmlformats.org/drawingml/2006/table">
            <a:tbl>
              <a:tblPr/>
              <a:tblGrid>
                <a:gridCol w="908702">
                  <a:extLst>
                    <a:ext uri="{9D8B030D-6E8A-4147-A177-3AD203B41FA5}">
                      <a16:colId xmlns:a16="http://schemas.microsoft.com/office/drawing/2014/main" val="20000"/>
                    </a:ext>
                  </a:extLst>
                </a:gridCol>
                <a:gridCol w="626748">
                  <a:extLst>
                    <a:ext uri="{9D8B030D-6E8A-4147-A177-3AD203B41FA5}">
                      <a16:colId xmlns:a16="http://schemas.microsoft.com/office/drawing/2014/main" val="20001"/>
                    </a:ext>
                  </a:extLst>
                </a:gridCol>
                <a:gridCol w="626748">
                  <a:extLst>
                    <a:ext uri="{9D8B030D-6E8A-4147-A177-3AD203B41FA5}">
                      <a16:colId xmlns:a16="http://schemas.microsoft.com/office/drawing/2014/main" val="20002"/>
                    </a:ext>
                  </a:extLst>
                </a:gridCol>
                <a:gridCol w="626748">
                  <a:extLst>
                    <a:ext uri="{9D8B030D-6E8A-4147-A177-3AD203B41FA5}">
                      <a16:colId xmlns:a16="http://schemas.microsoft.com/office/drawing/2014/main" val="20003"/>
                    </a:ext>
                  </a:extLst>
                </a:gridCol>
                <a:gridCol w="626748">
                  <a:extLst>
                    <a:ext uri="{9D8B030D-6E8A-4147-A177-3AD203B41FA5}">
                      <a16:colId xmlns:a16="http://schemas.microsoft.com/office/drawing/2014/main" val="20004"/>
                    </a:ext>
                  </a:extLst>
                </a:gridCol>
                <a:gridCol w="626748">
                  <a:extLst>
                    <a:ext uri="{9D8B030D-6E8A-4147-A177-3AD203B41FA5}">
                      <a16:colId xmlns:a16="http://schemas.microsoft.com/office/drawing/2014/main" val="20005"/>
                    </a:ext>
                  </a:extLst>
                </a:gridCol>
                <a:gridCol w="626748">
                  <a:extLst>
                    <a:ext uri="{9D8B030D-6E8A-4147-A177-3AD203B41FA5}">
                      <a16:colId xmlns:a16="http://schemas.microsoft.com/office/drawing/2014/main" val="20006"/>
                    </a:ext>
                  </a:extLst>
                </a:gridCol>
                <a:gridCol w="626748">
                  <a:extLst>
                    <a:ext uri="{9D8B030D-6E8A-4147-A177-3AD203B41FA5}">
                      <a16:colId xmlns:a16="http://schemas.microsoft.com/office/drawing/2014/main" val="20007"/>
                    </a:ext>
                  </a:extLst>
                </a:gridCol>
                <a:gridCol w="626748">
                  <a:extLst>
                    <a:ext uri="{9D8B030D-6E8A-4147-A177-3AD203B41FA5}">
                      <a16:colId xmlns:a16="http://schemas.microsoft.com/office/drawing/2014/main" val="20008"/>
                    </a:ext>
                  </a:extLst>
                </a:gridCol>
                <a:gridCol w="626748">
                  <a:extLst>
                    <a:ext uri="{9D8B030D-6E8A-4147-A177-3AD203B41FA5}">
                      <a16:colId xmlns:a16="http://schemas.microsoft.com/office/drawing/2014/main" val="20009"/>
                    </a:ext>
                  </a:extLst>
                </a:gridCol>
                <a:gridCol w="626748">
                  <a:extLst>
                    <a:ext uri="{9D8B030D-6E8A-4147-A177-3AD203B41FA5}">
                      <a16:colId xmlns:a16="http://schemas.microsoft.com/office/drawing/2014/main" val="20010"/>
                    </a:ext>
                  </a:extLst>
                </a:gridCol>
                <a:gridCol w="626748">
                  <a:extLst>
                    <a:ext uri="{9D8B030D-6E8A-4147-A177-3AD203B41FA5}">
                      <a16:colId xmlns:a16="http://schemas.microsoft.com/office/drawing/2014/main" val="20011"/>
                    </a:ext>
                  </a:extLst>
                </a:gridCol>
                <a:gridCol w="626748">
                  <a:extLst>
                    <a:ext uri="{9D8B030D-6E8A-4147-A177-3AD203B41FA5}">
                      <a16:colId xmlns:a16="http://schemas.microsoft.com/office/drawing/2014/main" val="20012"/>
                    </a:ext>
                  </a:extLst>
                </a:gridCol>
              </a:tblGrid>
              <a:tr h="411004">
                <a:tc>
                  <a:txBody>
                    <a:bodyPr/>
                    <a:lstStyle/>
                    <a:p>
                      <a:pPr algn="ctr">
                        <a:spcAft>
                          <a:spcPts val="0"/>
                        </a:spcAft>
                      </a:pPr>
                      <a:r>
                        <a:rPr lang="en-US" sz="1600" b="1" i="1" kern="1600" dirty="0">
                          <a:latin typeface="Times New Roman"/>
                          <a:ea typeface="仿宋_GB2312"/>
                        </a:rPr>
                        <a:t>f</a:t>
                      </a:r>
                      <a:r>
                        <a:rPr lang="en-US" sz="1600" b="1" kern="1600" dirty="0">
                          <a:latin typeface="Times New Roman"/>
                          <a:ea typeface="仿宋_GB2312"/>
                        </a:rPr>
                        <a:t>(Hz)</a:t>
                      </a:r>
                      <a:endParaRPr lang="zh-CN" sz="1600" kern="1600" dirty="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kern="1600">
                          <a:latin typeface="Times New Roman"/>
                          <a:ea typeface="仿宋_GB2312"/>
                        </a:rPr>
                        <a:t>1000</a:t>
                      </a: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kern="1600">
                          <a:latin typeface="Times New Roman"/>
                          <a:ea typeface="仿宋_GB2312"/>
                        </a:rPr>
                        <a:t>1200</a:t>
                      </a: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kern="1600">
                          <a:latin typeface="Times New Roman"/>
                          <a:ea typeface="仿宋_GB2312"/>
                        </a:rPr>
                        <a:t>1400</a:t>
                      </a: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kern="1600">
                          <a:latin typeface="Times New Roman"/>
                          <a:ea typeface="仿宋_GB2312"/>
                        </a:rPr>
                        <a:t>1500</a:t>
                      </a: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kern="1600">
                          <a:latin typeface="Times New Roman"/>
                          <a:ea typeface="仿宋_GB2312"/>
                        </a:rPr>
                        <a:t>1550</a:t>
                      </a: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kern="1600">
                          <a:latin typeface="Times New Roman"/>
                          <a:ea typeface="仿宋_GB2312"/>
                        </a:rPr>
                        <a:t>f</a:t>
                      </a:r>
                      <a:r>
                        <a:rPr lang="en-US" sz="1600" b="1" kern="1600" baseline="-25000">
                          <a:latin typeface="Times New Roman"/>
                          <a:ea typeface="仿宋_GB2312"/>
                        </a:rPr>
                        <a:t>1</a:t>
                      </a: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kern="1600">
                          <a:latin typeface="Times New Roman"/>
                          <a:ea typeface="仿宋_GB2312"/>
                        </a:rPr>
                        <a:t>1650</a:t>
                      </a: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kern="1600">
                          <a:latin typeface="Times New Roman"/>
                          <a:ea typeface="仿宋_GB2312"/>
                        </a:rPr>
                        <a:t>1700</a:t>
                      </a: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kern="1600">
                          <a:latin typeface="Times New Roman"/>
                          <a:ea typeface="仿宋_GB2312"/>
                        </a:rPr>
                        <a:t>1800</a:t>
                      </a: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kern="1600">
                          <a:latin typeface="Times New Roman"/>
                          <a:ea typeface="仿宋_GB2312"/>
                        </a:rPr>
                        <a:t>2100</a:t>
                      </a: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kern="1600">
                          <a:latin typeface="Times New Roman"/>
                          <a:ea typeface="仿宋_GB2312"/>
                        </a:rPr>
                        <a:t>2300</a:t>
                      </a: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kern="1600">
                          <a:latin typeface="Times New Roman"/>
                          <a:ea typeface="仿宋_GB2312"/>
                        </a:rPr>
                        <a:t>2500</a:t>
                      </a: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28628">
                <a:tc>
                  <a:txBody>
                    <a:bodyPr/>
                    <a:lstStyle/>
                    <a:p>
                      <a:pPr algn="ctr">
                        <a:spcAft>
                          <a:spcPts val="0"/>
                        </a:spcAft>
                      </a:pPr>
                      <a:r>
                        <a:rPr lang="en-US" sz="1600" b="1" kern="1600">
                          <a:latin typeface="Times New Roman"/>
                          <a:ea typeface="仿宋_GB2312"/>
                        </a:rPr>
                        <a:t>U</a:t>
                      </a:r>
                      <a:r>
                        <a:rPr lang="en-US" sz="1600" b="1" kern="1600" baseline="-25000">
                          <a:latin typeface="Times New Roman"/>
                          <a:ea typeface="仿宋_GB2312"/>
                        </a:rPr>
                        <a:t>RO</a:t>
                      </a:r>
                      <a:r>
                        <a:rPr lang="en-US" sz="1600" b="1" kern="1600">
                          <a:latin typeface="Times New Roman"/>
                          <a:ea typeface="仿宋_GB2312"/>
                        </a:rPr>
                        <a:t>(V)</a:t>
                      </a: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30010">
                <a:tc>
                  <a:txBody>
                    <a:bodyPr/>
                    <a:lstStyle/>
                    <a:p>
                      <a:pPr algn="ctr">
                        <a:spcAft>
                          <a:spcPts val="0"/>
                        </a:spcAft>
                      </a:pPr>
                      <a:r>
                        <a:rPr lang="en-US" sz="1600" b="1" kern="1600">
                          <a:latin typeface="Times New Roman"/>
                          <a:ea typeface="仿宋_GB2312"/>
                        </a:rPr>
                        <a:t>I(mA)</a:t>
                      </a: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32589">
                <a:tc>
                  <a:txBody>
                    <a:bodyPr/>
                    <a:lstStyle/>
                    <a:p>
                      <a:pPr algn="ctr">
                        <a:spcAft>
                          <a:spcPts val="0"/>
                        </a:spcAft>
                      </a:pPr>
                      <a:r>
                        <a:rPr lang="en-US" sz="1600" b="1" kern="1600" dirty="0">
                          <a:latin typeface="Times New Roman"/>
                          <a:ea typeface="仿宋_GB2312"/>
                        </a:rPr>
                        <a:t>R(</a:t>
                      </a:r>
                      <a:r>
                        <a:rPr lang="en-US" sz="1600" b="1" kern="1600" dirty="0">
                          <a:latin typeface="Times New Roman"/>
                          <a:ea typeface="仿宋_GB2312"/>
                          <a:sym typeface="Symbol"/>
                        </a:rPr>
                        <a:t></a:t>
                      </a:r>
                      <a:r>
                        <a:rPr lang="en-US" sz="1600" b="1" kern="1600" dirty="0">
                          <a:latin typeface="Times New Roman"/>
                          <a:ea typeface="仿宋_GB2312"/>
                        </a:rPr>
                        <a:t>)</a:t>
                      </a:r>
                      <a:endParaRPr lang="zh-CN" sz="1600" kern="1600" dirty="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dirty="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dirty="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600" kern="1600" dirty="0">
                        <a:latin typeface="Times New Roman"/>
                        <a:ea typeface="仿宋_GB231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2" name="Rectangle 1">
            <a:extLst>
              <a:ext uri="{FF2B5EF4-FFF2-40B4-BE49-F238E27FC236}">
                <a16:creationId xmlns:a16="http://schemas.microsoft.com/office/drawing/2014/main" id="{33BDFD63-3354-49CD-ABB1-19FD19DDCF35}"/>
              </a:ext>
            </a:extLst>
          </p:cNvPr>
          <p:cNvSpPr>
            <a:spLocks noChangeArrowheads="1"/>
          </p:cNvSpPr>
          <p:nvPr/>
        </p:nvSpPr>
        <p:spPr bwMode="auto">
          <a:xfrm>
            <a:off x="2185870" y="2994433"/>
            <a:ext cx="5556712"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仿宋_GB2312" pitchFamily="49" charset="-122"/>
                <a:cs typeface="Times New Roman" pitchFamily="18" charset="0"/>
              </a:rPr>
              <a:t>Table1 measuring parallel resonance curve</a:t>
            </a:r>
            <a:endParaRPr kumimoji="0" lang="en-US" altLang="zh-CN" sz="2400" b="0" i="0" u="none" strike="noStrike" cap="none" normalizeH="0" baseline="0" dirty="0">
              <a:ln>
                <a:noFill/>
              </a:ln>
              <a:solidFill>
                <a:schemeClr val="tx1"/>
              </a:solidFill>
              <a:effectLst/>
              <a:latin typeface="Arial" pitchFamily="34" charset="0"/>
              <a:ea typeface="宋体" pitchFamily="2" charset="-122"/>
            </a:endParaRPr>
          </a:p>
        </p:txBody>
      </p:sp>
    </p:spTree>
    <p:extLst>
      <p:ext uri="{BB962C8B-B14F-4D97-AF65-F5344CB8AC3E}">
        <p14:creationId xmlns:p14="http://schemas.microsoft.com/office/powerpoint/2010/main" val="765489669"/>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2A06BC5F-978A-42DA-AC66-9794AC02AC31}"/>
              </a:ext>
            </a:extLst>
          </p:cNvPr>
          <p:cNvSpPr txBox="1">
            <a:spLocks/>
          </p:cNvSpPr>
          <p:nvPr/>
        </p:nvSpPr>
        <p:spPr>
          <a:xfrm>
            <a:off x="455449" y="883163"/>
            <a:ext cx="8455727" cy="1080120"/>
          </a:xfrm>
          <a:prstGeom prst="rect">
            <a:avLst/>
          </a:prstGeom>
        </p:spPr>
        <p:txBody>
          <a:bodyPr/>
          <a:lstStyle>
            <a:lvl1pPr marL="257175" indent="-257175"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1pPr>
            <a:lvl2pPr marL="557213" indent="-214313" algn="l" rtl="0" eaLnBrk="0" fontAlgn="base" hangingPunct="0">
              <a:spcBef>
                <a:spcPct val="20000"/>
              </a:spcBef>
              <a:spcAft>
                <a:spcPct val="0"/>
              </a:spcAft>
              <a:buFont typeface="Arial" charset="0"/>
              <a:buChar char="–"/>
              <a:defRPr sz="2100" kern="1200">
                <a:solidFill>
                  <a:schemeClr val="tx1"/>
                </a:solidFill>
                <a:latin typeface="Arial" charset="0"/>
                <a:ea typeface="+mn-ea"/>
                <a:cs typeface="+mn-cs"/>
              </a:defRPr>
            </a:lvl2pPr>
            <a:lvl3pPr marL="857250" indent="-171450" algn="l" rtl="0" eaLnBrk="0" fontAlgn="base" hangingPunct="0">
              <a:spcBef>
                <a:spcPct val="20000"/>
              </a:spcBef>
              <a:spcAft>
                <a:spcPct val="0"/>
              </a:spcAft>
              <a:buFont typeface="Arial" charset="0"/>
              <a:buChar char="•"/>
              <a:defRPr sz="1800" kern="1200">
                <a:solidFill>
                  <a:schemeClr val="tx1"/>
                </a:solidFill>
                <a:latin typeface="Arial" charset="0"/>
                <a:ea typeface="+mn-ea"/>
                <a:cs typeface="+mn-cs"/>
              </a:defRPr>
            </a:lvl3pPr>
            <a:lvl4pPr marL="12001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4pPr>
            <a:lvl5pPr marL="15430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buFont typeface="Arial" charset="0"/>
              <a:buNone/>
            </a:pPr>
            <a:r>
              <a:rPr lang="en-US" altLang="zh-CN" dirty="0"/>
              <a:t>Give the relationship between physical quantities Intuitively.</a:t>
            </a:r>
            <a:r>
              <a:rPr lang="zh-CN" altLang="en-US" dirty="0"/>
              <a:t> </a:t>
            </a:r>
            <a:r>
              <a:rPr lang="en-US" altLang="zh-CN" dirty="0"/>
              <a:t> </a:t>
            </a:r>
            <a:endParaRPr lang="zh-CN" altLang="en-US" dirty="0"/>
          </a:p>
        </p:txBody>
      </p:sp>
      <p:grpSp>
        <p:nvGrpSpPr>
          <p:cNvPr id="3" name="组合 2">
            <a:extLst>
              <a:ext uri="{FF2B5EF4-FFF2-40B4-BE49-F238E27FC236}">
                <a16:creationId xmlns:a16="http://schemas.microsoft.com/office/drawing/2014/main" id="{46B66F3F-47CE-4B67-BF94-6575375644BD}"/>
              </a:ext>
            </a:extLst>
          </p:cNvPr>
          <p:cNvGrpSpPr/>
          <p:nvPr/>
        </p:nvGrpSpPr>
        <p:grpSpPr>
          <a:xfrm>
            <a:off x="5136866" y="1405971"/>
            <a:ext cx="3800188" cy="3613066"/>
            <a:chOff x="3854738" y="1156981"/>
            <a:chExt cx="4694842" cy="4956516"/>
          </a:xfrm>
        </p:grpSpPr>
        <p:pic>
          <p:nvPicPr>
            <p:cNvPr id="4" name="Picture 2">
              <a:extLst>
                <a:ext uri="{FF2B5EF4-FFF2-40B4-BE49-F238E27FC236}">
                  <a16:creationId xmlns:a16="http://schemas.microsoft.com/office/drawing/2014/main" id="{9CEEB517-9A4A-4AC0-8FFB-C6FACBA8E658}"/>
                </a:ext>
              </a:extLst>
            </p:cNvPr>
            <p:cNvPicPr>
              <a:picLocks noChangeAspect="1" noChangeArrowheads="1"/>
            </p:cNvPicPr>
            <p:nvPr/>
          </p:nvPicPr>
          <p:blipFill>
            <a:blip r:embed="rId2"/>
            <a:srcRect/>
            <a:stretch>
              <a:fillRect/>
            </a:stretch>
          </p:blipFill>
          <p:spPr bwMode="auto">
            <a:xfrm>
              <a:off x="3854738" y="1156981"/>
              <a:ext cx="4694842" cy="4678542"/>
            </a:xfrm>
            <a:prstGeom prst="rect">
              <a:avLst/>
            </a:prstGeom>
            <a:noFill/>
            <a:ln w="9525">
              <a:noFill/>
              <a:miter lim="800000"/>
              <a:headEnd/>
              <a:tailEnd/>
            </a:ln>
            <a:effectLst/>
          </p:spPr>
        </p:pic>
        <p:sp>
          <p:nvSpPr>
            <p:cNvPr id="5" name="文本框 4">
              <a:extLst>
                <a:ext uri="{FF2B5EF4-FFF2-40B4-BE49-F238E27FC236}">
                  <a16:creationId xmlns:a16="http://schemas.microsoft.com/office/drawing/2014/main" id="{984E2BB6-F92C-488E-BFDC-70CCF644B403}"/>
                </a:ext>
              </a:extLst>
            </p:cNvPr>
            <p:cNvSpPr txBox="1"/>
            <p:nvPr/>
          </p:nvSpPr>
          <p:spPr>
            <a:xfrm>
              <a:off x="4489048" y="5744164"/>
              <a:ext cx="3192093" cy="369333"/>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The V-I curve of the resistance</a:t>
              </a:r>
              <a:endParaRPr lang="zh-CN" altLang="en-US" b="1" dirty="0">
                <a:latin typeface="Times New Roman" panose="02020603050405020304" pitchFamily="18" charset="0"/>
                <a:cs typeface="Times New Roman" panose="02020603050405020304" pitchFamily="18" charset="0"/>
              </a:endParaRPr>
            </a:p>
          </p:txBody>
        </p:sp>
      </p:grpSp>
      <p:sp>
        <p:nvSpPr>
          <p:cNvPr id="6" name="文本框 5">
            <a:extLst>
              <a:ext uri="{FF2B5EF4-FFF2-40B4-BE49-F238E27FC236}">
                <a16:creationId xmlns:a16="http://schemas.microsoft.com/office/drawing/2014/main" id="{281CC18D-CD7B-4FCD-AB3B-48F62A7C8AE7}"/>
              </a:ext>
            </a:extLst>
          </p:cNvPr>
          <p:cNvSpPr txBox="1"/>
          <p:nvPr/>
        </p:nvSpPr>
        <p:spPr>
          <a:xfrm>
            <a:off x="455449" y="1602408"/>
            <a:ext cx="4572000" cy="2862322"/>
          </a:xfrm>
          <a:prstGeom prst="rect">
            <a:avLst/>
          </a:prstGeom>
          <a:noFill/>
        </p:spPr>
        <p:txBody>
          <a:bodyPr wrap="square">
            <a:spAutoFit/>
          </a:bodyPr>
          <a:lstStyle/>
          <a:p>
            <a:pPr marL="457200" indent="-457200">
              <a:buFont typeface="+mj-ea"/>
              <a:buAutoNum type="circleNumDbPlain"/>
            </a:pPr>
            <a:r>
              <a:rPr lang="en-US" altLang="zh-CN" dirty="0">
                <a:latin typeface="Times New Roman" panose="02020603050405020304" pitchFamily="18" charset="0"/>
                <a:ea typeface="楷体" panose="02010609060101010101" pitchFamily="49" charset="-122"/>
                <a:cs typeface="Times New Roman" panose="02020603050405020304" pitchFamily="18" charset="0"/>
              </a:rPr>
              <a:t>Use a sharp pencil to draw curve. </a:t>
            </a:r>
            <a:r>
              <a:rPr lang="zh-CN" altLang="en-US" dirty="0">
                <a:latin typeface="Times New Roman" panose="02020603050405020304" pitchFamily="18" charset="0"/>
                <a:ea typeface="楷体" panose="02010609060101010101" pitchFamily="49" charset="-122"/>
                <a:cs typeface="Times New Roman" panose="02020603050405020304" pitchFamily="18" charset="0"/>
              </a:rPr>
              <a:t>（采用细笔）</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457200" indent="-457200">
              <a:buFont typeface="+mj-ea"/>
              <a:buAutoNum type="circleNumDbPlain"/>
            </a:pPr>
            <a:r>
              <a:rPr lang="en-US" altLang="zh-CN" dirty="0">
                <a:latin typeface="Times New Roman" panose="02020603050405020304" pitchFamily="18" charset="0"/>
                <a:ea typeface="楷体" panose="02010609060101010101" pitchFamily="49" charset="-122"/>
                <a:cs typeface="Times New Roman" panose="02020603050405020304" pitchFamily="18" charset="0"/>
              </a:rPr>
              <a:t>Draw the graph </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on a full page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of graph paper. </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（图与作图纸大小接近）</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457200" lvl="0" indent="-457200">
              <a:buFont typeface="+mj-ea"/>
              <a:buAutoNum type="circleNumDbPlain"/>
            </a:pPr>
            <a:r>
              <a:rPr lang="en-US" altLang="zh-CN" dirty="0">
                <a:latin typeface="Times New Roman" panose="02020603050405020304" pitchFamily="18" charset="0"/>
                <a:ea typeface="楷体" panose="02010609060101010101" pitchFamily="49" charset="-122"/>
                <a:cs typeface="Times New Roman" panose="02020603050405020304" pitchFamily="18" charset="0"/>
              </a:rPr>
              <a:t>Give the graph a concise title </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（图例）</a:t>
            </a:r>
          </a:p>
          <a:p>
            <a:pPr marL="457200" lvl="0" indent="-457200">
              <a:buFont typeface="+mj-ea"/>
              <a:buAutoNum type="circleNumDbPlain"/>
            </a:pPr>
            <a:r>
              <a:rPr lang="en-US" altLang="zh-CN" dirty="0">
                <a:latin typeface="Times New Roman" panose="02020603050405020304" pitchFamily="18" charset="0"/>
                <a:ea typeface="楷体" panose="02010609060101010101" pitchFamily="49" charset="-122"/>
                <a:cs typeface="Times New Roman" panose="02020603050405020304" pitchFamily="18" charset="0"/>
              </a:rPr>
              <a:t>The dependent variable should be plotted along the vertical(y) axis and the independent variable should be plotted along the horizontal(x) axis.</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x</a:t>
            </a:r>
            <a:r>
              <a:rPr lang="zh-CN" altLang="en-US" dirty="0">
                <a:latin typeface="Times New Roman" panose="02020603050405020304" pitchFamily="18" charset="0"/>
                <a:ea typeface="楷体" panose="02010609060101010101" pitchFamily="49" charset="-122"/>
                <a:cs typeface="Times New Roman" panose="02020603050405020304" pitchFamily="18" charset="0"/>
              </a:rPr>
              <a:t>为自变量，</a:t>
            </a:r>
            <a:r>
              <a:rPr lang="en-US" altLang="zh-CN" dirty="0">
                <a:latin typeface="Times New Roman" panose="02020603050405020304" pitchFamily="18" charset="0"/>
                <a:ea typeface="楷体" panose="02010609060101010101" pitchFamily="49" charset="-122"/>
                <a:cs typeface="Times New Roman" panose="02020603050405020304" pitchFamily="18" charset="0"/>
              </a:rPr>
              <a:t>y</a:t>
            </a:r>
            <a:r>
              <a:rPr lang="zh-CN" altLang="en-US" dirty="0">
                <a:latin typeface="Times New Roman" panose="02020603050405020304" pitchFamily="18" charset="0"/>
                <a:ea typeface="楷体" panose="02010609060101010101" pitchFamily="49" charset="-122"/>
                <a:cs typeface="Times New Roman" panose="02020603050405020304" pitchFamily="18" charset="0"/>
              </a:rPr>
              <a:t>为因变量）</a:t>
            </a:r>
          </a:p>
        </p:txBody>
      </p:sp>
      <p:cxnSp>
        <p:nvCxnSpPr>
          <p:cNvPr id="7" name="直接连接符 6">
            <a:extLst>
              <a:ext uri="{FF2B5EF4-FFF2-40B4-BE49-F238E27FC236}">
                <a16:creationId xmlns:a16="http://schemas.microsoft.com/office/drawing/2014/main" id="{016ED5B4-6E96-46A0-9423-853820887C5F}"/>
              </a:ext>
            </a:extLst>
          </p:cNvPr>
          <p:cNvCxnSpPr/>
          <p:nvPr/>
        </p:nvCxnSpPr>
        <p:spPr>
          <a:xfrm flipH="1">
            <a:off x="2918943" y="457535"/>
            <a:ext cx="6225059"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 name="圆角矩形 2">
            <a:extLst>
              <a:ext uri="{FF2B5EF4-FFF2-40B4-BE49-F238E27FC236}">
                <a16:creationId xmlns:a16="http://schemas.microsoft.com/office/drawing/2014/main" id="{4E01B5C5-471B-4BB0-B4C9-A02CCF9B7EE7}"/>
              </a:ext>
            </a:extLst>
          </p:cNvPr>
          <p:cNvSpPr/>
          <p:nvPr/>
        </p:nvSpPr>
        <p:spPr>
          <a:xfrm>
            <a:off x="742944" y="191230"/>
            <a:ext cx="4546232"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9" name="矩形 8">
            <a:extLst>
              <a:ext uri="{FF2B5EF4-FFF2-40B4-BE49-F238E27FC236}">
                <a16:creationId xmlns:a16="http://schemas.microsoft.com/office/drawing/2014/main" id="{78C62ED5-093F-4C4D-B62D-6817564C5364}"/>
              </a:ext>
            </a:extLst>
          </p:cNvPr>
          <p:cNvSpPr/>
          <p:nvPr/>
        </p:nvSpPr>
        <p:spPr>
          <a:xfrm>
            <a:off x="817669" y="238250"/>
            <a:ext cx="4405373" cy="461665"/>
          </a:xfrm>
          <a:prstGeom prst="rect">
            <a:avLst/>
          </a:prstGeom>
        </p:spPr>
        <p:txBody>
          <a:bodyPr wrap="none">
            <a:spAutoFit/>
          </a:bodyPr>
          <a:lstStyle/>
          <a:p>
            <a:pPr defTabSz="913924"/>
            <a:r>
              <a:rPr lang="en-US" altLang="zh-CN" sz="2400" b="1" kern="0" dirty="0">
                <a:solidFill>
                  <a:srgbClr val="005A9E"/>
                </a:solidFill>
                <a:cs typeface="+mn-ea"/>
                <a:sym typeface="+mn-lt"/>
              </a:rPr>
              <a:t>Graphical Method </a:t>
            </a:r>
            <a:r>
              <a:rPr lang="zh-CN" altLang="en-US" sz="2400" b="1" kern="0" dirty="0">
                <a:solidFill>
                  <a:srgbClr val="005A9E"/>
                </a:solidFill>
                <a:cs typeface="+mn-ea"/>
                <a:sym typeface="+mn-lt"/>
              </a:rPr>
              <a:t>（作图法）</a:t>
            </a:r>
          </a:p>
        </p:txBody>
      </p:sp>
      <p:grpSp>
        <p:nvGrpSpPr>
          <p:cNvPr id="10" name="Group 17">
            <a:extLst>
              <a:ext uri="{FF2B5EF4-FFF2-40B4-BE49-F238E27FC236}">
                <a16:creationId xmlns:a16="http://schemas.microsoft.com/office/drawing/2014/main" id="{07EA5CB1-E2C4-41E6-8918-A44A6611BE09}"/>
              </a:ext>
            </a:extLst>
          </p:cNvPr>
          <p:cNvGrpSpPr>
            <a:grpSpLocks noChangeAspect="1"/>
          </p:cNvGrpSpPr>
          <p:nvPr/>
        </p:nvGrpSpPr>
        <p:grpSpPr bwMode="auto">
          <a:xfrm>
            <a:off x="179512" y="212152"/>
            <a:ext cx="457188" cy="490764"/>
            <a:chOff x="231" y="1205"/>
            <a:chExt cx="640" cy="687"/>
          </a:xfrm>
          <a:solidFill>
            <a:srgbClr val="005A9E"/>
          </a:solidFill>
          <a:effectLst/>
        </p:grpSpPr>
        <p:sp>
          <p:nvSpPr>
            <p:cNvPr id="11" name="Freeform 18">
              <a:extLst>
                <a:ext uri="{FF2B5EF4-FFF2-40B4-BE49-F238E27FC236}">
                  <a16:creationId xmlns:a16="http://schemas.microsoft.com/office/drawing/2014/main" id="{7000B544-A2DE-420A-8C24-CFA5593EB0CF}"/>
                </a:ext>
              </a:extLst>
            </p:cNvPr>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12" name="Freeform 19">
              <a:extLst>
                <a:ext uri="{FF2B5EF4-FFF2-40B4-BE49-F238E27FC236}">
                  <a16:creationId xmlns:a16="http://schemas.microsoft.com/office/drawing/2014/main" id="{49D4CF6F-F7DC-4A6B-8693-A9FB77968FCB}"/>
                </a:ext>
              </a:extLst>
            </p:cNvPr>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sp>
        <p:nvSpPr>
          <p:cNvPr id="14" name="文本框 13">
            <a:extLst>
              <a:ext uri="{FF2B5EF4-FFF2-40B4-BE49-F238E27FC236}">
                <a16:creationId xmlns:a16="http://schemas.microsoft.com/office/drawing/2014/main" id="{4014BBED-CC41-4A65-82A8-7551955D54F9}"/>
              </a:ext>
            </a:extLst>
          </p:cNvPr>
          <p:cNvSpPr txBox="1"/>
          <p:nvPr/>
        </p:nvSpPr>
        <p:spPr>
          <a:xfrm>
            <a:off x="535976" y="4464730"/>
            <a:ext cx="4328303" cy="613373"/>
          </a:xfrm>
          <a:prstGeom prst="rect">
            <a:avLst/>
          </a:prstGeom>
          <a:noFill/>
        </p:spPr>
        <p:txBody>
          <a:bodyPr wrap="square">
            <a:spAutoFit/>
          </a:bodyPr>
          <a:lstStyle/>
          <a:p>
            <a:pPr eaLnBrk="1" hangingPunct="1">
              <a:lnSpc>
                <a:spcPct val="150000"/>
              </a:lnSpc>
              <a:spcBef>
                <a:spcPct val="0"/>
              </a:spcBef>
            </a:pPr>
            <a:r>
              <a:rPr lang="zh-CN" altLang="en-US" sz="1200" b="1" dirty="0">
                <a:solidFill>
                  <a:srgbClr val="990033"/>
                </a:solidFill>
                <a:ea typeface="楷体_GB2312" pitchFamily="49" charset="-122"/>
              </a:rPr>
              <a:t>作图法</a:t>
            </a:r>
            <a:r>
              <a:rPr lang="zh-CN" altLang="en-US" sz="1200" b="1" dirty="0">
                <a:solidFill>
                  <a:schemeClr val="tx1"/>
                </a:solidFill>
                <a:ea typeface="楷体_GB2312" pitchFamily="49" charset="-122"/>
              </a:rPr>
              <a:t>：</a:t>
            </a:r>
            <a:r>
              <a:rPr lang="zh-CN" altLang="en-US" sz="1200" b="1" dirty="0">
                <a:latin typeface="楷体_GB2312" pitchFamily="49" charset="-122"/>
                <a:ea typeface="楷体_GB2312" pitchFamily="49" charset="-122"/>
              </a:rPr>
              <a:t> </a:t>
            </a:r>
            <a:r>
              <a:rPr lang="zh-CN" altLang="en-US" sz="1200" b="1" dirty="0">
                <a:solidFill>
                  <a:schemeClr val="tx1"/>
                </a:solidFill>
                <a:latin typeface="楷体_GB2312" pitchFamily="49" charset="-122"/>
                <a:ea typeface="楷体_GB2312" pitchFamily="49" charset="-122"/>
              </a:rPr>
              <a:t>可</a:t>
            </a:r>
            <a:r>
              <a:rPr lang="zh-CN" altLang="en-US" sz="1200" b="1" dirty="0">
                <a:solidFill>
                  <a:srgbClr val="0000FF"/>
                </a:solidFill>
                <a:latin typeface="楷体_GB2312" pitchFamily="49" charset="-122"/>
                <a:ea typeface="楷体_GB2312" pitchFamily="49" charset="-122"/>
              </a:rPr>
              <a:t>形象、直观</a:t>
            </a:r>
            <a:r>
              <a:rPr lang="zh-CN" altLang="en-US" sz="1200" b="1" dirty="0">
                <a:solidFill>
                  <a:schemeClr val="tx1"/>
                </a:solidFill>
                <a:latin typeface="楷体_GB2312" pitchFamily="49" charset="-122"/>
                <a:ea typeface="楷体_GB2312" pitchFamily="49" charset="-122"/>
              </a:rPr>
              <a:t>地显示出物理量之间的函数关系，也可用来求某些物理参数，因此它是一种重要的数据处理方法。</a:t>
            </a:r>
            <a:endParaRPr lang="zh-CN" altLang="en-US" sz="1200" b="1" dirty="0">
              <a:solidFill>
                <a:schemeClr val="tx1"/>
              </a:solidFill>
              <a:ea typeface="楷体_GB2312" pitchFamily="49" charset="-122"/>
            </a:endParaRPr>
          </a:p>
        </p:txBody>
      </p:sp>
    </p:spTree>
    <p:extLst>
      <p:ext uri="{BB962C8B-B14F-4D97-AF65-F5344CB8AC3E}">
        <p14:creationId xmlns:p14="http://schemas.microsoft.com/office/powerpoint/2010/main" val="52835269"/>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6A81CC94-689D-4613-BDA4-A62B82BCB7A3}"/>
              </a:ext>
            </a:extLst>
          </p:cNvPr>
          <p:cNvGrpSpPr/>
          <p:nvPr/>
        </p:nvGrpSpPr>
        <p:grpSpPr>
          <a:xfrm>
            <a:off x="5148064" y="971719"/>
            <a:ext cx="3672408" cy="4050962"/>
            <a:chOff x="4211960" y="1816129"/>
            <a:chExt cx="3672408" cy="4050962"/>
          </a:xfrm>
        </p:grpSpPr>
        <p:pic>
          <p:nvPicPr>
            <p:cNvPr id="3" name="Picture 2">
              <a:extLst>
                <a:ext uri="{FF2B5EF4-FFF2-40B4-BE49-F238E27FC236}">
                  <a16:creationId xmlns:a16="http://schemas.microsoft.com/office/drawing/2014/main" id="{2475E87B-4116-472D-97B1-10963DA93470}"/>
                </a:ext>
              </a:extLst>
            </p:cNvPr>
            <p:cNvPicPr>
              <a:picLocks noChangeAspect="1" noChangeArrowheads="1"/>
            </p:cNvPicPr>
            <p:nvPr/>
          </p:nvPicPr>
          <p:blipFill>
            <a:blip r:embed="rId2"/>
            <a:srcRect/>
            <a:stretch>
              <a:fillRect/>
            </a:stretch>
          </p:blipFill>
          <p:spPr bwMode="auto">
            <a:xfrm>
              <a:off x="4211960" y="1816129"/>
              <a:ext cx="3672408" cy="3659657"/>
            </a:xfrm>
            <a:prstGeom prst="rect">
              <a:avLst/>
            </a:prstGeom>
            <a:noFill/>
            <a:ln w="9525">
              <a:noFill/>
              <a:miter lim="800000"/>
              <a:headEnd/>
              <a:tailEnd/>
            </a:ln>
            <a:effectLst/>
          </p:spPr>
        </p:pic>
        <p:sp>
          <p:nvSpPr>
            <p:cNvPr id="4" name="文本框 3">
              <a:extLst>
                <a:ext uri="{FF2B5EF4-FFF2-40B4-BE49-F238E27FC236}">
                  <a16:creationId xmlns:a16="http://schemas.microsoft.com/office/drawing/2014/main" id="{CB68EB13-ED49-4F68-B031-A56DAB0867D9}"/>
                </a:ext>
              </a:extLst>
            </p:cNvPr>
            <p:cNvSpPr txBox="1"/>
            <p:nvPr/>
          </p:nvSpPr>
          <p:spPr>
            <a:xfrm>
              <a:off x="4452118" y="5497759"/>
              <a:ext cx="3192092"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The V-I curve of the resistance</a:t>
              </a:r>
              <a:endParaRPr lang="zh-CN" altLang="en-US" b="1" dirty="0">
                <a:latin typeface="Times New Roman" panose="02020603050405020304" pitchFamily="18" charset="0"/>
                <a:cs typeface="Times New Roman" panose="02020603050405020304" pitchFamily="18" charset="0"/>
              </a:endParaRPr>
            </a:p>
          </p:txBody>
        </p:sp>
      </p:grpSp>
      <p:sp>
        <p:nvSpPr>
          <p:cNvPr id="5" name="文本框 4">
            <a:extLst>
              <a:ext uri="{FF2B5EF4-FFF2-40B4-BE49-F238E27FC236}">
                <a16:creationId xmlns:a16="http://schemas.microsoft.com/office/drawing/2014/main" id="{75A614CC-254B-4A1E-881E-DC2A681905C6}"/>
              </a:ext>
            </a:extLst>
          </p:cNvPr>
          <p:cNvSpPr txBox="1"/>
          <p:nvPr/>
        </p:nvSpPr>
        <p:spPr>
          <a:xfrm>
            <a:off x="260146" y="775364"/>
            <a:ext cx="4572000" cy="4247317"/>
          </a:xfrm>
          <a:prstGeom prst="rect">
            <a:avLst/>
          </a:prstGeom>
          <a:noFill/>
        </p:spPr>
        <p:txBody>
          <a:bodyPr wrap="square">
            <a:spAutoFit/>
          </a:bodyPr>
          <a:lstStyle/>
          <a:p>
            <a:pPr marL="342900" lvl="0" indent="-342900">
              <a:buFont typeface="+mj-ea"/>
              <a:buAutoNum type="circleNumDbPlain" startAt="5"/>
            </a:pPr>
            <a:r>
              <a:rPr lang="en-US" altLang="zh-CN" dirty="0">
                <a:latin typeface="Times New Roman" panose="02020603050405020304" pitchFamily="18" charset="0"/>
                <a:ea typeface="楷体" panose="02010609060101010101" pitchFamily="49" charset="-122"/>
              </a:rPr>
              <a:t>Label the axes and include units. </a:t>
            </a:r>
            <a:r>
              <a:rPr lang="zh-CN" altLang="en-US" dirty="0">
                <a:latin typeface="Times New Roman" panose="02020603050405020304" pitchFamily="18" charset="0"/>
                <a:ea typeface="楷体" panose="02010609060101010101" pitchFamily="49" charset="-122"/>
              </a:rPr>
              <a:t>（轴对应的物理量和单位）</a:t>
            </a:r>
          </a:p>
          <a:p>
            <a:pPr marL="342900" lvl="0" indent="-342900">
              <a:buFont typeface="+mj-ea"/>
              <a:buAutoNum type="circleNumDbPlain" startAt="5"/>
            </a:pPr>
            <a:r>
              <a:rPr lang="en-US" altLang="zh-CN" dirty="0">
                <a:latin typeface="Times New Roman" panose="02020603050405020304" pitchFamily="18" charset="0"/>
                <a:ea typeface="楷体" panose="02010609060101010101" pitchFamily="49" charset="-122"/>
              </a:rPr>
              <a:t>Select a scale for each axis so that the curve </a:t>
            </a:r>
            <a:r>
              <a:rPr lang="en-US" altLang="zh-CN" dirty="0">
                <a:solidFill>
                  <a:srgbClr val="FF0000"/>
                </a:solidFill>
                <a:latin typeface="Times New Roman" panose="02020603050405020304" pitchFamily="18" charset="0"/>
                <a:ea typeface="楷体" panose="02010609060101010101" pitchFamily="49" charset="-122"/>
              </a:rPr>
              <a:t>extends over most</a:t>
            </a:r>
            <a:r>
              <a:rPr lang="en-US" altLang="zh-CN" dirty="0">
                <a:latin typeface="Times New Roman" panose="02020603050405020304" pitchFamily="18" charset="0"/>
                <a:ea typeface="楷体" panose="02010609060101010101" pitchFamily="49" charset="-122"/>
              </a:rPr>
              <a:t> of the graph sheet. </a:t>
            </a:r>
            <a:r>
              <a:rPr lang="zh-CN" altLang="en-US" dirty="0">
                <a:latin typeface="Times New Roman" panose="02020603050405020304" pitchFamily="18" charset="0"/>
                <a:ea typeface="楷体" panose="02010609060101010101" pitchFamily="49" charset="-122"/>
              </a:rPr>
              <a:t>（选择合适的单位尺度，让数据布满图）</a:t>
            </a:r>
            <a:endParaRPr lang="en-US" altLang="zh-CN" dirty="0">
              <a:latin typeface="Times New Roman" panose="02020603050405020304" pitchFamily="18" charset="0"/>
              <a:ea typeface="楷体" panose="02010609060101010101" pitchFamily="49" charset="-122"/>
            </a:endParaRPr>
          </a:p>
          <a:p>
            <a:pPr marL="342900" lvl="0" indent="-342900">
              <a:buFont typeface="+mj-ea"/>
              <a:buAutoNum type="circleNumDbPlain" startAt="5"/>
            </a:pPr>
            <a:r>
              <a:rPr lang="en-US" altLang="zh-CN" dirty="0">
                <a:latin typeface="Times New Roman" panose="02020603050405020304" pitchFamily="18" charset="0"/>
                <a:ea typeface="楷体" panose="02010609060101010101" pitchFamily="49" charset="-122"/>
              </a:rPr>
              <a:t>Each point should be plotted as “+”, “*”, or a dot. </a:t>
            </a:r>
            <a:r>
              <a:rPr lang="zh-CN" altLang="en-US" dirty="0">
                <a:latin typeface="Times New Roman" panose="02020603050405020304" pitchFamily="18" charset="0"/>
                <a:ea typeface="楷体" panose="02010609060101010101" pitchFamily="49" charset="-122"/>
              </a:rPr>
              <a:t>（标注数据点）</a:t>
            </a:r>
            <a:endParaRPr lang="en-US" altLang="zh-CN" dirty="0">
              <a:latin typeface="Times New Roman" panose="02020603050405020304" pitchFamily="18" charset="0"/>
              <a:ea typeface="楷体" panose="02010609060101010101" pitchFamily="49" charset="-122"/>
            </a:endParaRPr>
          </a:p>
          <a:p>
            <a:pPr marL="342900" lvl="0" indent="-342900">
              <a:buFont typeface="+mj-ea"/>
              <a:buAutoNum type="circleNumDbPlain" startAt="5"/>
            </a:pPr>
            <a:r>
              <a:rPr lang="en-US" altLang="zh-CN" dirty="0">
                <a:latin typeface="Times New Roman" panose="02020603050405020304" pitchFamily="18" charset="0"/>
                <a:ea typeface="楷体" panose="02010609060101010101" pitchFamily="49" charset="-122"/>
              </a:rPr>
              <a:t>Draw a beeline or curve using a Square or a French curve. The beeline or curve need not get across every point, but it must be smooth and the points not on it must distribute equably besides it. </a:t>
            </a:r>
            <a:r>
              <a:rPr lang="zh-CN" altLang="en-US" dirty="0">
                <a:latin typeface="Times New Roman" panose="02020603050405020304" pitchFamily="18" charset="0"/>
                <a:ea typeface="楷体" panose="02010609060101010101" pitchFamily="49" charset="-122"/>
              </a:rPr>
              <a:t>（用平衡曲线连接数据点，数据点均匀分布在线两侧）</a:t>
            </a:r>
          </a:p>
          <a:p>
            <a:pPr marL="342900" lvl="0" indent="-342900">
              <a:buFont typeface="+mj-ea"/>
              <a:buAutoNum type="circleNumDbPlain" startAt="5"/>
            </a:pPr>
            <a:r>
              <a:rPr lang="en-US" altLang="zh-CN" dirty="0">
                <a:latin typeface="Times New Roman" panose="02020603050405020304" pitchFamily="18" charset="0"/>
                <a:ea typeface="楷体" panose="02010609060101010101" pitchFamily="49" charset="-122"/>
              </a:rPr>
              <a:t>Show the character value of the beeline or curve by graphic solution.</a:t>
            </a:r>
            <a:r>
              <a:rPr lang="zh-CN" altLang="en-US" dirty="0">
                <a:latin typeface="Times New Roman" panose="02020603050405020304" pitchFamily="18" charset="0"/>
                <a:ea typeface="楷体" panose="02010609060101010101" pitchFamily="49" charset="-122"/>
              </a:rPr>
              <a:t>（标注函数关系）</a:t>
            </a:r>
          </a:p>
        </p:txBody>
      </p:sp>
      <p:cxnSp>
        <p:nvCxnSpPr>
          <p:cNvPr id="6" name="直接连接符 5">
            <a:extLst>
              <a:ext uri="{FF2B5EF4-FFF2-40B4-BE49-F238E27FC236}">
                <a16:creationId xmlns:a16="http://schemas.microsoft.com/office/drawing/2014/main" id="{E057E652-89D6-47F8-ACED-59342FC42DE8}"/>
              </a:ext>
            </a:extLst>
          </p:cNvPr>
          <p:cNvCxnSpPr/>
          <p:nvPr/>
        </p:nvCxnSpPr>
        <p:spPr>
          <a:xfrm flipH="1">
            <a:off x="2918943" y="457535"/>
            <a:ext cx="6225059"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 name="圆角矩形 2">
            <a:extLst>
              <a:ext uri="{FF2B5EF4-FFF2-40B4-BE49-F238E27FC236}">
                <a16:creationId xmlns:a16="http://schemas.microsoft.com/office/drawing/2014/main" id="{8F6003B4-9BB3-45F4-8FF3-4AA572D114C2}"/>
              </a:ext>
            </a:extLst>
          </p:cNvPr>
          <p:cNvSpPr/>
          <p:nvPr/>
        </p:nvSpPr>
        <p:spPr>
          <a:xfrm>
            <a:off x="742944" y="191230"/>
            <a:ext cx="4546232"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8" name="矩形 7">
            <a:extLst>
              <a:ext uri="{FF2B5EF4-FFF2-40B4-BE49-F238E27FC236}">
                <a16:creationId xmlns:a16="http://schemas.microsoft.com/office/drawing/2014/main" id="{6036F382-987B-456F-98C0-B8034E97E685}"/>
              </a:ext>
            </a:extLst>
          </p:cNvPr>
          <p:cNvSpPr/>
          <p:nvPr/>
        </p:nvSpPr>
        <p:spPr>
          <a:xfrm>
            <a:off x="817669" y="238250"/>
            <a:ext cx="4405373" cy="461665"/>
          </a:xfrm>
          <a:prstGeom prst="rect">
            <a:avLst/>
          </a:prstGeom>
        </p:spPr>
        <p:txBody>
          <a:bodyPr wrap="none">
            <a:spAutoFit/>
          </a:bodyPr>
          <a:lstStyle/>
          <a:p>
            <a:pPr defTabSz="913924"/>
            <a:r>
              <a:rPr lang="en-US" altLang="zh-CN" sz="2400" b="1" kern="0" dirty="0">
                <a:solidFill>
                  <a:srgbClr val="005A9E"/>
                </a:solidFill>
                <a:cs typeface="+mn-ea"/>
                <a:sym typeface="+mn-lt"/>
              </a:rPr>
              <a:t>Graphical Method </a:t>
            </a:r>
            <a:r>
              <a:rPr lang="zh-CN" altLang="en-US" sz="2400" b="1" kern="0" dirty="0">
                <a:solidFill>
                  <a:srgbClr val="005A9E"/>
                </a:solidFill>
                <a:cs typeface="+mn-ea"/>
                <a:sym typeface="+mn-lt"/>
              </a:rPr>
              <a:t>（作图法）</a:t>
            </a:r>
          </a:p>
        </p:txBody>
      </p:sp>
      <p:grpSp>
        <p:nvGrpSpPr>
          <p:cNvPr id="9" name="Group 17">
            <a:extLst>
              <a:ext uri="{FF2B5EF4-FFF2-40B4-BE49-F238E27FC236}">
                <a16:creationId xmlns:a16="http://schemas.microsoft.com/office/drawing/2014/main" id="{8E27EA65-AC93-44D6-916A-FDBF3D0CDB30}"/>
              </a:ext>
            </a:extLst>
          </p:cNvPr>
          <p:cNvGrpSpPr>
            <a:grpSpLocks noChangeAspect="1"/>
          </p:cNvGrpSpPr>
          <p:nvPr/>
        </p:nvGrpSpPr>
        <p:grpSpPr bwMode="auto">
          <a:xfrm>
            <a:off x="179512" y="212152"/>
            <a:ext cx="457188" cy="490764"/>
            <a:chOff x="231" y="1205"/>
            <a:chExt cx="640" cy="687"/>
          </a:xfrm>
          <a:solidFill>
            <a:srgbClr val="005A9E"/>
          </a:solidFill>
          <a:effectLst/>
        </p:grpSpPr>
        <p:sp>
          <p:nvSpPr>
            <p:cNvPr id="10" name="Freeform 18">
              <a:extLst>
                <a:ext uri="{FF2B5EF4-FFF2-40B4-BE49-F238E27FC236}">
                  <a16:creationId xmlns:a16="http://schemas.microsoft.com/office/drawing/2014/main" id="{EE445253-67C3-4AA7-A8F7-D07374E6B81E}"/>
                </a:ext>
              </a:extLst>
            </p:cNvPr>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11" name="Freeform 19">
              <a:extLst>
                <a:ext uri="{FF2B5EF4-FFF2-40B4-BE49-F238E27FC236}">
                  <a16:creationId xmlns:a16="http://schemas.microsoft.com/office/drawing/2014/main" id="{6BBCE973-9D25-4055-827D-5C5542D32469}"/>
                </a:ext>
              </a:extLst>
            </p:cNvPr>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spTree>
    <p:extLst>
      <p:ext uri="{BB962C8B-B14F-4D97-AF65-F5344CB8AC3E}">
        <p14:creationId xmlns:p14="http://schemas.microsoft.com/office/powerpoint/2010/main" val="1151310592"/>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flipH="1">
            <a:off x="2918943" y="457535"/>
            <a:ext cx="6225059"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 name="圆角矩形 2"/>
          <p:cNvSpPr/>
          <p:nvPr/>
        </p:nvSpPr>
        <p:spPr>
          <a:xfrm>
            <a:off x="742944" y="191230"/>
            <a:ext cx="3345977"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grpSp>
        <p:nvGrpSpPr>
          <p:cNvPr id="5" name="Group 17"/>
          <p:cNvGrpSpPr>
            <a:grpSpLocks noChangeAspect="1"/>
          </p:cNvGrpSpPr>
          <p:nvPr/>
        </p:nvGrpSpPr>
        <p:grpSpPr bwMode="auto">
          <a:xfrm>
            <a:off x="179512" y="212152"/>
            <a:ext cx="457188" cy="490764"/>
            <a:chOff x="231" y="1205"/>
            <a:chExt cx="640" cy="687"/>
          </a:xfrm>
          <a:solidFill>
            <a:srgbClr val="005A9E"/>
          </a:solidFill>
          <a:effectLst/>
        </p:grpSpPr>
        <p:sp>
          <p:nvSpPr>
            <p:cNvPr id="6" name="Freeform 18"/>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7"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pic>
        <p:nvPicPr>
          <p:cNvPr id="9" name="Picture 8">
            <a:extLst>
              <a:ext uri="{FF2B5EF4-FFF2-40B4-BE49-F238E27FC236}">
                <a16:creationId xmlns:a16="http://schemas.microsoft.com/office/drawing/2014/main" id="{46CDCEDE-054E-4E23-8E68-C4CF5B9AAB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653" y="771550"/>
            <a:ext cx="6010587" cy="4245135"/>
          </a:xfrm>
          <a:prstGeom prst="rect">
            <a:avLst/>
          </a:prstGeom>
        </p:spPr>
      </p:pic>
      <p:pic>
        <p:nvPicPr>
          <p:cNvPr id="11" name="Picture 10">
            <a:extLst>
              <a:ext uri="{FF2B5EF4-FFF2-40B4-BE49-F238E27FC236}">
                <a16:creationId xmlns:a16="http://schemas.microsoft.com/office/drawing/2014/main" id="{BE0FA1D7-75E1-42A5-88A7-6D944AE0E8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9957" y="677974"/>
            <a:ext cx="3618157" cy="4421637"/>
          </a:xfrm>
          <a:prstGeom prst="rect">
            <a:avLst/>
          </a:prstGeom>
        </p:spPr>
      </p:pic>
      <p:sp>
        <p:nvSpPr>
          <p:cNvPr id="10" name="矩形 9">
            <a:extLst>
              <a:ext uri="{FF2B5EF4-FFF2-40B4-BE49-F238E27FC236}">
                <a16:creationId xmlns:a16="http://schemas.microsoft.com/office/drawing/2014/main" id="{454C52A0-0C75-471C-BC45-C5A3E697E87D}"/>
              </a:ext>
            </a:extLst>
          </p:cNvPr>
          <p:cNvSpPr/>
          <p:nvPr/>
        </p:nvSpPr>
        <p:spPr>
          <a:xfrm>
            <a:off x="859085" y="242897"/>
            <a:ext cx="3092513" cy="461665"/>
          </a:xfrm>
          <a:prstGeom prst="rect">
            <a:avLst/>
          </a:prstGeom>
        </p:spPr>
        <p:txBody>
          <a:bodyPr wrap="none">
            <a:spAutoFit/>
          </a:bodyPr>
          <a:lstStyle/>
          <a:p>
            <a:pPr defTabSz="913924"/>
            <a:r>
              <a:rPr lang="en-US" altLang="zh-CN" sz="2400" b="1" kern="0" dirty="0">
                <a:solidFill>
                  <a:srgbClr val="005A9E"/>
                </a:solidFill>
                <a:cs typeface="+mn-ea"/>
                <a:sym typeface="+mn-lt"/>
              </a:rPr>
              <a:t>Improper example 1</a:t>
            </a:r>
            <a:endParaRPr lang="zh-CN" altLang="en-US" sz="2400" b="1" kern="0" dirty="0">
              <a:solidFill>
                <a:srgbClr val="005A9E"/>
              </a:solidFill>
              <a:cs typeface="+mn-ea"/>
              <a:sym typeface="+mn-lt"/>
            </a:endParaRPr>
          </a:p>
        </p:txBody>
      </p:sp>
    </p:spTree>
    <p:extLst>
      <p:ext uri="{BB962C8B-B14F-4D97-AF65-F5344CB8AC3E}">
        <p14:creationId xmlns:p14="http://schemas.microsoft.com/office/powerpoint/2010/main" val="844862690"/>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randombar(horizontal)">
                                      <p:cBhvr>
                                        <p:cTn id="1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flipH="1">
            <a:off x="2918943" y="457535"/>
            <a:ext cx="6225059"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 name="圆角矩形 2"/>
          <p:cNvSpPr/>
          <p:nvPr/>
        </p:nvSpPr>
        <p:spPr>
          <a:xfrm>
            <a:off x="742944" y="191230"/>
            <a:ext cx="3208653"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4" name="矩形 3"/>
          <p:cNvSpPr/>
          <p:nvPr/>
        </p:nvSpPr>
        <p:spPr>
          <a:xfrm>
            <a:off x="859085" y="242897"/>
            <a:ext cx="3092513" cy="461665"/>
          </a:xfrm>
          <a:prstGeom prst="rect">
            <a:avLst/>
          </a:prstGeom>
        </p:spPr>
        <p:txBody>
          <a:bodyPr wrap="none">
            <a:spAutoFit/>
          </a:bodyPr>
          <a:lstStyle/>
          <a:p>
            <a:pPr defTabSz="913924"/>
            <a:r>
              <a:rPr lang="en-US" altLang="zh-CN" sz="2400" b="1" kern="0" dirty="0">
                <a:solidFill>
                  <a:srgbClr val="005A9E"/>
                </a:solidFill>
                <a:cs typeface="+mn-ea"/>
                <a:sym typeface="+mn-lt"/>
              </a:rPr>
              <a:t>Improper example 2</a:t>
            </a:r>
            <a:endParaRPr lang="zh-CN" altLang="en-US" sz="2400" b="1" kern="0" dirty="0">
              <a:solidFill>
                <a:srgbClr val="005A9E"/>
              </a:solidFill>
              <a:cs typeface="+mn-ea"/>
              <a:sym typeface="+mn-lt"/>
            </a:endParaRPr>
          </a:p>
        </p:txBody>
      </p:sp>
      <p:grpSp>
        <p:nvGrpSpPr>
          <p:cNvPr id="5" name="Group 17"/>
          <p:cNvGrpSpPr>
            <a:grpSpLocks noChangeAspect="1"/>
          </p:cNvGrpSpPr>
          <p:nvPr/>
        </p:nvGrpSpPr>
        <p:grpSpPr bwMode="auto">
          <a:xfrm>
            <a:off x="179512" y="212152"/>
            <a:ext cx="457188" cy="490764"/>
            <a:chOff x="231" y="1205"/>
            <a:chExt cx="640" cy="687"/>
          </a:xfrm>
          <a:solidFill>
            <a:srgbClr val="005A9E"/>
          </a:solidFill>
          <a:effectLst/>
        </p:grpSpPr>
        <p:sp>
          <p:nvSpPr>
            <p:cNvPr id="6" name="Freeform 18"/>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7"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pic>
        <p:nvPicPr>
          <p:cNvPr id="191" name="Picture 190">
            <a:extLst>
              <a:ext uri="{FF2B5EF4-FFF2-40B4-BE49-F238E27FC236}">
                <a16:creationId xmlns:a16="http://schemas.microsoft.com/office/drawing/2014/main" id="{006E2EB8-0FD5-4611-BD07-185D819CB7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089" y="1003463"/>
            <a:ext cx="8150352" cy="3773424"/>
          </a:xfrm>
          <a:prstGeom prst="rect">
            <a:avLst/>
          </a:prstGeom>
        </p:spPr>
      </p:pic>
      <p:pic>
        <p:nvPicPr>
          <p:cNvPr id="193" name="Picture 192">
            <a:extLst>
              <a:ext uri="{FF2B5EF4-FFF2-40B4-BE49-F238E27FC236}">
                <a16:creationId xmlns:a16="http://schemas.microsoft.com/office/drawing/2014/main" id="{48B7D3AC-3E1A-4D6D-A138-53B599EC7A07}"/>
              </a:ext>
            </a:extLst>
          </p:cNvPr>
          <p:cNvPicPr>
            <a:picLocks noChangeAspect="1"/>
          </p:cNvPicPr>
          <p:nvPr/>
        </p:nvPicPr>
        <p:blipFill rotWithShape="1">
          <a:blip r:embed="rId3">
            <a:extLst>
              <a:ext uri="{28A0092B-C50C-407E-A947-70E740481C1C}">
                <a14:useLocalDpi xmlns:a14="http://schemas.microsoft.com/office/drawing/2010/main" val="0"/>
              </a:ext>
            </a:extLst>
          </a:blip>
          <a:srcRect t="11256"/>
          <a:stretch/>
        </p:blipFill>
        <p:spPr>
          <a:xfrm>
            <a:off x="2759407" y="815498"/>
            <a:ext cx="5937504" cy="4149353"/>
          </a:xfrm>
          <a:prstGeom prst="rect">
            <a:avLst/>
          </a:prstGeom>
        </p:spPr>
      </p:pic>
    </p:spTree>
    <p:extLst>
      <p:ext uri="{BB962C8B-B14F-4D97-AF65-F5344CB8AC3E}">
        <p14:creationId xmlns:p14="http://schemas.microsoft.com/office/powerpoint/2010/main" val="1156392066"/>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flipH="1">
            <a:off x="2918943" y="457535"/>
            <a:ext cx="6225059"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 name="圆角矩形 2"/>
          <p:cNvSpPr/>
          <p:nvPr/>
        </p:nvSpPr>
        <p:spPr>
          <a:xfrm>
            <a:off x="742945" y="208482"/>
            <a:ext cx="6184066"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4" name="矩形 3"/>
          <p:cNvSpPr/>
          <p:nvPr/>
        </p:nvSpPr>
        <p:spPr>
          <a:xfrm>
            <a:off x="899592" y="237877"/>
            <a:ext cx="6120586" cy="461665"/>
          </a:xfrm>
          <a:prstGeom prst="rect">
            <a:avLst/>
          </a:prstGeom>
        </p:spPr>
        <p:txBody>
          <a:bodyPr wrap="none">
            <a:spAutoFit/>
          </a:bodyPr>
          <a:lstStyle/>
          <a:p>
            <a:pPr defTabSz="913924"/>
            <a:r>
              <a:rPr lang="en-US" altLang="zh-CN" sz="2400" b="1" kern="0" dirty="0">
                <a:solidFill>
                  <a:srgbClr val="005A9E"/>
                </a:solidFill>
                <a:cs typeface="+mn-ea"/>
                <a:sym typeface="+mn-lt"/>
              </a:rPr>
              <a:t>successive difference method</a:t>
            </a:r>
            <a:r>
              <a:rPr lang="zh-CN" altLang="en-US" sz="2400" b="1" kern="0" dirty="0">
                <a:solidFill>
                  <a:srgbClr val="005A9E"/>
                </a:solidFill>
                <a:cs typeface="+mn-ea"/>
                <a:sym typeface="+mn-lt"/>
              </a:rPr>
              <a:t>（逐差法）</a:t>
            </a:r>
          </a:p>
        </p:txBody>
      </p:sp>
      <p:grpSp>
        <p:nvGrpSpPr>
          <p:cNvPr id="5" name="Group 17"/>
          <p:cNvGrpSpPr>
            <a:grpSpLocks noChangeAspect="1"/>
          </p:cNvGrpSpPr>
          <p:nvPr/>
        </p:nvGrpSpPr>
        <p:grpSpPr bwMode="auto">
          <a:xfrm>
            <a:off x="179512" y="212152"/>
            <a:ext cx="457188" cy="490764"/>
            <a:chOff x="231" y="1205"/>
            <a:chExt cx="640" cy="687"/>
          </a:xfrm>
          <a:solidFill>
            <a:srgbClr val="005A9E"/>
          </a:solidFill>
          <a:effectLst/>
        </p:grpSpPr>
        <p:sp>
          <p:nvSpPr>
            <p:cNvPr id="6" name="Freeform 18"/>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7"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sp>
        <p:nvSpPr>
          <p:cNvPr id="9" name="内容占位符 2">
            <a:extLst>
              <a:ext uri="{FF2B5EF4-FFF2-40B4-BE49-F238E27FC236}">
                <a16:creationId xmlns:a16="http://schemas.microsoft.com/office/drawing/2014/main" id="{5A79C04D-2D97-4236-9503-EE414844F996}"/>
              </a:ext>
            </a:extLst>
          </p:cNvPr>
          <p:cNvSpPr txBox="1">
            <a:spLocks/>
          </p:cNvSpPr>
          <p:nvPr/>
        </p:nvSpPr>
        <p:spPr>
          <a:xfrm>
            <a:off x="557193" y="965847"/>
            <a:ext cx="7886700" cy="3515572"/>
          </a:xfrm>
          <a:prstGeom prst="rect">
            <a:avLst/>
          </a:prstGeom>
        </p:spPr>
        <p:txBody>
          <a:bodyPr/>
          <a:lstStyle>
            <a:lvl1pPr marL="257175" indent="-257175"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1pPr>
            <a:lvl2pPr marL="557213" indent="-214313" algn="l" rtl="0" eaLnBrk="0" fontAlgn="base" hangingPunct="0">
              <a:spcBef>
                <a:spcPct val="20000"/>
              </a:spcBef>
              <a:spcAft>
                <a:spcPct val="0"/>
              </a:spcAft>
              <a:buFont typeface="Arial" charset="0"/>
              <a:buChar char="–"/>
              <a:defRPr sz="2100" kern="1200">
                <a:solidFill>
                  <a:schemeClr val="tx1"/>
                </a:solidFill>
                <a:latin typeface="Arial" charset="0"/>
                <a:ea typeface="+mn-ea"/>
                <a:cs typeface="+mn-cs"/>
              </a:defRPr>
            </a:lvl2pPr>
            <a:lvl3pPr marL="857250" indent="-171450" algn="l" rtl="0" eaLnBrk="0" fontAlgn="base" hangingPunct="0">
              <a:spcBef>
                <a:spcPct val="20000"/>
              </a:spcBef>
              <a:spcAft>
                <a:spcPct val="0"/>
              </a:spcAft>
              <a:buFont typeface="Arial" charset="0"/>
              <a:buChar char="•"/>
              <a:defRPr sz="1800" kern="1200">
                <a:solidFill>
                  <a:schemeClr val="tx1"/>
                </a:solidFill>
                <a:latin typeface="Arial" charset="0"/>
                <a:ea typeface="+mn-ea"/>
                <a:cs typeface="+mn-cs"/>
              </a:defRPr>
            </a:lvl3pPr>
            <a:lvl4pPr marL="12001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4pPr>
            <a:lvl5pPr marL="15430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gn="just"/>
            <a:r>
              <a:rPr lang="en-US" altLang="zh-CN" sz="1800" dirty="0"/>
              <a:t>Successive difference method can be used under the condition that the independent variable equably changes, and the relation between two physical quantities is liner.</a:t>
            </a:r>
            <a:r>
              <a:rPr lang="zh-CN" altLang="en-US" sz="1800" dirty="0"/>
              <a:t>（线性关系下使用）</a:t>
            </a:r>
          </a:p>
          <a:p>
            <a:pPr algn="just">
              <a:buFont typeface="Arial" charset="0"/>
              <a:buNone/>
            </a:pPr>
            <a:r>
              <a:rPr lang="en-US" altLang="zh-CN" sz="1800" dirty="0"/>
              <a:t>	e.g.  l = </a:t>
            </a:r>
            <a:r>
              <a:rPr lang="en-US" altLang="zh-CN" sz="1800" dirty="0" err="1"/>
              <a:t>constant×</a:t>
            </a:r>
            <a:r>
              <a:rPr lang="en-US" altLang="zh-CN" sz="1800" i="1" dirty="0" err="1">
                <a:latin typeface="Times New Roman" pitchFamily="18" charset="0"/>
                <a:cs typeface="Times New Roman" pitchFamily="18" charset="0"/>
              </a:rPr>
              <a:t>P</a:t>
            </a:r>
            <a:endParaRPr lang="zh-CN" altLang="en-US" sz="1800" i="1" dirty="0">
              <a:latin typeface="Times New Roman" pitchFamily="18" charset="0"/>
              <a:cs typeface="Times New Roman" pitchFamily="18" charset="0"/>
            </a:endParaRPr>
          </a:p>
          <a:p>
            <a:pPr algn="just"/>
            <a:r>
              <a:rPr lang="en-US" altLang="zh-CN" sz="1800" dirty="0"/>
              <a:t>When P increases by every </a:t>
            </a:r>
            <a:r>
              <a:rPr lang="en-US" altLang="zh-CN" sz="1800" dirty="0">
                <a:latin typeface="Symbol" panose="05050102010706020507" pitchFamily="18" charset="2"/>
              </a:rPr>
              <a:t>D</a:t>
            </a:r>
            <a:r>
              <a:rPr lang="en-US" altLang="zh-CN" sz="1800" dirty="0"/>
              <a:t>P for six times, and we measured l</a:t>
            </a:r>
            <a:r>
              <a:rPr lang="en-US" altLang="zh-CN" sz="1800" baseline="-25000" dirty="0"/>
              <a:t>1</a:t>
            </a:r>
            <a:r>
              <a:rPr lang="en-US" altLang="zh-CN" sz="1800" dirty="0"/>
              <a:t>, l</a:t>
            </a:r>
            <a:r>
              <a:rPr lang="en-US" altLang="zh-CN" sz="1800" baseline="-25000" dirty="0"/>
              <a:t>2</a:t>
            </a:r>
            <a:r>
              <a:rPr lang="en-US" altLang="zh-CN" sz="1800" dirty="0"/>
              <a:t>, l</a:t>
            </a:r>
            <a:r>
              <a:rPr lang="en-US" altLang="zh-CN" sz="1800" baseline="-25000" dirty="0"/>
              <a:t>3</a:t>
            </a:r>
            <a:r>
              <a:rPr lang="en-US" altLang="zh-CN" sz="1800" dirty="0"/>
              <a:t>…l</a:t>
            </a:r>
            <a:r>
              <a:rPr lang="en-US" altLang="zh-CN" sz="1800" baseline="-25000" dirty="0"/>
              <a:t>6</a:t>
            </a:r>
            <a:r>
              <a:rPr lang="en-US" altLang="zh-CN" sz="1800" dirty="0"/>
              <a:t>, how to calculate the average extension l when P increases </a:t>
            </a:r>
            <a:r>
              <a:rPr lang="en-US" altLang="zh-CN" sz="1800" dirty="0">
                <a:latin typeface="Symbol" panose="05050102010706020507" pitchFamily="18" charset="2"/>
              </a:rPr>
              <a:t>D</a:t>
            </a:r>
            <a:r>
              <a:rPr lang="en-US" altLang="zh-CN" sz="1800" dirty="0"/>
              <a:t>P?</a:t>
            </a:r>
          </a:p>
          <a:p>
            <a:pPr algn="just"/>
            <a:endParaRPr lang="en-US" altLang="zh-CN" sz="1800" dirty="0"/>
          </a:p>
          <a:p>
            <a:pPr algn="just"/>
            <a:endParaRPr lang="zh-CN" altLang="en-US" sz="1800" dirty="0"/>
          </a:p>
          <a:p>
            <a:pPr algn="just"/>
            <a:endParaRPr lang="zh-CN" altLang="en-US" sz="1800" dirty="0"/>
          </a:p>
        </p:txBody>
      </p:sp>
      <p:sp>
        <p:nvSpPr>
          <p:cNvPr id="10" name="内容占位符 2">
            <a:extLst>
              <a:ext uri="{FF2B5EF4-FFF2-40B4-BE49-F238E27FC236}">
                <a16:creationId xmlns:a16="http://schemas.microsoft.com/office/drawing/2014/main" id="{1B776FE5-1275-4CE6-98BF-CDB7ACC15DC5}"/>
              </a:ext>
            </a:extLst>
          </p:cNvPr>
          <p:cNvSpPr txBox="1">
            <a:spLocks/>
          </p:cNvSpPr>
          <p:nvPr/>
        </p:nvSpPr>
        <p:spPr>
          <a:xfrm>
            <a:off x="557193" y="2976797"/>
            <a:ext cx="8029614" cy="1928826"/>
          </a:xfrm>
          <a:prstGeom prst="rect">
            <a:avLst/>
          </a:prstGeom>
        </p:spPr>
        <p:txBody>
          <a:bodyPr/>
          <a:lstStyle>
            <a:lvl1pPr marL="257175" indent="-257175"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1pPr>
            <a:lvl2pPr marL="557213" indent="-214313" algn="l" rtl="0" eaLnBrk="0" fontAlgn="base" hangingPunct="0">
              <a:spcBef>
                <a:spcPct val="20000"/>
              </a:spcBef>
              <a:spcAft>
                <a:spcPct val="0"/>
              </a:spcAft>
              <a:buFont typeface="Arial" charset="0"/>
              <a:buChar char="–"/>
              <a:defRPr sz="2100" kern="1200">
                <a:solidFill>
                  <a:schemeClr val="tx1"/>
                </a:solidFill>
                <a:latin typeface="Arial" charset="0"/>
                <a:ea typeface="+mn-ea"/>
                <a:cs typeface="+mn-cs"/>
              </a:defRPr>
            </a:lvl2pPr>
            <a:lvl3pPr marL="857250" indent="-171450" algn="l" rtl="0" eaLnBrk="0" fontAlgn="base" hangingPunct="0">
              <a:spcBef>
                <a:spcPct val="20000"/>
              </a:spcBef>
              <a:spcAft>
                <a:spcPct val="0"/>
              </a:spcAft>
              <a:buFont typeface="Arial" charset="0"/>
              <a:buChar char="•"/>
              <a:defRPr sz="1800" kern="1200">
                <a:solidFill>
                  <a:schemeClr val="tx1"/>
                </a:solidFill>
                <a:latin typeface="Arial" charset="0"/>
                <a:ea typeface="+mn-ea"/>
                <a:cs typeface="+mn-cs"/>
              </a:defRPr>
            </a:lvl3pPr>
            <a:lvl4pPr marL="12001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4pPr>
            <a:lvl5pPr marL="15430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sz="1800" dirty="0"/>
              <a:t>Here, we can see that l</a:t>
            </a:r>
            <a:r>
              <a:rPr lang="en-US" sz="1800" baseline="-25000" dirty="0"/>
              <a:t>2</a:t>
            </a:r>
            <a:r>
              <a:rPr lang="en-US" sz="1800" dirty="0"/>
              <a:t>, l</a:t>
            </a:r>
            <a:r>
              <a:rPr lang="en-US" sz="1800" baseline="-25000" dirty="0"/>
              <a:t>3</a:t>
            </a:r>
            <a:r>
              <a:rPr lang="en-US" sz="1800" dirty="0"/>
              <a:t>, l</a:t>
            </a:r>
            <a:r>
              <a:rPr lang="en-US" sz="1800" baseline="-25000" dirty="0"/>
              <a:t>4</a:t>
            </a:r>
            <a:r>
              <a:rPr lang="en-US" sz="1800" dirty="0"/>
              <a:t>, l</a:t>
            </a:r>
            <a:r>
              <a:rPr lang="en-US" sz="1800" baseline="-25000" dirty="0"/>
              <a:t>5</a:t>
            </a:r>
            <a:r>
              <a:rPr lang="en-US" sz="1800" dirty="0"/>
              <a:t> haven’t be used. If we divide these values to two groups, that is (l</a:t>
            </a:r>
            <a:r>
              <a:rPr lang="en-US" sz="1800" baseline="-25000" dirty="0"/>
              <a:t>1</a:t>
            </a:r>
            <a:r>
              <a:rPr lang="en-US" sz="1800" dirty="0"/>
              <a:t>, l</a:t>
            </a:r>
            <a:r>
              <a:rPr lang="en-US" sz="1800" baseline="-25000" dirty="0"/>
              <a:t>2</a:t>
            </a:r>
            <a:r>
              <a:rPr lang="en-US" sz="1800" dirty="0"/>
              <a:t>, I</a:t>
            </a:r>
            <a:r>
              <a:rPr lang="en-US" sz="1800" baseline="-25000" dirty="0"/>
              <a:t>3</a:t>
            </a:r>
            <a:r>
              <a:rPr lang="en-US" sz="1800" dirty="0"/>
              <a:t>) and (l</a:t>
            </a:r>
            <a:r>
              <a:rPr lang="en-US" sz="1800" baseline="-25000" dirty="0"/>
              <a:t>4</a:t>
            </a:r>
            <a:r>
              <a:rPr lang="en-US" sz="1800" dirty="0"/>
              <a:t>, l</a:t>
            </a:r>
            <a:r>
              <a:rPr lang="en-US" sz="1800" baseline="-25000" dirty="0"/>
              <a:t>5</a:t>
            </a:r>
            <a:r>
              <a:rPr lang="en-US" sz="1800" dirty="0"/>
              <a:t>, l</a:t>
            </a:r>
            <a:r>
              <a:rPr lang="en-US" sz="1800" baseline="-25000" dirty="0"/>
              <a:t>6</a:t>
            </a:r>
            <a:r>
              <a:rPr lang="en-US" sz="1800" dirty="0"/>
              <a:t> ),then</a:t>
            </a:r>
            <a:endParaRPr lang="zh-CN" altLang="en-US" sz="1800" dirty="0"/>
          </a:p>
          <a:p>
            <a:endParaRPr lang="zh-CN" altLang="en-US" sz="1800" dirty="0"/>
          </a:p>
          <a:p>
            <a:endParaRPr lang="zh-CN" altLang="en-US" sz="1800" dirty="0"/>
          </a:p>
        </p:txBody>
      </p:sp>
      <mc:AlternateContent xmlns:mc="http://schemas.openxmlformats.org/markup-compatibility/2006" xmlns:a14="http://schemas.microsoft.com/office/drawing/2010/main">
        <mc:Choice Requires="a14">
          <p:sp>
            <p:nvSpPr>
              <p:cNvPr id="11" name="Object 1">
                <a:extLst>
                  <a:ext uri="{FF2B5EF4-FFF2-40B4-BE49-F238E27FC236}">
                    <a16:creationId xmlns:a16="http://schemas.microsoft.com/office/drawing/2014/main" id="{2DFB002A-81D1-4CE2-A60F-AD3B29C416F3}"/>
                  </a:ext>
                </a:extLst>
              </p:cNvPr>
              <p:cNvSpPr txBox="1"/>
              <p:nvPr/>
            </p:nvSpPr>
            <p:spPr bwMode="auto">
              <a:xfrm>
                <a:off x="1241884" y="3693442"/>
                <a:ext cx="6660232" cy="104288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sz="2800" i="1" smtClean="0">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𝑙</m:t>
                          </m:r>
                        </m:e>
                      </m:acc>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1</m:t>
                          </m:r>
                        </m:num>
                        <m:den>
                          <m:r>
                            <a:rPr lang="en-US" altLang="zh-CN" sz="2800" b="0" i="1" smtClean="0">
                              <a:solidFill>
                                <a:srgbClr val="000000"/>
                              </a:solidFill>
                              <a:latin typeface="Cambria Math" panose="02040503050406030204" pitchFamily="18" charset="0"/>
                            </a:rPr>
                            <m:t>3</m:t>
                          </m:r>
                          <m:r>
                            <a:rPr lang="en-US" altLang="zh-CN" sz="2800" b="0" i="1" smtClean="0">
                              <a:solidFill>
                                <a:srgbClr val="000000"/>
                              </a:solidFill>
                              <a:latin typeface="Cambria Math" panose="02040503050406030204" pitchFamily="18" charset="0"/>
                              <a:ea typeface="Cambria Math" panose="02040503050406030204" pitchFamily="18" charset="0"/>
                            </a:rPr>
                            <m:t>×</m:t>
                          </m:r>
                          <m:r>
                            <a:rPr lang="en-US" altLang="zh-CN" sz="2800" i="1">
                              <a:solidFill>
                                <a:srgbClr val="000000"/>
                              </a:solidFill>
                              <a:latin typeface="Cambria Math" panose="02040503050406030204" pitchFamily="18" charset="0"/>
                              <a:ea typeface="Cambria Math" panose="02040503050406030204" pitchFamily="18" charset="0"/>
                            </a:rPr>
                            <m:t>3</m:t>
                          </m:r>
                        </m:den>
                      </m:f>
                      <m:d>
                        <m:dPr>
                          <m:begChr m:val="["/>
                          <m:endChr m:val="]"/>
                          <m:ctrlPr>
                            <a:rPr lang="zh-CN" altLang="en-US" sz="2800" i="1">
                              <a:solidFill>
                                <a:srgbClr val="000000"/>
                              </a:solidFill>
                              <a:latin typeface="Cambria Math" panose="02040503050406030204" pitchFamily="18" charset="0"/>
                            </a:rPr>
                          </m:ctrlPr>
                        </m:dPr>
                        <m:e>
                          <m:d>
                            <m:dPr>
                              <m:ctrlPr>
                                <a:rPr lang="zh-CN" altLang="en-US" sz="2800" i="1">
                                  <a:solidFill>
                                    <a:srgbClr val="000000"/>
                                  </a:solidFill>
                                  <a:latin typeface="Cambria Math" panose="02040503050406030204" pitchFamily="18" charset="0"/>
                                </a:rPr>
                              </m:ctrlPr>
                            </m:dPr>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𝑙</m:t>
                                  </m:r>
                                </m:e>
                                <m:sub>
                                  <m:r>
                                    <a:rPr lang="en-US" altLang="zh-CN" sz="2800" b="0" i="1" smtClean="0">
                                      <a:solidFill>
                                        <a:srgbClr val="000000"/>
                                      </a:solidFill>
                                      <a:latin typeface="Cambria Math" panose="02040503050406030204" pitchFamily="18" charset="0"/>
                                    </a:rPr>
                                    <m:t>4</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𝑙</m:t>
                                  </m:r>
                                </m:e>
                                <m:sub>
                                  <m:r>
                                    <a:rPr lang="zh-CN" altLang="en-US" sz="2800" i="1">
                                      <a:solidFill>
                                        <a:srgbClr val="000000"/>
                                      </a:solidFill>
                                      <a:latin typeface="Cambria Math" panose="02040503050406030204" pitchFamily="18" charset="0"/>
                                    </a:rPr>
                                    <m:t>1</m:t>
                                  </m:r>
                                </m:sub>
                              </m:sSub>
                            </m:e>
                          </m:d>
                          <m:r>
                            <a:rPr lang="zh-CN" altLang="en-US" sz="2800" i="1">
                              <a:solidFill>
                                <a:srgbClr val="000000"/>
                              </a:solidFill>
                              <a:latin typeface="Cambria Math" panose="02040503050406030204" pitchFamily="18" charset="0"/>
                            </a:rPr>
                            <m:t>+</m:t>
                          </m:r>
                          <m:d>
                            <m:dPr>
                              <m:ctrlPr>
                                <a:rPr lang="zh-CN" altLang="en-US" sz="2800" i="1">
                                  <a:solidFill>
                                    <a:srgbClr val="000000"/>
                                  </a:solidFill>
                                  <a:latin typeface="Cambria Math" panose="02040503050406030204" pitchFamily="18" charset="0"/>
                                </a:rPr>
                              </m:ctrlPr>
                            </m:dPr>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𝑙</m:t>
                                  </m:r>
                                </m:e>
                                <m:sub>
                                  <m:r>
                                    <a:rPr lang="en-US" altLang="zh-CN" sz="2800" b="0" i="1" smtClean="0">
                                      <a:solidFill>
                                        <a:srgbClr val="000000"/>
                                      </a:solidFill>
                                      <a:latin typeface="Cambria Math" panose="02040503050406030204" pitchFamily="18" charset="0"/>
                                    </a:rPr>
                                    <m:t>5</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𝑙</m:t>
                                  </m:r>
                                </m:e>
                                <m:sub>
                                  <m:r>
                                    <a:rPr lang="zh-CN" altLang="en-US" sz="2800" i="1">
                                      <a:solidFill>
                                        <a:srgbClr val="000000"/>
                                      </a:solidFill>
                                      <a:latin typeface="Cambria Math" panose="02040503050406030204" pitchFamily="18" charset="0"/>
                                    </a:rPr>
                                    <m:t>2</m:t>
                                  </m:r>
                                </m:sub>
                              </m:sSub>
                            </m:e>
                          </m:d>
                          <m:r>
                            <a:rPr lang="zh-CN" altLang="en-US" sz="2800" i="1">
                              <a:solidFill>
                                <a:srgbClr val="000000"/>
                              </a:solidFill>
                              <a:latin typeface="Cambria Math" panose="02040503050406030204" pitchFamily="18" charset="0"/>
                            </a:rPr>
                            <m:t>+</m:t>
                          </m:r>
                          <m:d>
                            <m:dPr>
                              <m:ctrlPr>
                                <a:rPr lang="zh-CN" altLang="en-US" sz="2800" i="1">
                                  <a:solidFill>
                                    <a:srgbClr val="000000"/>
                                  </a:solidFill>
                                  <a:latin typeface="Cambria Math" panose="02040503050406030204" pitchFamily="18" charset="0"/>
                                </a:rPr>
                              </m:ctrlPr>
                            </m:dPr>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𝑙</m:t>
                                  </m:r>
                                </m:e>
                                <m:sub>
                                  <m:r>
                                    <a:rPr lang="en-US" altLang="zh-CN" sz="2800" b="0" i="1" smtClean="0">
                                      <a:solidFill>
                                        <a:srgbClr val="000000"/>
                                      </a:solidFill>
                                      <a:latin typeface="Cambria Math" panose="02040503050406030204" pitchFamily="18" charset="0"/>
                                    </a:rPr>
                                    <m:t>6</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𝑙</m:t>
                                  </m:r>
                                </m:e>
                                <m:sub>
                                  <m:r>
                                    <a:rPr lang="zh-CN" altLang="en-US" sz="2800" i="1">
                                      <a:solidFill>
                                        <a:srgbClr val="000000"/>
                                      </a:solidFill>
                                      <a:latin typeface="Cambria Math" panose="02040503050406030204" pitchFamily="18" charset="0"/>
                                    </a:rPr>
                                    <m:t>3</m:t>
                                  </m:r>
                                </m:sub>
                              </m:sSub>
                            </m:e>
                          </m:d>
                        </m:e>
                      </m:d>
                    </m:oMath>
                  </m:oMathPara>
                </a14:m>
                <a:endParaRPr lang="zh-CN" altLang="en-US" sz="2800" dirty="0"/>
              </a:p>
            </p:txBody>
          </p:sp>
        </mc:Choice>
        <mc:Fallback xmlns="">
          <p:sp>
            <p:nvSpPr>
              <p:cNvPr id="11" name="Object 1">
                <a:extLst>
                  <a:ext uri="{FF2B5EF4-FFF2-40B4-BE49-F238E27FC236}">
                    <a16:creationId xmlns:a16="http://schemas.microsoft.com/office/drawing/2014/main" id="{2DFB002A-81D1-4CE2-A60F-AD3B29C416F3}"/>
                  </a:ext>
                </a:extLst>
              </p:cNvPr>
              <p:cNvSpPr txBox="1">
                <a:spLocks noRot="1" noChangeAspect="1" noMove="1" noResize="1" noEditPoints="1" noAdjustHandles="1" noChangeArrowheads="1" noChangeShapeType="1" noTextEdit="1"/>
              </p:cNvSpPr>
              <p:nvPr/>
            </p:nvSpPr>
            <p:spPr bwMode="auto">
              <a:xfrm>
                <a:off x="1241884" y="3693442"/>
                <a:ext cx="6660232" cy="1042883"/>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21165546"/>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flipH="1">
            <a:off x="2918943" y="457535"/>
            <a:ext cx="6225059"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 name="圆角矩形 2"/>
          <p:cNvSpPr/>
          <p:nvPr/>
        </p:nvSpPr>
        <p:spPr>
          <a:xfrm>
            <a:off x="742945" y="191230"/>
            <a:ext cx="2448272"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4" name="矩形 3"/>
          <p:cNvSpPr/>
          <p:nvPr/>
        </p:nvSpPr>
        <p:spPr>
          <a:xfrm>
            <a:off x="1027196" y="226702"/>
            <a:ext cx="1707519" cy="461665"/>
          </a:xfrm>
          <a:prstGeom prst="rect">
            <a:avLst/>
          </a:prstGeom>
        </p:spPr>
        <p:txBody>
          <a:bodyPr wrap="none">
            <a:spAutoFit/>
          </a:bodyPr>
          <a:lstStyle/>
          <a:p>
            <a:pPr defTabSz="913924"/>
            <a:r>
              <a:rPr lang="en-US" altLang="zh-CN" sz="2400" b="1" kern="0" dirty="0">
                <a:solidFill>
                  <a:srgbClr val="005A9E"/>
                </a:solidFill>
                <a:cs typeface="+mn-ea"/>
                <a:sym typeface="+mn-lt"/>
              </a:rPr>
              <a:t>Example 1</a:t>
            </a:r>
            <a:endParaRPr lang="zh-CN" altLang="en-US" sz="2400" b="1" kern="0" dirty="0">
              <a:solidFill>
                <a:srgbClr val="005A9E"/>
              </a:solidFill>
              <a:cs typeface="+mn-ea"/>
              <a:sym typeface="+mn-lt"/>
            </a:endParaRPr>
          </a:p>
        </p:txBody>
      </p:sp>
      <p:grpSp>
        <p:nvGrpSpPr>
          <p:cNvPr id="5" name="Group 17"/>
          <p:cNvGrpSpPr>
            <a:grpSpLocks noChangeAspect="1"/>
          </p:cNvGrpSpPr>
          <p:nvPr/>
        </p:nvGrpSpPr>
        <p:grpSpPr bwMode="auto">
          <a:xfrm>
            <a:off x="179512" y="212152"/>
            <a:ext cx="457188" cy="490764"/>
            <a:chOff x="231" y="1205"/>
            <a:chExt cx="640" cy="687"/>
          </a:xfrm>
          <a:solidFill>
            <a:srgbClr val="005A9E"/>
          </a:solidFill>
          <a:effectLst/>
        </p:grpSpPr>
        <p:sp>
          <p:nvSpPr>
            <p:cNvPr id="6" name="Freeform 18"/>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7"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pic>
        <p:nvPicPr>
          <p:cNvPr id="9" name="Picture 6">
            <a:extLst>
              <a:ext uri="{FF2B5EF4-FFF2-40B4-BE49-F238E27FC236}">
                <a16:creationId xmlns:a16="http://schemas.microsoft.com/office/drawing/2014/main" id="{F033CB6B-9C16-4085-B1D5-16CDCDA7C7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1327" y="811136"/>
            <a:ext cx="7734361" cy="1712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7">
            <a:extLst>
              <a:ext uri="{FF2B5EF4-FFF2-40B4-BE49-F238E27FC236}">
                <a16:creationId xmlns:a16="http://schemas.microsoft.com/office/drawing/2014/main" id="{6F5B6CBA-AA23-4C03-B00F-93786A6CC7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767" y="2598632"/>
            <a:ext cx="5760640" cy="76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2">
            <a:extLst>
              <a:ext uri="{FF2B5EF4-FFF2-40B4-BE49-F238E27FC236}">
                <a16:creationId xmlns:a16="http://schemas.microsoft.com/office/drawing/2014/main" id="{F1F23116-579F-4A03-999F-60877BCAFF01}"/>
              </a:ext>
            </a:extLst>
          </p:cNvPr>
          <p:cNvSpPr txBox="1">
            <a:spLocks noChangeArrowheads="1"/>
          </p:cNvSpPr>
          <p:nvPr/>
        </p:nvSpPr>
        <p:spPr>
          <a:xfrm>
            <a:off x="357744" y="3311591"/>
            <a:ext cx="7848872" cy="704998"/>
          </a:xfrm>
          <a:prstGeom prst="rect">
            <a:avLst/>
          </a:prstGeom>
        </p:spPr>
        <p:txBody>
          <a:bodyPr/>
          <a:lstStyle>
            <a:lvl1pPr algn="ctr" rtl="0" eaLnBrk="0" fontAlgn="base" hangingPunct="0">
              <a:spcBef>
                <a:spcPct val="0"/>
              </a:spcBef>
              <a:spcAft>
                <a:spcPct val="0"/>
              </a:spcAft>
              <a:defRPr sz="3300" kern="1200">
                <a:solidFill>
                  <a:schemeClr val="tx1"/>
                </a:solidFill>
                <a:latin typeface="Arial" charset="0"/>
                <a:ea typeface="+mj-ea"/>
                <a:cs typeface="+mj-cs"/>
              </a:defRPr>
            </a:lvl1pPr>
            <a:lvl2pPr algn="ctr" rtl="0" eaLnBrk="0" fontAlgn="base" hangingPunct="0">
              <a:spcBef>
                <a:spcPct val="0"/>
              </a:spcBef>
              <a:spcAft>
                <a:spcPct val="0"/>
              </a:spcAft>
              <a:defRPr sz="3300">
                <a:solidFill>
                  <a:schemeClr val="tx1"/>
                </a:solidFill>
                <a:latin typeface="Arial" charset="0"/>
                <a:ea typeface="宋体" charset="-122"/>
              </a:defRPr>
            </a:lvl2pPr>
            <a:lvl3pPr algn="ctr" rtl="0" eaLnBrk="0" fontAlgn="base" hangingPunct="0">
              <a:spcBef>
                <a:spcPct val="0"/>
              </a:spcBef>
              <a:spcAft>
                <a:spcPct val="0"/>
              </a:spcAft>
              <a:defRPr sz="3300">
                <a:solidFill>
                  <a:schemeClr val="tx1"/>
                </a:solidFill>
                <a:latin typeface="Arial" charset="0"/>
                <a:ea typeface="宋体" charset="-122"/>
              </a:defRPr>
            </a:lvl3pPr>
            <a:lvl4pPr algn="ctr" rtl="0" eaLnBrk="0" fontAlgn="base" hangingPunct="0">
              <a:spcBef>
                <a:spcPct val="0"/>
              </a:spcBef>
              <a:spcAft>
                <a:spcPct val="0"/>
              </a:spcAft>
              <a:defRPr sz="3300">
                <a:solidFill>
                  <a:schemeClr val="tx1"/>
                </a:solidFill>
                <a:latin typeface="Arial" charset="0"/>
                <a:ea typeface="宋体" charset="-122"/>
              </a:defRPr>
            </a:lvl4pPr>
            <a:lvl5pPr algn="ctr" rtl="0" eaLnBrk="0" fontAlgn="base" hangingPunct="0">
              <a:spcBef>
                <a:spcPct val="0"/>
              </a:spcBef>
              <a:spcAft>
                <a:spcPct val="0"/>
              </a:spcAft>
              <a:defRPr sz="3300">
                <a:solidFill>
                  <a:schemeClr val="tx1"/>
                </a:solidFill>
                <a:latin typeface="Arial" charset="0"/>
                <a:ea typeface="宋体" charset="-122"/>
              </a:defRPr>
            </a:lvl5pPr>
            <a:lvl6pPr marL="342900" algn="ctr" rtl="0" fontAlgn="base">
              <a:spcBef>
                <a:spcPct val="0"/>
              </a:spcBef>
              <a:spcAft>
                <a:spcPct val="0"/>
              </a:spcAft>
              <a:defRPr sz="3300">
                <a:solidFill>
                  <a:schemeClr val="tx1"/>
                </a:solidFill>
                <a:latin typeface="Calibri" pitchFamily="34" charset="0"/>
                <a:ea typeface="宋体" charset="-122"/>
              </a:defRPr>
            </a:lvl6pPr>
            <a:lvl7pPr marL="685800" algn="ctr" rtl="0" fontAlgn="base">
              <a:spcBef>
                <a:spcPct val="0"/>
              </a:spcBef>
              <a:spcAft>
                <a:spcPct val="0"/>
              </a:spcAft>
              <a:defRPr sz="3300">
                <a:solidFill>
                  <a:schemeClr val="tx1"/>
                </a:solidFill>
                <a:latin typeface="Calibri" pitchFamily="34" charset="0"/>
                <a:ea typeface="宋体" charset="-122"/>
              </a:defRPr>
            </a:lvl7pPr>
            <a:lvl8pPr marL="1028700" algn="ctr" rtl="0" fontAlgn="base">
              <a:spcBef>
                <a:spcPct val="0"/>
              </a:spcBef>
              <a:spcAft>
                <a:spcPct val="0"/>
              </a:spcAft>
              <a:defRPr sz="3300">
                <a:solidFill>
                  <a:schemeClr val="tx1"/>
                </a:solidFill>
                <a:latin typeface="Calibri" pitchFamily="34" charset="0"/>
                <a:ea typeface="宋体" charset="-122"/>
              </a:defRPr>
            </a:lvl8pPr>
            <a:lvl9pPr marL="1371600" algn="ctr" rtl="0" fontAlgn="base">
              <a:spcBef>
                <a:spcPct val="0"/>
              </a:spcBef>
              <a:spcAft>
                <a:spcPct val="0"/>
              </a:spcAft>
              <a:defRPr sz="3300">
                <a:solidFill>
                  <a:schemeClr val="tx1"/>
                </a:solidFill>
                <a:latin typeface="Calibri" pitchFamily="34" charset="0"/>
                <a:ea typeface="宋体" charset="-122"/>
              </a:defRPr>
            </a:lvl9pPr>
          </a:lstStyle>
          <a:p>
            <a:pPr algn="l" eaLnBrk="1" hangingPunct="1">
              <a:lnSpc>
                <a:spcPct val="150000"/>
              </a:lnSpc>
            </a:pPr>
            <a:r>
              <a:rPr lang="zh-CN" altLang="en-US" sz="1400" b="1" dirty="0">
                <a:ea typeface="楷体_GB2312" pitchFamily="49" charset="-122"/>
              </a:rPr>
              <a:t>只有始末两次测量值用到，</a:t>
            </a:r>
            <a:r>
              <a:rPr lang="zh-CN" altLang="en-US" sz="1400" b="1" dirty="0">
                <a:solidFill>
                  <a:srgbClr val="FF3300"/>
                </a:solidFill>
                <a:ea typeface="楷体_GB2312" pitchFamily="49" charset="-122"/>
              </a:rPr>
              <a:t>中间值全部抵消</a:t>
            </a:r>
            <a:r>
              <a:rPr lang="zh-CN" altLang="en-US" sz="1400" b="1" dirty="0">
                <a:ea typeface="楷体_GB2312" pitchFamily="49" charset="-122"/>
              </a:rPr>
              <a:t>。只要其中一个值测量错误，结果就是错误的。</a:t>
            </a:r>
            <a:br>
              <a:rPr lang="en-US" altLang="zh-CN" sz="1400" b="1" dirty="0">
                <a:ea typeface="楷体_GB2312" pitchFamily="49" charset="-122"/>
              </a:rPr>
            </a:br>
            <a:r>
              <a:rPr lang="zh-CN" altLang="en-US" sz="1400" b="1" dirty="0">
                <a:solidFill>
                  <a:srgbClr val="FF0000"/>
                </a:solidFill>
                <a:ea typeface="楷体_GB2312" pitchFamily="49" charset="-122"/>
              </a:rPr>
              <a:t>没有起到多次测量减小误差的作用！</a:t>
            </a:r>
            <a:br>
              <a:rPr lang="zh-CN" altLang="en-US" sz="1400" b="1" dirty="0">
                <a:ea typeface="楷体_GB2312" pitchFamily="49" charset="-122"/>
              </a:rPr>
            </a:br>
            <a:endParaRPr lang="zh-CN" altLang="en-US" sz="1400" b="1" dirty="0">
              <a:ea typeface="楷体_GB2312" pitchFamily="49" charset="-122"/>
            </a:endParaRPr>
          </a:p>
        </p:txBody>
      </p:sp>
      <p:graphicFrame>
        <p:nvGraphicFramePr>
          <p:cNvPr id="12" name="Object 9">
            <a:extLst>
              <a:ext uri="{FF2B5EF4-FFF2-40B4-BE49-F238E27FC236}">
                <a16:creationId xmlns:a16="http://schemas.microsoft.com/office/drawing/2014/main" id="{E602E299-8EBE-4384-8DF4-970964F10F5A}"/>
              </a:ext>
            </a:extLst>
          </p:cNvPr>
          <p:cNvGraphicFramePr>
            <a:graphicFrameLocks noChangeAspect="1"/>
          </p:cNvGraphicFramePr>
          <p:nvPr>
            <p:extLst>
              <p:ext uri="{D42A27DB-BD31-4B8C-83A1-F6EECF244321}">
                <p14:modId xmlns:p14="http://schemas.microsoft.com/office/powerpoint/2010/main" val="3497196078"/>
              </p:ext>
            </p:extLst>
          </p:nvPr>
        </p:nvGraphicFramePr>
        <p:xfrm>
          <a:off x="6772582" y="2617705"/>
          <a:ext cx="1728192" cy="877792"/>
        </p:xfrm>
        <a:graphic>
          <a:graphicData uri="http://schemas.openxmlformats.org/presentationml/2006/ole">
            <mc:AlternateContent xmlns:mc="http://schemas.openxmlformats.org/markup-compatibility/2006">
              <mc:Choice xmlns:v="urn:schemas-microsoft-com:vml" Requires="v">
                <p:oleObj name="Equation" r:id="rId4" imgW="774364" imgH="393529" progId="Equation.3">
                  <p:embed/>
                </p:oleObj>
              </mc:Choice>
              <mc:Fallback>
                <p:oleObj name="Equation" r:id="rId4" imgW="774364" imgH="393529" progId="Equation.3">
                  <p:embed/>
                  <p:pic>
                    <p:nvPicPr>
                      <p:cNvPr id="12" name="Object 9">
                        <a:extLst>
                          <a:ext uri="{FF2B5EF4-FFF2-40B4-BE49-F238E27FC236}">
                            <a16:creationId xmlns:a16="http://schemas.microsoft.com/office/drawing/2014/main" id="{E602E299-8EBE-4384-8DF4-970964F10F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2582" y="2617705"/>
                        <a:ext cx="1728192" cy="877792"/>
                      </a:xfrm>
                      <a:prstGeom prst="rect">
                        <a:avLst/>
                      </a:prstGeom>
                      <a:noFill/>
                      <a:ln>
                        <a:noFill/>
                      </a:ln>
                      <a:effectLst/>
                    </p:spPr>
                  </p:pic>
                </p:oleObj>
              </mc:Fallback>
            </mc:AlternateContent>
          </a:graphicData>
        </a:graphic>
      </p:graphicFrame>
      <p:sp>
        <p:nvSpPr>
          <p:cNvPr id="13" name="Arrow: Right 12">
            <a:extLst>
              <a:ext uri="{FF2B5EF4-FFF2-40B4-BE49-F238E27FC236}">
                <a16:creationId xmlns:a16="http://schemas.microsoft.com/office/drawing/2014/main" id="{06E5863D-4AE0-4062-A6F2-1F1C04C4D8C3}"/>
              </a:ext>
            </a:extLst>
          </p:cNvPr>
          <p:cNvSpPr/>
          <p:nvPr/>
        </p:nvSpPr>
        <p:spPr>
          <a:xfrm>
            <a:off x="6340534" y="2944043"/>
            <a:ext cx="288032" cy="2131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Picture 8">
            <a:extLst>
              <a:ext uri="{FF2B5EF4-FFF2-40B4-BE49-F238E27FC236}">
                <a16:creationId xmlns:a16="http://schemas.microsoft.com/office/drawing/2014/main" id="{53B57C73-1F24-45C8-B56B-80AAF1C3680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26191" y="4356108"/>
            <a:ext cx="6691618" cy="691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5" name="Object 6">
            <a:extLst>
              <a:ext uri="{FF2B5EF4-FFF2-40B4-BE49-F238E27FC236}">
                <a16:creationId xmlns:a16="http://schemas.microsoft.com/office/drawing/2014/main" id="{D485E771-2D9D-4CD5-B7CF-327971E74777}"/>
              </a:ext>
            </a:extLst>
          </p:cNvPr>
          <p:cNvGraphicFramePr>
            <a:graphicFrameLocks noChangeAspect="1"/>
          </p:cNvGraphicFramePr>
          <p:nvPr>
            <p:extLst>
              <p:ext uri="{D42A27DB-BD31-4B8C-83A1-F6EECF244321}">
                <p14:modId xmlns:p14="http://schemas.microsoft.com/office/powerpoint/2010/main" val="1580018614"/>
              </p:ext>
            </p:extLst>
          </p:nvPr>
        </p:nvGraphicFramePr>
        <p:xfrm>
          <a:off x="3386697" y="3664090"/>
          <a:ext cx="2644775" cy="720725"/>
        </p:xfrm>
        <a:graphic>
          <a:graphicData uri="http://schemas.openxmlformats.org/presentationml/2006/ole">
            <mc:AlternateContent xmlns:mc="http://schemas.openxmlformats.org/markup-compatibility/2006">
              <mc:Choice xmlns:v="urn:schemas-microsoft-com:vml" Requires="v">
                <p:oleObj name="Equation" r:id="rId7" imgW="838200" imgH="228600" progId="Equation.3">
                  <p:embed/>
                </p:oleObj>
              </mc:Choice>
              <mc:Fallback>
                <p:oleObj name="Equation" r:id="rId7" imgW="838200" imgH="228600" progId="Equation.3">
                  <p:embed/>
                  <p:pic>
                    <p:nvPicPr>
                      <p:cNvPr id="15" name="Object 6">
                        <a:extLst>
                          <a:ext uri="{FF2B5EF4-FFF2-40B4-BE49-F238E27FC236}">
                            <a16:creationId xmlns:a16="http://schemas.microsoft.com/office/drawing/2014/main" id="{D485E771-2D9D-4CD5-B7CF-327971E7477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86697" y="3664090"/>
                        <a:ext cx="2644775"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7">
            <a:extLst>
              <a:ext uri="{FF2B5EF4-FFF2-40B4-BE49-F238E27FC236}">
                <a16:creationId xmlns:a16="http://schemas.microsoft.com/office/drawing/2014/main" id="{7274674A-EED3-4271-ADEF-63CFDA4D5437}"/>
              </a:ext>
            </a:extLst>
          </p:cNvPr>
          <p:cNvGraphicFramePr>
            <a:graphicFrameLocks noChangeAspect="1"/>
          </p:cNvGraphicFramePr>
          <p:nvPr>
            <p:extLst>
              <p:ext uri="{D42A27DB-BD31-4B8C-83A1-F6EECF244321}">
                <p14:modId xmlns:p14="http://schemas.microsoft.com/office/powerpoint/2010/main" val="818192308"/>
              </p:ext>
            </p:extLst>
          </p:nvPr>
        </p:nvGraphicFramePr>
        <p:xfrm>
          <a:off x="6168578" y="3656226"/>
          <a:ext cx="2692400" cy="720725"/>
        </p:xfrm>
        <a:graphic>
          <a:graphicData uri="http://schemas.openxmlformats.org/presentationml/2006/ole">
            <mc:AlternateContent xmlns:mc="http://schemas.openxmlformats.org/markup-compatibility/2006">
              <mc:Choice xmlns:v="urn:schemas-microsoft-com:vml" Requires="v">
                <p:oleObj name="Equation" r:id="rId9" imgW="850900" imgH="228600" progId="Equation.3">
                  <p:embed/>
                </p:oleObj>
              </mc:Choice>
              <mc:Fallback>
                <p:oleObj name="Equation" r:id="rId9" imgW="850900" imgH="228600" progId="Equation.3">
                  <p:embed/>
                  <p:pic>
                    <p:nvPicPr>
                      <p:cNvPr id="16" name="Object 7">
                        <a:extLst>
                          <a:ext uri="{FF2B5EF4-FFF2-40B4-BE49-F238E27FC236}">
                            <a16:creationId xmlns:a16="http://schemas.microsoft.com/office/drawing/2014/main" id="{7274674A-EED3-4271-ADEF-63CFDA4D543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68578" y="3656226"/>
                        <a:ext cx="2692400"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76621277"/>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4B5376E-F9CF-4920-A709-42B457457D6B}"/>
              </a:ext>
            </a:extLst>
          </p:cNvPr>
          <p:cNvCxnSpPr/>
          <p:nvPr/>
        </p:nvCxnSpPr>
        <p:spPr>
          <a:xfrm flipH="1">
            <a:off x="2918943" y="457535"/>
            <a:ext cx="6225059"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 name="圆角矩形 2">
            <a:extLst>
              <a:ext uri="{FF2B5EF4-FFF2-40B4-BE49-F238E27FC236}">
                <a16:creationId xmlns:a16="http://schemas.microsoft.com/office/drawing/2014/main" id="{4C14A501-C137-4A71-AB04-FCD7ED91BA1C}"/>
              </a:ext>
            </a:extLst>
          </p:cNvPr>
          <p:cNvSpPr/>
          <p:nvPr/>
        </p:nvSpPr>
        <p:spPr>
          <a:xfrm>
            <a:off x="742945" y="191230"/>
            <a:ext cx="4535986"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4" name="矩形 3">
            <a:extLst>
              <a:ext uri="{FF2B5EF4-FFF2-40B4-BE49-F238E27FC236}">
                <a16:creationId xmlns:a16="http://schemas.microsoft.com/office/drawing/2014/main" id="{6FCCF3D1-5299-4D06-B7DA-83E1B58FF386}"/>
              </a:ext>
            </a:extLst>
          </p:cNvPr>
          <p:cNvSpPr/>
          <p:nvPr/>
        </p:nvSpPr>
        <p:spPr>
          <a:xfrm>
            <a:off x="1027196" y="226702"/>
            <a:ext cx="4118435" cy="461665"/>
          </a:xfrm>
          <a:prstGeom prst="rect">
            <a:avLst/>
          </a:prstGeom>
        </p:spPr>
        <p:txBody>
          <a:bodyPr wrap="none">
            <a:spAutoFit/>
          </a:bodyPr>
          <a:lstStyle/>
          <a:p>
            <a:pPr defTabSz="913924"/>
            <a:r>
              <a:rPr lang="en-US" altLang="zh-CN" sz="2400" b="1" kern="0" dirty="0">
                <a:solidFill>
                  <a:srgbClr val="005A9E"/>
                </a:solidFill>
                <a:cs typeface="+mn-ea"/>
                <a:sym typeface="+mn-lt"/>
              </a:rPr>
              <a:t>Practice in class (</a:t>
            </a:r>
            <a:r>
              <a:rPr lang="zh-CN" altLang="en-US" sz="2400" b="1" kern="0" dirty="0">
                <a:solidFill>
                  <a:srgbClr val="005A9E"/>
                </a:solidFill>
                <a:cs typeface="+mn-ea"/>
                <a:sym typeface="+mn-lt"/>
              </a:rPr>
              <a:t>课堂练习</a:t>
            </a:r>
            <a:r>
              <a:rPr lang="en-US" altLang="zh-CN" sz="2400" b="1" kern="0" dirty="0">
                <a:solidFill>
                  <a:srgbClr val="005A9E"/>
                </a:solidFill>
                <a:cs typeface="+mn-ea"/>
                <a:sym typeface="+mn-lt"/>
              </a:rPr>
              <a:t>)</a:t>
            </a:r>
            <a:endParaRPr lang="zh-CN" altLang="en-US" sz="2400" b="1" kern="0" dirty="0">
              <a:solidFill>
                <a:srgbClr val="005A9E"/>
              </a:solidFill>
              <a:cs typeface="+mn-ea"/>
              <a:sym typeface="+mn-lt"/>
            </a:endParaRPr>
          </a:p>
        </p:txBody>
      </p:sp>
      <p:grpSp>
        <p:nvGrpSpPr>
          <p:cNvPr id="5" name="Group 17">
            <a:extLst>
              <a:ext uri="{FF2B5EF4-FFF2-40B4-BE49-F238E27FC236}">
                <a16:creationId xmlns:a16="http://schemas.microsoft.com/office/drawing/2014/main" id="{C701DF8D-F09C-4EE4-9F76-B83F5932DB59}"/>
              </a:ext>
            </a:extLst>
          </p:cNvPr>
          <p:cNvGrpSpPr>
            <a:grpSpLocks noChangeAspect="1"/>
          </p:cNvGrpSpPr>
          <p:nvPr/>
        </p:nvGrpSpPr>
        <p:grpSpPr bwMode="auto">
          <a:xfrm>
            <a:off x="179512" y="212152"/>
            <a:ext cx="457188" cy="490764"/>
            <a:chOff x="231" y="1205"/>
            <a:chExt cx="640" cy="687"/>
          </a:xfrm>
          <a:solidFill>
            <a:srgbClr val="005A9E"/>
          </a:solidFill>
          <a:effectLst/>
        </p:grpSpPr>
        <p:sp>
          <p:nvSpPr>
            <p:cNvPr id="6" name="Freeform 18">
              <a:extLst>
                <a:ext uri="{FF2B5EF4-FFF2-40B4-BE49-F238E27FC236}">
                  <a16:creationId xmlns:a16="http://schemas.microsoft.com/office/drawing/2014/main" id="{F9CCFD9C-528B-4F2A-8C85-82AA71E4D21F}"/>
                </a:ext>
              </a:extLst>
            </p:cNvPr>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7" name="Freeform 19">
              <a:extLst>
                <a:ext uri="{FF2B5EF4-FFF2-40B4-BE49-F238E27FC236}">
                  <a16:creationId xmlns:a16="http://schemas.microsoft.com/office/drawing/2014/main" id="{2C7D121B-BAE0-404E-9DFF-4327ACA068B9}"/>
                </a:ext>
              </a:extLst>
            </p:cNvPr>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pic>
        <p:nvPicPr>
          <p:cNvPr id="9" name="图片 8">
            <a:extLst>
              <a:ext uri="{FF2B5EF4-FFF2-40B4-BE49-F238E27FC236}">
                <a16:creationId xmlns:a16="http://schemas.microsoft.com/office/drawing/2014/main" id="{F1204813-62AA-4753-BA66-DB94AF859A33}"/>
              </a:ext>
            </a:extLst>
          </p:cNvPr>
          <p:cNvPicPr>
            <a:picLocks noChangeAspect="1"/>
          </p:cNvPicPr>
          <p:nvPr/>
        </p:nvPicPr>
        <p:blipFill>
          <a:blip r:embed="rId2"/>
          <a:stretch>
            <a:fillRect/>
          </a:stretch>
        </p:blipFill>
        <p:spPr>
          <a:xfrm>
            <a:off x="2031466" y="919200"/>
            <a:ext cx="5081068" cy="3434189"/>
          </a:xfrm>
          <a:prstGeom prst="rect">
            <a:avLst/>
          </a:prstGeom>
        </p:spPr>
      </p:pic>
      <p:sp>
        <p:nvSpPr>
          <p:cNvPr id="12" name="文本框 11">
            <a:extLst>
              <a:ext uri="{FF2B5EF4-FFF2-40B4-BE49-F238E27FC236}">
                <a16:creationId xmlns:a16="http://schemas.microsoft.com/office/drawing/2014/main" id="{DD371C74-EABD-44C3-BB9D-A2CDF6B87B6F}"/>
              </a:ext>
            </a:extLst>
          </p:cNvPr>
          <p:cNvSpPr txBox="1"/>
          <p:nvPr/>
        </p:nvSpPr>
        <p:spPr>
          <a:xfrm>
            <a:off x="3527256" y="4438903"/>
            <a:ext cx="3236749" cy="646331"/>
          </a:xfrm>
          <a:prstGeom prst="rect">
            <a:avLst/>
          </a:prstGeom>
          <a:noFill/>
        </p:spPr>
        <p:txBody>
          <a:bodyPr wrap="square" rtlCol="0">
            <a:spAutoFit/>
          </a:bodyPr>
          <a:lstStyle/>
          <a:p>
            <a:r>
              <a:rPr lang="en-US" altLang="zh-CN" sz="3600" b="1" dirty="0">
                <a:solidFill>
                  <a:srgbClr val="FF0000"/>
                </a:solidFill>
              </a:rPr>
              <a:t>49.80mm</a:t>
            </a:r>
            <a:endParaRPr lang="zh-CN" altLang="en-US" sz="3600" b="1" dirty="0">
              <a:solidFill>
                <a:srgbClr val="FF0000"/>
              </a:solidFill>
            </a:endParaRPr>
          </a:p>
        </p:txBody>
      </p:sp>
    </p:spTree>
    <p:extLst>
      <p:ext uri="{BB962C8B-B14F-4D97-AF65-F5344CB8AC3E}">
        <p14:creationId xmlns:p14="http://schemas.microsoft.com/office/powerpoint/2010/main" val="403487931"/>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0" y="2695576"/>
            <a:ext cx="9144000" cy="2447924"/>
          </a:xfrm>
          <a:prstGeom prst="rect">
            <a:avLst/>
          </a:prstGeom>
          <a:solidFill>
            <a:srgbClr val="005A9E"/>
          </a:solidFill>
          <a:ln w="25400" cap="flat" cmpd="sng" algn="ctr">
            <a:no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38" name="TextBox 37"/>
          <p:cNvSpPr txBox="1"/>
          <p:nvPr/>
        </p:nvSpPr>
        <p:spPr>
          <a:xfrm>
            <a:off x="-27450" y="2827981"/>
            <a:ext cx="9144000" cy="2123658"/>
          </a:xfrm>
          <a:prstGeom prst="rect">
            <a:avLst/>
          </a:prstGeom>
          <a:noFill/>
        </p:spPr>
        <p:txBody>
          <a:bodyPr wrap="square" rtlCol="0">
            <a:spAutoFit/>
          </a:bodyPr>
          <a:lstStyle/>
          <a:p>
            <a:pPr algn="ctr"/>
            <a:r>
              <a:rPr lang="en-US" altLang="zh-CN" sz="9600" b="1" dirty="0">
                <a:solidFill>
                  <a:prstClr val="white"/>
                </a:solidFill>
                <a:cs typeface="+mn-ea"/>
                <a:sym typeface="+mn-lt"/>
              </a:rPr>
              <a:t>THANKS!</a:t>
            </a:r>
          </a:p>
          <a:p>
            <a:pPr algn="ctr"/>
            <a:r>
              <a:rPr lang="en-US" altLang="zh-CN" sz="3600" b="1" dirty="0">
                <a:solidFill>
                  <a:prstClr val="white"/>
                </a:solidFill>
                <a:cs typeface="+mn-ea"/>
                <a:sym typeface="+mn-lt"/>
              </a:rPr>
              <a:t>《</a:t>
            </a:r>
            <a:r>
              <a:rPr lang="zh-CN" altLang="en-US" sz="3600" b="1" dirty="0">
                <a:solidFill>
                  <a:prstClr val="white"/>
                </a:solidFill>
                <a:cs typeface="+mn-ea"/>
                <a:sym typeface="+mn-lt"/>
              </a:rPr>
              <a:t>学有所得</a:t>
            </a:r>
            <a:r>
              <a:rPr lang="en-US" altLang="zh-CN" sz="3600" b="1" dirty="0">
                <a:solidFill>
                  <a:prstClr val="white"/>
                </a:solidFill>
                <a:cs typeface="+mn-ea"/>
                <a:sym typeface="+mn-lt"/>
              </a:rPr>
              <a:t>》</a:t>
            </a:r>
          </a:p>
        </p:txBody>
      </p:sp>
      <p:sp>
        <p:nvSpPr>
          <p:cNvPr id="39" name="TextBox 38"/>
          <p:cNvSpPr txBox="1"/>
          <p:nvPr/>
        </p:nvSpPr>
        <p:spPr>
          <a:xfrm>
            <a:off x="618116" y="623786"/>
            <a:ext cx="1884045" cy="400110"/>
          </a:xfrm>
          <a:prstGeom prst="rect">
            <a:avLst/>
          </a:prstGeom>
          <a:noFill/>
        </p:spPr>
        <p:txBody>
          <a:bodyPr wrap="square" rtlCol="0">
            <a:spAutoFit/>
          </a:bodyPr>
          <a:lstStyle/>
          <a:p>
            <a:r>
              <a:rPr lang="zh-CN" altLang="en-US" sz="2000" b="1" dirty="0">
                <a:solidFill>
                  <a:srgbClr val="005A9E"/>
                </a:solidFill>
                <a:cs typeface="+mn-ea"/>
                <a:sym typeface="+mn-lt"/>
              </a:rPr>
              <a:t> </a:t>
            </a:r>
            <a:endParaRPr lang="zh-CN" altLang="zh-CN" sz="2000" b="1" dirty="0">
              <a:solidFill>
                <a:srgbClr val="005A9E"/>
              </a:solidFill>
              <a:cs typeface="+mn-ea"/>
              <a:sym typeface="+mn-lt"/>
            </a:endParaRPr>
          </a:p>
        </p:txBody>
      </p:sp>
      <p:sp>
        <p:nvSpPr>
          <p:cNvPr id="40" name="流程图: 摘录 39"/>
          <p:cNvSpPr/>
          <p:nvPr/>
        </p:nvSpPr>
        <p:spPr>
          <a:xfrm rot="5400000">
            <a:off x="168116" y="621340"/>
            <a:ext cx="379141" cy="376987"/>
          </a:xfrm>
          <a:prstGeom prst="flowChartExtract">
            <a:avLst/>
          </a:prstGeom>
          <a:solidFill>
            <a:schemeClr val="bg1">
              <a:lumMod val="65000"/>
            </a:schemeClr>
          </a:solidFill>
          <a:ln w="25400" cap="flat" cmpd="sng" algn="ctr">
            <a:noFill/>
            <a:prstDash val="solid"/>
          </a:ln>
          <a:effectLst/>
        </p:spPr>
        <p:txBody>
          <a:bodyPr rtlCol="0" anchor="ctr"/>
          <a:lstStyle/>
          <a:p>
            <a:pPr algn="ctr">
              <a:defRPr/>
            </a:pPr>
            <a:endParaRPr lang="zh-CN" altLang="en-US" kern="0">
              <a:solidFill>
                <a:srgbClr val="005A9E"/>
              </a:solidFill>
              <a:cs typeface="+mn-ea"/>
              <a:sym typeface="+mn-lt"/>
            </a:endParaRPr>
          </a:p>
        </p:txBody>
      </p:sp>
      <p:grpSp>
        <p:nvGrpSpPr>
          <p:cNvPr id="2" name="组合 1"/>
          <p:cNvGrpSpPr/>
          <p:nvPr/>
        </p:nvGrpSpPr>
        <p:grpSpPr>
          <a:xfrm>
            <a:off x="1378609" y="543176"/>
            <a:ext cx="1571498" cy="1571498"/>
            <a:chOff x="1306673" y="750699"/>
            <a:chExt cx="1571498" cy="1571498"/>
          </a:xfrm>
        </p:grpSpPr>
        <p:grpSp>
          <p:nvGrpSpPr>
            <p:cNvPr id="57" name="组合 56"/>
            <p:cNvGrpSpPr/>
            <p:nvPr/>
          </p:nvGrpSpPr>
          <p:grpSpPr>
            <a:xfrm>
              <a:off x="1306673" y="750699"/>
              <a:ext cx="1571498" cy="1571498"/>
              <a:chOff x="1200760" y="3842074"/>
              <a:chExt cx="1784148" cy="1784148"/>
            </a:xfrm>
          </p:grpSpPr>
          <p:sp>
            <p:nvSpPr>
              <p:cNvPr id="58" name="椭圆 57"/>
              <p:cNvSpPr/>
              <p:nvPr/>
            </p:nvSpPr>
            <p:spPr>
              <a:xfrm>
                <a:off x="1200760" y="3842074"/>
                <a:ext cx="1784148" cy="1784148"/>
              </a:xfrm>
              <a:prstGeom prst="ellipse">
                <a:avLst/>
              </a:prstGeom>
              <a:gradFill flip="none" rotWithShape="1">
                <a:gsLst>
                  <a:gs pos="0">
                    <a:srgbClr val="CBCBCB"/>
                  </a:gs>
                  <a:gs pos="100000">
                    <a:srgbClr val="F3F3F3"/>
                  </a:gs>
                </a:gsLst>
                <a:lin ang="2700000" scaled="1"/>
                <a:tileRect/>
              </a:gradFill>
              <a:ln w="31750" cap="flat" cmpd="sng" algn="ctr">
                <a:gradFill flip="none" rotWithShape="1">
                  <a:gsLst>
                    <a:gs pos="0">
                      <a:sysClr val="window" lastClr="FFFFFF"/>
                    </a:gs>
                    <a:gs pos="100000">
                      <a:srgbClr val="CBCBCB"/>
                    </a:gs>
                  </a:gsLst>
                  <a:lin ang="2700000" scaled="1"/>
                  <a:tileRect/>
                </a:gradFill>
                <a:prstDash val="solid"/>
              </a:ln>
              <a:effectLst>
                <a:outerShdw blurRad="127000" dist="76200" dir="2700000" algn="tl" rotWithShape="0">
                  <a:prstClr val="black">
                    <a:alpha val="40000"/>
                  </a:prstClr>
                </a:outerShdw>
              </a:effectLst>
            </p:spPr>
            <p:txBody>
              <a:bodyPr rtlCol="0" anchor="ctr"/>
              <a:lstStyle/>
              <a:p>
                <a:pPr algn="ctr">
                  <a:defRPr/>
                </a:pPr>
                <a:endParaRPr lang="zh-CN" altLang="en-US" sz="1400" kern="0">
                  <a:solidFill>
                    <a:prstClr val="white"/>
                  </a:solidFill>
                  <a:cs typeface="+mn-ea"/>
                  <a:sym typeface="+mn-lt"/>
                </a:endParaRPr>
              </a:p>
            </p:txBody>
          </p:sp>
          <p:sp>
            <p:nvSpPr>
              <p:cNvPr id="77" name="椭圆 76"/>
              <p:cNvSpPr/>
              <p:nvPr/>
            </p:nvSpPr>
            <p:spPr>
              <a:xfrm>
                <a:off x="1475770" y="4117085"/>
                <a:ext cx="1234127" cy="1234127"/>
              </a:xfrm>
              <a:prstGeom prst="ellipse">
                <a:avLst/>
              </a:prstGeom>
              <a:solidFill>
                <a:srgbClr val="005A9E"/>
              </a:solidFill>
              <a:ln w="25400" cap="flat" cmpd="sng" algn="ctr">
                <a:noFill/>
                <a:prstDash val="solid"/>
              </a:ln>
              <a:effectLst>
                <a:innerShdw blurRad="101600" dist="50800" dir="13500000">
                  <a:prstClr val="black">
                    <a:alpha val="50000"/>
                  </a:prstClr>
                </a:innerShdw>
              </a:effectLst>
            </p:spPr>
            <p:txBody>
              <a:bodyPr rtlCol="0" anchor="ctr"/>
              <a:lstStyle/>
              <a:p>
                <a:pPr algn="ctr">
                  <a:defRPr/>
                </a:pPr>
                <a:endParaRPr lang="zh-CN" altLang="en-US" sz="1400" kern="0">
                  <a:solidFill>
                    <a:prstClr val="white"/>
                  </a:solidFill>
                  <a:cs typeface="+mn-ea"/>
                  <a:sym typeface="+mn-lt"/>
                </a:endParaRPr>
              </a:p>
            </p:txBody>
          </p:sp>
        </p:grpSp>
        <p:sp>
          <p:nvSpPr>
            <p:cNvPr id="87" name="TextBox 86"/>
            <p:cNvSpPr txBox="1"/>
            <p:nvPr/>
          </p:nvSpPr>
          <p:spPr>
            <a:xfrm>
              <a:off x="1741020" y="906421"/>
              <a:ext cx="733283" cy="1323439"/>
            </a:xfrm>
            <a:prstGeom prst="rect">
              <a:avLst/>
            </a:prstGeom>
            <a:noFill/>
          </p:spPr>
          <p:txBody>
            <a:bodyPr wrap="square" rtlCol="0">
              <a:spAutoFit/>
            </a:bodyPr>
            <a:lstStyle/>
            <a:p>
              <a:pPr algn="ctr">
                <a:defRPr/>
              </a:pPr>
              <a:r>
                <a:rPr lang="en-US" altLang="zh-CN" sz="8000" b="1" kern="0" dirty="0">
                  <a:solidFill>
                    <a:sysClr val="window" lastClr="FFFFFF"/>
                  </a:solidFill>
                  <a:cs typeface="+mn-ea"/>
                  <a:sym typeface="+mn-lt"/>
                </a:rPr>
                <a:t>2</a:t>
              </a:r>
            </a:p>
          </p:txBody>
        </p:sp>
      </p:grpSp>
      <p:grpSp>
        <p:nvGrpSpPr>
          <p:cNvPr id="3" name="组合 2"/>
          <p:cNvGrpSpPr/>
          <p:nvPr/>
        </p:nvGrpSpPr>
        <p:grpSpPr>
          <a:xfrm>
            <a:off x="2953642" y="543176"/>
            <a:ext cx="1571498" cy="1571498"/>
            <a:chOff x="2881706" y="750699"/>
            <a:chExt cx="1571498" cy="1571498"/>
          </a:xfrm>
        </p:grpSpPr>
        <p:grpSp>
          <p:nvGrpSpPr>
            <p:cNvPr id="78" name="组合 77"/>
            <p:cNvGrpSpPr/>
            <p:nvPr/>
          </p:nvGrpSpPr>
          <p:grpSpPr>
            <a:xfrm>
              <a:off x="2881706" y="750699"/>
              <a:ext cx="1571498" cy="1571498"/>
              <a:chOff x="1200760" y="3842074"/>
              <a:chExt cx="1784148" cy="1784148"/>
            </a:xfrm>
          </p:grpSpPr>
          <p:sp>
            <p:nvSpPr>
              <p:cNvPr id="79" name="椭圆 78"/>
              <p:cNvSpPr/>
              <p:nvPr/>
            </p:nvSpPr>
            <p:spPr>
              <a:xfrm>
                <a:off x="1200760" y="3842074"/>
                <a:ext cx="1784148" cy="1784148"/>
              </a:xfrm>
              <a:prstGeom prst="ellipse">
                <a:avLst/>
              </a:prstGeom>
              <a:gradFill flip="none" rotWithShape="1">
                <a:gsLst>
                  <a:gs pos="0">
                    <a:srgbClr val="CBCBCB"/>
                  </a:gs>
                  <a:gs pos="100000">
                    <a:srgbClr val="F3F3F3"/>
                  </a:gs>
                </a:gsLst>
                <a:lin ang="2700000" scaled="1"/>
                <a:tileRect/>
              </a:gradFill>
              <a:ln w="31750" cap="flat" cmpd="sng" algn="ctr">
                <a:gradFill flip="none" rotWithShape="1">
                  <a:gsLst>
                    <a:gs pos="0">
                      <a:sysClr val="window" lastClr="FFFFFF"/>
                    </a:gs>
                    <a:gs pos="100000">
                      <a:srgbClr val="CBCBCB"/>
                    </a:gs>
                  </a:gsLst>
                  <a:lin ang="2700000" scaled="1"/>
                  <a:tileRect/>
                </a:gradFill>
                <a:prstDash val="solid"/>
              </a:ln>
              <a:effectLst>
                <a:outerShdw blurRad="127000" dist="76200" dir="2700000" algn="tl" rotWithShape="0">
                  <a:prstClr val="black">
                    <a:alpha val="40000"/>
                  </a:prstClr>
                </a:outerShdw>
              </a:effectLst>
            </p:spPr>
            <p:txBody>
              <a:bodyPr rtlCol="0" anchor="ctr"/>
              <a:lstStyle/>
              <a:p>
                <a:pPr algn="ctr">
                  <a:defRPr/>
                </a:pPr>
                <a:endParaRPr lang="zh-CN" altLang="en-US" sz="1400" kern="0">
                  <a:solidFill>
                    <a:prstClr val="white"/>
                  </a:solidFill>
                  <a:cs typeface="+mn-ea"/>
                  <a:sym typeface="+mn-lt"/>
                </a:endParaRPr>
              </a:p>
            </p:txBody>
          </p:sp>
          <p:sp>
            <p:nvSpPr>
              <p:cNvPr id="80" name="椭圆 79"/>
              <p:cNvSpPr/>
              <p:nvPr/>
            </p:nvSpPr>
            <p:spPr>
              <a:xfrm>
                <a:off x="1475770" y="4117085"/>
                <a:ext cx="1234127" cy="1234127"/>
              </a:xfrm>
              <a:prstGeom prst="ellipse">
                <a:avLst/>
              </a:prstGeom>
              <a:solidFill>
                <a:sysClr val="window" lastClr="FFFFFF">
                  <a:lumMod val="75000"/>
                </a:sysClr>
              </a:solidFill>
              <a:ln w="25400" cap="flat" cmpd="sng" algn="ctr">
                <a:noFill/>
                <a:prstDash val="solid"/>
              </a:ln>
              <a:effectLst>
                <a:innerShdw blurRad="101600" dist="50800" dir="13500000">
                  <a:prstClr val="black">
                    <a:alpha val="50000"/>
                  </a:prstClr>
                </a:innerShdw>
              </a:effectLst>
            </p:spPr>
            <p:txBody>
              <a:bodyPr rtlCol="0" anchor="ctr"/>
              <a:lstStyle/>
              <a:p>
                <a:pPr algn="ctr">
                  <a:defRPr/>
                </a:pPr>
                <a:endParaRPr lang="zh-CN" altLang="en-US" sz="1400" kern="0">
                  <a:solidFill>
                    <a:prstClr val="white"/>
                  </a:solidFill>
                  <a:cs typeface="+mn-ea"/>
                  <a:sym typeface="+mn-lt"/>
                </a:endParaRPr>
              </a:p>
            </p:txBody>
          </p:sp>
        </p:grpSp>
        <p:sp>
          <p:nvSpPr>
            <p:cNvPr id="88" name="TextBox 87"/>
            <p:cNvSpPr txBox="1"/>
            <p:nvPr/>
          </p:nvSpPr>
          <p:spPr>
            <a:xfrm>
              <a:off x="3408824" y="910373"/>
              <a:ext cx="525559" cy="1323439"/>
            </a:xfrm>
            <a:prstGeom prst="rect">
              <a:avLst/>
            </a:prstGeom>
            <a:noFill/>
          </p:spPr>
          <p:txBody>
            <a:bodyPr wrap="square" rtlCol="0">
              <a:spAutoFit/>
            </a:bodyPr>
            <a:lstStyle/>
            <a:p>
              <a:pPr algn="ctr"/>
              <a:r>
                <a:rPr lang="en-US" altLang="zh-CN" sz="8000" b="1" dirty="0">
                  <a:solidFill>
                    <a:srgbClr val="005A9E"/>
                  </a:solidFill>
                  <a:cs typeface="+mn-ea"/>
                  <a:sym typeface="+mn-lt"/>
                </a:rPr>
                <a:t>0</a:t>
              </a:r>
            </a:p>
          </p:txBody>
        </p:sp>
      </p:grpSp>
      <p:grpSp>
        <p:nvGrpSpPr>
          <p:cNvPr id="4" name="组合 3"/>
          <p:cNvGrpSpPr/>
          <p:nvPr/>
        </p:nvGrpSpPr>
        <p:grpSpPr>
          <a:xfrm>
            <a:off x="4562053" y="543176"/>
            <a:ext cx="1571498" cy="1571498"/>
            <a:chOff x="4490117" y="750699"/>
            <a:chExt cx="1571498" cy="1571498"/>
          </a:xfrm>
        </p:grpSpPr>
        <p:grpSp>
          <p:nvGrpSpPr>
            <p:cNvPr id="81" name="组合 80"/>
            <p:cNvGrpSpPr/>
            <p:nvPr/>
          </p:nvGrpSpPr>
          <p:grpSpPr>
            <a:xfrm>
              <a:off x="4490117" y="750699"/>
              <a:ext cx="1571498" cy="1571498"/>
              <a:chOff x="1200760" y="3842074"/>
              <a:chExt cx="1784148" cy="1784148"/>
            </a:xfrm>
          </p:grpSpPr>
          <p:sp>
            <p:nvSpPr>
              <p:cNvPr id="82" name="椭圆 81"/>
              <p:cNvSpPr/>
              <p:nvPr/>
            </p:nvSpPr>
            <p:spPr>
              <a:xfrm>
                <a:off x="1200760" y="3842074"/>
                <a:ext cx="1784148" cy="1784148"/>
              </a:xfrm>
              <a:prstGeom prst="ellipse">
                <a:avLst/>
              </a:prstGeom>
              <a:gradFill flip="none" rotWithShape="1">
                <a:gsLst>
                  <a:gs pos="0">
                    <a:srgbClr val="CBCBCB"/>
                  </a:gs>
                  <a:gs pos="100000">
                    <a:srgbClr val="F3F3F3"/>
                  </a:gs>
                </a:gsLst>
                <a:lin ang="2700000" scaled="1"/>
                <a:tileRect/>
              </a:gradFill>
              <a:ln w="31750" cap="flat" cmpd="sng" algn="ctr">
                <a:gradFill flip="none" rotWithShape="1">
                  <a:gsLst>
                    <a:gs pos="0">
                      <a:sysClr val="window" lastClr="FFFFFF"/>
                    </a:gs>
                    <a:gs pos="100000">
                      <a:srgbClr val="CBCBCB"/>
                    </a:gs>
                  </a:gsLst>
                  <a:lin ang="2700000" scaled="1"/>
                  <a:tileRect/>
                </a:gradFill>
                <a:prstDash val="solid"/>
              </a:ln>
              <a:effectLst>
                <a:outerShdw blurRad="127000" dist="76200" dir="2700000" algn="tl" rotWithShape="0">
                  <a:prstClr val="black">
                    <a:alpha val="40000"/>
                  </a:prstClr>
                </a:outerShdw>
              </a:effectLst>
            </p:spPr>
            <p:txBody>
              <a:bodyPr rtlCol="0" anchor="ctr"/>
              <a:lstStyle/>
              <a:p>
                <a:pPr algn="ctr">
                  <a:defRPr/>
                </a:pPr>
                <a:endParaRPr lang="zh-CN" altLang="en-US" sz="1400" kern="0">
                  <a:solidFill>
                    <a:prstClr val="white"/>
                  </a:solidFill>
                  <a:cs typeface="+mn-ea"/>
                  <a:sym typeface="+mn-lt"/>
                </a:endParaRPr>
              </a:p>
            </p:txBody>
          </p:sp>
          <p:sp>
            <p:nvSpPr>
              <p:cNvPr id="83" name="椭圆 82"/>
              <p:cNvSpPr/>
              <p:nvPr/>
            </p:nvSpPr>
            <p:spPr>
              <a:xfrm>
                <a:off x="1475770" y="4117085"/>
                <a:ext cx="1234127" cy="1234127"/>
              </a:xfrm>
              <a:prstGeom prst="ellipse">
                <a:avLst/>
              </a:prstGeom>
              <a:solidFill>
                <a:srgbClr val="005A9E"/>
              </a:solidFill>
              <a:ln w="25400" cap="flat" cmpd="sng" algn="ctr">
                <a:noFill/>
                <a:prstDash val="solid"/>
              </a:ln>
              <a:effectLst>
                <a:innerShdw blurRad="101600" dist="50800" dir="13500000">
                  <a:prstClr val="black">
                    <a:alpha val="50000"/>
                  </a:prstClr>
                </a:innerShdw>
              </a:effectLst>
            </p:spPr>
            <p:txBody>
              <a:bodyPr rtlCol="0" anchor="ctr"/>
              <a:lstStyle/>
              <a:p>
                <a:pPr algn="ctr">
                  <a:defRPr/>
                </a:pPr>
                <a:endParaRPr lang="zh-CN" altLang="en-US" sz="1400" kern="0">
                  <a:solidFill>
                    <a:prstClr val="white"/>
                  </a:solidFill>
                  <a:cs typeface="+mn-ea"/>
                  <a:sym typeface="+mn-lt"/>
                </a:endParaRPr>
              </a:p>
            </p:txBody>
          </p:sp>
        </p:grpSp>
        <p:sp>
          <p:nvSpPr>
            <p:cNvPr id="89" name="TextBox 88"/>
            <p:cNvSpPr txBox="1"/>
            <p:nvPr/>
          </p:nvSpPr>
          <p:spPr>
            <a:xfrm>
              <a:off x="5028325" y="911215"/>
              <a:ext cx="525559" cy="1323439"/>
            </a:xfrm>
            <a:prstGeom prst="rect">
              <a:avLst/>
            </a:prstGeom>
            <a:noFill/>
          </p:spPr>
          <p:txBody>
            <a:bodyPr wrap="square" rtlCol="0">
              <a:spAutoFit/>
            </a:bodyPr>
            <a:lstStyle/>
            <a:p>
              <a:pPr algn="ctr">
                <a:defRPr/>
              </a:pPr>
              <a:r>
                <a:rPr lang="en-US" altLang="zh-CN" sz="8000" b="1" kern="0" dirty="0">
                  <a:solidFill>
                    <a:sysClr val="window" lastClr="FFFFFF"/>
                  </a:solidFill>
                  <a:cs typeface="+mn-ea"/>
                  <a:sym typeface="+mn-lt"/>
                </a:rPr>
                <a:t>2</a:t>
              </a:r>
            </a:p>
          </p:txBody>
        </p:sp>
      </p:grpSp>
      <p:grpSp>
        <p:nvGrpSpPr>
          <p:cNvPr id="5" name="组合 4"/>
          <p:cNvGrpSpPr/>
          <p:nvPr/>
        </p:nvGrpSpPr>
        <p:grpSpPr>
          <a:xfrm>
            <a:off x="6170464" y="543176"/>
            <a:ext cx="1571498" cy="1571498"/>
            <a:chOff x="6098528" y="750699"/>
            <a:chExt cx="1571498" cy="1571498"/>
          </a:xfrm>
        </p:grpSpPr>
        <p:grpSp>
          <p:nvGrpSpPr>
            <p:cNvPr id="84" name="组合 83"/>
            <p:cNvGrpSpPr/>
            <p:nvPr/>
          </p:nvGrpSpPr>
          <p:grpSpPr>
            <a:xfrm>
              <a:off x="6098528" y="750699"/>
              <a:ext cx="1571498" cy="1571498"/>
              <a:chOff x="1200760" y="3842074"/>
              <a:chExt cx="1784148" cy="1784148"/>
            </a:xfrm>
          </p:grpSpPr>
          <p:sp>
            <p:nvSpPr>
              <p:cNvPr id="85" name="椭圆 84"/>
              <p:cNvSpPr/>
              <p:nvPr/>
            </p:nvSpPr>
            <p:spPr>
              <a:xfrm>
                <a:off x="1200760" y="3842074"/>
                <a:ext cx="1784148" cy="1784148"/>
              </a:xfrm>
              <a:prstGeom prst="ellipse">
                <a:avLst/>
              </a:prstGeom>
              <a:gradFill flip="none" rotWithShape="1">
                <a:gsLst>
                  <a:gs pos="0">
                    <a:srgbClr val="CBCBCB"/>
                  </a:gs>
                  <a:gs pos="100000">
                    <a:srgbClr val="F3F3F3"/>
                  </a:gs>
                </a:gsLst>
                <a:lin ang="2700000" scaled="1"/>
                <a:tileRect/>
              </a:gradFill>
              <a:ln w="31750" cap="flat" cmpd="sng" algn="ctr">
                <a:gradFill flip="none" rotWithShape="1">
                  <a:gsLst>
                    <a:gs pos="0">
                      <a:sysClr val="window" lastClr="FFFFFF"/>
                    </a:gs>
                    <a:gs pos="100000">
                      <a:srgbClr val="CBCBCB"/>
                    </a:gs>
                  </a:gsLst>
                  <a:lin ang="2700000" scaled="1"/>
                  <a:tileRect/>
                </a:gradFill>
                <a:prstDash val="solid"/>
              </a:ln>
              <a:effectLst>
                <a:outerShdw blurRad="127000" dist="76200" dir="2700000" algn="tl" rotWithShape="0">
                  <a:prstClr val="black">
                    <a:alpha val="40000"/>
                  </a:prstClr>
                </a:outerShdw>
              </a:effectLst>
            </p:spPr>
            <p:txBody>
              <a:bodyPr rtlCol="0" anchor="ctr"/>
              <a:lstStyle/>
              <a:p>
                <a:pPr algn="ctr">
                  <a:defRPr/>
                </a:pPr>
                <a:endParaRPr lang="zh-CN" altLang="en-US" sz="1400" kern="0">
                  <a:solidFill>
                    <a:prstClr val="white"/>
                  </a:solidFill>
                  <a:cs typeface="+mn-ea"/>
                  <a:sym typeface="+mn-lt"/>
                </a:endParaRPr>
              </a:p>
            </p:txBody>
          </p:sp>
          <p:sp>
            <p:nvSpPr>
              <p:cNvPr id="86" name="椭圆 85"/>
              <p:cNvSpPr/>
              <p:nvPr/>
            </p:nvSpPr>
            <p:spPr>
              <a:xfrm>
                <a:off x="1475770" y="4117085"/>
                <a:ext cx="1234127" cy="1234127"/>
              </a:xfrm>
              <a:prstGeom prst="ellipse">
                <a:avLst/>
              </a:prstGeom>
              <a:solidFill>
                <a:sysClr val="window" lastClr="FFFFFF">
                  <a:lumMod val="75000"/>
                </a:sysClr>
              </a:solidFill>
              <a:ln w="25400" cap="flat" cmpd="sng" algn="ctr">
                <a:noFill/>
                <a:prstDash val="solid"/>
              </a:ln>
              <a:effectLst>
                <a:innerShdw blurRad="101600" dist="50800" dir="13500000">
                  <a:prstClr val="black">
                    <a:alpha val="50000"/>
                  </a:prstClr>
                </a:innerShdw>
              </a:effectLst>
            </p:spPr>
            <p:txBody>
              <a:bodyPr rtlCol="0" anchor="ctr"/>
              <a:lstStyle/>
              <a:p>
                <a:pPr algn="ctr">
                  <a:defRPr/>
                </a:pPr>
                <a:endParaRPr lang="zh-CN" altLang="en-US" sz="1400" kern="0">
                  <a:solidFill>
                    <a:prstClr val="white"/>
                  </a:solidFill>
                  <a:cs typeface="+mn-ea"/>
                  <a:sym typeface="+mn-lt"/>
                </a:endParaRPr>
              </a:p>
            </p:txBody>
          </p:sp>
        </p:grpSp>
        <p:sp>
          <p:nvSpPr>
            <p:cNvPr id="90" name="TextBox 89"/>
            <p:cNvSpPr txBox="1"/>
            <p:nvPr/>
          </p:nvSpPr>
          <p:spPr>
            <a:xfrm>
              <a:off x="6608249" y="911215"/>
              <a:ext cx="525559" cy="1323439"/>
            </a:xfrm>
            <a:prstGeom prst="rect">
              <a:avLst/>
            </a:prstGeom>
            <a:noFill/>
          </p:spPr>
          <p:txBody>
            <a:bodyPr wrap="square" rtlCol="0">
              <a:spAutoFit/>
            </a:bodyPr>
            <a:lstStyle/>
            <a:p>
              <a:pPr algn="ctr"/>
              <a:r>
                <a:rPr lang="en-US" altLang="zh-CN" sz="8000" b="1" dirty="0">
                  <a:solidFill>
                    <a:srgbClr val="005A9E"/>
                  </a:solidFill>
                  <a:cs typeface="+mn-ea"/>
                  <a:sym typeface="+mn-lt"/>
                </a:rPr>
                <a:t>5</a:t>
              </a:r>
            </a:p>
          </p:txBody>
        </p:sp>
      </p:grpSp>
      <p:sp>
        <p:nvSpPr>
          <p:cNvPr id="91" name="流程图: 摘录 90"/>
          <p:cNvSpPr/>
          <p:nvPr/>
        </p:nvSpPr>
        <p:spPr>
          <a:xfrm rot="5400000">
            <a:off x="240052" y="621341"/>
            <a:ext cx="379141" cy="376987"/>
          </a:xfrm>
          <a:prstGeom prst="flowChartExtract">
            <a:avLst/>
          </a:prstGeom>
          <a:solidFill>
            <a:srgbClr val="005A9E"/>
          </a:solidFill>
          <a:ln w="25400" cap="flat" cmpd="sng" algn="ctr">
            <a:noFill/>
            <a:prstDash val="solid"/>
          </a:ln>
          <a:effectLst/>
        </p:spPr>
        <p:txBody>
          <a:bodyPr rtlCol="0" anchor="ctr"/>
          <a:lstStyle/>
          <a:p>
            <a:pPr algn="ctr">
              <a:defRPr/>
            </a:pPr>
            <a:endParaRPr lang="zh-CN" altLang="en-US" kern="0">
              <a:solidFill>
                <a:srgbClr val="005A9E"/>
              </a:solidFill>
              <a:cs typeface="+mn-ea"/>
              <a:sym typeface="+mn-lt"/>
            </a:endParaRPr>
          </a:p>
        </p:txBody>
      </p:sp>
    </p:spTree>
    <p:extLst>
      <p:ext uri="{BB962C8B-B14F-4D97-AF65-F5344CB8AC3E}">
        <p14:creationId xmlns:p14="http://schemas.microsoft.com/office/powerpoint/2010/main" val="369927675"/>
      </p:ext>
    </p:extLst>
  </p:cSld>
  <p:clrMapOvr>
    <a:masterClrMapping/>
  </p:clrMapOvr>
  <mc:AlternateContent xmlns:mc="http://schemas.openxmlformats.org/markup-compatibility/2006" xmlns:p14="http://schemas.microsoft.com/office/powerpoint/2010/main">
    <mc:Choice Requires="p14">
      <p:transition spd="slow" p14:dur="4000" advTm="35000">
        <p14:prism/>
      </p:transition>
    </mc:Choice>
    <mc:Fallback xmlns="">
      <p:transition spd="slow" advTm="35000">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a:off x="3700059" y="2462747"/>
            <a:ext cx="3236046" cy="0"/>
          </a:xfrm>
          <a:prstGeom prst="line">
            <a:avLst/>
          </a:prstGeom>
          <a:noFill/>
          <a:ln w="19050" cap="flat" cmpd="sng" algn="ctr">
            <a:solidFill>
              <a:srgbClr val="E7E6E6">
                <a:lumMod val="50000"/>
              </a:srgbClr>
            </a:solidFill>
            <a:prstDash val="sysDot"/>
            <a:miter lim="800000"/>
            <a:tailEnd type="oval"/>
          </a:ln>
          <a:effectLst/>
        </p:spPr>
      </p:cxnSp>
      <p:grpSp>
        <p:nvGrpSpPr>
          <p:cNvPr id="15" name="组合 14"/>
          <p:cNvGrpSpPr/>
          <p:nvPr/>
        </p:nvGrpSpPr>
        <p:grpSpPr>
          <a:xfrm>
            <a:off x="1136404" y="1629843"/>
            <a:ext cx="1837257" cy="1837257"/>
            <a:chOff x="1959919" y="2023759"/>
            <a:chExt cx="2773806" cy="2773806"/>
          </a:xfrm>
        </p:grpSpPr>
        <p:grpSp>
          <p:nvGrpSpPr>
            <p:cNvPr id="16" name="组合 15"/>
            <p:cNvGrpSpPr/>
            <p:nvPr/>
          </p:nvGrpSpPr>
          <p:grpSpPr>
            <a:xfrm>
              <a:off x="1959919" y="2023759"/>
              <a:ext cx="2773806" cy="2773806"/>
              <a:chOff x="2099081" y="2031187"/>
              <a:chExt cx="2739620" cy="2739620"/>
            </a:xfrm>
          </p:grpSpPr>
          <p:sp>
            <p:nvSpPr>
              <p:cNvPr id="19" name="椭圆 18"/>
              <p:cNvSpPr/>
              <p:nvPr/>
            </p:nvSpPr>
            <p:spPr>
              <a:xfrm>
                <a:off x="2099081" y="2031187"/>
                <a:ext cx="2739620" cy="2739620"/>
              </a:xfrm>
              <a:prstGeom prst="ellipse">
                <a:avLst/>
              </a:prstGeom>
              <a:gradFill flip="none" rotWithShape="1">
                <a:gsLst>
                  <a:gs pos="0">
                    <a:sysClr val="window" lastClr="FFFFFF">
                      <a:lumMod val="85000"/>
                    </a:sysClr>
                  </a:gs>
                  <a:gs pos="100000">
                    <a:sysClr val="window" lastClr="FFFFFF">
                      <a:alpha val="99000"/>
                    </a:sysClr>
                  </a:gs>
                </a:gsLst>
                <a:path path="circle">
                  <a:fillToRect l="100000" t="100000"/>
                </a:path>
                <a:tileRect r="-100000" b="-100000"/>
              </a:gradFill>
              <a:ln w="12700" cap="flat" cmpd="sng" algn="ctr">
                <a:noFill/>
                <a:prstDash val="solid"/>
                <a:miter lim="800000"/>
              </a:ln>
              <a:effectLst>
                <a:softEdge rad="101600"/>
              </a:effectLst>
            </p:spPr>
            <p:txBody>
              <a:bodyPr rtlCol="0" anchor="ctr"/>
              <a:lstStyle/>
              <a:p>
                <a:pPr algn="ctr">
                  <a:defRPr/>
                </a:pPr>
                <a:endParaRPr lang="zh-CN" altLang="en-US" kern="0">
                  <a:solidFill>
                    <a:sysClr val="window" lastClr="FFFFFF"/>
                  </a:solidFill>
                  <a:cs typeface="+mn-ea"/>
                  <a:sym typeface="+mn-lt"/>
                </a:endParaRPr>
              </a:p>
            </p:txBody>
          </p:sp>
          <p:sp>
            <p:nvSpPr>
              <p:cNvPr id="20" name="圆角矩形 19"/>
              <p:cNvSpPr/>
              <p:nvPr/>
            </p:nvSpPr>
            <p:spPr>
              <a:xfrm>
                <a:off x="2377216" y="2309322"/>
                <a:ext cx="2183348" cy="2183348"/>
              </a:xfrm>
              <a:prstGeom prst="roundRect">
                <a:avLst>
                  <a:gd name="adj" fmla="val 50000"/>
                </a:avLst>
              </a:prstGeom>
              <a:gradFill flip="none" rotWithShape="1">
                <a:gsLst>
                  <a:gs pos="100000">
                    <a:sysClr val="window" lastClr="FFFFFF"/>
                  </a:gs>
                  <a:gs pos="0">
                    <a:srgbClr val="B8BBBC"/>
                  </a:gs>
                </a:gsLst>
                <a:lin ang="5400000" scaled="0"/>
                <a:tileRect/>
              </a:gradFill>
              <a:ln w="12700" cap="flat" cmpd="sng" algn="ctr">
                <a:noFill/>
                <a:prstDash val="solid"/>
                <a:miter lim="800000"/>
              </a:ln>
              <a:effectLst/>
            </p:spPr>
            <p:txBody>
              <a:bodyPr rtlCol="0" anchor="ctr"/>
              <a:lstStyle/>
              <a:p>
                <a:pPr algn="ctr">
                  <a:defRPr/>
                </a:pPr>
                <a:endParaRPr lang="zh-CN" altLang="en-US" kern="0">
                  <a:solidFill>
                    <a:sysClr val="window" lastClr="FFFFFF"/>
                  </a:solidFill>
                  <a:cs typeface="+mn-ea"/>
                  <a:sym typeface="+mn-lt"/>
                </a:endParaRPr>
              </a:p>
            </p:txBody>
          </p:sp>
        </p:grpSp>
        <p:sp>
          <p:nvSpPr>
            <p:cNvPr id="17" name="椭圆 16"/>
            <p:cNvSpPr/>
            <p:nvPr/>
          </p:nvSpPr>
          <p:spPr>
            <a:xfrm>
              <a:off x="2510240" y="2574081"/>
              <a:ext cx="1673164" cy="1673161"/>
            </a:xfrm>
            <a:prstGeom prst="ellipse">
              <a:avLst/>
            </a:prstGeom>
            <a:solidFill>
              <a:srgbClr val="005A9E"/>
            </a:solidFill>
            <a:ln w="12700" cap="flat" cmpd="sng" algn="ctr">
              <a:noFill/>
              <a:prstDash val="solid"/>
              <a:miter lim="800000"/>
            </a:ln>
            <a:effectLst>
              <a:innerShdw blurRad="203200" dist="50800" dir="16200000">
                <a:prstClr val="black">
                  <a:alpha val="50000"/>
                </a:prstClr>
              </a:innerShdw>
            </a:effectLst>
          </p:spPr>
          <p:txBody>
            <a:bodyPr rtlCol="0" anchor="ctr"/>
            <a:lstStyle/>
            <a:p>
              <a:pPr algn="ctr">
                <a:defRPr/>
              </a:pPr>
              <a:endParaRPr lang="zh-CN" altLang="en-US" sz="9000" kern="0">
                <a:solidFill>
                  <a:sysClr val="window" lastClr="FFFFFF"/>
                </a:solidFill>
                <a:cs typeface="+mn-ea"/>
                <a:sym typeface="+mn-lt"/>
              </a:endParaRPr>
            </a:p>
          </p:txBody>
        </p:sp>
      </p:grpSp>
      <p:sp>
        <p:nvSpPr>
          <p:cNvPr id="21" name="矩形 20"/>
          <p:cNvSpPr/>
          <p:nvPr/>
        </p:nvSpPr>
        <p:spPr>
          <a:xfrm>
            <a:off x="3851920" y="1634122"/>
            <a:ext cx="2677656" cy="623248"/>
          </a:xfrm>
          <a:prstGeom prst="rect">
            <a:avLst/>
          </a:prstGeom>
        </p:spPr>
        <p:txBody>
          <a:bodyPr wrap="none" lIns="68580" tIns="34290" rIns="68580" bIns="34290">
            <a:spAutoFit/>
          </a:bodyPr>
          <a:lstStyle/>
          <a:p>
            <a:pPr defTabSz="913924">
              <a:defRPr/>
            </a:pPr>
            <a:r>
              <a:rPr lang="en-US" altLang="zh-CN" sz="3600" b="1" kern="0" dirty="0">
                <a:solidFill>
                  <a:srgbClr val="005A9E"/>
                </a:solidFill>
                <a:cs typeface="+mn-ea"/>
                <a:sym typeface="+mn-lt"/>
              </a:rPr>
              <a:t>Uncertainty</a:t>
            </a:r>
            <a:endParaRPr lang="zh-CN" altLang="en-US" sz="3600" b="1" kern="0" dirty="0">
              <a:solidFill>
                <a:srgbClr val="005A9E"/>
              </a:solidFill>
              <a:cs typeface="+mn-ea"/>
              <a:sym typeface="+mn-lt"/>
            </a:endParaRPr>
          </a:p>
        </p:txBody>
      </p:sp>
      <p:cxnSp>
        <p:nvCxnSpPr>
          <p:cNvPr id="26" name="直接连接符 25"/>
          <p:cNvCxnSpPr/>
          <p:nvPr/>
        </p:nvCxnSpPr>
        <p:spPr>
          <a:xfrm flipV="1">
            <a:off x="3203848" y="1203598"/>
            <a:ext cx="0" cy="2808312"/>
          </a:xfrm>
          <a:prstGeom prst="line">
            <a:avLst/>
          </a:prstGeom>
          <a:noFill/>
          <a:ln w="12700" cap="flat" cmpd="sng" algn="ctr">
            <a:solidFill>
              <a:sysClr val="windowText" lastClr="000000"/>
            </a:solidFill>
            <a:prstDash val="dash"/>
          </a:ln>
          <a:effectLst/>
        </p:spPr>
      </p:cxnSp>
      <p:sp>
        <p:nvSpPr>
          <p:cNvPr id="27" name="矩形 26"/>
          <p:cNvSpPr/>
          <p:nvPr/>
        </p:nvSpPr>
        <p:spPr>
          <a:xfrm>
            <a:off x="0" y="5009752"/>
            <a:ext cx="9144000" cy="133747"/>
          </a:xfrm>
          <a:prstGeom prst="rect">
            <a:avLst/>
          </a:prstGeom>
          <a:solidFill>
            <a:srgbClr val="005A9E"/>
          </a:solidFill>
          <a:ln w="25400" cap="flat" cmpd="sng" algn="ctr">
            <a:noFill/>
            <a:prstDash val="solid"/>
          </a:ln>
          <a:effectLst/>
        </p:spPr>
        <p:txBody>
          <a:bodyPr rtlCol="0" anchor="ctr"/>
          <a:lstStyle/>
          <a:p>
            <a:pPr algn="ctr">
              <a:defRPr/>
            </a:pPr>
            <a:endParaRPr lang="zh-CN" altLang="en-US" kern="0">
              <a:solidFill>
                <a:prstClr val="white"/>
              </a:solidFill>
              <a:cs typeface="+mn-ea"/>
              <a:sym typeface="+mn-lt"/>
            </a:endParaRPr>
          </a:p>
        </p:txBody>
      </p:sp>
      <p:sp>
        <p:nvSpPr>
          <p:cNvPr id="28" name="TextBox 27"/>
          <p:cNvSpPr txBox="1"/>
          <p:nvPr/>
        </p:nvSpPr>
        <p:spPr>
          <a:xfrm>
            <a:off x="1629197" y="1896383"/>
            <a:ext cx="635927" cy="1323439"/>
          </a:xfrm>
          <a:prstGeom prst="rect">
            <a:avLst/>
          </a:prstGeom>
          <a:noFill/>
        </p:spPr>
        <p:txBody>
          <a:bodyPr wrap="square" rtlCol="0">
            <a:spAutoFit/>
          </a:bodyPr>
          <a:lstStyle/>
          <a:p>
            <a:pPr>
              <a:defRPr/>
            </a:pPr>
            <a:r>
              <a:rPr lang="en-US" altLang="zh-CN" sz="8000" b="1" kern="0" dirty="0">
                <a:solidFill>
                  <a:sysClr val="window" lastClr="FFFFFF"/>
                </a:solidFill>
                <a:cs typeface="+mn-ea"/>
                <a:sym typeface="+mn-lt"/>
              </a:rPr>
              <a:t>4</a:t>
            </a:r>
          </a:p>
        </p:txBody>
      </p:sp>
      <p:sp>
        <p:nvSpPr>
          <p:cNvPr id="29" name="矩形 28"/>
          <p:cNvSpPr/>
          <p:nvPr/>
        </p:nvSpPr>
        <p:spPr>
          <a:xfrm>
            <a:off x="3735758" y="2960241"/>
            <a:ext cx="1419619" cy="346249"/>
          </a:xfrm>
          <a:prstGeom prst="rect">
            <a:avLst/>
          </a:prstGeom>
        </p:spPr>
        <p:txBody>
          <a:bodyPr wrap="none" lIns="68580" tIns="34290" rIns="68580" bIns="34290">
            <a:spAutoFit/>
          </a:bodyPr>
          <a:lstStyle/>
          <a:p>
            <a:pPr marL="214313" indent="-214313">
              <a:buFont typeface="Wingdings" pitchFamily="2" charset="2"/>
              <a:buChar char="l"/>
            </a:pPr>
            <a:r>
              <a:rPr lang="en-US" altLang="zh-CN" b="1" kern="0" dirty="0">
                <a:solidFill>
                  <a:srgbClr val="005A9E"/>
                </a:solidFill>
                <a:cs typeface="+mn-ea"/>
                <a:sym typeface="+mn-lt"/>
              </a:rPr>
              <a:t>Definition</a:t>
            </a:r>
            <a:endParaRPr lang="zh-CN" altLang="en-US" kern="0" dirty="0">
              <a:solidFill>
                <a:sysClr val="window" lastClr="FFFFFF">
                  <a:lumMod val="50000"/>
                </a:sysClr>
              </a:solidFill>
              <a:cs typeface="+mn-ea"/>
              <a:sym typeface="+mn-lt"/>
            </a:endParaRPr>
          </a:p>
        </p:txBody>
      </p:sp>
      <p:sp>
        <p:nvSpPr>
          <p:cNvPr id="30" name="矩形 29"/>
          <p:cNvSpPr/>
          <p:nvPr/>
        </p:nvSpPr>
        <p:spPr>
          <a:xfrm>
            <a:off x="5719746" y="2962102"/>
            <a:ext cx="1022075" cy="346249"/>
          </a:xfrm>
          <a:prstGeom prst="rect">
            <a:avLst/>
          </a:prstGeom>
        </p:spPr>
        <p:txBody>
          <a:bodyPr wrap="none" lIns="68580" tIns="34290" rIns="68580" bIns="34290">
            <a:spAutoFit/>
          </a:bodyPr>
          <a:lstStyle/>
          <a:p>
            <a:pPr marL="214313" indent="-214313">
              <a:buFont typeface="Wingdings" pitchFamily="2" charset="2"/>
              <a:buChar char="l"/>
            </a:pPr>
            <a:r>
              <a:rPr lang="en-US" altLang="zh-CN" b="1" kern="0" dirty="0">
                <a:solidFill>
                  <a:srgbClr val="005A9E"/>
                </a:solidFill>
                <a:cs typeface="+mn-ea"/>
                <a:sym typeface="+mn-lt"/>
              </a:rPr>
              <a:t>Types</a:t>
            </a:r>
            <a:endParaRPr lang="zh-CN" altLang="en-US" kern="0" dirty="0">
              <a:solidFill>
                <a:sysClr val="window" lastClr="FFFFFF">
                  <a:lumMod val="50000"/>
                </a:sysClr>
              </a:solidFill>
              <a:cs typeface="+mn-ea"/>
              <a:sym typeface="+mn-lt"/>
            </a:endParaRPr>
          </a:p>
        </p:txBody>
      </p:sp>
      <p:cxnSp>
        <p:nvCxnSpPr>
          <p:cNvPr id="18" name="直接连接符 17">
            <a:extLst>
              <a:ext uri="{FF2B5EF4-FFF2-40B4-BE49-F238E27FC236}">
                <a16:creationId xmlns:a16="http://schemas.microsoft.com/office/drawing/2014/main" id="{134F285B-6D7F-4166-BB46-AEFB1533D42B}"/>
              </a:ext>
            </a:extLst>
          </p:cNvPr>
          <p:cNvCxnSpPr/>
          <p:nvPr/>
        </p:nvCxnSpPr>
        <p:spPr>
          <a:xfrm flipH="1">
            <a:off x="2918943" y="457535"/>
            <a:ext cx="6225059"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2" name="圆角矩形 2">
            <a:extLst>
              <a:ext uri="{FF2B5EF4-FFF2-40B4-BE49-F238E27FC236}">
                <a16:creationId xmlns:a16="http://schemas.microsoft.com/office/drawing/2014/main" id="{4104225D-7AA0-466D-9174-CEFE72068B6D}"/>
              </a:ext>
            </a:extLst>
          </p:cNvPr>
          <p:cNvSpPr/>
          <p:nvPr/>
        </p:nvSpPr>
        <p:spPr>
          <a:xfrm>
            <a:off x="742945" y="191230"/>
            <a:ext cx="3639274"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23" name="矩形 22">
            <a:extLst>
              <a:ext uri="{FF2B5EF4-FFF2-40B4-BE49-F238E27FC236}">
                <a16:creationId xmlns:a16="http://schemas.microsoft.com/office/drawing/2014/main" id="{63A369D1-86C1-41FC-95E1-0DCEC60C638E}"/>
              </a:ext>
            </a:extLst>
          </p:cNvPr>
          <p:cNvSpPr/>
          <p:nvPr/>
        </p:nvSpPr>
        <p:spPr>
          <a:xfrm>
            <a:off x="1027196" y="226702"/>
            <a:ext cx="3196709" cy="461665"/>
          </a:xfrm>
          <a:prstGeom prst="rect">
            <a:avLst/>
          </a:prstGeom>
        </p:spPr>
        <p:txBody>
          <a:bodyPr wrap="none">
            <a:spAutoFit/>
          </a:bodyPr>
          <a:lstStyle/>
          <a:p>
            <a:pPr defTabSz="913924"/>
            <a:r>
              <a:rPr lang="en-US" altLang="zh-CN" sz="2400" b="1" kern="0" dirty="0">
                <a:solidFill>
                  <a:srgbClr val="005A9E"/>
                </a:solidFill>
                <a:cs typeface="+mn-ea"/>
                <a:sym typeface="+mn-lt"/>
              </a:rPr>
              <a:t>Take</a:t>
            </a:r>
            <a:r>
              <a:rPr lang="zh-CN" altLang="en-US" sz="2400" b="1" kern="0" dirty="0">
                <a:solidFill>
                  <a:srgbClr val="005A9E"/>
                </a:solidFill>
                <a:cs typeface="+mn-ea"/>
                <a:sym typeface="+mn-lt"/>
              </a:rPr>
              <a:t> </a:t>
            </a:r>
            <a:r>
              <a:rPr lang="en-US" altLang="zh-CN" sz="2400" b="1" kern="0" dirty="0">
                <a:solidFill>
                  <a:srgbClr val="005A9E"/>
                </a:solidFill>
                <a:cs typeface="+mn-ea"/>
                <a:sym typeface="+mn-lt"/>
              </a:rPr>
              <a:t>home</a:t>
            </a:r>
            <a:r>
              <a:rPr lang="zh-CN" altLang="en-US" sz="2400" b="1" kern="0" dirty="0">
                <a:solidFill>
                  <a:srgbClr val="005A9E"/>
                </a:solidFill>
                <a:cs typeface="+mn-ea"/>
                <a:sym typeface="+mn-lt"/>
              </a:rPr>
              <a:t> </a:t>
            </a:r>
            <a:r>
              <a:rPr lang="en-US" altLang="zh-CN" sz="2400" b="1" kern="0" dirty="0">
                <a:solidFill>
                  <a:srgbClr val="005A9E"/>
                </a:solidFill>
                <a:cs typeface="+mn-ea"/>
                <a:sym typeface="+mn-lt"/>
              </a:rPr>
              <a:t>message</a:t>
            </a:r>
            <a:endParaRPr lang="zh-CN" altLang="en-US" sz="2400" b="1" kern="0" dirty="0">
              <a:solidFill>
                <a:srgbClr val="005A9E"/>
              </a:solidFill>
              <a:cs typeface="+mn-ea"/>
              <a:sym typeface="+mn-lt"/>
            </a:endParaRPr>
          </a:p>
        </p:txBody>
      </p:sp>
      <p:grpSp>
        <p:nvGrpSpPr>
          <p:cNvPr id="24" name="Group 17">
            <a:extLst>
              <a:ext uri="{FF2B5EF4-FFF2-40B4-BE49-F238E27FC236}">
                <a16:creationId xmlns:a16="http://schemas.microsoft.com/office/drawing/2014/main" id="{369AD141-71CA-47E2-BC7C-65BCAF292715}"/>
              </a:ext>
            </a:extLst>
          </p:cNvPr>
          <p:cNvGrpSpPr>
            <a:grpSpLocks noChangeAspect="1"/>
          </p:cNvGrpSpPr>
          <p:nvPr/>
        </p:nvGrpSpPr>
        <p:grpSpPr bwMode="auto">
          <a:xfrm>
            <a:off x="179512" y="212152"/>
            <a:ext cx="457188" cy="490764"/>
            <a:chOff x="231" y="1205"/>
            <a:chExt cx="640" cy="687"/>
          </a:xfrm>
          <a:solidFill>
            <a:srgbClr val="005A9E"/>
          </a:solidFill>
          <a:effectLst/>
        </p:grpSpPr>
        <p:sp>
          <p:nvSpPr>
            <p:cNvPr id="25" name="Freeform 18">
              <a:extLst>
                <a:ext uri="{FF2B5EF4-FFF2-40B4-BE49-F238E27FC236}">
                  <a16:creationId xmlns:a16="http://schemas.microsoft.com/office/drawing/2014/main" id="{745D4207-7191-400E-9357-ED062EA28383}"/>
                </a:ext>
              </a:extLst>
            </p:cNvPr>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31" name="Freeform 19">
              <a:extLst>
                <a:ext uri="{FF2B5EF4-FFF2-40B4-BE49-F238E27FC236}">
                  <a16:creationId xmlns:a16="http://schemas.microsoft.com/office/drawing/2014/main" id="{C6856016-8955-4E7D-A107-50E5B0051232}"/>
                </a:ext>
              </a:extLst>
            </p:cNvPr>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spTree>
    <p:extLst>
      <p:ext uri="{BB962C8B-B14F-4D97-AF65-F5344CB8AC3E}">
        <p14:creationId xmlns:p14="http://schemas.microsoft.com/office/powerpoint/2010/main" val="1291606070"/>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38" presetClass="entr" presetSubtype="0" accel="50000" fill="hold" grpId="0" nodeType="withEffect">
                                  <p:stCondLst>
                                    <p:cond delay="0"/>
                                  </p:stCondLst>
                                  <p:iterate type="lt">
                                    <p:tmPct val="50000"/>
                                  </p:iterate>
                                  <p:childTnLst>
                                    <p:set>
                                      <p:cBhvr>
                                        <p:cTn id="11" dur="1" fill="hold">
                                          <p:stCondLst>
                                            <p:cond delay="0"/>
                                          </p:stCondLst>
                                        </p:cTn>
                                        <p:tgtEl>
                                          <p:spTgt spid="28"/>
                                        </p:tgtEl>
                                        <p:attrNameLst>
                                          <p:attrName>style.visibility</p:attrName>
                                        </p:attrNameLst>
                                      </p:cBhvr>
                                      <p:to>
                                        <p:strVal val="visible"/>
                                      </p:to>
                                    </p:set>
                                    <p:set>
                                      <p:cBhvr>
                                        <p:cTn id="12" dur="364" fill="hold">
                                          <p:stCondLst>
                                            <p:cond delay="0"/>
                                          </p:stCondLst>
                                        </p:cTn>
                                        <p:tgtEl>
                                          <p:spTgt spid="28"/>
                                        </p:tgtEl>
                                        <p:attrNameLst>
                                          <p:attrName>style.rotation</p:attrName>
                                        </p:attrNameLst>
                                      </p:cBhvr>
                                      <p:to>
                                        <p:strVal val="-45.0"/>
                                      </p:to>
                                    </p:set>
                                    <p:anim calcmode="lin" valueType="num">
                                      <p:cBhvr>
                                        <p:cTn id="13" dur="364" fill="hold">
                                          <p:stCondLst>
                                            <p:cond delay="364"/>
                                          </p:stCondLst>
                                        </p:cTn>
                                        <p:tgtEl>
                                          <p:spTgt spid="28"/>
                                        </p:tgtEl>
                                        <p:attrNameLst>
                                          <p:attrName>style.rotation</p:attrName>
                                        </p:attrNameLst>
                                      </p:cBhvr>
                                      <p:tavLst>
                                        <p:tav tm="0">
                                          <p:val>
                                            <p:fltVal val="-45"/>
                                          </p:val>
                                        </p:tav>
                                        <p:tav tm="69900">
                                          <p:val>
                                            <p:fltVal val="45"/>
                                          </p:val>
                                        </p:tav>
                                        <p:tav tm="100000">
                                          <p:val>
                                            <p:fltVal val="0"/>
                                          </p:val>
                                        </p:tav>
                                      </p:tavLst>
                                    </p:anim>
                                    <p:anim calcmode="lin" valueType="num">
                                      <p:cBhvr>
                                        <p:cTn id="14" dur="364" fill="hold">
                                          <p:stCondLst>
                                            <p:cond delay="0"/>
                                          </p:stCondLst>
                                        </p:cTn>
                                        <p:tgtEl>
                                          <p:spTgt spid="28"/>
                                        </p:tgtEl>
                                        <p:attrNameLst>
                                          <p:attrName>ppt_y</p:attrName>
                                        </p:attrNameLst>
                                      </p:cBhvr>
                                      <p:tavLst>
                                        <p:tav tm="0">
                                          <p:val>
                                            <p:strVal val="#ppt_y-1"/>
                                          </p:val>
                                        </p:tav>
                                        <p:tav tm="100000">
                                          <p:val>
                                            <p:strVal val="#ppt_y-(0.354*#ppt_w-0.172*#ppt_h)"/>
                                          </p:val>
                                        </p:tav>
                                      </p:tavLst>
                                    </p:anim>
                                    <p:anim calcmode="lin" valueType="num">
                                      <p:cBhvr>
                                        <p:cTn id="15" dur="125" decel="50000" autoRev="1" fill="hold">
                                          <p:stCondLst>
                                            <p:cond delay="364"/>
                                          </p:stCondLst>
                                        </p:cTn>
                                        <p:tgtEl>
                                          <p:spTgt spid="28"/>
                                        </p:tgtEl>
                                        <p:attrNameLst>
                                          <p:attrName>ppt_y</p:attrName>
                                        </p:attrNameLst>
                                      </p:cBhvr>
                                      <p:tavLst>
                                        <p:tav tm="0">
                                          <p:val>
                                            <p:strVal val="#ppt_y-(0.354*#ppt_w-0.172*#ppt_h)"/>
                                          </p:val>
                                        </p:tav>
                                        <p:tav tm="100000">
                                          <p:val>
                                            <p:strVal val="#ppt_y-(0.354*#ppt_w-0.172*#ppt_h)-#ppt_h/2"/>
                                          </p:val>
                                        </p:tav>
                                      </p:tavLst>
                                    </p:anim>
                                    <p:anim calcmode="lin" valueType="num">
                                      <p:cBhvr>
                                        <p:cTn id="16" dur="109" fill="hold">
                                          <p:stCondLst>
                                            <p:cond delay="691"/>
                                          </p:stCondLst>
                                        </p:cTn>
                                        <p:tgtEl>
                                          <p:spTgt spid="28"/>
                                        </p:tgtEl>
                                        <p:attrNameLst>
                                          <p:attrName>ppt_y</p:attrName>
                                        </p:attrNameLst>
                                      </p:cBhvr>
                                      <p:tavLst>
                                        <p:tav tm="0">
                                          <p:val>
                                            <p:strVal val="#ppt_y-(0.354*#ppt_w-0.172*#ppt_h)"/>
                                          </p:val>
                                        </p:tav>
                                        <p:tav tm="100000">
                                          <p:val>
                                            <p:strVal val="#ppt_y"/>
                                          </p:val>
                                        </p:tav>
                                      </p:tavLst>
                                    </p:anim>
                                  </p:childTnLst>
                                </p:cTn>
                              </p:par>
                              <p:par>
                                <p:cTn id="17" presetID="22" presetClass="entr" presetSubtype="4"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down)">
                                      <p:cBhvr>
                                        <p:cTn id="19" dur="500"/>
                                        <p:tgtEl>
                                          <p:spTgt spid="26"/>
                                        </p:tgtEl>
                                      </p:cBhvr>
                                    </p:animEffect>
                                  </p:childTnLst>
                                </p:cTn>
                              </p:par>
                            </p:childTnLst>
                          </p:cTn>
                        </p:par>
                        <p:par>
                          <p:cTn id="20" fill="hold">
                            <p:stCondLst>
                              <p:cond delay="800"/>
                            </p:stCondLst>
                            <p:childTnLst>
                              <p:par>
                                <p:cTn id="21" presetID="22" presetClass="entr" presetSubtype="8" fill="hold"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left)">
                                      <p:cBhvr>
                                        <p:cTn id="23" dur="500"/>
                                        <p:tgtEl>
                                          <p:spTgt spid="14"/>
                                        </p:tgtEl>
                                      </p:cBhvr>
                                    </p:animEffect>
                                  </p:childTnLst>
                                </p:cTn>
                              </p:par>
                            </p:childTnLst>
                          </p:cTn>
                        </p:par>
                        <p:par>
                          <p:cTn id="24" fill="hold">
                            <p:stCondLst>
                              <p:cond delay="1300"/>
                            </p:stCondLst>
                            <p:childTnLst>
                              <p:par>
                                <p:cTn id="25" presetID="2" presetClass="entr" presetSubtype="2" decel="100000" fill="hold" grpId="0" nodeType="afterEffect">
                                  <p:stCondLst>
                                    <p:cond delay="0"/>
                                  </p:stCondLst>
                                  <p:iterate type="lt">
                                    <p:tmPct val="10000"/>
                                  </p:iterate>
                                  <p:childTnLst>
                                    <p:set>
                                      <p:cBhvr>
                                        <p:cTn id="26" dur="1" fill="hold">
                                          <p:stCondLst>
                                            <p:cond delay="0"/>
                                          </p:stCondLst>
                                        </p:cTn>
                                        <p:tgtEl>
                                          <p:spTgt spid="21"/>
                                        </p:tgtEl>
                                        <p:attrNameLst>
                                          <p:attrName>style.visibility</p:attrName>
                                        </p:attrNameLst>
                                      </p:cBhvr>
                                      <p:to>
                                        <p:strVal val="visible"/>
                                      </p:to>
                                    </p:set>
                                    <p:anim calcmode="lin" valueType="num">
                                      <p:cBhvr additive="base">
                                        <p:cTn id="27" dur="500" fill="hold"/>
                                        <p:tgtEl>
                                          <p:spTgt spid="21"/>
                                        </p:tgtEl>
                                        <p:attrNameLst>
                                          <p:attrName>ppt_x</p:attrName>
                                        </p:attrNameLst>
                                      </p:cBhvr>
                                      <p:tavLst>
                                        <p:tav tm="0">
                                          <p:val>
                                            <p:strVal val="1+#ppt_w/2"/>
                                          </p:val>
                                        </p:tav>
                                        <p:tav tm="100000">
                                          <p:val>
                                            <p:strVal val="#ppt_x"/>
                                          </p:val>
                                        </p:tav>
                                      </p:tavLst>
                                    </p:anim>
                                    <p:anim calcmode="lin" valueType="num">
                                      <p:cBhvr additive="base">
                                        <p:cTn id="28" dur="500" fill="hold"/>
                                        <p:tgtEl>
                                          <p:spTgt spid="21"/>
                                        </p:tgtEl>
                                        <p:attrNameLst>
                                          <p:attrName>ppt_y</p:attrName>
                                        </p:attrNameLst>
                                      </p:cBhvr>
                                      <p:tavLst>
                                        <p:tav tm="0">
                                          <p:val>
                                            <p:strVal val="#ppt_y"/>
                                          </p:val>
                                        </p:tav>
                                        <p:tav tm="100000">
                                          <p:val>
                                            <p:strVal val="#ppt_y"/>
                                          </p:val>
                                        </p:tav>
                                      </p:tavLst>
                                    </p:anim>
                                  </p:childTnLst>
                                </p:cTn>
                              </p:par>
                            </p:childTnLst>
                          </p:cTn>
                        </p:par>
                        <p:par>
                          <p:cTn id="29" fill="hold">
                            <p:stCondLst>
                              <p:cond delay="2300"/>
                            </p:stCondLst>
                            <p:childTnLst>
                              <p:par>
                                <p:cTn id="30" presetID="50" presetClass="entr" presetSubtype="0" decel="100000" fill="hold" grpId="0" nodeType="afterEffect">
                                  <p:stCondLst>
                                    <p:cond delay="0"/>
                                  </p:stCondLst>
                                  <p:childTnLst>
                                    <p:set>
                                      <p:cBhvr>
                                        <p:cTn id="31" dur="1" fill="hold">
                                          <p:stCondLst>
                                            <p:cond delay="0"/>
                                          </p:stCondLst>
                                        </p:cTn>
                                        <p:tgtEl>
                                          <p:spTgt spid="29"/>
                                        </p:tgtEl>
                                        <p:attrNameLst>
                                          <p:attrName>style.visibility</p:attrName>
                                        </p:attrNameLst>
                                      </p:cBhvr>
                                      <p:to>
                                        <p:strVal val="visible"/>
                                      </p:to>
                                    </p:set>
                                    <p:anim calcmode="lin" valueType="num">
                                      <p:cBhvr>
                                        <p:cTn id="32" dur="1000" fill="hold"/>
                                        <p:tgtEl>
                                          <p:spTgt spid="29"/>
                                        </p:tgtEl>
                                        <p:attrNameLst>
                                          <p:attrName>ppt_w</p:attrName>
                                        </p:attrNameLst>
                                      </p:cBhvr>
                                      <p:tavLst>
                                        <p:tav tm="0">
                                          <p:val>
                                            <p:strVal val="#ppt_w+.3"/>
                                          </p:val>
                                        </p:tav>
                                        <p:tav tm="100000">
                                          <p:val>
                                            <p:strVal val="#ppt_w"/>
                                          </p:val>
                                        </p:tav>
                                      </p:tavLst>
                                    </p:anim>
                                    <p:anim calcmode="lin" valueType="num">
                                      <p:cBhvr>
                                        <p:cTn id="33" dur="1000" fill="hold"/>
                                        <p:tgtEl>
                                          <p:spTgt spid="29"/>
                                        </p:tgtEl>
                                        <p:attrNameLst>
                                          <p:attrName>ppt_h</p:attrName>
                                        </p:attrNameLst>
                                      </p:cBhvr>
                                      <p:tavLst>
                                        <p:tav tm="0">
                                          <p:val>
                                            <p:strVal val="#ppt_h"/>
                                          </p:val>
                                        </p:tav>
                                        <p:tav tm="100000">
                                          <p:val>
                                            <p:strVal val="#ppt_h"/>
                                          </p:val>
                                        </p:tav>
                                      </p:tavLst>
                                    </p:anim>
                                    <p:animEffect transition="in" filter="fade">
                                      <p:cBhvr>
                                        <p:cTn id="34" dur="1000"/>
                                        <p:tgtEl>
                                          <p:spTgt spid="29"/>
                                        </p:tgtEl>
                                      </p:cBhvr>
                                    </p:animEffect>
                                  </p:childTnLst>
                                </p:cTn>
                              </p:par>
                              <p:par>
                                <p:cTn id="35" presetID="50" presetClass="entr" presetSubtype="0" decel="100000" fill="hold" grpId="0" nodeType="withEffect">
                                  <p:stCondLst>
                                    <p:cond delay="450"/>
                                  </p:stCondLst>
                                  <p:childTnLst>
                                    <p:set>
                                      <p:cBhvr>
                                        <p:cTn id="36" dur="1" fill="hold">
                                          <p:stCondLst>
                                            <p:cond delay="0"/>
                                          </p:stCondLst>
                                        </p:cTn>
                                        <p:tgtEl>
                                          <p:spTgt spid="30"/>
                                        </p:tgtEl>
                                        <p:attrNameLst>
                                          <p:attrName>style.visibility</p:attrName>
                                        </p:attrNameLst>
                                      </p:cBhvr>
                                      <p:to>
                                        <p:strVal val="visible"/>
                                      </p:to>
                                    </p:set>
                                    <p:anim calcmode="lin" valueType="num">
                                      <p:cBhvr>
                                        <p:cTn id="37" dur="1000" fill="hold"/>
                                        <p:tgtEl>
                                          <p:spTgt spid="30"/>
                                        </p:tgtEl>
                                        <p:attrNameLst>
                                          <p:attrName>ppt_w</p:attrName>
                                        </p:attrNameLst>
                                      </p:cBhvr>
                                      <p:tavLst>
                                        <p:tav tm="0">
                                          <p:val>
                                            <p:strVal val="#ppt_w+.3"/>
                                          </p:val>
                                        </p:tav>
                                        <p:tav tm="100000">
                                          <p:val>
                                            <p:strVal val="#ppt_w"/>
                                          </p:val>
                                        </p:tav>
                                      </p:tavLst>
                                    </p:anim>
                                    <p:anim calcmode="lin" valueType="num">
                                      <p:cBhvr>
                                        <p:cTn id="38" dur="1000" fill="hold"/>
                                        <p:tgtEl>
                                          <p:spTgt spid="30"/>
                                        </p:tgtEl>
                                        <p:attrNameLst>
                                          <p:attrName>ppt_h</p:attrName>
                                        </p:attrNameLst>
                                      </p:cBhvr>
                                      <p:tavLst>
                                        <p:tav tm="0">
                                          <p:val>
                                            <p:strVal val="#ppt_h"/>
                                          </p:val>
                                        </p:tav>
                                        <p:tav tm="100000">
                                          <p:val>
                                            <p:strVal val="#ppt_h"/>
                                          </p:val>
                                        </p:tav>
                                      </p:tavLst>
                                    </p:anim>
                                    <p:animEffect transition="in" filter="fade">
                                      <p:cBhvr>
                                        <p:cTn id="39" dur="1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8" grpId="0"/>
      <p:bldP spid="29" grpId="0"/>
      <p:bldP spid="3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flipH="1">
            <a:off x="2918943" y="457535"/>
            <a:ext cx="6225059"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 name="圆角矩形 2"/>
          <p:cNvSpPr/>
          <p:nvPr/>
        </p:nvSpPr>
        <p:spPr>
          <a:xfrm>
            <a:off x="755576" y="197679"/>
            <a:ext cx="1800200"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4" name="矩形 3"/>
          <p:cNvSpPr/>
          <p:nvPr/>
        </p:nvSpPr>
        <p:spPr>
          <a:xfrm>
            <a:off x="827584" y="226702"/>
            <a:ext cx="1415772" cy="461665"/>
          </a:xfrm>
          <a:prstGeom prst="rect">
            <a:avLst/>
          </a:prstGeom>
        </p:spPr>
        <p:txBody>
          <a:bodyPr wrap="none">
            <a:spAutoFit/>
          </a:bodyPr>
          <a:lstStyle/>
          <a:p>
            <a:pPr defTabSz="913924"/>
            <a:r>
              <a:rPr lang="zh-CN" altLang="en-US" sz="2400" b="1" kern="0" dirty="0">
                <a:solidFill>
                  <a:srgbClr val="005A9E"/>
                </a:solidFill>
                <a:cs typeface="+mn-ea"/>
                <a:sym typeface="+mn-lt"/>
              </a:rPr>
              <a:t>不确定度</a:t>
            </a:r>
          </a:p>
        </p:txBody>
      </p:sp>
      <p:grpSp>
        <p:nvGrpSpPr>
          <p:cNvPr id="5" name="Group 17"/>
          <p:cNvGrpSpPr>
            <a:grpSpLocks noChangeAspect="1"/>
          </p:cNvGrpSpPr>
          <p:nvPr/>
        </p:nvGrpSpPr>
        <p:grpSpPr bwMode="auto">
          <a:xfrm>
            <a:off x="179512" y="212152"/>
            <a:ext cx="457188" cy="490764"/>
            <a:chOff x="231" y="1205"/>
            <a:chExt cx="640" cy="687"/>
          </a:xfrm>
          <a:solidFill>
            <a:srgbClr val="005A9E"/>
          </a:solidFill>
          <a:effectLst/>
        </p:grpSpPr>
        <p:sp>
          <p:nvSpPr>
            <p:cNvPr id="6" name="Freeform 18"/>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7"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sp>
        <p:nvSpPr>
          <p:cNvPr id="9" name="Rectangle 4">
            <a:extLst>
              <a:ext uri="{FF2B5EF4-FFF2-40B4-BE49-F238E27FC236}">
                <a16:creationId xmlns:a16="http://schemas.microsoft.com/office/drawing/2014/main" id="{761EBBE5-CD8D-456C-BA6F-76543A6859AB}"/>
              </a:ext>
            </a:extLst>
          </p:cNvPr>
          <p:cNvSpPr txBox="1">
            <a:spLocks noChangeArrowheads="1"/>
          </p:cNvSpPr>
          <p:nvPr/>
        </p:nvSpPr>
        <p:spPr>
          <a:xfrm>
            <a:off x="621506" y="827088"/>
            <a:ext cx="7900988" cy="1816670"/>
          </a:xfrm>
          <a:prstGeom prst="rect">
            <a:avLst/>
          </a:prstGeom>
        </p:spPr>
        <p:txBody>
          <a:bodyPr/>
          <a:lstStyle>
            <a:lvl1pPr algn="ctr" rtl="0" eaLnBrk="0" fontAlgn="base" hangingPunct="0">
              <a:spcBef>
                <a:spcPct val="0"/>
              </a:spcBef>
              <a:spcAft>
                <a:spcPct val="0"/>
              </a:spcAft>
              <a:defRPr sz="3300" kern="1200">
                <a:solidFill>
                  <a:schemeClr val="tx1"/>
                </a:solidFill>
                <a:latin typeface="Arial" charset="0"/>
                <a:ea typeface="+mj-ea"/>
                <a:cs typeface="+mj-cs"/>
              </a:defRPr>
            </a:lvl1pPr>
            <a:lvl2pPr algn="ctr" rtl="0" eaLnBrk="0" fontAlgn="base" hangingPunct="0">
              <a:spcBef>
                <a:spcPct val="0"/>
              </a:spcBef>
              <a:spcAft>
                <a:spcPct val="0"/>
              </a:spcAft>
              <a:defRPr sz="3300">
                <a:solidFill>
                  <a:schemeClr val="tx1"/>
                </a:solidFill>
                <a:latin typeface="Arial" charset="0"/>
                <a:ea typeface="宋体" charset="-122"/>
              </a:defRPr>
            </a:lvl2pPr>
            <a:lvl3pPr algn="ctr" rtl="0" eaLnBrk="0" fontAlgn="base" hangingPunct="0">
              <a:spcBef>
                <a:spcPct val="0"/>
              </a:spcBef>
              <a:spcAft>
                <a:spcPct val="0"/>
              </a:spcAft>
              <a:defRPr sz="3300">
                <a:solidFill>
                  <a:schemeClr val="tx1"/>
                </a:solidFill>
                <a:latin typeface="Arial" charset="0"/>
                <a:ea typeface="宋体" charset="-122"/>
              </a:defRPr>
            </a:lvl3pPr>
            <a:lvl4pPr algn="ctr" rtl="0" eaLnBrk="0" fontAlgn="base" hangingPunct="0">
              <a:spcBef>
                <a:spcPct val="0"/>
              </a:spcBef>
              <a:spcAft>
                <a:spcPct val="0"/>
              </a:spcAft>
              <a:defRPr sz="3300">
                <a:solidFill>
                  <a:schemeClr val="tx1"/>
                </a:solidFill>
                <a:latin typeface="Arial" charset="0"/>
                <a:ea typeface="宋体" charset="-122"/>
              </a:defRPr>
            </a:lvl4pPr>
            <a:lvl5pPr algn="ctr" rtl="0" eaLnBrk="0" fontAlgn="base" hangingPunct="0">
              <a:spcBef>
                <a:spcPct val="0"/>
              </a:spcBef>
              <a:spcAft>
                <a:spcPct val="0"/>
              </a:spcAft>
              <a:defRPr sz="3300">
                <a:solidFill>
                  <a:schemeClr val="tx1"/>
                </a:solidFill>
                <a:latin typeface="Arial" charset="0"/>
                <a:ea typeface="宋体" charset="-122"/>
              </a:defRPr>
            </a:lvl5pPr>
            <a:lvl6pPr marL="342900" algn="ctr" rtl="0" fontAlgn="base">
              <a:spcBef>
                <a:spcPct val="0"/>
              </a:spcBef>
              <a:spcAft>
                <a:spcPct val="0"/>
              </a:spcAft>
              <a:defRPr sz="3300">
                <a:solidFill>
                  <a:schemeClr val="tx1"/>
                </a:solidFill>
                <a:latin typeface="Calibri" pitchFamily="34" charset="0"/>
                <a:ea typeface="宋体" charset="-122"/>
              </a:defRPr>
            </a:lvl6pPr>
            <a:lvl7pPr marL="685800" algn="ctr" rtl="0" fontAlgn="base">
              <a:spcBef>
                <a:spcPct val="0"/>
              </a:spcBef>
              <a:spcAft>
                <a:spcPct val="0"/>
              </a:spcAft>
              <a:defRPr sz="3300">
                <a:solidFill>
                  <a:schemeClr val="tx1"/>
                </a:solidFill>
                <a:latin typeface="Calibri" pitchFamily="34" charset="0"/>
                <a:ea typeface="宋体" charset="-122"/>
              </a:defRPr>
            </a:lvl7pPr>
            <a:lvl8pPr marL="1028700" algn="ctr" rtl="0" fontAlgn="base">
              <a:spcBef>
                <a:spcPct val="0"/>
              </a:spcBef>
              <a:spcAft>
                <a:spcPct val="0"/>
              </a:spcAft>
              <a:defRPr sz="3300">
                <a:solidFill>
                  <a:schemeClr val="tx1"/>
                </a:solidFill>
                <a:latin typeface="Calibri" pitchFamily="34" charset="0"/>
                <a:ea typeface="宋体" charset="-122"/>
              </a:defRPr>
            </a:lvl8pPr>
            <a:lvl9pPr marL="1371600" algn="ctr" rtl="0" fontAlgn="base">
              <a:spcBef>
                <a:spcPct val="0"/>
              </a:spcBef>
              <a:spcAft>
                <a:spcPct val="0"/>
              </a:spcAft>
              <a:defRPr sz="3300">
                <a:solidFill>
                  <a:schemeClr val="tx1"/>
                </a:solidFill>
                <a:latin typeface="Calibri" pitchFamily="34" charset="0"/>
                <a:ea typeface="宋体" charset="-122"/>
              </a:defRPr>
            </a:lvl9pPr>
          </a:lstStyle>
          <a:p>
            <a:pPr algn="l" eaLnBrk="1" hangingPunct="1">
              <a:lnSpc>
                <a:spcPct val="150000"/>
              </a:lnSpc>
              <a:defRPr/>
            </a:pPr>
            <a:r>
              <a:rPr lang="zh-CN" altLang="en-US" sz="2200" b="1" dirty="0">
                <a:effectLst>
                  <a:outerShdw blurRad="38100" dist="38100" dir="2700000" algn="tl">
                    <a:srgbClr val="C0C0C0"/>
                  </a:outerShdw>
                </a:effectLst>
                <a:ea typeface="楷体_GB2312" pitchFamily="49" charset="-122"/>
              </a:rPr>
              <a:t>不确定度，</a:t>
            </a:r>
            <a:r>
              <a:rPr lang="zh-CN" altLang="en-US" sz="2200" b="1" dirty="0">
                <a:latin typeface="楷体_GB2312" pitchFamily="49" charset="-122"/>
                <a:ea typeface="楷体_GB2312" pitchFamily="49" charset="-122"/>
              </a:rPr>
              <a:t>表示由于测量误差的存在而对测量值不能肯定的程度，即测量结果</a:t>
            </a:r>
            <a:r>
              <a:rPr lang="zh-CN" altLang="en-US" sz="2200" b="1" dirty="0">
                <a:solidFill>
                  <a:srgbClr val="0033CC"/>
                </a:solidFill>
                <a:latin typeface="楷体_GB2312" pitchFamily="49" charset="-122"/>
                <a:ea typeface="楷体_GB2312" pitchFamily="49" charset="-122"/>
              </a:rPr>
              <a:t>不能肯定的范围</a:t>
            </a:r>
            <a:r>
              <a:rPr lang="zh-CN" altLang="en-US" sz="2200" b="1" dirty="0">
                <a:latin typeface="楷体_GB2312" pitchFamily="49" charset="-122"/>
                <a:ea typeface="楷体_GB2312" pitchFamily="49" charset="-122"/>
              </a:rPr>
              <a:t>。完整的测量结果必须包括不确定度。</a:t>
            </a:r>
            <a:br>
              <a:rPr lang="zh-CN" altLang="en-US" sz="2200" b="1" dirty="0">
                <a:latin typeface="楷体_GB2312" pitchFamily="49" charset="-122"/>
                <a:ea typeface="楷体_GB2312" pitchFamily="49" charset="-122"/>
              </a:rPr>
            </a:br>
            <a:br>
              <a:rPr lang="zh-CN" altLang="en-US" sz="2200" b="1" dirty="0">
                <a:latin typeface="楷体_GB2312" pitchFamily="49" charset="-122"/>
                <a:ea typeface="楷体_GB2312" pitchFamily="49" charset="-122"/>
              </a:rPr>
            </a:br>
            <a:endParaRPr lang="zh-CN" altLang="en-US" sz="2200" b="1" dirty="0">
              <a:latin typeface="楷体_GB2312" pitchFamily="49" charset="-122"/>
              <a:ea typeface="楷体_GB2312" pitchFamily="49" charset="-122"/>
            </a:endParaRPr>
          </a:p>
        </p:txBody>
      </p:sp>
      <p:grpSp>
        <p:nvGrpSpPr>
          <p:cNvPr id="8" name="Group 7">
            <a:extLst>
              <a:ext uri="{FF2B5EF4-FFF2-40B4-BE49-F238E27FC236}">
                <a16:creationId xmlns:a16="http://schemas.microsoft.com/office/drawing/2014/main" id="{F177FB42-8D44-4293-9F66-CE3C20CE23EA}"/>
              </a:ext>
            </a:extLst>
          </p:cNvPr>
          <p:cNvGrpSpPr/>
          <p:nvPr/>
        </p:nvGrpSpPr>
        <p:grpSpPr>
          <a:xfrm>
            <a:off x="663388" y="1995686"/>
            <a:ext cx="7560071" cy="2979755"/>
            <a:chOff x="663388" y="1995686"/>
            <a:chExt cx="7560071" cy="2979755"/>
          </a:xfrm>
        </p:grpSpPr>
        <p:pic>
          <p:nvPicPr>
            <p:cNvPr id="11" name="Picture 4">
              <a:extLst>
                <a:ext uri="{FF2B5EF4-FFF2-40B4-BE49-F238E27FC236}">
                  <a16:creationId xmlns:a16="http://schemas.microsoft.com/office/drawing/2014/main" id="{6B5D8524-7920-480E-9333-E6DE54BA69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388" y="2589163"/>
              <a:ext cx="7560071" cy="187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5">
              <a:extLst>
                <a:ext uri="{FF2B5EF4-FFF2-40B4-BE49-F238E27FC236}">
                  <a16:creationId xmlns:a16="http://schemas.microsoft.com/office/drawing/2014/main" id="{0D5D1803-8C9F-496A-A725-76A7C0945028}"/>
                </a:ext>
              </a:extLst>
            </p:cNvPr>
            <p:cNvSpPr>
              <a:spLocks noChangeArrowheads="1"/>
            </p:cNvSpPr>
            <p:nvPr/>
          </p:nvSpPr>
          <p:spPr bwMode="auto">
            <a:xfrm>
              <a:off x="3170151" y="2014820"/>
              <a:ext cx="131959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kumimoji="1" sz="3200" b="1">
                  <a:solidFill>
                    <a:srgbClr val="FF0066"/>
                  </a:solidFill>
                  <a:latin typeface="Times New Roman" panose="02020603050405020304" pitchFamily="18" charset="0"/>
                  <a:ea typeface="宋体" panose="02010600030101010101" pitchFamily="2" charset="-122"/>
                </a:defRPr>
              </a:lvl1pPr>
              <a:lvl2pPr marL="742950" indent="-285750" eaLnBrk="0" hangingPunct="0">
                <a:defRPr kumimoji="1" sz="3200" b="1">
                  <a:solidFill>
                    <a:srgbClr val="FF0066"/>
                  </a:solidFill>
                  <a:latin typeface="Times New Roman" panose="02020603050405020304" pitchFamily="18" charset="0"/>
                  <a:ea typeface="宋体" panose="02010600030101010101" pitchFamily="2" charset="-122"/>
                </a:defRPr>
              </a:lvl2pPr>
              <a:lvl3pPr marL="1143000" indent="-228600" eaLnBrk="0" hangingPunct="0">
                <a:defRPr kumimoji="1" sz="3200" b="1">
                  <a:solidFill>
                    <a:srgbClr val="FF0066"/>
                  </a:solidFill>
                  <a:latin typeface="Times New Roman" panose="02020603050405020304" pitchFamily="18" charset="0"/>
                  <a:ea typeface="宋体" panose="02010600030101010101" pitchFamily="2" charset="-122"/>
                </a:defRPr>
              </a:lvl3pPr>
              <a:lvl4pPr marL="1600200" indent="-228600" eaLnBrk="0" hangingPunct="0">
                <a:defRPr kumimoji="1" sz="3200" b="1">
                  <a:solidFill>
                    <a:srgbClr val="FF0066"/>
                  </a:solidFill>
                  <a:latin typeface="Times New Roman" panose="02020603050405020304" pitchFamily="18" charset="0"/>
                  <a:ea typeface="宋体" panose="02010600030101010101" pitchFamily="2" charset="-122"/>
                </a:defRPr>
              </a:lvl4pPr>
              <a:lvl5pPr marL="2057400" indent="-228600" eaLnBrk="0" hangingPunct="0">
                <a:defRPr kumimoji="1" sz="3200" b="1">
                  <a:solidFill>
                    <a:srgbClr val="FF0066"/>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9pPr>
            </a:lstStyle>
            <a:p>
              <a:pPr eaLnBrk="1" hangingPunct="1"/>
              <a:r>
                <a:rPr lang="zh-CN" altLang="en-US" sz="2200" dirty="0">
                  <a:solidFill>
                    <a:srgbClr val="990033"/>
                  </a:solidFill>
                </a:rPr>
                <a:t>不确定度</a:t>
              </a:r>
            </a:p>
          </p:txBody>
        </p:sp>
        <p:sp>
          <p:nvSpPr>
            <p:cNvPr id="13" name="Rectangle 6">
              <a:extLst>
                <a:ext uri="{FF2B5EF4-FFF2-40B4-BE49-F238E27FC236}">
                  <a16:creationId xmlns:a16="http://schemas.microsoft.com/office/drawing/2014/main" id="{A897EF7F-AAF6-46A4-897A-4E6C694F752B}"/>
                </a:ext>
              </a:extLst>
            </p:cNvPr>
            <p:cNvSpPr>
              <a:spLocks noChangeArrowheads="1"/>
            </p:cNvSpPr>
            <p:nvPr/>
          </p:nvSpPr>
          <p:spPr bwMode="auto">
            <a:xfrm>
              <a:off x="4443424" y="4544554"/>
              <a:ext cx="188705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kumimoji="1" sz="3200" b="1">
                  <a:solidFill>
                    <a:srgbClr val="FF0066"/>
                  </a:solidFill>
                  <a:latin typeface="Times New Roman" panose="02020603050405020304" pitchFamily="18" charset="0"/>
                  <a:ea typeface="宋体" panose="02010600030101010101" pitchFamily="2" charset="-122"/>
                </a:defRPr>
              </a:lvl1pPr>
              <a:lvl2pPr marL="742950" indent="-285750" eaLnBrk="0" hangingPunct="0">
                <a:defRPr kumimoji="1" sz="3200" b="1">
                  <a:solidFill>
                    <a:srgbClr val="FF0066"/>
                  </a:solidFill>
                  <a:latin typeface="Times New Roman" panose="02020603050405020304" pitchFamily="18" charset="0"/>
                  <a:ea typeface="宋体" panose="02010600030101010101" pitchFamily="2" charset="-122"/>
                </a:defRPr>
              </a:lvl2pPr>
              <a:lvl3pPr marL="1143000" indent="-228600" eaLnBrk="0" hangingPunct="0">
                <a:defRPr kumimoji="1" sz="3200" b="1">
                  <a:solidFill>
                    <a:srgbClr val="FF0066"/>
                  </a:solidFill>
                  <a:latin typeface="Times New Roman" panose="02020603050405020304" pitchFamily="18" charset="0"/>
                  <a:ea typeface="宋体" panose="02010600030101010101" pitchFamily="2" charset="-122"/>
                </a:defRPr>
              </a:lvl3pPr>
              <a:lvl4pPr marL="1600200" indent="-228600" eaLnBrk="0" hangingPunct="0">
                <a:defRPr kumimoji="1" sz="3200" b="1">
                  <a:solidFill>
                    <a:srgbClr val="FF0066"/>
                  </a:solidFill>
                  <a:latin typeface="Times New Roman" panose="02020603050405020304" pitchFamily="18" charset="0"/>
                  <a:ea typeface="宋体" panose="02010600030101010101" pitchFamily="2" charset="-122"/>
                </a:defRPr>
              </a:lvl4pPr>
              <a:lvl5pPr marL="2057400" indent="-228600" eaLnBrk="0" hangingPunct="0">
                <a:defRPr kumimoji="1" sz="3200" b="1">
                  <a:solidFill>
                    <a:srgbClr val="FF0066"/>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9pPr>
            </a:lstStyle>
            <a:p>
              <a:pPr eaLnBrk="1" hangingPunct="1"/>
              <a:r>
                <a:rPr lang="zh-CN" altLang="en-US" sz="2200" dirty="0">
                  <a:solidFill>
                    <a:srgbClr val="990033"/>
                  </a:solidFill>
                </a:rPr>
                <a:t>相对不确定度</a:t>
              </a:r>
            </a:p>
          </p:txBody>
        </p:sp>
        <p:sp>
          <p:nvSpPr>
            <p:cNvPr id="14" name="Rectangle 7">
              <a:extLst>
                <a:ext uri="{FF2B5EF4-FFF2-40B4-BE49-F238E27FC236}">
                  <a16:creationId xmlns:a16="http://schemas.microsoft.com/office/drawing/2014/main" id="{4C6BC2ED-7088-404C-917C-C79DA6B6E317}"/>
                </a:ext>
              </a:extLst>
            </p:cNvPr>
            <p:cNvSpPr>
              <a:spLocks noChangeArrowheads="1"/>
            </p:cNvSpPr>
            <p:nvPr/>
          </p:nvSpPr>
          <p:spPr bwMode="auto">
            <a:xfrm>
              <a:off x="5898839" y="1995686"/>
              <a:ext cx="131959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kumimoji="1" sz="3200" b="1">
                  <a:solidFill>
                    <a:srgbClr val="FF0066"/>
                  </a:solidFill>
                  <a:latin typeface="Times New Roman" panose="02020603050405020304" pitchFamily="18" charset="0"/>
                  <a:ea typeface="宋体" panose="02010600030101010101" pitchFamily="2" charset="-122"/>
                </a:defRPr>
              </a:lvl1pPr>
              <a:lvl2pPr marL="742950" indent="-285750" eaLnBrk="0" hangingPunct="0">
                <a:defRPr kumimoji="1" sz="3200" b="1">
                  <a:solidFill>
                    <a:srgbClr val="FF0066"/>
                  </a:solidFill>
                  <a:latin typeface="Times New Roman" panose="02020603050405020304" pitchFamily="18" charset="0"/>
                  <a:ea typeface="宋体" panose="02010600030101010101" pitchFamily="2" charset="-122"/>
                </a:defRPr>
              </a:lvl2pPr>
              <a:lvl3pPr marL="1143000" indent="-228600" eaLnBrk="0" hangingPunct="0">
                <a:defRPr kumimoji="1" sz="3200" b="1">
                  <a:solidFill>
                    <a:srgbClr val="FF0066"/>
                  </a:solidFill>
                  <a:latin typeface="Times New Roman" panose="02020603050405020304" pitchFamily="18" charset="0"/>
                  <a:ea typeface="宋体" panose="02010600030101010101" pitchFamily="2" charset="-122"/>
                </a:defRPr>
              </a:lvl3pPr>
              <a:lvl4pPr marL="1600200" indent="-228600" eaLnBrk="0" hangingPunct="0">
                <a:defRPr kumimoji="1" sz="3200" b="1">
                  <a:solidFill>
                    <a:srgbClr val="FF0066"/>
                  </a:solidFill>
                  <a:latin typeface="Times New Roman" panose="02020603050405020304" pitchFamily="18" charset="0"/>
                  <a:ea typeface="宋体" panose="02010600030101010101" pitchFamily="2" charset="-122"/>
                </a:defRPr>
              </a:lvl4pPr>
              <a:lvl5pPr marL="2057400" indent="-228600" eaLnBrk="0" hangingPunct="0">
                <a:defRPr kumimoji="1" sz="3200" b="1">
                  <a:solidFill>
                    <a:srgbClr val="FF0066"/>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9pPr>
            </a:lstStyle>
            <a:p>
              <a:pPr eaLnBrk="1" hangingPunct="1"/>
              <a:r>
                <a:rPr lang="zh-CN" altLang="en-US" sz="2200" dirty="0">
                  <a:solidFill>
                    <a:srgbClr val="0000FF"/>
                  </a:solidFill>
                </a:rPr>
                <a:t>置信概率</a:t>
              </a:r>
            </a:p>
          </p:txBody>
        </p:sp>
        <p:sp>
          <p:nvSpPr>
            <p:cNvPr id="15" name="Line 8">
              <a:extLst>
                <a:ext uri="{FF2B5EF4-FFF2-40B4-BE49-F238E27FC236}">
                  <a16:creationId xmlns:a16="http://schemas.microsoft.com/office/drawing/2014/main" id="{31086637-653A-4D89-B56C-A8BBB41B25CE}"/>
                </a:ext>
              </a:extLst>
            </p:cNvPr>
            <p:cNvSpPr>
              <a:spLocks noChangeShapeType="1"/>
            </p:cNvSpPr>
            <p:nvPr/>
          </p:nvSpPr>
          <p:spPr bwMode="auto">
            <a:xfrm flipH="1" flipV="1">
              <a:off x="4182097" y="2381616"/>
              <a:ext cx="683088" cy="1008062"/>
            </a:xfrm>
            <a:prstGeom prst="line">
              <a:avLst/>
            </a:prstGeom>
            <a:noFill/>
            <a:ln w="635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200"/>
            </a:p>
          </p:txBody>
        </p:sp>
        <p:sp>
          <p:nvSpPr>
            <p:cNvPr id="16" name="Line 9">
              <a:extLst>
                <a:ext uri="{FF2B5EF4-FFF2-40B4-BE49-F238E27FC236}">
                  <a16:creationId xmlns:a16="http://schemas.microsoft.com/office/drawing/2014/main" id="{B81C6E81-C776-4727-8C26-8954F3C94FD8}"/>
                </a:ext>
              </a:extLst>
            </p:cNvPr>
            <p:cNvSpPr>
              <a:spLocks noChangeShapeType="1"/>
            </p:cNvSpPr>
            <p:nvPr/>
          </p:nvSpPr>
          <p:spPr bwMode="auto">
            <a:xfrm flipV="1">
              <a:off x="5129141" y="2381616"/>
              <a:ext cx="853182" cy="1008062"/>
            </a:xfrm>
            <a:prstGeom prst="line">
              <a:avLst/>
            </a:prstGeom>
            <a:noFill/>
            <a:ln w="635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200"/>
            </a:p>
          </p:txBody>
        </p:sp>
        <p:sp>
          <p:nvSpPr>
            <p:cNvPr id="18" name="Line 10">
              <a:extLst>
                <a:ext uri="{FF2B5EF4-FFF2-40B4-BE49-F238E27FC236}">
                  <a16:creationId xmlns:a16="http://schemas.microsoft.com/office/drawing/2014/main" id="{980EF87E-4DA2-4A9A-A695-40527D7CC9F0}"/>
                </a:ext>
              </a:extLst>
            </p:cNvPr>
            <p:cNvSpPr>
              <a:spLocks noChangeShapeType="1"/>
            </p:cNvSpPr>
            <p:nvPr/>
          </p:nvSpPr>
          <p:spPr bwMode="auto">
            <a:xfrm>
              <a:off x="3749603" y="4116604"/>
              <a:ext cx="792088" cy="605813"/>
            </a:xfrm>
            <a:prstGeom prst="line">
              <a:avLst/>
            </a:prstGeom>
            <a:noFill/>
            <a:ln w="635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200"/>
            </a:p>
          </p:txBody>
        </p:sp>
        <p:sp>
          <p:nvSpPr>
            <p:cNvPr id="10" name="Rectangle 2">
              <a:extLst>
                <a:ext uri="{FF2B5EF4-FFF2-40B4-BE49-F238E27FC236}">
                  <a16:creationId xmlns:a16="http://schemas.microsoft.com/office/drawing/2014/main" id="{50AE11B1-1C25-402A-A0C9-E021A0339828}"/>
                </a:ext>
              </a:extLst>
            </p:cNvPr>
            <p:cNvSpPr txBox="1">
              <a:spLocks noChangeArrowheads="1"/>
            </p:cNvSpPr>
            <p:nvPr/>
          </p:nvSpPr>
          <p:spPr>
            <a:xfrm>
              <a:off x="663388" y="3332392"/>
              <a:ext cx="2616687" cy="499098"/>
            </a:xfrm>
            <a:prstGeom prst="rect">
              <a:avLst/>
            </a:prstGeom>
          </p:spPr>
          <p:txBody>
            <a:bodyPr/>
            <a:lstStyle>
              <a:lvl1pPr algn="ctr" rtl="0" eaLnBrk="0" fontAlgn="base" hangingPunct="0">
                <a:spcBef>
                  <a:spcPct val="0"/>
                </a:spcBef>
                <a:spcAft>
                  <a:spcPct val="0"/>
                </a:spcAft>
                <a:defRPr sz="3300" kern="1200">
                  <a:solidFill>
                    <a:schemeClr val="tx1"/>
                  </a:solidFill>
                  <a:latin typeface="Arial" charset="0"/>
                  <a:ea typeface="+mj-ea"/>
                  <a:cs typeface="+mj-cs"/>
                </a:defRPr>
              </a:lvl1pPr>
              <a:lvl2pPr algn="ctr" rtl="0" eaLnBrk="0" fontAlgn="base" hangingPunct="0">
                <a:spcBef>
                  <a:spcPct val="0"/>
                </a:spcBef>
                <a:spcAft>
                  <a:spcPct val="0"/>
                </a:spcAft>
                <a:defRPr sz="3300">
                  <a:solidFill>
                    <a:schemeClr val="tx1"/>
                  </a:solidFill>
                  <a:latin typeface="Arial" charset="0"/>
                  <a:ea typeface="宋体" charset="-122"/>
                </a:defRPr>
              </a:lvl2pPr>
              <a:lvl3pPr algn="ctr" rtl="0" eaLnBrk="0" fontAlgn="base" hangingPunct="0">
                <a:spcBef>
                  <a:spcPct val="0"/>
                </a:spcBef>
                <a:spcAft>
                  <a:spcPct val="0"/>
                </a:spcAft>
                <a:defRPr sz="3300">
                  <a:solidFill>
                    <a:schemeClr val="tx1"/>
                  </a:solidFill>
                  <a:latin typeface="Arial" charset="0"/>
                  <a:ea typeface="宋体" charset="-122"/>
                </a:defRPr>
              </a:lvl3pPr>
              <a:lvl4pPr algn="ctr" rtl="0" eaLnBrk="0" fontAlgn="base" hangingPunct="0">
                <a:spcBef>
                  <a:spcPct val="0"/>
                </a:spcBef>
                <a:spcAft>
                  <a:spcPct val="0"/>
                </a:spcAft>
                <a:defRPr sz="3300">
                  <a:solidFill>
                    <a:schemeClr val="tx1"/>
                  </a:solidFill>
                  <a:latin typeface="Arial" charset="0"/>
                  <a:ea typeface="宋体" charset="-122"/>
                </a:defRPr>
              </a:lvl4pPr>
              <a:lvl5pPr algn="ctr" rtl="0" eaLnBrk="0" fontAlgn="base" hangingPunct="0">
                <a:spcBef>
                  <a:spcPct val="0"/>
                </a:spcBef>
                <a:spcAft>
                  <a:spcPct val="0"/>
                </a:spcAft>
                <a:defRPr sz="3300">
                  <a:solidFill>
                    <a:schemeClr val="tx1"/>
                  </a:solidFill>
                  <a:latin typeface="Arial" charset="0"/>
                  <a:ea typeface="宋体" charset="-122"/>
                </a:defRPr>
              </a:lvl5pPr>
              <a:lvl6pPr marL="342900" algn="ctr" rtl="0" fontAlgn="base">
                <a:spcBef>
                  <a:spcPct val="0"/>
                </a:spcBef>
                <a:spcAft>
                  <a:spcPct val="0"/>
                </a:spcAft>
                <a:defRPr sz="3300">
                  <a:solidFill>
                    <a:schemeClr val="tx1"/>
                  </a:solidFill>
                  <a:latin typeface="Calibri" pitchFamily="34" charset="0"/>
                  <a:ea typeface="宋体" charset="-122"/>
                </a:defRPr>
              </a:lvl6pPr>
              <a:lvl7pPr marL="685800" algn="ctr" rtl="0" fontAlgn="base">
                <a:spcBef>
                  <a:spcPct val="0"/>
                </a:spcBef>
                <a:spcAft>
                  <a:spcPct val="0"/>
                </a:spcAft>
                <a:defRPr sz="3300">
                  <a:solidFill>
                    <a:schemeClr val="tx1"/>
                  </a:solidFill>
                  <a:latin typeface="Calibri" pitchFamily="34" charset="0"/>
                  <a:ea typeface="宋体" charset="-122"/>
                </a:defRPr>
              </a:lvl7pPr>
              <a:lvl8pPr marL="1028700" algn="ctr" rtl="0" fontAlgn="base">
                <a:spcBef>
                  <a:spcPct val="0"/>
                </a:spcBef>
                <a:spcAft>
                  <a:spcPct val="0"/>
                </a:spcAft>
                <a:defRPr sz="3300">
                  <a:solidFill>
                    <a:schemeClr val="tx1"/>
                  </a:solidFill>
                  <a:latin typeface="Calibri" pitchFamily="34" charset="0"/>
                  <a:ea typeface="宋体" charset="-122"/>
                </a:defRPr>
              </a:lvl8pPr>
              <a:lvl9pPr marL="1371600" algn="ctr" rtl="0" fontAlgn="base">
                <a:spcBef>
                  <a:spcPct val="0"/>
                </a:spcBef>
                <a:spcAft>
                  <a:spcPct val="0"/>
                </a:spcAft>
                <a:defRPr sz="3300">
                  <a:solidFill>
                    <a:schemeClr val="tx1"/>
                  </a:solidFill>
                  <a:latin typeface="Calibri" pitchFamily="34" charset="0"/>
                  <a:ea typeface="宋体" charset="-122"/>
                </a:defRPr>
              </a:lvl9pPr>
            </a:lstStyle>
            <a:p>
              <a:r>
                <a:rPr lang="zh-CN" altLang="en-US" sz="2200" dirty="0"/>
                <a:t>科学数据的表示：</a:t>
              </a:r>
            </a:p>
          </p:txBody>
        </p:sp>
        <p:sp>
          <p:nvSpPr>
            <p:cNvPr id="20" name="Text Box 10">
              <a:extLst>
                <a:ext uri="{FF2B5EF4-FFF2-40B4-BE49-F238E27FC236}">
                  <a16:creationId xmlns:a16="http://schemas.microsoft.com/office/drawing/2014/main" id="{49FA7DA0-99E7-4D0E-9786-8854A99D01FC}"/>
                </a:ext>
              </a:extLst>
            </p:cNvPr>
            <p:cNvSpPr txBox="1">
              <a:spLocks noChangeArrowheads="1"/>
            </p:cNvSpPr>
            <p:nvPr/>
          </p:nvSpPr>
          <p:spPr bwMode="auto">
            <a:xfrm>
              <a:off x="5336360" y="3375279"/>
              <a:ext cx="112495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3200" b="1">
                  <a:solidFill>
                    <a:srgbClr val="FF0066"/>
                  </a:solidFill>
                  <a:latin typeface="Times New Roman" panose="02020603050405020304" pitchFamily="18" charset="0"/>
                  <a:ea typeface="宋体" panose="02010600030101010101" pitchFamily="2" charset="-122"/>
                </a:defRPr>
              </a:lvl1pPr>
              <a:lvl2pPr marL="742950" indent="-285750" eaLnBrk="0" hangingPunct="0">
                <a:defRPr kumimoji="1" sz="3200" b="1">
                  <a:solidFill>
                    <a:srgbClr val="FF0066"/>
                  </a:solidFill>
                  <a:latin typeface="Times New Roman" panose="02020603050405020304" pitchFamily="18" charset="0"/>
                  <a:ea typeface="宋体" panose="02010600030101010101" pitchFamily="2" charset="-122"/>
                </a:defRPr>
              </a:lvl2pPr>
              <a:lvl3pPr marL="1143000" indent="-228600" eaLnBrk="0" hangingPunct="0">
                <a:defRPr kumimoji="1" sz="3200" b="1">
                  <a:solidFill>
                    <a:srgbClr val="FF0066"/>
                  </a:solidFill>
                  <a:latin typeface="Times New Roman" panose="02020603050405020304" pitchFamily="18" charset="0"/>
                  <a:ea typeface="宋体" panose="02010600030101010101" pitchFamily="2" charset="-122"/>
                </a:defRPr>
              </a:lvl3pPr>
              <a:lvl4pPr marL="1600200" indent="-228600" eaLnBrk="0" hangingPunct="0">
                <a:defRPr kumimoji="1" sz="3200" b="1">
                  <a:solidFill>
                    <a:srgbClr val="FF0066"/>
                  </a:solidFill>
                  <a:latin typeface="Times New Roman" panose="02020603050405020304" pitchFamily="18" charset="0"/>
                  <a:ea typeface="宋体" panose="02010600030101010101" pitchFamily="2" charset="-122"/>
                </a:defRPr>
              </a:lvl4pPr>
              <a:lvl5pPr marL="2057400" indent="-228600" eaLnBrk="0" hangingPunct="0">
                <a:defRPr kumimoji="1" sz="3200" b="1">
                  <a:solidFill>
                    <a:srgbClr val="FF0066"/>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9pPr>
            </a:lstStyle>
            <a:p>
              <a:pPr eaLnBrk="1" hangingPunct="1"/>
              <a:r>
                <a:rPr lang="zh-CN" altLang="en-US" sz="2200" i="1" dirty="0">
                  <a:solidFill>
                    <a:srgbClr val="FF3300"/>
                  </a:solidFill>
                  <a:ea typeface="楷体_GB2312" pitchFamily="49" charset="-122"/>
                </a:rPr>
                <a:t>单位！</a:t>
              </a:r>
            </a:p>
          </p:txBody>
        </p:sp>
      </p:grpSp>
    </p:spTree>
    <p:extLst>
      <p:ext uri="{BB962C8B-B14F-4D97-AF65-F5344CB8AC3E}">
        <p14:creationId xmlns:p14="http://schemas.microsoft.com/office/powerpoint/2010/main" val="3107343580"/>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flipH="1">
            <a:off x="2918943" y="457535"/>
            <a:ext cx="6225059"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 name="圆角矩形 2"/>
          <p:cNvSpPr/>
          <p:nvPr/>
        </p:nvSpPr>
        <p:spPr>
          <a:xfrm>
            <a:off x="755575" y="197679"/>
            <a:ext cx="2411111"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4" name="矩形 3"/>
          <p:cNvSpPr/>
          <p:nvPr/>
        </p:nvSpPr>
        <p:spPr>
          <a:xfrm>
            <a:off x="827584" y="226702"/>
            <a:ext cx="2339102" cy="461665"/>
          </a:xfrm>
          <a:prstGeom prst="rect">
            <a:avLst/>
          </a:prstGeom>
        </p:spPr>
        <p:txBody>
          <a:bodyPr wrap="none">
            <a:spAutoFit/>
          </a:bodyPr>
          <a:lstStyle/>
          <a:p>
            <a:pPr defTabSz="913924"/>
            <a:r>
              <a:rPr lang="zh-CN" altLang="en-US" sz="2400" b="1" kern="0" dirty="0">
                <a:solidFill>
                  <a:srgbClr val="005A9E"/>
                </a:solidFill>
                <a:cs typeface="+mn-ea"/>
                <a:sym typeface="+mn-lt"/>
              </a:rPr>
              <a:t>不确定度的分类</a:t>
            </a:r>
          </a:p>
        </p:txBody>
      </p:sp>
      <p:grpSp>
        <p:nvGrpSpPr>
          <p:cNvPr id="5" name="Group 17"/>
          <p:cNvGrpSpPr>
            <a:grpSpLocks noChangeAspect="1"/>
          </p:cNvGrpSpPr>
          <p:nvPr/>
        </p:nvGrpSpPr>
        <p:grpSpPr bwMode="auto">
          <a:xfrm>
            <a:off x="179512" y="212152"/>
            <a:ext cx="457188" cy="490764"/>
            <a:chOff x="231" y="1205"/>
            <a:chExt cx="640" cy="687"/>
          </a:xfrm>
          <a:solidFill>
            <a:srgbClr val="005A9E"/>
          </a:solidFill>
          <a:effectLst/>
        </p:grpSpPr>
        <p:sp>
          <p:nvSpPr>
            <p:cNvPr id="6" name="Freeform 18"/>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7"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sp>
        <p:nvSpPr>
          <p:cNvPr id="8" name="Rectangle 5">
            <a:extLst>
              <a:ext uri="{FF2B5EF4-FFF2-40B4-BE49-F238E27FC236}">
                <a16:creationId xmlns:a16="http://schemas.microsoft.com/office/drawing/2014/main" id="{E918DD57-31B1-4447-8124-CBF4A2865E46}"/>
              </a:ext>
            </a:extLst>
          </p:cNvPr>
          <p:cNvSpPr txBox="1">
            <a:spLocks noChangeArrowheads="1"/>
          </p:cNvSpPr>
          <p:nvPr/>
        </p:nvSpPr>
        <p:spPr>
          <a:xfrm>
            <a:off x="655960" y="843558"/>
            <a:ext cx="8153400" cy="2500312"/>
          </a:xfrm>
          <a:prstGeom prst="rect">
            <a:avLst/>
          </a:prstGeom>
        </p:spPr>
        <p:txBody>
          <a:bodyPr/>
          <a:lstStyle>
            <a:lvl1pPr marL="257175" indent="-257175"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1pPr>
            <a:lvl2pPr marL="557213" indent="-214313" algn="l" rtl="0" eaLnBrk="0" fontAlgn="base" hangingPunct="0">
              <a:spcBef>
                <a:spcPct val="20000"/>
              </a:spcBef>
              <a:spcAft>
                <a:spcPct val="0"/>
              </a:spcAft>
              <a:buFont typeface="Arial" charset="0"/>
              <a:buChar char="–"/>
              <a:defRPr sz="2100" kern="1200">
                <a:solidFill>
                  <a:schemeClr val="tx1"/>
                </a:solidFill>
                <a:latin typeface="Arial" charset="0"/>
                <a:ea typeface="+mn-ea"/>
                <a:cs typeface="+mn-cs"/>
              </a:defRPr>
            </a:lvl2pPr>
            <a:lvl3pPr marL="857250" indent="-171450" algn="l" rtl="0" eaLnBrk="0" fontAlgn="base" hangingPunct="0">
              <a:spcBef>
                <a:spcPct val="20000"/>
              </a:spcBef>
              <a:spcAft>
                <a:spcPct val="0"/>
              </a:spcAft>
              <a:buFont typeface="Arial" charset="0"/>
              <a:buChar char="•"/>
              <a:defRPr sz="1800" kern="1200">
                <a:solidFill>
                  <a:schemeClr val="tx1"/>
                </a:solidFill>
                <a:latin typeface="Arial" charset="0"/>
                <a:ea typeface="+mn-ea"/>
                <a:cs typeface="+mn-cs"/>
              </a:defRPr>
            </a:lvl3pPr>
            <a:lvl4pPr marL="12001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4pPr>
            <a:lvl5pPr marL="15430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spcBef>
                <a:spcPct val="0"/>
              </a:spcBef>
              <a:buFontTx/>
              <a:buNone/>
            </a:pPr>
            <a:r>
              <a:rPr lang="en-US" altLang="zh-CN" sz="2200" b="1" dirty="0">
                <a:solidFill>
                  <a:srgbClr val="990033"/>
                </a:solidFill>
                <a:latin typeface="Times New Roman" panose="02020603050405020304" pitchFamily="18" charset="0"/>
                <a:ea typeface="楷体_GB2312" pitchFamily="49" charset="-122"/>
              </a:rPr>
              <a:t>A </a:t>
            </a:r>
            <a:r>
              <a:rPr lang="zh-CN" altLang="zh-CN" sz="2200" b="1" dirty="0">
                <a:solidFill>
                  <a:srgbClr val="990033"/>
                </a:solidFill>
                <a:latin typeface="Times New Roman" panose="02020603050405020304" pitchFamily="18" charset="0"/>
                <a:ea typeface="楷体_GB2312" pitchFamily="49" charset="-122"/>
              </a:rPr>
              <a:t>类不确定度</a:t>
            </a:r>
            <a:r>
              <a:rPr lang="zh-CN" altLang="en-US" sz="2200" b="1" dirty="0">
                <a:latin typeface="Times New Roman" panose="02020603050405020304" pitchFamily="18" charset="0"/>
                <a:ea typeface="楷体_GB2312" pitchFamily="49" charset="-122"/>
              </a:rPr>
              <a:t>     </a:t>
            </a:r>
          </a:p>
          <a:p>
            <a:pPr>
              <a:lnSpc>
                <a:spcPct val="150000"/>
              </a:lnSpc>
              <a:spcBef>
                <a:spcPct val="0"/>
              </a:spcBef>
              <a:buFontTx/>
              <a:buNone/>
            </a:pPr>
            <a:r>
              <a:rPr lang="zh-CN" altLang="en-US" sz="2200" b="1" dirty="0">
                <a:latin typeface="Times New Roman" panose="02020603050405020304" pitchFamily="18" charset="0"/>
                <a:ea typeface="楷体_GB2312" pitchFamily="49" charset="-122"/>
              </a:rPr>
              <a:t>   </a:t>
            </a:r>
            <a:r>
              <a:rPr lang="zh-CN" altLang="en-US" sz="2200" b="1" dirty="0">
                <a:solidFill>
                  <a:srgbClr val="FF0066"/>
                </a:solidFill>
                <a:latin typeface="Times New Roman" panose="02020603050405020304" pitchFamily="18" charset="0"/>
                <a:ea typeface="楷体_GB2312" pitchFamily="49" charset="-122"/>
              </a:rPr>
              <a:t>多次等精度测量</a:t>
            </a:r>
            <a:r>
              <a:rPr lang="zh-CN" altLang="en-US" sz="2200" b="1" dirty="0">
                <a:latin typeface="Times New Roman" panose="02020603050405020304" pitchFamily="18" charset="0"/>
                <a:ea typeface="楷体_GB2312" pitchFamily="49" charset="-122"/>
              </a:rPr>
              <a:t>时能用统计学方法处理的分量</a:t>
            </a:r>
          </a:p>
          <a:p>
            <a:pPr>
              <a:lnSpc>
                <a:spcPct val="150000"/>
              </a:lnSpc>
              <a:spcBef>
                <a:spcPct val="0"/>
              </a:spcBef>
              <a:buFontTx/>
              <a:buNone/>
            </a:pPr>
            <a:r>
              <a:rPr lang="en-US" altLang="zh-CN" sz="2200" b="1" dirty="0">
                <a:solidFill>
                  <a:srgbClr val="990033"/>
                </a:solidFill>
                <a:latin typeface="Times New Roman" panose="02020603050405020304" pitchFamily="18" charset="0"/>
                <a:ea typeface="楷体_GB2312" pitchFamily="49" charset="-122"/>
              </a:rPr>
              <a:t>B </a:t>
            </a:r>
            <a:r>
              <a:rPr lang="zh-CN" altLang="en-US" sz="2200" b="1" dirty="0">
                <a:solidFill>
                  <a:srgbClr val="990033"/>
                </a:solidFill>
                <a:latin typeface="Times New Roman" panose="02020603050405020304" pitchFamily="18" charset="0"/>
                <a:ea typeface="楷体_GB2312" pitchFamily="49" charset="-122"/>
              </a:rPr>
              <a:t>类不确定度</a:t>
            </a:r>
            <a:r>
              <a:rPr lang="zh-CN" altLang="en-US" sz="2200" b="1" dirty="0">
                <a:latin typeface="Times New Roman" panose="02020603050405020304" pitchFamily="18" charset="0"/>
                <a:ea typeface="楷体_GB2312" pitchFamily="49" charset="-122"/>
              </a:rPr>
              <a:t>     </a:t>
            </a:r>
          </a:p>
          <a:p>
            <a:pPr>
              <a:lnSpc>
                <a:spcPct val="150000"/>
              </a:lnSpc>
              <a:spcBef>
                <a:spcPct val="0"/>
              </a:spcBef>
              <a:buFontTx/>
              <a:buNone/>
            </a:pPr>
            <a:r>
              <a:rPr lang="zh-CN" altLang="en-US" sz="2200" b="1" dirty="0">
                <a:latin typeface="Times New Roman" panose="02020603050405020304" pitchFamily="18" charset="0"/>
                <a:ea typeface="楷体_GB2312" pitchFamily="49" charset="-122"/>
              </a:rPr>
              <a:t>    针对单次测量的分量</a:t>
            </a:r>
          </a:p>
          <a:p>
            <a:pPr>
              <a:lnSpc>
                <a:spcPct val="150000"/>
              </a:lnSpc>
              <a:spcBef>
                <a:spcPct val="0"/>
              </a:spcBef>
              <a:buFontTx/>
              <a:buNone/>
            </a:pPr>
            <a:r>
              <a:rPr lang="zh-CN" altLang="en-US" sz="2200" b="1" dirty="0">
                <a:latin typeface="Times New Roman" panose="02020603050405020304" pitchFamily="18" charset="0"/>
                <a:ea typeface="楷体_GB2312" pitchFamily="49" charset="-122"/>
              </a:rPr>
              <a:t>这两类分量在相同置信概率下用“</a:t>
            </a:r>
            <a:r>
              <a:rPr lang="zh-CN" altLang="en-US" sz="2200" b="1" dirty="0">
                <a:solidFill>
                  <a:srgbClr val="0000FF"/>
                </a:solidFill>
                <a:latin typeface="Times New Roman" panose="02020603050405020304" pitchFamily="18" charset="0"/>
                <a:ea typeface="楷体_GB2312" pitchFamily="49" charset="-122"/>
              </a:rPr>
              <a:t>方和根</a:t>
            </a:r>
            <a:r>
              <a:rPr lang="zh-CN" altLang="en-US" sz="2200" b="1" dirty="0">
                <a:latin typeface="Times New Roman" panose="02020603050405020304" pitchFamily="18" charset="0"/>
                <a:ea typeface="楷体_GB2312" pitchFamily="49" charset="-122"/>
              </a:rPr>
              <a:t>”合成</a:t>
            </a:r>
          </a:p>
          <a:p>
            <a:pPr>
              <a:lnSpc>
                <a:spcPct val="150000"/>
              </a:lnSpc>
              <a:spcBef>
                <a:spcPct val="0"/>
              </a:spcBef>
              <a:buFontTx/>
              <a:buNone/>
            </a:pPr>
            <a:r>
              <a:rPr lang="zh-CN" altLang="en-US" sz="2200" b="1" dirty="0">
                <a:solidFill>
                  <a:srgbClr val="0033CC"/>
                </a:solidFill>
                <a:latin typeface="Times New Roman" panose="02020603050405020304" pitchFamily="18" charset="0"/>
                <a:ea typeface="楷体_GB2312" pitchFamily="49" charset="-122"/>
              </a:rPr>
              <a:t>总不确定度</a:t>
            </a:r>
            <a:r>
              <a:rPr lang="zh-CN" altLang="en-US" sz="2200" b="1" dirty="0">
                <a:latin typeface="Times New Roman" panose="02020603050405020304" pitchFamily="18" charset="0"/>
                <a:ea typeface="楷体_GB2312" pitchFamily="49" charset="-122"/>
              </a:rPr>
              <a:t>：</a:t>
            </a:r>
          </a:p>
          <a:p>
            <a:pPr>
              <a:spcBef>
                <a:spcPct val="0"/>
              </a:spcBef>
              <a:buFontTx/>
              <a:buNone/>
            </a:pPr>
            <a:endParaRPr lang="zh-CN" altLang="en-US" sz="2200" b="1" dirty="0">
              <a:latin typeface="Times New Roman" panose="02020603050405020304" pitchFamily="18" charset="0"/>
              <a:ea typeface="楷体_GB2312" pitchFamily="49" charset="-122"/>
            </a:endParaRPr>
          </a:p>
          <a:p>
            <a:pPr>
              <a:spcBef>
                <a:spcPct val="0"/>
              </a:spcBef>
              <a:buFontTx/>
              <a:buNone/>
            </a:pPr>
            <a:endParaRPr lang="en-US" altLang="zh-CN" sz="2200" b="1" dirty="0">
              <a:latin typeface="Times New Roman" panose="02020603050405020304" pitchFamily="18" charset="0"/>
              <a:ea typeface="楷体_GB2312" pitchFamily="49" charset="-122"/>
            </a:endParaRPr>
          </a:p>
        </p:txBody>
      </p:sp>
      <p:graphicFrame>
        <p:nvGraphicFramePr>
          <p:cNvPr id="9" name="Object 6">
            <a:extLst>
              <a:ext uri="{FF2B5EF4-FFF2-40B4-BE49-F238E27FC236}">
                <a16:creationId xmlns:a16="http://schemas.microsoft.com/office/drawing/2014/main" id="{8A9C5B54-38DE-44C7-AE9C-6158B538523D}"/>
              </a:ext>
            </a:extLst>
          </p:cNvPr>
          <p:cNvGraphicFramePr>
            <a:graphicFrameLocks noChangeAspect="1"/>
          </p:cNvGraphicFramePr>
          <p:nvPr>
            <p:extLst>
              <p:ext uri="{D42A27DB-BD31-4B8C-83A1-F6EECF244321}">
                <p14:modId xmlns:p14="http://schemas.microsoft.com/office/powerpoint/2010/main" val="1696553756"/>
              </p:ext>
            </p:extLst>
          </p:nvPr>
        </p:nvGraphicFramePr>
        <p:xfrm>
          <a:off x="2483768" y="3729892"/>
          <a:ext cx="3096344" cy="1004288"/>
        </p:xfrm>
        <a:graphic>
          <a:graphicData uri="http://schemas.openxmlformats.org/presentationml/2006/ole">
            <mc:AlternateContent xmlns:mc="http://schemas.openxmlformats.org/markup-compatibility/2006">
              <mc:Choice xmlns:v="urn:schemas-microsoft-com:vml" Requires="v">
                <p:oleObj name="公式" r:id="rId2" imgW="838200" imgH="279400" progId="Equation.3">
                  <p:embed/>
                </p:oleObj>
              </mc:Choice>
              <mc:Fallback>
                <p:oleObj name="公式" r:id="rId2" imgW="838200" imgH="279400" progId="Equation.3">
                  <p:embed/>
                  <p:pic>
                    <p:nvPicPr>
                      <p:cNvPr id="9" name="Object 6">
                        <a:extLst>
                          <a:ext uri="{FF2B5EF4-FFF2-40B4-BE49-F238E27FC236}">
                            <a16:creationId xmlns:a16="http://schemas.microsoft.com/office/drawing/2014/main" id="{8A9C5B54-38DE-44C7-AE9C-6158B53852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3768" y="3729892"/>
                        <a:ext cx="3096344" cy="100428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619778110"/>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flipH="1">
            <a:off x="2918943" y="457535"/>
            <a:ext cx="6225059"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 name="圆角矩形 2"/>
          <p:cNvSpPr/>
          <p:nvPr/>
        </p:nvSpPr>
        <p:spPr>
          <a:xfrm>
            <a:off x="755575" y="197679"/>
            <a:ext cx="2163367"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4" name="矩形 3"/>
          <p:cNvSpPr/>
          <p:nvPr/>
        </p:nvSpPr>
        <p:spPr>
          <a:xfrm>
            <a:off x="827584" y="226702"/>
            <a:ext cx="1946367" cy="461665"/>
          </a:xfrm>
          <a:prstGeom prst="rect">
            <a:avLst/>
          </a:prstGeom>
        </p:spPr>
        <p:txBody>
          <a:bodyPr wrap="none">
            <a:spAutoFit/>
          </a:bodyPr>
          <a:lstStyle/>
          <a:p>
            <a:pPr defTabSz="913924"/>
            <a:r>
              <a:rPr lang="en-US" altLang="zh-CN" sz="2400" b="1" kern="0" dirty="0">
                <a:solidFill>
                  <a:srgbClr val="005A9E"/>
                </a:solidFill>
                <a:cs typeface="+mn-ea"/>
                <a:sym typeface="+mn-lt"/>
              </a:rPr>
              <a:t>A</a:t>
            </a:r>
            <a:r>
              <a:rPr lang="zh-CN" altLang="en-US" sz="2400" b="1" kern="0" dirty="0">
                <a:solidFill>
                  <a:srgbClr val="005A9E"/>
                </a:solidFill>
                <a:cs typeface="+mn-ea"/>
                <a:sym typeface="+mn-lt"/>
              </a:rPr>
              <a:t>类不确定度</a:t>
            </a:r>
          </a:p>
        </p:txBody>
      </p:sp>
      <p:grpSp>
        <p:nvGrpSpPr>
          <p:cNvPr id="5" name="Group 17"/>
          <p:cNvGrpSpPr>
            <a:grpSpLocks noChangeAspect="1"/>
          </p:cNvGrpSpPr>
          <p:nvPr/>
        </p:nvGrpSpPr>
        <p:grpSpPr bwMode="auto">
          <a:xfrm>
            <a:off x="179512" y="212152"/>
            <a:ext cx="457188" cy="490764"/>
            <a:chOff x="231" y="1205"/>
            <a:chExt cx="640" cy="687"/>
          </a:xfrm>
          <a:solidFill>
            <a:srgbClr val="005A9E"/>
          </a:solidFill>
          <a:effectLst/>
        </p:grpSpPr>
        <p:sp>
          <p:nvSpPr>
            <p:cNvPr id="6" name="Freeform 18"/>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7"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sp>
        <p:nvSpPr>
          <p:cNvPr id="12" name="Rectangle 2">
            <a:extLst>
              <a:ext uri="{FF2B5EF4-FFF2-40B4-BE49-F238E27FC236}">
                <a16:creationId xmlns:a16="http://schemas.microsoft.com/office/drawing/2014/main" id="{A8C1CAC1-3BBF-42B8-A997-6154E4FEB03E}"/>
              </a:ext>
            </a:extLst>
          </p:cNvPr>
          <p:cNvSpPr txBox="1">
            <a:spLocks noChangeArrowheads="1"/>
          </p:cNvSpPr>
          <p:nvPr/>
        </p:nvSpPr>
        <p:spPr>
          <a:xfrm>
            <a:off x="179512" y="942579"/>
            <a:ext cx="8843410" cy="1773183"/>
          </a:xfrm>
          <a:prstGeom prst="rect">
            <a:avLst/>
          </a:prstGeom>
        </p:spPr>
        <p:txBody>
          <a:bodyPr/>
          <a:lstStyle>
            <a:lvl1pPr algn="ctr" rtl="0" eaLnBrk="0" fontAlgn="base" hangingPunct="0">
              <a:spcBef>
                <a:spcPct val="0"/>
              </a:spcBef>
              <a:spcAft>
                <a:spcPct val="0"/>
              </a:spcAft>
              <a:defRPr sz="3300" kern="1200">
                <a:solidFill>
                  <a:schemeClr val="tx1"/>
                </a:solidFill>
                <a:latin typeface="Arial" charset="0"/>
                <a:ea typeface="+mj-ea"/>
                <a:cs typeface="+mj-cs"/>
              </a:defRPr>
            </a:lvl1pPr>
            <a:lvl2pPr algn="ctr" rtl="0" eaLnBrk="0" fontAlgn="base" hangingPunct="0">
              <a:spcBef>
                <a:spcPct val="0"/>
              </a:spcBef>
              <a:spcAft>
                <a:spcPct val="0"/>
              </a:spcAft>
              <a:defRPr sz="3300">
                <a:solidFill>
                  <a:schemeClr val="tx1"/>
                </a:solidFill>
                <a:latin typeface="Arial" charset="0"/>
                <a:ea typeface="宋体" charset="-122"/>
              </a:defRPr>
            </a:lvl2pPr>
            <a:lvl3pPr algn="ctr" rtl="0" eaLnBrk="0" fontAlgn="base" hangingPunct="0">
              <a:spcBef>
                <a:spcPct val="0"/>
              </a:spcBef>
              <a:spcAft>
                <a:spcPct val="0"/>
              </a:spcAft>
              <a:defRPr sz="3300">
                <a:solidFill>
                  <a:schemeClr val="tx1"/>
                </a:solidFill>
                <a:latin typeface="Arial" charset="0"/>
                <a:ea typeface="宋体" charset="-122"/>
              </a:defRPr>
            </a:lvl3pPr>
            <a:lvl4pPr algn="ctr" rtl="0" eaLnBrk="0" fontAlgn="base" hangingPunct="0">
              <a:spcBef>
                <a:spcPct val="0"/>
              </a:spcBef>
              <a:spcAft>
                <a:spcPct val="0"/>
              </a:spcAft>
              <a:defRPr sz="3300">
                <a:solidFill>
                  <a:schemeClr val="tx1"/>
                </a:solidFill>
                <a:latin typeface="Arial" charset="0"/>
                <a:ea typeface="宋体" charset="-122"/>
              </a:defRPr>
            </a:lvl4pPr>
            <a:lvl5pPr algn="ctr" rtl="0" eaLnBrk="0" fontAlgn="base" hangingPunct="0">
              <a:spcBef>
                <a:spcPct val="0"/>
              </a:spcBef>
              <a:spcAft>
                <a:spcPct val="0"/>
              </a:spcAft>
              <a:defRPr sz="3300">
                <a:solidFill>
                  <a:schemeClr val="tx1"/>
                </a:solidFill>
                <a:latin typeface="Arial" charset="0"/>
                <a:ea typeface="宋体" charset="-122"/>
              </a:defRPr>
            </a:lvl5pPr>
            <a:lvl6pPr marL="342900" algn="ctr" rtl="0" fontAlgn="base">
              <a:spcBef>
                <a:spcPct val="0"/>
              </a:spcBef>
              <a:spcAft>
                <a:spcPct val="0"/>
              </a:spcAft>
              <a:defRPr sz="3300">
                <a:solidFill>
                  <a:schemeClr val="tx1"/>
                </a:solidFill>
                <a:latin typeface="Calibri" pitchFamily="34" charset="0"/>
                <a:ea typeface="宋体" charset="-122"/>
              </a:defRPr>
            </a:lvl6pPr>
            <a:lvl7pPr marL="685800" algn="ctr" rtl="0" fontAlgn="base">
              <a:spcBef>
                <a:spcPct val="0"/>
              </a:spcBef>
              <a:spcAft>
                <a:spcPct val="0"/>
              </a:spcAft>
              <a:defRPr sz="3300">
                <a:solidFill>
                  <a:schemeClr val="tx1"/>
                </a:solidFill>
                <a:latin typeface="Calibri" pitchFamily="34" charset="0"/>
                <a:ea typeface="宋体" charset="-122"/>
              </a:defRPr>
            </a:lvl7pPr>
            <a:lvl8pPr marL="1028700" algn="ctr" rtl="0" fontAlgn="base">
              <a:spcBef>
                <a:spcPct val="0"/>
              </a:spcBef>
              <a:spcAft>
                <a:spcPct val="0"/>
              </a:spcAft>
              <a:defRPr sz="3300">
                <a:solidFill>
                  <a:schemeClr val="tx1"/>
                </a:solidFill>
                <a:latin typeface="Calibri" pitchFamily="34" charset="0"/>
                <a:ea typeface="宋体" charset="-122"/>
              </a:defRPr>
            </a:lvl8pPr>
            <a:lvl9pPr marL="1371600" algn="ctr" rtl="0" fontAlgn="base">
              <a:spcBef>
                <a:spcPct val="0"/>
              </a:spcBef>
              <a:spcAft>
                <a:spcPct val="0"/>
              </a:spcAft>
              <a:defRPr sz="3300">
                <a:solidFill>
                  <a:schemeClr val="tx1"/>
                </a:solidFill>
                <a:latin typeface="Calibri" pitchFamily="34" charset="0"/>
                <a:ea typeface="宋体" charset="-122"/>
              </a:defRPr>
            </a:lvl9pPr>
          </a:lstStyle>
          <a:p>
            <a:pPr algn="l" eaLnBrk="1" hangingPunct="1">
              <a:lnSpc>
                <a:spcPct val="150000"/>
              </a:lnSpc>
            </a:pPr>
            <a:r>
              <a:rPr lang="zh-CN" altLang="en-US" sz="2200" b="1" dirty="0">
                <a:solidFill>
                  <a:srgbClr val="0000FF"/>
                </a:solidFill>
                <a:latin typeface="楷体_GB2312" pitchFamily="49" charset="-122"/>
                <a:ea typeface="楷体_GB2312" pitchFamily="49" charset="-122"/>
              </a:rPr>
              <a:t>多次等精度测量</a:t>
            </a:r>
            <a:r>
              <a:rPr lang="zh-CN" altLang="en-US" sz="2200" b="1" dirty="0">
                <a:latin typeface="楷体_GB2312" pitchFamily="49" charset="-122"/>
                <a:ea typeface="楷体_GB2312" pitchFamily="49" charset="-122"/>
              </a:rPr>
              <a:t>；无法判定哪一次更可靠，可以预期它们的</a:t>
            </a:r>
            <a:r>
              <a:rPr lang="zh-CN" altLang="en-US" sz="2200" b="1" dirty="0">
                <a:solidFill>
                  <a:srgbClr val="0000FF"/>
                </a:solidFill>
                <a:latin typeface="楷体_GB2312" pitchFamily="49" charset="-122"/>
                <a:ea typeface="楷体_GB2312" pitchFamily="49" charset="-122"/>
              </a:rPr>
              <a:t>平均值更可靠</a:t>
            </a:r>
            <a:r>
              <a:rPr lang="zh-CN" altLang="en-US" sz="2200" b="1" dirty="0">
                <a:latin typeface="楷体_GB2312" pitchFamily="49" charset="-122"/>
                <a:ea typeface="楷体_GB2312" pitchFamily="49" charset="-122"/>
              </a:rPr>
              <a:t>；当测量次数趋于无穷时，只要能排除系统误差，其平均值就是被测物理量的</a:t>
            </a:r>
            <a:r>
              <a:rPr lang="zh-CN" altLang="en-US" sz="2200" b="1" dirty="0">
                <a:ea typeface="楷体_GB2312" pitchFamily="49" charset="-122"/>
              </a:rPr>
              <a:t>“</a:t>
            </a:r>
            <a:r>
              <a:rPr lang="zh-CN" altLang="en-US" sz="2200" b="1" dirty="0">
                <a:latin typeface="楷体_GB2312" pitchFamily="49" charset="-122"/>
                <a:ea typeface="楷体_GB2312" pitchFamily="49" charset="-122"/>
              </a:rPr>
              <a:t>真值</a:t>
            </a:r>
            <a:r>
              <a:rPr lang="zh-CN" altLang="en-US" sz="2200" b="1" dirty="0">
                <a:ea typeface="楷体_GB2312" pitchFamily="49" charset="-122"/>
              </a:rPr>
              <a:t>”</a:t>
            </a:r>
            <a:r>
              <a:rPr lang="zh-CN" altLang="en-US" sz="2200" b="1" dirty="0">
                <a:latin typeface="楷体_GB2312" pitchFamily="49" charset="-122"/>
                <a:ea typeface="楷体_GB2312" pitchFamily="49" charset="-122"/>
              </a:rPr>
              <a:t>；用测量列的</a:t>
            </a:r>
            <a:r>
              <a:rPr lang="zh-CN" altLang="en-US" sz="2200" b="1" dirty="0">
                <a:solidFill>
                  <a:srgbClr val="0000FF"/>
                </a:solidFill>
                <a:latin typeface="楷体_GB2312" pitchFamily="49" charset="-122"/>
                <a:ea typeface="楷体_GB2312" pitchFamily="49" charset="-122"/>
              </a:rPr>
              <a:t>标准差</a:t>
            </a:r>
            <a:r>
              <a:rPr lang="zh-CN" altLang="en-US" sz="2200" b="1" dirty="0">
                <a:latin typeface="楷体_GB2312" pitchFamily="49" charset="-122"/>
                <a:ea typeface="楷体_GB2312" pitchFamily="49" charset="-122"/>
              </a:rPr>
              <a:t>来评价测量值的离散程度。</a:t>
            </a:r>
            <a:br>
              <a:rPr lang="zh-CN" altLang="en-US" sz="2200" b="1" dirty="0">
                <a:latin typeface="楷体_GB2312" pitchFamily="49" charset="-122"/>
                <a:ea typeface="楷体_GB2312" pitchFamily="49" charset="-122"/>
              </a:rPr>
            </a:br>
            <a:br>
              <a:rPr lang="zh-CN" altLang="en-US" sz="2200" b="1" dirty="0">
                <a:latin typeface="楷体_GB2312" pitchFamily="49" charset="-122"/>
                <a:ea typeface="楷体_GB2312" pitchFamily="49" charset="-122"/>
              </a:rPr>
            </a:br>
            <a:endParaRPr lang="zh-CN" altLang="en-US" sz="2200" b="1" dirty="0">
              <a:latin typeface="楷体_GB2312" pitchFamily="49" charset="-122"/>
              <a:ea typeface="楷体_GB2312" pitchFamily="49" charset="-122"/>
            </a:endParaRPr>
          </a:p>
        </p:txBody>
      </p:sp>
      <p:pic>
        <p:nvPicPr>
          <p:cNvPr id="13" name="Picture 4">
            <a:extLst>
              <a:ext uri="{FF2B5EF4-FFF2-40B4-BE49-F238E27FC236}">
                <a16:creationId xmlns:a16="http://schemas.microsoft.com/office/drawing/2014/main" id="{2B7AFBF2-DFC2-45F8-9BE6-0E6BF3DF65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776" y="2741656"/>
            <a:ext cx="3810000"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4">
            <a:extLst>
              <a:ext uri="{FF2B5EF4-FFF2-40B4-BE49-F238E27FC236}">
                <a16:creationId xmlns:a16="http://schemas.microsoft.com/office/drawing/2014/main" id="{5B8566AE-2F22-4038-946D-3F9228EF0156}"/>
              </a:ext>
            </a:extLst>
          </p:cNvPr>
          <p:cNvSpPr txBox="1">
            <a:spLocks noChangeArrowheads="1"/>
          </p:cNvSpPr>
          <p:nvPr/>
        </p:nvSpPr>
        <p:spPr bwMode="auto">
          <a:xfrm>
            <a:off x="1259632" y="4011910"/>
            <a:ext cx="14208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3200" b="1">
                <a:solidFill>
                  <a:srgbClr val="FF0066"/>
                </a:solidFill>
                <a:latin typeface="Times New Roman" panose="02020603050405020304" pitchFamily="18" charset="0"/>
                <a:ea typeface="宋体" panose="02010600030101010101" pitchFamily="2" charset="-122"/>
              </a:defRPr>
            </a:lvl1pPr>
            <a:lvl2pPr marL="742950" indent="-285750" eaLnBrk="0" hangingPunct="0">
              <a:defRPr kumimoji="1" sz="3200" b="1">
                <a:solidFill>
                  <a:srgbClr val="FF0066"/>
                </a:solidFill>
                <a:latin typeface="Times New Roman" panose="02020603050405020304" pitchFamily="18" charset="0"/>
                <a:ea typeface="宋体" panose="02010600030101010101" pitchFamily="2" charset="-122"/>
              </a:defRPr>
            </a:lvl2pPr>
            <a:lvl3pPr marL="1143000" indent="-228600" eaLnBrk="0" hangingPunct="0">
              <a:defRPr kumimoji="1" sz="3200" b="1">
                <a:solidFill>
                  <a:srgbClr val="FF0066"/>
                </a:solidFill>
                <a:latin typeface="Times New Roman" panose="02020603050405020304" pitchFamily="18" charset="0"/>
                <a:ea typeface="宋体" panose="02010600030101010101" pitchFamily="2" charset="-122"/>
              </a:defRPr>
            </a:lvl3pPr>
            <a:lvl4pPr marL="1600200" indent="-228600" eaLnBrk="0" hangingPunct="0">
              <a:defRPr kumimoji="1" sz="3200" b="1">
                <a:solidFill>
                  <a:srgbClr val="FF0066"/>
                </a:solidFill>
                <a:latin typeface="Times New Roman" panose="02020603050405020304" pitchFamily="18" charset="0"/>
                <a:ea typeface="宋体" panose="02010600030101010101" pitchFamily="2" charset="-122"/>
              </a:defRPr>
            </a:lvl4pPr>
            <a:lvl5pPr marL="2057400" indent="-228600" eaLnBrk="0" hangingPunct="0">
              <a:defRPr kumimoji="1" sz="3200" b="1">
                <a:solidFill>
                  <a:srgbClr val="FF0066"/>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9pPr>
          </a:lstStyle>
          <a:p>
            <a:pPr eaLnBrk="1" hangingPunct="1"/>
            <a:r>
              <a:rPr lang="zh-CN" altLang="en-US" dirty="0"/>
              <a:t>希格玛</a:t>
            </a:r>
          </a:p>
        </p:txBody>
      </p:sp>
      <p:grpSp>
        <p:nvGrpSpPr>
          <p:cNvPr id="11" name="组合 5">
            <a:extLst>
              <a:ext uri="{FF2B5EF4-FFF2-40B4-BE49-F238E27FC236}">
                <a16:creationId xmlns:a16="http://schemas.microsoft.com/office/drawing/2014/main" id="{9702ADB7-E799-477F-934A-5CDE0FCD91F7}"/>
              </a:ext>
            </a:extLst>
          </p:cNvPr>
          <p:cNvGrpSpPr>
            <a:grpSpLocks/>
          </p:cNvGrpSpPr>
          <p:nvPr/>
        </p:nvGrpSpPr>
        <p:grpSpPr bwMode="auto">
          <a:xfrm>
            <a:off x="6876256" y="2849599"/>
            <a:ext cx="1885019" cy="1954399"/>
            <a:chOff x="6762750" y="4297363"/>
            <a:chExt cx="1905000" cy="1989137"/>
          </a:xfrm>
        </p:grpSpPr>
        <p:sp>
          <p:nvSpPr>
            <p:cNvPr id="15" name="Line 37">
              <a:extLst>
                <a:ext uri="{FF2B5EF4-FFF2-40B4-BE49-F238E27FC236}">
                  <a16:creationId xmlns:a16="http://schemas.microsoft.com/office/drawing/2014/main" id="{220B9493-C899-4B4C-B9A4-E93E1290209A}"/>
                </a:ext>
              </a:extLst>
            </p:cNvPr>
            <p:cNvSpPr>
              <a:spLocks noChangeShapeType="1"/>
            </p:cNvSpPr>
            <p:nvPr/>
          </p:nvSpPr>
          <p:spPr bwMode="auto">
            <a:xfrm>
              <a:off x="7524750" y="4308475"/>
              <a:ext cx="0" cy="1876425"/>
            </a:xfrm>
            <a:prstGeom prst="line">
              <a:avLst/>
            </a:prstGeom>
            <a:noFill/>
            <a:ln w="19050" cap="sq">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389" tIns="45695" rIns="91389" bIns="45695">
              <a:spAutoFit/>
            </a:bodyPr>
            <a:lstStyle/>
            <a:p>
              <a:endParaRPr lang="zh-CN" altLang="en-US"/>
            </a:p>
          </p:txBody>
        </p:sp>
        <p:sp>
          <p:nvSpPr>
            <p:cNvPr id="16" name="Line 38">
              <a:extLst>
                <a:ext uri="{FF2B5EF4-FFF2-40B4-BE49-F238E27FC236}">
                  <a16:creationId xmlns:a16="http://schemas.microsoft.com/office/drawing/2014/main" id="{D725D104-EF84-488C-A6A9-6342DBE77048}"/>
                </a:ext>
              </a:extLst>
            </p:cNvPr>
            <p:cNvSpPr>
              <a:spLocks noChangeShapeType="1"/>
            </p:cNvSpPr>
            <p:nvPr/>
          </p:nvSpPr>
          <p:spPr bwMode="auto">
            <a:xfrm>
              <a:off x="6762750" y="6037263"/>
              <a:ext cx="1524000" cy="0"/>
            </a:xfrm>
            <a:prstGeom prst="line">
              <a:avLst/>
            </a:prstGeom>
            <a:noFill/>
            <a:ln w="19050" cap="sq">
              <a:solidFill>
                <a:schemeClr val="tx1"/>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389" tIns="45695" rIns="91389" bIns="45695">
              <a:spAutoFit/>
            </a:bodyPr>
            <a:lstStyle/>
            <a:p>
              <a:endParaRPr lang="zh-CN" altLang="en-US"/>
            </a:p>
          </p:txBody>
        </p:sp>
        <p:sp>
          <p:nvSpPr>
            <p:cNvPr id="17" name="Freeform 39">
              <a:extLst>
                <a:ext uri="{FF2B5EF4-FFF2-40B4-BE49-F238E27FC236}">
                  <a16:creationId xmlns:a16="http://schemas.microsoft.com/office/drawing/2014/main" id="{5FACCD8A-2497-4E2E-88C4-DB49F7E1FD48}"/>
                </a:ext>
              </a:extLst>
            </p:cNvPr>
            <p:cNvSpPr>
              <a:spLocks/>
            </p:cNvSpPr>
            <p:nvPr/>
          </p:nvSpPr>
          <p:spPr bwMode="auto">
            <a:xfrm>
              <a:off x="7143750" y="5072063"/>
              <a:ext cx="781050" cy="965200"/>
            </a:xfrm>
            <a:custGeom>
              <a:avLst/>
              <a:gdLst>
                <a:gd name="T0" fmla="*/ 0 w 727"/>
                <a:gd name="T1" fmla="*/ 2147483647 h 442"/>
                <a:gd name="T2" fmla="*/ 2147483647 w 727"/>
                <a:gd name="T3" fmla="*/ 2147483647 h 442"/>
                <a:gd name="T4" fmla="*/ 2147483647 w 727"/>
                <a:gd name="T5" fmla="*/ 0 h 442"/>
                <a:gd name="T6" fmla="*/ 2147483647 w 727"/>
                <a:gd name="T7" fmla="*/ 2147483647 h 442"/>
                <a:gd name="T8" fmla="*/ 2147483647 w 727"/>
                <a:gd name="T9" fmla="*/ 2147483647 h 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7" h="442">
                  <a:moveTo>
                    <a:pt x="0" y="442"/>
                  </a:moveTo>
                  <a:cubicBezTo>
                    <a:pt x="30" y="418"/>
                    <a:pt x="119" y="369"/>
                    <a:pt x="179" y="295"/>
                  </a:cubicBezTo>
                  <a:cubicBezTo>
                    <a:pt x="239" y="221"/>
                    <a:pt x="297" y="0"/>
                    <a:pt x="358" y="0"/>
                  </a:cubicBezTo>
                  <a:cubicBezTo>
                    <a:pt x="419" y="0"/>
                    <a:pt x="487" y="223"/>
                    <a:pt x="548" y="295"/>
                  </a:cubicBezTo>
                  <a:cubicBezTo>
                    <a:pt x="609" y="367"/>
                    <a:pt x="690" y="404"/>
                    <a:pt x="727" y="432"/>
                  </a:cubicBezTo>
                </a:path>
              </a:pathLst>
            </a:custGeom>
            <a:noFill/>
            <a:ln w="19050" cap="sq"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389" tIns="45695" rIns="91389" bIns="45695">
              <a:spAutoFit/>
            </a:bodyPr>
            <a:lstStyle/>
            <a:p>
              <a:endParaRPr lang="zh-CN" altLang="en-US"/>
            </a:p>
          </p:txBody>
        </p:sp>
        <p:sp>
          <p:nvSpPr>
            <p:cNvPr id="18" name="Freeform 40">
              <a:extLst>
                <a:ext uri="{FF2B5EF4-FFF2-40B4-BE49-F238E27FC236}">
                  <a16:creationId xmlns:a16="http://schemas.microsoft.com/office/drawing/2014/main" id="{275912F0-FB66-43A1-A60D-021BFAE93358}"/>
                </a:ext>
              </a:extLst>
            </p:cNvPr>
            <p:cNvSpPr>
              <a:spLocks/>
            </p:cNvSpPr>
            <p:nvPr/>
          </p:nvSpPr>
          <p:spPr bwMode="auto">
            <a:xfrm>
              <a:off x="6934200" y="5545138"/>
              <a:ext cx="1219200" cy="419100"/>
            </a:xfrm>
            <a:custGeom>
              <a:avLst/>
              <a:gdLst>
                <a:gd name="T0" fmla="*/ 0 w 840"/>
                <a:gd name="T1" fmla="*/ 2147483647 h 332"/>
                <a:gd name="T2" fmla="*/ 2147483647 w 840"/>
                <a:gd name="T3" fmla="*/ 2147483647 h 332"/>
                <a:gd name="T4" fmla="*/ 2147483647 w 840"/>
                <a:gd name="T5" fmla="*/ 2147483647 h 332"/>
                <a:gd name="T6" fmla="*/ 2147483647 w 840"/>
                <a:gd name="T7" fmla="*/ 2147483647 h 332"/>
                <a:gd name="T8" fmla="*/ 2147483647 w 840"/>
                <a:gd name="T9" fmla="*/ 2147483647 h 332"/>
                <a:gd name="T10" fmla="*/ 2147483647 w 840"/>
                <a:gd name="T11" fmla="*/ 2147483647 h 3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40" h="332">
                  <a:moveTo>
                    <a:pt x="0" y="309"/>
                  </a:moveTo>
                  <a:cubicBezTo>
                    <a:pt x="32" y="297"/>
                    <a:pt x="122" y="290"/>
                    <a:pt x="193" y="239"/>
                  </a:cubicBezTo>
                  <a:cubicBezTo>
                    <a:pt x="264" y="188"/>
                    <a:pt x="347" y="4"/>
                    <a:pt x="424" y="2"/>
                  </a:cubicBezTo>
                  <a:cubicBezTo>
                    <a:pt x="501" y="0"/>
                    <a:pt x="591" y="171"/>
                    <a:pt x="656" y="224"/>
                  </a:cubicBezTo>
                  <a:cubicBezTo>
                    <a:pt x="721" y="277"/>
                    <a:pt x="788" y="304"/>
                    <a:pt x="814" y="318"/>
                  </a:cubicBezTo>
                  <a:cubicBezTo>
                    <a:pt x="840" y="332"/>
                    <a:pt x="814" y="310"/>
                    <a:pt x="814" y="308"/>
                  </a:cubicBezTo>
                </a:path>
              </a:pathLst>
            </a:custGeom>
            <a:noFill/>
            <a:ln w="19050" cap="sq" cmpd="sng">
              <a:solidFill>
                <a:srgbClr val="FF33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389" tIns="45695" rIns="91389" bIns="45695">
              <a:spAutoFit/>
            </a:bodyPr>
            <a:lstStyle/>
            <a:p>
              <a:endParaRPr lang="zh-CN" altLang="en-US"/>
            </a:p>
          </p:txBody>
        </p:sp>
        <p:graphicFrame>
          <p:nvGraphicFramePr>
            <p:cNvPr id="19" name="Object 41">
              <a:extLst>
                <a:ext uri="{FF2B5EF4-FFF2-40B4-BE49-F238E27FC236}">
                  <a16:creationId xmlns:a16="http://schemas.microsoft.com/office/drawing/2014/main" id="{E5CDF12B-2C54-4F54-A4FF-49D8BF6F9223}"/>
                </a:ext>
              </a:extLst>
            </p:cNvPr>
            <p:cNvGraphicFramePr>
              <a:graphicFrameLocks noChangeAspect="1"/>
            </p:cNvGraphicFramePr>
            <p:nvPr/>
          </p:nvGraphicFramePr>
          <p:xfrm>
            <a:off x="8343900" y="5881688"/>
            <a:ext cx="323850" cy="404812"/>
          </p:xfrm>
          <a:graphic>
            <a:graphicData uri="http://schemas.openxmlformats.org/presentationml/2006/ole">
              <mc:AlternateContent xmlns:mc="http://schemas.openxmlformats.org/markup-compatibility/2006">
                <mc:Choice xmlns:v="urn:schemas-microsoft-com:vml" Requires="v">
                  <p:oleObj name="Equation" r:id="rId4" imgW="126725" imgH="177415" progId="Equation.3">
                    <p:embed/>
                  </p:oleObj>
                </mc:Choice>
                <mc:Fallback>
                  <p:oleObj name="Equation" r:id="rId4" imgW="126725" imgH="177415" progId="Equation.3">
                    <p:embed/>
                    <p:pic>
                      <p:nvPicPr>
                        <p:cNvPr id="19" name="Object 41">
                          <a:extLst>
                            <a:ext uri="{FF2B5EF4-FFF2-40B4-BE49-F238E27FC236}">
                              <a16:creationId xmlns:a16="http://schemas.microsoft.com/office/drawing/2014/main" id="{E5CDF12B-2C54-4F54-A4FF-49D8BF6F92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43900" y="5881688"/>
                          <a:ext cx="323850" cy="404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42">
              <a:extLst>
                <a:ext uri="{FF2B5EF4-FFF2-40B4-BE49-F238E27FC236}">
                  <a16:creationId xmlns:a16="http://schemas.microsoft.com/office/drawing/2014/main" id="{08B4B8C7-A46C-4990-9C67-0BCC25C9E92A}"/>
                </a:ext>
              </a:extLst>
            </p:cNvPr>
            <p:cNvGraphicFramePr>
              <a:graphicFrameLocks noChangeAspect="1"/>
            </p:cNvGraphicFramePr>
            <p:nvPr/>
          </p:nvGraphicFramePr>
          <p:xfrm>
            <a:off x="6934200" y="4297363"/>
            <a:ext cx="577850" cy="369887"/>
          </p:xfrm>
          <a:graphic>
            <a:graphicData uri="http://schemas.openxmlformats.org/presentationml/2006/ole">
              <mc:AlternateContent xmlns:mc="http://schemas.openxmlformats.org/markup-compatibility/2006">
                <mc:Choice xmlns:v="urn:schemas-microsoft-com:vml" Requires="v">
                  <p:oleObj name="Equation" r:id="rId6" imgW="317225" imgH="203024" progId="Equation.3">
                    <p:embed/>
                  </p:oleObj>
                </mc:Choice>
                <mc:Fallback>
                  <p:oleObj name="Equation" r:id="rId6" imgW="317225" imgH="203024" progId="Equation.3">
                    <p:embed/>
                    <p:pic>
                      <p:nvPicPr>
                        <p:cNvPr id="20" name="Object 42">
                          <a:extLst>
                            <a:ext uri="{FF2B5EF4-FFF2-40B4-BE49-F238E27FC236}">
                              <a16:creationId xmlns:a16="http://schemas.microsoft.com/office/drawing/2014/main" id="{08B4B8C7-A46C-4990-9C67-0BCC25C9E92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34200" y="4297363"/>
                          <a:ext cx="577850" cy="369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Line 43">
              <a:extLst>
                <a:ext uri="{FF2B5EF4-FFF2-40B4-BE49-F238E27FC236}">
                  <a16:creationId xmlns:a16="http://schemas.microsoft.com/office/drawing/2014/main" id="{DD6D520B-AC97-4E6B-AB45-6BCD686F6159}"/>
                </a:ext>
              </a:extLst>
            </p:cNvPr>
            <p:cNvSpPr>
              <a:spLocks noChangeShapeType="1"/>
            </p:cNvSpPr>
            <p:nvPr/>
          </p:nvSpPr>
          <p:spPr bwMode="auto">
            <a:xfrm flipV="1">
              <a:off x="7677150" y="5091113"/>
              <a:ext cx="228600" cy="90487"/>
            </a:xfrm>
            <a:prstGeom prst="line">
              <a:avLst/>
            </a:prstGeom>
            <a:noFill/>
            <a:ln w="190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389" tIns="45695" rIns="91389" bIns="45695">
              <a:spAutoFit/>
            </a:bodyPr>
            <a:lstStyle/>
            <a:p>
              <a:endParaRPr lang="zh-CN" altLang="en-US"/>
            </a:p>
          </p:txBody>
        </p:sp>
        <p:sp>
          <p:nvSpPr>
            <p:cNvPr id="22" name="Line 44">
              <a:extLst>
                <a:ext uri="{FF2B5EF4-FFF2-40B4-BE49-F238E27FC236}">
                  <a16:creationId xmlns:a16="http://schemas.microsoft.com/office/drawing/2014/main" id="{0891C892-811A-4851-B911-A7CF389E7C6A}"/>
                </a:ext>
              </a:extLst>
            </p:cNvPr>
            <p:cNvSpPr>
              <a:spLocks noChangeShapeType="1"/>
            </p:cNvSpPr>
            <p:nvPr/>
          </p:nvSpPr>
          <p:spPr bwMode="auto">
            <a:xfrm flipV="1">
              <a:off x="7981950" y="5738813"/>
              <a:ext cx="190500" cy="71437"/>
            </a:xfrm>
            <a:prstGeom prst="line">
              <a:avLst/>
            </a:prstGeom>
            <a:noFill/>
            <a:ln w="190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389" tIns="45695" rIns="91389" bIns="45695">
              <a:spAutoFit/>
            </a:bodyPr>
            <a:lstStyle/>
            <a:p>
              <a:endParaRPr lang="zh-CN" altLang="en-US"/>
            </a:p>
          </p:txBody>
        </p:sp>
        <p:sp>
          <p:nvSpPr>
            <p:cNvPr id="23" name="Rectangle 47">
              <a:extLst>
                <a:ext uri="{FF2B5EF4-FFF2-40B4-BE49-F238E27FC236}">
                  <a16:creationId xmlns:a16="http://schemas.microsoft.com/office/drawing/2014/main" id="{A65DFCA8-E2EF-499D-AA5C-15EC72DEC189}"/>
                </a:ext>
              </a:extLst>
            </p:cNvPr>
            <p:cNvSpPr>
              <a:spLocks noChangeArrowheads="1"/>
            </p:cNvSpPr>
            <p:nvPr/>
          </p:nvSpPr>
          <p:spPr bwMode="auto">
            <a:xfrm>
              <a:off x="7943850" y="4894263"/>
              <a:ext cx="69532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400">
                  <a:solidFill>
                    <a:schemeClr val="tx1"/>
                  </a:solidFill>
                  <a:latin typeface="Arial" panose="020B0604020202020204" pitchFamily="34" charset="0"/>
                  <a:ea typeface="黑体" panose="02010609060101010101" pitchFamily="49" charset="-122"/>
                </a:defRPr>
              </a:lvl1pPr>
              <a:lvl2pPr marL="742950" indent="-285750">
                <a:defRPr sz="2400">
                  <a:solidFill>
                    <a:schemeClr val="tx1"/>
                  </a:solidFill>
                  <a:latin typeface="Arial" panose="020B0604020202020204" pitchFamily="34" charset="0"/>
                  <a:ea typeface="黑体" panose="02010609060101010101" pitchFamily="49" charset="-122"/>
                </a:defRPr>
              </a:lvl2pPr>
              <a:lvl3pPr marL="1143000" indent="-228600">
                <a:defRPr sz="2400">
                  <a:solidFill>
                    <a:schemeClr val="tx1"/>
                  </a:solidFill>
                  <a:latin typeface="Arial" panose="020B0604020202020204" pitchFamily="34" charset="0"/>
                  <a:ea typeface="黑体" panose="02010609060101010101" pitchFamily="49" charset="-122"/>
                </a:defRPr>
              </a:lvl3pPr>
              <a:lvl4pPr marL="1600200" indent="-228600">
                <a:defRPr sz="2400">
                  <a:solidFill>
                    <a:schemeClr val="tx1"/>
                  </a:solidFill>
                  <a:latin typeface="Arial" panose="020B0604020202020204" pitchFamily="34" charset="0"/>
                  <a:ea typeface="黑体" panose="02010609060101010101" pitchFamily="49" charset="-122"/>
                </a:defRPr>
              </a:lvl4pPr>
              <a:lvl5pPr marL="2057400" indent="-228600">
                <a:defRPr sz="24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9pPr>
            </a:lstStyle>
            <a:p>
              <a:pPr eaLnBrk="1" hangingPunct="1">
                <a:spcBef>
                  <a:spcPct val="50000"/>
                </a:spcBef>
                <a:spcAft>
                  <a:spcPct val="50000"/>
                </a:spcAft>
              </a:pPr>
              <a:r>
                <a:rPr kumimoji="1" lang="en-US" altLang="zh-CN" sz="2000" b="1" dirty="0">
                  <a:latin typeface="Times New Roman" panose="02020603050405020304" pitchFamily="18" charset="0"/>
                </a:rPr>
                <a:t>σ</a:t>
              </a:r>
              <a:r>
                <a:rPr kumimoji="1" lang="zh-CN" altLang="zh-CN" sz="2000" b="1" dirty="0">
                  <a:latin typeface="Times New Roman" panose="02020603050405020304" pitchFamily="18" charset="0"/>
                </a:rPr>
                <a:t>小</a:t>
              </a:r>
              <a:endParaRPr kumimoji="1" lang="zh-CN" altLang="en-US" sz="2000" b="1" dirty="0">
                <a:latin typeface="Times New Roman" panose="02020603050405020304" pitchFamily="18" charset="0"/>
              </a:endParaRPr>
            </a:p>
          </p:txBody>
        </p:sp>
      </p:grpSp>
      <p:sp>
        <p:nvSpPr>
          <p:cNvPr id="24" name="Rectangle 47">
            <a:extLst>
              <a:ext uri="{FF2B5EF4-FFF2-40B4-BE49-F238E27FC236}">
                <a16:creationId xmlns:a16="http://schemas.microsoft.com/office/drawing/2014/main" id="{752D38FF-6673-4290-BC4C-647697274AD8}"/>
              </a:ext>
            </a:extLst>
          </p:cNvPr>
          <p:cNvSpPr>
            <a:spLocks noChangeArrowheads="1"/>
          </p:cNvSpPr>
          <p:nvPr/>
        </p:nvSpPr>
        <p:spPr bwMode="auto">
          <a:xfrm>
            <a:off x="8225570" y="3946121"/>
            <a:ext cx="582211"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400">
                <a:solidFill>
                  <a:schemeClr val="tx1"/>
                </a:solidFill>
                <a:latin typeface="Arial" panose="020B0604020202020204" pitchFamily="34" charset="0"/>
                <a:ea typeface="黑体" panose="02010609060101010101" pitchFamily="49" charset="-122"/>
              </a:defRPr>
            </a:lvl1pPr>
            <a:lvl2pPr marL="742950" indent="-285750">
              <a:defRPr sz="2400">
                <a:solidFill>
                  <a:schemeClr val="tx1"/>
                </a:solidFill>
                <a:latin typeface="Arial" panose="020B0604020202020204" pitchFamily="34" charset="0"/>
                <a:ea typeface="黑体" panose="02010609060101010101" pitchFamily="49" charset="-122"/>
              </a:defRPr>
            </a:lvl2pPr>
            <a:lvl3pPr marL="1143000" indent="-228600">
              <a:defRPr sz="2400">
                <a:solidFill>
                  <a:schemeClr val="tx1"/>
                </a:solidFill>
                <a:latin typeface="Arial" panose="020B0604020202020204" pitchFamily="34" charset="0"/>
                <a:ea typeface="黑体" panose="02010609060101010101" pitchFamily="49" charset="-122"/>
              </a:defRPr>
            </a:lvl3pPr>
            <a:lvl4pPr marL="1600200" indent="-228600">
              <a:defRPr sz="2400">
                <a:solidFill>
                  <a:schemeClr val="tx1"/>
                </a:solidFill>
                <a:latin typeface="Arial" panose="020B0604020202020204" pitchFamily="34" charset="0"/>
                <a:ea typeface="黑体" panose="02010609060101010101" pitchFamily="49" charset="-122"/>
              </a:defRPr>
            </a:lvl4pPr>
            <a:lvl5pPr marL="2057400" indent="-228600">
              <a:defRPr sz="24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9pPr>
          </a:lstStyle>
          <a:p>
            <a:pPr eaLnBrk="1" hangingPunct="1">
              <a:spcBef>
                <a:spcPct val="50000"/>
              </a:spcBef>
              <a:spcAft>
                <a:spcPct val="50000"/>
              </a:spcAft>
            </a:pPr>
            <a:r>
              <a:rPr kumimoji="1" lang="en-US" altLang="zh-CN" sz="2000" b="1" dirty="0">
                <a:latin typeface="Times New Roman" panose="02020603050405020304" pitchFamily="18" charset="0"/>
              </a:rPr>
              <a:t>σ</a:t>
            </a:r>
            <a:r>
              <a:rPr kumimoji="1" lang="zh-CN" altLang="en-US" sz="2000" b="1" dirty="0">
                <a:latin typeface="Times New Roman" panose="02020603050405020304" pitchFamily="18" charset="0"/>
              </a:rPr>
              <a:t>大</a:t>
            </a:r>
          </a:p>
        </p:txBody>
      </p:sp>
    </p:spTree>
    <p:extLst>
      <p:ext uri="{BB962C8B-B14F-4D97-AF65-F5344CB8AC3E}">
        <p14:creationId xmlns:p14="http://schemas.microsoft.com/office/powerpoint/2010/main" val="3321927328"/>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flipH="1">
            <a:off x="2918943" y="457535"/>
            <a:ext cx="6225059"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 name="圆角矩形 2"/>
          <p:cNvSpPr/>
          <p:nvPr/>
        </p:nvSpPr>
        <p:spPr>
          <a:xfrm>
            <a:off x="755576" y="197679"/>
            <a:ext cx="2232248"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4" name="矩形 3"/>
          <p:cNvSpPr/>
          <p:nvPr/>
        </p:nvSpPr>
        <p:spPr>
          <a:xfrm>
            <a:off x="827584" y="226702"/>
            <a:ext cx="1946367" cy="461665"/>
          </a:xfrm>
          <a:prstGeom prst="rect">
            <a:avLst/>
          </a:prstGeom>
        </p:spPr>
        <p:txBody>
          <a:bodyPr wrap="none">
            <a:spAutoFit/>
          </a:bodyPr>
          <a:lstStyle/>
          <a:p>
            <a:pPr defTabSz="913924"/>
            <a:r>
              <a:rPr lang="en-US" altLang="zh-CN" sz="2400" b="1" kern="0" dirty="0">
                <a:solidFill>
                  <a:srgbClr val="005A9E"/>
                </a:solidFill>
                <a:cs typeface="+mn-ea"/>
                <a:sym typeface="+mn-lt"/>
              </a:rPr>
              <a:t>A</a:t>
            </a:r>
            <a:r>
              <a:rPr lang="zh-CN" altLang="en-US" sz="2400" b="1" kern="0" dirty="0">
                <a:solidFill>
                  <a:srgbClr val="005A9E"/>
                </a:solidFill>
                <a:cs typeface="+mn-ea"/>
                <a:sym typeface="+mn-lt"/>
              </a:rPr>
              <a:t>类不确定度</a:t>
            </a:r>
          </a:p>
        </p:txBody>
      </p:sp>
      <p:grpSp>
        <p:nvGrpSpPr>
          <p:cNvPr id="5" name="Group 17"/>
          <p:cNvGrpSpPr>
            <a:grpSpLocks noChangeAspect="1"/>
          </p:cNvGrpSpPr>
          <p:nvPr/>
        </p:nvGrpSpPr>
        <p:grpSpPr bwMode="auto">
          <a:xfrm>
            <a:off x="179512" y="212152"/>
            <a:ext cx="457188" cy="490764"/>
            <a:chOff x="231" y="1205"/>
            <a:chExt cx="640" cy="687"/>
          </a:xfrm>
          <a:solidFill>
            <a:srgbClr val="005A9E"/>
          </a:solidFill>
          <a:effectLst/>
        </p:grpSpPr>
        <p:sp>
          <p:nvSpPr>
            <p:cNvPr id="6" name="Freeform 18"/>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7"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sp>
        <p:nvSpPr>
          <p:cNvPr id="8" name="Rectangle 3">
            <a:extLst>
              <a:ext uri="{FF2B5EF4-FFF2-40B4-BE49-F238E27FC236}">
                <a16:creationId xmlns:a16="http://schemas.microsoft.com/office/drawing/2014/main" id="{3366D3D7-CCFD-4CD6-BD47-3F62918A34D6}"/>
              </a:ext>
            </a:extLst>
          </p:cNvPr>
          <p:cNvSpPr txBox="1">
            <a:spLocks noChangeArrowheads="1"/>
          </p:cNvSpPr>
          <p:nvPr/>
        </p:nvSpPr>
        <p:spPr>
          <a:xfrm>
            <a:off x="205450" y="771550"/>
            <a:ext cx="8496943" cy="1800200"/>
          </a:xfrm>
          <a:prstGeom prst="rect">
            <a:avLst/>
          </a:prstGeom>
        </p:spPr>
        <p:txBody>
          <a:bodyPr/>
          <a:lstStyle>
            <a:lvl1pPr marL="257175" indent="-257175"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1pPr>
            <a:lvl2pPr marL="557213" indent="-214313" algn="l" rtl="0" eaLnBrk="0" fontAlgn="base" hangingPunct="0">
              <a:spcBef>
                <a:spcPct val="20000"/>
              </a:spcBef>
              <a:spcAft>
                <a:spcPct val="0"/>
              </a:spcAft>
              <a:buFont typeface="Arial" charset="0"/>
              <a:buChar char="–"/>
              <a:defRPr sz="2100" kern="1200">
                <a:solidFill>
                  <a:schemeClr val="tx1"/>
                </a:solidFill>
                <a:latin typeface="Arial" charset="0"/>
                <a:ea typeface="+mn-ea"/>
                <a:cs typeface="+mn-cs"/>
              </a:defRPr>
            </a:lvl2pPr>
            <a:lvl3pPr marL="857250" indent="-171450" algn="l" rtl="0" eaLnBrk="0" fontAlgn="base" hangingPunct="0">
              <a:spcBef>
                <a:spcPct val="20000"/>
              </a:spcBef>
              <a:spcAft>
                <a:spcPct val="0"/>
              </a:spcAft>
              <a:buFont typeface="Arial" charset="0"/>
              <a:buChar char="•"/>
              <a:defRPr sz="1800" kern="1200">
                <a:solidFill>
                  <a:schemeClr val="tx1"/>
                </a:solidFill>
                <a:latin typeface="Arial" charset="0"/>
                <a:ea typeface="+mn-ea"/>
                <a:cs typeface="+mn-cs"/>
              </a:defRPr>
            </a:lvl3pPr>
            <a:lvl4pPr marL="12001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4pPr>
            <a:lvl5pPr marL="15430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eaLnBrk="1" hangingPunct="1">
              <a:lnSpc>
                <a:spcPct val="150000"/>
              </a:lnSpc>
              <a:buFontTx/>
              <a:buNone/>
            </a:pPr>
            <a:r>
              <a:rPr lang="zh-CN" altLang="en-US" sz="2200" b="1" dirty="0">
                <a:ea typeface="楷体_GB2312" pitchFamily="49" charset="-122"/>
              </a:rPr>
              <a:t>   概率论中，测量误差落在区间               、                、              的概率分别为</a:t>
            </a:r>
            <a:r>
              <a:rPr lang="en-US" altLang="zh-CN" sz="2200" b="1" dirty="0">
                <a:latin typeface="楷体_GB2312" pitchFamily="49" charset="-122"/>
                <a:ea typeface="楷体_GB2312" pitchFamily="49" charset="-122"/>
              </a:rPr>
              <a:t>0.683</a:t>
            </a:r>
            <a:r>
              <a:rPr lang="zh-CN" altLang="en-US" sz="2200" b="1" dirty="0">
                <a:latin typeface="楷体_GB2312" pitchFamily="49" charset="-122"/>
                <a:ea typeface="楷体_GB2312" pitchFamily="49" charset="-122"/>
              </a:rPr>
              <a:t>、</a:t>
            </a:r>
            <a:r>
              <a:rPr lang="en-US" altLang="zh-CN" sz="2200" b="1" dirty="0">
                <a:latin typeface="楷体_GB2312" pitchFamily="49" charset="-122"/>
                <a:ea typeface="楷体_GB2312" pitchFamily="49" charset="-122"/>
              </a:rPr>
              <a:t>0.954</a:t>
            </a:r>
            <a:r>
              <a:rPr lang="zh-CN" altLang="en-US" sz="2200" b="1" dirty="0">
                <a:latin typeface="楷体_GB2312" pitchFamily="49" charset="-122"/>
                <a:ea typeface="楷体_GB2312" pitchFamily="49" charset="-122"/>
              </a:rPr>
              <a:t>、</a:t>
            </a:r>
            <a:r>
              <a:rPr lang="en-US" altLang="zh-CN" sz="2200" b="1" dirty="0">
                <a:latin typeface="楷体_GB2312" pitchFamily="49" charset="-122"/>
                <a:ea typeface="楷体_GB2312" pitchFamily="49" charset="-122"/>
              </a:rPr>
              <a:t>0.997</a:t>
            </a:r>
            <a:r>
              <a:rPr lang="zh-CN" altLang="en-US" sz="2200" b="1" dirty="0">
                <a:latin typeface="楷体_GB2312" pitchFamily="49" charset="-122"/>
                <a:ea typeface="楷体_GB2312" pitchFamily="49" charset="-122"/>
              </a:rPr>
              <a:t>。这些区间称为</a:t>
            </a:r>
            <a:r>
              <a:rPr lang="zh-CN" altLang="en-US" sz="2200" b="1" dirty="0">
                <a:solidFill>
                  <a:srgbClr val="0000FF"/>
                </a:solidFill>
                <a:latin typeface="楷体_GB2312" pitchFamily="49" charset="-122"/>
                <a:ea typeface="楷体_GB2312" pitchFamily="49" charset="-122"/>
              </a:rPr>
              <a:t>置信区间</a:t>
            </a:r>
            <a:r>
              <a:rPr lang="zh-CN" altLang="en-US" sz="2200" b="1" dirty="0">
                <a:latin typeface="楷体_GB2312" pitchFamily="49" charset="-122"/>
                <a:ea typeface="楷体_GB2312" pitchFamily="49" charset="-122"/>
              </a:rPr>
              <a:t>，对应的概率称为</a:t>
            </a:r>
            <a:r>
              <a:rPr lang="zh-CN" altLang="en-US" sz="2200" b="1" dirty="0">
                <a:solidFill>
                  <a:srgbClr val="0000FF"/>
                </a:solidFill>
                <a:latin typeface="楷体_GB2312" pitchFamily="49" charset="-122"/>
                <a:ea typeface="楷体_GB2312" pitchFamily="49" charset="-122"/>
              </a:rPr>
              <a:t>置信概率</a:t>
            </a:r>
            <a:r>
              <a:rPr lang="zh-CN" altLang="en-US" sz="2200" b="1" dirty="0">
                <a:latin typeface="楷体_GB2312" pitchFamily="49" charset="-122"/>
                <a:ea typeface="楷体_GB2312" pitchFamily="49" charset="-122"/>
              </a:rPr>
              <a:t>（一般用</a:t>
            </a:r>
            <a:r>
              <a:rPr lang="en-US" altLang="zh-CN" sz="2200" b="1" i="1" dirty="0">
                <a:latin typeface="楷体_GB2312" pitchFamily="49" charset="-122"/>
                <a:ea typeface="楷体_GB2312" pitchFamily="49" charset="-122"/>
              </a:rPr>
              <a:t>P </a:t>
            </a:r>
            <a:r>
              <a:rPr lang="zh-CN" altLang="en-US" sz="2200" b="1" dirty="0">
                <a:latin typeface="楷体_GB2312" pitchFamily="49" charset="-122"/>
                <a:ea typeface="楷体_GB2312" pitchFamily="49" charset="-122"/>
              </a:rPr>
              <a:t>表示）。 </a:t>
            </a:r>
          </a:p>
        </p:txBody>
      </p:sp>
      <p:graphicFrame>
        <p:nvGraphicFramePr>
          <p:cNvPr id="9" name="Object 5">
            <a:extLst>
              <a:ext uri="{FF2B5EF4-FFF2-40B4-BE49-F238E27FC236}">
                <a16:creationId xmlns:a16="http://schemas.microsoft.com/office/drawing/2014/main" id="{C5DDEEE6-63EF-4BDD-BC63-999346C1A935}"/>
              </a:ext>
            </a:extLst>
          </p:cNvPr>
          <p:cNvGraphicFramePr>
            <a:graphicFrameLocks noChangeAspect="1"/>
          </p:cNvGraphicFramePr>
          <p:nvPr>
            <p:extLst>
              <p:ext uri="{D42A27DB-BD31-4B8C-83A1-F6EECF244321}">
                <p14:modId xmlns:p14="http://schemas.microsoft.com/office/powerpoint/2010/main" val="3411646346"/>
              </p:ext>
            </p:extLst>
          </p:nvPr>
        </p:nvGraphicFramePr>
        <p:xfrm>
          <a:off x="4211960" y="900457"/>
          <a:ext cx="1094704" cy="406845"/>
        </p:xfrm>
        <a:graphic>
          <a:graphicData uri="http://schemas.openxmlformats.org/presentationml/2006/ole">
            <mc:AlternateContent xmlns:mc="http://schemas.openxmlformats.org/markup-compatibility/2006">
              <mc:Choice xmlns:v="urn:schemas-microsoft-com:vml" Requires="v">
                <p:oleObj name="公式" r:id="rId3" imgW="583693" imgH="215713" progId="Equation.3">
                  <p:embed/>
                </p:oleObj>
              </mc:Choice>
              <mc:Fallback>
                <p:oleObj name="公式" r:id="rId3" imgW="583693" imgH="215713" progId="Equation.3">
                  <p:embed/>
                  <p:pic>
                    <p:nvPicPr>
                      <p:cNvPr id="9" name="Object 5">
                        <a:extLst>
                          <a:ext uri="{FF2B5EF4-FFF2-40B4-BE49-F238E27FC236}">
                            <a16:creationId xmlns:a16="http://schemas.microsoft.com/office/drawing/2014/main" id="{C5DDEEE6-63EF-4BDD-BC63-999346C1A9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11960" y="900457"/>
                        <a:ext cx="1094704" cy="406845"/>
                      </a:xfrm>
                      <a:prstGeom prst="rect">
                        <a:avLst/>
                      </a:prstGeom>
                      <a:noFill/>
                      <a:ln>
                        <a:noFill/>
                      </a:ln>
                      <a:effectLst/>
                    </p:spPr>
                  </p:pic>
                </p:oleObj>
              </mc:Fallback>
            </mc:AlternateContent>
          </a:graphicData>
        </a:graphic>
      </p:graphicFrame>
      <p:graphicFrame>
        <p:nvGraphicFramePr>
          <p:cNvPr id="10" name="Object 6">
            <a:extLst>
              <a:ext uri="{FF2B5EF4-FFF2-40B4-BE49-F238E27FC236}">
                <a16:creationId xmlns:a16="http://schemas.microsoft.com/office/drawing/2014/main" id="{6C5F74B3-7311-4B45-90F3-A6A1F2F0EF09}"/>
              </a:ext>
            </a:extLst>
          </p:cNvPr>
          <p:cNvGraphicFramePr>
            <a:graphicFrameLocks noChangeAspect="1"/>
          </p:cNvGraphicFramePr>
          <p:nvPr>
            <p:extLst>
              <p:ext uri="{D42A27DB-BD31-4B8C-83A1-F6EECF244321}">
                <p14:modId xmlns:p14="http://schemas.microsoft.com/office/powerpoint/2010/main" val="3212388349"/>
              </p:ext>
            </p:extLst>
          </p:nvPr>
        </p:nvGraphicFramePr>
        <p:xfrm>
          <a:off x="6974991" y="925610"/>
          <a:ext cx="1271608" cy="381606"/>
        </p:xfrm>
        <a:graphic>
          <a:graphicData uri="http://schemas.openxmlformats.org/presentationml/2006/ole">
            <mc:AlternateContent xmlns:mc="http://schemas.openxmlformats.org/markup-compatibility/2006">
              <mc:Choice xmlns:v="urn:schemas-microsoft-com:vml" Requires="v">
                <p:oleObj name="Equation" r:id="rId5" imgW="723586" imgH="215806" progId="Equation.3">
                  <p:embed/>
                </p:oleObj>
              </mc:Choice>
              <mc:Fallback>
                <p:oleObj name="Equation" r:id="rId5" imgW="723586" imgH="215806" progId="Equation.3">
                  <p:embed/>
                  <p:pic>
                    <p:nvPicPr>
                      <p:cNvPr id="10" name="Object 6">
                        <a:extLst>
                          <a:ext uri="{FF2B5EF4-FFF2-40B4-BE49-F238E27FC236}">
                            <a16:creationId xmlns:a16="http://schemas.microsoft.com/office/drawing/2014/main" id="{6C5F74B3-7311-4B45-90F3-A6A1F2F0EF0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74991" y="925610"/>
                        <a:ext cx="1271608" cy="381606"/>
                      </a:xfrm>
                      <a:prstGeom prst="rect">
                        <a:avLst/>
                      </a:prstGeom>
                      <a:noFill/>
                      <a:ln>
                        <a:noFill/>
                      </a:ln>
                      <a:effectLst/>
                    </p:spPr>
                  </p:pic>
                </p:oleObj>
              </mc:Fallback>
            </mc:AlternateContent>
          </a:graphicData>
        </a:graphic>
      </p:graphicFrame>
      <p:graphicFrame>
        <p:nvGraphicFramePr>
          <p:cNvPr id="11" name="Object 7">
            <a:extLst>
              <a:ext uri="{FF2B5EF4-FFF2-40B4-BE49-F238E27FC236}">
                <a16:creationId xmlns:a16="http://schemas.microsoft.com/office/drawing/2014/main" id="{AFD565DD-D18C-4F13-9AC4-CC47B59CE19B}"/>
              </a:ext>
            </a:extLst>
          </p:cNvPr>
          <p:cNvGraphicFramePr>
            <a:graphicFrameLocks noChangeAspect="1"/>
          </p:cNvGraphicFramePr>
          <p:nvPr>
            <p:extLst>
              <p:ext uri="{D42A27DB-BD31-4B8C-83A1-F6EECF244321}">
                <p14:modId xmlns:p14="http://schemas.microsoft.com/office/powerpoint/2010/main" val="1656189625"/>
              </p:ext>
            </p:extLst>
          </p:nvPr>
        </p:nvGraphicFramePr>
        <p:xfrm>
          <a:off x="5508104" y="925610"/>
          <a:ext cx="1295378" cy="381606"/>
        </p:xfrm>
        <a:graphic>
          <a:graphicData uri="http://schemas.openxmlformats.org/presentationml/2006/ole">
            <mc:AlternateContent xmlns:mc="http://schemas.openxmlformats.org/markup-compatibility/2006">
              <mc:Choice xmlns:v="urn:schemas-microsoft-com:vml" Requires="v">
                <p:oleObj name="Equation" r:id="rId7" imgW="736280" imgH="215806" progId="Equation.3">
                  <p:embed/>
                </p:oleObj>
              </mc:Choice>
              <mc:Fallback>
                <p:oleObj name="Equation" r:id="rId7" imgW="736280" imgH="215806" progId="Equation.3">
                  <p:embed/>
                  <p:pic>
                    <p:nvPicPr>
                      <p:cNvPr id="11" name="Object 7">
                        <a:extLst>
                          <a:ext uri="{FF2B5EF4-FFF2-40B4-BE49-F238E27FC236}">
                            <a16:creationId xmlns:a16="http://schemas.microsoft.com/office/drawing/2014/main" id="{AFD565DD-D18C-4F13-9AC4-CC47B59CE19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08104" y="925610"/>
                        <a:ext cx="1295378" cy="381606"/>
                      </a:xfrm>
                      <a:prstGeom prst="rect">
                        <a:avLst/>
                      </a:prstGeom>
                      <a:noFill/>
                      <a:ln>
                        <a:noFill/>
                      </a:ln>
                      <a:effectLst/>
                    </p:spPr>
                  </p:pic>
                </p:oleObj>
              </mc:Fallback>
            </mc:AlternateContent>
          </a:graphicData>
        </a:graphic>
      </p:graphicFrame>
      <p:graphicFrame>
        <p:nvGraphicFramePr>
          <p:cNvPr id="12" name="Object 9">
            <a:extLst>
              <a:ext uri="{FF2B5EF4-FFF2-40B4-BE49-F238E27FC236}">
                <a16:creationId xmlns:a16="http://schemas.microsoft.com/office/drawing/2014/main" id="{D077F8D8-2D11-4AC1-8B69-E56730E99DC3}"/>
              </a:ext>
            </a:extLst>
          </p:cNvPr>
          <p:cNvGraphicFramePr>
            <a:graphicFrameLocks noChangeAspect="1"/>
          </p:cNvGraphicFramePr>
          <p:nvPr>
            <p:extLst>
              <p:ext uri="{D42A27DB-BD31-4B8C-83A1-F6EECF244321}">
                <p14:modId xmlns:p14="http://schemas.microsoft.com/office/powerpoint/2010/main" val="3018037167"/>
              </p:ext>
            </p:extLst>
          </p:nvPr>
        </p:nvGraphicFramePr>
        <p:xfrm>
          <a:off x="5508104" y="2268127"/>
          <a:ext cx="2992793" cy="1568158"/>
        </p:xfrm>
        <a:graphic>
          <a:graphicData uri="http://schemas.openxmlformats.org/presentationml/2006/ole">
            <mc:AlternateContent xmlns:mc="http://schemas.openxmlformats.org/markup-compatibility/2006">
              <mc:Choice xmlns:v="urn:schemas-microsoft-com:vml" Requires="v">
                <p:oleObj name="Equation" r:id="rId9" imgW="1295535" imgH="676343" progId="Equation.3">
                  <p:embed/>
                </p:oleObj>
              </mc:Choice>
              <mc:Fallback>
                <p:oleObj name="Equation" r:id="rId9" imgW="1295535" imgH="676343" progId="Equation.3">
                  <p:embed/>
                  <p:pic>
                    <p:nvPicPr>
                      <p:cNvPr id="12" name="Object 9">
                        <a:extLst>
                          <a:ext uri="{FF2B5EF4-FFF2-40B4-BE49-F238E27FC236}">
                            <a16:creationId xmlns:a16="http://schemas.microsoft.com/office/drawing/2014/main" id="{D077F8D8-2D11-4AC1-8B69-E56730E99DC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08104" y="2268127"/>
                        <a:ext cx="2992793" cy="1568158"/>
                      </a:xfrm>
                      <a:prstGeom prst="rect">
                        <a:avLst/>
                      </a:prstGeom>
                      <a:noFill/>
                      <a:ln>
                        <a:noFill/>
                      </a:ln>
                      <a:effectLst/>
                    </p:spPr>
                  </p:pic>
                </p:oleObj>
              </mc:Fallback>
            </mc:AlternateContent>
          </a:graphicData>
        </a:graphic>
      </p:graphicFrame>
      <p:sp>
        <p:nvSpPr>
          <p:cNvPr id="13" name="Rectangle 10">
            <a:extLst>
              <a:ext uri="{FF2B5EF4-FFF2-40B4-BE49-F238E27FC236}">
                <a16:creationId xmlns:a16="http://schemas.microsoft.com/office/drawing/2014/main" id="{50A24E1E-F901-41EB-9574-DE9EECCE100C}"/>
              </a:ext>
            </a:extLst>
          </p:cNvPr>
          <p:cNvSpPr>
            <a:spLocks noChangeArrowheads="1"/>
          </p:cNvSpPr>
          <p:nvPr/>
        </p:nvSpPr>
        <p:spPr bwMode="auto">
          <a:xfrm>
            <a:off x="543072" y="3290196"/>
            <a:ext cx="494536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3200" b="1">
                <a:solidFill>
                  <a:srgbClr val="FF0066"/>
                </a:solidFill>
                <a:latin typeface="Times New Roman" panose="02020603050405020304" pitchFamily="18" charset="0"/>
                <a:ea typeface="宋体" panose="02010600030101010101" pitchFamily="2" charset="-122"/>
              </a:defRPr>
            </a:lvl1pPr>
            <a:lvl2pPr marL="742950" indent="-285750" eaLnBrk="0" hangingPunct="0">
              <a:defRPr kumimoji="1" sz="3200" b="1">
                <a:solidFill>
                  <a:srgbClr val="FF0066"/>
                </a:solidFill>
                <a:latin typeface="Times New Roman" panose="02020603050405020304" pitchFamily="18" charset="0"/>
                <a:ea typeface="宋体" panose="02010600030101010101" pitchFamily="2" charset="-122"/>
              </a:defRPr>
            </a:lvl2pPr>
            <a:lvl3pPr marL="1143000" indent="-228600" eaLnBrk="0" hangingPunct="0">
              <a:defRPr kumimoji="1" sz="3200" b="1">
                <a:solidFill>
                  <a:srgbClr val="FF0066"/>
                </a:solidFill>
                <a:latin typeface="Times New Roman" panose="02020603050405020304" pitchFamily="18" charset="0"/>
                <a:ea typeface="宋体" panose="02010600030101010101" pitchFamily="2" charset="-122"/>
              </a:defRPr>
            </a:lvl3pPr>
            <a:lvl4pPr marL="1600200" indent="-228600" eaLnBrk="0" hangingPunct="0">
              <a:defRPr kumimoji="1" sz="3200" b="1">
                <a:solidFill>
                  <a:srgbClr val="FF0066"/>
                </a:solidFill>
                <a:latin typeface="Times New Roman" panose="02020603050405020304" pitchFamily="18" charset="0"/>
                <a:ea typeface="宋体" panose="02010600030101010101" pitchFamily="2" charset="-122"/>
              </a:defRPr>
            </a:lvl4pPr>
            <a:lvl5pPr marL="2057400" indent="-228600" eaLnBrk="0" hangingPunct="0">
              <a:defRPr kumimoji="1" sz="3200" b="1">
                <a:solidFill>
                  <a:srgbClr val="FF0066"/>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9pPr>
          </a:lstStyle>
          <a:p>
            <a:pPr eaLnBrk="1" hangingPunct="1"/>
            <a:r>
              <a:rPr lang="en-US" altLang="zh-CN" sz="2200" dirty="0">
                <a:solidFill>
                  <a:srgbClr val="0033CC"/>
                </a:solidFill>
                <a:ea typeface="楷体_GB2312" pitchFamily="49" charset="-122"/>
              </a:rPr>
              <a:t>t</a:t>
            </a:r>
            <a:r>
              <a:rPr lang="zh-CN" altLang="en-US" sz="2200" dirty="0">
                <a:solidFill>
                  <a:srgbClr val="0033CC"/>
                </a:solidFill>
                <a:ea typeface="楷体_GB2312" pitchFamily="49" charset="-122"/>
              </a:rPr>
              <a:t>因子</a:t>
            </a:r>
            <a:r>
              <a:rPr lang="en-US" altLang="zh-CN" sz="2200" dirty="0">
                <a:solidFill>
                  <a:schemeClr val="tx1"/>
                </a:solidFill>
                <a:latin typeface="楷体_GB2312" pitchFamily="49" charset="-122"/>
                <a:ea typeface="楷体_GB2312" pitchFamily="49" charset="-122"/>
              </a:rPr>
              <a:t>:</a:t>
            </a:r>
            <a:r>
              <a:rPr lang="zh-CN" altLang="en-US" sz="2200" dirty="0">
                <a:solidFill>
                  <a:schemeClr val="tx1"/>
                </a:solidFill>
                <a:latin typeface="楷体_GB2312" pitchFamily="49" charset="-122"/>
                <a:ea typeface="楷体_GB2312" pitchFamily="49" charset="-122"/>
              </a:rPr>
              <a:t>与测量次数与置信概率有关</a:t>
            </a:r>
          </a:p>
        </p:txBody>
      </p:sp>
      <p:sp>
        <p:nvSpPr>
          <p:cNvPr id="14" name="Rectangle 11">
            <a:extLst>
              <a:ext uri="{FF2B5EF4-FFF2-40B4-BE49-F238E27FC236}">
                <a16:creationId xmlns:a16="http://schemas.microsoft.com/office/drawing/2014/main" id="{3A002D1A-3485-4361-A997-36E0DD4C6D03}"/>
              </a:ext>
            </a:extLst>
          </p:cNvPr>
          <p:cNvSpPr>
            <a:spLocks noChangeArrowheads="1"/>
          </p:cNvSpPr>
          <p:nvPr/>
        </p:nvSpPr>
        <p:spPr bwMode="auto">
          <a:xfrm>
            <a:off x="636700" y="3926866"/>
            <a:ext cx="9144000" cy="1047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3200" b="1">
                <a:solidFill>
                  <a:srgbClr val="FF0066"/>
                </a:solidFill>
                <a:latin typeface="Times New Roman" panose="02020603050405020304" pitchFamily="18" charset="0"/>
                <a:ea typeface="宋体" panose="02010600030101010101" pitchFamily="2" charset="-122"/>
              </a:defRPr>
            </a:lvl1pPr>
            <a:lvl2pPr marL="742950" indent="-285750" eaLnBrk="0" hangingPunct="0">
              <a:defRPr kumimoji="1" sz="3200" b="1">
                <a:solidFill>
                  <a:srgbClr val="FF0066"/>
                </a:solidFill>
                <a:latin typeface="Times New Roman" panose="02020603050405020304" pitchFamily="18" charset="0"/>
                <a:ea typeface="宋体" panose="02010600030101010101" pitchFamily="2" charset="-122"/>
              </a:defRPr>
            </a:lvl2pPr>
            <a:lvl3pPr marL="1143000" indent="-228600" eaLnBrk="0" hangingPunct="0">
              <a:defRPr kumimoji="1" sz="3200" b="1">
                <a:solidFill>
                  <a:srgbClr val="FF0066"/>
                </a:solidFill>
                <a:latin typeface="Times New Roman" panose="02020603050405020304" pitchFamily="18" charset="0"/>
                <a:ea typeface="宋体" panose="02010600030101010101" pitchFamily="2" charset="-122"/>
              </a:defRPr>
            </a:lvl3pPr>
            <a:lvl4pPr marL="1600200" indent="-228600" eaLnBrk="0" hangingPunct="0">
              <a:defRPr kumimoji="1" sz="3200" b="1">
                <a:solidFill>
                  <a:srgbClr val="FF0066"/>
                </a:solidFill>
                <a:latin typeface="Times New Roman" panose="02020603050405020304" pitchFamily="18" charset="0"/>
                <a:ea typeface="宋体" panose="02010600030101010101" pitchFamily="2" charset="-122"/>
              </a:defRPr>
            </a:lvl4pPr>
            <a:lvl5pPr marL="2057400" indent="-228600" eaLnBrk="0" hangingPunct="0">
              <a:defRPr kumimoji="1" sz="3200" b="1">
                <a:solidFill>
                  <a:srgbClr val="FF0066"/>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pPr>
            <a:r>
              <a:rPr lang="zh-CN" altLang="en-US" sz="2200" dirty="0">
                <a:solidFill>
                  <a:schemeClr val="tx1"/>
                </a:solidFill>
                <a:ea typeface="楷体_GB2312" pitchFamily="49" charset="-122"/>
              </a:rPr>
              <a:t>测量次数</a:t>
            </a:r>
            <a:r>
              <a:rPr lang="en-US" altLang="zh-CN" sz="2200" dirty="0">
                <a:solidFill>
                  <a:schemeClr val="tx1"/>
                </a:solidFill>
                <a:ea typeface="楷体_GB2312" pitchFamily="49" charset="-122"/>
              </a:rPr>
              <a:t>n     2       3       4        5       6       7       8       9       10     ∞</a:t>
            </a:r>
          </a:p>
          <a:p>
            <a:pPr eaLnBrk="1" hangingPunct="1">
              <a:lnSpc>
                <a:spcPct val="150000"/>
              </a:lnSpc>
              <a:spcBef>
                <a:spcPct val="0"/>
              </a:spcBef>
            </a:pPr>
            <a:r>
              <a:rPr lang="en-US" altLang="zh-CN" sz="2200" dirty="0">
                <a:solidFill>
                  <a:schemeClr val="tx1"/>
                </a:solidFill>
                <a:ea typeface="楷体_GB2312" pitchFamily="49" charset="-122"/>
              </a:rPr>
              <a:t>   t </a:t>
            </a:r>
            <a:r>
              <a:rPr lang="en-US" altLang="zh-CN" sz="2200" baseline="-25000" dirty="0">
                <a:solidFill>
                  <a:schemeClr val="tx1"/>
                </a:solidFill>
                <a:ea typeface="楷体_GB2312" pitchFamily="49" charset="-122"/>
              </a:rPr>
              <a:t>0.683       </a:t>
            </a:r>
            <a:r>
              <a:rPr lang="en-US" altLang="zh-CN" sz="2200" dirty="0">
                <a:solidFill>
                  <a:schemeClr val="tx1"/>
                </a:solidFill>
                <a:ea typeface="楷体_GB2312" pitchFamily="49" charset="-122"/>
              </a:rPr>
              <a:t>     1.84  1.32  1.20   1.14  1.11  1.09  1.08  1.07   1.06    1</a:t>
            </a:r>
          </a:p>
        </p:txBody>
      </p:sp>
      <p:sp>
        <p:nvSpPr>
          <p:cNvPr id="15" name="Rectangle 8">
            <a:extLst>
              <a:ext uri="{FF2B5EF4-FFF2-40B4-BE49-F238E27FC236}">
                <a16:creationId xmlns:a16="http://schemas.microsoft.com/office/drawing/2014/main" id="{D33EED15-8386-4D26-A82D-55918918A239}"/>
              </a:ext>
            </a:extLst>
          </p:cNvPr>
          <p:cNvSpPr>
            <a:spLocks noChangeArrowheads="1"/>
          </p:cNvSpPr>
          <p:nvPr/>
        </p:nvSpPr>
        <p:spPr bwMode="auto">
          <a:xfrm>
            <a:off x="4788024" y="2355726"/>
            <a:ext cx="2042161"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3200" b="1">
                <a:solidFill>
                  <a:srgbClr val="FF0066"/>
                </a:solidFill>
                <a:latin typeface="Times New Roman" panose="02020603050405020304" pitchFamily="18" charset="0"/>
                <a:ea typeface="宋体" panose="02010600030101010101" pitchFamily="2" charset="-122"/>
              </a:defRPr>
            </a:lvl1pPr>
            <a:lvl2pPr marL="742950" indent="-285750" eaLnBrk="0" hangingPunct="0">
              <a:defRPr kumimoji="1" sz="3200" b="1">
                <a:solidFill>
                  <a:srgbClr val="FF0066"/>
                </a:solidFill>
                <a:latin typeface="Times New Roman" panose="02020603050405020304" pitchFamily="18" charset="0"/>
                <a:ea typeface="宋体" panose="02010600030101010101" pitchFamily="2" charset="-122"/>
              </a:defRPr>
            </a:lvl2pPr>
            <a:lvl3pPr marL="1143000" indent="-228600" eaLnBrk="0" hangingPunct="0">
              <a:defRPr kumimoji="1" sz="3200" b="1">
                <a:solidFill>
                  <a:srgbClr val="FF0066"/>
                </a:solidFill>
                <a:latin typeface="Times New Roman" panose="02020603050405020304" pitchFamily="18" charset="0"/>
                <a:ea typeface="宋体" panose="02010600030101010101" pitchFamily="2" charset="-122"/>
              </a:defRPr>
            </a:lvl3pPr>
            <a:lvl4pPr marL="1600200" indent="-228600" eaLnBrk="0" hangingPunct="0">
              <a:defRPr kumimoji="1" sz="3200" b="1">
                <a:solidFill>
                  <a:srgbClr val="FF0066"/>
                </a:solidFill>
                <a:latin typeface="Times New Roman" panose="02020603050405020304" pitchFamily="18" charset="0"/>
                <a:ea typeface="宋体" panose="02010600030101010101" pitchFamily="2" charset="-122"/>
              </a:defRPr>
            </a:lvl4pPr>
            <a:lvl5pPr marL="2057400" indent="-228600" eaLnBrk="0" hangingPunct="0">
              <a:defRPr kumimoji="1" sz="3200" b="1">
                <a:solidFill>
                  <a:srgbClr val="FF0066"/>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9pPr>
          </a:lstStyle>
          <a:p>
            <a:pPr eaLnBrk="1" hangingPunct="1">
              <a:spcBef>
                <a:spcPct val="0"/>
              </a:spcBef>
            </a:pPr>
            <a:r>
              <a:rPr lang="en-US" altLang="zh-CN" sz="2200" dirty="0">
                <a:solidFill>
                  <a:schemeClr val="accent6">
                    <a:lumMod val="50000"/>
                  </a:schemeClr>
                </a:solidFill>
                <a:ea typeface="楷体_GB2312" pitchFamily="49" charset="-122"/>
              </a:rPr>
              <a:t>A</a:t>
            </a:r>
            <a:r>
              <a:rPr lang="zh-CN" altLang="en-US" sz="2200" dirty="0">
                <a:solidFill>
                  <a:schemeClr val="accent6">
                    <a:lumMod val="50000"/>
                  </a:schemeClr>
                </a:solidFill>
                <a:ea typeface="楷体_GB2312" pitchFamily="49" charset="-122"/>
              </a:rPr>
              <a:t>类不确定度</a:t>
            </a:r>
            <a:r>
              <a:rPr lang="zh-CN" altLang="en-US" sz="2200" dirty="0">
                <a:solidFill>
                  <a:schemeClr val="accent6">
                    <a:lumMod val="50000"/>
                  </a:schemeClr>
                </a:solidFill>
                <a:latin typeface="楷体_GB2312" pitchFamily="49" charset="-122"/>
                <a:ea typeface="楷体_GB2312" pitchFamily="49" charset="-122"/>
              </a:rPr>
              <a:t> </a:t>
            </a:r>
          </a:p>
        </p:txBody>
      </p:sp>
    </p:spTree>
    <p:extLst>
      <p:ext uri="{BB962C8B-B14F-4D97-AF65-F5344CB8AC3E}">
        <p14:creationId xmlns:p14="http://schemas.microsoft.com/office/powerpoint/2010/main" val="1155304432"/>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flipH="1">
            <a:off x="2918943" y="457535"/>
            <a:ext cx="6225059"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 name="圆角矩形 2"/>
          <p:cNvSpPr/>
          <p:nvPr/>
        </p:nvSpPr>
        <p:spPr>
          <a:xfrm>
            <a:off x="755576" y="197679"/>
            <a:ext cx="2088232"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4" name="矩形 3"/>
          <p:cNvSpPr/>
          <p:nvPr/>
        </p:nvSpPr>
        <p:spPr>
          <a:xfrm>
            <a:off x="827584" y="226702"/>
            <a:ext cx="1946367" cy="461665"/>
          </a:xfrm>
          <a:prstGeom prst="rect">
            <a:avLst/>
          </a:prstGeom>
        </p:spPr>
        <p:txBody>
          <a:bodyPr wrap="none">
            <a:spAutoFit/>
          </a:bodyPr>
          <a:lstStyle/>
          <a:p>
            <a:pPr defTabSz="913924"/>
            <a:r>
              <a:rPr lang="en-US" altLang="zh-CN" sz="2400" b="1" kern="0" dirty="0">
                <a:solidFill>
                  <a:srgbClr val="005A9E"/>
                </a:solidFill>
                <a:cs typeface="+mn-ea"/>
                <a:sym typeface="+mn-lt"/>
              </a:rPr>
              <a:t>B</a:t>
            </a:r>
            <a:r>
              <a:rPr lang="zh-CN" altLang="en-US" sz="2400" b="1" kern="0" dirty="0">
                <a:solidFill>
                  <a:srgbClr val="005A9E"/>
                </a:solidFill>
                <a:cs typeface="+mn-ea"/>
                <a:sym typeface="+mn-lt"/>
              </a:rPr>
              <a:t>类不确定度</a:t>
            </a:r>
          </a:p>
        </p:txBody>
      </p:sp>
      <p:grpSp>
        <p:nvGrpSpPr>
          <p:cNvPr id="5" name="Group 17"/>
          <p:cNvGrpSpPr>
            <a:grpSpLocks noChangeAspect="1"/>
          </p:cNvGrpSpPr>
          <p:nvPr/>
        </p:nvGrpSpPr>
        <p:grpSpPr bwMode="auto">
          <a:xfrm>
            <a:off x="179512" y="212152"/>
            <a:ext cx="457188" cy="490764"/>
            <a:chOff x="231" y="1205"/>
            <a:chExt cx="640" cy="687"/>
          </a:xfrm>
          <a:solidFill>
            <a:srgbClr val="005A9E"/>
          </a:solidFill>
          <a:effectLst/>
        </p:grpSpPr>
        <p:sp>
          <p:nvSpPr>
            <p:cNvPr id="6" name="Freeform 18"/>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7"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sp>
        <p:nvSpPr>
          <p:cNvPr id="8" name="Rectangle 9">
            <a:extLst>
              <a:ext uri="{FF2B5EF4-FFF2-40B4-BE49-F238E27FC236}">
                <a16:creationId xmlns:a16="http://schemas.microsoft.com/office/drawing/2014/main" id="{5D20A314-FC04-4426-A9E5-E01779885E04}"/>
              </a:ext>
            </a:extLst>
          </p:cNvPr>
          <p:cNvSpPr>
            <a:spLocks noChangeArrowheads="1"/>
          </p:cNvSpPr>
          <p:nvPr/>
        </p:nvSpPr>
        <p:spPr bwMode="auto">
          <a:xfrm>
            <a:off x="163736" y="817470"/>
            <a:ext cx="8352928" cy="734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3200" b="1">
                <a:solidFill>
                  <a:srgbClr val="FF0066"/>
                </a:solidFill>
                <a:latin typeface="Times New Roman" panose="02020603050405020304" pitchFamily="18" charset="0"/>
                <a:ea typeface="宋体" panose="02010600030101010101" pitchFamily="2" charset="-122"/>
              </a:defRPr>
            </a:lvl1pPr>
            <a:lvl2pPr marL="742950" indent="-285750" eaLnBrk="0" hangingPunct="0">
              <a:defRPr kumimoji="1" sz="3200" b="1">
                <a:solidFill>
                  <a:srgbClr val="FF0066"/>
                </a:solidFill>
                <a:latin typeface="Times New Roman" panose="02020603050405020304" pitchFamily="18" charset="0"/>
                <a:ea typeface="宋体" panose="02010600030101010101" pitchFamily="2" charset="-122"/>
              </a:defRPr>
            </a:lvl2pPr>
            <a:lvl3pPr marL="1143000" indent="-228600" eaLnBrk="0" hangingPunct="0">
              <a:defRPr kumimoji="1" sz="3200" b="1">
                <a:solidFill>
                  <a:srgbClr val="FF0066"/>
                </a:solidFill>
                <a:latin typeface="Times New Roman" panose="02020603050405020304" pitchFamily="18" charset="0"/>
                <a:ea typeface="宋体" panose="02010600030101010101" pitchFamily="2" charset="-122"/>
              </a:defRPr>
            </a:lvl3pPr>
            <a:lvl4pPr marL="1600200" indent="-228600" eaLnBrk="0" hangingPunct="0">
              <a:defRPr kumimoji="1" sz="3200" b="1">
                <a:solidFill>
                  <a:srgbClr val="FF0066"/>
                </a:solidFill>
                <a:latin typeface="Times New Roman" panose="02020603050405020304" pitchFamily="18" charset="0"/>
                <a:ea typeface="宋体" panose="02010600030101010101" pitchFamily="2" charset="-122"/>
              </a:defRPr>
            </a:lvl4pPr>
            <a:lvl5pPr marL="2057400" indent="-228600" eaLnBrk="0" hangingPunct="0">
              <a:defRPr kumimoji="1" sz="3200" b="1">
                <a:solidFill>
                  <a:srgbClr val="FF0066"/>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3200" b="1">
                <a:solidFill>
                  <a:srgbClr val="FF0066"/>
                </a:solidFill>
                <a:latin typeface="Times New Roman" panose="02020603050405020304" pitchFamily="18" charset="0"/>
                <a:ea typeface="宋体" panose="02010600030101010101" pitchFamily="2" charset="-122"/>
              </a:defRPr>
            </a:lvl9pPr>
          </a:lstStyle>
          <a:p>
            <a:pPr eaLnBrk="1" hangingPunct="1">
              <a:spcBef>
                <a:spcPct val="0"/>
              </a:spcBef>
            </a:pPr>
            <a:r>
              <a:rPr lang="zh-CN" altLang="en-US" sz="2200" dirty="0">
                <a:solidFill>
                  <a:schemeClr val="tx1"/>
                </a:solidFill>
                <a:ea typeface="楷体_GB2312" pitchFamily="49" charset="-122"/>
              </a:rPr>
              <a:t>针对单次测量，</a:t>
            </a:r>
            <a:r>
              <a:rPr lang="zh-CN" altLang="en-US" sz="2200" dirty="0">
                <a:solidFill>
                  <a:schemeClr val="tx1"/>
                </a:solidFill>
                <a:latin typeface="楷体_GB2312" pitchFamily="49" charset="-122"/>
                <a:ea typeface="楷体_GB2312" pitchFamily="49" charset="-122"/>
              </a:rPr>
              <a:t>包括：测量者估算产生的部分</a:t>
            </a:r>
            <a:r>
              <a:rPr lang="en-US" altLang="zh-CN" sz="2200" dirty="0">
                <a:solidFill>
                  <a:schemeClr val="tx1"/>
                </a:solidFill>
                <a:latin typeface="楷体_GB2312" pitchFamily="49" charset="-122"/>
                <a:ea typeface="楷体_GB2312" pitchFamily="49" charset="-122"/>
              </a:rPr>
              <a:t>	</a:t>
            </a:r>
            <a:r>
              <a:rPr lang="zh-CN" altLang="en-US" sz="2200" dirty="0">
                <a:solidFill>
                  <a:schemeClr val="tx1"/>
                </a:solidFill>
                <a:latin typeface="楷体_GB2312" pitchFamily="49" charset="-122"/>
                <a:ea typeface="楷体_GB2312" pitchFamily="49" charset="-122"/>
              </a:rPr>
              <a:t>，仪器的最大允差</a:t>
            </a:r>
          </a:p>
        </p:txBody>
      </p:sp>
      <p:graphicFrame>
        <p:nvGraphicFramePr>
          <p:cNvPr id="9" name="Object 12">
            <a:extLst>
              <a:ext uri="{FF2B5EF4-FFF2-40B4-BE49-F238E27FC236}">
                <a16:creationId xmlns:a16="http://schemas.microsoft.com/office/drawing/2014/main" id="{64F5C335-0C95-4975-A30B-1FB9CA1EC202}"/>
              </a:ext>
            </a:extLst>
          </p:cNvPr>
          <p:cNvGraphicFramePr>
            <a:graphicFrameLocks noChangeAspect="1"/>
          </p:cNvGraphicFramePr>
          <p:nvPr>
            <p:extLst>
              <p:ext uri="{D42A27DB-BD31-4B8C-83A1-F6EECF244321}">
                <p14:modId xmlns:p14="http://schemas.microsoft.com/office/powerpoint/2010/main" val="3099143714"/>
              </p:ext>
            </p:extLst>
          </p:nvPr>
        </p:nvGraphicFramePr>
        <p:xfrm>
          <a:off x="5891161" y="557616"/>
          <a:ext cx="818066" cy="818066"/>
        </p:xfrm>
        <a:graphic>
          <a:graphicData uri="http://schemas.openxmlformats.org/presentationml/2006/ole">
            <mc:AlternateContent xmlns:mc="http://schemas.openxmlformats.org/markup-compatibility/2006">
              <mc:Choice xmlns:v="urn:schemas-microsoft-com:vml" Requires="v">
                <p:oleObj name="Equation" r:id="rId3" imgW="215619" imgH="215619" progId="Equation.3">
                  <p:embed/>
                </p:oleObj>
              </mc:Choice>
              <mc:Fallback>
                <p:oleObj name="Equation" r:id="rId3" imgW="215619" imgH="215619" progId="Equation.3">
                  <p:embed/>
                  <p:pic>
                    <p:nvPicPr>
                      <p:cNvPr id="9" name="Object 12">
                        <a:extLst>
                          <a:ext uri="{FF2B5EF4-FFF2-40B4-BE49-F238E27FC236}">
                            <a16:creationId xmlns:a16="http://schemas.microsoft.com/office/drawing/2014/main" id="{64F5C335-0C95-4975-A30B-1FB9CA1EC2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91161" y="557616"/>
                        <a:ext cx="818066" cy="818066"/>
                      </a:xfrm>
                      <a:prstGeom prst="rect">
                        <a:avLst/>
                      </a:prstGeom>
                      <a:noFill/>
                      <a:ln>
                        <a:noFill/>
                      </a:ln>
                      <a:effectLst/>
                    </p:spPr>
                  </p:pic>
                </p:oleObj>
              </mc:Fallback>
            </mc:AlternateContent>
          </a:graphicData>
        </a:graphic>
      </p:graphicFrame>
      <p:graphicFrame>
        <p:nvGraphicFramePr>
          <p:cNvPr id="10" name="Object 11">
            <a:extLst>
              <a:ext uri="{FF2B5EF4-FFF2-40B4-BE49-F238E27FC236}">
                <a16:creationId xmlns:a16="http://schemas.microsoft.com/office/drawing/2014/main" id="{47C658E2-F5E9-4C1C-8668-1B3555EBC6E1}"/>
              </a:ext>
            </a:extLst>
          </p:cNvPr>
          <p:cNvGraphicFramePr>
            <a:graphicFrameLocks noChangeAspect="1"/>
          </p:cNvGraphicFramePr>
          <p:nvPr>
            <p:extLst>
              <p:ext uri="{D42A27DB-BD31-4B8C-83A1-F6EECF244321}">
                <p14:modId xmlns:p14="http://schemas.microsoft.com/office/powerpoint/2010/main" val="2012381059"/>
              </p:ext>
            </p:extLst>
          </p:nvPr>
        </p:nvGraphicFramePr>
        <p:xfrm>
          <a:off x="852234" y="948221"/>
          <a:ext cx="865424" cy="773925"/>
        </p:xfrm>
        <a:graphic>
          <a:graphicData uri="http://schemas.openxmlformats.org/presentationml/2006/ole">
            <mc:AlternateContent xmlns:mc="http://schemas.openxmlformats.org/markup-compatibility/2006">
              <mc:Choice xmlns:v="urn:schemas-microsoft-com:vml" Requires="v">
                <p:oleObj name="Equation" r:id="rId5" imgW="241091" imgH="215713" progId="Equation.3">
                  <p:embed/>
                </p:oleObj>
              </mc:Choice>
              <mc:Fallback>
                <p:oleObj name="Equation" r:id="rId5" imgW="241091" imgH="215713" progId="Equation.3">
                  <p:embed/>
                  <p:pic>
                    <p:nvPicPr>
                      <p:cNvPr id="10" name="Object 11">
                        <a:extLst>
                          <a:ext uri="{FF2B5EF4-FFF2-40B4-BE49-F238E27FC236}">
                            <a16:creationId xmlns:a16="http://schemas.microsoft.com/office/drawing/2014/main" id="{47C658E2-F5E9-4C1C-8668-1B3555EBC6E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234" y="948221"/>
                        <a:ext cx="865424" cy="773925"/>
                      </a:xfrm>
                      <a:prstGeom prst="rect">
                        <a:avLst/>
                      </a:prstGeom>
                      <a:noFill/>
                      <a:ln>
                        <a:noFill/>
                      </a:ln>
                      <a:effectLst/>
                    </p:spPr>
                  </p:pic>
                </p:oleObj>
              </mc:Fallback>
            </mc:AlternateContent>
          </a:graphicData>
        </a:graphic>
      </p:graphicFrame>
      <p:graphicFrame>
        <p:nvGraphicFramePr>
          <p:cNvPr id="11" name="Object 10">
            <a:extLst>
              <a:ext uri="{FF2B5EF4-FFF2-40B4-BE49-F238E27FC236}">
                <a16:creationId xmlns:a16="http://schemas.microsoft.com/office/drawing/2014/main" id="{89F9BD4C-75C6-4990-8663-E8DC644F9AC0}"/>
              </a:ext>
            </a:extLst>
          </p:cNvPr>
          <p:cNvGraphicFramePr>
            <a:graphicFrameLocks noChangeAspect="1"/>
          </p:cNvGraphicFramePr>
          <p:nvPr>
            <p:extLst>
              <p:ext uri="{D42A27DB-BD31-4B8C-83A1-F6EECF244321}">
                <p14:modId xmlns:p14="http://schemas.microsoft.com/office/powerpoint/2010/main" val="3028171587"/>
              </p:ext>
            </p:extLst>
          </p:nvPr>
        </p:nvGraphicFramePr>
        <p:xfrm>
          <a:off x="2226758" y="1225821"/>
          <a:ext cx="3713932" cy="1019590"/>
        </p:xfrm>
        <a:graphic>
          <a:graphicData uri="http://schemas.openxmlformats.org/presentationml/2006/ole">
            <mc:AlternateContent xmlns:mc="http://schemas.openxmlformats.org/markup-compatibility/2006">
              <mc:Choice xmlns:v="urn:schemas-microsoft-com:vml" Requires="v">
                <p:oleObj name="Equation" r:id="rId7" imgW="990170" imgH="279279" progId="Equation.3">
                  <p:embed/>
                </p:oleObj>
              </mc:Choice>
              <mc:Fallback>
                <p:oleObj name="Equation" r:id="rId7" imgW="990170" imgH="279279" progId="Equation.3">
                  <p:embed/>
                  <p:pic>
                    <p:nvPicPr>
                      <p:cNvPr id="11" name="Object 10">
                        <a:extLst>
                          <a:ext uri="{FF2B5EF4-FFF2-40B4-BE49-F238E27FC236}">
                            <a16:creationId xmlns:a16="http://schemas.microsoft.com/office/drawing/2014/main" id="{89F9BD4C-75C6-4990-8663-E8DC644F9AC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26758" y="1225821"/>
                        <a:ext cx="3713932" cy="1019590"/>
                      </a:xfrm>
                      <a:prstGeom prst="rect">
                        <a:avLst/>
                      </a:prstGeom>
                      <a:noFill/>
                      <a:ln>
                        <a:noFill/>
                      </a:ln>
                      <a:effectLst/>
                    </p:spPr>
                  </p:pic>
                </p:oleObj>
              </mc:Fallback>
            </mc:AlternateContent>
          </a:graphicData>
        </a:graphic>
      </p:graphicFrame>
      <p:sp>
        <p:nvSpPr>
          <p:cNvPr id="12" name="Rectangle 3">
            <a:extLst>
              <a:ext uri="{FF2B5EF4-FFF2-40B4-BE49-F238E27FC236}">
                <a16:creationId xmlns:a16="http://schemas.microsoft.com/office/drawing/2014/main" id="{9AE69DED-26DD-44C3-AAEA-FED3CE8A04F2}"/>
              </a:ext>
            </a:extLst>
          </p:cNvPr>
          <p:cNvSpPr txBox="1">
            <a:spLocks noChangeArrowheads="1"/>
          </p:cNvSpPr>
          <p:nvPr/>
        </p:nvSpPr>
        <p:spPr>
          <a:xfrm>
            <a:off x="163736" y="2349728"/>
            <a:ext cx="8695837" cy="2340472"/>
          </a:xfrm>
          <a:prstGeom prst="rect">
            <a:avLst/>
          </a:prstGeom>
        </p:spPr>
        <p:txBody>
          <a:bodyPr/>
          <a:lstStyle>
            <a:lvl1pPr marL="257175" indent="-257175"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1pPr>
            <a:lvl2pPr marL="557213" indent="-214313" algn="l" rtl="0" eaLnBrk="0" fontAlgn="base" hangingPunct="0">
              <a:spcBef>
                <a:spcPct val="20000"/>
              </a:spcBef>
              <a:spcAft>
                <a:spcPct val="0"/>
              </a:spcAft>
              <a:buFont typeface="Arial" charset="0"/>
              <a:buChar char="–"/>
              <a:defRPr sz="2100" kern="1200">
                <a:solidFill>
                  <a:schemeClr val="tx1"/>
                </a:solidFill>
                <a:latin typeface="Arial" charset="0"/>
                <a:ea typeface="+mn-ea"/>
                <a:cs typeface="+mn-cs"/>
              </a:defRPr>
            </a:lvl2pPr>
            <a:lvl3pPr marL="857250" indent="-171450" algn="l" rtl="0" eaLnBrk="0" fontAlgn="base" hangingPunct="0">
              <a:spcBef>
                <a:spcPct val="20000"/>
              </a:spcBef>
              <a:spcAft>
                <a:spcPct val="0"/>
              </a:spcAft>
              <a:buFont typeface="Arial" charset="0"/>
              <a:buChar char="•"/>
              <a:defRPr sz="1800" kern="1200">
                <a:solidFill>
                  <a:schemeClr val="tx1"/>
                </a:solidFill>
                <a:latin typeface="Arial" charset="0"/>
                <a:ea typeface="+mn-ea"/>
                <a:cs typeface="+mn-cs"/>
              </a:defRPr>
            </a:lvl3pPr>
            <a:lvl4pPr marL="12001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4pPr>
            <a:lvl5pPr marL="1543050" indent="-171450" algn="l" rtl="0" eaLnBrk="0" fontAlgn="base" hangingPunct="0">
              <a:spcBef>
                <a:spcPct val="20000"/>
              </a:spcBef>
              <a:spcAft>
                <a:spcPct val="0"/>
              </a:spcAft>
              <a:buFont typeface="Arial" charset="0"/>
              <a:buChar char="»"/>
              <a:defRPr sz="1500" kern="1200">
                <a:solidFill>
                  <a:schemeClr val="tx1"/>
                </a:solidFill>
                <a:latin typeface="Arial"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457200" indent="-457200" eaLnBrk="1" hangingPunct="1">
              <a:lnSpc>
                <a:spcPct val="150000"/>
              </a:lnSpc>
              <a:buFont typeface="+mj-ea"/>
              <a:buAutoNum type="circleNumDbPlain"/>
            </a:pPr>
            <a:r>
              <a:rPr lang="zh-CN" altLang="en-US" sz="2200" b="1" dirty="0">
                <a:solidFill>
                  <a:schemeClr val="accent6">
                    <a:lumMod val="50000"/>
                  </a:schemeClr>
                </a:solidFill>
                <a:ea typeface="楷体_GB2312" pitchFamily="49" charset="-122"/>
              </a:rPr>
              <a:t>测量者估算产生的部分</a:t>
            </a:r>
          </a:p>
          <a:p>
            <a:pPr eaLnBrk="1" hangingPunct="1">
              <a:lnSpc>
                <a:spcPct val="150000"/>
              </a:lnSpc>
              <a:buFontTx/>
              <a:buNone/>
            </a:pPr>
            <a:r>
              <a:rPr lang="zh-CN" altLang="en-US" sz="2200" b="1" dirty="0">
                <a:ea typeface="楷体_GB2312" pitchFamily="49" charset="-122"/>
              </a:rPr>
              <a:t>对于刻度式仪表，测量估算的不确定度常常小于仪器最小刻度的一半</a:t>
            </a:r>
          </a:p>
          <a:p>
            <a:pPr eaLnBrk="1" hangingPunct="1">
              <a:lnSpc>
                <a:spcPct val="150000"/>
              </a:lnSpc>
              <a:buFontTx/>
              <a:buNone/>
            </a:pPr>
            <a:r>
              <a:rPr lang="zh-CN" altLang="en-US" sz="2200" b="1" dirty="0">
                <a:ea typeface="楷体_GB2312" pitchFamily="49" charset="-122"/>
              </a:rPr>
              <a:t>对于数字式仪表，如果数字稳定，</a:t>
            </a:r>
            <a:r>
              <a:rPr lang="zh-CN" altLang="en-US" sz="2200" b="1" dirty="0">
                <a:solidFill>
                  <a:srgbClr val="0033CC"/>
                </a:solidFill>
                <a:ea typeface="楷体_GB2312" pitchFamily="49" charset="-122"/>
              </a:rPr>
              <a:t>没有估算不确定度</a:t>
            </a:r>
            <a:r>
              <a:rPr lang="zh-CN" altLang="en-US" sz="2200" b="1" dirty="0">
                <a:ea typeface="楷体_GB2312" pitchFamily="49" charset="-122"/>
              </a:rPr>
              <a:t>；如果数字跳动记录其稳定表示的值</a:t>
            </a:r>
          </a:p>
        </p:txBody>
      </p:sp>
    </p:spTree>
    <p:extLst>
      <p:ext uri="{BB962C8B-B14F-4D97-AF65-F5344CB8AC3E}">
        <p14:creationId xmlns:p14="http://schemas.microsoft.com/office/powerpoint/2010/main" val="1950717353"/>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flipH="1">
            <a:off x="2918943" y="457535"/>
            <a:ext cx="6225059"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 name="圆角矩形 2"/>
          <p:cNvSpPr/>
          <p:nvPr/>
        </p:nvSpPr>
        <p:spPr>
          <a:xfrm>
            <a:off x="755576" y="197679"/>
            <a:ext cx="2232248"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4" name="矩形 3"/>
          <p:cNvSpPr/>
          <p:nvPr/>
        </p:nvSpPr>
        <p:spPr>
          <a:xfrm>
            <a:off x="827584" y="226702"/>
            <a:ext cx="1946367" cy="461665"/>
          </a:xfrm>
          <a:prstGeom prst="rect">
            <a:avLst/>
          </a:prstGeom>
        </p:spPr>
        <p:txBody>
          <a:bodyPr wrap="none">
            <a:spAutoFit/>
          </a:bodyPr>
          <a:lstStyle/>
          <a:p>
            <a:pPr defTabSz="913924"/>
            <a:r>
              <a:rPr lang="en-US" altLang="zh-CN" sz="2400" b="1" kern="0" dirty="0">
                <a:solidFill>
                  <a:srgbClr val="005A9E"/>
                </a:solidFill>
                <a:cs typeface="+mn-ea"/>
                <a:sym typeface="+mn-lt"/>
              </a:rPr>
              <a:t>B</a:t>
            </a:r>
            <a:r>
              <a:rPr lang="zh-CN" altLang="en-US" sz="2400" b="1" kern="0" dirty="0">
                <a:solidFill>
                  <a:srgbClr val="005A9E"/>
                </a:solidFill>
                <a:cs typeface="+mn-ea"/>
                <a:sym typeface="+mn-lt"/>
              </a:rPr>
              <a:t>类不确定度</a:t>
            </a:r>
          </a:p>
        </p:txBody>
      </p:sp>
      <p:grpSp>
        <p:nvGrpSpPr>
          <p:cNvPr id="5" name="Group 17"/>
          <p:cNvGrpSpPr>
            <a:grpSpLocks noChangeAspect="1"/>
          </p:cNvGrpSpPr>
          <p:nvPr/>
        </p:nvGrpSpPr>
        <p:grpSpPr bwMode="auto">
          <a:xfrm>
            <a:off x="179512" y="212152"/>
            <a:ext cx="457188" cy="490764"/>
            <a:chOff x="231" y="1205"/>
            <a:chExt cx="640" cy="687"/>
          </a:xfrm>
          <a:solidFill>
            <a:srgbClr val="005A9E"/>
          </a:solidFill>
          <a:effectLst/>
        </p:grpSpPr>
        <p:sp>
          <p:nvSpPr>
            <p:cNvPr id="6" name="Freeform 18"/>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7"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sp>
        <p:nvSpPr>
          <p:cNvPr id="8" name="Rectangle 2">
            <a:extLst>
              <a:ext uri="{FF2B5EF4-FFF2-40B4-BE49-F238E27FC236}">
                <a16:creationId xmlns:a16="http://schemas.microsoft.com/office/drawing/2014/main" id="{1ECA8942-17D5-427A-93F5-6E3F9CA1A5B0}"/>
              </a:ext>
            </a:extLst>
          </p:cNvPr>
          <p:cNvSpPr txBox="1">
            <a:spLocks noChangeArrowheads="1"/>
          </p:cNvSpPr>
          <p:nvPr/>
        </p:nvSpPr>
        <p:spPr>
          <a:xfrm>
            <a:off x="179512" y="792398"/>
            <a:ext cx="8784975" cy="3745582"/>
          </a:xfrm>
          <a:prstGeom prst="rect">
            <a:avLst/>
          </a:prstGeom>
        </p:spPr>
        <p:txBody>
          <a:bodyPr/>
          <a:lstStyle>
            <a:lvl1pPr algn="ctr" rtl="0" eaLnBrk="0" fontAlgn="base" hangingPunct="0">
              <a:spcBef>
                <a:spcPct val="0"/>
              </a:spcBef>
              <a:spcAft>
                <a:spcPct val="0"/>
              </a:spcAft>
              <a:defRPr sz="3300" kern="1200">
                <a:solidFill>
                  <a:schemeClr val="tx1"/>
                </a:solidFill>
                <a:latin typeface="Arial" charset="0"/>
                <a:ea typeface="+mj-ea"/>
                <a:cs typeface="+mj-cs"/>
              </a:defRPr>
            </a:lvl1pPr>
            <a:lvl2pPr algn="ctr" rtl="0" eaLnBrk="0" fontAlgn="base" hangingPunct="0">
              <a:spcBef>
                <a:spcPct val="0"/>
              </a:spcBef>
              <a:spcAft>
                <a:spcPct val="0"/>
              </a:spcAft>
              <a:defRPr sz="3300">
                <a:solidFill>
                  <a:schemeClr val="tx1"/>
                </a:solidFill>
                <a:latin typeface="Arial" charset="0"/>
                <a:ea typeface="宋体" charset="-122"/>
              </a:defRPr>
            </a:lvl2pPr>
            <a:lvl3pPr algn="ctr" rtl="0" eaLnBrk="0" fontAlgn="base" hangingPunct="0">
              <a:spcBef>
                <a:spcPct val="0"/>
              </a:spcBef>
              <a:spcAft>
                <a:spcPct val="0"/>
              </a:spcAft>
              <a:defRPr sz="3300">
                <a:solidFill>
                  <a:schemeClr val="tx1"/>
                </a:solidFill>
                <a:latin typeface="Arial" charset="0"/>
                <a:ea typeface="宋体" charset="-122"/>
              </a:defRPr>
            </a:lvl3pPr>
            <a:lvl4pPr algn="ctr" rtl="0" eaLnBrk="0" fontAlgn="base" hangingPunct="0">
              <a:spcBef>
                <a:spcPct val="0"/>
              </a:spcBef>
              <a:spcAft>
                <a:spcPct val="0"/>
              </a:spcAft>
              <a:defRPr sz="3300">
                <a:solidFill>
                  <a:schemeClr val="tx1"/>
                </a:solidFill>
                <a:latin typeface="Arial" charset="0"/>
                <a:ea typeface="宋体" charset="-122"/>
              </a:defRPr>
            </a:lvl4pPr>
            <a:lvl5pPr algn="ctr" rtl="0" eaLnBrk="0" fontAlgn="base" hangingPunct="0">
              <a:spcBef>
                <a:spcPct val="0"/>
              </a:spcBef>
              <a:spcAft>
                <a:spcPct val="0"/>
              </a:spcAft>
              <a:defRPr sz="3300">
                <a:solidFill>
                  <a:schemeClr val="tx1"/>
                </a:solidFill>
                <a:latin typeface="Arial" charset="0"/>
                <a:ea typeface="宋体" charset="-122"/>
              </a:defRPr>
            </a:lvl5pPr>
            <a:lvl6pPr marL="342900" algn="ctr" rtl="0" fontAlgn="base">
              <a:spcBef>
                <a:spcPct val="0"/>
              </a:spcBef>
              <a:spcAft>
                <a:spcPct val="0"/>
              </a:spcAft>
              <a:defRPr sz="3300">
                <a:solidFill>
                  <a:schemeClr val="tx1"/>
                </a:solidFill>
                <a:latin typeface="Calibri" pitchFamily="34" charset="0"/>
                <a:ea typeface="宋体" charset="-122"/>
              </a:defRPr>
            </a:lvl6pPr>
            <a:lvl7pPr marL="685800" algn="ctr" rtl="0" fontAlgn="base">
              <a:spcBef>
                <a:spcPct val="0"/>
              </a:spcBef>
              <a:spcAft>
                <a:spcPct val="0"/>
              </a:spcAft>
              <a:defRPr sz="3300">
                <a:solidFill>
                  <a:schemeClr val="tx1"/>
                </a:solidFill>
                <a:latin typeface="Calibri" pitchFamily="34" charset="0"/>
                <a:ea typeface="宋体" charset="-122"/>
              </a:defRPr>
            </a:lvl7pPr>
            <a:lvl8pPr marL="1028700" algn="ctr" rtl="0" fontAlgn="base">
              <a:spcBef>
                <a:spcPct val="0"/>
              </a:spcBef>
              <a:spcAft>
                <a:spcPct val="0"/>
              </a:spcAft>
              <a:defRPr sz="3300">
                <a:solidFill>
                  <a:schemeClr val="tx1"/>
                </a:solidFill>
                <a:latin typeface="Calibri" pitchFamily="34" charset="0"/>
                <a:ea typeface="宋体" charset="-122"/>
              </a:defRPr>
            </a:lvl8pPr>
            <a:lvl9pPr marL="1371600" algn="ctr" rtl="0" fontAlgn="base">
              <a:spcBef>
                <a:spcPct val="0"/>
              </a:spcBef>
              <a:spcAft>
                <a:spcPct val="0"/>
              </a:spcAft>
              <a:defRPr sz="3300">
                <a:solidFill>
                  <a:schemeClr val="tx1"/>
                </a:solidFill>
                <a:latin typeface="Calibri" pitchFamily="34" charset="0"/>
                <a:ea typeface="宋体" charset="-122"/>
              </a:defRPr>
            </a:lvl9pPr>
          </a:lstStyle>
          <a:p>
            <a:pPr marL="457200" indent="-457200" algn="l" eaLnBrk="1" hangingPunct="1">
              <a:lnSpc>
                <a:spcPct val="150000"/>
              </a:lnSpc>
              <a:buFont typeface="+mj-ea"/>
              <a:buAutoNum type="circleNumDbPlain"/>
            </a:pPr>
            <a:r>
              <a:rPr lang="zh-CN" altLang="en-US" sz="2200" b="1" dirty="0">
                <a:solidFill>
                  <a:schemeClr val="accent6">
                    <a:lumMod val="50000"/>
                  </a:schemeClr>
                </a:solidFill>
                <a:latin typeface="楷体_GB2312" pitchFamily="49" charset="-122"/>
                <a:ea typeface="楷体_GB2312" pitchFamily="49" charset="-122"/>
              </a:rPr>
              <a:t>估算部分</a:t>
            </a:r>
            <a:endParaRPr lang="en-US" altLang="zh-CN" sz="2200" b="1" dirty="0">
              <a:solidFill>
                <a:schemeClr val="accent6">
                  <a:lumMod val="50000"/>
                </a:schemeClr>
              </a:solidFill>
              <a:latin typeface="楷体_GB2312" pitchFamily="49" charset="-122"/>
              <a:ea typeface="楷体_GB2312" pitchFamily="49" charset="-122"/>
            </a:endParaRPr>
          </a:p>
          <a:p>
            <a:pPr marL="457200" indent="-457200" algn="l" eaLnBrk="1" hangingPunct="1">
              <a:lnSpc>
                <a:spcPct val="150000"/>
              </a:lnSpc>
              <a:buFont typeface="+mj-ea"/>
              <a:buAutoNum type="circleNumDbPlain"/>
            </a:pPr>
            <a:r>
              <a:rPr lang="zh-CN" altLang="en-US" sz="2200" b="1" dirty="0">
                <a:solidFill>
                  <a:schemeClr val="accent6">
                    <a:lumMod val="50000"/>
                  </a:schemeClr>
                </a:solidFill>
                <a:latin typeface="楷体_GB2312" pitchFamily="49" charset="-122"/>
                <a:ea typeface="楷体_GB2312" pitchFamily="49" charset="-122"/>
              </a:rPr>
              <a:t>仪器的最大允差</a:t>
            </a:r>
            <a:br>
              <a:rPr lang="zh-CN" altLang="en-US" sz="2200" b="1" dirty="0">
                <a:latin typeface="楷体_GB2312" pitchFamily="49" charset="-122"/>
                <a:ea typeface="楷体_GB2312" pitchFamily="49" charset="-122"/>
              </a:rPr>
            </a:br>
            <a:r>
              <a:rPr lang="zh-CN" altLang="en-US" sz="2200" b="1" dirty="0">
                <a:latin typeface="楷体_GB2312" pitchFamily="49" charset="-122"/>
                <a:ea typeface="楷体_GB2312" pitchFamily="49" charset="-122"/>
              </a:rPr>
              <a:t>包含了仪器的系统误差，也包含了环境以及测量者自身可能出现的变化，对测量结果的影响</a:t>
            </a:r>
            <a:br>
              <a:rPr lang="zh-CN" altLang="en-US" sz="2200" b="1" dirty="0">
                <a:latin typeface="楷体_GB2312" pitchFamily="49" charset="-122"/>
                <a:ea typeface="楷体_GB2312" pitchFamily="49" charset="-122"/>
              </a:rPr>
            </a:br>
            <a:r>
              <a:rPr lang="zh-CN" altLang="en-US" sz="2200" b="1" dirty="0">
                <a:latin typeface="楷体_GB2312" pitchFamily="49" charset="-122"/>
                <a:ea typeface="楷体_GB2312" pitchFamily="49" charset="-122"/>
              </a:rPr>
              <a:t>可从仪器说明书中得到，它表征同一规格型号的合格产品在正常使用条件下，可能产生的最大误差</a:t>
            </a:r>
            <a:br>
              <a:rPr lang="zh-CN" altLang="en-US" sz="2200" b="1" dirty="0">
                <a:latin typeface="楷体_GB2312" pitchFamily="49" charset="-122"/>
                <a:ea typeface="楷体_GB2312" pitchFamily="49" charset="-122"/>
              </a:rPr>
            </a:br>
            <a:r>
              <a:rPr lang="zh-CN" altLang="en-US" sz="2200" b="1" dirty="0">
                <a:solidFill>
                  <a:srgbClr val="0000FF"/>
                </a:solidFill>
                <a:latin typeface="楷体_GB2312" pitchFamily="49" charset="-122"/>
                <a:ea typeface="楷体_GB2312" pitchFamily="49" charset="-122"/>
              </a:rPr>
              <a:t>一般而言，仪器最大允差为仪器最小刻度所对应的物理量的数量级</a:t>
            </a:r>
            <a:endParaRPr lang="zh-CN" altLang="en-US" sz="2200" b="1" dirty="0">
              <a:latin typeface="楷体_GB2312" pitchFamily="49" charset="-122"/>
              <a:ea typeface="楷体_GB2312" pitchFamily="49" charset="-122"/>
            </a:endParaRPr>
          </a:p>
        </p:txBody>
      </p:sp>
    </p:spTree>
    <p:extLst>
      <p:ext uri="{BB962C8B-B14F-4D97-AF65-F5344CB8AC3E}">
        <p14:creationId xmlns:p14="http://schemas.microsoft.com/office/powerpoint/2010/main" val="2919516519"/>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flipH="1">
            <a:off x="2918943" y="457535"/>
            <a:ext cx="6225059" cy="0"/>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 name="圆角矩形 2"/>
          <p:cNvSpPr/>
          <p:nvPr/>
        </p:nvSpPr>
        <p:spPr>
          <a:xfrm>
            <a:off x="755576" y="197679"/>
            <a:ext cx="2941704" cy="519711"/>
          </a:xfrm>
          <a:prstGeom prst="roundRect">
            <a:avLst/>
          </a:prstGeom>
          <a:gradFill flip="none" rotWithShape="1">
            <a:gsLst>
              <a:gs pos="0">
                <a:srgbClr val="F0F0F0"/>
              </a:gs>
              <a:gs pos="100000">
                <a:srgbClr val="F1F1F1"/>
              </a:gs>
            </a:gsLst>
            <a:lin ang="2700000" scaled="1"/>
            <a:tileRect/>
          </a:gradFill>
          <a:ln w="38100" cap="flat" cmpd="sng" algn="ctr">
            <a:gradFill flip="none" rotWithShape="1">
              <a:gsLst>
                <a:gs pos="100000">
                  <a:srgbClr val="FFFFFF"/>
                </a:gs>
                <a:gs pos="0">
                  <a:srgbClr val="CECED0"/>
                </a:gs>
              </a:gsLst>
              <a:lin ang="18900000" scaled="0"/>
              <a:tileRect/>
            </a:gradFill>
            <a:prstDash val="solid"/>
          </a:ln>
          <a:effectLst>
            <a:outerShdw blurRad="203200" dist="88900" dir="8100000" sx="102000" sy="102000" algn="tr" rotWithShape="0">
              <a:prstClr val="black">
                <a:alpha val="30000"/>
              </a:prstClr>
            </a:outerShdw>
          </a:effectLst>
        </p:spPr>
        <p:txBody>
          <a:bodyPr lIns="71316" tIns="35658" rIns="71316" bIns="3565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4" name="矩形 3"/>
          <p:cNvSpPr/>
          <p:nvPr/>
        </p:nvSpPr>
        <p:spPr>
          <a:xfrm>
            <a:off x="827584" y="226702"/>
            <a:ext cx="2869696" cy="461665"/>
          </a:xfrm>
          <a:prstGeom prst="rect">
            <a:avLst/>
          </a:prstGeom>
        </p:spPr>
        <p:txBody>
          <a:bodyPr wrap="none">
            <a:spAutoFit/>
          </a:bodyPr>
          <a:lstStyle/>
          <a:p>
            <a:pPr defTabSz="913924"/>
            <a:r>
              <a:rPr lang="zh-CN" altLang="en-US" sz="2400" b="1" kern="0" dirty="0">
                <a:solidFill>
                  <a:srgbClr val="005A9E"/>
                </a:solidFill>
                <a:cs typeface="+mn-ea"/>
                <a:sym typeface="+mn-lt"/>
              </a:rPr>
              <a:t>举例：</a:t>
            </a:r>
            <a:r>
              <a:rPr lang="en-US" altLang="zh-CN" sz="2400" b="1" kern="0" dirty="0">
                <a:solidFill>
                  <a:srgbClr val="005A9E"/>
                </a:solidFill>
                <a:cs typeface="+mn-ea"/>
                <a:sym typeface="+mn-lt"/>
              </a:rPr>
              <a:t>B</a:t>
            </a:r>
            <a:r>
              <a:rPr lang="zh-CN" altLang="en-US" sz="2400" b="1" kern="0" dirty="0">
                <a:solidFill>
                  <a:srgbClr val="005A9E"/>
                </a:solidFill>
                <a:cs typeface="+mn-ea"/>
                <a:sym typeface="+mn-lt"/>
              </a:rPr>
              <a:t>类不确定度</a:t>
            </a:r>
          </a:p>
        </p:txBody>
      </p:sp>
      <p:grpSp>
        <p:nvGrpSpPr>
          <p:cNvPr id="5" name="Group 17"/>
          <p:cNvGrpSpPr>
            <a:grpSpLocks noChangeAspect="1"/>
          </p:cNvGrpSpPr>
          <p:nvPr/>
        </p:nvGrpSpPr>
        <p:grpSpPr bwMode="auto">
          <a:xfrm>
            <a:off x="179512" y="212152"/>
            <a:ext cx="457188" cy="490764"/>
            <a:chOff x="231" y="1205"/>
            <a:chExt cx="640" cy="687"/>
          </a:xfrm>
          <a:solidFill>
            <a:srgbClr val="005A9E"/>
          </a:solidFill>
          <a:effectLst/>
        </p:grpSpPr>
        <p:sp>
          <p:nvSpPr>
            <p:cNvPr id="6" name="Freeform 18"/>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sp>
          <p:nvSpPr>
            <p:cNvPr id="7"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cs typeface="+mn-ea"/>
                <a:sym typeface="+mn-lt"/>
              </a:endParaRPr>
            </a:p>
          </p:txBody>
        </p:sp>
      </p:grpSp>
      <p:pic>
        <p:nvPicPr>
          <p:cNvPr id="8" name="Picture 11" descr="C:\Documents and Settings\WGXie\桌面\归档\xulun_页面_41.jpg">
            <a:extLst>
              <a:ext uri="{FF2B5EF4-FFF2-40B4-BE49-F238E27FC236}">
                <a16:creationId xmlns:a16="http://schemas.microsoft.com/office/drawing/2014/main" id="{0F5FF209-47F8-4A59-BC76-061F0063FB36}"/>
              </a:ext>
            </a:extLst>
          </p:cNvPr>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t="16120" b="8999"/>
          <a:stretch/>
        </p:blipFill>
        <p:spPr bwMode="auto">
          <a:xfrm>
            <a:off x="535977" y="882789"/>
            <a:ext cx="7348392" cy="4126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4998472"/>
      </p:ext>
    </p:extLst>
  </p:cSld>
  <p:clrMapOvr>
    <a:masterClrMapping/>
  </p:clrMapOvr>
  <mc:AlternateContent xmlns:mc="http://schemas.openxmlformats.org/markup-compatibility/2006" xmlns:p14="http://schemas.microsoft.com/office/powerpoint/2010/main">
    <mc:Choice Requires="p14">
      <p:transition spd="slow" p14:dur="1100" advTm="35000">
        <p14:prism/>
      </p:transition>
    </mc:Choice>
    <mc:Fallback xmlns="">
      <p:transition spd="slow" advTm="35000">
        <p:fade/>
      </p:transition>
    </mc:Fallback>
  </mc:AlternateContent>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8762</TotalTime>
  <Words>1942</Words>
  <Application>Microsoft Office PowerPoint</Application>
  <PresentationFormat>全屏显示(16:9)</PresentationFormat>
  <Paragraphs>257</Paragraphs>
  <Slides>37</Slides>
  <Notes>12</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37</vt:i4>
      </vt:variant>
    </vt:vector>
  </HeadingPairs>
  <TitlesOfParts>
    <vt:vector size="50" baseType="lpstr">
      <vt:lpstr>华文楷体</vt:lpstr>
      <vt:lpstr>楷体_GB2312</vt:lpstr>
      <vt:lpstr>微软雅黑</vt:lpstr>
      <vt:lpstr>Microsoft YaHei Light</vt:lpstr>
      <vt:lpstr>Arial</vt:lpstr>
      <vt:lpstr>Calibri</vt:lpstr>
      <vt:lpstr>Cambria Math</vt:lpstr>
      <vt:lpstr>Symbol</vt:lpstr>
      <vt:lpstr>Times New Roman</vt:lpstr>
      <vt:lpstr>Wingdings</vt:lpstr>
      <vt:lpstr>1_Office 主题</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Yang Zhou</cp:lastModifiedBy>
  <cp:revision>295</cp:revision>
  <cp:lastPrinted>2019-03-28T02:07:41Z</cp:lastPrinted>
  <dcterms:created xsi:type="dcterms:W3CDTF">2016-05-24T04:26:47Z</dcterms:created>
  <dcterms:modified xsi:type="dcterms:W3CDTF">2025-09-11T05:31:27Z</dcterms:modified>
</cp:coreProperties>
</file>