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256" r:id="rId2"/>
    <p:sldId id="27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70" r:id="rId13"/>
    <p:sldId id="269" r:id="rId14"/>
    <p:sldId id="271" r:id="rId15"/>
    <p:sldId id="272" r:id="rId16"/>
    <p:sldId id="273" r:id="rId17"/>
    <p:sldId id="274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324" r:id="rId31"/>
    <p:sldId id="322" r:id="rId32"/>
    <p:sldId id="323" r:id="rId33"/>
    <p:sldId id="288" r:id="rId34"/>
    <p:sldId id="289" r:id="rId35"/>
    <p:sldId id="290" r:id="rId36"/>
    <p:sldId id="310" r:id="rId37"/>
    <p:sldId id="311" r:id="rId38"/>
    <p:sldId id="292" r:id="rId39"/>
    <p:sldId id="294" r:id="rId40"/>
    <p:sldId id="312" r:id="rId41"/>
    <p:sldId id="306" r:id="rId42"/>
    <p:sldId id="307" r:id="rId43"/>
    <p:sldId id="296" r:id="rId44"/>
    <p:sldId id="297" r:id="rId45"/>
    <p:sldId id="298" r:id="rId46"/>
    <p:sldId id="299" r:id="rId47"/>
    <p:sldId id="300" r:id="rId48"/>
    <p:sldId id="308" r:id="rId49"/>
    <p:sldId id="313" r:id="rId50"/>
    <p:sldId id="314" r:id="rId51"/>
    <p:sldId id="315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340" autoAdjust="0"/>
  </p:normalViewPr>
  <p:slideViewPr>
    <p:cSldViewPr snapToGrid="0">
      <p:cViewPr>
        <p:scale>
          <a:sx n="45" d="100"/>
          <a:sy n="45" d="100"/>
        </p:scale>
        <p:origin x="45" y="8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 的" userId="7483e1e6a959e322" providerId="LiveId" clId="{286C159D-603C-4CB1-AE78-F5F98B38873E}"/>
    <pc:docChg chg="modSld">
      <pc:chgData name="by 的" userId="7483e1e6a959e322" providerId="LiveId" clId="{286C159D-603C-4CB1-AE78-F5F98B38873E}" dt="2026-07-10T00:26:20.326" v="0" actId="1038"/>
      <pc:docMkLst>
        <pc:docMk/>
      </pc:docMkLst>
      <pc:sldChg chg="modSp mod">
        <pc:chgData name="by 的" userId="7483e1e6a959e322" providerId="LiveId" clId="{286C159D-603C-4CB1-AE78-F5F98B38873E}" dt="2026-07-10T00:26:20.326" v="0" actId="1038"/>
        <pc:sldMkLst>
          <pc:docMk/>
          <pc:sldMk cId="1318268290" sldId="257"/>
        </pc:sldMkLst>
        <pc:picChg chg="mod">
          <ac:chgData name="by 的" userId="7483e1e6a959e322" providerId="LiveId" clId="{286C159D-603C-4CB1-AE78-F5F98B38873E}" dt="2026-07-10T00:26:20.326" v="0" actId="1038"/>
          <ac:picMkLst>
            <pc:docMk/>
            <pc:sldMk cId="1318268290" sldId="257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F1BA8-8E18-44BA-A405-92BE9FDA6A62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9405F-8828-42B2-A6C8-682952DD0A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75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350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V0: the first vertex in the cycle visited by DFS</a:t>
            </a:r>
          </a:p>
          <a:p>
            <a:r>
              <a:rPr lang="en-US" altLang="zh-CN" dirty="0"/>
              <a:t>Start v0,</a:t>
            </a:r>
            <a:r>
              <a:rPr lang="en-US" altLang="zh-CN" baseline="0" dirty="0"/>
              <a:t> start </a:t>
            </a:r>
            <a:r>
              <a:rPr lang="en-US" altLang="zh-CN" baseline="0" dirty="0" err="1"/>
              <a:t>vk</a:t>
            </a:r>
            <a:r>
              <a:rPr lang="en-US" altLang="zh-CN" baseline="0" dirty="0"/>
              <a:t>, finish </a:t>
            </a:r>
            <a:r>
              <a:rPr lang="en-US" altLang="zh-CN" baseline="0" dirty="0" err="1"/>
              <a:t>vk</a:t>
            </a:r>
            <a:r>
              <a:rPr lang="en-US" altLang="zh-CN" baseline="0" dirty="0"/>
              <a:t>, finish </a:t>
            </a:r>
            <a:r>
              <a:rPr lang="en-US" altLang="zh-CN" baseline="0" dirty="0" err="1"/>
              <a:t>vk</a:t>
            </a:r>
            <a:r>
              <a:rPr lang="en-US" altLang="zh-CN" baseline="0" dirty="0"/>
              <a:t> – balance.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849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Negative cycle: D-C-B</a:t>
            </a:r>
          </a:p>
          <a:p>
            <a:r>
              <a:rPr lang="en-US" altLang="zh-CN" dirty="0"/>
              <a:t>SP undefined: in or reachable</a:t>
            </a:r>
            <a:r>
              <a:rPr lang="en-US" altLang="zh-CN" baseline="0" dirty="0"/>
              <a:t> by negative cycle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036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Cut and copy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208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Pre: first visit</a:t>
            </a:r>
            <a:r>
              <a:rPr lang="en-US" altLang="zh-CN" baseline="0" dirty="0"/>
              <a:t> time</a:t>
            </a:r>
          </a:p>
          <a:p>
            <a:r>
              <a:rPr lang="en-US" altLang="zh-CN" baseline="0" dirty="0"/>
              <a:t>Post: final departure time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842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Insert: swap(parent, inserted item)</a:t>
            </a:r>
          </a:p>
          <a:p>
            <a:r>
              <a:rPr lang="en-US" altLang="zh-CN" dirty="0" err="1"/>
              <a:t>Deletemin</a:t>
            </a:r>
            <a:r>
              <a:rPr lang="en-US" altLang="zh-CN" dirty="0"/>
              <a:t>/</a:t>
            </a:r>
            <a:r>
              <a:rPr lang="en-US" altLang="zh-CN" dirty="0" err="1"/>
              <a:t>decreasekey</a:t>
            </a:r>
            <a:r>
              <a:rPr lang="en-US" altLang="zh-CN" dirty="0"/>
              <a:t>: swap(parent, smallest</a:t>
            </a:r>
            <a:r>
              <a:rPr lang="en-US" altLang="zh-CN" baseline="0" dirty="0"/>
              <a:t> child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708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Corollary</a:t>
            </a:r>
            <a:r>
              <a:rPr lang="en-US" altLang="zh-CN" baseline="0" dirty="0"/>
              <a:t> </a:t>
            </a:r>
            <a:r>
              <a:rPr lang="zh-CN" altLang="en-US" dirty="0"/>
              <a:t>英 </a:t>
            </a:r>
            <a:r>
              <a:rPr lang="en-US" altLang="zh-CN" dirty="0"/>
              <a:t>[</a:t>
            </a:r>
            <a:r>
              <a:rPr lang="en-US" altLang="zh-CN" dirty="0" err="1"/>
              <a:t>kəˈrɒləri</a:t>
            </a:r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443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</a:t>
            </a:r>
            <a:r>
              <a:rPr lang="en-US" altLang="zh-CN" dirty="0" err="1"/>
              <a:t>alg</a:t>
            </a:r>
            <a:r>
              <a:rPr lang="en-US" altLang="zh-CN" baseline="0" dirty="0"/>
              <a:t> dominated regarding to the length not to the weight.  Shortest length path not equal to </a:t>
            </a:r>
            <a:r>
              <a:rPr lang="en-US" altLang="zh-CN" baseline="0"/>
              <a:t>shortest weight path.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F9405F-8828-42B2-A6C8-682952DD0A2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02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92-891B-4775-A595-979556C3FA84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13D92-891B-4775-A595-979556C3FA84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3304C-DE07-4325-B540-F70D6F02883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4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718602"/>
            <a:ext cx="9686306" cy="2387600"/>
          </a:xfrm>
        </p:spPr>
        <p:txBody>
          <a:bodyPr>
            <a:normAutofit/>
          </a:bodyPr>
          <a:lstStyle/>
          <a:p>
            <a:br>
              <a:rPr lang="zh-CN" altLang="en-US" dirty="0"/>
            </a:br>
            <a:r>
              <a:rPr lang="en-US" altLang="zh-CN" dirty="0"/>
              <a:t> </a:t>
            </a:r>
            <a:r>
              <a:rPr lang="en-US" altLang="zh-CN" sz="4000" dirty="0"/>
              <a:t>Lecture 05 </a:t>
            </a:r>
            <a:br>
              <a:rPr lang="en-US" altLang="zh-CN" sz="4000" dirty="0"/>
            </a:br>
            <a:r>
              <a:rPr lang="en-US" altLang="zh-CN" sz="4000" dirty="0"/>
              <a:t>BFS / DFS / Shortest paths problem</a:t>
            </a:r>
            <a:endParaRPr lang="zh-CN" altLang="en-US" sz="4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875171"/>
            <a:ext cx="9144000" cy="1655762"/>
          </a:xfrm>
        </p:spPr>
        <p:txBody>
          <a:bodyPr/>
          <a:lstStyle/>
          <a:p>
            <a:r>
              <a:rPr lang="en-US" altLang="zh-CN" dirty="0"/>
              <a:t>Spring 2026</a:t>
            </a:r>
          </a:p>
          <a:p>
            <a:r>
              <a:rPr lang="en-US" altLang="zh-CN" dirty="0" err="1"/>
              <a:t>Zhihua</a:t>
            </a:r>
            <a:r>
              <a:rPr lang="en-US" altLang="zh-CN" dirty="0"/>
              <a:t> Jiang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182" y="1061790"/>
            <a:ext cx="8933544" cy="307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09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740" y="372609"/>
            <a:ext cx="8609610" cy="606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68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12" y="738187"/>
            <a:ext cx="8562975" cy="5381625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>
          <a:xfrm flipV="1">
            <a:off x="3408218" y="3478221"/>
            <a:ext cx="297508" cy="72189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104" y="2913761"/>
            <a:ext cx="1994780" cy="192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984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158710" y="208498"/>
            <a:ext cx="8417626" cy="6318601"/>
            <a:chOff x="1158710" y="208498"/>
            <a:chExt cx="8417626" cy="6318601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8710" y="208498"/>
              <a:ext cx="6953250" cy="5419725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4386" y="5746049"/>
              <a:ext cx="7981950" cy="781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8007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905" y="623933"/>
            <a:ext cx="842010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43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86" y="717034"/>
            <a:ext cx="9860293" cy="534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834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58" y="934133"/>
            <a:ext cx="10173048" cy="344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011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65" y="777488"/>
            <a:ext cx="9063860" cy="346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377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263" y="568159"/>
            <a:ext cx="4479703" cy="116563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684" y="1539710"/>
            <a:ext cx="2971800" cy="27241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263" y="2134590"/>
            <a:ext cx="6528506" cy="187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826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469" y="4583752"/>
            <a:ext cx="8092043" cy="210286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919" y="565302"/>
            <a:ext cx="6383633" cy="371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816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759" y="583746"/>
            <a:ext cx="8077200" cy="36004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136" y="4529384"/>
            <a:ext cx="942022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146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81" y="925409"/>
            <a:ext cx="8805126" cy="479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27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406" y="408832"/>
            <a:ext cx="4972050" cy="11239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531" y="1532782"/>
            <a:ext cx="4511822" cy="405703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406" y="1799172"/>
            <a:ext cx="46958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315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37" y="472663"/>
            <a:ext cx="9677400" cy="13525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700" y="2092717"/>
            <a:ext cx="5374652" cy="410620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37" y="1996067"/>
            <a:ext cx="44577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6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71" y="857129"/>
            <a:ext cx="10653466" cy="253611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771" y="3994995"/>
            <a:ext cx="2800350" cy="12668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771" y="2883291"/>
            <a:ext cx="700087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350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540" y="1325632"/>
            <a:ext cx="7686675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205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543" y="818345"/>
            <a:ext cx="9008840" cy="254237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543" y="3726316"/>
            <a:ext cx="4764559" cy="176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02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589" y="1127784"/>
            <a:ext cx="9580723" cy="393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477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223" y="902525"/>
            <a:ext cx="9700986" cy="484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142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095" y="295460"/>
            <a:ext cx="8115300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485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607" y="2046187"/>
            <a:ext cx="3877094" cy="254956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615" y="454726"/>
            <a:ext cx="8582025" cy="23622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887865" y="4342490"/>
            <a:ext cx="8486775" cy="2107375"/>
            <a:chOff x="954539" y="4646592"/>
            <a:chExt cx="8486775" cy="2107375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1215" y="4646592"/>
              <a:ext cx="8353425" cy="76200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4539" y="5401417"/>
              <a:ext cx="8486775" cy="1352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6778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54" y="1191552"/>
            <a:ext cx="10033057" cy="447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7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516" y="823912"/>
            <a:ext cx="7050356" cy="189638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422" y="2820327"/>
            <a:ext cx="9231950" cy="264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373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938212"/>
            <a:ext cx="7277100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6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122" y="1590053"/>
            <a:ext cx="868680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630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982" y="1696501"/>
            <a:ext cx="10304267" cy="312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943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121" y="486889"/>
            <a:ext cx="9791831" cy="324196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273" y="3420341"/>
            <a:ext cx="5857875" cy="30099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95055" y="3728853"/>
            <a:ext cx="3408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Can deal with negative edges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604776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865" y="1861024"/>
            <a:ext cx="5415684" cy="45200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346" y="451324"/>
            <a:ext cx="7038975" cy="14097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346" y="4022271"/>
            <a:ext cx="138112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4996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176" y="581478"/>
            <a:ext cx="8566336" cy="3131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176" y="4025736"/>
            <a:ext cx="5012461" cy="230381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1372" y="4127003"/>
            <a:ext cx="3368407" cy="256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04240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601" y="1033153"/>
            <a:ext cx="10375420" cy="447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连接符 5"/>
          <p:cNvCxnSpPr/>
          <p:nvPr/>
        </p:nvCxnSpPr>
        <p:spPr>
          <a:xfrm flipV="1">
            <a:off x="3087584" y="4239491"/>
            <a:ext cx="2493819" cy="237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126801" y="1414026"/>
            <a:ext cx="4380016" cy="17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8047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04" y="795647"/>
            <a:ext cx="10378351" cy="5264851"/>
          </a:xfrm>
          <a:prstGeom prst="rect">
            <a:avLst/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1809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36" y="581890"/>
            <a:ext cx="10448950" cy="5357128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V="1">
            <a:off x="5023262" y="1876301"/>
            <a:ext cx="1116949" cy="118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3681351" y="2161309"/>
            <a:ext cx="783771" cy="11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841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41" y="2417635"/>
            <a:ext cx="7581840" cy="368547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019" y="381498"/>
            <a:ext cx="3323670" cy="300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187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103" y="916505"/>
            <a:ext cx="9958326" cy="190009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103" y="3305980"/>
            <a:ext cx="5131279" cy="150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272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implementations</a:t>
            </a:r>
            <a:endParaRPr lang="zh-CN" alt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8" name="灯片编号占位符 4"/>
          <p:cNvSpPr txBox="1">
            <a:spLocks noGrp="1"/>
          </p:cNvSpPr>
          <p:nvPr/>
        </p:nvSpPr>
        <p:spPr bwMode="auto">
          <a:xfrm>
            <a:off x="9653588" y="5734050"/>
            <a:ext cx="609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C6053EF8-789C-4D21-A194-74ABC548DC9A}" type="slidenum">
              <a:rPr lang="zh-CN" altLang="en-US" sz="1400" b="1">
                <a:solidFill>
                  <a:srgbClr val="FFFFFF"/>
                </a:solidFill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10243" name="内容占位符 2"/>
          <p:cNvSpPr>
            <a:spLocks/>
          </p:cNvSpPr>
          <p:nvPr/>
        </p:nvSpPr>
        <p:spPr bwMode="auto">
          <a:xfrm>
            <a:off x="838200" y="1593149"/>
            <a:ext cx="10728366" cy="484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running time of Dijkstra’s algorithm depends heavily on the priority queue implementation.</a:t>
            </a:r>
          </a:p>
        </p:txBody>
      </p:sp>
      <p:pic>
        <p:nvPicPr>
          <p:cNvPr id="5530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096" y="2954338"/>
            <a:ext cx="10472284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6411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sz="3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3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altLang="zh-C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heap</a:t>
            </a:r>
            <a:endParaRPr lang="zh-CN" alt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0426" name="Object 10"/>
          <p:cNvGraphicFramePr>
            <a:graphicFrameLocks noChangeAspect="1"/>
          </p:cNvGraphicFramePr>
          <p:nvPr/>
        </p:nvGraphicFramePr>
        <p:xfrm>
          <a:off x="5087939" y="2452688"/>
          <a:ext cx="44465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85255" imgH="177723" progId="Equation.DSMT4">
                  <p:embed/>
                </p:oleObj>
              </mc:Choice>
              <mc:Fallback>
                <p:oleObj name="Equation" r:id="rId3" imgW="1485255" imgH="177723" progId="Equation.DSMT4">
                  <p:embed/>
                  <p:pic>
                    <p:nvPicPr>
                      <p:cNvPr id="6042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9" y="2452688"/>
                        <a:ext cx="444658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1981200" y="1628775"/>
            <a:ext cx="7467600" cy="4845050"/>
            <a:chOff x="1981200" y="1628775"/>
            <a:chExt cx="7467600" cy="4845050"/>
          </a:xfrm>
        </p:grpSpPr>
        <p:sp>
          <p:nvSpPr>
            <p:cNvPr id="10243" name="内容占位符 2"/>
            <p:cNvSpPr>
              <a:spLocks/>
            </p:cNvSpPr>
            <p:nvPr/>
          </p:nvSpPr>
          <p:spPr bwMode="auto">
            <a:xfrm>
              <a:off x="1981200" y="1628775"/>
              <a:ext cx="7467600" cy="4845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73050" indent="-273050"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  <a:ea typeface="宋体" panose="02010600030101010101" pitchFamily="2" charset="-122"/>
                </a:defRPr>
              </a:lvl1pPr>
              <a:lvl2pPr marL="273050" indent="-2730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 sz="2000">
                  <a:solidFill>
                    <a:schemeClr val="tx1"/>
                  </a:solidFill>
                  <a:latin typeface="Century Schoolbook" panose="020406040505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Identical to a binary heap, except that nodes have </a:t>
              </a:r>
              <a:r>
                <a:rPr lang="en-US" altLang="zh-CN" i="1" dirty="0">
                  <a:latin typeface="Arial" panose="020B060402020202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d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 children.</a:t>
              </a:r>
            </a:p>
            <a:p>
              <a:pPr eaLnBrk="1" hangingPunct="1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The height of the tree:</a:t>
              </a:r>
            </a:p>
            <a:p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Insert/</a:t>
              </a:r>
              <a:r>
                <a:rPr lang="en-US" altLang="zh-CN" dirty="0" err="1">
                  <a:latin typeface="Arial" panose="020B060402020202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DecreaseKey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: speeded up,</a:t>
              </a:r>
            </a:p>
            <a:p>
              <a:pPr eaLnBrk="1" hangingPunct="1"/>
              <a:r>
                <a:rPr lang="en-US" altLang="zh-CN" dirty="0" err="1">
                  <a:latin typeface="Arial" panose="020B0604020202020204" pitchFamily="34" charset="0"/>
                  <a:cs typeface="Times New Roman" panose="02020603050405020304" pitchFamily="18" charset="0"/>
                  <a:sym typeface="Symbol" panose="05050102010706020507" pitchFamily="18" charset="2"/>
                </a:rPr>
                <a:t>DeleteMin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: take a longer time, </a:t>
              </a:r>
            </a:p>
            <a:p>
              <a:pPr lvl="1">
                <a:spcBef>
                  <a:spcPts val="600"/>
                </a:spcBef>
                <a:buSzPct val="70000"/>
                <a:buFont typeface="Wingdings" panose="05000000000000000000" pitchFamily="2" charset="2"/>
                <a:buChar char=""/>
              </a:pP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Total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: |</a:t>
              </a:r>
              <a:r>
                <a:rPr lang="en-US" altLang="zh-CN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V</a:t>
              </a:r>
              <a:r>
                <a:rPr lang="en-US" altLang="zh-CN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|DeleteMin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+|</a:t>
              </a:r>
              <a:r>
                <a:rPr lang="en-US" altLang="zh-CN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V</a:t>
              </a:r>
              <a:r>
                <a:rPr lang="en-US" altLang="zh-CN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|Insert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+|</a:t>
              </a:r>
              <a:r>
                <a:rPr lang="en-US" altLang="zh-CN" sz="2400" i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E</a:t>
              </a:r>
              <a:r>
                <a:rPr lang="en-US" altLang="zh-CN" sz="2400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|DecreaseKey</a:t>
              </a:r>
              <a:endPara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1" hangingPunct="1"/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1" hangingPunct="1"/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 eaLnBrk="1" hangingPunct="1"/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60427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4497626"/>
                </p:ext>
              </p:extLst>
            </p:nvPr>
          </p:nvGraphicFramePr>
          <p:xfrm>
            <a:off x="6812756" y="2895601"/>
            <a:ext cx="1785938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96641" imgH="177723" progId="Equation.DSMT4">
                    <p:embed/>
                  </p:oleObj>
                </mc:Choice>
                <mc:Fallback>
                  <p:oleObj name="Equation" r:id="rId5" imgW="596641" imgH="177723" progId="Equation.DSMT4">
                    <p:embed/>
                    <p:pic>
                      <p:nvPicPr>
                        <p:cNvPr id="60427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2756" y="2895601"/>
                          <a:ext cx="1785938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28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7676174"/>
                </p:ext>
              </p:extLst>
            </p:nvPr>
          </p:nvGraphicFramePr>
          <p:xfrm>
            <a:off x="6303169" y="3338514"/>
            <a:ext cx="2016125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672516" imgH="177646" progId="Equation.DSMT4">
                    <p:embed/>
                  </p:oleObj>
                </mc:Choice>
                <mc:Fallback>
                  <p:oleObj name="Equation" r:id="rId7" imgW="672516" imgH="177646" progId="Equation.DSMT4">
                    <p:embed/>
                    <p:pic>
                      <p:nvPicPr>
                        <p:cNvPr id="6042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3169" y="3338514"/>
                          <a:ext cx="2016125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10"/>
          <p:cNvGraphicFramePr>
            <a:graphicFrameLocks noChangeAspect="1"/>
          </p:cNvGraphicFramePr>
          <p:nvPr/>
        </p:nvGraphicFramePr>
        <p:xfrm>
          <a:off x="2901951" y="4284663"/>
          <a:ext cx="6081713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32000" imgH="355600" progId="Equation.DSMT4">
                  <p:embed/>
                </p:oleObj>
              </mc:Choice>
              <mc:Fallback>
                <p:oleObj name="Equation" r:id="rId9" imgW="2032000" imgH="355600" progId="Equation.DSMT4">
                  <p:embed/>
                  <p:pic>
                    <p:nvPicPr>
                      <p:cNvPr id="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951" y="4284663"/>
                        <a:ext cx="6081713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9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269206" y="1269205"/>
            <a:ext cx="8308181" cy="4250532"/>
            <a:chOff x="1269206" y="1269205"/>
            <a:chExt cx="8308181" cy="425053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14612" y="1338262"/>
              <a:ext cx="6962775" cy="4181475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9206" y="1269205"/>
              <a:ext cx="4667250" cy="676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81057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858" y="324778"/>
            <a:ext cx="6457950" cy="36671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494" y="4147271"/>
            <a:ext cx="8372475" cy="10572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494" y="5359914"/>
            <a:ext cx="841057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6954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4" y="1519237"/>
            <a:ext cx="9549419" cy="393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749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92969" y="1335880"/>
            <a:ext cx="9584531" cy="828675"/>
            <a:chOff x="892969" y="1335880"/>
            <a:chExt cx="9584531" cy="82867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2969" y="1335880"/>
              <a:ext cx="6934200" cy="828675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3825" y="1585912"/>
              <a:ext cx="2733675" cy="571500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1507332" y="2721769"/>
            <a:ext cx="6591300" cy="2400300"/>
            <a:chOff x="1507332" y="2721769"/>
            <a:chExt cx="6591300" cy="240030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7332" y="2721769"/>
              <a:ext cx="6591300" cy="2400300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>
            <a:xfrm>
              <a:off x="1855694" y="4518212"/>
              <a:ext cx="5971475" cy="6038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79667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182" y="1163782"/>
            <a:ext cx="9592018" cy="404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21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330" y="539337"/>
            <a:ext cx="9997970" cy="14675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030" y="2560184"/>
            <a:ext cx="6209023" cy="361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013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51" y="796637"/>
            <a:ext cx="10377590" cy="520040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208322" y="4346369"/>
            <a:ext cx="3728852" cy="3918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9436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05" y="606630"/>
            <a:ext cx="10058402" cy="287382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865" y="3634839"/>
            <a:ext cx="3664590" cy="303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139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445" y="162049"/>
            <a:ext cx="8324850" cy="64389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3277590" y="5153891"/>
            <a:ext cx="6650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7849590" y="1508166"/>
            <a:ext cx="688768" cy="11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3281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601" y="824717"/>
            <a:ext cx="9278813" cy="525545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3716977" y="3954483"/>
            <a:ext cx="9025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8348353" y="4001984"/>
            <a:ext cx="855024" cy="11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1875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</a:t>
            </a:r>
            <a:endParaRPr lang="zh-CN" alt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00052"/>
            <a:ext cx="10747791" cy="394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/>
        </p:nvCxnSpPr>
        <p:spPr>
          <a:xfrm flipV="1">
            <a:off x="4215740" y="3194462"/>
            <a:ext cx="7138060" cy="237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00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724730" y="780677"/>
            <a:ext cx="10841835" cy="5441993"/>
            <a:chOff x="855360" y="543171"/>
            <a:chExt cx="10398084" cy="5260525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8556" y="543171"/>
              <a:ext cx="10314888" cy="2330657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5360" y="2753591"/>
              <a:ext cx="10398084" cy="3050105"/>
            </a:xfrm>
            <a:prstGeom prst="rect">
              <a:avLst/>
            </a:prstGeom>
          </p:spPr>
        </p:pic>
      </p:grpSp>
      <p:cxnSp>
        <p:nvCxnSpPr>
          <p:cNvPr id="3" name="直接连接符 2"/>
          <p:cNvCxnSpPr/>
          <p:nvPr/>
        </p:nvCxnSpPr>
        <p:spPr>
          <a:xfrm flipV="1">
            <a:off x="6685808" y="1769424"/>
            <a:ext cx="3633849" cy="11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270171" y="4548249"/>
            <a:ext cx="2446317" cy="118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7813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灯片编号占位符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05A59E9-AA38-4852-8ACE-86801EB7A63C}" type="slidenum">
              <a:rPr lang="zh-CN" altLang="en-US">
                <a:solidFill>
                  <a:srgbClr val="FFFFFF"/>
                </a:solidFill>
                <a:latin typeface="Century Schoolbook" panose="02040604050505020304" pitchFamily="18" charset="0"/>
              </a:rPr>
              <a:pPr/>
              <a:t>50</a:t>
            </a:fld>
            <a:endParaRPr lang="en-US" altLang="zh-CN">
              <a:solidFill>
                <a:srgbClr val="FFFFFF"/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15365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791738" y="-9604375"/>
            <a:ext cx="6110288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49" y="617517"/>
            <a:ext cx="10232299" cy="5757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97235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灯片编号占位符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F8D830A-0344-44B4-A291-1B5E5CF55C1A}" type="slidenum">
              <a:rPr lang="zh-CN" altLang="en-US">
                <a:solidFill>
                  <a:srgbClr val="FFFFFF"/>
                </a:solidFill>
                <a:latin typeface="Century Schoolbook" panose="02040604050505020304" pitchFamily="18" charset="0"/>
              </a:rPr>
              <a:pPr/>
              <a:t>51</a:t>
            </a:fld>
            <a:endParaRPr lang="en-US" altLang="zh-CN">
              <a:solidFill>
                <a:srgbClr val="FFFFFF"/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16388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36" y="665018"/>
            <a:ext cx="10112159" cy="5691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3347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3113</TotalTime>
  <Words>199</Words>
  <Application>Microsoft Office PowerPoint</Application>
  <PresentationFormat>宽屏</PresentationFormat>
  <Paragraphs>36</Paragraphs>
  <Slides>51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59" baseType="lpstr">
      <vt:lpstr>等线</vt:lpstr>
      <vt:lpstr>等线 Light</vt:lpstr>
      <vt:lpstr>Arial</vt:lpstr>
      <vt:lpstr>Century Schoolbook</vt:lpstr>
      <vt:lpstr>Times New Roman</vt:lpstr>
      <vt:lpstr>Wingdings</vt:lpstr>
      <vt:lpstr>Office 主题​​</vt:lpstr>
      <vt:lpstr>Equation</vt:lpstr>
      <vt:lpstr>  Lecture 05  BFS / DFS / Shortest paths problem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Priority queue implementations</vt:lpstr>
      <vt:lpstr>d-ary heap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Exercise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Introduction and Peak Finding</dc:title>
  <dc:creator>r</dc:creator>
  <cp:lastModifiedBy>by 的</cp:lastModifiedBy>
  <cp:revision>225</cp:revision>
  <dcterms:created xsi:type="dcterms:W3CDTF">2020-02-26T01:48:00Z</dcterms:created>
  <dcterms:modified xsi:type="dcterms:W3CDTF">2026-07-10T00:26:22Z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