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70" r:id="rId10"/>
    <p:sldId id="271" r:id="rId11"/>
    <p:sldId id="304" r:id="rId12"/>
    <p:sldId id="305" r:id="rId13"/>
    <p:sldId id="320" r:id="rId14"/>
    <p:sldId id="321" r:id="rId15"/>
    <p:sldId id="322" r:id="rId16"/>
    <p:sldId id="323" r:id="rId17"/>
    <p:sldId id="319" r:id="rId18"/>
    <p:sldId id="308" r:id="rId19"/>
    <p:sldId id="309" r:id="rId20"/>
    <p:sldId id="310" r:id="rId21"/>
    <p:sldId id="311" r:id="rId22"/>
    <p:sldId id="312" r:id="rId23"/>
    <p:sldId id="313" r:id="rId24"/>
    <p:sldId id="328" r:id="rId25"/>
    <p:sldId id="329" r:id="rId26"/>
    <p:sldId id="330" r:id="rId27"/>
    <p:sldId id="331" r:id="rId28"/>
    <p:sldId id="332" r:id="rId29"/>
    <p:sldId id="333" r:id="rId30"/>
    <p:sldId id="334" r:id="rId31"/>
    <p:sldId id="339" r:id="rId32"/>
    <p:sldId id="340" r:id="rId33"/>
    <p:sldId id="341" r:id="rId34"/>
    <p:sldId id="342" r:id="rId35"/>
    <p:sldId id="324" r:id="rId36"/>
    <p:sldId id="325" r:id="rId37"/>
    <p:sldId id="335" r:id="rId38"/>
    <p:sldId id="336" r:id="rId39"/>
    <p:sldId id="314" r:id="rId40"/>
    <p:sldId id="343" r:id="rId41"/>
    <p:sldId id="315" r:id="rId42"/>
    <p:sldId id="344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729" autoAdjust="0"/>
  </p:normalViewPr>
  <p:slideViewPr>
    <p:cSldViewPr snapToGrid="0">
      <p:cViewPr varScale="1">
        <p:scale>
          <a:sx n="147" d="100"/>
          <a:sy n="147" d="100"/>
        </p:scale>
        <p:origin x="79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F1BA8-8E18-44BA-A405-92BE9FDA6A62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9405F-8828-42B2-A6C8-682952DD0A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99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flooring(n/2)=(n-1)/2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138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#tree = (n-1)!=omega(2^(n-1))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363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s=n-1 &lt;-&gt; </a:t>
            </a:r>
            <a:r>
              <a:rPr lang="en-US" altLang="zh-CN" dirty="0" err="1"/>
              <a:t>i</a:t>
            </a:r>
            <a:r>
              <a:rPr lang="en-US" altLang="zh-CN" dirty="0"/>
              <a:t>=1, j=n</a:t>
            </a:r>
          </a:p>
          <a:p>
            <a:endParaRPr lang="en-US" altLang="zh-CN" dirty="0"/>
          </a:p>
          <a:p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=1 to n</a:t>
            </a:r>
          </a:p>
          <a:p>
            <a:r>
              <a:rPr lang="en-US" altLang="zh-CN" dirty="0"/>
              <a:t>     for j=i+1</a:t>
            </a:r>
            <a:r>
              <a:rPr lang="en-US" altLang="zh-CN" baseline="0" dirty="0"/>
              <a:t> to n</a:t>
            </a:r>
          </a:p>
          <a:p>
            <a:r>
              <a:rPr lang="en-US" altLang="zh-CN" baseline="0" dirty="0"/>
              <a:t>wrong ordering!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for s=1 to n-1</a:t>
            </a:r>
          </a:p>
          <a:p>
            <a:r>
              <a:rPr lang="en-US" altLang="zh-CN" baseline="0" dirty="0"/>
              <a:t>    for I =1 to n-s</a:t>
            </a:r>
          </a:p>
          <a:p>
            <a:r>
              <a:rPr lang="en-US" altLang="zh-CN" baseline="0" dirty="0"/>
              <a:t>       j=</a:t>
            </a:r>
            <a:r>
              <a:rPr lang="en-US" altLang="zh-CN" baseline="0" dirty="0" err="1"/>
              <a:t>i+s</a:t>
            </a:r>
            <a:endParaRPr lang="en-US" altLang="zh-CN" baseline="0" dirty="0"/>
          </a:p>
          <a:p>
            <a:r>
              <a:rPr lang="en-US" altLang="zh-CN" baseline="0" dirty="0"/>
              <a:t>s + 1 = length(chain)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80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Worst-case of substitution: SANOWY </a:t>
            </a:r>
            <a:r>
              <a:rPr lang="en-US" altLang="zh-CN" dirty="0">
                <a:sym typeface="Wingdings" panose="05000000000000000000" pitchFamily="2" charset="2"/>
              </a:rPr>
              <a:t> SNOWY, cost=1 (1 insertion)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638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977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left: pick</a:t>
            </a:r>
            <a:r>
              <a:rPr lang="en-US" altLang="zh-CN" baseline="0" dirty="0"/>
              <a:t> itself</a:t>
            </a:r>
          </a:p>
          <a:p>
            <a:r>
              <a:rPr lang="en-US" altLang="zh-CN" baseline="0" dirty="0"/>
              <a:t>right: pick all children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559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/>
              <a:t>palindromic</a:t>
            </a:r>
          </a:p>
          <a:p>
            <a:r>
              <a:rPr lang="zh-CN" altLang="en-US" dirty="0"/>
              <a:t>英 </a:t>
            </a:r>
            <a:r>
              <a:rPr lang="en-US" altLang="zh-CN" dirty="0"/>
              <a:t>[ˌ</a:t>
            </a:r>
            <a:r>
              <a:rPr lang="en-US" altLang="zh-CN" dirty="0" err="1"/>
              <a:t>pælɪn'drɒmɪk</a:t>
            </a:r>
            <a:r>
              <a:rPr lang="en-US" altLang="zh-CN" dirty="0"/>
              <a:t>]</a:t>
            </a:r>
          </a:p>
          <a:p>
            <a:endParaRPr lang="en-US" altLang="zh-CN" dirty="0"/>
          </a:p>
          <a:p>
            <a:r>
              <a:rPr lang="en-US" altLang="zh-CN" dirty="0"/>
              <a:t>symmetric</a:t>
            </a:r>
            <a:endParaRPr lang="zh-CN" altLang="en-US" dirty="0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477DBB-E47E-436F-B9A5-A832536E9563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04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palindromic</a:t>
            </a:r>
          </a:p>
          <a:p>
            <a:r>
              <a:rPr lang="zh-CN" altLang="en-US"/>
              <a:t>英 </a:t>
            </a:r>
            <a:r>
              <a:rPr lang="en-US" altLang="zh-CN"/>
              <a:t>[ˌpælɪn'drɒmɪk]</a:t>
            </a:r>
          </a:p>
          <a:p>
            <a:endParaRPr lang="zh-CN" altLang="en-US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E228F17-9882-4E78-B4A9-50A4D0544519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333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116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5,15,-30,10,-5,40,10</a:t>
            </a:r>
            <a:endParaRPr lang="zh-CN" altLang="en-US" dirty="0"/>
          </a:p>
          <a:p>
            <a:r>
              <a:rPr lang="en-US" altLang="zh-CN" dirty="0"/>
              <a:t>D(1)=5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D(1)=20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D(1)=0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D(1)=10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D(1)=5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D(1)=45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D(1)=55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520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13D92-891B-4775-A595-979556C3FA84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718602"/>
            <a:ext cx="9686306" cy="2387600"/>
          </a:xfrm>
        </p:spPr>
        <p:txBody>
          <a:bodyPr>
            <a:normAutofit/>
          </a:bodyPr>
          <a:lstStyle/>
          <a:p>
            <a:br>
              <a:rPr lang="zh-CN" altLang="en-US" dirty="0"/>
            </a:br>
            <a:r>
              <a:rPr lang="en-US" altLang="zh-CN" dirty="0"/>
              <a:t> </a:t>
            </a:r>
            <a:r>
              <a:rPr lang="en-US" altLang="zh-CN" sz="4000" dirty="0"/>
              <a:t>Lecture 04 </a:t>
            </a:r>
            <a:br>
              <a:rPr lang="en-US" altLang="zh-CN" sz="4000" dirty="0"/>
            </a:br>
            <a:r>
              <a:rPr lang="en-US" altLang="zh-CN" sz="4000" dirty="0"/>
              <a:t>Dynamic programming </a:t>
            </a:r>
            <a:endParaRPr lang="zh-CN" altLang="en-US" sz="4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875171"/>
            <a:ext cx="9144000" cy="1655762"/>
          </a:xfrm>
        </p:spPr>
        <p:txBody>
          <a:bodyPr/>
          <a:lstStyle/>
          <a:p>
            <a:r>
              <a:rPr lang="en-US" altLang="zh-CN" dirty="0"/>
              <a:t>Spring 2026</a:t>
            </a:r>
          </a:p>
          <a:p>
            <a:r>
              <a:rPr lang="en-US" altLang="zh-CN" dirty="0" err="1"/>
              <a:t>Zhihua</a:t>
            </a:r>
            <a:r>
              <a:rPr lang="en-US" altLang="zh-CN" dirty="0"/>
              <a:t> Jiang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22" y="1029126"/>
            <a:ext cx="9918285" cy="396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031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045" y="853318"/>
            <a:ext cx="7353598" cy="174138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045" y="2692567"/>
            <a:ext cx="5946522" cy="299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871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719281" y="491847"/>
            <a:ext cx="5958246" cy="4172396"/>
            <a:chOff x="574901" y="474345"/>
            <a:chExt cx="6600825" cy="4563563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0565" y="474345"/>
              <a:ext cx="4340406" cy="1216767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4901" y="1837508"/>
              <a:ext cx="6600825" cy="3200400"/>
            </a:xfrm>
            <a:prstGeom prst="rect">
              <a:avLst/>
            </a:prstGeom>
          </p:spPr>
        </p:pic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3578" y="1934644"/>
            <a:ext cx="3738983" cy="295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119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79" y="1649533"/>
            <a:ext cx="7113853" cy="287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633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589679" y="1643402"/>
            <a:ext cx="10387132" cy="2940630"/>
            <a:chOff x="589679" y="1643402"/>
            <a:chExt cx="10387132" cy="2940630"/>
          </a:xfrm>
        </p:grpSpPr>
        <p:grpSp>
          <p:nvGrpSpPr>
            <p:cNvPr id="4" name="组合 3"/>
            <p:cNvGrpSpPr/>
            <p:nvPr/>
          </p:nvGrpSpPr>
          <p:grpSpPr>
            <a:xfrm>
              <a:off x="589679" y="1643402"/>
              <a:ext cx="10387132" cy="2940630"/>
              <a:chOff x="361079" y="1587254"/>
              <a:chExt cx="11282364" cy="3212748"/>
            </a:xfrm>
          </p:grpSpPr>
          <p:pic>
            <p:nvPicPr>
              <p:cNvPr id="2" name="图片 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1079" y="1587254"/>
                <a:ext cx="11282364" cy="3212748"/>
              </a:xfrm>
              <a:prstGeom prst="rect">
                <a:avLst/>
              </a:prstGeom>
            </p:spPr>
          </p:pic>
          <p:sp>
            <p:nvSpPr>
              <p:cNvPr id="3" name="圆角矩形 2"/>
              <p:cNvSpPr/>
              <p:nvPr/>
            </p:nvSpPr>
            <p:spPr>
              <a:xfrm>
                <a:off x="2695074" y="3928858"/>
                <a:ext cx="6733309" cy="371886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9986211" y="3757863"/>
              <a:ext cx="902368" cy="3368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421617" y="4169055"/>
              <a:ext cx="1347461" cy="355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9662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07" y="1247954"/>
            <a:ext cx="8084699" cy="354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89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997" y="1014037"/>
            <a:ext cx="9360187" cy="418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43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368879" y="464547"/>
            <a:ext cx="9412332" cy="5735955"/>
            <a:chOff x="1516925" y="717096"/>
            <a:chExt cx="8415338" cy="5065714"/>
          </a:xfrm>
        </p:grpSpPr>
        <p:grpSp>
          <p:nvGrpSpPr>
            <p:cNvPr id="5" name="组合 4"/>
            <p:cNvGrpSpPr/>
            <p:nvPr/>
          </p:nvGrpSpPr>
          <p:grpSpPr>
            <a:xfrm>
              <a:off x="1516925" y="717096"/>
              <a:ext cx="8415338" cy="5065714"/>
              <a:chOff x="1847850" y="1457325"/>
              <a:chExt cx="8415338" cy="5065714"/>
            </a:xfrm>
          </p:grpSpPr>
          <p:pic>
            <p:nvPicPr>
              <p:cNvPr id="25605" name="图片 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9288" y="1457325"/>
                <a:ext cx="8286750" cy="1676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606" name="图片 4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7850" y="3198814"/>
                <a:ext cx="8415338" cy="3324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" name="矩形 5"/>
            <p:cNvSpPr/>
            <p:nvPr/>
          </p:nvSpPr>
          <p:spPr>
            <a:xfrm>
              <a:off x="4396650" y="3480934"/>
              <a:ext cx="2520950" cy="5762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885351" y="4849359"/>
              <a:ext cx="2016125" cy="3603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2623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045029" y="357052"/>
            <a:ext cx="9936480" cy="5965371"/>
            <a:chOff x="1774826" y="1603376"/>
            <a:chExt cx="8488363" cy="4849813"/>
          </a:xfrm>
        </p:grpSpPr>
        <p:pic>
          <p:nvPicPr>
            <p:cNvPr id="26629" name="图片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4826" y="1603376"/>
              <a:ext cx="8488363" cy="4849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" name="直接连接符 4"/>
            <p:cNvCxnSpPr/>
            <p:nvPr/>
          </p:nvCxnSpPr>
          <p:spPr>
            <a:xfrm>
              <a:off x="3575050" y="3213100"/>
              <a:ext cx="554513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31" name="文本框 6"/>
            <p:cNvSpPr txBox="1">
              <a:spLocks noChangeArrowheads="1"/>
            </p:cNvSpPr>
            <p:nvPr/>
          </p:nvSpPr>
          <p:spPr bwMode="auto">
            <a:xfrm>
              <a:off x="4374065" y="3236912"/>
              <a:ext cx="215900" cy="3381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600" dirty="0"/>
                <a:t>8</a:t>
              </a:r>
              <a:endParaRPr lang="zh-CN" altLang="en-US" sz="1600" dirty="0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3727451" y="4149725"/>
              <a:ext cx="4240213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5413376" y="4724400"/>
              <a:ext cx="4240213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7667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249" y="974046"/>
            <a:ext cx="8943975" cy="488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3073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283" y="827658"/>
            <a:ext cx="7920038" cy="537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0844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matrix multiplication</a:t>
            </a:r>
            <a:endParaRPr lang="zh-CN" alt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43" name="内容占位符 2"/>
          <p:cNvSpPr>
            <a:spLocks noGrp="1"/>
          </p:cNvSpPr>
          <p:nvPr>
            <p:ph sz="quarter" idx="4294967295"/>
          </p:nvPr>
        </p:nvSpPr>
        <p:spPr>
          <a:xfrm>
            <a:off x="1981200" y="1600201"/>
            <a:ext cx="8002588" cy="4873625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Problem: multiply four matrices</a:t>
            </a:r>
          </a:p>
        </p:txBody>
      </p:sp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05038"/>
            <a:ext cx="9144000" cy="465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406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matrix multiplication</a:t>
            </a:r>
            <a:endParaRPr lang="zh-CN" alt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67" name="内容占位符 2"/>
          <p:cNvSpPr>
            <a:spLocks noGrp="1"/>
          </p:cNvSpPr>
          <p:nvPr>
            <p:ph sz="quarter" idx="4294967295"/>
          </p:nvPr>
        </p:nvSpPr>
        <p:spPr>
          <a:xfrm>
            <a:off x="1981200" y="1600201"/>
            <a:ext cx="8002588" cy="4873625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Matrix multiplication is associative.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Compute the product of four matrices in many different ways, depending on how parenthesize it.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Multiplying an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matrix by an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matrix takes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mnp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number multiplications.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 order of multiplications makes a big difference in the final running time.</a:t>
            </a:r>
          </a:p>
        </p:txBody>
      </p:sp>
      <p:pic>
        <p:nvPicPr>
          <p:cNvPr id="36869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514" y="4965701"/>
            <a:ext cx="7683500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6387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3900">
                <a:latin typeface="Times New Roman" panose="02020603050405020304" pitchFamily="18" charset="0"/>
                <a:cs typeface="Times New Roman" panose="02020603050405020304" pitchFamily="18" charset="0"/>
              </a:rPr>
              <a:t>6.5 Chain matrix multiplication</a:t>
            </a:r>
            <a:endParaRPr lang="zh-CN" altLang="en-US" sz="3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1" name="内容占位符 2"/>
          <p:cNvSpPr>
            <a:spLocks noGrp="1"/>
          </p:cNvSpPr>
          <p:nvPr>
            <p:ph sz="quarter" idx="4294967295"/>
          </p:nvPr>
        </p:nvSpPr>
        <p:spPr>
          <a:xfrm>
            <a:off x="1981200" y="1600201"/>
            <a:ext cx="8002588" cy="4873625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How to determine the optimal order for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</a:t>
            </a:r>
            <a:r>
              <a: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… 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where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with dimension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i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i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?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particular parenthesization = a binary tree</a:t>
            </a:r>
          </a:p>
          <a:p>
            <a:pPr marL="742950" lvl="1" indent="-285750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Leaf: matrix</a:t>
            </a:r>
          </a:p>
          <a:p>
            <a:pPr marL="742950" lvl="1" indent="-285750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Root: product</a:t>
            </a:r>
          </a:p>
          <a:p>
            <a:pPr marL="742950" lvl="1" indent="-285750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Interior node: intermediate product</a:t>
            </a:r>
          </a:p>
          <a:p>
            <a:pPr marL="742950" lvl="1" indent="-285750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 number of binary trees is exponential in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leaves)</a:t>
            </a:r>
          </a:p>
          <a:p>
            <a:pPr eaLnBrk="1" hangingPunct="1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3789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793" y="4476729"/>
            <a:ext cx="6421223" cy="2249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441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matrix multiplication</a:t>
            </a:r>
            <a:endParaRPr lang="zh-CN" alt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4" name="内容占位符 2"/>
          <p:cNvSpPr>
            <a:spLocks noGrp="1"/>
          </p:cNvSpPr>
          <p:nvPr>
            <p:ph sz="quarter" idx="4294967295"/>
          </p:nvPr>
        </p:nvSpPr>
        <p:spPr>
          <a:xfrm>
            <a:off x="1109132" y="1430100"/>
            <a:ext cx="8792635" cy="48736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optimal substructure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property: for a tree to be optimal, its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subtree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must also be optimal.</a:t>
            </a:r>
          </a:p>
          <a:p>
            <a:pPr eaLnBrk="1" hangingPunct="1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Subproblem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corresponding to a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subtree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product of the form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… 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For 1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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the optimal value array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= minimum cost of multiplying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… 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 splitting point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split the product into two pieces, of the form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… 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… 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 total cost is the cost of these two partial products plus the cost of combining them </a:t>
            </a:r>
          </a:p>
        </p:txBody>
      </p:sp>
      <p:graphicFrame>
        <p:nvGraphicFramePr>
          <p:cNvPr id="51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979144"/>
              </p:ext>
            </p:extLst>
          </p:nvPr>
        </p:nvGraphicFramePr>
        <p:xfrm>
          <a:off x="2516980" y="5996570"/>
          <a:ext cx="597693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49500" imgH="279400" progId="Equation.DSMT4">
                  <p:embed/>
                </p:oleObj>
              </mc:Choice>
              <mc:Fallback>
                <p:oleObj name="Equation" r:id="rId2" imgW="23495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980" y="5996570"/>
                        <a:ext cx="5976938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457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42" y="2358497"/>
            <a:ext cx="10812992" cy="33600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6600" y="956733"/>
            <a:ext cx="101684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How to determine the optimal order for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…  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where 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with dimension 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?</a:t>
            </a: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821440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distance</a:t>
            </a:r>
            <a:endParaRPr lang="zh-CN" alt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7" name="内容占位符 2"/>
          <p:cNvSpPr>
            <a:spLocks noGrp="1"/>
          </p:cNvSpPr>
          <p:nvPr>
            <p:ph sz="quarter" idx="4294967295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distance between two strings: the extent to which they can be aligned.</a:t>
            </a:r>
          </a:p>
          <a:p>
            <a:pPr algn="just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SNOWY vs. SUNNY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zh-CN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 alignment: the number of columns in which the letters differ.</a:t>
            </a:r>
          </a:p>
          <a:p>
            <a:pPr algn="just" eaLnBrk="1" hangingPunct="1"/>
            <a:r>
              <a:rPr lang="en-US" altLang="zh-CN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distance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cost of their best alignment, i.e., the minimum number of edits – insertions, deletions, and substitutions – needed to transform the first string into the second string.</a:t>
            </a:r>
          </a:p>
        </p:txBody>
      </p:sp>
      <p:sp>
        <p:nvSpPr>
          <p:cNvPr id="21509" name="灯片编号占位符 4"/>
          <p:cNvSpPr txBox="1">
            <a:spLocks noGrp="1"/>
          </p:cNvSpPr>
          <p:nvPr/>
        </p:nvSpPr>
        <p:spPr bwMode="auto">
          <a:xfrm>
            <a:off x="9653588" y="5734050"/>
            <a:ext cx="609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BCBC1339-4C17-486A-8797-6A74B3E669F4}" type="slidenum">
              <a:rPr lang="zh-CN" altLang="en-US" sz="1400" b="1">
                <a:solidFill>
                  <a:srgbClr val="FFFFFF"/>
                </a:solidFill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zh-CN" altLang="en-US" sz="1400" b="1">
              <a:solidFill>
                <a:srgbClr val="FFFFFF"/>
              </a:solidFill>
            </a:endParaRPr>
          </a:p>
        </p:txBody>
      </p:sp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2924175"/>
            <a:ext cx="66040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6121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distance</a:t>
            </a:r>
            <a:endParaRPr lang="zh-CN" alt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1" name="内容占位符 2"/>
          <p:cNvSpPr>
            <a:spLocks noGrp="1"/>
          </p:cNvSpPr>
          <p:nvPr>
            <p:ph sz="quarter" idx="4294967295"/>
          </p:nvPr>
        </p:nvSpPr>
        <p:spPr>
          <a:xfrm>
            <a:off x="1083412" y="1600201"/>
            <a:ext cx="9987799" cy="5082610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subproblems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742950" lvl="1" indent="-285750" algn="just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Property: there is an ordering on the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subproblems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relation that shows how to solve a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subproblem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given the answers to “smaller”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subproblems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subproblems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appear earlier in the ordering.</a:t>
            </a:r>
          </a:p>
          <a:p>
            <a:pPr marL="742950" lvl="1" indent="-285750" algn="just"/>
            <a:r>
              <a:rPr lang="en-US" altLang="zh-CN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Subproblem</a:t>
            </a:r>
            <a:r>
              <a:rPr lang="en-US" altLang="zh-C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edit distance between some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first string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[1..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and some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second string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[1..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22533" name="灯片编号占位符 4"/>
          <p:cNvSpPr txBox="1">
            <a:spLocks noGrp="1"/>
          </p:cNvSpPr>
          <p:nvPr/>
        </p:nvSpPr>
        <p:spPr bwMode="auto">
          <a:xfrm>
            <a:off x="9653588" y="5734050"/>
            <a:ext cx="609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F81A5042-BCCE-45B8-93E3-F3D23890C2A2}" type="slidenum">
              <a:rPr lang="zh-CN" altLang="en-US" sz="1400" b="1">
                <a:solidFill>
                  <a:srgbClr val="FFFFFF"/>
                </a:solidFill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zh-CN" altLang="en-US" sz="1400" b="1">
              <a:solidFill>
                <a:srgbClr val="FFFFFF"/>
              </a:solidFill>
            </a:endParaRPr>
          </a:p>
        </p:txBody>
      </p:sp>
      <p:pic>
        <p:nvPicPr>
          <p:cNvPr id="2253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546" y="5053806"/>
            <a:ext cx="4443412" cy="136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9666" y="4628161"/>
            <a:ext cx="286861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8434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distance</a:t>
            </a:r>
            <a:endParaRPr lang="zh-CN" alt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5" name="内容占位符 2"/>
          <p:cNvSpPr>
            <a:spLocks noGrp="1"/>
          </p:cNvSpPr>
          <p:nvPr>
            <p:ph sz="quarter" idx="4294967295"/>
          </p:nvPr>
        </p:nvSpPr>
        <p:spPr>
          <a:xfrm>
            <a:off x="838200" y="1633174"/>
            <a:ext cx="10515600" cy="4351338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problems for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-1,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-1),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-1,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-1)</a:t>
            </a:r>
          </a:p>
        </p:txBody>
      </p:sp>
      <p:sp>
        <p:nvSpPr>
          <p:cNvPr id="23557" name="灯片编号占位符 4"/>
          <p:cNvSpPr txBox="1">
            <a:spLocks noGrp="1"/>
          </p:cNvSpPr>
          <p:nvPr/>
        </p:nvSpPr>
        <p:spPr bwMode="auto">
          <a:xfrm>
            <a:off x="9653588" y="5926997"/>
            <a:ext cx="609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2E5D1B2E-AF90-4DE1-88C7-33C9F78011E0}" type="slidenum">
              <a:rPr lang="zh-CN" altLang="en-US" sz="1400" b="1">
                <a:solidFill>
                  <a:srgbClr val="FFFFFF"/>
                </a:solidFill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zh-CN" altLang="en-US" sz="1400" b="1">
              <a:solidFill>
                <a:srgbClr val="FFFFFF"/>
              </a:solidFill>
            </a:endParaRPr>
          </a:p>
        </p:txBody>
      </p:sp>
      <p:pic>
        <p:nvPicPr>
          <p:cNvPr id="2355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075" y="2253522"/>
            <a:ext cx="489585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559" name="Object 10"/>
          <p:cNvGraphicFramePr>
            <a:graphicFrameLocks noChangeAspect="1"/>
          </p:cNvGraphicFramePr>
          <p:nvPr/>
        </p:nvGraphicFramePr>
        <p:xfrm>
          <a:off x="2103439" y="3406047"/>
          <a:ext cx="8135937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8000" imgH="533400" progId="Equation.DSMT4">
                  <p:embed/>
                </p:oleObj>
              </mc:Choice>
              <mc:Fallback>
                <p:oleObj name="Equation" r:id="rId3" imgW="3048000" imgH="533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439" y="3406047"/>
                        <a:ext cx="8135937" cy="15113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560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5926998"/>
            <a:ext cx="4938713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1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5206273"/>
            <a:ext cx="6840537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29" name="AutoShape 13"/>
          <p:cNvSpPr>
            <a:spLocks noChangeArrowheads="1"/>
          </p:cNvSpPr>
          <p:nvPr/>
        </p:nvSpPr>
        <p:spPr bwMode="auto">
          <a:xfrm>
            <a:off x="6881813" y="3979136"/>
            <a:ext cx="3097212" cy="936625"/>
          </a:xfrm>
          <a:prstGeom prst="ellipseRibbon2">
            <a:avLst>
              <a:gd name="adj1" fmla="val 25000"/>
              <a:gd name="adj2" fmla="val 50000"/>
              <a:gd name="adj3" fmla="val 12500"/>
            </a:avLst>
          </a:prstGeom>
          <a:noFill/>
          <a:ln w="25400">
            <a:solidFill>
              <a:schemeClr val="accent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CN" dirty="0"/>
              <a:t>Try all and</a:t>
            </a:r>
          </a:p>
          <a:p>
            <a:pPr algn="ctr" eaLnBrk="1" hangingPunct="1">
              <a:defRPr/>
            </a:pPr>
            <a:r>
              <a:rPr lang="en-US" altLang="zh-CN" dirty="0"/>
              <a:t>Pick best!</a:t>
            </a:r>
          </a:p>
        </p:txBody>
      </p:sp>
    </p:spTree>
    <p:extLst>
      <p:ext uri="{BB962C8B-B14F-4D97-AF65-F5344CB8AC3E}">
        <p14:creationId xmlns:p14="http://schemas.microsoft.com/office/powerpoint/2010/main" val="9144042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distance</a:t>
            </a:r>
            <a:endParaRPr lang="zh-CN" alt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79" name="内容占位符 2"/>
          <p:cNvSpPr>
            <a:spLocks noGrp="1"/>
          </p:cNvSpPr>
          <p:nvPr>
            <p:ph sz="quarter" idx="4294967295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dynamic programming solution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a table row by row, and left to right within each row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complexity: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24581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3" y="2279651"/>
            <a:ext cx="8259762" cy="25654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134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distance</a:t>
            </a:r>
            <a:endParaRPr lang="zh-CN" alt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>
          <a:xfrm rot="5400000">
            <a:off x="9113045" y="1151732"/>
            <a:ext cx="2011362" cy="384175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fld id="{DFDD631F-24DE-46E4-B607-2F43184F94CF}" type="datetime1">
              <a:rPr lang="zh-CN" altLang="en-US" sz="1200">
                <a:solidFill>
                  <a:schemeClr val="tx2"/>
                </a:solidFill>
              </a:rPr>
              <a:pPr algn="r">
                <a:defRPr/>
              </a:pPr>
              <a:t>2026/4/16</a:t>
            </a:fld>
            <a:endParaRPr lang="zh-CN" altLang="en-US" sz="1200">
              <a:solidFill>
                <a:schemeClr val="tx2"/>
              </a:solidFill>
            </a:endParaRPr>
          </a:p>
        </p:txBody>
      </p:sp>
      <p:pic>
        <p:nvPicPr>
          <p:cNvPr id="2560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6" y="1722439"/>
            <a:ext cx="3743325" cy="350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276" y="1700213"/>
            <a:ext cx="5057775" cy="364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5606" name="Object 8"/>
          <p:cNvGraphicFramePr>
            <a:graphicFrameLocks noChangeAspect="1"/>
          </p:cNvGraphicFramePr>
          <p:nvPr/>
        </p:nvGraphicFramePr>
        <p:xfrm>
          <a:off x="1881189" y="5346700"/>
          <a:ext cx="7286625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8000" imgH="533400" progId="Equation.DSMT4">
                  <p:embed/>
                </p:oleObj>
              </mc:Choice>
              <mc:Fallback>
                <p:oleObj name="Equation" r:id="rId4" imgW="3048000" imgH="533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189" y="5346700"/>
                        <a:ext cx="7286625" cy="135413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0251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distance</a:t>
            </a:r>
            <a:endParaRPr lang="zh-CN" alt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7" name="内容占位符 2"/>
          <p:cNvSpPr>
            <a:spLocks noGrp="1"/>
          </p:cNvSpPr>
          <p:nvPr>
            <p:ph sz="quarter" idx="4294967295"/>
          </p:nvPr>
        </p:nvSpPr>
        <p:spPr>
          <a:xfrm>
            <a:off x="904431" y="1602581"/>
            <a:ext cx="3178175" cy="4873625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Edits</a:t>
            </a:r>
          </a:p>
          <a:p>
            <a:pPr marL="742950" lvl="1" indent="-28575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down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deletion</a:t>
            </a:r>
          </a:p>
          <a:p>
            <a:pPr marL="742950" lvl="1" indent="-28575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Move right  insertion</a:t>
            </a:r>
          </a:p>
          <a:p>
            <a:pPr marL="742950" lvl="1" indent="-28575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Diagonal move  match or substitution</a:t>
            </a:r>
          </a:p>
          <a:p>
            <a:pPr marL="457200" lvl="1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e.g. EXPONENTIALPOLYNOMAIL</a:t>
            </a:r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>
          <a:xfrm rot="5400000">
            <a:off x="9113045" y="1081882"/>
            <a:ext cx="2011362" cy="384175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fld id="{DFDD631F-24DE-46E4-B607-2F43184F94CF}" type="datetime1">
              <a:rPr lang="zh-CN" altLang="en-US" sz="1200">
                <a:solidFill>
                  <a:schemeClr val="tx2"/>
                </a:solidFill>
              </a:rPr>
              <a:pPr algn="r">
                <a:defRPr/>
              </a:pPr>
              <a:t>2026/4/16</a:t>
            </a:fld>
            <a:endParaRPr lang="zh-CN" altLang="en-US" sz="1200">
              <a:solidFill>
                <a:schemeClr val="tx2"/>
              </a:solidFill>
            </a:endParaRPr>
          </a:p>
        </p:txBody>
      </p:sp>
      <p:pic>
        <p:nvPicPr>
          <p:cNvPr id="2662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484313"/>
            <a:ext cx="5524500" cy="511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8416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Knapsack</a:t>
            </a:r>
            <a:endParaRPr lang="zh-CN" alt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内容占位符 2"/>
          <p:cNvSpPr>
            <a:spLocks noGrp="1"/>
          </p:cNvSpPr>
          <p:nvPr>
            <p:ph sz="quarter" idx="4294967295"/>
          </p:nvPr>
        </p:nvSpPr>
        <p:spPr>
          <a:xfrm>
            <a:off x="1981200" y="1600201"/>
            <a:ext cx="7786688" cy="4873625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description: a total weight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items to pick, of weight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value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what is the 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valuable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items which can 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 into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bag?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=10</a:t>
            </a:r>
          </a:p>
          <a:p>
            <a:pPr marL="742950" lvl="1" indent="-28575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Unlimited quantities of each item: </a:t>
            </a:r>
          </a:p>
          <a:p>
            <a:pPr marL="742950" lvl="1" indent="-28575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optimal solution $48</a:t>
            </a:r>
          </a:p>
          <a:p>
            <a:pPr marL="742950" lvl="1" indent="-28575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48 = 1 × #1+2 ×#4</a:t>
            </a:r>
          </a:p>
          <a:p>
            <a:pPr marL="742950" lvl="1" indent="-28575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each item: </a:t>
            </a:r>
          </a:p>
          <a:p>
            <a:pPr marL="742950" lvl="1" indent="-28575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optimal solution $46</a:t>
            </a:r>
          </a:p>
          <a:p>
            <a:pPr marL="742950" lvl="1" indent="-28575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46= 1 × #1+1 ×#3</a:t>
            </a:r>
          </a:p>
        </p:txBody>
      </p:sp>
      <p:grpSp>
        <p:nvGrpSpPr>
          <p:cNvPr id="29701" name="组合 1"/>
          <p:cNvGrpSpPr>
            <a:grpSpLocks/>
          </p:cNvGrpSpPr>
          <p:nvPr/>
        </p:nvGrpSpPr>
        <p:grpSpPr bwMode="auto">
          <a:xfrm>
            <a:off x="6745205" y="4481848"/>
            <a:ext cx="2733675" cy="1631950"/>
            <a:chOff x="5076825" y="4221163"/>
            <a:chExt cx="2733675" cy="1631950"/>
          </a:xfrm>
        </p:grpSpPr>
        <p:pic>
          <p:nvPicPr>
            <p:cNvPr id="29702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6825" y="4221163"/>
              <a:ext cx="2733675" cy="163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03" name="文本框 1"/>
            <p:cNvSpPr txBox="1">
              <a:spLocks noChangeArrowheads="1"/>
            </p:cNvSpPr>
            <p:nvPr/>
          </p:nvSpPr>
          <p:spPr bwMode="auto">
            <a:xfrm>
              <a:off x="5122863" y="4508500"/>
              <a:ext cx="3127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#</a:t>
              </a:r>
              <a:endParaRPr lang="zh-CN" altLang="en-US"/>
            </a:p>
          </p:txBody>
        </p:sp>
        <p:sp>
          <p:nvSpPr>
            <p:cNvPr id="29704" name="文本框 6"/>
            <p:cNvSpPr txBox="1">
              <a:spLocks noChangeArrowheads="1"/>
            </p:cNvSpPr>
            <p:nvPr/>
          </p:nvSpPr>
          <p:spPr bwMode="auto">
            <a:xfrm>
              <a:off x="5122863" y="4797425"/>
              <a:ext cx="3127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#</a:t>
              </a:r>
              <a:endParaRPr lang="zh-CN" altLang="en-US"/>
            </a:p>
          </p:txBody>
        </p:sp>
        <p:sp>
          <p:nvSpPr>
            <p:cNvPr id="29705" name="文本框 7"/>
            <p:cNvSpPr txBox="1">
              <a:spLocks noChangeArrowheads="1"/>
            </p:cNvSpPr>
            <p:nvPr/>
          </p:nvSpPr>
          <p:spPr bwMode="auto">
            <a:xfrm>
              <a:off x="5122863" y="5108575"/>
              <a:ext cx="3127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#</a:t>
              </a:r>
              <a:endParaRPr lang="zh-CN" altLang="en-US"/>
            </a:p>
          </p:txBody>
        </p:sp>
        <p:sp>
          <p:nvSpPr>
            <p:cNvPr id="29706" name="文本框 8"/>
            <p:cNvSpPr txBox="1">
              <a:spLocks noChangeArrowheads="1"/>
            </p:cNvSpPr>
            <p:nvPr/>
          </p:nvSpPr>
          <p:spPr bwMode="auto">
            <a:xfrm>
              <a:off x="5122863" y="5418138"/>
              <a:ext cx="312737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#</a:t>
              </a: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227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 idx="4294967295"/>
          </p:nvPr>
        </p:nvSpPr>
        <p:spPr bwMode="auto">
          <a:xfrm>
            <a:off x="1062790" y="274638"/>
            <a:ext cx="10515600" cy="1325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Knapsack</a:t>
            </a:r>
            <a:endParaRPr lang="zh-CN" alt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5" name="内容占位符 2"/>
          <p:cNvSpPr>
            <a:spLocks noGrp="1"/>
          </p:cNvSpPr>
          <p:nvPr>
            <p:ph sz="quarter" idx="4294967295"/>
          </p:nvPr>
        </p:nvSpPr>
        <p:spPr>
          <a:xfrm>
            <a:off x="1981200" y="1600201"/>
            <a:ext cx="9468338" cy="48736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Knapsack with repetition</a:t>
            </a:r>
          </a:p>
          <a:p>
            <a:pPr marL="742950" lvl="1" indent="-285750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Subproblem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smaller knapsack capacities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endParaRPr lang="en-US" altLang="zh-CN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endParaRPr lang="en-US" altLang="zh-CN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)=maximum value achievable with a knapsack of capacity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</a:p>
          <a:p>
            <a:pPr marL="742950" lvl="1" indent="-28575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dynamic programming solution 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and all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need to be integers): </a:t>
            </a:r>
          </a:p>
          <a:p>
            <a:pPr marL="742950" lvl="1" indent="-28575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 time complexity: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pic>
        <p:nvPicPr>
          <p:cNvPr id="3379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645" y="3235997"/>
            <a:ext cx="40322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185" y="4515186"/>
            <a:ext cx="4759325" cy="13843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852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868" y="2729831"/>
            <a:ext cx="6481762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3900">
                <a:latin typeface="Times New Roman" panose="02020603050405020304" pitchFamily="18" charset="0"/>
                <a:cs typeface="Times New Roman" panose="02020603050405020304" pitchFamily="18" charset="0"/>
              </a:rPr>
              <a:t>6.4 Knapsack</a:t>
            </a:r>
            <a:endParaRPr lang="zh-CN" altLang="en-US" sz="3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0" name="内容占位符 2"/>
          <p:cNvSpPr>
            <a:spLocks noGrp="1"/>
          </p:cNvSpPr>
          <p:nvPr>
            <p:ph sz="quarter" idx="4294967295"/>
          </p:nvPr>
        </p:nvSpPr>
        <p:spPr>
          <a:xfrm>
            <a:off x="962071" y="1492666"/>
            <a:ext cx="10686818" cy="5168068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Knapsack without repetition</a:t>
            </a:r>
          </a:p>
          <a:p>
            <a:pPr marL="742950" lvl="1" indent="-285750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Subproblem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smaller knapsack capacities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and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fewer items (items 1,2,…,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for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742950" lvl="1" indent="-285750"/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w, j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)=maximum value achievable with a knapsack of capacity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and items 1,…,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</a:p>
          <a:p>
            <a:pPr marL="742950" lvl="1" indent="-28575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dynamic programming solution:</a:t>
            </a:r>
          </a:p>
          <a:p>
            <a:pPr marL="742950" lvl="1" indent="-28575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42950" lvl="1" indent="-28575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 time complexity: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pic>
        <p:nvPicPr>
          <p:cNvPr id="3482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563" y="4286250"/>
            <a:ext cx="7594600" cy="179228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42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8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8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48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8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EC68F62-E77E-4A50-8E9C-8C95930844C5}" type="slidenum">
              <a:rPr lang="zh-CN" altLang="en-US" smtClean="0">
                <a:solidFill>
                  <a:srgbClr val="FFFFFF"/>
                </a:solidFill>
                <a:latin typeface="Century Schoolbook" panose="02040604050505020304" pitchFamily="18" charset="0"/>
              </a:rPr>
              <a:pPr/>
              <a:t>27</a:t>
            </a:fld>
            <a:endParaRPr lang="zh-CN" altLang="en-US">
              <a:solidFill>
                <a:srgbClr val="FFFFFF"/>
              </a:solidFill>
              <a:latin typeface="Century Schoolbook" panose="02040604050505020304" pitchFamily="18" charset="0"/>
            </a:endParaRPr>
          </a:p>
        </p:txBody>
      </p:sp>
      <p:pic>
        <p:nvPicPr>
          <p:cNvPr id="3277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590" y="1289051"/>
            <a:ext cx="27336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785938" y="3644901"/>
          <a:ext cx="8064496" cy="7921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3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3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3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31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31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31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31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313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60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i="1" dirty="0"/>
                        <a:t>w</a:t>
                      </a:r>
                      <a:endParaRPr lang="zh-CN" altLang="en-US" sz="1400" i="1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i="1" dirty="0"/>
                        <a:t>K</a:t>
                      </a:r>
                      <a:r>
                        <a:rPr lang="en-US" altLang="zh-CN" sz="1400" dirty="0"/>
                        <a:t>(</a:t>
                      </a:r>
                      <a:r>
                        <a:rPr lang="en-US" altLang="zh-CN" sz="1400" i="1" dirty="0"/>
                        <a:t>w</a:t>
                      </a:r>
                      <a:r>
                        <a:rPr lang="en-US" altLang="zh-CN" sz="1400" dirty="0"/>
                        <a:t>)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14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18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23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30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32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39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44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48</a:t>
                      </a:r>
                      <a:endParaRPr lang="zh-CN" altLang="en-US" sz="1400" dirty="0"/>
                    </a:p>
                  </a:txBody>
                  <a:tcPr marL="91436" marR="91436"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2811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839" y="476250"/>
            <a:ext cx="47339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812" name="文本框 8"/>
          <p:cNvSpPr txBox="1">
            <a:spLocks noChangeArrowheads="1"/>
          </p:cNvSpPr>
          <p:nvPr/>
        </p:nvSpPr>
        <p:spPr bwMode="auto">
          <a:xfrm>
            <a:off x="3081338" y="4437063"/>
            <a:ext cx="12239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Max{K(0)+9}</a:t>
            </a:r>
            <a:endParaRPr lang="zh-CN" altLang="en-US" sz="1200"/>
          </a:p>
        </p:txBody>
      </p:sp>
      <p:sp>
        <p:nvSpPr>
          <p:cNvPr id="32813" name="文本框 9"/>
          <p:cNvSpPr txBox="1">
            <a:spLocks noChangeArrowheads="1"/>
          </p:cNvSpPr>
          <p:nvPr/>
        </p:nvSpPr>
        <p:spPr bwMode="auto">
          <a:xfrm>
            <a:off x="3657600" y="4714876"/>
            <a:ext cx="16208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Max{</a:t>
            </a:r>
            <a:r>
              <a:rPr lang="en-US" altLang="zh-CN" sz="1200" u="sng"/>
              <a:t>K(0)+14</a:t>
            </a:r>
            <a:r>
              <a:rPr lang="en-US" altLang="zh-CN" sz="1200"/>
              <a:t>,K(1)+9}</a:t>
            </a:r>
            <a:endParaRPr lang="zh-CN" altLang="en-US" sz="1200"/>
          </a:p>
        </p:txBody>
      </p:sp>
      <p:cxnSp>
        <p:nvCxnSpPr>
          <p:cNvPr id="12" name="直接箭头连接符 11"/>
          <p:cNvCxnSpPr>
            <a:stCxn id="32813" idx="0"/>
          </p:cNvCxnSpPr>
          <p:nvPr/>
        </p:nvCxnSpPr>
        <p:spPr>
          <a:xfrm flipV="1">
            <a:off x="4467225" y="4437063"/>
            <a:ext cx="0" cy="277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15" name="文本框 13"/>
          <p:cNvSpPr txBox="1">
            <a:spLocks noChangeArrowheads="1"/>
          </p:cNvSpPr>
          <p:nvPr/>
        </p:nvSpPr>
        <p:spPr bwMode="auto">
          <a:xfrm>
            <a:off x="4162426" y="5070476"/>
            <a:ext cx="23034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Max{K(1)+14,K(0)+16,</a:t>
            </a:r>
            <a:r>
              <a:rPr lang="en-US" altLang="zh-CN" sz="1200" u="sng"/>
              <a:t>K(2)+9</a:t>
            </a:r>
            <a:r>
              <a:rPr lang="en-US" altLang="zh-CN" sz="1200"/>
              <a:t>}</a:t>
            </a:r>
            <a:endParaRPr lang="zh-CN" altLang="en-US" sz="1200"/>
          </a:p>
        </p:txBody>
      </p:sp>
      <p:cxnSp>
        <p:nvCxnSpPr>
          <p:cNvPr id="15" name="直接箭头连接符 14"/>
          <p:cNvCxnSpPr/>
          <p:nvPr/>
        </p:nvCxnSpPr>
        <p:spPr>
          <a:xfrm flipH="1" flipV="1">
            <a:off x="5270501" y="4437063"/>
            <a:ext cx="4763" cy="633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17" name="文本框 12"/>
          <p:cNvSpPr txBox="1">
            <a:spLocks noChangeArrowheads="1"/>
          </p:cNvSpPr>
          <p:nvPr/>
        </p:nvSpPr>
        <p:spPr bwMode="auto">
          <a:xfrm>
            <a:off x="4467225" y="5446714"/>
            <a:ext cx="2305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Max{</a:t>
            </a:r>
            <a:r>
              <a:rPr lang="en-US" altLang="zh-CN" sz="1200" u="sng"/>
              <a:t>K(2)+14</a:t>
            </a:r>
            <a:r>
              <a:rPr lang="en-US" altLang="zh-CN" sz="1200"/>
              <a:t>,K(1)+16,K(3)+9}</a:t>
            </a:r>
            <a:endParaRPr lang="zh-CN" altLang="en-US" sz="1200"/>
          </a:p>
        </p:txBody>
      </p:sp>
      <p:cxnSp>
        <p:nvCxnSpPr>
          <p:cNvPr id="16" name="直接箭头连接符 15"/>
          <p:cNvCxnSpPr/>
          <p:nvPr/>
        </p:nvCxnSpPr>
        <p:spPr>
          <a:xfrm flipH="1" flipV="1">
            <a:off x="5849938" y="4446589"/>
            <a:ext cx="19050" cy="1000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19" name="文本框 16"/>
          <p:cNvSpPr txBox="1">
            <a:spLocks noChangeArrowheads="1"/>
          </p:cNvSpPr>
          <p:nvPr/>
        </p:nvSpPr>
        <p:spPr bwMode="auto">
          <a:xfrm>
            <a:off x="5268913" y="5822951"/>
            <a:ext cx="30591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Max{</a:t>
            </a:r>
            <a:r>
              <a:rPr lang="en-US" altLang="zh-CN" sz="1200" u="sng"/>
              <a:t>K(0)+30</a:t>
            </a:r>
            <a:r>
              <a:rPr lang="en-US" altLang="zh-CN" sz="1200"/>
              <a:t>,K(3)+14,K(2)+16,K(4)+9}</a:t>
            </a:r>
            <a:endParaRPr lang="zh-CN" altLang="en-US" sz="1200"/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6657976" y="4446588"/>
            <a:ext cx="17463" cy="1376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7391400" y="4446588"/>
            <a:ext cx="39688" cy="175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22" name="文本框 20"/>
          <p:cNvSpPr txBox="1">
            <a:spLocks noChangeArrowheads="1"/>
          </p:cNvSpPr>
          <p:nvPr/>
        </p:nvSpPr>
        <p:spPr bwMode="auto">
          <a:xfrm>
            <a:off x="5932488" y="6254751"/>
            <a:ext cx="30591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Max{K(1)+30,</a:t>
            </a:r>
            <a:r>
              <a:rPr lang="en-US" altLang="zh-CN" sz="1200" u="sng"/>
              <a:t>K(4)+14</a:t>
            </a:r>
            <a:r>
              <a:rPr lang="en-US" altLang="zh-CN" sz="1200"/>
              <a:t>,K(3)+16,K(5)+9}</a:t>
            </a:r>
            <a:endParaRPr lang="zh-CN" altLang="en-US" sz="1200"/>
          </a:p>
        </p:txBody>
      </p:sp>
      <p:sp>
        <p:nvSpPr>
          <p:cNvPr id="32823" name="文本框 21"/>
          <p:cNvSpPr txBox="1">
            <a:spLocks noChangeArrowheads="1"/>
          </p:cNvSpPr>
          <p:nvPr/>
        </p:nvSpPr>
        <p:spPr bwMode="auto">
          <a:xfrm>
            <a:off x="5375276" y="2857501"/>
            <a:ext cx="30591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Max{</a:t>
            </a:r>
            <a:r>
              <a:rPr lang="en-US" altLang="zh-CN" sz="1200" u="sng"/>
              <a:t>K(2)+30</a:t>
            </a:r>
            <a:r>
              <a:rPr lang="en-US" altLang="zh-CN" sz="1200"/>
              <a:t>,K(5)+14,K(4)+16,K(6)+9}</a:t>
            </a:r>
            <a:endParaRPr lang="zh-CN" altLang="en-US" sz="1200"/>
          </a:p>
        </p:txBody>
      </p:sp>
      <p:cxnSp>
        <p:nvCxnSpPr>
          <p:cNvPr id="24" name="直接箭头连接符 23"/>
          <p:cNvCxnSpPr/>
          <p:nvPr/>
        </p:nvCxnSpPr>
        <p:spPr>
          <a:xfrm>
            <a:off x="7896225" y="3190875"/>
            <a:ext cx="0" cy="376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25" name="文本框 24"/>
          <p:cNvSpPr txBox="1">
            <a:spLocks noChangeArrowheads="1"/>
          </p:cNvSpPr>
          <p:nvPr/>
        </p:nvSpPr>
        <p:spPr bwMode="auto">
          <a:xfrm>
            <a:off x="6367464" y="2471739"/>
            <a:ext cx="3057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Max{</a:t>
            </a:r>
            <a:r>
              <a:rPr lang="en-US" altLang="zh-CN" sz="1200" u="sng"/>
              <a:t>K(3)+30</a:t>
            </a:r>
            <a:r>
              <a:rPr lang="en-US" altLang="zh-CN" sz="1200"/>
              <a:t>,K(6)+14,K(5)+16,K(7)+9}</a:t>
            </a:r>
            <a:endParaRPr lang="zh-CN" altLang="en-US" sz="1200"/>
          </a:p>
        </p:txBody>
      </p:sp>
      <p:cxnSp>
        <p:nvCxnSpPr>
          <p:cNvPr id="26" name="直接箭头连接符 25"/>
          <p:cNvCxnSpPr/>
          <p:nvPr/>
        </p:nvCxnSpPr>
        <p:spPr>
          <a:xfrm>
            <a:off x="8616950" y="2782889"/>
            <a:ext cx="0" cy="784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27" name="文本框 27"/>
          <p:cNvSpPr txBox="1">
            <a:spLocks noChangeArrowheads="1"/>
          </p:cNvSpPr>
          <p:nvPr/>
        </p:nvSpPr>
        <p:spPr bwMode="auto">
          <a:xfrm>
            <a:off x="7197726" y="2052639"/>
            <a:ext cx="30591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Max{</a:t>
            </a:r>
            <a:r>
              <a:rPr lang="en-US" altLang="zh-CN" sz="1200" u="sng"/>
              <a:t>K(4)+30</a:t>
            </a:r>
            <a:r>
              <a:rPr lang="en-US" altLang="zh-CN" sz="1200"/>
              <a:t>,K(7)+14,K(6)+16,K(8)+9}</a:t>
            </a:r>
            <a:endParaRPr lang="zh-CN" altLang="en-US" sz="1200"/>
          </a:p>
        </p:txBody>
      </p:sp>
      <p:cxnSp>
        <p:nvCxnSpPr>
          <p:cNvPr id="29" name="直接箭头连接符 28"/>
          <p:cNvCxnSpPr/>
          <p:nvPr/>
        </p:nvCxnSpPr>
        <p:spPr>
          <a:xfrm>
            <a:off x="9551988" y="2349501"/>
            <a:ext cx="0" cy="1217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232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3A1BBFD-46CD-4844-9E09-6ADFF012ADB5}" type="slidenum">
              <a:rPr lang="zh-CN" altLang="en-US" smtClean="0">
                <a:solidFill>
                  <a:srgbClr val="FFFFFF"/>
                </a:solidFill>
                <a:latin typeface="Century Schoolbook" panose="02040604050505020304" pitchFamily="18" charset="0"/>
              </a:rPr>
              <a:pPr/>
              <a:t>28</a:t>
            </a:fld>
            <a:endParaRPr lang="zh-CN" altLang="en-US">
              <a:solidFill>
                <a:srgbClr val="FFFFFF"/>
              </a:solidFill>
              <a:latin typeface="Century Schoolbook" panose="02040604050505020304" pitchFamily="18" charset="0"/>
            </a:endParaRPr>
          </a:p>
        </p:txBody>
      </p:sp>
      <p:pic>
        <p:nvPicPr>
          <p:cNvPr id="3379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1735138"/>
            <a:ext cx="27336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图片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295276"/>
            <a:ext cx="75438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2135188" y="3644901"/>
          <a:ext cx="7345368" cy="2663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1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1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21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21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21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211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211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4397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/>
                        <a:t>W</a:t>
                      </a:r>
                    </a:p>
                    <a:p>
                      <a:r>
                        <a:rPr lang="en-US" altLang="zh-CN" sz="1000" dirty="0"/>
                        <a:t>j</a:t>
                      </a:r>
                      <a:endParaRPr lang="zh-CN" altLang="en-US" sz="10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8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971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971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971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14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14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14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44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44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971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14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16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16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44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46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971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14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16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23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30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39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44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46</a:t>
                      </a:r>
                      <a:endParaRPr lang="zh-CN" altLang="en-US" sz="1800" dirty="0"/>
                    </a:p>
                  </a:txBody>
                  <a:tcPr marL="91447" marR="91447" marT="45712" marB="4571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0" name="直接连接符 19"/>
          <p:cNvCxnSpPr/>
          <p:nvPr/>
        </p:nvCxnSpPr>
        <p:spPr>
          <a:xfrm>
            <a:off x="2135188" y="3644900"/>
            <a:ext cx="576262" cy="431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9095875" y="5698958"/>
            <a:ext cx="16041" cy="24464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7984958" y="5698958"/>
            <a:ext cx="922421" cy="33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8907379" y="5943600"/>
            <a:ext cx="356937" cy="2727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9085847" y="5265821"/>
            <a:ext cx="1" cy="198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6757737" y="5265821"/>
            <a:ext cx="2149642" cy="34490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6432885" y="4993105"/>
            <a:ext cx="356937" cy="2727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6673516" y="4808621"/>
            <a:ext cx="8021" cy="17646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4797426" y="4808621"/>
            <a:ext cx="1687595" cy="176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6432884" y="4562140"/>
            <a:ext cx="356937" cy="2727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30" name="椭圆 29"/>
          <p:cNvSpPr/>
          <p:nvPr/>
        </p:nvSpPr>
        <p:spPr>
          <a:xfrm>
            <a:off x="8907379" y="5480552"/>
            <a:ext cx="356937" cy="2727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/>
          <p:cNvCxnSpPr/>
          <p:nvPr/>
        </p:nvCxnSpPr>
        <p:spPr>
          <a:xfrm flipH="1">
            <a:off x="6569242" y="4387516"/>
            <a:ext cx="4011" cy="174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93" name="直接箭头连接符 33792"/>
          <p:cNvCxnSpPr/>
          <p:nvPr/>
        </p:nvCxnSpPr>
        <p:spPr>
          <a:xfrm>
            <a:off x="2963779" y="4383505"/>
            <a:ext cx="3469105" cy="26469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82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Independent sets in trees</a:t>
            </a:r>
            <a:endParaRPr lang="zh-CN" alt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5" name="内容占位符 2"/>
          <p:cNvSpPr>
            <a:spLocks noGrp="1"/>
          </p:cNvSpPr>
          <p:nvPr>
            <p:ph sz="quarter" idx="4294967295"/>
          </p:nvPr>
        </p:nvSpPr>
        <p:spPr>
          <a:xfrm>
            <a:off x="1031409" y="1628776"/>
            <a:ext cx="10736150" cy="48736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Independent set: subset of nodes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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and there are no edges between them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Finding the largest independent set in a graph is intractable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However, it can be solved in linear time when the graph is a tree, using dynamic programming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Algorithm:</a:t>
            </a:r>
          </a:p>
          <a:p>
            <a:pPr marL="742950" lvl="1" indent="-28575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Start by rooting the tree at any node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Each node defines a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subtree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marL="742950" lvl="1" indent="-28575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 goal is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):</a:t>
            </a:r>
          </a:p>
          <a:p>
            <a:pPr marL="742950" lvl="1" indent="-28575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= size of largest independent set of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subtree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hanging from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</a:p>
          <a:p>
            <a:pPr marL="742950" lvl="1" indent="-28575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If know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for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all descendants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of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then compute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):</a:t>
            </a:r>
          </a:p>
          <a:p>
            <a:pPr marL="742950" lvl="1" indent="-28575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3557" name="Object 8"/>
          <p:cNvGraphicFramePr>
            <a:graphicFrameLocks noChangeAspect="1"/>
          </p:cNvGraphicFramePr>
          <p:nvPr/>
        </p:nvGraphicFramePr>
        <p:xfrm>
          <a:off x="3884613" y="6019800"/>
          <a:ext cx="5211762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360" imgH="279360" progId="Equation.DSMT4">
                  <p:embed/>
                </p:oleObj>
              </mc:Choice>
              <mc:Fallback>
                <p:oleObj name="Equation" r:id="rId2" imgW="1917360" imgH="279360" progId="Equation.DSMT4">
                  <p:embed/>
                  <p:pic>
                    <p:nvPicPr>
                      <p:cNvPr id="2355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4613" y="6019800"/>
                        <a:ext cx="5211762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937292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Independent sets in trees</a:t>
            </a:r>
            <a:endParaRPr lang="zh-CN" alt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79" name="内容占位符 2"/>
          <p:cNvSpPr>
            <a:spLocks noGrp="1"/>
          </p:cNvSpPr>
          <p:nvPr>
            <p:ph sz="quarter" idx="4294967295"/>
          </p:nvPr>
        </p:nvSpPr>
        <p:spPr>
          <a:xfrm>
            <a:off x="1981201" y="1600201"/>
            <a:ext cx="8291513" cy="4873625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 number of subproblems: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(|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|)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 running time: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(|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|+|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|)</a:t>
            </a:r>
          </a:p>
        </p:txBody>
      </p:sp>
      <p:pic>
        <p:nvPicPr>
          <p:cNvPr id="2458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950" y="3279776"/>
            <a:ext cx="3633788" cy="357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2589213"/>
            <a:ext cx="372427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2112963" y="4227513"/>
            <a:ext cx="2747962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/>
              <a:t>I(G)=1</a:t>
            </a:r>
          </a:p>
          <a:p>
            <a:r>
              <a:rPr lang="en-US" altLang="zh-CN" sz="2000" b="1"/>
              <a:t>I(D)=1</a:t>
            </a:r>
          </a:p>
          <a:p>
            <a:r>
              <a:rPr lang="en-US" altLang="zh-CN" sz="2000" b="1"/>
              <a:t>I(F)=max{</a:t>
            </a:r>
            <a:r>
              <a:rPr lang="en-US" altLang="zh-CN" sz="2000" b="1" u="sng"/>
              <a:t>1</a:t>
            </a:r>
            <a:r>
              <a:rPr lang="en-US" altLang="zh-CN" sz="2000" b="1"/>
              <a:t>,1}=1</a:t>
            </a:r>
          </a:p>
          <a:p>
            <a:r>
              <a:rPr lang="en-US" altLang="zh-CN" sz="2000" b="1"/>
              <a:t>I(E)=max{</a:t>
            </a:r>
            <a:r>
              <a:rPr lang="en-US" altLang="zh-CN" sz="2000" b="1" u="sng"/>
              <a:t>1+1</a:t>
            </a:r>
            <a:r>
              <a:rPr lang="en-US" altLang="zh-CN" sz="2000" b="1"/>
              <a:t>,1+1}=2</a:t>
            </a:r>
          </a:p>
          <a:p>
            <a:r>
              <a:rPr lang="en-US" altLang="zh-CN" sz="2000" b="1"/>
              <a:t>I(C)=1</a:t>
            </a:r>
            <a:endParaRPr lang="zh-CN" altLang="en-US" sz="2000" b="1"/>
          </a:p>
          <a:p>
            <a:r>
              <a:rPr lang="en-US" altLang="zh-CN" sz="2000" b="1"/>
              <a:t>I(A)=max{</a:t>
            </a:r>
            <a:r>
              <a:rPr lang="en-US" altLang="zh-CN" sz="2000" b="1" u="sng"/>
              <a:t>1+2</a:t>
            </a:r>
            <a:r>
              <a:rPr lang="en-US" altLang="zh-CN" sz="2000" b="1"/>
              <a:t>,2}=3</a:t>
            </a:r>
            <a:endParaRPr lang="zh-CN" altLang="en-US" sz="2000" b="1"/>
          </a:p>
          <a:p>
            <a:r>
              <a:rPr lang="en-US" altLang="zh-CN" sz="2000" b="1"/>
              <a:t>I(B)=max{1+2,</a:t>
            </a:r>
            <a:r>
              <a:rPr lang="en-US" altLang="zh-CN" sz="2000" b="1" u="sng"/>
              <a:t>3+1</a:t>
            </a:r>
            <a:r>
              <a:rPr lang="en-US" altLang="zh-CN" sz="2000" b="1"/>
              <a:t>}=4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142038" y="2560638"/>
          <a:ext cx="5211762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17360" imgH="279360" progId="Equation.DSMT4">
                  <p:embed/>
                </p:oleObj>
              </mc:Choice>
              <mc:Fallback>
                <p:oleObj name="Equation" r:id="rId5" imgW="1917360" imgH="27936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2038" y="2560638"/>
                        <a:ext cx="5211762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636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134979" y="1032461"/>
            <a:ext cx="9951620" cy="4461960"/>
            <a:chOff x="1522997" y="1245018"/>
            <a:chExt cx="9623760" cy="4139395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60907" y="3314715"/>
              <a:ext cx="1085850" cy="28575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2997" y="1245018"/>
              <a:ext cx="8615614" cy="41393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84053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79" y="916158"/>
            <a:ext cx="8544455" cy="49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682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cap="none" dirty="0"/>
              <a:t>Exercise 1 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045652" y="1987888"/>
            <a:ext cx="10491460" cy="3100121"/>
            <a:chOff x="1703389" y="1557338"/>
            <a:chExt cx="8713787" cy="2108200"/>
          </a:xfrm>
          <a:solidFill>
            <a:schemeClr val="accent1"/>
          </a:solidFill>
        </p:grpSpPr>
        <p:pic>
          <p:nvPicPr>
            <p:cNvPr id="32771" name="图片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3389" y="1557338"/>
              <a:ext cx="8713787" cy="2108200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</p:spPr>
        </p:pic>
        <p:cxnSp>
          <p:nvCxnSpPr>
            <p:cNvPr id="4" name="直接连接符 3"/>
            <p:cNvCxnSpPr/>
            <p:nvPr/>
          </p:nvCxnSpPr>
          <p:spPr>
            <a:xfrm>
              <a:off x="2208214" y="3357563"/>
              <a:ext cx="8135937" cy="0"/>
            </a:xfrm>
            <a:prstGeom prst="line">
              <a:avLst/>
            </a:prstGeom>
            <a:grpFill/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1774826" y="3665538"/>
              <a:ext cx="504825" cy="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23894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6420853" y="922422"/>
            <a:ext cx="2879558" cy="24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1416853" y="396520"/>
            <a:ext cx="9146952" cy="6166650"/>
            <a:chOff x="1416853" y="396520"/>
            <a:chExt cx="9146952" cy="61666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6853" y="396520"/>
              <a:ext cx="9146952" cy="6166650"/>
            </a:xfrm>
            <a:prstGeom prst="rect">
              <a:avLst/>
            </a:prstGeom>
          </p:spPr>
        </p:pic>
        <p:sp>
          <p:nvSpPr>
            <p:cNvPr id="2" name="文本框 1"/>
            <p:cNvSpPr txBox="1">
              <a:spLocks noChangeArrowheads="1"/>
            </p:cNvSpPr>
            <p:nvPr/>
          </p:nvSpPr>
          <p:spPr bwMode="auto">
            <a:xfrm>
              <a:off x="3577459" y="3253245"/>
              <a:ext cx="2027237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i="1" dirty="0"/>
                <a:t>For s=1 to n-1</a:t>
              </a:r>
            </a:p>
            <a:p>
              <a:r>
                <a:rPr lang="en-US" altLang="zh-CN" i="1" dirty="0"/>
                <a:t>       for </a:t>
              </a:r>
              <a:r>
                <a:rPr lang="en-US" altLang="zh-CN" i="1" dirty="0" err="1"/>
                <a:t>i</a:t>
              </a:r>
              <a:r>
                <a:rPr lang="en-US" altLang="zh-CN" i="1" dirty="0"/>
                <a:t>=1 to n-s</a:t>
              </a:r>
            </a:p>
            <a:p>
              <a:r>
                <a:rPr lang="en-US" altLang="zh-CN" i="1" dirty="0"/>
                <a:t>            j=</a:t>
              </a:r>
              <a:r>
                <a:rPr lang="en-US" altLang="zh-CN" i="1" dirty="0" err="1"/>
                <a:t>i+s</a:t>
              </a:r>
              <a:endParaRPr lang="zh-CN" altLang="en-US" i="1" dirty="0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7422403" y="2943979"/>
              <a:ext cx="51223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endParaRPr lang="zh-CN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08206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86865F2-E0F1-4C43-ACA6-6E6B8E6E2DD4}" type="slidenum">
              <a:rPr lang="zh-CN" altLang="en-US" smtClean="0">
                <a:solidFill>
                  <a:srgbClr val="FFFFFF"/>
                </a:solidFill>
                <a:latin typeface="Century Schoolbook" panose="02040604050505020304" pitchFamily="18" charset="0"/>
              </a:rPr>
              <a:pPr/>
              <a:t>35</a:t>
            </a:fld>
            <a:endParaRPr lang="zh-CN" altLang="en-US">
              <a:solidFill>
                <a:srgbClr val="FFFFFF"/>
              </a:solidFill>
              <a:latin typeface="Century Schoolbook" panose="02040604050505020304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279650" y="404814"/>
          <a:ext cx="6985005" cy="619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12856">
                <a:tc>
                  <a:txBody>
                    <a:bodyPr/>
                    <a:lstStyle/>
                    <a:p>
                      <a:pPr algn="ctr"/>
                      <a:endParaRPr lang="zh-CN" altLang="en-US" sz="1400" b="1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G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G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G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G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i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j-1)</a:t>
                      </a:r>
                      <a:endParaRPr kumimoji="0" lang="zh-CN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(i+1, j-1)</a:t>
                      </a:r>
                      <a:endParaRPr kumimoji="0" lang="zh-CN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(</a:t>
                      </a:r>
                      <a:r>
                        <a:rPr lang="en-US" altLang="zh-CN" sz="1200" b="1" dirty="0" err="1"/>
                        <a:t>i,j</a:t>
                      </a:r>
                      <a:r>
                        <a:rPr lang="en-US" altLang="zh-CN" sz="1200" b="1" dirty="0"/>
                        <a:t>)</a:t>
                      </a:r>
                      <a:endParaRPr lang="zh-CN" altLang="en-US" sz="1200" b="1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(i+1, j)</a:t>
                      </a:r>
                      <a:endParaRPr kumimoji="0" lang="zh-CN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G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G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cxnSp>
        <p:nvCxnSpPr>
          <p:cNvPr id="10" name="直接箭头连接符 9"/>
          <p:cNvCxnSpPr/>
          <p:nvPr/>
        </p:nvCxnSpPr>
        <p:spPr>
          <a:xfrm flipH="1">
            <a:off x="2855914" y="4581526"/>
            <a:ext cx="2160587" cy="18716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27" name="文本框 2"/>
          <p:cNvSpPr txBox="1">
            <a:spLocks noChangeArrowheads="1"/>
          </p:cNvSpPr>
          <p:nvPr/>
        </p:nvSpPr>
        <p:spPr bwMode="auto">
          <a:xfrm>
            <a:off x="2855913" y="44450"/>
            <a:ext cx="3603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err="1"/>
              <a:t>i</a:t>
            </a:r>
            <a:endParaRPr lang="zh-CN" altLang="en-US" dirty="0"/>
          </a:p>
        </p:txBody>
      </p:sp>
      <p:sp>
        <p:nvSpPr>
          <p:cNvPr id="37128" name="文本框 8"/>
          <p:cNvSpPr txBox="1">
            <a:spLocks noChangeArrowheads="1"/>
          </p:cNvSpPr>
          <p:nvPr/>
        </p:nvSpPr>
        <p:spPr bwMode="auto">
          <a:xfrm>
            <a:off x="1781176" y="836614"/>
            <a:ext cx="3603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j</a:t>
            </a:r>
            <a:endParaRPr lang="zh-CN" altLang="en-US" dirty="0"/>
          </a:p>
        </p:txBody>
      </p:sp>
      <p:cxnSp>
        <p:nvCxnSpPr>
          <p:cNvPr id="6" name="直接箭头连接符 5"/>
          <p:cNvCxnSpPr/>
          <p:nvPr/>
        </p:nvCxnSpPr>
        <p:spPr>
          <a:xfrm>
            <a:off x="3143250" y="44450"/>
            <a:ext cx="0" cy="369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1703388" y="1273175"/>
            <a:ext cx="5762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 flipV="1">
            <a:off x="5913408" y="2290313"/>
            <a:ext cx="159588" cy="8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5772150" y="1936630"/>
            <a:ext cx="0" cy="172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5913408" y="1984075"/>
            <a:ext cx="159588" cy="17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06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E227D1C-C86E-4013-BDDF-789FB785182F}" type="slidenum">
              <a:rPr lang="zh-CN" altLang="en-US" smtClean="0">
                <a:solidFill>
                  <a:srgbClr val="FFFFFF"/>
                </a:solidFill>
                <a:latin typeface="Century Schoolbook" panose="02040604050505020304" pitchFamily="18" charset="0"/>
              </a:rPr>
              <a:pPr/>
              <a:t>36</a:t>
            </a:fld>
            <a:endParaRPr lang="zh-CN" altLang="en-US">
              <a:solidFill>
                <a:srgbClr val="FFFFFF"/>
              </a:solidFill>
              <a:latin typeface="Century Schoolbook" panose="02040604050505020304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279650" y="404814"/>
          <a:ext cx="6985005" cy="619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566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12856">
                <a:tc>
                  <a:txBody>
                    <a:bodyPr/>
                    <a:lstStyle/>
                    <a:p>
                      <a:pPr algn="ctr"/>
                      <a:endParaRPr lang="zh-CN" altLang="en-US" sz="1400" b="1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G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G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G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G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G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12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G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91443" marR="91443" marT="45721" marB="45721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8150" name="文本框 5"/>
          <p:cNvSpPr txBox="1">
            <a:spLocks noChangeArrowheads="1"/>
          </p:cNvSpPr>
          <p:nvPr/>
        </p:nvSpPr>
        <p:spPr bwMode="auto">
          <a:xfrm>
            <a:off x="2855913" y="44450"/>
            <a:ext cx="3603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I</a:t>
            </a:r>
            <a:endParaRPr lang="zh-CN" altLang="en-US"/>
          </a:p>
        </p:txBody>
      </p:sp>
      <p:sp>
        <p:nvSpPr>
          <p:cNvPr id="38151" name="文本框 6"/>
          <p:cNvSpPr txBox="1">
            <a:spLocks noChangeArrowheads="1"/>
          </p:cNvSpPr>
          <p:nvPr/>
        </p:nvSpPr>
        <p:spPr bwMode="auto">
          <a:xfrm>
            <a:off x="1781176" y="836614"/>
            <a:ext cx="3603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</a:t>
            </a:r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>
            <a:off x="1703388" y="1273175"/>
            <a:ext cx="5762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3359150" y="44451"/>
            <a:ext cx="0" cy="360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2705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cap="none" dirty="0"/>
              <a:t>Exercise 2 </a:t>
            </a:r>
            <a:endParaRPr lang="zh-CN" altLang="en-US" dirty="0"/>
          </a:p>
        </p:txBody>
      </p:sp>
      <p:sp>
        <p:nvSpPr>
          <p:cNvPr id="38916" name="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88BC5F1-C2A3-4A53-BDFA-8AE7BD610DBB}" type="slidenum">
              <a:rPr lang="zh-CN" altLang="en-US" smtClean="0">
                <a:solidFill>
                  <a:srgbClr val="FFFFFF"/>
                </a:solidFill>
                <a:latin typeface="Century Schoolbook" panose="02040604050505020304" pitchFamily="18" charset="0"/>
              </a:rPr>
              <a:pPr/>
              <a:t>37</a:t>
            </a:fld>
            <a:endParaRPr lang="zh-CN" altLang="en-US">
              <a:solidFill>
                <a:srgbClr val="FFFFFF"/>
              </a:solidFill>
              <a:latin typeface="Century Schoolbook" panose="02040604050505020304" pitchFamily="18" charset="0"/>
            </a:endParaRPr>
          </a:p>
        </p:txBody>
      </p:sp>
      <p:pic>
        <p:nvPicPr>
          <p:cNvPr id="38917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919" y="1603512"/>
            <a:ext cx="9306162" cy="3906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/>
          <p:cNvCxnSpPr/>
          <p:nvPr/>
        </p:nvCxnSpPr>
        <p:spPr>
          <a:xfrm>
            <a:off x="8112126" y="1989138"/>
            <a:ext cx="187166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774826" y="2279650"/>
            <a:ext cx="22336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800600" y="2270126"/>
            <a:ext cx="1943100" cy="95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4008438" y="2349501"/>
            <a:ext cx="431800" cy="3587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8922" name="文本框 2"/>
          <p:cNvSpPr txBox="1">
            <a:spLocks noChangeArrowheads="1"/>
          </p:cNvSpPr>
          <p:nvPr/>
        </p:nvSpPr>
        <p:spPr bwMode="auto">
          <a:xfrm>
            <a:off x="6245226" y="5422900"/>
            <a:ext cx="3744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Best cover: {B, E, G} or {B, E, F}</a:t>
            </a:r>
            <a:endParaRPr lang="zh-CN" altLang="en-US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1408638" y="4421846"/>
            <a:ext cx="2747963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dirty="0"/>
              <a:t>V(G)=0</a:t>
            </a:r>
          </a:p>
          <a:p>
            <a:r>
              <a:rPr lang="en-US" altLang="zh-CN" sz="2000" b="1" dirty="0"/>
              <a:t>V(D)=0</a:t>
            </a:r>
          </a:p>
          <a:p>
            <a:r>
              <a:rPr lang="en-US" altLang="zh-CN" sz="2000" b="1" dirty="0"/>
              <a:t>V(F)=min{</a:t>
            </a:r>
            <a:r>
              <a:rPr lang="en-US" altLang="zh-CN" sz="2000" b="1" u="sng" dirty="0"/>
              <a:t>1</a:t>
            </a:r>
            <a:r>
              <a:rPr lang="en-US" altLang="zh-CN" sz="2000" b="1" dirty="0"/>
              <a:t>,</a:t>
            </a:r>
            <a:r>
              <a:rPr lang="en-US" altLang="zh-CN" sz="2000" b="1" u="sng" dirty="0"/>
              <a:t>1+0</a:t>
            </a:r>
            <a:r>
              <a:rPr lang="en-US" altLang="zh-CN" sz="2000" b="1" dirty="0"/>
              <a:t>}=1</a:t>
            </a:r>
          </a:p>
          <a:p>
            <a:r>
              <a:rPr lang="en-US" altLang="zh-CN" sz="2000" b="1" dirty="0"/>
              <a:t>V(E)=min{2+0,</a:t>
            </a:r>
            <a:r>
              <a:rPr lang="en-US" altLang="zh-CN" sz="2000" b="1" u="sng" dirty="0"/>
              <a:t>1+1</a:t>
            </a:r>
            <a:r>
              <a:rPr lang="en-US" altLang="zh-CN" sz="2000" b="1" dirty="0"/>
              <a:t>}=2</a:t>
            </a:r>
          </a:p>
          <a:p>
            <a:r>
              <a:rPr lang="en-US" altLang="zh-CN" sz="2000" b="1" dirty="0"/>
              <a:t>V(C)=0</a:t>
            </a:r>
            <a:endParaRPr lang="zh-CN" altLang="en-US" sz="2000" b="1" dirty="0"/>
          </a:p>
          <a:p>
            <a:r>
              <a:rPr lang="en-US" altLang="zh-CN" sz="2000" b="1" dirty="0"/>
              <a:t>V(A)=min{</a:t>
            </a:r>
            <a:r>
              <a:rPr lang="en-US" altLang="zh-CN" sz="2000" b="1" u="sng" dirty="0"/>
              <a:t>1+1</a:t>
            </a:r>
            <a:r>
              <a:rPr lang="en-US" altLang="zh-CN" sz="2000" b="1" dirty="0"/>
              <a:t>,1+2}=2</a:t>
            </a:r>
            <a:endParaRPr lang="zh-CN" altLang="en-US" sz="2000" b="1" dirty="0"/>
          </a:p>
          <a:p>
            <a:r>
              <a:rPr lang="en-US" altLang="zh-CN" sz="2000" b="1" dirty="0"/>
              <a:t>V(B)=min{2+2,</a:t>
            </a:r>
            <a:r>
              <a:rPr lang="en-US" altLang="zh-CN" sz="2000" b="1" u="sng" dirty="0"/>
              <a:t>1+2</a:t>
            </a:r>
            <a:r>
              <a:rPr lang="en-US" altLang="zh-CN" sz="2000" b="1" dirty="0"/>
              <a:t>}=3</a:t>
            </a:r>
            <a:endParaRPr lang="zh-CN" altLang="en-US" sz="2000" b="1" dirty="0"/>
          </a:p>
        </p:txBody>
      </p:sp>
      <p:graphicFrame>
        <p:nvGraphicFramePr>
          <p:cNvPr id="56332" name="对象 5"/>
          <p:cNvGraphicFramePr>
            <a:graphicFrameLocks noChangeAspect="1"/>
          </p:cNvGraphicFramePr>
          <p:nvPr/>
        </p:nvGraphicFramePr>
        <p:xfrm>
          <a:off x="4295776" y="6254750"/>
          <a:ext cx="596741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03600" imgH="254000" progId="Equation.DSMT4">
                  <p:embed/>
                </p:oleObj>
              </mc:Choice>
              <mc:Fallback>
                <p:oleObj name="Equation" r:id="rId3" imgW="3403600" imgH="254000" progId="Equation.DSMT4">
                  <p:embed/>
                  <p:pic>
                    <p:nvPicPr>
                      <p:cNvPr id="56332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6" y="6254750"/>
                        <a:ext cx="596741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532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9F82A3D-EF10-46E8-8346-9E772817A166}" type="slidenum">
              <a:rPr lang="zh-CN" altLang="en-US" smtClean="0">
                <a:solidFill>
                  <a:srgbClr val="FFFFFF"/>
                </a:solidFill>
                <a:latin typeface="Century Schoolbook" panose="02040604050505020304" pitchFamily="18" charset="0"/>
              </a:rPr>
              <a:pPr/>
              <a:t>38</a:t>
            </a:fld>
            <a:endParaRPr lang="zh-CN" altLang="en-US">
              <a:solidFill>
                <a:srgbClr val="FFFFFF"/>
              </a:solidFill>
              <a:latin typeface="Century Schoolbook" panose="020406040505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59457" y="1117600"/>
            <a:ext cx="10307312" cy="4040188"/>
            <a:chOff x="1676400" y="1989138"/>
            <a:chExt cx="8731250" cy="3168650"/>
          </a:xfrm>
        </p:grpSpPr>
        <p:pic>
          <p:nvPicPr>
            <p:cNvPr id="39941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1989138"/>
              <a:ext cx="8731250" cy="3168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7" name="直接连接符 6"/>
            <p:cNvCxnSpPr/>
            <p:nvPr/>
          </p:nvCxnSpPr>
          <p:spPr>
            <a:xfrm>
              <a:off x="5303838" y="2279650"/>
              <a:ext cx="482441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1774825" y="2565400"/>
              <a:ext cx="865188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3575050" y="2536826"/>
              <a:ext cx="1873250" cy="2857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5303838" y="2852738"/>
              <a:ext cx="482441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5880101" y="4581525"/>
              <a:ext cx="230346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8575676" y="4868863"/>
              <a:ext cx="155257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1774826" y="5157788"/>
              <a:ext cx="244951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640013" y="5675314"/>
          <a:ext cx="5967412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03600" imgH="254000" progId="Equation.DSMT4">
                  <p:embed/>
                </p:oleObj>
              </mc:Choice>
              <mc:Fallback>
                <p:oleObj name="Equation" r:id="rId3" imgW="3403600" imgH="2540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5675314"/>
                        <a:ext cx="5967412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650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 3 </a:t>
            </a:r>
            <a:endParaRPr lang="zh-CN" altLang="en-US" dirty="0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286" y="2073025"/>
            <a:ext cx="9111916" cy="3576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/>
        </p:nvCxnSpPr>
        <p:spPr>
          <a:xfrm flipV="1">
            <a:off x="7952874" y="3437021"/>
            <a:ext cx="1977189" cy="200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5610726" y="4491789"/>
            <a:ext cx="1343527" cy="8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5253789" y="5570621"/>
            <a:ext cx="4872790" cy="8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2986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776663" y="761777"/>
            <a:ext cx="8758990" cy="5189844"/>
            <a:chOff x="1504950" y="1624014"/>
            <a:chExt cx="9144000" cy="4905375"/>
          </a:xfrm>
        </p:grpSpPr>
        <p:pic>
          <p:nvPicPr>
            <p:cNvPr id="93187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4950" y="1624014"/>
              <a:ext cx="9144000" cy="4905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4" name="直接连接符 3"/>
            <p:cNvCxnSpPr/>
            <p:nvPr/>
          </p:nvCxnSpPr>
          <p:spPr>
            <a:xfrm>
              <a:off x="5303839" y="2205038"/>
              <a:ext cx="244792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1631950" y="2203450"/>
              <a:ext cx="1295400" cy="158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4583113" y="3357563"/>
              <a:ext cx="252095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4224338" y="4005263"/>
              <a:ext cx="143986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7824788" y="4076700"/>
              <a:ext cx="187166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8183563" y="4724400"/>
              <a:ext cx="230505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1524000" y="5013325"/>
              <a:ext cx="32385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35357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 4 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34" y="1690688"/>
            <a:ext cx="10982767" cy="391424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V="1">
            <a:off x="1519989" y="4580022"/>
            <a:ext cx="4896853" cy="24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9471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71" y="933700"/>
            <a:ext cx="9985535" cy="5078079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V="1">
            <a:off x="8578516" y="1235242"/>
            <a:ext cx="2294021" cy="12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1511968" y="1459832"/>
            <a:ext cx="2261937" cy="8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6853989" y="1860884"/>
            <a:ext cx="1002632" cy="12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8229600" y="3100137"/>
            <a:ext cx="2193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endCxn id="2" idx="3"/>
          </p:cNvCxnSpPr>
          <p:nvPr/>
        </p:nvCxnSpPr>
        <p:spPr>
          <a:xfrm flipV="1">
            <a:off x="9954126" y="3472740"/>
            <a:ext cx="1068380" cy="3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1511968" y="3701716"/>
            <a:ext cx="5474369" cy="160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1568116" y="4848726"/>
            <a:ext cx="9304421" cy="12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1511968" y="5109411"/>
            <a:ext cx="4403558" cy="28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060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1722</Words>
  <Application>Microsoft Office PowerPoint</Application>
  <PresentationFormat>宽屏</PresentationFormat>
  <Paragraphs>523</Paragraphs>
  <Slides>42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0" baseType="lpstr">
      <vt:lpstr>等线</vt:lpstr>
      <vt:lpstr>等线 Light</vt:lpstr>
      <vt:lpstr>Arial</vt:lpstr>
      <vt:lpstr>Century Schoolbook</vt:lpstr>
      <vt:lpstr>Times New Roman</vt:lpstr>
      <vt:lpstr>Wingdings</vt:lpstr>
      <vt:lpstr>Office 主题​​</vt:lpstr>
      <vt:lpstr>Equation</vt:lpstr>
      <vt:lpstr>  Lecture 04  Dynamic programming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Chain matrix multiplication</vt:lpstr>
      <vt:lpstr>Chain matrix multiplication</vt:lpstr>
      <vt:lpstr>6.5 Chain matrix multiplication</vt:lpstr>
      <vt:lpstr>Chain matrix multiplication</vt:lpstr>
      <vt:lpstr>PowerPoint 演示文稿</vt:lpstr>
      <vt:lpstr>Edit distance</vt:lpstr>
      <vt:lpstr>Edit distance</vt:lpstr>
      <vt:lpstr>Edit distance</vt:lpstr>
      <vt:lpstr>Edit distance</vt:lpstr>
      <vt:lpstr>Edit distance</vt:lpstr>
      <vt:lpstr>Edit distance</vt:lpstr>
      <vt:lpstr> Knapsack</vt:lpstr>
      <vt:lpstr>Knapsack</vt:lpstr>
      <vt:lpstr>6.4 Knapsack</vt:lpstr>
      <vt:lpstr>PowerPoint 演示文稿</vt:lpstr>
      <vt:lpstr>PowerPoint 演示文稿</vt:lpstr>
      <vt:lpstr> Independent sets in trees</vt:lpstr>
      <vt:lpstr> Independent sets in trees</vt:lpstr>
      <vt:lpstr>PowerPoint 演示文稿</vt:lpstr>
      <vt:lpstr>PowerPoint 演示文稿</vt:lpstr>
      <vt:lpstr>Exercise 1 </vt:lpstr>
      <vt:lpstr>PowerPoint 演示文稿</vt:lpstr>
      <vt:lpstr>PowerPoint 演示文稿</vt:lpstr>
      <vt:lpstr>PowerPoint 演示文稿</vt:lpstr>
      <vt:lpstr>Exercise 2 </vt:lpstr>
      <vt:lpstr>PowerPoint 演示文稿</vt:lpstr>
      <vt:lpstr>Exercise 3 </vt:lpstr>
      <vt:lpstr>PowerPoint 演示文稿</vt:lpstr>
      <vt:lpstr>Exercise 4 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Introduction and Peak Finding</dc:title>
  <dc:creator>r</dc:creator>
  <cp:lastModifiedBy>Admin</cp:lastModifiedBy>
  <cp:revision>275</cp:revision>
  <cp:lastPrinted>2025-03-30T15:53:55Z</cp:lastPrinted>
  <dcterms:created xsi:type="dcterms:W3CDTF">2020-02-26T01:48:00Z</dcterms:created>
  <dcterms:modified xsi:type="dcterms:W3CDTF">2026-04-16T12:28:27Z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