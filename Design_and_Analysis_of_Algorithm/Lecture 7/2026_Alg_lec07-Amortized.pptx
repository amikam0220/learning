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76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42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1" autoAdjust="0"/>
    <p:restoredTop sz="84415" autoAdjust="0"/>
  </p:normalViewPr>
  <p:slideViewPr>
    <p:cSldViewPr snapToGrid="0">
      <p:cViewPr varScale="1">
        <p:scale>
          <a:sx n="95" d="100"/>
          <a:sy n="95" d="100"/>
        </p:scale>
        <p:origin x="113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F1BA8-8E18-44BA-A405-92BE9FDA6A6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9405F-8828-42B2-A6C8-682952DD0A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866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总共有</a:t>
            </a:r>
            <a:r>
              <a:rPr lang="en-US" altLang="zh-CN" dirty="0"/>
              <a:t>flooring(log(n-1))+1</a:t>
            </a:r>
            <a:r>
              <a:rPr lang="zh-CN" altLang="en-US" dirty="0"/>
              <a:t>项</a:t>
            </a:r>
            <a:endParaRPr lang="en-US" altLang="zh-CN" dirty="0"/>
          </a:p>
          <a:p>
            <a:r>
              <a:rPr lang="en-US" altLang="zh-CN" dirty="0"/>
              <a:t>immediate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3F01BC-9486-4C0E-A25E-99652EE49A8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091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aggregate  [ˈ</a:t>
            </a:r>
            <a:r>
              <a:rPr lang="en-US" altLang="zh-CN" dirty="0" err="1"/>
              <a:t>ægrɪgət</a:t>
            </a:r>
            <a:r>
              <a:rPr lang="en-US" altLang="zh-CN" dirty="0"/>
              <a:t>]  accounting [</a:t>
            </a:r>
            <a:r>
              <a:rPr lang="en-US" altLang="zh-CN" dirty="0" err="1"/>
              <a:t>əˈkaʊntɪŋ</a:t>
            </a:r>
            <a:r>
              <a:rPr lang="en-US" altLang="zh-CN" dirty="0"/>
              <a:t>]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3F01BC-9486-4C0E-A25E-99652EE49A8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35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Fictitious  [</a:t>
            </a:r>
            <a:r>
              <a:rPr lang="en-US" altLang="zh-CN" dirty="0" err="1"/>
              <a:t>fɪkˈtɪʃəs</a:t>
            </a:r>
            <a:r>
              <a:rPr lang="en-US" altLang="zh-CN" dirty="0"/>
              <a:t>] consume  [</a:t>
            </a:r>
            <a:r>
              <a:rPr lang="en-US" altLang="zh-CN" dirty="0" err="1"/>
              <a:t>kənˈsju:m</a:t>
            </a:r>
            <a:r>
              <a:rPr lang="en-US" altLang="zh-CN" dirty="0"/>
              <a:t>] assume  [</a:t>
            </a:r>
            <a:r>
              <a:rPr lang="en-US" altLang="zh-CN" dirty="0" err="1"/>
              <a:t>əˈsju:m</a:t>
            </a:r>
            <a:r>
              <a:rPr lang="en-US" altLang="zh-CN" dirty="0"/>
              <a:t>]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3F01BC-9486-4C0E-A25E-99652EE49A8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215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Bank’=</a:t>
            </a:r>
            <a:r>
              <a:rPr lang="en-US" altLang="zh-CN" dirty="0" err="1"/>
              <a:t>bank+c</a:t>
            </a:r>
            <a:r>
              <a:rPr lang="en-US" altLang="zh-CN" dirty="0"/>
              <a:t>^-c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962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telescope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3F01BC-9486-4C0E-A25E-99652EE49A8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417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Bank=delta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42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Ceiling(</a:t>
            </a:r>
            <a:r>
              <a:rPr lang="en-US" altLang="zh-CN" dirty="0" err="1"/>
              <a:t>logi</a:t>
            </a:r>
            <a:r>
              <a:rPr lang="en-US" altLang="zh-CN" dirty="0"/>
              <a:t>)=log(i-1)+1, exact power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3F01BC-9486-4C0E-A25E-99652EE49A8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185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13D92-891B-4775-A595-979556C3FA8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w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zh-CN" altLang="en-US" dirty="0"/>
            </a:br>
            <a:r>
              <a:rPr lang="en-US" altLang="zh-CN" dirty="0"/>
              <a:t> </a:t>
            </a:r>
            <a:r>
              <a:rPr lang="en-US" altLang="zh-CN" sz="4000" dirty="0"/>
              <a:t>Lecture 7</a:t>
            </a:r>
            <a:br>
              <a:rPr lang="en-US" altLang="zh-CN" sz="4000" dirty="0"/>
            </a:br>
            <a:r>
              <a:rPr lang="en-US" altLang="zh-CN" sz="4000" dirty="0"/>
              <a:t>Amortized analysis</a:t>
            </a:r>
            <a:endParaRPr lang="zh-CN" altLang="en-US" sz="4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875171"/>
            <a:ext cx="9144000" cy="1655762"/>
          </a:xfrm>
        </p:spPr>
        <p:txBody>
          <a:bodyPr/>
          <a:lstStyle/>
          <a:p>
            <a:r>
              <a:rPr lang="en-US" altLang="zh-CN" dirty="0"/>
              <a:t>Spring 2026</a:t>
            </a:r>
          </a:p>
          <a:p>
            <a:r>
              <a:rPr lang="en-US" altLang="zh-CN" dirty="0" err="1"/>
              <a:t>Zhihua</a:t>
            </a:r>
            <a:r>
              <a:rPr lang="en-US" altLang="zh-CN" dirty="0"/>
              <a:t> Jiang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331840" y="391887"/>
            <a:ext cx="9423225" cy="5974946"/>
            <a:chOff x="1331840" y="391887"/>
            <a:chExt cx="9423225" cy="5974946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1840" y="391887"/>
              <a:ext cx="9423225" cy="5974946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5728591" y="5595140"/>
              <a:ext cx="914400" cy="237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sym typeface="Symbol" panose="05050102010706020507" pitchFamily="18" charset="2"/>
                </a:rPr>
                <a:t></a:t>
              </a:r>
              <a:r>
                <a:rPr lang="en-US" altLang="zh-CN" dirty="0">
                  <a:solidFill>
                    <a:schemeClr val="tx1"/>
                  </a:solidFill>
                  <a:sym typeface="Symbol" panose="05050102010706020507" pitchFamily="18" charset="2"/>
                </a:rPr>
                <a:t>(</a:t>
              </a:r>
              <a:r>
                <a:rPr lang="zh-CN" altLang="en-US" dirty="0">
                  <a:solidFill>
                    <a:schemeClr val="tx1"/>
                  </a:solidFill>
                  <a:sym typeface="Symbol" panose="05050102010706020507" pitchFamily="18" charset="2"/>
                </a:rPr>
                <a:t></a:t>
              </a:r>
              <a:r>
                <a:rPr lang="en-US" altLang="zh-CN" dirty="0">
                  <a:solidFill>
                    <a:schemeClr val="tx1"/>
                  </a:solidFill>
                  <a:sym typeface="Symbol" panose="05050102010706020507" pitchFamily="18" charset="2"/>
                </a:rPr>
                <a:t>)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3975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08" y="196870"/>
            <a:ext cx="7975704" cy="605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302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95" y="916007"/>
            <a:ext cx="10960937" cy="473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10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5D3DEC9-8C8B-C638-8EC9-5863E974B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042" y="676255"/>
            <a:ext cx="7281916" cy="550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172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03" y="212671"/>
            <a:ext cx="9715089" cy="299298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229" y="3865178"/>
            <a:ext cx="7494990" cy="22098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1967" y="4762698"/>
            <a:ext cx="1861079" cy="847456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184468"/>
              </p:ext>
            </p:extLst>
          </p:nvPr>
        </p:nvGraphicFramePr>
        <p:xfrm>
          <a:off x="9446922" y="5610154"/>
          <a:ext cx="2325540" cy="349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34960" imgH="215640" progId="Equation.DSMT4">
                  <p:embed/>
                </p:oleObj>
              </mc:Choice>
              <mc:Fallback>
                <p:oleObj name="Equation" r:id="rId6" imgW="1434960" imgH="21564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446922" y="5610154"/>
                        <a:ext cx="2325540" cy="3498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F876FFA2-8102-C27F-ACCC-D267DEEB30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7009" y="2773442"/>
            <a:ext cx="4752452" cy="1699362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3344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72" y="1353787"/>
            <a:ext cx="11449387" cy="378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787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36" y="1042167"/>
            <a:ext cx="10754095" cy="39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549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02" y="0"/>
            <a:ext cx="7019925" cy="2619375"/>
          </a:xfrm>
          <a:prstGeom prst="rect">
            <a:avLst/>
          </a:prstGeom>
        </p:spPr>
      </p:pic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7664391" y="1555318"/>
          <a:ext cx="4204647" cy="772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49360" imgH="431640" progId="Equation.DSMT4">
                  <p:embed/>
                </p:oleObj>
              </mc:Choice>
              <mc:Fallback>
                <p:oleObj name="Equation" r:id="rId4" imgW="2349360" imgH="4316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64391" y="1555318"/>
                        <a:ext cx="4204647" cy="7727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35E54E18-9969-0E99-4ED9-7B70D6CE42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98" y="2894100"/>
            <a:ext cx="5762667" cy="3195661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54656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27" y="741982"/>
            <a:ext cx="807720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06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06" y="827853"/>
            <a:ext cx="10839450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055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09" y="264072"/>
            <a:ext cx="7429500" cy="22098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BCB4EE8-5089-FB6E-A9E0-8AC5A819E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938" y="2566772"/>
            <a:ext cx="4062442" cy="129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216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946" y="277702"/>
            <a:ext cx="7905750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443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3" y="1132537"/>
            <a:ext cx="11843657" cy="235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100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E1414-1B1B-ECBB-D823-B0ABAF784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Reminder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9903F8-3618-E3A7-F9DE-72C81D997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Test-3 will be held next Friday (June 12</a:t>
            </a:r>
            <a:r>
              <a:rPr lang="en-US" altLang="zh-CN" baseline="30000" dirty="0"/>
              <a:t>th</a:t>
            </a:r>
            <a:r>
              <a:rPr lang="en-US" altLang="zh-CN" dirty="0"/>
              <a:t>) during class. Please get prepared.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70E21B-0C55-DABA-0756-86892ADEF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F1C9E-1098-48D9-B6CC-80E94073E13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30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1592</TotalTime>
  <Words>109</Words>
  <Application>Microsoft Office PowerPoint</Application>
  <PresentationFormat>宽屏</PresentationFormat>
  <Paragraphs>22</Paragraphs>
  <Slides>15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等线</vt:lpstr>
      <vt:lpstr>等线 Light</vt:lpstr>
      <vt:lpstr>Arial</vt:lpstr>
      <vt:lpstr>Symbol</vt:lpstr>
      <vt:lpstr>Office 主题​​</vt:lpstr>
      <vt:lpstr>Equation</vt:lpstr>
      <vt:lpstr>  Lecture 7 Amortized analysis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Reminder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Lecture 1: Introduction and Peak Finding </dc:title>
  <dc:creator>r</dc:creator>
  <cp:lastModifiedBy>Dongning Rao</cp:lastModifiedBy>
  <cp:revision>129</cp:revision>
  <dcterms:created xsi:type="dcterms:W3CDTF">2020-02-26T01:48:00Z</dcterms:created>
  <dcterms:modified xsi:type="dcterms:W3CDTF">2026-06-04T16:32:36Z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