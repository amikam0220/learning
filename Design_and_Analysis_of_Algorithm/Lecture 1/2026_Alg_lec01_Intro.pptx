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9" r:id="rId3"/>
    <p:sldId id="257" r:id="rId4"/>
    <p:sldId id="272" r:id="rId5"/>
    <p:sldId id="273" r:id="rId6"/>
    <p:sldId id="277" r:id="rId7"/>
    <p:sldId id="274" r:id="rId8"/>
    <p:sldId id="275" r:id="rId9"/>
    <p:sldId id="276" r:id="rId10"/>
    <p:sldId id="278" r:id="rId11"/>
    <p:sldId id="279" r:id="rId12"/>
    <p:sldId id="319" r:id="rId13"/>
    <p:sldId id="320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1" r:id="rId25"/>
    <p:sldId id="292" r:id="rId26"/>
    <p:sldId id="293" r:id="rId27"/>
    <p:sldId id="294" r:id="rId28"/>
    <p:sldId id="295" r:id="rId29"/>
    <p:sldId id="296" r:id="rId30"/>
    <p:sldId id="297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88" autoAdjust="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F1BA8-8E18-44BA-A405-92BE9FDA6A6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9405F-8828-42B2-A6C8-682952DD0A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257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Iterated_logarithm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ciba.com/numerator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comment[ˈ</a:t>
            </a:r>
            <a:r>
              <a:rPr lang="en-US" altLang="zh-CN" dirty="0" err="1"/>
              <a:t>kɑːment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//</a:t>
            </a:r>
            <a:r>
              <a:rPr lang="zh-CN" altLang="en-US" dirty="0"/>
              <a:t> </a:t>
            </a:r>
            <a:r>
              <a:rPr lang="en-US" altLang="zh-CN" dirty="0"/>
              <a:t>backslash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256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(n+1)-2+1=n</a:t>
            </a:r>
          </a:p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684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CE6FCD3-7978-4D25-A3BB-A3592EC8E665}" type="slidenum">
              <a:rPr lang="en-US" altLang="zh-HK"/>
              <a:t>20</a:t>
            </a:fld>
            <a:endParaRPr lang="en-US" altLang="zh-HK"/>
          </a:p>
        </p:txBody>
      </p:sp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u="none" strike="noStrike" dirty="0">
                <a:solidFill>
                  <a:srgbClr val="155FAA"/>
                </a:solidFill>
                <a:effectLst/>
                <a:latin typeface="Helvetica" panose="020B0604020202020204" pitchFamily="34" charset="0"/>
                <a:hlinkClick r:id="rId3"/>
              </a:rPr>
              <a:t>Log*: iterated logarithm</a:t>
            </a:r>
            <a:endParaRPr lang="zh-HK" altLang="zh-HK" dirty="0"/>
          </a:p>
        </p:txBody>
      </p:sp>
    </p:spTree>
    <p:extLst>
      <p:ext uri="{BB962C8B-B14F-4D97-AF65-F5344CB8AC3E}">
        <p14:creationId xmlns:p14="http://schemas.microsoft.com/office/powerpoint/2010/main" val="3038210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049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Symmetry[ˈ</a:t>
            </a:r>
            <a:r>
              <a:rPr lang="en-US" altLang="zh-CN" dirty="0" err="1"/>
              <a:t>sɪmətri</a:t>
            </a:r>
            <a:r>
              <a:rPr lang="en-US" altLang="zh-CN" dirty="0"/>
              <a:t>] </a:t>
            </a:r>
          </a:p>
          <a:p>
            <a:r>
              <a:rPr lang="en-US" altLang="zh-CN" dirty="0"/>
              <a:t>Mutual[ˈ</a:t>
            </a:r>
            <a:r>
              <a:rPr lang="en-US" altLang="zh-CN" dirty="0" err="1"/>
              <a:t>mjuːtʃuəl</a:t>
            </a:r>
            <a:r>
              <a:rPr lang="en-US" altLang="zh-CN" dirty="0"/>
              <a:t>]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161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logn</a:t>
            </a:r>
            <a:r>
              <a:rPr lang="en-US" altLang="zh-CN" dirty="0"/>
              <a:t>*</a:t>
            </a:r>
            <a:r>
              <a:rPr lang="en-US" altLang="zh-CN" dirty="0" err="1"/>
              <a:t>loglogn</a:t>
            </a:r>
            <a:r>
              <a:rPr lang="en-US" altLang="zh-CN" dirty="0"/>
              <a:t>=logy=</a:t>
            </a:r>
            <a:r>
              <a:rPr lang="en-US" altLang="zh-CN" dirty="0" err="1"/>
              <a:t>logn^loglogn</a:t>
            </a:r>
            <a:r>
              <a:rPr lang="en-US" altLang="zh-CN" dirty="0"/>
              <a:t>, y=</a:t>
            </a:r>
            <a:r>
              <a:rPr lang="en-US" altLang="zh-CN" dirty="0" err="1"/>
              <a:t>n^loglogn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170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1=(k+1,k+1)*j^0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2154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/>
              <a:t>分子</a:t>
            </a:r>
            <a:r>
              <a:rPr lang="en-US" altLang="zh-CN">
                <a:hlinkClick r:id="rId3"/>
              </a:rPr>
              <a:t>numerator</a:t>
            </a:r>
            <a:endParaRPr lang="en-US" altLang="zh-CN"/>
          </a:p>
          <a:p>
            <a:r>
              <a:rPr lang="zh-CN" altLang="en-US"/>
              <a:t>分母</a:t>
            </a:r>
            <a:r>
              <a:rPr lang="en-US" altLang="zh-CN"/>
              <a:t>denominator</a:t>
            </a:r>
            <a:endParaRPr lang="zh-CN" altLang="en-US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DCCDA0B-639B-403F-AA2B-560AEAF8EC84}" type="slidenum">
              <a:rPr lang="zh-CN" altLang="en-US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1057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13D92-891B-4775-A595-979556C3FA84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29.wmf"/><Relationship Id="rId17" Type="http://schemas.openxmlformats.org/officeDocument/2006/relationships/image" Target="../media/image24.wmf"/><Relationship Id="rId2" Type="http://schemas.openxmlformats.org/officeDocument/2006/relationships/notesSlide" Target="../notesSlides/notesSlide6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image" Target="../media/image31.png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30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2.wmf"/><Relationship Id="rId7" Type="http://schemas.openxmlformats.org/officeDocument/2006/relationships/oleObject" Target="../embeddings/oleObject10.bin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wmf"/><Relationship Id="rId4" Type="http://schemas.openxmlformats.org/officeDocument/2006/relationships/oleObject" Target="../embeddings/oleObject9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12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wmf"/><Relationship Id="rId11" Type="http://schemas.openxmlformats.org/officeDocument/2006/relationships/image" Target="../media/image43.png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17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4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zh-CN" altLang="en-US" dirty="0"/>
            </a:br>
            <a:r>
              <a:rPr lang="en-US" altLang="zh-CN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Lecture 1</a:t>
            </a:r>
            <a:br>
              <a:rPr lang="en-US" altLang="zh-CN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CN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</a:t>
            </a:r>
            <a:endParaRPr lang="zh-CN" altLang="en-US" sz="5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Textbook &amp; Grade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3196" y="1599994"/>
            <a:ext cx="11096501" cy="46163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Thomas </a:t>
            </a:r>
            <a:r>
              <a:rPr lang="en-US" altLang="zh-CN" dirty="0" err="1"/>
              <a:t>Cormen</a:t>
            </a:r>
            <a:r>
              <a:rPr lang="en-US" altLang="zh-CN" dirty="0"/>
              <a:t>, Charles </a:t>
            </a:r>
            <a:r>
              <a:rPr lang="en-US" altLang="zh-CN" dirty="0" err="1"/>
              <a:t>Leiserson</a:t>
            </a:r>
            <a:r>
              <a:rPr lang="en-US" altLang="zh-CN" dirty="0"/>
              <a:t>, Ronald </a:t>
            </a:r>
            <a:r>
              <a:rPr lang="en-US" altLang="zh-CN" dirty="0" err="1"/>
              <a:t>Rivest</a:t>
            </a:r>
            <a:r>
              <a:rPr lang="en-US" altLang="zh-CN" dirty="0"/>
              <a:t>, and Clifford Stein. Introduction to Algorithms. 3rd ed.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Grade system: </a:t>
            </a:r>
            <a:r>
              <a:rPr lang="en-US" altLang="zh-CN" b="1" dirty="0"/>
              <a:t>written homework </a:t>
            </a:r>
            <a:r>
              <a:rPr lang="en-US" altLang="zh-CN" dirty="0"/>
              <a:t>+ </a:t>
            </a:r>
            <a:r>
              <a:rPr lang="en-US" altLang="zh-CN" b="1" dirty="0"/>
              <a:t>final exam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QQ</a:t>
            </a:r>
            <a:r>
              <a:rPr lang="en-US" altLang="zh-CN" dirty="0"/>
              <a:t> group: </a:t>
            </a:r>
            <a:r>
              <a:rPr lang="en-US" altLang="zh-CN" b="1" dirty="0"/>
              <a:t>1087382648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3127" y="3134028"/>
            <a:ext cx="2358190" cy="320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88EB161-4B75-1BFB-E653-46F2F3888CBC}"/>
              </a:ext>
            </a:extLst>
          </p:cNvPr>
          <p:cNvSpPr txBox="1"/>
          <p:nvPr/>
        </p:nvSpPr>
        <p:spPr>
          <a:xfrm>
            <a:off x="743196" y="4699015"/>
            <a:ext cx="858000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Reminder: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ich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resources online (e.g., lectures, projects, and assignments).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programming languages are recommended to implement algorithms.</a:t>
            </a:r>
            <a:endParaRPr lang="en-US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212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6065" y="796909"/>
            <a:ext cx="10515600" cy="1000536"/>
          </a:xfrm>
        </p:spPr>
        <p:txBody>
          <a:bodyPr>
            <a:normAutofit fontScale="90000"/>
          </a:bodyPr>
          <a:lstStyle/>
          <a:p>
            <a:br>
              <a:rPr lang="zh-CN" altLang="en-US" dirty="0"/>
            </a:br>
            <a:r>
              <a:rPr lang="en-US" altLang="zh-CN" dirty="0"/>
              <a:t> Course Content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EA8117-0366-6BA8-F691-8A3035EFCAC2}"/>
              </a:ext>
            </a:extLst>
          </p:cNvPr>
          <p:cNvSpPr txBox="1"/>
          <p:nvPr/>
        </p:nvSpPr>
        <p:spPr>
          <a:xfrm>
            <a:off x="1295946" y="2387418"/>
            <a:ext cx="977310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Divide and conquer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Computation models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Sorting and trees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Dynamic programming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Greedy algorithms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NP-completeness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58874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latin typeface="+mn-lt"/>
                <a:ea typeface="+mn-ea"/>
                <a:cs typeface="+mn-cs"/>
              </a:rPr>
              <a:t>Definition of algorithms</a:t>
            </a:r>
            <a:endParaRPr lang="zh-CN" altLang="en-US" sz="400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811494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A sequence of steps which is used to solve a category of problems. 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sz="2400" dirty="0"/>
              <a:t>Unambiguous: every step is deterministic</a:t>
            </a:r>
          </a:p>
          <a:p>
            <a:r>
              <a:rPr lang="en-US" altLang="zh-CN" sz="2400" dirty="0"/>
              <a:t>Mechanical: machine can “understand”</a:t>
            </a:r>
          </a:p>
          <a:p>
            <a:r>
              <a:rPr lang="en-US" altLang="zh-CN" sz="2400" dirty="0"/>
              <a:t>Finite: be implemented in limited steps</a:t>
            </a:r>
          </a:p>
          <a:p>
            <a:r>
              <a:rPr lang="en-US" altLang="zh-CN" sz="2400" dirty="0"/>
              <a:t>Input/output: state the problem size and the result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Algorithm representation</a:t>
            </a:r>
            <a:endParaRPr lang="zh-CN" altLang="en-US" sz="4000" dirty="0"/>
          </a:p>
        </p:txBody>
      </p:sp>
      <p:pic>
        <p:nvPicPr>
          <p:cNvPr id="3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97252"/>
            <a:ext cx="5395866" cy="267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511" y="4631985"/>
            <a:ext cx="4951413" cy="17351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0258" y="365125"/>
            <a:ext cx="2733675" cy="6023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线形标注 1 5"/>
          <p:cNvSpPr/>
          <p:nvPr/>
        </p:nvSpPr>
        <p:spPr>
          <a:xfrm>
            <a:off x="4276679" y="3797244"/>
            <a:ext cx="1957387" cy="434975"/>
          </a:xfrm>
          <a:prstGeom prst="borderCallout1">
            <a:avLst>
              <a:gd name="adj1" fmla="val 18750"/>
              <a:gd name="adj2" fmla="val -8333"/>
              <a:gd name="adj3" fmla="val -43211"/>
              <a:gd name="adj4" fmla="val -16394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 </a:t>
            </a:r>
            <a:endParaRPr lang="zh-CN" altLang="en-US" sz="16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线形标注 1 6"/>
          <p:cNvSpPr/>
          <p:nvPr/>
        </p:nvSpPr>
        <p:spPr>
          <a:xfrm>
            <a:off x="6262675" y="4900087"/>
            <a:ext cx="1958975" cy="436563"/>
          </a:xfrm>
          <a:prstGeom prst="borderCallout1">
            <a:avLst>
              <a:gd name="adj1" fmla="val 18750"/>
              <a:gd name="adj2" fmla="val -8333"/>
              <a:gd name="adj3" fmla="val 144387"/>
              <a:gd name="adj4" fmla="val -17875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 </a:t>
            </a:r>
            <a:r>
              <a:rPr lang="en-US" altLang="zh-CN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Pseudocode </a:t>
            </a:r>
            <a:endParaRPr lang="zh-CN" altLang="en-US" sz="16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线形标注 1 7"/>
          <p:cNvSpPr/>
          <p:nvPr/>
        </p:nvSpPr>
        <p:spPr>
          <a:xfrm>
            <a:off x="10233025" y="6367122"/>
            <a:ext cx="1958975" cy="436563"/>
          </a:xfrm>
          <a:prstGeom prst="borderCallout1">
            <a:avLst>
              <a:gd name="adj1" fmla="val 18750"/>
              <a:gd name="adj2" fmla="val -8333"/>
              <a:gd name="adj3" fmla="val -90576"/>
              <a:gd name="adj4" fmla="val 1620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 chart</a:t>
            </a:r>
            <a:endParaRPr lang="zh-CN" altLang="en-US" sz="16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9304" y="405266"/>
            <a:ext cx="7467600" cy="826520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Algorithm vs. Program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261754" y="1600553"/>
            <a:ext cx="9668492" cy="4387030"/>
          </a:xfrm>
        </p:spPr>
        <p:txBody>
          <a:bodyPr/>
          <a:lstStyle/>
          <a:p>
            <a:pPr algn="just"/>
            <a:r>
              <a:rPr lang="en-US" altLang="zh-CN" dirty="0">
                <a:cs typeface="Times New Roman" panose="02020603050405020304" pitchFamily="18" charset="0"/>
              </a:rPr>
              <a:t>Some people maybe think that algorithms are just programs. We need to clarify that 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programs could be a way to express algorithms</a:t>
            </a:r>
            <a:r>
              <a:rPr lang="en-US" altLang="zh-CN" dirty="0">
                <a:cs typeface="Times New Roman" panose="02020603050405020304" pitchFamily="18" charset="0"/>
              </a:rPr>
              <a:t>, and they are not exactly same.</a:t>
            </a:r>
          </a:p>
          <a:p>
            <a:pPr algn="just"/>
            <a:r>
              <a:rPr lang="en-US" altLang="zh-CN" dirty="0">
                <a:cs typeface="Times New Roman" panose="02020603050405020304" pitchFamily="18" charset="0"/>
              </a:rPr>
              <a:t>The big difference between algorithms and programs is that 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algorithms are for people to communicate</a:t>
            </a:r>
            <a:r>
              <a:rPr lang="en-US" altLang="zh-CN" dirty="0">
                <a:cs typeface="Times New Roman" panose="02020603050405020304" pitchFamily="18" charset="0"/>
              </a:rPr>
              <a:t> while 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programs are for machines to run</a:t>
            </a:r>
            <a:r>
              <a:rPr lang="en-US" altLang="zh-CN" dirty="0"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altLang="zh-CN" dirty="0">
                <a:cs typeface="Times New Roman" panose="02020603050405020304" pitchFamily="18" charset="0"/>
              </a:rPr>
              <a:t>Generally, algorithms cannot be directly executed in computers. In additions, it is too precise when we use programs to express algorithms.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D266EF-B3A8-492D-B1C5-040BE457B237}" type="datetime1">
              <a:rPr lang="zh-CN" altLang="en-US" smtClean="0"/>
              <a:t>2026/3/13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33397C-302D-495F-96C8-3B14548E9EB1}" type="slidenum">
              <a:rPr lang="zh-CN" altLang="en-US" smtClean="0"/>
              <a:t>6</a:t>
            </a:fld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E810973-AF3F-4B77-A4CA-BEEB6BED7F9D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2122D7-0D1D-406E-961A-FC8273277069}" type="slidenum">
              <a:rPr lang="zh-CN" altLang="en-US" smtClean="0"/>
              <a:t>7</a:t>
            </a:fld>
            <a:endParaRPr lang="en-US" altLang="zh-CN"/>
          </a:p>
        </p:txBody>
      </p:sp>
      <p:grpSp>
        <p:nvGrpSpPr>
          <p:cNvPr id="5" name="组合 4"/>
          <p:cNvGrpSpPr/>
          <p:nvPr/>
        </p:nvGrpSpPr>
        <p:grpSpPr>
          <a:xfrm>
            <a:off x="1661321" y="300042"/>
            <a:ext cx="8705837" cy="5780188"/>
            <a:chOff x="1661321" y="300042"/>
            <a:chExt cx="8705837" cy="578018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321" y="300042"/>
              <a:ext cx="8705837" cy="5780188"/>
            </a:xfrm>
            <a:prstGeom prst="rect">
              <a:avLst/>
            </a:prstGeom>
          </p:spPr>
        </p:pic>
        <p:sp>
          <p:nvSpPr>
            <p:cNvPr id="6" name="椭圆 5"/>
            <p:cNvSpPr/>
            <p:nvPr/>
          </p:nvSpPr>
          <p:spPr>
            <a:xfrm>
              <a:off x="8610600" y="1217398"/>
              <a:ext cx="1080120" cy="43204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7618531" y="1571482"/>
              <a:ext cx="1080120" cy="43204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1990788" y="2138904"/>
              <a:ext cx="1080120" cy="43204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4895839" y="2463474"/>
              <a:ext cx="1823194" cy="43204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6034957" y="3163836"/>
              <a:ext cx="1583574" cy="43204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E810973-AF3F-4B77-A4CA-BEEB6BED7F9D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2122D7-0D1D-406E-961A-FC8273277069}" type="slidenum">
              <a:rPr lang="zh-CN" altLang="en-US" smtClean="0"/>
              <a:t>8</a:t>
            </a:fld>
            <a:endParaRPr lang="en-US" altLang="zh-CN"/>
          </a:p>
        </p:txBody>
      </p:sp>
      <p:grpSp>
        <p:nvGrpSpPr>
          <p:cNvPr id="9" name="组合 8"/>
          <p:cNvGrpSpPr/>
          <p:nvPr/>
        </p:nvGrpSpPr>
        <p:grpSpPr>
          <a:xfrm>
            <a:off x="1707937" y="268287"/>
            <a:ext cx="8258175" cy="6316681"/>
            <a:chOff x="1707937" y="268287"/>
            <a:chExt cx="8258175" cy="631668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7937" y="288943"/>
              <a:ext cx="8258175" cy="6296025"/>
            </a:xfrm>
            <a:prstGeom prst="rect">
              <a:avLst/>
            </a:prstGeom>
          </p:spPr>
        </p:pic>
        <p:sp>
          <p:nvSpPr>
            <p:cNvPr id="5" name="椭圆 4"/>
            <p:cNvSpPr/>
            <p:nvPr/>
          </p:nvSpPr>
          <p:spPr>
            <a:xfrm>
              <a:off x="7176120" y="268287"/>
              <a:ext cx="1080120" cy="43204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3143672" y="1196752"/>
              <a:ext cx="1080120" cy="43204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3169920" y="3206311"/>
              <a:ext cx="1629936" cy="43204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6240016" y="4725144"/>
              <a:ext cx="1080120" cy="43204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E810973-AF3F-4B77-A4CA-BEEB6BED7F9D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2122D7-0D1D-406E-961A-FC8273277069}" type="slidenum">
              <a:rPr lang="zh-CN" altLang="en-US" smtClean="0"/>
              <a:t>9</a:t>
            </a:fld>
            <a:endParaRPr lang="en-US" altLang="zh-CN"/>
          </a:p>
        </p:txBody>
      </p:sp>
      <p:grpSp>
        <p:nvGrpSpPr>
          <p:cNvPr id="8" name="组合 7"/>
          <p:cNvGrpSpPr/>
          <p:nvPr/>
        </p:nvGrpSpPr>
        <p:grpSpPr>
          <a:xfrm>
            <a:off x="1801814" y="650876"/>
            <a:ext cx="8124825" cy="5343525"/>
            <a:chOff x="1801814" y="650876"/>
            <a:chExt cx="8124825" cy="534352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1814" y="650876"/>
              <a:ext cx="8124825" cy="5343525"/>
            </a:xfrm>
            <a:prstGeom prst="rect">
              <a:avLst/>
            </a:prstGeom>
          </p:spPr>
        </p:pic>
        <p:sp>
          <p:nvSpPr>
            <p:cNvPr id="5" name="椭圆 4"/>
            <p:cNvSpPr/>
            <p:nvPr/>
          </p:nvSpPr>
          <p:spPr>
            <a:xfrm>
              <a:off x="2135560" y="1280367"/>
              <a:ext cx="1080120" cy="43204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6240016" y="2564904"/>
              <a:ext cx="1728192" cy="43204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3233029" y="4941168"/>
              <a:ext cx="1080120" cy="43204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878" y="294671"/>
            <a:ext cx="7467600" cy="896342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Example of T(n)</a:t>
            </a:r>
            <a:endParaRPr lang="zh-CN" altLang="en-US" sz="400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51319B-3150-445D-873C-C1A8A58D7EC8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AA818ED-83AA-4D8B-9FB4-7397B99B5AD5}" type="slidenum">
              <a:rPr lang="zh-CN" altLang="en-US" smtClean="0"/>
              <a:t>10</a:t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878" y="1068779"/>
            <a:ext cx="7614063" cy="5652696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 flipV="1">
            <a:off x="2422566" y="4191990"/>
            <a:ext cx="6935190" cy="11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2185060" y="4441371"/>
            <a:ext cx="1223158" cy="11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581400" y="4441371"/>
            <a:ext cx="58980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2185060" y="4655127"/>
            <a:ext cx="3574472" cy="11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625940" y="2526393"/>
            <a:ext cx="19881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 err="1"/>
              <a:t>t</a:t>
            </a:r>
            <a:r>
              <a:rPr lang="en-US" altLang="zh-CN" sz="1400" baseline="-25000" dirty="0" err="1"/>
              <a:t>j</a:t>
            </a:r>
            <a:r>
              <a:rPr lang="en-US" altLang="zh-CN" sz="1400" dirty="0"/>
              <a:t>: the number of comparisons in the while loop to insert the </a:t>
            </a:r>
            <a:r>
              <a:rPr lang="en-US" altLang="zh-CN" sz="1400" dirty="0" err="1"/>
              <a:t>jth</a:t>
            </a:r>
            <a:r>
              <a:rPr lang="en-US" altLang="zh-CN" sz="1400" dirty="0"/>
              <a:t> element</a:t>
            </a:r>
          </a:p>
          <a:p>
            <a:endParaRPr lang="en-US" altLang="zh-CN" sz="1400" dirty="0"/>
          </a:p>
          <a:p>
            <a:r>
              <a:rPr lang="en-US" altLang="zh-CN" sz="1400" dirty="0"/>
              <a:t>Ex: 4 2 8 3</a:t>
            </a:r>
          </a:p>
          <a:p>
            <a:r>
              <a:rPr lang="en-US" altLang="zh-CN" sz="1400" dirty="0"/>
              <a:t>j=2 key=2, t2=2</a:t>
            </a:r>
          </a:p>
          <a:p>
            <a:r>
              <a:rPr lang="en-US" altLang="zh-CN" sz="1400" dirty="0"/>
              <a:t>j=3 key=8, t3=1</a:t>
            </a:r>
          </a:p>
          <a:p>
            <a:r>
              <a:rPr lang="en-US" altLang="zh-CN" sz="1400" dirty="0"/>
              <a:t>j=4 key=3, t4=3</a:t>
            </a:r>
            <a:endParaRPr lang="zh-CN" altLang="en-US" sz="1400" dirty="0"/>
          </a:p>
          <a:p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EB9FAE-0E82-0CBA-04B5-04FA93A3420E}"/>
              </a:ext>
            </a:extLst>
          </p:cNvPr>
          <p:cNvSpPr/>
          <p:nvPr/>
        </p:nvSpPr>
        <p:spPr>
          <a:xfrm>
            <a:off x="5943600" y="1485901"/>
            <a:ext cx="1579789" cy="1161506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5DA868-2287-25BD-FFFD-6F5677B665D3}"/>
              </a:ext>
            </a:extLst>
          </p:cNvPr>
          <p:cNvSpPr/>
          <p:nvPr/>
        </p:nvSpPr>
        <p:spPr>
          <a:xfrm>
            <a:off x="5943600" y="3524017"/>
            <a:ext cx="1579789" cy="21671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7F5745-23FF-F931-EEB4-B007CA8D5D9D}"/>
              </a:ext>
            </a:extLst>
          </p:cNvPr>
          <p:cNvSpPr/>
          <p:nvPr/>
        </p:nvSpPr>
        <p:spPr>
          <a:xfrm>
            <a:off x="5943600" y="2695302"/>
            <a:ext cx="2246811" cy="77941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046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4000" dirty="0">
                <a:latin typeface="+mn-ea"/>
                <a:ea typeface="+mn-ea"/>
                <a:cs typeface="Arial" panose="020B0604020202020204" pitchFamily="34" charset="0"/>
              </a:rPr>
              <a:t>Asymptotic notation</a:t>
            </a:r>
            <a:endParaRPr lang="zh-CN" altLang="en-US" sz="40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9459" name="内容占位符 2"/>
          <p:cNvSpPr>
            <a:spLocks noGrp="1"/>
          </p:cNvSpPr>
          <p:nvPr>
            <p:ph sz="quarter" idx="1"/>
          </p:nvPr>
        </p:nvSpPr>
        <p:spPr>
          <a:xfrm>
            <a:off x="838200" y="1455590"/>
            <a:ext cx="10757263" cy="4873625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+mn-ea"/>
                <a:cs typeface="Arial" panose="020B0604020202020204" pitchFamily="34" charset="0"/>
              </a:rPr>
              <a:t>Why not express running time in terms of basic computer steps?</a:t>
            </a:r>
          </a:p>
          <a:p>
            <a:pPr lvl="1" eaLnBrk="1" hangingPunct="1"/>
            <a:r>
              <a:rPr lang="en-US" altLang="zh-CN" dirty="0">
                <a:latin typeface="+mn-ea"/>
                <a:cs typeface="Arial" panose="020B0604020202020204" pitchFamily="34" charset="0"/>
              </a:rPr>
              <a:t>Too precise: you need to count the times carefully.</a:t>
            </a:r>
          </a:p>
          <a:p>
            <a:pPr lvl="1" eaLnBrk="1" hangingPunct="1"/>
            <a:r>
              <a:rPr lang="en-US" altLang="zh-CN" dirty="0">
                <a:latin typeface="+mn-ea"/>
                <a:cs typeface="Arial" panose="020B0604020202020204" pitchFamily="34" charset="0"/>
              </a:rPr>
              <a:t>Depend on particular machines: the cost could be different.</a:t>
            </a:r>
          </a:p>
          <a:p>
            <a:pPr lvl="1" eaLnBrk="1" hangingPunct="1"/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latin typeface="+mn-ea"/>
                <a:cs typeface="Arial" panose="020B0604020202020204" pitchFamily="34" charset="0"/>
              </a:rPr>
              <a:t>Simplification: 5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baseline="30000" dirty="0">
                <a:latin typeface="+mn-ea"/>
                <a:cs typeface="Arial" panose="020B0604020202020204" pitchFamily="34" charset="0"/>
              </a:rPr>
              <a:t>3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+4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+3 </a:t>
            </a:r>
            <a:r>
              <a:rPr lang="en-US" altLang="zh-CN" dirty="0">
                <a:latin typeface="+mn-ea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5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baseline="30000" dirty="0">
                <a:latin typeface="+mn-ea"/>
                <a:cs typeface="Arial" panose="020B0604020202020204" pitchFamily="34" charset="0"/>
              </a:rPr>
              <a:t>3 </a:t>
            </a:r>
            <a:r>
              <a:rPr lang="en-US" altLang="zh-CN" dirty="0">
                <a:latin typeface="+mn-ea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baseline="30000" dirty="0">
                <a:latin typeface="+mn-ea"/>
                <a:cs typeface="Arial" panose="020B0604020202020204" pitchFamily="34" charset="0"/>
              </a:rPr>
              <a:t>3</a:t>
            </a:r>
          </a:p>
          <a:p>
            <a:pPr lvl="1" eaLnBrk="1" hangingPunct="1"/>
            <a:r>
              <a:rPr lang="en-US" altLang="zh-CN" dirty="0">
                <a:latin typeface="+mn-ea"/>
                <a:cs typeface="Arial" panose="020B0604020202020204" pitchFamily="34" charset="0"/>
              </a:rPr>
              <a:t>Leave out 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lower-order terms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(insignificant as 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 grows)</a:t>
            </a:r>
          </a:p>
          <a:p>
            <a:pPr lvl="1" eaLnBrk="1" hangingPunct="1"/>
            <a:r>
              <a:rPr lang="en-US" altLang="zh-CN" dirty="0">
                <a:latin typeface="+mn-ea"/>
                <a:cs typeface="Arial" panose="020B0604020202020204" pitchFamily="34" charset="0"/>
              </a:rPr>
              <a:t>Leave out 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the coefficient in </a:t>
            </a:r>
            <a:r>
              <a:rPr lang="en-US" altLang="zh-CN" b="1" i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the leading term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(computers will be faster)</a:t>
            </a:r>
          </a:p>
          <a:p>
            <a:pPr marL="0" indent="0" eaLnBrk="1" hangingPunct="1">
              <a:buNone/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   Finally, 5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baseline="30000" dirty="0">
                <a:latin typeface="+mn-ea"/>
                <a:cs typeface="Arial" panose="020B0604020202020204" pitchFamily="34" charset="0"/>
              </a:rPr>
              <a:t>3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+4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+3 = 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O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(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baseline="30000" dirty="0">
                <a:latin typeface="+mn-ea"/>
                <a:cs typeface="Arial" panose="020B0604020202020204" pitchFamily="34" charset="0"/>
              </a:rPr>
              <a:t>3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7130456-9BA7-49FE-925F-7FFB4FE7726F}" type="datetime1"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2026/3/13</a:t>
            </a:fld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81" name="灯片编号占位符 7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1BC4FCA-87EF-4F8F-95B0-EEDE28201291}" type="slidenum">
              <a:rPr lang="zh-CN" altLang="en-US">
                <a:solidFill>
                  <a:srgbClr val="FFFFFF"/>
                </a:solidFill>
                <a:cs typeface="Arial" panose="020B0604020202020204" pitchFamily="34" charset="0"/>
              </a:rPr>
              <a:t>11</a:t>
            </a:fld>
            <a:endParaRPr lang="en-US" altLang="zh-CN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analysis?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Correctness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Is the algorithm correct?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Efficiency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Can we do better?</a:t>
            </a:r>
          </a:p>
          <a:p>
            <a:r>
              <a:rPr lang="en-US" altLang="zh-CN" dirty="0"/>
              <a:t>Example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741" y="4353156"/>
            <a:ext cx="5062401" cy="119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89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36" y="274319"/>
            <a:ext cx="5345349" cy="2688035"/>
          </a:xfrm>
          <a:prstGeom prst="rect">
            <a:avLst/>
          </a:prstGeom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499" y="380117"/>
            <a:ext cx="2952902" cy="36196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987" y="1339912"/>
            <a:ext cx="5864828" cy="162244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909" y="4189866"/>
            <a:ext cx="3460928" cy="22416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136" y="3560180"/>
            <a:ext cx="7779150" cy="51437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923" y="5780448"/>
            <a:ext cx="7715647" cy="527077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6129525" y="380117"/>
            <a:ext cx="5885316" cy="2912116"/>
            <a:chOff x="6129525" y="380117"/>
            <a:chExt cx="5885316" cy="2912116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72857" y="2962354"/>
              <a:ext cx="2525280" cy="32987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29525" y="380117"/>
              <a:ext cx="2952902" cy="36196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50013" y="1339912"/>
              <a:ext cx="5864828" cy="1622442"/>
            </a:xfrm>
            <a:prstGeom prst="rect">
              <a:avLst/>
            </a:prstGeom>
          </p:spPr>
        </p:pic>
      </p:grpSp>
      <p:sp>
        <p:nvSpPr>
          <p:cNvPr id="13" name="矩形 12"/>
          <p:cNvSpPr/>
          <p:nvPr/>
        </p:nvSpPr>
        <p:spPr>
          <a:xfrm>
            <a:off x="221381" y="274319"/>
            <a:ext cx="5659655" cy="30179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066791" y="274319"/>
            <a:ext cx="5948050" cy="30179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21381" y="3497535"/>
            <a:ext cx="11793460" cy="30179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977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latin typeface="+mn-ea"/>
                <a:ea typeface="+mn-ea"/>
                <a:cs typeface="Arial" panose="020B0604020202020204" pitchFamily="34" charset="0"/>
              </a:rPr>
              <a:t>O notation</a:t>
            </a:r>
            <a:endParaRPr lang="zh-CN" altLang="en-US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8435" name="内容占位符 2"/>
          <p:cNvSpPr>
            <a:spLocks noGrp="1"/>
          </p:cNvSpPr>
          <p:nvPr>
            <p:ph sz="quarter" idx="1"/>
          </p:nvPr>
        </p:nvSpPr>
        <p:spPr>
          <a:xfrm>
            <a:off x="910044" y="1530533"/>
            <a:ext cx="9993087" cy="4873625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+mn-ea"/>
                <a:cs typeface="Arial" panose="020B0604020202020204" pitchFamily="34" charset="0"/>
              </a:rPr>
              <a:t>Definition:</a:t>
            </a:r>
          </a:p>
          <a:p>
            <a:pPr eaLnBrk="1" hangingPunct="1"/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 marL="0" lvl="1" indent="0">
              <a:spcBef>
                <a:spcPts val="600"/>
              </a:spcBef>
              <a:buSzPct val="70000"/>
              <a:buNone/>
            </a:pPr>
            <a:endParaRPr lang="en-US" altLang="zh-CN" i="1" dirty="0">
              <a:latin typeface="+mn-ea"/>
              <a:cs typeface="Arial" panose="020B0604020202020204" pitchFamily="34" charset="0"/>
            </a:endParaRPr>
          </a:p>
          <a:p>
            <a:pPr marL="387350" lvl="1" indent="-342900">
              <a:spcBef>
                <a:spcPts val="600"/>
              </a:spcBef>
              <a:buSzPct val="70000"/>
            </a:pPr>
            <a:r>
              <a:rPr lang="en-US" altLang="zh-CN" sz="2800" i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n: size of problem</a:t>
            </a:r>
            <a:endParaRPr lang="en-US" altLang="zh-CN" sz="2800" i="1" dirty="0">
              <a:latin typeface="+mn-ea"/>
              <a:cs typeface="Arial" panose="020B0604020202020204" pitchFamily="34" charset="0"/>
            </a:endParaRPr>
          </a:p>
          <a:p>
            <a:pPr marL="387350" lvl="1" indent="-342900">
              <a:spcBef>
                <a:spcPts val="600"/>
              </a:spcBef>
              <a:buSzPct val="70000"/>
            </a:pPr>
            <a:r>
              <a:rPr lang="en-US" altLang="zh-CN" sz="2800" i="1" dirty="0">
                <a:latin typeface="+mn-ea"/>
                <a:cs typeface="Arial" panose="020B0604020202020204" pitchFamily="34" charset="0"/>
              </a:rPr>
              <a:t>f </a:t>
            </a:r>
            <a:r>
              <a:rPr lang="en-US" altLang="zh-CN" sz="2800" dirty="0">
                <a:latin typeface="+mn-ea"/>
                <a:cs typeface="Arial" panose="020B0604020202020204" pitchFamily="34" charset="0"/>
              </a:rPr>
              <a:t>=</a:t>
            </a:r>
            <a:r>
              <a:rPr lang="en-US" altLang="zh-CN" sz="2800" i="1" dirty="0">
                <a:latin typeface="+mn-ea"/>
                <a:cs typeface="Arial" panose="020B0604020202020204" pitchFamily="34" charset="0"/>
              </a:rPr>
              <a:t>O</a:t>
            </a:r>
            <a:r>
              <a:rPr lang="en-US" altLang="zh-CN" sz="2800" dirty="0">
                <a:latin typeface="+mn-ea"/>
                <a:cs typeface="Arial" panose="020B0604020202020204" pitchFamily="34" charset="0"/>
              </a:rPr>
              <a:t>(</a:t>
            </a:r>
            <a:r>
              <a:rPr lang="en-US" altLang="zh-CN" sz="2800" i="1" dirty="0">
                <a:latin typeface="+mn-ea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+mn-ea"/>
                <a:cs typeface="Arial" panose="020B0604020202020204" pitchFamily="34" charset="0"/>
              </a:rPr>
              <a:t>) is a loose analog of “</a:t>
            </a:r>
            <a:r>
              <a:rPr lang="en-US" altLang="zh-CN" sz="2800" i="1" dirty="0">
                <a:latin typeface="+mn-ea"/>
                <a:cs typeface="Arial" panose="020B0604020202020204" pitchFamily="34" charset="0"/>
              </a:rPr>
              <a:t>f</a:t>
            </a:r>
            <a:r>
              <a:rPr lang="en-US" altLang="zh-CN" sz="2800" dirty="0">
                <a:latin typeface="+mn-ea"/>
                <a:cs typeface="Arial" panose="020B0604020202020204" pitchFamily="34" charset="0"/>
              </a:rPr>
              <a:t> ≤</a:t>
            </a:r>
            <a:r>
              <a:rPr lang="en-US" altLang="zh-CN" sz="2800" i="1" dirty="0">
                <a:latin typeface="+mn-ea"/>
                <a:cs typeface="Arial" panose="020B0604020202020204" pitchFamily="34" charset="0"/>
              </a:rPr>
              <a:t>g”. </a:t>
            </a:r>
            <a:r>
              <a:rPr lang="en-US" altLang="zh-CN" sz="2800" dirty="0">
                <a:latin typeface="+mn-ea"/>
                <a:cs typeface="Arial" panose="020B0604020202020204" pitchFamily="34" charset="0"/>
              </a:rPr>
              <a:t>It differs from the usual notion ≤ because of 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the constant </a:t>
            </a:r>
            <a:r>
              <a:rPr lang="en-US" altLang="zh-CN" sz="2800" i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c</a:t>
            </a:r>
            <a:r>
              <a:rPr lang="en-US" altLang="zh-CN" sz="2800" dirty="0">
                <a:latin typeface="+mn-ea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altLang="zh-CN" sz="2400" dirty="0">
                <a:latin typeface="+mn-ea"/>
                <a:cs typeface="Arial" panose="020B0604020202020204" pitchFamily="34" charset="0"/>
              </a:rPr>
              <a:t>     E.g., 2</a:t>
            </a:r>
            <a:r>
              <a:rPr lang="en-US" altLang="zh-CN" sz="2400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+20 =</a:t>
            </a:r>
            <a:r>
              <a:rPr lang="en-US" altLang="zh-CN" sz="2400" i="1" dirty="0">
                <a:latin typeface="+mn-ea"/>
                <a:cs typeface="Arial" panose="020B0604020202020204" pitchFamily="34" charset="0"/>
              </a:rPr>
              <a:t>O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sz="2400" baseline="30000" dirty="0">
                <a:latin typeface="+mn-ea"/>
                <a:cs typeface="Arial" panose="020B0604020202020204" pitchFamily="34" charset="0"/>
              </a:rPr>
              <a:t>2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), 2</a:t>
            </a:r>
            <a:r>
              <a:rPr lang="en-US" altLang="zh-CN" sz="2400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+20 =</a:t>
            </a:r>
            <a:r>
              <a:rPr lang="en-US" altLang="zh-CN" sz="2400" i="1" dirty="0">
                <a:latin typeface="+mn-ea"/>
                <a:cs typeface="Arial" panose="020B0604020202020204" pitchFamily="34" charset="0"/>
              </a:rPr>
              <a:t>O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+1), </a:t>
            </a:r>
            <a:r>
              <a:rPr lang="en-US" altLang="zh-CN" sz="2400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+1 =</a:t>
            </a:r>
            <a:r>
              <a:rPr lang="en-US" altLang="zh-CN" sz="2400" i="1" dirty="0">
                <a:latin typeface="+mn-ea"/>
                <a:cs typeface="Arial" panose="020B0604020202020204" pitchFamily="34" charset="0"/>
              </a:rPr>
              <a:t>O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(2</a:t>
            </a:r>
            <a:r>
              <a:rPr lang="en-US" altLang="zh-CN" sz="2400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+20), but </a:t>
            </a:r>
            <a:r>
              <a:rPr lang="en-US" altLang="zh-CN" sz="2400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sz="2400" baseline="30000" dirty="0">
                <a:latin typeface="+mn-ea"/>
                <a:cs typeface="Arial" panose="020B0604020202020204" pitchFamily="34" charset="0"/>
              </a:rPr>
              <a:t>2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+mn-ea"/>
                <a:cs typeface="Arial" panose="020B0604020202020204" pitchFamily="34" charset="0"/>
                <a:sym typeface="Symbol" panose="05050102010706020507" pitchFamily="18" charset="2"/>
              </a:rPr>
              <a:t></a:t>
            </a:r>
            <a:r>
              <a:rPr lang="en-US" altLang="zh-CN" sz="2400" i="1" dirty="0">
                <a:latin typeface="+mn-ea"/>
                <a:cs typeface="Arial" panose="020B0604020202020204" pitchFamily="34" charset="0"/>
              </a:rPr>
              <a:t>O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(2</a:t>
            </a:r>
            <a:r>
              <a:rPr lang="en-US" altLang="zh-CN" sz="2400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+20)</a:t>
            </a:r>
          </a:p>
          <a:p>
            <a:pPr eaLnBrk="1" hangingPunct="1"/>
            <a:endParaRPr lang="en-US" altLang="zh-CN" dirty="0"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3" name="组合 8"/>
          <p:cNvGrpSpPr/>
          <p:nvPr/>
        </p:nvGrpSpPr>
        <p:grpSpPr bwMode="auto">
          <a:xfrm>
            <a:off x="1981198" y="2060849"/>
            <a:ext cx="8229603" cy="1216025"/>
            <a:chOff x="709642" y="3786190"/>
            <a:chExt cx="8077200" cy="933450"/>
          </a:xfrm>
        </p:grpSpPr>
        <p:pic>
          <p:nvPicPr>
            <p:cNvPr id="25609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642" y="3786190"/>
              <a:ext cx="8077200" cy="9334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直接连接符 5"/>
            <p:cNvCxnSpPr/>
            <p:nvPr/>
          </p:nvCxnSpPr>
          <p:spPr>
            <a:xfrm flipV="1">
              <a:off x="6206970" y="4382907"/>
              <a:ext cx="2454170" cy="182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7130456-9BA7-49FE-925F-7FFB4FE7726F}" type="datetime1">
              <a:rPr lang="zh-CN" altLang="en-US">
                <a:latin typeface="+mn-ea"/>
                <a:cs typeface="Arial" panose="020B0604020202020204" pitchFamily="34" charset="0"/>
              </a:rPr>
              <a:t>2026/3/13</a:t>
            </a:fld>
            <a:endParaRPr lang="zh-CN" altLang="en-US">
              <a:latin typeface="+mn-ea"/>
              <a:cs typeface="Arial" panose="020B0604020202020204" pitchFamily="34" charset="0"/>
            </a:endParaRPr>
          </a:p>
        </p:txBody>
      </p:sp>
      <p:sp>
        <p:nvSpPr>
          <p:cNvPr id="25606" name="灯片编号占位符 7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B565513-7CF8-4EDA-B0C5-31DB9713E747}" type="slidenum">
              <a:rPr lang="zh-CN" altLang="en-US">
                <a:solidFill>
                  <a:srgbClr val="FFFFFF"/>
                </a:solidFill>
                <a:latin typeface="+mn-ea"/>
                <a:ea typeface="+mn-ea"/>
                <a:cs typeface="Arial" panose="020B0604020202020204" pitchFamily="34" charset="0"/>
              </a:rPr>
              <a:t>14</a:t>
            </a:fld>
            <a:endParaRPr lang="en-US" altLang="zh-CN">
              <a:solidFill>
                <a:srgbClr val="FFFFFF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2048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5551487"/>
            <a:ext cx="2951162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50" y="5524500"/>
            <a:ext cx="2952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/>
          </p:cNvSpPr>
          <p:nvPr>
            <p:ph type="body" idx="4294967295"/>
          </p:nvPr>
        </p:nvSpPr>
        <p:spPr>
          <a:xfrm>
            <a:off x="1981200" y="1600201"/>
            <a:ext cx="9753600" cy="487362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2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+20 =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O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(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baseline="30000" dirty="0">
                <a:latin typeface="+mn-ea"/>
                <a:cs typeface="Arial" panose="020B0604020202020204" pitchFamily="34" charset="0"/>
              </a:rPr>
              <a:t>2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): for 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 ≤ 5, 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baseline="30000" dirty="0">
                <a:latin typeface="+mn-ea"/>
                <a:cs typeface="Arial" panose="020B0604020202020204" pitchFamily="34" charset="0"/>
              </a:rPr>
              <a:t>2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is smaller; 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 &gt; 5, 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baseline="30000" dirty="0">
                <a:latin typeface="+mn-ea"/>
                <a:cs typeface="Arial" panose="020B0604020202020204" pitchFamily="34" charset="0"/>
              </a:rPr>
              <a:t>2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is larger.</a:t>
            </a:r>
          </a:p>
          <a:p>
            <a:pPr>
              <a:lnSpc>
                <a:spcPct val="120000"/>
              </a:lnSpc>
            </a:pPr>
            <a:r>
              <a:rPr lang="en-US" altLang="zh-CN" i="1" dirty="0">
                <a:latin typeface="+mn-ea"/>
                <a:cs typeface="Arial" panose="020B0604020202020204" pitchFamily="34" charset="0"/>
              </a:rPr>
              <a:t>But,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2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+20 </a:t>
            </a:r>
            <a:r>
              <a:rPr lang="en-US" altLang="zh-CN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scales much better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than 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baseline="30000" dirty="0">
                <a:latin typeface="+mn-ea"/>
                <a:cs typeface="Arial" panose="020B0604020202020204" pitchFamily="34" charset="0"/>
              </a:rPr>
              <a:t>2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as 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 grows. (i.e., 2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+20</a:t>
            </a:r>
            <a:r>
              <a:rPr lang="en-US" altLang="zh-CN" baseline="-25000" dirty="0">
                <a:latin typeface="+mn-ea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grows no faster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than </a:t>
            </a:r>
            <a:r>
              <a:rPr lang="en-US" altLang="zh-CN" i="1" dirty="0">
                <a:latin typeface="+mn-ea"/>
                <a:cs typeface="Arial" panose="020B0604020202020204" pitchFamily="34" charset="0"/>
              </a:rPr>
              <a:t>n</a:t>
            </a:r>
            <a:r>
              <a:rPr lang="en-US" altLang="zh-CN" baseline="30000" dirty="0">
                <a:latin typeface="+mn-ea"/>
                <a:cs typeface="Arial" panose="020B0604020202020204" pitchFamily="34" charset="0"/>
              </a:rPr>
              <a:t>2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137" y="610746"/>
            <a:ext cx="5154004" cy="4154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000" dirty="0">
                <a:latin typeface="+mn-lt"/>
                <a:ea typeface="PMingLiU" charset="-120"/>
              </a:rPr>
              <a:t>Extended definition: 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5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838200" y="1588325"/>
                <a:ext cx="9858499" cy="487375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HK" sz="2600" i="1" dirty="0" smtClean="0">
                        <a:latin typeface="Cambria Math" panose="02040503050406030204" pitchFamily="18" charset="0"/>
                        <a:ea typeface="新細明體" charset="-120"/>
                      </a:rPr>
                      <m:t>𝑓</m:t>
                    </m:r>
                    <m:r>
                      <a:rPr lang="en-US" altLang="zh-HK" sz="2600" i="1" dirty="0" smtClean="0">
                        <a:latin typeface="Cambria Math" panose="02040503050406030204" pitchFamily="18" charset="0"/>
                        <a:ea typeface="新細明體" charset="-120"/>
                      </a:rPr>
                      <m:t>(</m:t>
                    </m:r>
                    <m:r>
                      <a:rPr lang="en-US" altLang="zh-HK" sz="2600" i="1" dirty="0" smtClean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  <m:r>
                      <a:rPr lang="en-US" altLang="zh-HK" sz="2600" i="1" dirty="0" smtClean="0">
                        <a:latin typeface="Cambria Math" panose="02040503050406030204" pitchFamily="18" charset="0"/>
                        <a:ea typeface="新細明體" charset="-120"/>
                      </a:rPr>
                      <m:t>)=</m:t>
                    </m:r>
                    <m:r>
                      <a:rPr lang="en-US" altLang="zh-HK" sz="2600" i="1" dirty="0" smtClean="0">
                        <a:latin typeface="Cambria Math" panose="02040503050406030204" pitchFamily="18" charset="0"/>
                        <a:ea typeface="新細明體" charset="-120"/>
                      </a:rPr>
                      <m:t>𝑂</m:t>
                    </m:r>
                    <m:r>
                      <a:rPr lang="en-US" altLang="zh-HK" sz="2600" i="1" dirty="0" smtClean="0">
                        <a:latin typeface="Cambria Math" panose="02040503050406030204" pitchFamily="18" charset="0"/>
                        <a:ea typeface="新細明體" charset="-120"/>
                      </a:rPr>
                      <m:t>(</m:t>
                    </m:r>
                    <m:r>
                      <a:rPr lang="en-US" altLang="zh-HK" sz="2600" i="1" dirty="0" smtClean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  <m:r>
                      <a:rPr lang="en-US" altLang="zh-HK" sz="2600" i="1" dirty="0" smtClean="0">
                        <a:latin typeface="Cambria Math" panose="02040503050406030204" pitchFamily="18" charset="0"/>
                        <a:ea typeface="新細明體" charset="-120"/>
                      </a:rPr>
                      <m:t>)</m:t>
                    </m:r>
                  </m:oMath>
                </a14:m>
                <a:r>
                  <a:rPr lang="en-US" altLang="zh-HK" sz="2600" dirty="0">
                    <a:ea typeface="新細明體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HK" sz="2600" i="1" dirty="0">
                        <a:latin typeface="Cambria Math" panose="02040503050406030204" pitchFamily="18" charset="0"/>
                        <a:ea typeface="新細明體" charset="-120"/>
                      </a:rPr>
                      <m:t>𝑓</m:t>
                    </m:r>
                    <m:r>
                      <a:rPr lang="en-US" altLang="zh-HK" sz="2600" i="1" dirty="0">
                        <a:latin typeface="Cambria Math" panose="02040503050406030204" pitchFamily="18" charset="0"/>
                        <a:ea typeface="新細明體" charset="-120"/>
                      </a:rPr>
                      <m:t>(</m:t>
                    </m:r>
                    <m:r>
                      <a:rPr lang="en-US" altLang="zh-HK" sz="26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  <m:r>
                      <a:rPr lang="en-US" altLang="zh-HK" sz="2600" i="1" dirty="0">
                        <a:latin typeface="Cambria Math" panose="02040503050406030204" pitchFamily="18" charset="0"/>
                        <a:ea typeface="新細明體" charset="-120"/>
                      </a:rPr>
                      <m:t>)≤</m:t>
                    </m:r>
                    <m:r>
                      <a:rPr lang="en-US" altLang="zh-HK" sz="2600" i="1" dirty="0" err="1">
                        <a:latin typeface="Cambria Math" panose="02040503050406030204" pitchFamily="18" charset="0"/>
                        <a:ea typeface="新細明體" charset="-120"/>
                      </a:rPr>
                      <m:t>𝑐</m:t>
                    </m:r>
                    <m:r>
                      <a:rPr lang="en-US" altLang="zh-HK" sz="2600" i="1" dirty="0" err="1">
                        <a:latin typeface="Cambria Math" panose="02040503050406030204" pitchFamily="18" charset="0"/>
                        <a:ea typeface="新細明體" charset="-120"/>
                      </a:rPr>
                      <m:t>∙</m:t>
                    </m:r>
                    <m:r>
                      <a:rPr lang="en-US" altLang="zh-HK" sz="2600" i="1" dirty="0" err="1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</m:oMath>
                </a14:m>
                <a:r>
                  <a:rPr lang="en-US" altLang="zh-HK" sz="2600" dirty="0">
                    <a:ea typeface="新細明體" charset="-120"/>
                  </a:rPr>
                  <a:t> for some constant </a:t>
                </a:r>
                <a14:m>
                  <m:oMath xmlns:m="http://schemas.openxmlformats.org/officeDocument/2006/math">
                    <m:r>
                      <a:rPr lang="en-US" altLang="zh-HK" sz="2600" i="1" dirty="0">
                        <a:latin typeface="Cambria Math" panose="02040503050406030204" pitchFamily="18" charset="0"/>
                        <a:ea typeface="新細明體" charset="-120"/>
                      </a:rPr>
                      <m:t>𝑐</m:t>
                    </m:r>
                  </m:oMath>
                </a14:m>
                <a:r>
                  <a:rPr lang="en-US" altLang="zh-HK" sz="2600" dirty="0">
                    <a:ea typeface="新細明體" charset="-120"/>
                  </a:rPr>
                  <a:t> and </a:t>
                </a:r>
                <a:r>
                  <a:rPr lang="en-US" altLang="zh-HK" sz="2600" dirty="0">
                    <a:solidFill>
                      <a:srgbClr val="FF0000"/>
                    </a:solidFill>
                    <a:ea typeface="新細明體" charset="-120"/>
                  </a:rPr>
                  <a:t>large </a:t>
                </a:r>
                <a14:m>
                  <m:oMath xmlns:m="http://schemas.openxmlformats.org/officeDocument/2006/math">
                    <m:r>
                      <a:rPr lang="en-US" altLang="zh-HK" sz="2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</m:oMath>
                </a14:m>
                <a:r>
                  <a:rPr lang="en-US" altLang="zh-HK" sz="2600" dirty="0">
                    <a:solidFill>
                      <a:srgbClr val="FF0000"/>
                    </a:solidFill>
                    <a:ea typeface="新細明體" charset="-120"/>
                  </a:rPr>
                  <a:t>.</a:t>
                </a:r>
                <a:endParaRPr lang="en-US" altLang="zh-HK" sz="2600" dirty="0">
                  <a:ea typeface="新細明體" charset="-120"/>
                </a:endParaRPr>
              </a:p>
              <a:p>
                <a:pPr lvl="1"/>
                <a:r>
                  <a:rPr lang="en-US" altLang="zh-HK" sz="2200" dirty="0">
                    <a:ea typeface="新細明體" charset="-120"/>
                  </a:rPr>
                  <a:t>i.e. </a:t>
                </a:r>
                <a14:m>
                  <m:oMath xmlns:m="http://schemas.openxmlformats.org/officeDocument/2006/math">
                    <m:r>
                      <a:rPr lang="el-GR" sz="2200" i="1" dirty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𝑐</m:t>
                    </m:r>
                  </m:oMath>
                </a14:m>
                <a:r>
                  <a:rPr lang="en-US" altLang="zh-HK" sz="2200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l-GR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HK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charset="-120"/>
                      </a:rPr>
                      <m:t>𝑁</m:t>
                    </m:r>
                    <m:r>
                      <a:rPr lang="en-US" altLang="zh-HK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charset="-120"/>
                      </a:rPr>
                      <m:t>&gt;0</m:t>
                    </m:r>
                  </m:oMath>
                </a14:m>
                <a:r>
                  <a:rPr lang="en-US" altLang="zh-HK" sz="2200" dirty="0">
                    <a:solidFill>
                      <a:srgbClr val="FF0000"/>
                    </a:solidFill>
                    <a:ea typeface="新細明體" charset="-120"/>
                  </a:rPr>
                  <a:t> </a:t>
                </a:r>
                <a:r>
                  <a:rPr lang="en-US" altLang="zh-HK" sz="2200" dirty="0" err="1">
                    <a:ea typeface="新細明體" charset="-120"/>
                  </a:rPr>
                  <a:t>s.t.</a:t>
                </a:r>
                <a:r>
                  <a:rPr lang="en-US" altLang="zh-HK" sz="2200" dirty="0">
                    <a:ea typeface="新細明體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l-GR" sz="22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&gt;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𝑁</m:t>
                    </m:r>
                  </m:oMath>
                </a14:m>
                <a:r>
                  <a:rPr lang="en-US" altLang="zh-HK" sz="2200" dirty="0">
                    <a:ea typeface="新細明體" charset="-120"/>
                  </a:rPr>
                  <a:t>, we have </a:t>
                </a:r>
                <a14:m>
                  <m:oMath xmlns:m="http://schemas.openxmlformats.org/officeDocument/2006/math"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𝑓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(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)≤</m:t>
                    </m:r>
                    <m:r>
                      <a:rPr lang="en-US" altLang="zh-HK" sz="2200" i="1" dirty="0" err="1">
                        <a:latin typeface="Cambria Math" panose="02040503050406030204" pitchFamily="18" charset="0"/>
                        <a:ea typeface="新細明體" charset="-120"/>
                      </a:rPr>
                      <m:t>𝑐</m:t>
                    </m:r>
                    <m:r>
                      <a:rPr lang="en-US" altLang="zh-HK" sz="2200" i="1" dirty="0" err="1">
                        <a:latin typeface="Cambria Math" panose="02040503050406030204" pitchFamily="18" charset="0"/>
                        <a:ea typeface="新細明體" charset="-120"/>
                      </a:rPr>
                      <m:t>∙</m:t>
                    </m:r>
                    <m:r>
                      <a:rPr lang="en-US" altLang="zh-HK" sz="2200" i="1" dirty="0" err="1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</m:oMath>
                </a14:m>
                <a:r>
                  <a:rPr lang="en-US" altLang="zh-HK" sz="2200" dirty="0">
                    <a:ea typeface="新細明體" charset="-120"/>
                  </a:rPr>
                  <a:t>.</a:t>
                </a:r>
              </a:p>
              <a:p>
                <a:pPr lvl="1"/>
                <a:endParaRPr lang="en-US" altLang="zh-HK" sz="2200" dirty="0">
                  <a:ea typeface="新細明體" charset="-120"/>
                </a:endParaRPr>
              </a:p>
              <a:p>
                <a:r>
                  <a:rPr lang="en-US" altLang="zh-HK" sz="2600" dirty="0">
                    <a:ea typeface="新細明體" charset="-120"/>
                  </a:rPr>
                  <a:t>For example, </a:t>
                </a:r>
                <a14:m>
                  <m:oMath xmlns:m="http://schemas.openxmlformats.org/officeDocument/2006/math">
                    <m:r>
                      <a:rPr lang="en-US" altLang="zh-HK" sz="2600" i="1" dirty="0">
                        <a:latin typeface="Cambria Math" panose="02040503050406030204" pitchFamily="18" charset="0"/>
                        <a:ea typeface="新細明體" charset="-120"/>
                      </a:rPr>
                      <m:t>𝑓</m:t>
                    </m:r>
                    <m:r>
                      <a:rPr lang="en-US" altLang="zh-HK" sz="2600" i="1" dirty="0">
                        <a:latin typeface="Cambria Math" panose="02040503050406030204" pitchFamily="18" charset="0"/>
                        <a:ea typeface="新細明體" charset="-120"/>
                      </a:rPr>
                      <m:t>(</m:t>
                    </m:r>
                    <m:r>
                      <a:rPr lang="en-US" altLang="zh-HK" sz="26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  <m:r>
                      <a:rPr lang="en-US" altLang="zh-HK" sz="2600" i="1" dirty="0">
                        <a:latin typeface="Cambria Math" panose="02040503050406030204" pitchFamily="18" charset="0"/>
                        <a:ea typeface="新細明體" charset="-120"/>
                      </a:rPr>
                      <m:t>)=10</m:t>
                    </m:r>
                    <m:r>
                      <a:rPr lang="en-US" altLang="zh-HK" sz="26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</m:oMath>
                </a14:m>
                <a:r>
                  <a:rPr lang="en-US" altLang="zh-HK" sz="2600" dirty="0">
                    <a:ea typeface="新細明體" charset="-120"/>
                  </a:rPr>
                  <a:t>. </a:t>
                </a:r>
              </a:p>
              <a:p>
                <a:pPr lvl="1"/>
                <a:r>
                  <a:rPr lang="en-US" altLang="zh-HK" sz="2200" dirty="0">
                    <a:ea typeface="新細明體" charset="-12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𝑐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=11</m:t>
                    </m:r>
                  </m:oMath>
                </a14:m>
                <a:r>
                  <a:rPr lang="en-US" altLang="zh-HK" sz="2200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𝑁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=1</m:t>
                    </m:r>
                  </m:oMath>
                </a14:m>
                <a:r>
                  <a:rPr lang="en-US" altLang="zh-HK" sz="2200" dirty="0">
                    <a:ea typeface="新細明體" charset="-120"/>
                  </a:rPr>
                  <a:t>, then </a:t>
                </a:r>
                <a14:m>
                  <m:oMath xmlns:m="http://schemas.openxmlformats.org/officeDocument/2006/math">
                    <m:r>
                      <a:rPr lang="el-GR" sz="22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&gt;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𝑁</m:t>
                    </m:r>
                  </m:oMath>
                </a14:m>
                <a:r>
                  <a:rPr lang="en-US" altLang="zh-HK" sz="2200" dirty="0">
                    <a:ea typeface="新細明體" charset="-120"/>
                  </a:rPr>
                  <a:t>, we have </a:t>
                </a:r>
                <a14:m>
                  <m:oMath xmlns:m="http://schemas.openxmlformats.org/officeDocument/2006/math"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10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</m:oMath>
                </a14:m>
                <a:r>
                  <a:rPr lang="en-US" altLang="zh-HK" sz="2200" dirty="0">
                    <a:ea typeface="新細明體" charset="-120"/>
                    <a:sym typeface="Symbol" panose="05050102010706020507" pitchFamily="18" charset="2"/>
                  </a:rPr>
                  <a:t>  </a:t>
                </a:r>
                <a14:m>
                  <m:oMath xmlns:m="http://schemas.openxmlformats.org/officeDocument/2006/math"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1</m:t>
                    </m:r>
                    <m:r>
                      <a:rPr lang="en-US" altLang="zh-HK" sz="2200" b="0" i="1" dirty="0" smtClean="0">
                        <a:latin typeface="Cambria Math" panose="02040503050406030204" pitchFamily="18" charset="0"/>
                        <a:ea typeface="新細明體" charset="-120"/>
                      </a:rPr>
                      <m:t>1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</m:oMath>
                </a14:m>
                <a:r>
                  <a:rPr lang="en-US" altLang="zh-HK" sz="2200" dirty="0">
                    <a:ea typeface="新細明體" charset="-120"/>
                    <a:sym typeface="Symbol" panose="05050102010706020507" pitchFamily="18" charset="2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1</m:t>
                    </m:r>
                    <m:r>
                      <a:rPr lang="en-US" altLang="zh-HK" sz="2200" b="0" i="1" dirty="0" smtClean="0">
                        <a:latin typeface="Cambria Math" panose="02040503050406030204" pitchFamily="18" charset="0"/>
                        <a:ea typeface="新細明體" charset="-120"/>
                      </a:rPr>
                      <m:t>0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  <m:r>
                      <a:rPr lang="en-US" altLang="zh-HK" sz="2200" b="0" i="1" dirty="0" smtClean="0">
                        <a:latin typeface="Cambria Math" panose="02040503050406030204" pitchFamily="18" charset="0"/>
                        <a:ea typeface="新細明體" charset="-120"/>
                      </a:rPr>
                      <m:t>+</m:t>
                    </m:r>
                    <m:r>
                      <a:rPr lang="en-US" altLang="zh-HK" sz="2200" b="0" i="1" dirty="0" smtClean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</m:oMath>
                </a14:m>
                <a:endParaRPr lang="en-US" altLang="zh-HK" sz="2200" dirty="0">
                  <a:ea typeface="新細明體" charset="-120"/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zh-HK" sz="2200" dirty="0">
                    <a:ea typeface="新細明體" charset="-120"/>
                  </a:rPr>
                  <a:t>So </a:t>
                </a:r>
                <a14:m>
                  <m:oMath xmlns:m="http://schemas.openxmlformats.org/officeDocument/2006/math"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10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=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𝑂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(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)</m:t>
                    </m:r>
                  </m:oMath>
                </a14:m>
                <a:r>
                  <a:rPr lang="en-US" altLang="zh-HK" sz="2200" dirty="0">
                    <a:ea typeface="新細明體" charset="-120"/>
                  </a:rPr>
                  <a:t>.</a:t>
                </a:r>
              </a:p>
              <a:p>
                <a:pPr lvl="1"/>
                <a:endParaRPr lang="en-US" altLang="zh-HK" sz="2200" dirty="0">
                  <a:ea typeface="新細明體" charset="-120"/>
                </a:endParaRPr>
              </a:p>
              <a:p>
                <a:r>
                  <a:rPr lang="en-US" altLang="zh-HK" sz="2600" dirty="0">
                    <a:ea typeface="新細明體" charset="-120"/>
                  </a:rPr>
                  <a:t>How about, </a:t>
                </a:r>
                <a14:m>
                  <m:oMath xmlns:m="http://schemas.openxmlformats.org/officeDocument/2006/math">
                    <m:r>
                      <a:rPr lang="en-US" altLang="zh-HK" sz="2600" i="1" dirty="0">
                        <a:latin typeface="Cambria Math" panose="02040503050406030204" pitchFamily="18" charset="0"/>
                        <a:ea typeface="新細明體" charset="-120"/>
                      </a:rPr>
                      <m:t>𝑓</m:t>
                    </m:r>
                    <m:r>
                      <a:rPr lang="en-US" altLang="zh-HK" sz="2600" i="1" dirty="0">
                        <a:latin typeface="Cambria Math" panose="02040503050406030204" pitchFamily="18" charset="0"/>
                        <a:ea typeface="新細明體" charset="-120"/>
                      </a:rPr>
                      <m:t>(</m:t>
                    </m:r>
                    <m:r>
                      <a:rPr lang="en-US" altLang="zh-HK" sz="26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  <m:r>
                      <a:rPr lang="en-US" altLang="zh-HK" sz="2600" i="1" dirty="0">
                        <a:latin typeface="Cambria Math" panose="02040503050406030204" pitchFamily="18" charset="0"/>
                        <a:ea typeface="新細明體" charset="-120"/>
                      </a:rPr>
                      <m:t>)=10</m:t>
                    </m:r>
                    <m:r>
                      <a:rPr lang="en-US" altLang="zh-HK" sz="26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  <m:r>
                      <a:rPr lang="en-US" altLang="zh-HK" sz="2600" i="1" dirty="0">
                        <a:latin typeface="Cambria Math" panose="02040503050406030204" pitchFamily="18" charset="0"/>
                        <a:ea typeface="新細明體" charset="-120"/>
                      </a:rPr>
                      <m:t>+5</m:t>
                    </m:r>
                  </m:oMath>
                </a14:m>
                <a:r>
                  <a:rPr lang="en-US" altLang="zh-HK" sz="2600" dirty="0">
                    <a:ea typeface="新細明體" charset="-120"/>
                  </a:rPr>
                  <a:t>? </a:t>
                </a:r>
              </a:p>
              <a:p>
                <a:pPr lvl="1"/>
                <a:r>
                  <a:rPr lang="en-US" altLang="zh-HK" sz="2200" dirty="0">
                    <a:ea typeface="新細明體" charset="-12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𝑐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=11</m:t>
                    </m:r>
                  </m:oMath>
                </a14:m>
                <a:r>
                  <a:rPr lang="en-US" altLang="zh-HK" sz="2200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𝑁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=5</m:t>
                    </m:r>
                  </m:oMath>
                </a14:m>
                <a:r>
                  <a:rPr lang="en-US" altLang="zh-HK" sz="2200" dirty="0">
                    <a:ea typeface="新細明體" charset="-120"/>
                  </a:rPr>
                  <a:t>, then </a:t>
                </a:r>
                <a14:m>
                  <m:oMath xmlns:m="http://schemas.openxmlformats.org/officeDocument/2006/math">
                    <m:r>
                      <a:rPr lang="el-GR" sz="22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&gt;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𝑁</m:t>
                    </m:r>
                  </m:oMath>
                </a14:m>
                <a:r>
                  <a:rPr lang="en-US" altLang="zh-HK" sz="2200" dirty="0">
                    <a:ea typeface="新細明體" charset="-120"/>
                  </a:rPr>
                  <a:t>, we have </a:t>
                </a:r>
                <a14:m>
                  <m:oMath xmlns:m="http://schemas.openxmlformats.org/officeDocument/2006/math"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10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+5≤11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  <m:r>
                      <m:rPr>
                        <m:nor/>
                      </m:rP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  <a:sym typeface="Symbol" panose="05050102010706020507" pitchFamily="18" charset="2"/>
                      </a:rPr>
                      <m:t> = 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10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+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</m:oMath>
                </a14:m>
                <a:endParaRPr lang="en-US" altLang="zh-HK" sz="2200" i="1" dirty="0">
                  <a:latin typeface="Cambria Math" panose="02040503050406030204" pitchFamily="18" charset="0"/>
                  <a:ea typeface="新細明體" charset="-120"/>
                </a:endParaRPr>
              </a:p>
              <a:p>
                <a:pPr lvl="1"/>
                <a:r>
                  <a:rPr lang="en-US" altLang="zh-HK" sz="2200" dirty="0">
                    <a:ea typeface="新細明體" charset="-120"/>
                  </a:rPr>
                  <a:t>So </a:t>
                </a:r>
                <a14:m>
                  <m:oMath xmlns:m="http://schemas.openxmlformats.org/officeDocument/2006/math"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10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+5=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𝑂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(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𝑛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)</m:t>
                    </m:r>
                  </m:oMath>
                </a14:m>
                <a:r>
                  <a:rPr lang="en-US" altLang="zh-HK" sz="2200" dirty="0">
                    <a:ea typeface="新細明體" charset="-120"/>
                  </a:rPr>
                  <a:t>.</a:t>
                </a:r>
              </a:p>
            </p:txBody>
          </p:sp>
        </mc:Choice>
        <mc:Fallback xmlns="">
          <p:sp>
            <p:nvSpPr>
              <p:cNvPr id="1505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588325"/>
                <a:ext cx="9858499" cy="4873752"/>
              </a:xfrm>
              <a:blipFill>
                <a:blip r:embed="rId2"/>
                <a:stretch>
                  <a:fillRect l="-989" t="-20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693223" y="21512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HK" sz="4000" dirty="0">
                <a:ea typeface="PMingLiU" charset="-120"/>
              </a:rPr>
              <a:t>Example: n</a:t>
            </a:r>
            <a:r>
              <a:rPr lang="en-US" altLang="zh-HK" sz="4000" baseline="30000" dirty="0">
                <a:ea typeface="PMingLiU" charset="-120"/>
              </a:rPr>
              <a:t>1/2</a:t>
            </a:r>
            <a:r>
              <a:rPr lang="en-US" altLang="zh-HK" sz="4000" dirty="0">
                <a:ea typeface="PMingLiU" charset="-120"/>
              </a:rPr>
              <a:t> vs. n </a:t>
            </a:r>
          </a:p>
        </p:txBody>
      </p:sp>
      <p:sp>
        <p:nvSpPr>
          <p:cNvPr id="191494" name="Freeform 6"/>
          <p:cNvSpPr/>
          <p:nvPr/>
        </p:nvSpPr>
        <p:spPr bwMode="auto">
          <a:xfrm>
            <a:off x="5499101" y="2798372"/>
            <a:ext cx="3579813" cy="2608263"/>
          </a:xfrm>
          <a:custGeom>
            <a:avLst/>
            <a:gdLst>
              <a:gd name="T0" fmla="*/ 17 w 2255"/>
              <a:gd name="T1" fmla="*/ 1643 h 1643"/>
              <a:gd name="T2" fmla="*/ 93 w 2255"/>
              <a:gd name="T3" fmla="*/ 1275 h 1643"/>
              <a:gd name="T4" fmla="*/ 159 w 2255"/>
              <a:gd name="T5" fmla="*/ 1162 h 1643"/>
              <a:gd name="T6" fmla="*/ 197 w 2255"/>
              <a:gd name="T7" fmla="*/ 1105 h 1643"/>
              <a:gd name="T8" fmla="*/ 263 w 2255"/>
              <a:gd name="T9" fmla="*/ 1029 h 1643"/>
              <a:gd name="T10" fmla="*/ 310 w 2255"/>
              <a:gd name="T11" fmla="*/ 973 h 1643"/>
              <a:gd name="T12" fmla="*/ 348 w 2255"/>
              <a:gd name="T13" fmla="*/ 926 h 1643"/>
              <a:gd name="T14" fmla="*/ 480 w 2255"/>
              <a:gd name="T15" fmla="*/ 756 h 1643"/>
              <a:gd name="T16" fmla="*/ 537 w 2255"/>
              <a:gd name="T17" fmla="*/ 718 h 1643"/>
              <a:gd name="T18" fmla="*/ 565 w 2255"/>
              <a:gd name="T19" fmla="*/ 699 h 1643"/>
              <a:gd name="T20" fmla="*/ 697 w 2255"/>
              <a:gd name="T21" fmla="*/ 605 h 1643"/>
              <a:gd name="T22" fmla="*/ 782 w 2255"/>
              <a:gd name="T23" fmla="*/ 529 h 1643"/>
              <a:gd name="T24" fmla="*/ 961 w 2255"/>
              <a:gd name="T25" fmla="*/ 425 h 1643"/>
              <a:gd name="T26" fmla="*/ 1056 w 2255"/>
              <a:gd name="T27" fmla="*/ 378 h 1643"/>
              <a:gd name="T28" fmla="*/ 1113 w 2255"/>
              <a:gd name="T29" fmla="*/ 340 h 1643"/>
              <a:gd name="T30" fmla="*/ 1179 w 2255"/>
              <a:gd name="T31" fmla="*/ 321 h 1643"/>
              <a:gd name="T32" fmla="*/ 1245 w 2255"/>
              <a:gd name="T33" fmla="*/ 283 h 1643"/>
              <a:gd name="T34" fmla="*/ 1358 w 2255"/>
              <a:gd name="T35" fmla="*/ 246 h 1643"/>
              <a:gd name="T36" fmla="*/ 1443 w 2255"/>
              <a:gd name="T37" fmla="*/ 217 h 1643"/>
              <a:gd name="T38" fmla="*/ 1471 w 2255"/>
              <a:gd name="T39" fmla="*/ 198 h 1643"/>
              <a:gd name="T40" fmla="*/ 1528 w 2255"/>
              <a:gd name="T41" fmla="*/ 180 h 1643"/>
              <a:gd name="T42" fmla="*/ 1670 w 2255"/>
              <a:gd name="T43" fmla="*/ 132 h 1643"/>
              <a:gd name="T44" fmla="*/ 1868 w 2255"/>
              <a:gd name="T45" fmla="*/ 76 h 1643"/>
              <a:gd name="T46" fmla="*/ 1953 w 2255"/>
              <a:gd name="T47" fmla="*/ 47 h 1643"/>
              <a:gd name="T48" fmla="*/ 2085 w 2255"/>
              <a:gd name="T49" fmla="*/ 29 h 1643"/>
              <a:gd name="T50" fmla="*/ 2180 w 2255"/>
              <a:gd name="T51" fmla="*/ 10 h 1643"/>
              <a:gd name="T52" fmla="*/ 2255 w 2255"/>
              <a:gd name="T53" fmla="*/ 0 h 16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255" h="1643">
                <a:moveTo>
                  <a:pt x="17" y="1643"/>
                </a:moveTo>
                <a:cubicBezTo>
                  <a:pt x="0" y="1519"/>
                  <a:pt x="33" y="1384"/>
                  <a:pt x="93" y="1275"/>
                </a:cubicBezTo>
                <a:cubicBezTo>
                  <a:pt x="114" y="1237"/>
                  <a:pt x="138" y="1199"/>
                  <a:pt x="159" y="1162"/>
                </a:cubicBezTo>
                <a:cubicBezTo>
                  <a:pt x="170" y="1142"/>
                  <a:pt x="197" y="1105"/>
                  <a:pt x="197" y="1105"/>
                </a:cubicBezTo>
                <a:cubicBezTo>
                  <a:pt x="209" y="1066"/>
                  <a:pt x="230" y="1051"/>
                  <a:pt x="263" y="1029"/>
                </a:cubicBezTo>
                <a:cubicBezTo>
                  <a:pt x="277" y="1009"/>
                  <a:pt x="297" y="993"/>
                  <a:pt x="310" y="973"/>
                </a:cubicBezTo>
                <a:cubicBezTo>
                  <a:pt x="345" y="919"/>
                  <a:pt x="285" y="965"/>
                  <a:pt x="348" y="926"/>
                </a:cubicBezTo>
                <a:cubicBezTo>
                  <a:pt x="371" y="853"/>
                  <a:pt x="427" y="809"/>
                  <a:pt x="480" y="756"/>
                </a:cubicBezTo>
                <a:cubicBezTo>
                  <a:pt x="496" y="740"/>
                  <a:pt x="518" y="731"/>
                  <a:pt x="537" y="718"/>
                </a:cubicBezTo>
                <a:cubicBezTo>
                  <a:pt x="546" y="712"/>
                  <a:pt x="565" y="699"/>
                  <a:pt x="565" y="699"/>
                </a:cubicBezTo>
                <a:cubicBezTo>
                  <a:pt x="608" y="636"/>
                  <a:pt x="649" y="645"/>
                  <a:pt x="697" y="605"/>
                </a:cubicBezTo>
                <a:cubicBezTo>
                  <a:pt x="726" y="581"/>
                  <a:pt x="752" y="552"/>
                  <a:pt x="782" y="529"/>
                </a:cubicBezTo>
                <a:cubicBezTo>
                  <a:pt x="836" y="487"/>
                  <a:pt x="901" y="456"/>
                  <a:pt x="961" y="425"/>
                </a:cubicBezTo>
                <a:cubicBezTo>
                  <a:pt x="994" y="408"/>
                  <a:pt x="1021" y="389"/>
                  <a:pt x="1056" y="378"/>
                </a:cubicBezTo>
                <a:cubicBezTo>
                  <a:pt x="1075" y="365"/>
                  <a:pt x="1091" y="345"/>
                  <a:pt x="1113" y="340"/>
                </a:cubicBezTo>
                <a:cubicBezTo>
                  <a:pt x="1129" y="336"/>
                  <a:pt x="1163" y="329"/>
                  <a:pt x="1179" y="321"/>
                </a:cubicBezTo>
                <a:cubicBezTo>
                  <a:pt x="1242" y="289"/>
                  <a:pt x="1168" y="313"/>
                  <a:pt x="1245" y="283"/>
                </a:cubicBezTo>
                <a:cubicBezTo>
                  <a:pt x="1281" y="269"/>
                  <a:pt x="1321" y="258"/>
                  <a:pt x="1358" y="246"/>
                </a:cubicBezTo>
                <a:cubicBezTo>
                  <a:pt x="1385" y="237"/>
                  <a:pt x="1418" y="230"/>
                  <a:pt x="1443" y="217"/>
                </a:cubicBezTo>
                <a:cubicBezTo>
                  <a:pt x="1453" y="212"/>
                  <a:pt x="1461" y="203"/>
                  <a:pt x="1471" y="198"/>
                </a:cubicBezTo>
                <a:cubicBezTo>
                  <a:pt x="1489" y="190"/>
                  <a:pt x="1528" y="180"/>
                  <a:pt x="1528" y="180"/>
                </a:cubicBezTo>
                <a:cubicBezTo>
                  <a:pt x="1562" y="128"/>
                  <a:pt x="1611" y="144"/>
                  <a:pt x="1670" y="132"/>
                </a:cubicBezTo>
                <a:cubicBezTo>
                  <a:pt x="1737" y="119"/>
                  <a:pt x="1804" y="99"/>
                  <a:pt x="1868" y="76"/>
                </a:cubicBezTo>
                <a:cubicBezTo>
                  <a:pt x="1894" y="67"/>
                  <a:pt x="1925" y="52"/>
                  <a:pt x="1953" y="47"/>
                </a:cubicBezTo>
                <a:cubicBezTo>
                  <a:pt x="1997" y="39"/>
                  <a:pt x="2041" y="35"/>
                  <a:pt x="2085" y="29"/>
                </a:cubicBezTo>
                <a:cubicBezTo>
                  <a:pt x="2117" y="25"/>
                  <a:pt x="2148" y="15"/>
                  <a:pt x="2180" y="10"/>
                </a:cubicBezTo>
                <a:cubicBezTo>
                  <a:pt x="2205" y="6"/>
                  <a:pt x="2255" y="0"/>
                  <a:pt x="2255" y="0"/>
                </a:cubicBezTo>
              </a:path>
            </a:pathLst>
          </a:custGeom>
          <a:noFill/>
          <a:ln w="12700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91495" name="Line 7"/>
          <p:cNvSpPr>
            <a:spLocks noChangeShapeType="1"/>
          </p:cNvSpPr>
          <p:nvPr/>
        </p:nvSpPr>
        <p:spPr bwMode="auto">
          <a:xfrm>
            <a:off x="2590800" y="5408221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91496" name="Line 8"/>
          <p:cNvSpPr>
            <a:spLocks noChangeShapeType="1"/>
          </p:cNvSpPr>
          <p:nvPr/>
        </p:nvSpPr>
        <p:spPr bwMode="auto">
          <a:xfrm flipH="1">
            <a:off x="5514975" y="1903021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91497" name="Line 9"/>
          <p:cNvSpPr>
            <a:spLocks noChangeShapeType="1"/>
          </p:cNvSpPr>
          <p:nvPr/>
        </p:nvSpPr>
        <p:spPr bwMode="auto">
          <a:xfrm flipV="1">
            <a:off x="5486400" y="1522021"/>
            <a:ext cx="1905000" cy="388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91498" name="Line 10"/>
          <p:cNvSpPr>
            <a:spLocks noChangeShapeType="1"/>
          </p:cNvSpPr>
          <p:nvPr/>
        </p:nvSpPr>
        <p:spPr bwMode="auto">
          <a:xfrm flipV="1">
            <a:off x="5486400" y="1979221"/>
            <a:ext cx="243840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91499" name="Line 11"/>
          <p:cNvSpPr>
            <a:spLocks noChangeShapeType="1"/>
          </p:cNvSpPr>
          <p:nvPr/>
        </p:nvSpPr>
        <p:spPr bwMode="auto">
          <a:xfrm flipV="1">
            <a:off x="5486400" y="2512621"/>
            <a:ext cx="327660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91500" name="Line 12"/>
          <p:cNvSpPr>
            <a:spLocks noChangeShapeType="1"/>
          </p:cNvSpPr>
          <p:nvPr/>
        </p:nvSpPr>
        <p:spPr bwMode="auto">
          <a:xfrm flipV="1">
            <a:off x="5486400" y="3884221"/>
            <a:ext cx="38100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91501" name="Text Box 13"/>
          <p:cNvSpPr txBox="1">
            <a:spLocks noChangeArrowheads="1"/>
          </p:cNvSpPr>
          <p:nvPr/>
        </p:nvSpPr>
        <p:spPr bwMode="auto">
          <a:xfrm>
            <a:off x="5703478" y="5604266"/>
            <a:ext cx="565467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HK" dirty="0">
                <a:ea typeface="PMingLiU" charset="-120"/>
              </a:rPr>
              <a:t>No matter how small </a:t>
            </a:r>
            <a:r>
              <a:rPr lang="en-US" altLang="zh-HK" i="1" dirty="0">
                <a:ea typeface="PMingLiU" charset="-120"/>
              </a:rPr>
              <a:t>c</a:t>
            </a:r>
            <a:r>
              <a:rPr lang="en-US" altLang="zh-HK" dirty="0">
                <a:ea typeface="PMingLiU" charset="-120"/>
              </a:rPr>
              <a:t> is, as long as  it’s some positive constant, then finally </a:t>
            </a:r>
            <a:r>
              <a:rPr lang="en-US" altLang="zh-HK" i="1" dirty="0" err="1">
                <a:ea typeface="PMingLiU" charset="-120"/>
              </a:rPr>
              <a:t>cn</a:t>
            </a:r>
            <a:r>
              <a:rPr lang="en-US" altLang="zh-HK" dirty="0">
                <a:ea typeface="PMingLiU" charset="-120"/>
              </a:rPr>
              <a:t> will catch up </a:t>
            </a:r>
            <a:r>
              <a:rPr lang="en-US" altLang="zh-HK" i="1" dirty="0">
                <a:ea typeface="PMingLiU" charset="-120"/>
              </a:rPr>
              <a:t>n</a:t>
            </a:r>
            <a:r>
              <a:rPr lang="en-US" altLang="zh-HK" baseline="30000" dirty="0">
                <a:ea typeface="PMingLiU" charset="-120"/>
              </a:rPr>
              <a:t>1/2</a:t>
            </a:r>
            <a:r>
              <a:rPr lang="en-US" altLang="zh-HK" dirty="0">
                <a:ea typeface="PMingLiU" charset="-120"/>
              </a:rPr>
              <a:t>. </a:t>
            </a:r>
          </a:p>
          <a:p>
            <a:r>
              <a:rPr lang="en-US" altLang="zh-HK" dirty="0">
                <a:ea typeface="PMingLiU" charset="-120"/>
              </a:rPr>
              <a:t>Thus, </a:t>
            </a:r>
            <a:r>
              <a:rPr lang="en-US" altLang="zh-HK" i="1" dirty="0">
                <a:ea typeface="PMingLiU" charset="-120"/>
              </a:rPr>
              <a:t>n</a:t>
            </a:r>
            <a:r>
              <a:rPr lang="en-US" altLang="zh-HK" baseline="30000" dirty="0">
                <a:ea typeface="PMingLiU" charset="-120"/>
              </a:rPr>
              <a:t>1/2</a:t>
            </a:r>
            <a:r>
              <a:rPr lang="en-US" altLang="zh-HK" dirty="0">
                <a:ea typeface="PMingLiU" charset="-120"/>
              </a:rPr>
              <a:t> = </a:t>
            </a:r>
            <a:r>
              <a:rPr lang="en-US" altLang="zh-HK" i="1" dirty="0">
                <a:ea typeface="PMingLiU" charset="-120"/>
              </a:rPr>
              <a:t>O</a:t>
            </a:r>
            <a:r>
              <a:rPr lang="en-US" altLang="zh-HK" dirty="0">
                <a:ea typeface="PMingLiU" charset="-120"/>
              </a:rPr>
              <a:t>(</a:t>
            </a:r>
            <a:r>
              <a:rPr lang="en-US" altLang="zh-HK" i="1" dirty="0">
                <a:ea typeface="PMingLiU" charset="-120"/>
              </a:rPr>
              <a:t>n</a:t>
            </a:r>
            <a:r>
              <a:rPr lang="en-US" altLang="zh-HK" dirty="0">
                <a:ea typeface="PMingLiU" charset="-120"/>
              </a:rPr>
              <a:t>)</a:t>
            </a:r>
          </a:p>
        </p:txBody>
      </p:sp>
      <p:sp>
        <p:nvSpPr>
          <p:cNvPr id="191502" name="Text Box 14"/>
          <p:cNvSpPr txBox="1">
            <a:spLocks noChangeArrowheads="1"/>
          </p:cNvSpPr>
          <p:nvPr/>
        </p:nvSpPr>
        <p:spPr bwMode="auto">
          <a:xfrm>
            <a:off x="9204325" y="2625334"/>
            <a:ext cx="5325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HK">
                <a:ea typeface="PMingLiU" charset="-120"/>
              </a:rPr>
              <a:t>n</a:t>
            </a:r>
            <a:r>
              <a:rPr lang="en-US" altLang="zh-HK" baseline="30000">
                <a:ea typeface="PMingLiU" charset="-120"/>
              </a:rPr>
              <a:t>1/2</a:t>
            </a:r>
          </a:p>
        </p:txBody>
      </p:sp>
      <p:sp>
        <p:nvSpPr>
          <p:cNvPr id="191503" name="Text Box 15"/>
          <p:cNvSpPr txBox="1">
            <a:spLocks noChangeArrowheads="1"/>
          </p:cNvSpPr>
          <p:nvPr/>
        </p:nvSpPr>
        <p:spPr bwMode="auto">
          <a:xfrm>
            <a:off x="7451725" y="1253734"/>
            <a:ext cx="565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HK">
                <a:ea typeface="PMingLiU" charset="-120"/>
              </a:rPr>
              <a:t>10n</a:t>
            </a:r>
          </a:p>
        </p:txBody>
      </p:sp>
      <p:sp>
        <p:nvSpPr>
          <p:cNvPr id="191504" name="Text Box 16"/>
          <p:cNvSpPr txBox="1">
            <a:spLocks noChangeArrowheads="1"/>
          </p:cNvSpPr>
          <p:nvPr/>
        </p:nvSpPr>
        <p:spPr bwMode="auto">
          <a:xfrm>
            <a:off x="7924800" y="1598222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HK">
                <a:ea typeface="PMingLiU" charset="-120"/>
              </a:rPr>
              <a:t>9n</a:t>
            </a:r>
          </a:p>
        </p:txBody>
      </p:sp>
      <p:sp>
        <p:nvSpPr>
          <p:cNvPr id="191505" name="Text Box 17"/>
          <p:cNvSpPr txBox="1">
            <a:spLocks noChangeArrowheads="1"/>
          </p:cNvSpPr>
          <p:nvPr/>
        </p:nvSpPr>
        <p:spPr bwMode="auto">
          <a:xfrm>
            <a:off x="8839200" y="2131622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HK">
                <a:ea typeface="PMingLiU" charset="-120"/>
              </a:rPr>
              <a:t>7n</a:t>
            </a:r>
          </a:p>
        </p:txBody>
      </p:sp>
      <p:sp>
        <p:nvSpPr>
          <p:cNvPr id="191506" name="Text Box 18"/>
          <p:cNvSpPr txBox="1">
            <a:spLocks noChangeArrowheads="1"/>
          </p:cNvSpPr>
          <p:nvPr/>
        </p:nvSpPr>
        <p:spPr bwMode="auto">
          <a:xfrm>
            <a:off x="9296400" y="3731822"/>
            <a:ext cx="628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HK">
                <a:ea typeface="PMingLiU" charset="-120"/>
              </a:rPr>
              <a:t>0.1n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4" grpId="0" animBg="1"/>
      <p:bldP spid="191497" grpId="0" animBg="1"/>
      <p:bldP spid="191498" grpId="0" animBg="1"/>
      <p:bldP spid="191499" grpId="0" animBg="1"/>
      <p:bldP spid="191500" grpId="0" animBg="1"/>
      <p:bldP spid="191501" grpId="0"/>
      <p:bldP spid="191502" grpId="0"/>
      <p:bldP spid="191503" grpId="0"/>
      <p:bldP spid="191504" grpId="0"/>
      <p:bldP spid="191505" grpId="0"/>
      <p:bldP spid="19150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>
                <a:ea typeface="PMingLiU" charset="-120"/>
              </a:rPr>
              <a:t>General definitions</a:t>
            </a:r>
            <a:endParaRPr lang="zh-HK" altLang="zh-H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841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81200" y="1600200"/>
                <a:ext cx="8991600" cy="487375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𝑓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)=</m:t>
                    </m:r>
                    <m:r>
                      <a:rPr lang="en-US" altLang="zh-HK" i="1" dirty="0" smtClean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𝑂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𝑔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))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: for </a:t>
                </a:r>
                <a:r>
                  <a:rPr lang="en-US" altLang="zh-HK" dirty="0">
                    <a:solidFill>
                      <a:srgbClr val="FF0000"/>
                    </a:solidFill>
                    <a:ea typeface="新細明體" charset="-120"/>
                  </a:rPr>
                  <a:t>some</a:t>
                </a:r>
                <a:r>
                  <a:rPr lang="en-US" altLang="zh-HK" dirty="0">
                    <a:ea typeface="新細明體" charset="-120"/>
                  </a:rPr>
                  <a:t> constant </a:t>
                </a:r>
                <a14:m>
                  <m:oMath xmlns:m="http://schemas.openxmlformats.org/officeDocument/2006/math"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𝑐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𝑓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)≤</m:t>
                    </m:r>
                    <m:r>
                      <a:rPr lang="en-US" altLang="zh-HK" i="1" dirty="0" err="1">
                        <a:latin typeface="Cambria Math"/>
                        <a:ea typeface="新細明體" charset="-120"/>
                      </a:rPr>
                      <m:t>𝑐</m:t>
                    </m:r>
                    <m:r>
                      <a:rPr lang="en-US" altLang="zh-HK" i="1" dirty="0" err="1">
                        <a:latin typeface="Cambria Math"/>
                        <a:ea typeface="新細明體" charset="-120"/>
                      </a:rPr>
                      <m:t>∙</m:t>
                    </m:r>
                    <m:r>
                      <a:rPr lang="en-US" altLang="zh-HK" i="1" dirty="0" err="1">
                        <a:latin typeface="Cambria Math"/>
                        <a:ea typeface="新細明體" charset="-120"/>
                      </a:rPr>
                      <m:t>𝑔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)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, when </a:t>
                </a:r>
                <a14:m>
                  <m:oMath xmlns:m="http://schemas.openxmlformats.org/officeDocument/2006/math"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𝑛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 is sufficiently large.</a:t>
                </a:r>
              </a:p>
              <a:p>
                <a:pPr lvl="1"/>
                <a:r>
                  <a:rPr lang="en-US" altLang="zh-HK" dirty="0">
                    <a:ea typeface="新細明體" charset="-120"/>
                  </a:rPr>
                  <a:t>i.e. </a:t>
                </a:r>
                <a14:m>
                  <m:oMath xmlns:m="http://schemas.openxmlformats.org/officeDocument/2006/math">
                    <m:r>
                      <a:rPr lang="el-GR" i="1" dirty="0" smtClean="0">
                        <a:solidFill>
                          <a:srgbClr val="FF0000"/>
                        </a:solidFill>
                        <a:latin typeface="Cambria Math"/>
                      </a:rPr>
                      <m:t>∃</m:t>
                    </m:r>
                    <m:r>
                      <a:rPr lang="en-US" altLang="zh-HK" i="1" dirty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𝑐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/>
                      </a:rPr>
                      <m:t>∃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𝑁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 </a:t>
                </a:r>
                <a:r>
                  <a:rPr lang="en-US" altLang="zh-HK" dirty="0" err="1">
                    <a:ea typeface="新細明體" charset="-120"/>
                  </a:rPr>
                  <a:t>s.t.</a:t>
                </a:r>
                <a:r>
                  <a:rPr lang="en-US" altLang="zh-HK" dirty="0">
                    <a:ea typeface="新細明體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/>
                      </a:rPr>
                      <m:t>∀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&gt;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𝑁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, we have </a:t>
                </a:r>
                <a14:m>
                  <m:oMath xmlns:m="http://schemas.openxmlformats.org/officeDocument/2006/math"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𝑓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)≤</m:t>
                    </m:r>
                    <m:r>
                      <a:rPr lang="en-US" altLang="zh-HK" i="1" dirty="0" err="1">
                        <a:latin typeface="Cambria Math"/>
                        <a:ea typeface="新細明體" charset="-120"/>
                      </a:rPr>
                      <m:t>𝑐</m:t>
                    </m:r>
                    <m:r>
                      <a:rPr lang="en-US" altLang="zh-HK" i="1" dirty="0" err="1">
                        <a:latin typeface="Cambria Math"/>
                        <a:ea typeface="新細明體" charset="-120"/>
                      </a:rPr>
                      <m:t>∙</m:t>
                    </m:r>
                    <m:r>
                      <a:rPr lang="en-US" altLang="zh-HK" i="1" dirty="0" err="1">
                        <a:latin typeface="Cambria Math"/>
                        <a:ea typeface="新細明體" charset="-120"/>
                      </a:rPr>
                      <m:t>𝑔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)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.</a:t>
                </a:r>
              </a:p>
              <a:p>
                <a:pPr lvl="1"/>
                <a:endParaRPr lang="en-US" altLang="zh-HK" dirty="0">
                  <a:ea typeface="新細明體" charset="-120"/>
                </a:endParaRPr>
              </a:p>
              <a:p>
                <a14:m>
                  <m:oMath xmlns:m="http://schemas.openxmlformats.org/officeDocument/2006/math"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𝑓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)=</m:t>
                    </m:r>
                    <m:r>
                      <a:rPr lang="en-US" altLang="zh-HK" i="1" dirty="0" smtClean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𝑜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𝑔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))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: for </a:t>
                </a:r>
                <a:r>
                  <a:rPr lang="en-US" altLang="zh-HK" dirty="0">
                    <a:solidFill>
                      <a:srgbClr val="FF0000"/>
                    </a:solidFill>
                    <a:ea typeface="新細明體" charset="-120"/>
                  </a:rPr>
                  <a:t>any </a:t>
                </a:r>
                <a:r>
                  <a:rPr lang="en-US" altLang="zh-HK" dirty="0">
                    <a:ea typeface="新細明體" charset="-120"/>
                  </a:rPr>
                  <a:t>constant c, </a:t>
                </a:r>
                <a14:m>
                  <m:oMath xmlns:m="http://schemas.openxmlformats.org/officeDocument/2006/math"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𝑓</m:t>
                    </m:r>
                    <m:d>
                      <m:dPr>
                        <m:ctrlPr>
                          <a:rPr lang="en-US" altLang="zh-HK" i="1" dirty="0" smtClean="0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dPr>
                      <m:e>
                        <m:r>
                          <a:rPr lang="en-US" altLang="zh-HK" i="1" dirty="0" smtClean="0">
                            <a:latin typeface="Cambria Math"/>
                            <a:ea typeface="新細明體" charset="-120"/>
                          </a:rPr>
                          <m:t>𝑛</m:t>
                        </m:r>
                      </m:e>
                    </m:d>
                    <m:r>
                      <a:rPr lang="en-US" altLang="zh-HK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charset="-120"/>
                      </a:rPr>
                      <m:t>&lt;</m:t>
                    </m:r>
                    <m:r>
                      <a:rPr lang="en-US" altLang="zh-HK" i="1" dirty="0" err="1">
                        <a:latin typeface="Cambria Math"/>
                        <a:ea typeface="新細明體" charset="-120"/>
                      </a:rPr>
                      <m:t>𝑐</m:t>
                    </m:r>
                    <m:r>
                      <a:rPr lang="en-US" altLang="zh-HK" i="1" dirty="0" err="1">
                        <a:latin typeface="Cambria Math"/>
                        <a:ea typeface="新細明體" charset="-120"/>
                      </a:rPr>
                      <m:t>∙</m:t>
                    </m:r>
                    <m:r>
                      <a:rPr lang="en-US" altLang="zh-HK" i="1" dirty="0" err="1">
                        <a:latin typeface="Cambria Math"/>
                        <a:ea typeface="新細明體" charset="-120"/>
                      </a:rPr>
                      <m:t>𝑔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)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, when </a:t>
                </a:r>
                <a14:m>
                  <m:oMath xmlns:m="http://schemas.openxmlformats.org/officeDocument/2006/math"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𝑛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 is sufficiently large.</a:t>
                </a:r>
              </a:p>
              <a:p>
                <a:pPr lvl="1"/>
                <a:r>
                  <a:rPr lang="en-US" altLang="zh-HK" dirty="0">
                    <a:ea typeface="新細明體" charset="-120"/>
                  </a:rPr>
                  <a:t>i.e. </a:t>
                </a:r>
                <a14:m>
                  <m:oMath xmlns:m="http://schemas.openxmlformats.org/officeDocument/2006/math">
                    <m:r>
                      <a:rPr lang="el-GR" i="1" dirty="0" smtClean="0">
                        <a:solidFill>
                          <a:srgbClr val="FF0000"/>
                        </a:solidFill>
                        <a:latin typeface="Cambria Math"/>
                      </a:rPr>
                      <m:t>∀</m:t>
                    </m:r>
                    <m:r>
                      <a:rPr lang="en-US" altLang="zh-HK" i="1" dirty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𝑐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/>
                      </a:rPr>
                      <m:t>∃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𝑁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 </a:t>
                </a:r>
                <a:r>
                  <a:rPr lang="en-US" altLang="zh-HK" dirty="0" err="1">
                    <a:ea typeface="新細明體" charset="-120"/>
                  </a:rPr>
                  <a:t>s.t.</a:t>
                </a:r>
                <a:r>
                  <a:rPr lang="en-US" altLang="zh-HK" dirty="0">
                    <a:ea typeface="新細明體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/>
                      </a:rPr>
                      <m:t>∀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&gt;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𝑁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, we have </a:t>
                </a:r>
                <a14:m>
                  <m:oMath xmlns:m="http://schemas.openxmlformats.org/officeDocument/2006/math"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𝑓</m:t>
                    </m:r>
                    <m:d>
                      <m:dPr>
                        <m:ctrlPr>
                          <a:rPr lang="en-US" altLang="zh-HK" i="1" dirty="0" smtClean="0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dPr>
                      <m:e>
                        <m:r>
                          <a:rPr lang="en-US" altLang="zh-HK" i="1" dirty="0" smtClean="0">
                            <a:latin typeface="Cambria Math"/>
                            <a:ea typeface="新細明體" charset="-120"/>
                          </a:rPr>
                          <m:t>𝑛</m:t>
                        </m:r>
                      </m:e>
                    </m:d>
                    <m:r>
                      <a:rPr lang="en-US" altLang="zh-HK" b="0" i="1" dirty="0" smtClean="0">
                        <a:latin typeface="Cambria Math" panose="02040503050406030204" pitchFamily="18" charset="0"/>
                        <a:ea typeface="新細明體" charset="-120"/>
                      </a:rPr>
                      <m:t>&lt;</m:t>
                    </m:r>
                    <m:r>
                      <a:rPr lang="en-US" altLang="zh-HK" i="1" dirty="0" err="1">
                        <a:latin typeface="Cambria Math"/>
                        <a:ea typeface="新細明體" charset="-120"/>
                      </a:rPr>
                      <m:t>𝑐</m:t>
                    </m:r>
                    <m:r>
                      <a:rPr lang="en-US" altLang="zh-HK" i="1" dirty="0" err="1">
                        <a:latin typeface="Cambria Math"/>
                        <a:ea typeface="新細明體" charset="-120"/>
                      </a:rPr>
                      <m:t>∙</m:t>
                    </m:r>
                    <m:r>
                      <a:rPr lang="en-US" altLang="zh-HK" i="1" dirty="0" err="1">
                        <a:latin typeface="Cambria Math"/>
                        <a:ea typeface="新細明體" charset="-120"/>
                      </a:rPr>
                      <m:t>𝑔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)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.</a:t>
                </a:r>
              </a:p>
              <a:p>
                <a:endParaRPr lang="en-US" altLang="zh-HK" dirty="0">
                  <a:ea typeface="新細明體" charset="-120"/>
                </a:endParaRPr>
              </a:p>
            </p:txBody>
          </p:sp>
        </mc:Choice>
        <mc:Fallback xmlns="">
          <p:sp>
            <p:nvSpPr>
              <p:cNvPr id="1884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81200" y="1600200"/>
                <a:ext cx="8991600" cy="4873752"/>
              </a:xfrm>
              <a:blipFill>
                <a:blip r:embed="rId2"/>
                <a:stretch>
                  <a:fillRect t="-22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>
                <a:ea typeface="PMingLiU" charset="-120"/>
              </a:rPr>
              <a:t>General definition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55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939225" y="1398320"/>
                <a:ext cx="11030726" cy="4873752"/>
              </a:xfrm>
            </p:spPr>
            <p:txBody>
              <a:bodyPr>
                <a:normAutofit/>
              </a:bodyPr>
              <a:lstStyle/>
              <a:p>
                <a:pPr marL="366713" lvl="1" indent="0">
                  <a:buNone/>
                </a:pPr>
                <a:endParaRPr lang="en-US" altLang="zh-HK" dirty="0">
                  <a:ea typeface="新細明體" charset="-120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𝑓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)=</m:t>
                    </m:r>
                    <m:r>
                      <m:rPr>
                        <m:sty m:val="p"/>
                      </m:rPr>
                      <a:rPr lang="el-GR" i="0" dirty="0">
                        <a:latin typeface="Cambria Math"/>
                      </a:rPr>
                      <m:t>Ω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𝑔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))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HK" i="1" dirty="0" smtClean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𝑓</m:t>
                    </m:r>
                    <m:r>
                      <a:rPr lang="en-US" altLang="zh-HK" i="1" dirty="0" smtClean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 smtClean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 smtClean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)≥</m:t>
                    </m:r>
                    <m:r>
                      <a:rPr lang="en-US" altLang="zh-HK" i="1" dirty="0" err="1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𝑐</m:t>
                    </m:r>
                    <m:r>
                      <a:rPr lang="en-US" altLang="zh-HK" i="1" dirty="0" err="1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∙</m:t>
                    </m:r>
                    <m:r>
                      <a:rPr lang="en-US" altLang="zh-HK" i="1" dirty="0" err="1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𝑔</m:t>
                    </m:r>
                    <m:r>
                      <a:rPr lang="en-US" altLang="zh-HK" i="1" dirty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)</m:t>
                    </m:r>
                  </m:oMath>
                </a14:m>
                <a:r>
                  <a:rPr lang="en-US" altLang="zh-HK" dirty="0">
                    <a:solidFill>
                      <a:srgbClr val="FF0000"/>
                    </a:solidFill>
                    <a:ea typeface="新細明體" charset="-120"/>
                  </a:rPr>
                  <a:t> </a:t>
                </a:r>
                <a:r>
                  <a:rPr lang="en-US" altLang="zh-HK" dirty="0">
                    <a:ea typeface="新細明體" charset="-120"/>
                  </a:rPr>
                  <a:t>for </a:t>
                </a:r>
                <a:r>
                  <a:rPr lang="en-US" altLang="zh-HK" dirty="0">
                    <a:solidFill>
                      <a:srgbClr val="FF0000"/>
                    </a:solidFill>
                    <a:ea typeface="新細明體" charset="-120"/>
                  </a:rPr>
                  <a:t>some</a:t>
                </a:r>
                <a:r>
                  <a:rPr lang="en-US" altLang="zh-HK" dirty="0">
                    <a:ea typeface="新細明體" charset="-120"/>
                  </a:rPr>
                  <a:t> constant </a:t>
                </a:r>
                <a14:m>
                  <m:oMath xmlns:m="http://schemas.openxmlformats.org/officeDocument/2006/math"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𝑐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 and large </a:t>
                </a:r>
                <a14:m>
                  <m:oMath xmlns:m="http://schemas.openxmlformats.org/officeDocument/2006/math"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𝑛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.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zh-HK" dirty="0">
                    <a:ea typeface="新細明體" charset="-120"/>
                  </a:rPr>
                  <a:t>i.e. </a:t>
                </a:r>
                <a14:m>
                  <m:oMath xmlns:m="http://schemas.openxmlformats.org/officeDocument/2006/math">
                    <m:r>
                      <a:rPr lang="el-GR" i="1" dirty="0" smtClean="0">
                        <a:solidFill>
                          <a:srgbClr val="FF0000"/>
                        </a:solidFill>
                        <a:latin typeface="Cambria Math"/>
                      </a:rPr>
                      <m:t>∃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𝑐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/>
                      </a:rPr>
                      <m:t>∃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𝑁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 </a:t>
                </a:r>
                <a:r>
                  <a:rPr lang="en-US" altLang="zh-HK" dirty="0" err="1">
                    <a:ea typeface="新細明體" charset="-120"/>
                  </a:rPr>
                  <a:t>s.t.</a:t>
                </a:r>
                <a:r>
                  <a:rPr lang="en-US" altLang="zh-HK" dirty="0">
                    <a:ea typeface="新細明體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/>
                      </a:rPr>
                      <m:t>∀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&gt;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𝑁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, we have </a:t>
                </a:r>
                <a14:m>
                  <m:oMath xmlns:m="http://schemas.openxmlformats.org/officeDocument/2006/math"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𝑓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)≥</m:t>
                    </m:r>
                    <m:r>
                      <a:rPr lang="en-US" altLang="zh-HK" i="1" dirty="0" err="1">
                        <a:latin typeface="Cambria Math"/>
                        <a:ea typeface="新細明體" charset="-120"/>
                      </a:rPr>
                      <m:t>𝑐</m:t>
                    </m:r>
                    <m:r>
                      <a:rPr lang="en-US" altLang="zh-HK" i="1" dirty="0" err="1">
                        <a:latin typeface="Cambria Math"/>
                        <a:ea typeface="新細明體" charset="-120"/>
                      </a:rPr>
                      <m:t>∙</m:t>
                    </m:r>
                    <m:r>
                      <a:rPr lang="en-US" altLang="zh-HK" i="1" dirty="0" err="1">
                        <a:latin typeface="Cambria Math"/>
                        <a:ea typeface="新細明體" charset="-120"/>
                      </a:rPr>
                      <m:t>𝑔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)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.</a:t>
                </a:r>
              </a:p>
              <a:p>
                <a:pPr lvl="1">
                  <a:lnSpc>
                    <a:spcPct val="90000"/>
                  </a:lnSpc>
                </a:pPr>
                <a:endParaRPr lang="en-US" altLang="zh-HK" dirty="0">
                  <a:ea typeface="新細明體" charset="-120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𝑓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)=</m:t>
                    </m:r>
                    <m:r>
                      <m:rPr>
                        <m:nor/>
                      </m:rPr>
                      <a:rPr lang="en-US" altLang="zh-CN" i="1" dirty="0">
                        <a:sym typeface="Symbol" panose="05050102010706020507" pitchFamily="18" charset="2"/>
                      </a:rPr>
                      <m:t>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𝑔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))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HK" i="1" dirty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𝑓</m:t>
                    </m:r>
                    <m:d>
                      <m:dPr>
                        <m:ctrlPr>
                          <a:rPr lang="en-US" altLang="zh-HK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dPr>
                      <m:e>
                        <m:r>
                          <a:rPr lang="en-US" altLang="zh-HK" i="1" dirty="0">
                            <a:solidFill>
                              <a:srgbClr val="FF0000"/>
                            </a:solidFill>
                            <a:latin typeface="Cambria Math"/>
                            <a:ea typeface="新細明體" charset="-120"/>
                          </a:rPr>
                          <m:t>𝑛</m:t>
                        </m:r>
                      </m:e>
                    </m:d>
                    <m:r>
                      <a:rPr lang="en-US" altLang="zh-HK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charset="-120"/>
                      </a:rPr>
                      <m:t>&gt;</m:t>
                    </m:r>
                    <m:r>
                      <a:rPr lang="en-US" altLang="zh-HK" i="1" dirty="0" err="1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𝑐</m:t>
                    </m:r>
                    <m:r>
                      <a:rPr lang="en-US" altLang="zh-HK" i="1" dirty="0" err="1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∙</m:t>
                    </m:r>
                    <m:r>
                      <a:rPr lang="en-US" altLang="zh-HK" i="1" dirty="0" err="1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𝑔</m:t>
                    </m:r>
                    <m:r>
                      <a:rPr lang="en-US" altLang="zh-HK" i="1" dirty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)</m:t>
                    </m:r>
                  </m:oMath>
                </a14:m>
                <a:r>
                  <a:rPr lang="en-US" altLang="zh-HK" dirty="0">
                    <a:solidFill>
                      <a:srgbClr val="FF0000"/>
                    </a:solidFill>
                    <a:ea typeface="新細明體" charset="-120"/>
                  </a:rPr>
                  <a:t> </a:t>
                </a:r>
                <a:r>
                  <a:rPr lang="en-US" altLang="zh-HK" dirty="0">
                    <a:ea typeface="新細明體" charset="-120"/>
                  </a:rPr>
                  <a:t>for </a:t>
                </a:r>
                <a:r>
                  <a:rPr lang="en-US" altLang="zh-HK" dirty="0">
                    <a:solidFill>
                      <a:srgbClr val="FF0000"/>
                    </a:solidFill>
                    <a:ea typeface="新細明體" charset="-120"/>
                  </a:rPr>
                  <a:t>any</a:t>
                </a:r>
                <a:r>
                  <a:rPr lang="en-US" altLang="zh-HK" dirty="0">
                    <a:ea typeface="新細明體" charset="-120"/>
                  </a:rPr>
                  <a:t> constant </a:t>
                </a:r>
                <a14:m>
                  <m:oMath xmlns:m="http://schemas.openxmlformats.org/officeDocument/2006/math"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𝑐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 and large </a:t>
                </a:r>
                <a14:m>
                  <m:oMath xmlns:m="http://schemas.openxmlformats.org/officeDocument/2006/math"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𝑛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.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zh-HK" dirty="0">
                    <a:ea typeface="新細明體" charset="-120"/>
                  </a:rPr>
                  <a:t>i.e.</a:t>
                </a:r>
                <a:r>
                  <a:rPr lang="en-US" altLang="zh-HK" dirty="0">
                    <a:solidFill>
                      <a:srgbClr val="FF0000"/>
                    </a:solidFill>
                    <a:ea typeface="新細明體" charset="-120"/>
                  </a:rPr>
                  <a:t>∀</a:t>
                </a:r>
                <a14:m>
                  <m:oMath xmlns:m="http://schemas.openxmlformats.org/officeDocument/2006/math"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𝑐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l-GR" altLang="zh-CN" i="1" dirty="0">
                        <a:latin typeface="Cambria Math"/>
                      </a:rPr>
                      <m:t>∃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𝑁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 </a:t>
                </a:r>
                <a:r>
                  <a:rPr lang="en-US" altLang="zh-HK" dirty="0" err="1">
                    <a:ea typeface="新細明體" charset="-120"/>
                  </a:rPr>
                  <a:t>s.t.</a:t>
                </a:r>
                <a:r>
                  <a:rPr lang="en-US" altLang="zh-HK" dirty="0">
                    <a:ea typeface="新細明體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i="1" dirty="0">
                        <a:latin typeface="Cambria Math"/>
                      </a:rPr>
                      <m:t>∀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&gt;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𝑁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, we have </a:t>
                </a:r>
                <a14:m>
                  <m:oMath xmlns:m="http://schemas.openxmlformats.org/officeDocument/2006/math"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𝑓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)&gt;</m:t>
                    </m:r>
                    <m:r>
                      <a:rPr lang="en-US" altLang="zh-HK" i="1" dirty="0" err="1">
                        <a:latin typeface="Cambria Math"/>
                        <a:ea typeface="新細明體" charset="-120"/>
                      </a:rPr>
                      <m:t>𝑐</m:t>
                    </m:r>
                    <m:r>
                      <a:rPr lang="en-US" altLang="zh-HK" i="1" dirty="0" err="1">
                        <a:latin typeface="Cambria Math"/>
                        <a:ea typeface="新細明體" charset="-120"/>
                      </a:rPr>
                      <m:t>∙</m:t>
                    </m:r>
                    <m:r>
                      <a:rPr lang="en-US" altLang="zh-HK" i="1" dirty="0" err="1">
                        <a:latin typeface="Cambria Math"/>
                        <a:ea typeface="新細明體" charset="-120"/>
                      </a:rPr>
                      <m:t>𝑔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)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.</a:t>
                </a:r>
              </a:p>
              <a:p>
                <a:pPr lvl="1">
                  <a:lnSpc>
                    <a:spcPct val="90000"/>
                  </a:lnSpc>
                </a:pPr>
                <a:endParaRPr lang="en-US" altLang="zh-HK" dirty="0">
                  <a:ea typeface="新細明體" charset="-120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𝑓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)=</m:t>
                    </m:r>
                    <m:r>
                      <m:rPr>
                        <m:sty m:val="p"/>
                      </m:rPr>
                      <a:rPr lang="el-GR" i="0" dirty="0">
                        <a:latin typeface="Cambria Math"/>
                      </a:rPr>
                      <m:t>Θ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𝑔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))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𝑓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)=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𝑂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𝑔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))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 </a:t>
                </a:r>
                <a:r>
                  <a:rPr lang="en-US" altLang="zh-HK" dirty="0">
                    <a:solidFill>
                      <a:srgbClr val="FF0000"/>
                    </a:solidFill>
                    <a:ea typeface="新細明體" charset="-120"/>
                  </a:rPr>
                  <a:t>and</a:t>
                </a:r>
                <a:r>
                  <a:rPr lang="en-US" altLang="zh-HK" dirty="0">
                    <a:ea typeface="新細明體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𝑓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)=</m:t>
                    </m:r>
                    <m:r>
                      <m:rPr>
                        <m:sty m:val="p"/>
                      </m:rPr>
                      <a:rPr lang="el-GR" i="0" dirty="0">
                        <a:latin typeface="Cambria Math"/>
                      </a:rPr>
                      <m:t>Ω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𝑔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latin typeface="Cambria Math"/>
                        <a:ea typeface="新細明體" charset="-120"/>
                      </a:rPr>
                      <m:t>))</m:t>
                    </m:r>
                  </m:oMath>
                </a14:m>
                <a:endParaRPr lang="en-US" altLang="zh-HK" dirty="0">
                  <a:ea typeface="新細明體" charset="-120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zh-HK" dirty="0">
                    <a:ea typeface="新細明體" charset="-120"/>
                  </a:rPr>
                  <a:t>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HK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sSubPr>
                      <m:e>
                        <m:r>
                          <a:rPr lang="en-US" altLang="zh-HK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新細明體" charset="-120"/>
                          </a:rPr>
                          <m:t>𝑐</m:t>
                        </m:r>
                      </m:e>
                      <m:sub>
                        <m:r>
                          <a:rPr lang="en-US" altLang="zh-HK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新細明體" charset="-120"/>
                          </a:rPr>
                          <m:t>1</m:t>
                        </m:r>
                      </m:sub>
                    </m:sSub>
                    <m:r>
                      <a:rPr lang="en-US" altLang="zh-HK" b="0" i="1" dirty="0" smtClean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⋅</m:t>
                    </m:r>
                    <m:r>
                      <a:rPr lang="en-US" altLang="zh-HK" i="1" dirty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𝑔</m:t>
                    </m:r>
                    <m:d>
                      <m:dPr>
                        <m:ctrlPr>
                          <a:rPr lang="en-US" altLang="zh-HK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dPr>
                      <m:e>
                        <m:r>
                          <a:rPr lang="en-US" altLang="zh-HK" i="1" dirty="0">
                            <a:solidFill>
                              <a:srgbClr val="FF0000"/>
                            </a:solidFill>
                            <a:latin typeface="Cambria Math"/>
                            <a:ea typeface="新細明體" charset="-120"/>
                          </a:rPr>
                          <m:t>𝑛</m:t>
                        </m:r>
                      </m:e>
                    </m:d>
                    <m:r>
                      <a:rPr lang="en-US" altLang="zh-HK" i="1" dirty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≤</m:t>
                    </m:r>
                    <m:r>
                      <a:rPr lang="en-US" altLang="zh-HK" i="1" dirty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𝑓</m:t>
                    </m:r>
                    <m:d>
                      <m:dPr>
                        <m:ctrlPr>
                          <a:rPr lang="en-US" altLang="zh-HK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dPr>
                      <m:e>
                        <m:r>
                          <a:rPr lang="en-US" altLang="zh-HK" i="1" dirty="0">
                            <a:solidFill>
                              <a:srgbClr val="FF0000"/>
                            </a:solidFill>
                            <a:latin typeface="Cambria Math"/>
                            <a:ea typeface="新細明體" charset="-120"/>
                          </a:rPr>
                          <m:t>𝑛</m:t>
                        </m:r>
                      </m:e>
                    </m:d>
                    <m:r>
                      <a:rPr lang="en-US" altLang="zh-HK" i="1" dirty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≤</m:t>
                    </m:r>
                    <m:sSub>
                      <m:sSubPr>
                        <m:ctrlPr>
                          <a:rPr lang="en-US" altLang="zh-HK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sSubPr>
                      <m:e>
                        <m:r>
                          <a:rPr lang="en-US" altLang="zh-HK" i="1" dirty="0">
                            <a:solidFill>
                              <a:srgbClr val="FF0000"/>
                            </a:solidFill>
                            <a:latin typeface="Cambria Math"/>
                            <a:ea typeface="新細明體" charset="-120"/>
                          </a:rPr>
                          <m:t>𝑐</m:t>
                        </m:r>
                      </m:e>
                      <m:sub>
                        <m:r>
                          <a:rPr lang="en-US" altLang="zh-HK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新細明體" charset="-120"/>
                          </a:rPr>
                          <m:t>2</m:t>
                        </m:r>
                      </m:sub>
                    </m:sSub>
                    <m:r>
                      <a:rPr lang="en-US" altLang="zh-HK" b="0" i="1" dirty="0" smtClean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⋅</m:t>
                    </m:r>
                    <m:r>
                      <a:rPr lang="en-US" altLang="zh-HK" i="1" dirty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𝑔</m:t>
                    </m:r>
                    <m:r>
                      <a:rPr lang="en-US" altLang="zh-HK" i="1" dirty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(</m:t>
                    </m:r>
                    <m:r>
                      <a:rPr lang="en-US" altLang="zh-HK" i="1" dirty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𝑛</m:t>
                    </m:r>
                    <m:r>
                      <a:rPr lang="en-US" altLang="zh-HK" i="1" dirty="0">
                        <a:solidFill>
                          <a:srgbClr val="FF0000"/>
                        </a:solidFill>
                        <a:latin typeface="Cambria Math"/>
                        <a:ea typeface="新細明體" charset="-120"/>
                      </a:rPr>
                      <m:t>)</m:t>
                    </m:r>
                  </m:oMath>
                </a14:m>
                <a:r>
                  <a:rPr lang="en-US" altLang="zh-HK" dirty="0">
                    <a:solidFill>
                      <a:srgbClr val="FF0000"/>
                    </a:solidFill>
                    <a:ea typeface="新細明體" charset="-120"/>
                  </a:rPr>
                  <a:t> </a:t>
                </a:r>
                <a:r>
                  <a:rPr lang="en-US" altLang="zh-HK" dirty="0">
                    <a:ea typeface="新細明體" charset="-120"/>
                  </a:rPr>
                  <a:t>for two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HK" b="0" i="1" dirty="0" smtClean="0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sSubPr>
                      <m:e>
                        <m:r>
                          <a:rPr lang="en-US" altLang="zh-HK" i="1" dirty="0" smtClean="0">
                            <a:latin typeface="Cambria Math"/>
                            <a:ea typeface="新細明體" charset="-120"/>
                          </a:rPr>
                          <m:t>𝑐</m:t>
                        </m:r>
                      </m:e>
                      <m:sub>
                        <m:r>
                          <a:rPr lang="en-US" altLang="zh-HK" b="0" i="1" dirty="0" smtClean="0">
                            <a:latin typeface="Cambria Math"/>
                            <a:ea typeface="新細明體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HK" dirty="0">
                    <a:ea typeface="新細明體" charset="-12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HK" b="0" i="1" dirty="0" smtClean="0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sSubPr>
                      <m:e>
                        <m:r>
                          <a:rPr lang="en-US" altLang="zh-HK" i="1" dirty="0" smtClean="0">
                            <a:latin typeface="Cambria Math"/>
                            <a:ea typeface="新細明體" charset="-120"/>
                          </a:rPr>
                          <m:t>𝑐</m:t>
                        </m:r>
                      </m:e>
                      <m:sub>
                        <m:r>
                          <a:rPr lang="en-US" altLang="zh-HK" b="0" i="1" dirty="0" smtClean="0">
                            <a:latin typeface="Cambria Math"/>
                            <a:ea typeface="新細明體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HK" dirty="0">
                    <a:ea typeface="新細明體" charset="-120"/>
                  </a:rPr>
                  <a:t> and large </a:t>
                </a:r>
                <a14:m>
                  <m:oMath xmlns:m="http://schemas.openxmlformats.org/officeDocument/2006/math">
                    <m:r>
                      <a:rPr lang="en-US" altLang="zh-HK" i="1" dirty="0" smtClean="0">
                        <a:latin typeface="Cambria Math"/>
                        <a:ea typeface="新細明體" charset="-120"/>
                      </a:rPr>
                      <m:t>𝑛</m:t>
                    </m:r>
                  </m:oMath>
                </a14:m>
                <a:r>
                  <a:rPr lang="en-US" altLang="zh-HK" dirty="0">
                    <a:ea typeface="新細明體" charset="-120"/>
                  </a:rPr>
                  <a:t>.</a:t>
                </a:r>
              </a:p>
            </p:txBody>
          </p:sp>
        </mc:Choice>
        <mc:Fallback xmlns="">
          <p:sp>
            <p:nvSpPr>
              <p:cNvPr id="15155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39225" y="1398320"/>
                <a:ext cx="11030726" cy="487375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886198" y="440483"/>
            <a:ext cx="7467600" cy="549275"/>
          </a:xfrm>
        </p:spPr>
        <p:txBody>
          <a:bodyPr>
            <a:normAutofit fontScale="90000"/>
          </a:bodyPr>
          <a:lstStyle/>
          <a:p>
            <a:r>
              <a:rPr lang="en-US" altLang="zh-HK" dirty="0">
                <a:ea typeface="PMingLiU" charset="-120"/>
              </a:rPr>
              <a:t>Spectrum of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57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057400" y="2625153"/>
                <a:ext cx="8229600" cy="3692525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2600" i="1" dirty="0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sSupPr>
                      <m:e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altLang="zh-HK" sz="2600" i="1" dirty="0">
                                <a:latin typeface="Cambria Math" panose="02040503050406030204" pitchFamily="18" charset="0"/>
                                <a:ea typeface="新細明體" charset="-120"/>
                              </a:rPr>
                            </m:ctrlPr>
                          </m:sSupPr>
                          <m:e>
                            <m:r>
                              <a:rPr lang="en-US" altLang="zh-HK" sz="2600" i="1" dirty="0">
                                <a:latin typeface="Cambria Math"/>
                                <a:ea typeface="新細明體" charset="-120"/>
                              </a:rPr>
                              <m:t>2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altLang="zh-HK" sz="2600" i="1" dirty="0">
                                    <a:latin typeface="Cambria Math" panose="02040503050406030204" pitchFamily="18" charset="0"/>
                                    <a:ea typeface="新細明體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HK" sz="2600" i="1" dirty="0">
                                    <a:latin typeface="Cambria Math"/>
                                    <a:ea typeface="新細明體" charset="-120"/>
                                  </a:rPr>
                                  <m:t>…</m:t>
                                </m:r>
                              </m:e>
                              <m:sup>
                                <m:r>
                                  <a:rPr lang="en-US" altLang="zh-HK" sz="2600" i="1" dirty="0">
                                    <a:latin typeface="Cambria Math"/>
                                    <a:ea typeface="新細明體" charset="-12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sup>
                    </m:sSup>
                  </m:oMath>
                </a14:m>
                <a:r>
                  <a:rPr lang="en-US" altLang="zh-HK" sz="2600" dirty="0">
                    <a:ea typeface="新細明體" charset="-120"/>
                  </a:rPr>
                  <a:t> a tower of height </a:t>
                </a:r>
                <a14:m>
                  <m:oMath xmlns:m="http://schemas.openxmlformats.org/officeDocument/2006/math">
                    <m:r>
                      <a:rPr lang="en-US" altLang="zh-HK" sz="2600" i="1" dirty="0">
                        <a:latin typeface="Cambria Math"/>
                        <a:ea typeface="新細明體" charset="-120"/>
                      </a:rPr>
                      <m:t>𝑛</m:t>
                    </m:r>
                  </m:oMath>
                </a14:m>
                <a:r>
                  <a:rPr lang="en-US" altLang="zh-HK" sz="2600" dirty="0">
                    <a:ea typeface="新細明體" charset="-120"/>
                  </a:rPr>
                  <a:t>.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HK" sz="2600" dirty="0">
                    <a:ea typeface="新細明體" charset="-120"/>
                  </a:rPr>
                  <a:t>Faster?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2600" i="1" dirty="0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sSupPr>
                      <m:e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altLang="zh-HK" sz="2600" i="1" dirty="0">
                                <a:latin typeface="Cambria Math" panose="02040503050406030204" pitchFamily="18" charset="0"/>
                                <a:ea typeface="新細明體" charset="-120"/>
                              </a:rPr>
                            </m:ctrlPr>
                          </m:sSupPr>
                          <m:e>
                            <m:r>
                              <a:rPr lang="en-US" altLang="zh-HK" sz="2600" i="1" dirty="0">
                                <a:latin typeface="Cambria Math"/>
                                <a:ea typeface="新細明體" charset="-12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HK" sz="2600" i="1" dirty="0">
                                <a:latin typeface="Cambria Math"/>
                                <a:ea typeface="新細明體" charset="-120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altLang="zh-HK" sz="2600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2600" i="1" dirty="0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sSupPr>
                      <m:e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altLang="zh-HK" sz="2600" i="1" dirty="0">
                                <a:latin typeface="Cambria Math" panose="02040503050406030204" pitchFamily="18" charset="0"/>
                                <a:ea typeface="新細明體" charset="-120"/>
                              </a:rPr>
                            </m:ctrlPr>
                          </m:sSupPr>
                          <m:e>
                            <m:r>
                              <a:rPr lang="en-US" altLang="zh-HK" sz="2600" i="1" dirty="0">
                                <a:latin typeface="Cambria Math"/>
                                <a:ea typeface="新細明體" charset="-120"/>
                              </a:rPr>
                              <m:t>2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altLang="zh-HK" sz="2600" i="1" dirty="0">
                                    <a:latin typeface="Cambria Math" panose="02040503050406030204" pitchFamily="18" charset="0"/>
                                    <a:ea typeface="新細明體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HK" sz="2600" i="1" dirty="0">
                                    <a:latin typeface="Cambria Math"/>
                                    <a:ea typeface="新細明體" charset="-12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HK" sz="2600" i="1" dirty="0">
                                    <a:latin typeface="Cambria Math"/>
                                    <a:ea typeface="新細明體" charset="-120"/>
                                  </a:rPr>
                                  <m:t>𝑛</m:t>
                                </m:r>
                              </m:sup>
                            </m:sSup>
                          </m:sup>
                        </m:sSup>
                      </m:sup>
                    </m:sSup>
                  </m:oMath>
                </a14:m>
                <a:r>
                  <a:rPr lang="en-US" altLang="zh-HK" sz="2600" dirty="0">
                    <a:ea typeface="新細明體" charset="-120"/>
                  </a:rPr>
                  <a:t>, …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HK" sz="2600" dirty="0">
                    <a:solidFill>
                      <a:srgbClr val="FF0000"/>
                    </a:solidFill>
                    <a:ea typeface="新細明體" charset="-120"/>
                  </a:rPr>
                  <a:t>Exponential:</a:t>
                </a:r>
                <a:r>
                  <a:rPr lang="en-US" altLang="zh-HK" sz="2600" dirty="0">
                    <a:ea typeface="新細明體" charset="-12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2600" i="1" dirty="0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sSupPr>
                      <m:e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2</m:t>
                        </m:r>
                      </m:e>
                      <m:sup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HK" sz="2600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2600" i="1" dirty="0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sSupPr>
                      <m:e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1.001</m:t>
                        </m:r>
                      </m:e>
                      <m:sup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HK" sz="2600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2600" i="1" dirty="0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sSupPr>
                      <m:e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altLang="zh-HK" sz="2600" i="1" dirty="0">
                                <a:latin typeface="Cambria Math" panose="02040503050406030204" pitchFamily="18" charset="0"/>
                                <a:ea typeface="新細明體" charset="-120"/>
                              </a:rPr>
                            </m:ctrlPr>
                          </m:sSupPr>
                          <m:e>
                            <m:r>
                              <a:rPr lang="en-US" altLang="zh-HK" sz="2600" i="1" dirty="0">
                                <a:latin typeface="Cambria Math"/>
                                <a:ea typeface="新細明體" charset="-12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HK" sz="2600" i="1" dirty="0">
                                <a:latin typeface="Cambria Math"/>
                                <a:ea typeface="新細明體" charset="-12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lang="en-US" altLang="zh-HK" sz="2600" baseline="30000" dirty="0">
                  <a:ea typeface="新細明體" charset="-120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en-US" altLang="zh-HK" sz="2600" dirty="0">
                    <a:solidFill>
                      <a:srgbClr val="FF0000"/>
                    </a:solidFill>
                    <a:ea typeface="新細明體" charset="-120"/>
                  </a:rPr>
                  <a:t>Polynomial:</a:t>
                </a:r>
                <a:r>
                  <a:rPr lang="en-US" altLang="zh-HK" sz="2600" dirty="0">
                    <a:ea typeface="新細明體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HK" sz="2600" i="1" dirty="0">
                        <a:latin typeface="Cambria Math"/>
                        <a:ea typeface="新細明體" charset="-120"/>
                      </a:rPr>
                      <m:t>𝑛</m:t>
                    </m:r>
                  </m:oMath>
                </a14:m>
                <a:r>
                  <a:rPr lang="en-US" altLang="zh-HK" sz="2600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2600" i="1" dirty="0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sSupPr>
                      <m:e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𝑛</m:t>
                        </m:r>
                      </m:e>
                      <m:sup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HK" sz="2600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2600" i="1" dirty="0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sSupPr>
                      <m:e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𝑛</m:t>
                        </m:r>
                      </m:e>
                      <m:sup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HK" sz="2600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2600" i="1" dirty="0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sSupPr>
                      <m:e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𝑛</m:t>
                        </m:r>
                      </m:e>
                      <m:sup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100</m:t>
                        </m:r>
                      </m:sup>
                    </m:sSup>
                  </m:oMath>
                </a14:m>
                <a:r>
                  <a:rPr lang="en-US" altLang="zh-HK" sz="2600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2600" i="1" dirty="0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sSupPr>
                      <m:e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𝑛</m:t>
                        </m:r>
                      </m:e>
                      <m:sup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1/2</m:t>
                        </m:r>
                      </m:sup>
                    </m:sSup>
                  </m:oMath>
                </a14:m>
                <a:r>
                  <a:rPr lang="en-US" altLang="zh-HK" sz="2600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2600" i="1" dirty="0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sSupPr>
                      <m:e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𝑛</m:t>
                        </m:r>
                      </m:e>
                      <m:sup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1/3</m:t>
                        </m:r>
                      </m:sup>
                    </m:sSup>
                  </m:oMath>
                </a14:m>
                <a:r>
                  <a:rPr lang="en-US" altLang="zh-HK" sz="2600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2600" i="1" dirty="0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sSupPr>
                      <m:e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𝑛</m:t>
                        </m:r>
                      </m:e>
                      <m:sup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0.1</m:t>
                        </m:r>
                      </m:sup>
                    </m:sSup>
                  </m:oMath>
                </a14:m>
                <a:r>
                  <a:rPr lang="en-US" altLang="zh-HK" sz="2600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2600" i="1" dirty="0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sSupPr>
                      <m:e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𝑛</m:t>
                        </m:r>
                      </m:e>
                      <m:sup>
                        <m:r>
                          <a:rPr lang="en-US" altLang="zh-HK" sz="2600" i="1" dirty="0">
                            <a:latin typeface="Cambria Math"/>
                            <a:ea typeface="新細明體" charset="-120"/>
                          </a:rPr>
                          <m:t>0.01</m:t>
                        </m:r>
                      </m:sup>
                    </m:sSup>
                  </m:oMath>
                </a14:m>
                <a:r>
                  <a:rPr lang="en-US" altLang="zh-HK" sz="2600" dirty="0">
                    <a:ea typeface="新細明體" charset="-120"/>
                  </a:rPr>
                  <a:t>,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HK" sz="2600" dirty="0">
                    <a:solidFill>
                      <a:srgbClr val="FF0000"/>
                    </a:solidFill>
                    <a:ea typeface="新細明體" charset="-120"/>
                  </a:rPr>
                  <a:t>Logarithmic:</a:t>
                </a:r>
                <a:r>
                  <a:rPr lang="en-US" altLang="zh-HK" sz="2600" dirty="0">
                    <a:ea typeface="新細明體" charset="-12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HK" sz="2600" i="1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HK" sz="2600">
                            <a:latin typeface="Cambria Math"/>
                            <a:ea typeface="新細明體" charset="-120"/>
                          </a:rPr>
                          <m:t>log</m:t>
                        </m:r>
                      </m:fName>
                      <m:e>
                        <m:r>
                          <a:rPr lang="en-US" altLang="zh-HK" sz="2600" i="1">
                            <a:latin typeface="Cambria Math"/>
                            <a:ea typeface="新細明體" charset="-12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altLang="zh-HK" sz="2600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HK" sz="2600" i="1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HK" sz="2600" i="1">
                                <a:latin typeface="Cambria Math" panose="02040503050406030204" pitchFamily="18" charset="0"/>
                                <a:ea typeface="新細明體" charset="-12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HK" sz="2600">
                                <a:latin typeface="Cambria Math"/>
                                <a:ea typeface="新細明體" charset="-120"/>
                              </a:rPr>
                              <m:t>log</m:t>
                            </m:r>
                          </m:e>
                          <m:sup>
                            <m:r>
                              <a:rPr lang="en-US" altLang="zh-HK" sz="2600" i="1">
                                <a:latin typeface="Cambria Math"/>
                                <a:ea typeface="新細明體" charset="-12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altLang="zh-HK" sz="2600" i="1">
                            <a:latin typeface="Cambria Math"/>
                            <a:ea typeface="新細明體" charset="-12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altLang="zh-HK" sz="2600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HK" sz="2600" i="1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HK" sz="2600" i="1">
                                <a:latin typeface="Cambria Math" panose="02040503050406030204" pitchFamily="18" charset="0"/>
                                <a:ea typeface="新細明體" charset="-12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HK" sz="2600">
                                <a:latin typeface="Cambria Math"/>
                                <a:ea typeface="新細明體" charset="-120"/>
                              </a:rPr>
                              <m:t>log</m:t>
                            </m:r>
                          </m:e>
                          <m:sup>
                            <m:r>
                              <a:rPr lang="en-US" altLang="zh-HK" sz="2600" i="1">
                                <a:latin typeface="Cambria Math"/>
                                <a:ea typeface="新細明體" charset="-120"/>
                              </a:rPr>
                              <m:t>1/2</m:t>
                            </m:r>
                          </m:sup>
                        </m:sSup>
                      </m:fName>
                      <m:e>
                        <m:r>
                          <a:rPr lang="en-US" altLang="zh-HK" sz="2600" i="1">
                            <a:latin typeface="Cambria Math"/>
                            <a:ea typeface="新細明體" charset="-12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altLang="zh-HK" sz="2600" dirty="0">
                    <a:ea typeface="新細明體" charset="-120"/>
                  </a:rPr>
                  <a:t>, </a:t>
                </a:r>
              </a:p>
              <a:p>
                <a:pPr>
                  <a:lnSpc>
                    <a:spcPct val="80000"/>
                  </a:lnSpc>
                </a:pPr>
                <a:endParaRPr lang="en-US" altLang="zh-HK" sz="2600" dirty="0">
                  <a:ea typeface="新細明體" charset="-12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HK" sz="2600" dirty="0">
                    <a:ea typeface="新細明體" charset="-120"/>
                  </a:rPr>
                  <a:t>Slower?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HK" sz="2600" i="1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HK" sz="2600">
                            <a:latin typeface="Cambria Math"/>
                            <a:ea typeface="新細明體" charset="-12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altLang="zh-HK" sz="2600" i="1">
                                <a:latin typeface="Cambria Math" panose="02040503050406030204" pitchFamily="18" charset="0"/>
                                <a:ea typeface="新細明體" charset="-12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HK" sz="2600">
                                <a:latin typeface="Cambria Math"/>
                                <a:ea typeface="新細明體" charset="-12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HK" sz="2600" i="1">
                                <a:latin typeface="Cambria Math"/>
                                <a:ea typeface="新細明體" charset="-120"/>
                              </a:rPr>
                              <m:t>𝑛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altLang="zh-HK" sz="2600" dirty="0">
                    <a:ea typeface="新細明體" charset="-120"/>
                  </a:rPr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HK" sz="2600" i="1" dirty="0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HK" sz="2600" dirty="0">
                            <a:latin typeface="Cambria Math"/>
                            <a:ea typeface="新細明體" charset="-12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altLang="zh-HK" sz="2600" i="1" dirty="0">
                                <a:latin typeface="Cambria Math" panose="02040503050406030204" pitchFamily="18" charset="0"/>
                                <a:ea typeface="新細明體" charset="-12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HK" sz="2600" dirty="0">
                                <a:latin typeface="Cambria Math"/>
                                <a:ea typeface="新細明體" charset="-120"/>
                              </a:rPr>
                              <m:t>log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HK" sz="2600" i="1" dirty="0">
                                    <a:latin typeface="Cambria Math" panose="02040503050406030204" pitchFamily="18" charset="0"/>
                                    <a:ea typeface="新細明體" charset="-12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HK" sz="2600" dirty="0">
                                    <a:latin typeface="Cambria Math"/>
                                    <a:ea typeface="新細明體" charset="-12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HK" sz="2600" i="1" dirty="0">
                                    <a:latin typeface="Cambria Math"/>
                                    <a:ea typeface="新細明體" charset="-120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e>
                    </m:func>
                  </m:oMath>
                </a14:m>
                <a:r>
                  <a:rPr lang="en-US" altLang="zh-HK" sz="2600" dirty="0">
                    <a:ea typeface="新細明體" charset="-120"/>
                  </a:rPr>
                  <a:t>, …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HK" sz="2600" i="1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HK" sz="2600" i="1">
                                <a:latin typeface="Cambria Math" panose="02040503050406030204" pitchFamily="18" charset="0"/>
                                <a:ea typeface="新細明體" charset="-12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HK" sz="2600">
                                <a:latin typeface="Cambria Math"/>
                                <a:ea typeface="新細明體" charset="-120"/>
                              </a:rPr>
                              <m:t>log</m:t>
                            </m:r>
                          </m:e>
                          <m:sup>
                            <m:r>
                              <a:rPr lang="en-US" altLang="zh-HK" sz="2600" i="1">
                                <a:latin typeface="Cambria Math"/>
                                <a:ea typeface="新細明體" charset="-120"/>
                              </a:rPr>
                              <m:t>∗</m:t>
                            </m:r>
                          </m:sup>
                        </m:sSup>
                      </m:fName>
                      <m:e>
                        <m:r>
                          <a:rPr lang="en-US" altLang="zh-HK" sz="2600" i="1">
                            <a:latin typeface="Cambria Math"/>
                            <a:ea typeface="新細明體" charset="-12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altLang="zh-HK" sz="2600" dirty="0">
                    <a:ea typeface="新細明體" charset="-120"/>
                  </a:rPr>
                  <a:t>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zh-HK" sz="2200" dirty="0">
                    <a:ea typeface="新細明體" charset="-120"/>
                  </a:rPr>
                  <a:t>If you take log, how many times to make </a:t>
                </a:r>
                <a14:m>
                  <m:oMath xmlns:m="http://schemas.openxmlformats.org/officeDocument/2006/math">
                    <m:r>
                      <a:rPr lang="en-US" altLang="zh-HK" sz="2200" i="1" dirty="0">
                        <a:latin typeface="Cambria Math"/>
                        <a:ea typeface="新細明體" charset="-120"/>
                      </a:rPr>
                      <m:t>𝑛</m:t>
                    </m:r>
                  </m:oMath>
                </a14:m>
                <a:r>
                  <a:rPr lang="en-US" altLang="zh-HK" sz="2200" dirty="0">
                    <a:ea typeface="新細明體" charset="-120"/>
                  </a:rPr>
                  <a:t> down to </a:t>
                </a:r>
                <a14:m>
                  <m:oMath xmlns:m="http://schemas.openxmlformats.org/officeDocument/2006/math">
                    <m:r>
                      <a:rPr lang="en-US" altLang="zh-HK" sz="2200" i="1" dirty="0">
                        <a:latin typeface="Cambria Math"/>
                        <a:ea typeface="新細明體" charset="-120"/>
                      </a:rPr>
                      <m:t>&lt;</m:t>
                    </m:r>
                    <m:r>
                      <a:rPr lang="en-US" altLang="zh-HK" sz="2200" i="1" dirty="0">
                        <a:latin typeface="Cambria Math" panose="02040503050406030204" pitchFamily="18" charset="0"/>
                        <a:ea typeface="新細明體" charset="-120"/>
                      </a:rPr>
                      <m:t>1</m:t>
                    </m:r>
                  </m:oMath>
                </a14:m>
                <a:r>
                  <a:rPr lang="en-US" altLang="zh-HK" sz="2200" dirty="0">
                    <a:ea typeface="新細明體" charset="-120"/>
                  </a:rPr>
                  <a:t>?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zh-HK" dirty="0">
                    <a:ea typeface="新細明體" charset="-120"/>
                  </a:rPr>
                  <a:t>E.g.,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HK" i="1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HK">
                            <a:latin typeface="Cambria Math" panose="02040503050406030204" pitchFamily="18" charset="0"/>
                            <a:ea typeface="新細明體" charset="-120"/>
                          </a:rPr>
                          <m:t>log</m:t>
                        </m:r>
                        <m:r>
                          <a:rPr lang="en-US" altLang="zh-HK">
                            <a:latin typeface="Cambria Math" panose="02040503050406030204" pitchFamily="18" charset="0"/>
                            <a:ea typeface="新細明體" charset="-12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HK">
                            <a:latin typeface="Cambria Math" panose="02040503050406030204" pitchFamily="18" charset="0"/>
                            <a:ea typeface="新細明體" charset="-120"/>
                          </a:rPr>
                          <m:t>log</m:t>
                        </m:r>
                        <m:r>
                          <a:rPr lang="en-US" altLang="zh-HK">
                            <a:latin typeface="Cambria Math" panose="02040503050406030204" pitchFamily="18" charset="0"/>
                            <a:ea typeface="新細明體" charset="-12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HK">
                            <a:latin typeface="Cambria Math" panose="02040503050406030204" pitchFamily="18" charset="0"/>
                            <a:ea typeface="新細明體" charset="-120"/>
                          </a:rPr>
                          <m:t>log</m:t>
                        </m:r>
                        <m:r>
                          <a:rPr lang="en-US" altLang="zh-HK">
                            <a:latin typeface="Cambria Math" panose="02040503050406030204" pitchFamily="18" charset="0"/>
                            <a:ea typeface="新細明體" charset="-12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HK">
                            <a:latin typeface="Cambria Math" panose="02040503050406030204" pitchFamily="18" charset="0"/>
                            <a:ea typeface="新細明體" charset="-120"/>
                          </a:rPr>
                          <m:t>log</m:t>
                        </m:r>
                      </m:fName>
                      <m:e>
                        <m:r>
                          <a:rPr lang="en-US" altLang="zh-HK" i="1">
                            <a:latin typeface="Cambria Math"/>
                            <a:ea typeface="新細明體" charset="-120"/>
                          </a:rPr>
                          <m:t>(</m:t>
                        </m:r>
                        <m:r>
                          <a:rPr lang="en-US" altLang="zh-HK" i="1">
                            <a:latin typeface="Cambria Math" panose="02040503050406030204" pitchFamily="18" charset="0"/>
                            <a:ea typeface="新細明體" charset="-120"/>
                          </a:rPr>
                          <m:t>1024</m:t>
                        </m:r>
                        <m:r>
                          <a:rPr lang="en-US" altLang="zh-HK" i="1">
                            <a:latin typeface="Cambria Math"/>
                            <a:ea typeface="新細明體" charset="-120"/>
                          </a:rPr>
                          <m:t>)</m:t>
                        </m:r>
                      </m:e>
                    </m:func>
                    <m:r>
                      <a:rPr lang="en-US" altLang="zh-HK" i="1">
                        <a:latin typeface="Cambria Math"/>
                        <a:ea typeface="新細明體" charset="-120"/>
                      </a:rPr>
                      <m:t>=0.79245629369</m:t>
                    </m:r>
                  </m:oMath>
                </a14:m>
                <a:r>
                  <a:rPr lang="en-US" altLang="zh-HK" sz="2200" dirty="0">
                    <a:ea typeface="新細明體" charset="-120"/>
                  </a:rPr>
                  <a:t>.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zh-HK" sz="2200" dirty="0">
                    <a:ea typeface="新細明體" charset="-120"/>
                  </a:rPr>
                  <a:t>So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HK" i="1">
                            <a:latin typeface="Cambria Math" panose="02040503050406030204" pitchFamily="18" charset="0"/>
                            <a:ea typeface="新細明體" charset="-12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HK" i="1">
                                <a:latin typeface="Cambria Math" panose="02040503050406030204" pitchFamily="18" charset="0"/>
                                <a:ea typeface="新細明體" charset="-12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HK">
                                <a:latin typeface="Cambria Math"/>
                                <a:ea typeface="新細明體" charset="-120"/>
                              </a:rPr>
                              <m:t>log</m:t>
                            </m:r>
                          </m:e>
                          <m:sup>
                            <m:r>
                              <a:rPr lang="en-US" altLang="zh-HK" i="1">
                                <a:latin typeface="Cambria Math"/>
                                <a:ea typeface="新細明體" charset="-120"/>
                              </a:rPr>
                              <m:t>∗</m:t>
                            </m:r>
                          </m:sup>
                        </m:sSup>
                      </m:fName>
                      <m:e>
                        <m:r>
                          <a:rPr lang="en-US" altLang="zh-HK" i="1">
                            <a:latin typeface="Cambria Math"/>
                            <a:ea typeface="新細明體" charset="-12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altLang="zh-HK" sz="2200" dirty="0">
                    <a:ea typeface="新細明體" charset="-120"/>
                  </a:rPr>
                  <a:t> is practically a constant.</a:t>
                </a:r>
              </a:p>
            </p:txBody>
          </p:sp>
        </mc:Choice>
        <mc:Fallback xmlns="">
          <p:sp>
            <p:nvSpPr>
              <p:cNvPr id="1525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57400" y="2625153"/>
                <a:ext cx="8229600" cy="3692525"/>
              </a:xfrm>
              <a:blipFill>
                <a:blip r:embed="rId3"/>
                <a:stretch>
                  <a:fillRect l="-889" t="-2645" b="-16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1981200" y="1089724"/>
            <a:ext cx="8694716" cy="1200680"/>
            <a:chOff x="1981200" y="942684"/>
            <a:chExt cx="8694716" cy="1200680"/>
          </a:xfrm>
        </p:grpSpPr>
        <p:sp>
          <p:nvSpPr>
            <p:cNvPr id="152580" name="Line 4"/>
            <p:cNvSpPr>
              <a:spLocks noChangeShapeType="1"/>
            </p:cNvSpPr>
            <p:nvPr/>
          </p:nvSpPr>
          <p:spPr bwMode="auto">
            <a:xfrm>
              <a:off x="2038349" y="1363705"/>
              <a:ext cx="8637567" cy="2692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2581" name="Text Box 5"/>
            <p:cNvSpPr txBox="1">
              <a:spLocks noChangeArrowheads="1"/>
            </p:cNvSpPr>
            <p:nvPr/>
          </p:nvSpPr>
          <p:spPr bwMode="auto">
            <a:xfrm>
              <a:off x="5809387" y="1731567"/>
              <a:ext cx="24384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HK" dirty="0">
                  <a:ea typeface="PMingLiU" charset="-120"/>
                </a:rPr>
                <a:t>|← polynomial →|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582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5963522" y="1396110"/>
                  <a:ext cx="3912161" cy="3767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HK" sz="1400" dirty="0">
                      <a:ea typeface="新細明體" charset="-120"/>
                    </a:rPr>
                    <a:t>… </a:t>
                  </a:r>
                  <a:r>
                    <a:rPr lang="en-US" altLang="zh-HK" sz="1400" i="1" dirty="0">
                      <a:ea typeface="新細明體" charset="-120"/>
                    </a:rPr>
                    <a:t>n</a:t>
                  </a:r>
                  <a:r>
                    <a:rPr lang="en-US" altLang="zh-HK" sz="1400" baseline="30000" dirty="0">
                      <a:ea typeface="新細明體" charset="-120"/>
                    </a:rPr>
                    <a:t>1/3</a:t>
                  </a:r>
                  <a:r>
                    <a:rPr lang="en-US" altLang="zh-HK" sz="1400" dirty="0">
                      <a:ea typeface="新細明體" charset="-120"/>
                    </a:rPr>
                    <a:t>, </a:t>
                  </a:r>
                  <a:r>
                    <a:rPr lang="en-US" altLang="zh-HK" sz="1400" i="1" dirty="0">
                      <a:ea typeface="新細明體" charset="-120"/>
                    </a:rPr>
                    <a:t>n</a:t>
                  </a:r>
                  <a:r>
                    <a:rPr lang="en-US" altLang="zh-HK" sz="1400" baseline="30000" dirty="0">
                      <a:ea typeface="新細明體" charset="-120"/>
                    </a:rPr>
                    <a:t>1/2</a:t>
                  </a:r>
                  <a:r>
                    <a:rPr lang="en-US" altLang="zh-HK" sz="1400" dirty="0">
                      <a:ea typeface="新細明體" charset="-120"/>
                    </a:rPr>
                    <a:t>, </a:t>
                  </a:r>
                  <a:r>
                    <a:rPr lang="en-US" altLang="zh-HK" sz="1400" i="1" dirty="0">
                      <a:ea typeface="新細明體" charset="-120"/>
                    </a:rPr>
                    <a:t>n</a:t>
                  </a:r>
                  <a:r>
                    <a:rPr lang="en-US" altLang="zh-HK" sz="1400" dirty="0">
                      <a:ea typeface="新細明體" charset="-120"/>
                    </a:rPr>
                    <a:t>,  </a:t>
                  </a:r>
                  <a:r>
                    <a:rPr lang="en-US" altLang="zh-HK" sz="1400" i="1" dirty="0">
                      <a:ea typeface="新細明體" charset="-120"/>
                    </a:rPr>
                    <a:t>n</a:t>
                  </a:r>
                  <a:r>
                    <a:rPr lang="en-US" altLang="zh-HK" sz="1400" baseline="30000" dirty="0">
                      <a:ea typeface="新細明體" charset="-120"/>
                    </a:rPr>
                    <a:t>2</a:t>
                  </a:r>
                  <a:r>
                    <a:rPr lang="en-US" altLang="zh-HK" sz="1400" dirty="0">
                      <a:ea typeface="新細明體" charset="-120"/>
                    </a:rPr>
                    <a:t>,  </a:t>
                  </a:r>
                  <a:r>
                    <a:rPr lang="en-US" altLang="zh-HK" sz="1400" i="1" dirty="0">
                      <a:ea typeface="新細明體" charset="-120"/>
                    </a:rPr>
                    <a:t>n</a:t>
                  </a:r>
                  <a:r>
                    <a:rPr lang="en-US" altLang="zh-HK" sz="1400" baseline="30000" dirty="0">
                      <a:ea typeface="新細明體" charset="-120"/>
                    </a:rPr>
                    <a:t>3</a:t>
                  </a:r>
                  <a:r>
                    <a:rPr lang="en-US" altLang="zh-HK" sz="1400" dirty="0">
                      <a:ea typeface="新細明體" charset="-120"/>
                    </a:rPr>
                    <a:t>, …  … 2</a:t>
                  </a:r>
                  <a:r>
                    <a:rPr lang="en-US" altLang="zh-HK" sz="1400" baseline="30000" dirty="0">
                      <a:ea typeface="新細明體" charset="-120"/>
                    </a:rPr>
                    <a:t>n</a:t>
                  </a:r>
                  <a:r>
                    <a:rPr lang="en-US" altLang="zh-HK" sz="1400" dirty="0">
                      <a:ea typeface="新細明體" charset="-120"/>
                    </a:rPr>
                    <a:t>,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HK" sz="1400" i="1" dirty="0">
                              <a:latin typeface="Cambria Math" panose="02040503050406030204" pitchFamily="18" charset="0"/>
                              <a:ea typeface="新細明體" charset="-120"/>
                            </a:rPr>
                          </m:ctrlPr>
                        </m:sSupPr>
                        <m:e>
                          <m:r>
                            <a:rPr lang="en-US" altLang="zh-HK" sz="1400" i="1" dirty="0">
                              <a:latin typeface="Cambria Math"/>
                              <a:ea typeface="新細明體" charset="-12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HK" sz="1400" i="1" dirty="0">
                                  <a:latin typeface="Cambria Math" panose="02040503050406030204" pitchFamily="18" charset="0"/>
                                  <a:ea typeface="新細明體" charset="-120"/>
                                </a:rPr>
                              </m:ctrlPr>
                            </m:sSupPr>
                            <m:e>
                              <m:r>
                                <a:rPr lang="en-US" altLang="zh-HK" sz="1400" i="1" dirty="0">
                                  <a:latin typeface="Cambria Math"/>
                                  <a:ea typeface="新細明體" charset="-12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HK" sz="1400" i="1" dirty="0">
                                  <a:latin typeface="Cambria Math"/>
                                  <a:ea typeface="新細明體" charset="-12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a14:m>
                  <a:r>
                    <a:rPr lang="en-US" altLang="zh-HK" sz="1400" dirty="0">
                      <a:ea typeface="新細明體" charset="-120"/>
                    </a:rPr>
                    <a:t>, …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HK" sz="140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新細明體" charset="-120"/>
                            </a:rPr>
                          </m:ctrlPr>
                        </m:sSupPr>
                        <m:e>
                          <m:r>
                            <a:rPr lang="en-US" altLang="zh-HK" sz="1400" i="1" dirty="0">
                              <a:solidFill>
                                <a:srgbClr val="00B050"/>
                              </a:solidFill>
                              <a:latin typeface="Cambria Math"/>
                              <a:ea typeface="新細明體" charset="-12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HK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新細明體" charset="-120"/>
                                </a:rPr>
                              </m:ctrlPr>
                            </m:sSupPr>
                            <m:e>
                              <m:r>
                                <a:rPr lang="en-US" altLang="zh-HK" sz="1400" i="1" dirty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新細明體" charset="-12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HK" sz="1400" i="1" dirty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新細明體" charset="-120"/>
                                </a:rPr>
                                <m:t>𝑛</m:t>
                              </m:r>
                            </m:sup>
                          </m:sSup>
                        </m:sup>
                      </m:sSup>
                    </m:oMath>
                  </a14:m>
                  <a:r>
                    <a:rPr lang="en-US" altLang="zh-HK" sz="1400" dirty="0">
                      <a:ea typeface="新細明體" charset="-120"/>
                    </a:rPr>
                    <a:t>, …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HK" sz="14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新細明體" charset="-120"/>
                            </a:rPr>
                          </m:ctrlPr>
                        </m:sSupPr>
                        <m:e>
                          <m:r>
                            <a:rPr lang="en-US" altLang="zh-HK" sz="1400" i="1" dirty="0">
                              <a:solidFill>
                                <a:srgbClr val="0070C0"/>
                              </a:solidFill>
                              <a:latin typeface="Cambria Math"/>
                              <a:ea typeface="新細明體" charset="-12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HK" sz="1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新細明體" charset="-120"/>
                                </a:rPr>
                              </m:ctrlPr>
                            </m:sSupPr>
                            <m:e>
                              <m:r>
                                <a:rPr lang="en-US" altLang="zh-HK" sz="1400" i="1" dirty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新細明體" charset="-120"/>
                                </a:rPr>
                                <m:t>2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en-US" altLang="zh-HK" sz="14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新細明體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HK" sz="1400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新細明體" charset="-120"/>
                                    </a:rPr>
                                    <m:t>…</m:t>
                                  </m:r>
                                </m:e>
                                <m:sup>
                                  <m:r>
                                    <a:rPr lang="en-US" altLang="zh-HK" sz="1400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新細明體" charset="-12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</m:sup>
                      </m:sSup>
                    </m:oMath>
                  </a14:m>
                  <a:endParaRPr lang="en-US" altLang="zh-HK" sz="1400" dirty="0">
                    <a:ea typeface="新細明體" charset="-120"/>
                  </a:endParaRPr>
                </a:p>
              </p:txBody>
            </p:sp>
          </mc:Choice>
          <mc:Fallback xmlns="">
            <p:sp>
              <p:nvSpPr>
                <p:cNvPr id="152582" name="Text 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63522" y="1396110"/>
                  <a:ext cx="3912161" cy="376706"/>
                </a:xfrm>
                <a:prstGeom prst="rect">
                  <a:avLst/>
                </a:prstGeom>
                <a:blipFill>
                  <a:blip r:embed="rId4"/>
                  <a:stretch>
                    <a:fillRect l="-467" b="-1774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2583" name="Text Box 7"/>
            <p:cNvSpPr txBox="1">
              <a:spLocks noChangeArrowheads="1"/>
            </p:cNvSpPr>
            <p:nvPr/>
          </p:nvSpPr>
          <p:spPr bwMode="auto">
            <a:xfrm>
              <a:off x="7464152" y="942684"/>
              <a:ext cx="208823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HK" dirty="0">
                  <a:ea typeface="PMingLiU" charset="-120"/>
                </a:rPr>
                <a:t>|←exponential→|</a:t>
              </a:r>
            </a:p>
          </p:txBody>
        </p:sp>
        <p:sp>
          <p:nvSpPr>
            <p:cNvPr id="152584" name="Text Box 8"/>
            <p:cNvSpPr txBox="1">
              <a:spLocks noChangeArrowheads="1"/>
            </p:cNvSpPr>
            <p:nvPr/>
          </p:nvSpPr>
          <p:spPr bwMode="auto">
            <a:xfrm>
              <a:off x="8305800" y="1774032"/>
              <a:ext cx="22968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HK" dirty="0">
                  <a:ea typeface="PMingLiU" charset="-120"/>
                </a:rPr>
                <a:t> </a:t>
              </a:r>
              <a:r>
                <a:rPr lang="en-US" altLang="zh-HK" dirty="0">
                  <a:solidFill>
                    <a:srgbClr val="00B050"/>
                  </a:solidFill>
                  <a:ea typeface="PMingLiU" charset="-120"/>
                </a:rPr>
                <a:t>double exponential</a:t>
              </a:r>
            </a:p>
          </p:txBody>
        </p:sp>
        <p:sp>
          <p:nvSpPr>
            <p:cNvPr id="152585" name="Text Box 9"/>
            <p:cNvSpPr txBox="1">
              <a:spLocks noChangeArrowheads="1"/>
            </p:cNvSpPr>
            <p:nvPr/>
          </p:nvSpPr>
          <p:spPr bwMode="auto">
            <a:xfrm>
              <a:off x="9448800" y="965201"/>
              <a:ext cx="9144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eaLnBrk="1" hangingPunct="1"/>
              <a:r>
                <a:rPr lang="en-US" altLang="zh-HK" dirty="0">
                  <a:ea typeface="PMingLiU" charset="-120"/>
                </a:rPr>
                <a:t> </a:t>
              </a:r>
              <a:r>
                <a:rPr lang="en-US" altLang="zh-HK" dirty="0">
                  <a:solidFill>
                    <a:srgbClr val="0070C0"/>
                  </a:solidFill>
                  <a:ea typeface="PMingLiU" charset="-120"/>
                </a:rPr>
                <a:t>tower</a:t>
              </a:r>
            </a:p>
          </p:txBody>
        </p:sp>
        <p:sp>
          <p:nvSpPr>
            <p:cNvPr id="152586" name="Text Box 10"/>
            <p:cNvSpPr txBox="1">
              <a:spLocks noChangeArrowheads="1"/>
            </p:cNvSpPr>
            <p:nvPr/>
          </p:nvSpPr>
          <p:spPr bwMode="auto">
            <a:xfrm>
              <a:off x="9906000" y="1406104"/>
              <a:ext cx="5334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HK" dirty="0">
                  <a:ea typeface="PMingLiU" charset="-120"/>
                </a:rPr>
                <a:t> …</a:t>
              </a:r>
            </a:p>
          </p:txBody>
        </p:sp>
        <p:sp>
          <p:nvSpPr>
            <p:cNvPr id="152587" name="Text Box 11"/>
            <p:cNvSpPr txBox="1">
              <a:spLocks noChangeArrowheads="1"/>
            </p:cNvSpPr>
            <p:nvPr/>
          </p:nvSpPr>
          <p:spPr bwMode="auto">
            <a:xfrm>
              <a:off x="2038350" y="1447800"/>
              <a:ext cx="413385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HK" sz="1400" dirty="0">
                  <a:ea typeface="PMingLiU" charset="-120"/>
                </a:rPr>
                <a:t>O(1) , …, log* </a:t>
              </a:r>
              <a:r>
                <a:rPr lang="en-US" altLang="zh-HK" sz="1400" i="1" dirty="0">
                  <a:ea typeface="PMingLiU" charset="-120"/>
                </a:rPr>
                <a:t>n</a:t>
              </a:r>
              <a:r>
                <a:rPr lang="en-US" altLang="zh-HK" sz="1400" dirty="0">
                  <a:ea typeface="PMingLiU" charset="-120"/>
                </a:rPr>
                <a:t>, … </a:t>
              </a:r>
              <a:r>
                <a:rPr lang="en-US" altLang="zh-HK" sz="1400" dirty="0" err="1">
                  <a:ea typeface="PMingLiU" charset="-120"/>
                </a:rPr>
                <a:t>loglog</a:t>
              </a:r>
              <a:r>
                <a:rPr lang="en-US" altLang="zh-HK" sz="1400" dirty="0">
                  <a:ea typeface="PMingLiU" charset="-120"/>
                </a:rPr>
                <a:t> </a:t>
              </a:r>
              <a:r>
                <a:rPr lang="en-US" altLang="zh-HK" sz="1400" i="1" dirty="0">
                  <a:ea typeface="PMingLiU" charset="-120"/>
                </a:rPr>
                <a:t>n</a:t>
              </a:r>
              <a:r>
                <a:rPr lang="en-US" altLang="zh-HK" sz="1400" dirty="0">
                  <a:ea typeface="PMingLiU" charset="-120"/>
                </a:rPr>
                <a:t>, … log </a:t>
              </a:r>
              <a:r>
                <a:rPr lang="en-US" altLang="zh-HK" sz="1400" i="1" dirty="0">
                  <a:ea typeface="PMingLiU" charset="-120"/>
                </a:rPr>
                <a:t>n</a:t>
              </a:r>
              <a:r>
                <a:rPr lang="en-US" altLang="zh-HK" sz="1400" dirty="0">
                  <a:ea typeface="PMingLiU" charset="-120"/>
                </a:rPr>
                <a:t>, log</a:t>
              </a:r>
              <a:r>
                <a:rPr lang="en-US" altLang="zh-HK" sz="1400" baseline="30000" dirty="0">
                  <a:ea typeface="PMingLiU" charset="-120"/>
                </a:rPr>
                <a:t>2</a:t>
              </a:r>
              <a:r>
                <a:rPr lang="en-US" altLang="zh-HK" sz="1400" dirty="0">
                  <a:ea typeface="PMingLiU" charset="-120"/>
                </a:rPr>
                <a:t> </a:t>
              </a:r>
              <a:r>
                <a:rPr lang="en-US" altLang="zh-HK" sz="1400" i="1" dirty="0">
                  <a:ea typeface="PMingLiU" charset="-120"/>
                </a:rPr>
                <a:t>n</a:t>
              </a:r>
              <a:r>
                <a:rPr lang="en-US" altLang="zh-HK" sz="1400" dirty="0">
                  <a:ea typeface="PMingLiU" charset="-120"/>
                </a:rPr>
                <a:t>, …</a:t>
              </a:r>
            </a:p>
          </p:txBody>
        </p:sp>
        <p:sp>
          <p:nvSpPr>
            <p:cNvPr id="12" name="Text Box 5"/>
            <p:cNvSpPr txBox="1">
              <a:spLocks noChangeArrowheads="1"/>
            </p:cNvSpPr>
            <p:nvPr/>
          </p:nvSpPr>
          <p:spPr bwMode="auto">
            <a:xfrm>
              <a:off x="3230218" y="1747044"/>
              <a:ext cx="28194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1" hangingPunct="1"/>
              <a:r>
                <a:rPr lang="en-US" altLang="zh-HK" dirty="0">
                  <a:ea typeface="PMingLiU" charset="-120"/>
                </a:rPr>
                <a:t>|← logarithmic →|</a:t>
              </a:r>
            </a:p>
          </p:txBody>
        </p:sp>
        <p:sp>
          <p:nvSpPr>
            <p:cNvPr id="13" name="Text Box 5"/>
            <p:cNvSpPr txBox="1">
              <a:spLocks noChangeArrowheads="1"/>
            </p:cNvSpPr>
            <p:nvPr/>
          </p:nvSpPr>
          <p:spPr bwMode="auto">
            <a:xfrm>
              <a:off x="1981200" y="1754982"/>
              <a:ext cx="1882552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HK" dirty="0">
                  <a:ea typeface="PMingLiU" charset="-120"/>
                </a:rPr>
                <a:t>|← constant →|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sz="4000" dirty="0">
                <a:latin typeface="+mn-ea"/>
                <a:ea typeface="+mn-ea"/>
                <a:cs typeface="Arial" panose="020B0604020202020204" pitchFamily="34" charset="0"/>
              </a:rPr>
              <a:t>Commonsense rules</a:t>
            </a:r>
            <a:endParaRPr lang="zh-CN" altLang="en-US" sz="40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78" y="1690688"/>
            <a:ext cx="1036419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ABFA6C1-966F-463A-ABE1-357574D385FF}" type="datetime1"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2026/3/13</a:t>
            </a:fld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8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3F80E56-0454-4856-A575-6D00509AB54A}" type="slidenum">
              <a:rPr lang="zh-CN" altLang="en-US">
                <a:solidFill>
                  <a:srgbClr val="FFFFFF"/>
                </a:solidFill>
                <a:cs typeface="Arial" panose="020B0604020202020204" pitchFamily="34" charset="0"/>
              </a:rPr>
              <a:t>21</a:t>
            </a:fld>
            <a:endParaRPr lang="en-US" altLang="zh-CN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/>
              <a:t>Properties of asymptotic notations</a:t>
            </a:r>
            <a:endParaRPr lang="zh-CN" altLang="en-US" sz="4000" b="1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3361" y="1581460"/>
            <a:ext cx="7258050" cy="4525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altLang="zh-CN" b="1" dirty="0"/>
              <a:t>(1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Transitivity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64375" y="595003"/>
            <a:ext cx="6843092" cy="56197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Reflexivity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Symmetry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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symmetry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5128898" y="595003"/>
            <a:ext cx="6829554" cy="5043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operations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))+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(max{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)})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))+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))*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))+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))+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24151" y="328315"/>
            <a:ext cx="7467600" cy="86895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4000" dirty="0"/>
              <a:t>Exercise 0.1</a:t>
            </a:r>
            <a:endParaRPr lang="zh-CN" altLang="en-US" sz="4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6FA52DA-5950-41D7-A995-DC07A56068DE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29700" name="灯片编号占位符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3222940-391F-492A-BF69-8E08E25174AA}" type="slidenum">
              <a:rPr lang="zh-CN" altLang="en-US">
                <a:solidFill>
                  <a:srgbClr val="FFFFFF"/>
                </a:solidFill>
                <a:latin typeface="Century Schoolbook"/>
              </a:rPr>
              <a:t>24</a:t>
            </a:fld>
            <a:endParaRPr lang="en-US" altLang="zh-CN">
              <a:solidFill>
                <a:srgbClr val="FFFFFF"/>
              </a:solidFill>
              <a:latin typeface="Century Schoolbook"/>
            </a:endParaRPr>
          </a:p>
        </p:txBody>
      </p:sp>
      <p:pic>
        <p:nvPicPr>
          <p:cNvPr id="2458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706" y="1111009"/>
            <a:ext cx="9895241" cy="5524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8599099" y="1712343"/>
            <a:ext cx="25721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solution ideas: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commonsense rules;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division/alignment;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definition.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E810973-AF3F-4B77-A4CA-BEEB6BED7F9D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2122D7-0D1D-406E-961A-FC8273277069}" type="slidenum">
              <a:rPr lang="zh-CN" altLang="en-US" smtClean="0"/>
              <a:t>25</a:t>
            </a:fld>
            <a:endParaRPr lang="en-US" altLang="zh-CN"/>
          </a:p>
        </p:txBody>
      </p:sp>
      <p:grpSp>
        <p:nvGrpSpPr>
          <p:cNvPr id="5" name="组合 4"/>
          <p:cNvGrpSpPr/>
          <p:nvPr/>
        </p:nvGrpSpPr>
        <p:grpSpPr>
          <a:xfrm>
            <a:off x="2135560" y="268287"/>
            <a:ext cx="3960440" cy="6296654"/>
            <a:chOff x="2135560" y="268287"/>
            <a:chExt cx="3960440" cy="6296654"/>
          </a:xfrm>
        </p:grpSpPr>
        <p:pic>
          <p:nvPicPr>
            <p:cNvPr id="4" name="图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5560" y="268287"/>
              <a:ext cx="3960440" cy="6296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3487214"/>
                </p:ext>
              </p:extLst>
            </p:nvPr>
          </p:nvGraphicFramePr>
          <p:xfrm>
            <a:off x="3474208" y="2420473"/>
            <a:ext cx="1079412" cy="379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876240" imgH="304560" progId="Equation.DSMT4">
                    <p:embed/>
                  </p:oleObj>
                </mc:Choice>
                <mc:Fallback>
                  <p:oleObj name="Equation" r:id="rId3" imgW="87624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74208" y="2420473"/>
                          <a:ext cx="1079412" cy="37925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E810973-AF3F-4B77-A4CA-BEEB6BED7F9D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2122D7-0D1D-406E-961A-FC8273277069}" type="slidenum">
              <a:rPr lang="zh-CN" altLang="en-US" smtClean="0"/>
              <a:t>26</a:t>
            </a:fld>
            <a:endParaRPr lang="en-US" altLang="zh-CN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667455"/>
              </p:ext>
            </p:extLst>
          </p:nvPr>
        </p:nvGraphicFramePr>
        <p:xfrm>
          <a:off x="1991544" y="527446"/>
          <a:ext cx="4424156" cy="679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52400" imgH="393480" progId="Equation.DSMT4">
                  <p:embed/>
                </p:oleObj>
              </mc:Choice>
              <mc:Fallback>
                <p:oleObj name="Equation" r:id="rId3" imgW="2552400" imgH="393480" progId="Equation.DSMT4">
                  <p:embed/>
                  <p:pic>
                    <p:nvPicPr>
                      <p:cNvPr id="0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91544" y="527446"/>
                        <a:ext cx="4424156" cy="679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063553" y="1273968"/>
          <a:ext cx="2370137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517600" imgH="6705600" progId="Equation.DSMT4">
                  <p:embed/>
                </p:oleObj>
              </mc:Choice>
              <mc:Fallback>
                <p:oleObj name="Equation" r:id="rId5" imgW="26517600" imgH="6705600" progId="Equation.DSMT4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63553" y="1273968"/>
                        <a:ext cx="2370137" cy="598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74995" y="1872457"/>
          <a:ext cx="4140201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6329600" imgH="6705600" progId="Equation.DSMT4">
                  <p:embed/>
                </p:oleObj>
              </mc:Choice>
              <mc:Fallback>
                <p:oleObj name="Equation" r:id="rId7" imgW="46329600" imgH="6705600" progId="Equation.DSMT4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74995" y="1872457"/>
                        <a:ext cx="4140201" cy="600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963218" y="2365376"/>
          <a:ext cx="5068887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6692800" imgH="11887200" progId="Equation.DSMT4">
                  <p:embed/>
                </p:oleObj>
              </mc:Choice>
              <mc:Fallback>
                <p:oleObj name="Equation" r:id="rId9" imgW="56692800" imgH="11887200" progId="Equation.DSMT4">
                  <p:embed/>
                  <p:pic>
                    <p:nvPicPr>
                      <p:cNvPr id="0" name="对象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63218" y="2365376"/>
                        <a:ext cx="5068887" cy="1063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958485" y="3470680"/>
          <a:ext cx="6213475" cy="207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9494400" imgH="23164800" progId="Equation.DSMT4">
                  <p:embed/>
                </p:oleObj>
              </mc:Choice>
              <mc:Fallback>
                <p:oleObj name="Equation" r:id="rId11" imgW="69494400" imgH="23164800" progId="Equation.DSMT4">
                  <p:embed/>
                  <p:pic>
                    <p:nvPicPr>
                      <p:cNvPr id="0" name="对象 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58485" y="3470680"/>
                        <a:ext cx="6213475" cy="2071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991544" y="5449094"/>
          <a:ext cx="3135312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5052000" imgH="12192000" progId="Equation.DSMT4">
                  <p:embed/>
                </p:oleObj>
              </mc:Choice>
              <mc:Fallback>
                <p:oleObj name="Equation" r:id="rId13" imgW="35052000" imgH="12192000" progId="Equation.DSMT4">
                  <p:embed/>
                  <p:pic>
                    <p:nvPicPr>
                      <p:cNvPr id="0" name="对象 1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91544" y="5449094"/>
                        <a:ext cx="3135312" cy="1090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8353344" y="456025"/>
            <a:ext cx="3084137" cy="3191812"/>
            <a:chOff x="8353344" y="456025"/>
            <a:chExt cx="3084137" cy="31918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353344" y="456025"/>
              <a:ext cx="3084137" cy="3191812"/>
            </a:xfrm>
            <a:prstGeom prst="rect">
              <a:avLst/>
            </a:prstGeom>
            <a:ln w="25400">
              <a:solidFill>
                <a:schemeClr val="accent1"/>
              </a:solidFill>
            </a:ln>
          </p:spPr>
        </p:pic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3192543"/>
                </p:ext>
              </p:extLst>
            </p:nvPr>
          </p:nvGraphicFramePr>
          <p:xfrm>
            <a:off x="9374155" y="2158559"/>
            <a:ext cx="969134" cy="3405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876240" imgH="304560" progId="Equation.DSMT4">
                    <p:embed/>
                  </p:oleObj>
                </mc:Choice>
                <mc:Fallback>
                  <p:oleObj name="Equation" r:id="rId16" imgW="87624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9374155" y="2158559"/>
                          <a:ext cx="969134" cy="34050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E810973-AF3F-4B77-A4CA-BEEB6BED7F9D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2122D7-0D1D-406E-961A-FC8273277069}" type="slidenum">
              <a:rPr lang="zh-CN" altLang="en-US" smtClean="0"/>
              <a:t>27</a:t>
            </a:fld>
            <a:endParaRPr lang="en-US" altLang="zh-CN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967720" y="268287"/>
          <a:ext cx="1880048" cy="48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336000" imgH="5486400" progId="Equation.DSMT4">
                  <p:embed/>
                </p:oleObj>
              </mc:Choice>
              <mc:Fallback>
                <p:oleObj name="Equation" r:id="rId2" imgW="21336000" imgH="5486400" progId="Equation.DSMT4">
                  <p:embed/>
                  <p:pic>
                    <p:nvPicPr>
                      <p:cNvPr id="0" name="对象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67720" y="268287"/>
                        <a:ext cx="1880048" cy="48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42532" y="1578620"/>
          <a:ext cx="3982610" cy="55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024800" imgH="6400800" progId="Equation.DSMT4">
                  <p:embed/>
                </p:oleObj>
              </mc:Choice>
              <mc:Fallback>
                <p:oleObj name="Equation" r:id="rId4" imgW="46024800" imgH="6400800" progId="Equation.DSMT4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42532" y="1578620"/>
                        <a:ext cx="3982610" cy="554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553" y="2455422"/>
            <a:ext cx="3267075" cy="2314575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967720" y="751997"/>
          <a:ext cx="7200648" cy="876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0220800" imgH="10972800" progId="Equation.DSMT4">
                  <p:embed/>
                </p:oleObj>
              </mc:Choice>
              <mc:Fallback>
                <p:oleObj name="Equation" r:id="rId7" imgW="90220800" imgH="10972800" progId="Equation.DSMT4">
                  <p:embed/>
                  <p:pic>
                    <p:nvPicPr>
                      <p:cNvPr id="0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7720" y="751997"/>
                        <a:ext cx="7200648" cy="8768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E810973-AF3F-4B77-A4CA-BEEB6BED7F9D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2122D7-0D1D-406E-961A-FC8273277069}" type="slidenum">
              <a:rPr lang="zh-CN" altLang="en-US" smtClean="0"/>
              <a:t>28</a:t>
            </a:fld>
            <a:endParaRPr lang="en-US" altLang="zh-CN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402636"/>
              </p:ext>
            </p:extLst>
          </p:nvPr>
        </p:nvGraphicFramePr>
        <p:xfrm>
          <a:off x="2291039" y="188640"/>
          <a:ext cx="5486400" cy="257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0408800" imgH="32918400" progId="Equation.DSMT4">
                  <p:embed/>
                </p:oleObj>
              </mc:Choice>
              <mc:Fallback>
                <p:oleObj name="Equation" r:id="rId2" imgW="70408800" imgH="32918400" progId="Equation.DSMT4">
                  <p:embed/>
                  <p:pic>
                    <p:nvPicPr>
                      <p:cNvPr id="0" name="对象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91039" y="188640"/>
                        <a:ext cx="5486400" cy="2570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259533"/>
              </p:ext>
            </p:extLst>
          </p:nvPr>
        </p:nvGraphicFramePr>
        <p:xfrm>
          <a:off x="2291039" y="3130393"/>
          <a:ext cx="6738782" cy="3273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760" imgH="2031840" progId="Equation.DSMT4">
                  <p:embed/>
                </p:oleObj>
              </mc:Choice>
              <mc:Fallback>
                <p:oleObj name="Equation" r:id="rId4" imgW="4190760" imgH="2031840" progId="Equation.DSMT4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91039" y="3130393"/>
                        <a:ext cx="6738782" cy="3273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671410"/>
              </p:ext>
            </p:extLst>
          </p:nvPr>
        </p:nvGraphicFramePr>
        <p:xfrm>
          <a:off x="7900988" y="1522413"/>
          <a:ext cx="379095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69920" imgH="457200" progId="Equation.DSMT4">
                  <p:embed/>
                </p:oleObj>
              </mc:Choice>
              <mc:Fallback>
                <p:oleObj name="Equation" r:id="rId6" imgW="28699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900988" y="1522413"/>
                        <a:ext cx="3790950" cy="582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2291039" y="188640"/>
            <a:ext cx="5486400" cy="26063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291039" y="3052754"/>
            <a:ext cx="7150572" cy="33507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E810973-AF3F-4B77-A4CA-BEEB6BED7F9D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2122D7-0D1D-406E-961A-FC8273277069}" type="slidenum">
              <a:rPr lang="zh-CN" altLang="en-US" smtClean="0"/>
              <a:t>29</a:t>
            </a:fld>
            <a:endParaRPr lang="en-US" altLang="zh-CN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053624" y="217686"/>
          <a:ext cx="6301518" cy="4123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149600" imgH="85344000" progId="Equation.DSMT4">
                  <p:embed/>
                </p:oleObj>
              </mc:Choice>
              <mc:Fallback>
                <p:oleObj name="Equation" r:id="rId3" imgW="130149600" imgH="85344000" progId="Equation.DSMT4">
                  <p:embed/>
                  <p:pic>
                    <p:nvPicPr>
                      <p:cNvPr id="0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3624" y="217686"/>
                        <a:ext cx="6301518" cy="41239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251939"/>
              </p:ext>
            </p:extLst>
          </p:nvPr>
        </p:nvGraphicFramePr>
        <p:xfrm>
          <a:off x="2053624" y="4341615"/>
          <a:ext cx="5531113" cy="247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8720" imgH="2095200" progId="Equation.DSMT4">
                  <p:embed/>
                </p:oleObj>
              </mc:Choice>
              <mc:Fallback>
                <p:oleObj name="Equation" r:id="rId5" imgW="4698720" imgH="2095200" progId="Equation.DSMT4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53624" y="4341615"/>
                        <a:ext cx="5531113" cy="2472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9288215" y="1203883"/>
            <a:ext cx="1790269" cy="1135428"/>
            <a:chOff x="15543" y="2254"/>
            <a:chExt cx="5595" cy="3316"/>
          </a:xfrm>
        </p:grpSpPr>
        <p:graphicFrame>
          <p:nvGraphicFramePr>
            <p:cNvPr id="6" name="对象 5"/>
            <p:cNvGraphicFramePr/>
            <p:nvPr>
              <p:extLst>
                <p:ext uri="{D42A27DB-BD31-4B8C-83A1-F6EECF244321}">
                  <p14:modId xmlns:p14="http://schemas.microsoft.com/office/powerpoint/2010/main" val="2443308755"/>
                </p:ext>
              </p:extLst>
            </p:nvPr>
          </p:nvGraphicFramePr>
          <p:xfrm>
            <a:off x="15593" y="2254"/>
            <a:ext cx="5545" cy="1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3817620" imgH="937260" progId="Paint.Picture">
                    <p:embed/>
                  </p:oleObj>
                </mc:Choice>
                <mc:Fallback>
                  <p:oleObj r:id="rId7" imgW="3817620" imgH="937260" progId="Paint.Picture">
                    <p:embed/>
                    <p:pic>
                      <p:nvPicPr>
                        <p:cNvPr id="0" name="图片 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593" y="2254"/>
                          <a:ext cx="5545" cy="134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/>
            <p:nvPr>
              <p:extLst>
                <p:ext uri="{D42A27DB-BD31-4B8C-83A1-F6EECF244321}">
                  <p14:modId xmlns:p14="http://schemas.microsoft.com/office/powerpoint/2010/main" val="4120020901"/>
                </p:ext>
              </p:extLst>
            </p:nvPr>
          </p:nvGraphicFramePr>
          <p:xfrm>
            <a:off x="15543" y="3985"/>
            <a:ext cx="3338" cy="15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2118360" imgH="1005840" progId="Paint.Picture">
                    <p:embed/>
                  </p:oleObj>
                </mc:Choice>
                <mc:Fallback>
                  <p:oleObj r:id="rId9" imgW="2118360" imgH="1005840" progId="Paint.Picture">
                    <p:embed/>
                    <p:pic>
                      <p:nvPicPr>
                        <p:cNvPr id="0" name="图片 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5543" y="3985"/>
                          <a:ext cx="3338" cy="15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9253" y="2554806"/>
            <a:ext cx="1817692" cy="23385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956391" y="2453994"/>
            <a:ext cx="6494366" cy="11057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5030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4000" dirty="0"/>
              <a:t>Exercise 0.2</a:t>
            </a:r>
            <a:endParaRPr lang="zh-CN" altLang="en-US" sz="4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6FA52DA-5950-41D7-A995-DC07A56068DE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0724" name="灯片编号占位符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9C5220F-40E5-48F7-960E-A7BD5514A155}" type="slidenum">
              <a:rPr lang="zh-CN" altLang="en-US">
                <a:solidFill>
                  <a:srgbClr val="FFFFFF"/>
                </a:solidFill>
                <a:latin typeface="Century Schoolbook"/>
              </a:rPr>
              <a:t>30</a:t>
            </a:fld>
            <a:endParaRPr lang="en-US" altLang="zh-CN">
              <a:solidFill>
                <a:srgbClr val="FFFFFF"/>
              </a:solidFill>
              <a:latin typeface="Century Schoolbook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947864" y="1500189"/>
            <a:ext cx="8505825" cy="2200275"/>
            <a:chOff x="423863" y="1500188"/>
            <a:chExt cx="8505825" cy="2200275"/>
          </a:xfrm>
        </p:grpSpPr>
        <p:pic>
          <p:nvPicPr>
            <p:cNvPr id="2560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863" y="1500188"/>
              <a:ext cx="8505825" cy="2200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5"/>
            <p:cNvSpPr/>
            <p:nvPr/>
          </p:nvSpPr>
          <p:spPr>
            <a:xfrm>
              <a:off x="3995936" y="2924944"/>
              <a:ext cx="1512168" cy="2880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947863" y="4221163"/>
            <a:ext cx="8534400" cy="1769798"/>
            <a:chOff x="423863" y="4221163"/>
            <a:chExt cx="8534400" cy="176979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863" y="4221163"/>
              <a:ext cx="8534400" cy="151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8" name="对象 7"/>
            <p:cNvGraphicFramePr>
              <a:graphicFrameLocks noChangeAspect="1"/>
            </p:cNvGraphicFramePr>
            <p:nvPr/>
          </p:nvGraphicFramePr>
          <p:xfrm>
            <a:off x="3707904" y="5301208"/>
            <a:ext cx="1944216" cy="6897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8346400" imgH="10058400" progId="Equation.DSMT4">
                    <p:embed/>
                  </p:oleObj>
                </mc:Choice>
                <mc:Fallback>
                  <p:oleObj name="Equation" r:id="rId5" imgW="28346400" imgH="10058400" progId="Equation.DSMT4">
                    <p:embed/>
                    <p:pic>
                      <p:nvPicPr>
                        <p:cNvPr id="0" name="对象 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07904" y="5301208"/>
                          <a:ext cx="1944216" cy="68975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1701</Words>
  <Application>Microsoft Office PowerPoint</Application>
  <PresentationFormat>宽屏</PresentationFormat>
  <Paragraphs>205</Paragraphs>
  <Slides>30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5" baseType="lpstr">
      <vt:lpstr>新細明體</vt:lpstr>
      <vt:lpstr>新細明體</vt:lpstr>
      <vt:lpstr>等线</vt:lpstr>
      <vt:lpstr>等线 Light</vt:lpstr>
      <vt:lpstr>Arial</vt:lpstr>
      <vt:lpstr>Calibri</vt:lpstr>
      <vt:lpstr>Cambria Math</vt:lpstr>
      <vt:lpstr>Century Schoolbook</vt:lpstr>
      <vt:lpstr>Helvetica</vt:lpstr>
      <vt:lpstr>Symbol</vt:lpstr>
      <vt:lpstr>Times New Roman</vt:lpstr>
      <vt:lpstr>Wingdings</vt:lpstr>
      <vt:lpstr>Office 主题​​</vt:lpstr>
      <vt:lpstr>Equation</vt:lpstr>
      <vt:lpstr>Bitmap Image</vt:lpstr>
      <vt:lpstr>  Lecture 1  Introduction to Algorithm</vt:lpstr>
      <vt:lpstr>Textbook &amp; Grade</vt:lpstr>
      <vt:lpstr>  Course Content</vt:lpstr>
      <vt:lpstr>Definition of algorithms</vt:lpstr>
      <vt:lpstr>Algorithm representation</vt:lpstr>
      <vt:lpstr>Algorithm vs. Program</vt:lpstr>
      <vt:lpstr>PowerPoint 演示文稿</vt:lpstr>
      <vt:lpstr>PowerPoint 演示文稿</vt:lpstr>
      <vt:lpstr>PowerPoint 演示文稿</vt:lpstr>
      <vt:lpstr>Example of T(n)</vt:lpstr>
      <vt:lpstr>Asymptotic notation</vt:lpstr>
      <vt:lpstr>Why analysis?</vt:lpstr>
      <vt:lpstr>PowerPoint 演示文稿</vt:lpstr>
      <vt:lpstr>O notation</vt:lpstr>
      <vt:lpstr>PowerPoint 演示文稿</vt:lpstr>
      <vt:lpstr>Extended definition: O</vt:lpstr>
      <vt:lpstr>Example: n1/2 vs. n </vt:lpstr>
      <vt:lpstr>General definitions</vt:lpstr>
      <vt:lpstr>General definition (cont.)</vt:lpstr>
      <vt:lpstr>Spectrum of functions</vt:lpstr>
      <vt:lpstr>Commonsense rules</vt:lpstr>
      <vt:lpstr>Properties of asymptotic notations</vt:lpstr>
      <vt:lpstr>PowerPoint 演示文稿</vt:lpstr>
      <vt:lpstr>Exercise 0.1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Exercise 0.2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Introduction and Peak Finding</dc:title>
  <dc:creator>r</dc:creator>
  <cp:lastModifiedBy>Admin</cp:lastModifiedBy>
  <cp:revision>113</cp:revision>
  <dcterms:created xsi:type="dcterms:W3CDTF">2020-02-26T01:48:00Z</dcterms:created>
  <dcterms:modified xsi:type="dcterms:W3CDTF">2026-03-12T17:20:45Z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