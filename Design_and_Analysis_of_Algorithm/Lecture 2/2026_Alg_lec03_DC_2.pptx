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16" r:id="rId27"/>
    <p:sldId id="317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323" r:id="rId38"/>
    <p:sldId id="324" r:id="rId39"/>
    <p:sldId id="325" r:id="rId40"/>
    <p:sldId id="326" r:id="rId41"/>
    <p:sldId id="327" r:id="rId42"/>
    <p:sldId id="328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915" autoAdjust="0"/>
  </p:normalViewPr>
  <p:slideViewPr>
    <p:cSldViewPr snapToGrid="0">
      <p:cViewPr>
        <p:scale>
          <a:sx n="79" d="100"/>
          <a:sy n="79" d="100"/>
        </p:scale>
        <p:origin x="5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4-08T12:42:13.515" v="0" actId="1038"/>
      <pc:docMkLst>
        <pc:docMk/>
      </pc:docMkLst>
      <pc:sldChg chg="modSp mod">
        <pc:chgData name="by 的" userId="7483e1e6a959e322" providerId="LiveId" clId="{286C159D-603C-4CB1-AE78-F5F98B38873E}" dt="2026-04-08T12:42:13.515" v="0" actId="1038"/>
        <pc:sldMkLst>
          <pc:docMk/>
          <pc:sldMk cId="0" sldId="256"/>
        </pc:sldMkLst>
        <pc:spChg chg="mod">
          <ac:chgData name="by 的" userId="7483e1e6a959e322" providerId="LiveId" clId="{286C159D-603C-4CB1-AE78-F5F98B38873E}" dt="2026-04-08T12:42:13.515" v="0" actId="1038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86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34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#compare=#swap+1</a:t>
            </a:r>
          </a:p>
        </p:txBody>
      </p:sp>
    </p:spTree>
    <p:extLst>
      <p:ext uri="{BB962C8B-B14F-4D97-AF65-F5344CB8AC3E}">
        <p14:creationId xmlns:p14="http://schemas.microsoft.com/office/powerpoint/2010/main" val="573931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770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Dislocation multiplication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37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today’s price – yesterday’s price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98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..j], 1&lt;</a:t>
            </a:r>
            <a:r>
              <a:rPr lang="en-US" altLang="zh-CN" dirty="0" err="1"/>
              <a:t>i</a:t>
            </a:r>
            <a:r>
              <a:rPr lang="en-US" altLang="zh-CN" dirty="0"/>
              <a:t>&lt;n, </a:t>
            </a:r>
            <a:r>
              <a:rPr lang="en-US" altLang="zh-CN" dirty="0" err="1"/>
              <a:t>i</a:t>
            </a:r>
            <a:r>
              <a:rPr lang="en-US" altLang="zh-CN" dirty="0"/>
              <a:t>&lt;j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63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3</a:t>
            </a:r>
            <a:br>
              <a:rPr lang="en-US" altLang="zh-CN" sz="4000" dirty="0"/>
            </a:br>
            <a:r>
              <a:rPr lang="en-US" altLang="zh-CN" sz="4000" dirty="0"/>
              <a:t>Divide &amp; conquer:</a:t>
            </a:r>
            <a:br>
              <a:rPr lang="en-US" altLang="zh-CN" sz="4000" dirty="0"/>
            </a:br>
            <a:r>
              <a:rPr lang="en-US" altLang="zh-CN" sz="4000" dirty="0"/>
              <a:t> sorting and max subarray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0927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66750" y="1653736"/>
            <a:ext cx="3578370" cy="3908475"/>
            <a:chOff x="863003" y="2455841"/>
            <a:chExt cx="3578370" cy="390847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003" y="4256066"/>
              <a:ext cx="3578370" cy="210825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3003" y="2455841"/>
              <a:ext cx="3276600" cy="1800225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766750" y="569495"/>
            <a:ext cx="6424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Part I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82506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471487"/>
            <a:ext cx="866775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7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60" y="272966"/>
            <a:ext cx="8191500" cy="629602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3056021" y="4459705"/>
            <a:ext cx="1764632" cy="80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3056021" y="4957010"/>
            <a:ext cx="1764632" cy="80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521116" y="6007769"/>
            <a:ext cx="1764632" cy="802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30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290512"/>
            <a:ext cx="893445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5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95250"/>
            <a:ext cx="99441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67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1462"/>
            <a:ext cx="91440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1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200025"/>
            <a:ext cx="954405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1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7" y="385762"/>
            <a:ext cx="915352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1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662" y="166687"/>
            <a:ext cx="844867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22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66687"/>
            <a:ext cx="95631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8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19062"/>
            <a:ext cx="9582150" cy="66198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57600" y="5795158"/>
            <a:ext cx="3170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1+2+4+….+</a:t>
            </a:r>
            <a:r>
              <a:rPr lang="en-US" altLang="zh-CN" sz="2400" i="1" dirty="0"/>
              <a:t>n</a:t>
            </a:r>
            <a:r>
              <a:rPr lang="en-US" altLang="zh-CN" sz="2400" dirty="0"/>
              <a:t>/2=</a:t>
            </a:r>
            <a:r>
              <a:rPr lang="en-US" altLang="zh-CN" sz="2400" i="1" dirty="0"/>
              <a:t>n</a:t>
            </a:r>
            <a:r>
              <a:rPr lang="en-US" altLang="zh-CN" sz="2400" dirty="0"/>
              <a:t>-1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3D41F3-E240-B672-205F-6EC52F75F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77" y="4866360"/>
            <a:ext cx="2787735" cy="89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157162"/>
            <a:ext cx="9363075" cy="65436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696460" y="3609975"/>
            <a:ext cx="4810760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i="1"/>
              <a:t>cn</a:t>
            </a:r>
            <a:r>
              <a:rPr lang="en-US" altLang="zh-CN" sz="2800" b="1" baseline="30000">
                <a:solidFill>
                  <a:schemeClr val="tx1"/>
                </a:solidFill>
                <a:uFillTx/>
              </a:rPr>
              <a:t>2</a:t>
            </a:r>
            <a:r>
              <a:rPr lang="en-US" altLang="zh-CN" sz="2800" b="1"/>
              <a:t>/16      </a:t>
            </a:r>
            <a:r>
              <a:rPr lang="en-US" altLang="zh-CN" sz="2800" b="1" i="1">
                <a:sym typeface="+mn-ea"/>
              </a:rPr>
              <a:t>cn</a:t>
            </a:r>
            <a:r>
              <a:rPr lang="en-US" altLang="zh-CN" sz="2800" b="1" baseline="30000">
                <a:uFillTx/>
                <a:sym typeface="+mn-ea"/>
              </a:rPr>
              <a:t>2</a:t>
            </a:r>
            <a:r>
              <a:rPr lang="en-US" altLang="zh-CN" sz="2800" b="1">
                <a:sym typeface="+mn-ea"/>
              </a:rPr>
              <a:t>/16      </a:t>
            </a:r>
            <a:r>
              <a:rPr lang="en-US" altLang="zh-CN" sz="2800" b="1" i="1">
                <a:sym typeface="+mn-ea"/>
              </a:rPr>
              <a:t>cn</a:t>
            </a:r>
            <a:r>
              <a:rPr lang="en-US" altLang="zh-CN" sz="2800" b="1" baseline="30000">
                <a:uFillTx/>
                <a:sym typeface="+mn-ea"/>
              </a:rPr>
              <a:t>2</a:t>
            </a:r>
            <a:r>
              <a:rPr lang="en-US" altLang="zh-CN" sz="2800" b="1">
                <a:sym typeface="+mn-ea"/>
              </a:rPr>
              <a:t>/16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3699806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800100"/>
            <a:ext cx="97440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7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9" y="162927"/>
            <a:ext cx="9744075" cy="36766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87" y="3706478"/>
            <a:ext cx="911542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58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797" y="378146"/>
            <a:ext cx="8455231" cy="637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18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576262"/>
            <a:ext cx="9324975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91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928687"/>
            <a:ext cx="101250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86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3" y="298182"/>
            <a:ext cx="7930182" cy="595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03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681037"/>
            <a:ext cx="1058227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10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45" y="645945"/>
            <a:ext cx="7748087" cy="4027677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626518" y="5185360"/>
            <a:ext cx="2581275" cy="561975"/>
            <a:chOff x="1738813" y="4896602"/>
            <a:chExt cx="2581275" cy="56197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8813" y="4896602"/>
              <a:ext cx="1190625" cy="56197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29438" y="4896602"/>
              <a:ext cx="1390650" cy="561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3270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829" y="355950"/>
            <a:ext cx="7501061" cy="591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81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511" y="457880"/>
            <a:ext cx="8338396" cy="6037602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5895474" y="6495482"/>
            <a:ext cx="223787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07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105" y="255753"/>
            <a:ext cx="8253042" cy="6063618"/>
          </a:xfrm>
          <a:prstGeom prst="rect">
            <a:avLst/>
          </a:prstGeom>
        </p:spPr>
      </p:pic>
      <p:sp>
        <p:nvSpPr>
          <p:cNvPr id="4" name="线形标注 1 3"/>
          <p:cNvSpPr/>
          <p:nvPr/>
        </p:nvSpPr>
        <p:spPr>
          <a:xfrm>
            <a:off x="10026316" y="3954379"/>
            <a:ext cx="1227039" cy="877394"/>
          </a:xfrm>
          <a:prstGeom prst="borderCallout1">
            <a:avLst>
              <a:gd name="adj1" fmla="val 18750"/>
              <a:gd name="adj2" fmla="val -8333"/>
              <a:gd name="adj3" fmla="val 114101"/>
              <a:gd name="adj4" fmla="val -4098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n/4</a:t>
            </a:r>
            <a:r>
              <a:rPr lang="zh-CN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</a:t>
            </a:r>
            <a:endParaRPr lang="en-US" altLang="zh-CN" sz="2400" b="1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ctr"/>
            <a:r>
              <a:rPr lang="zh-CN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400" b="1" dirty="0">
                <a:solidFill>
                  <a:schemeClr val="tx1"/>
                </a:solidFill>
                <a:sym typeface="Symbol" panose="05050102010706020507" pitchFamily="18" charset="2"/>
              </a:rPr>
              <a:t>n/8</a:t>
            </a:r>
            <a:r>
              <a:rPr lang="zh-CN" altLang="en-US" sz="2400" b="1" dirty="0">
                <a:solidFill>
                  <a:schemeClr val="tx1"/>
                </a:solidFill>
                <a:sym typeface="Symbol" panose="05050102010706020507" pitchFamily="18" charset="2"/>
              </a:rPr>
              <a:t></a:t>
            </a:r>
            <a:endParaRPr lang="en-US" altLang="zh-CN" sz="2400" b="1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4267201" y="5342021"/>
            <a:ext cx="5350041" cy="2249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15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861" y="625642"/>
            <a:ext cx="751522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04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60809" y="1586707"/>
            <a:ext cx="10943263" cy="48736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dirty="0"/>
              <a:t>Show that                              is bounded by a constant. </a:t>
            </a:r>
          </a:p>
          <a:p>
            <a:pPr>
              <a:defRPr/>
            </a:pPr>
            <a:endParaRPr lang="en-US" altLang="zh-CN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917084" y="1499276"/>
          <a:ext cx="2553690" cy="689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431640" progId="Equation.DSMT4">
                  <p:embed/>
                </p:oleObj>
              </mc:Choice>
              <mc:Fallback>
                <p:oleObj name="Equation" r:id="rId2" imgW="1600200" imgH="4316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7084" y="1499276"/>
                        <a:ext cx="2553690" cy="689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139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049" y="834179"/>
            <a:ext cx="7432965" cy="504134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7363326" y="3080084"/>
            <a:ext cx="1203158" cy="56949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692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79" y="571563"/>
            <a:ext cx="7185376" cy="588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66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051" y="619311"/>
            <a:ext cx="6654574" cy="588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08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704" y="534081"/>
            <a:ext cx="7124636" cy="555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611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79" y="546326"/>
            <a:ext cx="7895793" cy="57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083" y="383906"/>
            <a:ext cx="8714448" cy="616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3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90" y="381185"/>
            <a:ext cx="7881872" cy="6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51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840" y="409761"/>
            <a:ext cx="8144061" cy="60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42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895" y="530988"/>
            <a:ext cx="7471744" cy="560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09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359290"/>
            <a:ext cx="9591675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45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maximum-</a:t>
            </a:r>
            <a:r>
              <a:rPr lang="en-US" altLang="zh-CN" dirty="0" err="1"/>
              <a:t>subarray</a:t>
            </a:r>
            <a:r>
              <a:rPr lang="en-US" altLang="zh-CN" dirty="0"/>
              <a:t> problem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62" y="1925554"/>
            <a:ext cx="10935905" cy="2678529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6447033" y="4468091"/>
            <a:ext cx="2634622" cy="4192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99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11" y="1626019"/>
            <a:ext cx="11008883" cy="2817646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0642044" y="3956567"/>
            <a:ext cx="900251" cy="58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095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8" y="619125"/>
            <a:ext cx="10595136" cy="4891338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3415075" y="2783305"/>
            <a:ext cx="3980336" cy="1020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618233" y="3924482"/>
            <a:ext cx="4309199" cy="1385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1522107" y="4443663"/>
            <a:ext cx="860146" cy="2189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522107" y="4967675"/>
            <a:ext cx="860146" cy="1048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522107" y="5499980"/>
            <a:ext cx="9724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18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92" y="820153"/>
            <a:ext cx="6103771" cy="24636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434" y="820153"/>
            <a:ext cx="5069556" cy="24169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84" y="3499936"/>
            <a:ext cx="11075570" cy="14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22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272" y="266199"/>
            <a:ext cx="7210676" cy="600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136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65" y="327359"/>
            <a:ext cx="9703720" cy="56003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17" y="5654090"/>
            <a:ext cx="4868783" cy="995361"/>
          </a:xfrm>
          <a:prstGeom prst="rect">
            <a:avLst/>
          </a:prstGeom>
        </p:spPr>
      </p:pic>
      <p:sp>
        <p:nvSpPr>
          <p:cNvPr id="4" name="云形标注 3"/>
          <p:cNvSpPr/>
          <p:nvPr/>
        </p:nvSpPr>
        <p:spPr>
          <a:xfrm>
            <a:off x="8783053" y="1900989"/>
            <a:ext cx="3304673" cy="1796716"/>
          </a:xfrm>
          <a:prstGeom prst="cloudCallout">
            <a:avLst>
              <a:gd name="adj1" fmla="val -43314"/>
              <a:gd name="adj2" fmla="val 15312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Can we do better?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(Hint: DP takes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(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).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52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99</Words>
  <Application>Microsoft Office PowerPoint</Application>
  <PresentationFormat>宽屏</PresentationFormat>
  <Paragraphs>21</Paragraphs>
  <Slides>42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等线</vt:lpstr>
      <vt:lpstr>等线 Light</vt:lpstr>
      <vt:lpstr>Arial</vt:lpstr>
      <vt:lpstr>Symbol</vt:lpstr>
      <vt:lpstr>Office 主题​​</vt:lpstr>
      <vt:lpstr>Equation</vt:lpstr>
      <vt:lpstr>  Lecture 3 Divide &amp; conquer:  sorting and max subarray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maximum-subarray problem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and Peak Finding</dc:title>
  <dc:creator>r</dc:creator>
  <cp:lastModifiedBy>by 的</cp:lastModifiedBy>
  <cp:revision>99</cp:revision>
  <dcterms:created xsi:type="dcterms:W3CDTF">2020-02-26T01:48:00Z</dcterms:created>
  <dcterms:modified xsi:type="dcterms:W3CDTF">2026-04-08T12:51:31Z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