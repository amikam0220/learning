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9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0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659" autoAdjust="0"/>
  </p:normalViewPr>
  <p:slideViewPr>
    <p:cSldViewPr snapToGrid="0">
      <p:cViewPr varScale="1">
        <p:scale>
          <a:sx n="135" d="100"/>
          <a:sy n="135" d="100"/>
        </p:scale>
        <p:origin x="124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5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/>
              <a:t>Sometimes there is more than one peak. The problem is to find any peak.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2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Visit each element from left to right</a:t>
            </a:r>
          </a:p>
          <a:p>
            <a:endParaRPr lang="en-US" altLang="zh-CN" dirty="0"/>
          </a:p>
          <a:p>
            <a:r>
              <a:rPr lang="en-US" altLang="zh-CN" dirty="0"/>
              <a:t>Average: (1+2+…+(n-1))/(n-1)=(n*(n-1))/2(n-1)=n/2</a:t>
            </a:r>
          </a:p>
          <a:p>
            <a:endParaRPr lang="en-US" altLang="zh-CN" dirty="0"/>
          </a:p>
          <a:p>
            <a:r>
              <a:rPr lang="en-US" altLang="zh-CN" dirty="0"/>
              <a:t>E1 is a peak,  need to look at 1 element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E2 is a peak,  need to look at 2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E3 is a peak,  need to look at 3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E_n-1 is a peak,  need to look at n-1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E_n</a:t>
            </a:r>
            <a:r>
              <a:rPr lang="en-US" altLang="zh-CN" dirty="0"/>
              <a:t> is a peak (definitely),  need to look at 0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6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Greedy: follow the largest neighbor.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253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O(</a:t>
            </a:r>
            <a:r>
              <a:rPr lang="en-US" altLang="zh-CN" dirty="0" err="1"/>
              <a:t>m+n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638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Pick right columns of (</a:t>
            </a:r>
            <a:r>
              <a:rPr lang="en-US" altLang="zh-CN" dirty="0" err="1"/>
              <a:t>i</a:t>
            </a:r>
            <a:r>
              <a:rPr lang="en-US" altLang="zh-CN" dirty="0"/>
              <a:t>, j+1)&gt;(</a:t>
            </a:r>
            <a:r>
              <a:rPr lang="en-US" altLang="zh-CN" dirty="0" err="1"/>
              <a:t>I,j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037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21(max/peak)&gt;20(larger neighbor</a:t>
            </a:r>
            <a:r>
              <a:rPr lang="en-US" altLang="zh-CN" baseline="0" dirty="0"/>
              <a:t> of 19</a:t>
            </a:r>
            <a:r>
              <a:rPr lang="en-US" altLang="zh-CN" dirty="0"/>
              <a:t>)&gt;19(max)&gt;11(neighbor</a:t>
            </a:r>
            <a:r>
              <a:rPr lang="en-US" altLang="zh-CN" baseline="0" dirty="0"/>
              <a:t> of 21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653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if m&gt;&gt;n,</a:t>
            </a:r>
            <a:r>
              <a:rPr lang="en-US" altLang="zh-CN" baseline="0" dirty="0"/>
              <a:t> then m/2;</a:t>
            </a:r>
          </a:p>
          <a:p>
            <a:r>
              <a:rPr lang="en-US" altLang="zh-CN" baseline="0" dirty="0"/>
              <a:t>if n&gt;&gt;m, then n/2;</a:t>
            </a:r>
          </a:p>
          <a:p>
            <a:r>
              <a:rPr lang="en-US" altLang="zh-CN" baseline="0" dirty="0"/>
              <a:t>anyway, O(min{</a:t>
            </a:r>
            <a:r>
              <a:rPr lang="en-US" altLang="zh-CN" baseline="0" dirty="0" err="1"/>
              <a:t>m,n</a:t>
            </a:r>
            <a:r>
              <a:rPr lang="en-US" altLang="zh-CN" baseline="0" dirty="0"/>
              <a:t>}log(max{</a:t>
            </a:r>
            <a:r>
              <a:rPr lang="en-US" altLang="zh-CN" baseline="0" dirty="0" err="1"/>
              <a:t>m,n</a:t>
            </a:r>
            <a:r>
              <a:rPr lang="en-US" altLang="zh-CN" baseline="0" dirty="0"/>
              <a:t>})) 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T(</a:t>
            </a:r>
            <a:r>
              <a:rPr lang="en-US" altLang="zh-CN" baseline="0" dirty="0" err="1"/>
              <a:t>n,m</a:t>
            </a:r>
            <a:r>
              <a:rPr lang="en-US" altLang="zh-CN" baseline="0" dirty="0"/>
              <a:t>)=T(n,1)+</a:t>
            </a:r>
            <a:r>
              <a:rPr lang="en-US" altLang="zh-CN" baseline="0" dirty="0" err="1"/>
              <a:t>logmO</a:t>
            </a:r>
            <a:r>
              <a:rPr lang="en-US" altLang="zh-CN" baseline="0" dirty="0"/>
              <a:t>(n)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61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en-US" altLang="zh-CN" dirty="0"/>
              <a:t> </a:t>
            </a:r>
            <a:r>
              <a:rPr lang="en-US" altLang="zh-CN" sz="4000" dirty="0"/>
              <a:t>Lecture 2</a:t>
            </a:r>
            <a:br>
              <a:rPr lang="en-US" altLang="zh-CN" sz="4000" dirty="0"/>
            </a:br>
            <a:r>
              <a:rPr lang="en-US" altLang="zh-CN" sz="4000" dirty="0"/>
              <a:t>Divide &amp; Conquer:</a:t>
            </a:r>
            <a:br>
              <a:rPr lang="en-US" altLang="zh-CN" sz="4000" dirty="0"/>
            </a:br>
            <a:r>
              <a:rPr lang="en-US" altLang="zh-CN" sz="4000" dirty="0"/>
              <a:t>Peak Finding 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75171"/>
            <a:ext cx="9144000" cy="1655762"/>
          </a:xfrm>
        </p:spPr>
        <p:txBody>
          <a:bodyPr/>
          <a:lstStyle/>
          <a:p>
            <a:r>
              <a:rPr lang="en-US" altLang="zh-CN" dirty="0"/>
              <a:t>Spring 2026</a:t>
            </a:r>
          </a:p>
          <a:p>
            <a:r>
              <a:rPr lang="en-US" altLang="zh-CN" dirty="0" err="1"/>
              <a:t>Zhihua</a:t>
            </a:r>
            <a:r>
              <a:rPr lang="en-US" altLang="zh-CN" dirty="0"/>
              <a:t> Jiang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8631" y="759216"/>
            <a:ext cx="6667808" cy="2470872"/>
          </a:xfrm>
          <a:prstGeom prst="rect">
            <a:avLst/>
          </a:prstGeom>
        </p:spPr>
      </p:pic>
      <p:graphicFrame>
        <p:nvGraphicFramePr>
          <p:cNvPr id="4" name="对象 3"/>
          <p:cNvGraphicFramePr/>
          <p:nvPr>
            <p:custDataLst>
              <p:tags r:id="rId2"/>
            </p:custDataLst>
          </p:nvPr>
        </p:nvGraphicFramePr>
        <p:xfrm>
          <a:off x="868680" y="3315970"/>
          <a:ext cx="7580630" cy="243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574280" imgH="2430780" progId="Paint.Picture">
                  <p:embed/>
                </p:oleObj>
              </mc:Choice>
              <mc:Fallback>
                <p:oleObj r:id="rId5" imgW="7574280" imgH="2430780" progId="Paint.Picture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8680" y="3315970"/>
                        <a:ext cx="7580630" cy="2432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85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Ex. 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144" y="1690688"/>
            <a:ext cx="8648700" cy="3686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10044" y="5608904"/>
            <a:ext cx="7967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Hint: Given the above definition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, a peak always exists! </a:t>
            </a:r>
          </a:p>
          <a:p>
            <a:r>
              <a:rPr lang="en-US" altLang="zh-CN" dirty="0"/>
              <a:t>However, if only &gt;, a peak does not always exist, e.g., y(x)=c.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7288"/>
            <a:ext cx="9172575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7574"/>
            <a:ext cx="9944100" cy="252412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2233158" y="2334247"/>
            <a:ext cx="1911509" cy="183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3295583" y="3018833"/>
            <a:ext cx="3582105" cy="68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0F28A56-5213-DEA8-B8C5-5B7BB2671430}"/>
              </a:ext>
            </a:extLst>
          </p:cNvPr>
          <p:cNvSpPr/>
          <p:nvPr/>
        </p:nvSpPr>
        <p:spPr>
          <a:xfrm>
            <a:off x="6909404" y="2727632"/>
            <a:ext cx="619157" cy="254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than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5840213" y="4351441"/>
            <a:ext cx="932780" cy="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253761" y="4824724"/>
            <a:ext cx="1084414" cy="13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线形标注 2 2"/>
          <p:cNvSpPr/>
          <p:nvPr/>
        </p:nvSpPr>
        <p:spPr>
          <a:xfrm>
            <a:off x="5136390" y="5285144"/>
            <a:ext cx="2248812" cy="82253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838"/>
              <a:gd name="adj6" fmla="val -1079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1025FB1-61CA-6150-E68A-CB02C58D7AA2}"/>
              </a:ext>
            </a:extLst>
          </p:cNvPr>
          <p:cNvGrpSpPr/>
          <p:nvPr/>
        </p:nvGrpSpPr>
        <p:grpSpPr>
          <a:xfrm>
            <a:off x="1772248" y="1154679"/>
            <a:ext cx="8353425" cy="4953000"/>
            <a:chOff x="1772248" y="1154679"/>
            <a:chExt cx="8353425" cy="49530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BB0C440-7D85-92EC-51BF-FCD6CC7A4AFE}"/>
                </a:ext>
              </a:extLst>
            </p:cNvPr>
            <p:cNvGrpSpPr/>
            <p:nvPr/>
          </p:nvGrpSpPr>
          <p:grpSpPr>
            <a:xfrm>
              <a:off x="1772248" y="1154679"/>
              <a:ext cx="8353425" cy="4953000"/>
              <a:chOff x="1772248" y="1154679"/>
              <a:chExt cx="8353425" cy="4953000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72248" y="1154679"/>
                <a:ext cx="8353425" cy="4953000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744582-A258-4570-CF3F-46C7F91A3F40}"/>
                  </a:ext>
                </a:extLst>
              </p:cNvPr>
              <p:cNvSpPr txBox="1"/>
              <p:nvPr/>
            </p:nvSpPr>
            <p:spPr>
              <a:xfrm>
                <a:off x="7245811" y="3988541"/>
                <a:ext cx="108441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/2-1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BFACB4D9-29DF-050A-5C5D-CB02B416E1D3}"/>
                </a:ext>
              </a:extLst>
            </p:cNvPr>
            <p:cNvCxnSpPr/>
            <p:nvPr/>
          </p:nvCxnSpPr>
          <p:spPr>
            <a:xfrm>
              <a:off x="6847242" y="4357873"/>
              <a:ext cx="946673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5B86095-AB2A-E9B0-FABF-DBCCBD610295}"/>
                </a:ext>
              </a:extLst>
            </p:cNvPr>
            <p:cNvCxnSpPr>
              <a:cxnSpLocks/>
            </p:cNvCxnSpPr>
            <p:nvPr/>
          </p:nvCxnSpPr>
          <p:spPr>
            <a:xfrm>
              <a:off x="7462221" y="4768456"/>
              <a:ext cx="1047078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5503" y="94701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503" y="2071003"/>
            <a:ext cx="9772650" cy="20859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8E356D5-B488-4B11-9706-A2EF572906F7}"/>
              </a:ext>
            </a:extLst>
          </p:cNvPr>
          <p:cNvSpPr/>
          <p:nvPr/>
        </p:nvSpPr>
        <p:spPr>
          <a:xfrm>
            <a:off x="1425388" y="3523129"/>
            <a:ext cx="9520518" cy="285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05" y="1027906"/>
            <a:ext cx="8982075" cy="5314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85" y="1690687"/>
            <a:ext cx="3829050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892" y="1027906"/>
            <a:ext cx="7696200" cy="5448300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2724820" y="5904543"/>
            <a:ext cx="2302083" cy="459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399" y="1290266"/>
            <a:ext cx="6543675" cy="45624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AC4963-9929-8BE8-E2F3-22693335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274" y="2574742"/>
            <a:ext cx="2667932" cy="2334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1067"/>
            <a:ext cx="8315325" cy="461962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2196398" y="2756985"/>
            <a:ext cx="1631216" cy="1378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右大括号 6">
            <a:extLst>
              <a:ext uri="{FF2B5EF4-FFF2-40B4-BE49-F238E27FC236}">
                <a16:creationId xmlns:a16="http://schemas.microsoft.com/office/drawing/2014/main" id="{435E1217-B604-77AA-2AB1-E45A2E07916E}"/>
              </a:ext>
            </a:extLst>
          </p:cNvPr>
          <p:cNvSpPr/>
          <p:nvPr/>
        </p:nvSpPr>
        <p:spPr>
          <a:xfrm>
            <a:off x="6043749" y="1979742"/>
            <a:ext cx="274320" cy="2074119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03E5BE-396B-9D3F-3DAF-FB78F9DAA520}"/>
              </a:ext>
            </a:extLst>
          </p:cNvPr>
          <p:cNvSpPr txBox="1"/>
          <p:nvPr/>
        </p:nvSpPr>
        <p:spPr>
          <a:xfrm>
            <a:off x="6318069" y="2756985"/>
            <a:ext cx="3997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Loop: Solving subproblems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58" y="1148430"/>
            <a:ext cx="8239125" cy="4962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57211" y="4497582"/>
            <a:ext cx="2810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Q: Why global max works?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0E2A9D-EC65-2109-3F2E-C3F505687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560" y="4927875"/>
            <a:ext cx="1693682" cy="1488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662" y="555130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Peak Finder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" y="1657350"/>
            <a:ext cx="9972675" cy="3543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414" y="4875891"/>
            <a:ext cx="2241799" cy="19062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85EC19-982E-7E4E-6CF3-549372A1B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662" y="4301116"/>
            <a:ext cx="9938552" cy="24810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25" y="593544"/>
            <a:ext cx="8533039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6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538162"/>
            <a:ext cx="805815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38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452437"/>
            <a:ext cx="871537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154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891.1370078740156,&quot;width&quot;:10500.48503937007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235378836"/>
  <p:tag name="KSO_WM_UNIT_PLACING_PICTURE_USER_VIEWPORT" val="{&quot;height&quot;:3831,&quot;width&quot;:11938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306</Words>
  <Application>Microsoft Office PowerPoint</Application>
  <PresentationFormat>宽屏</PresentationFormat>
  <Paragraphs>48</Paragraphs>
  <Slides>16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Arial</vt:lpstr>
      <vt:lpstr>Symbol</vt:lpstr>
      <vt:lpstr>Times New Roman</vt:lpstr>
      <vt:lpstr>Office 主题​​</vt:lpstr>
      <vt:lpstr>Bitmap Image</vt:lpstr>
      <vt:lpstr>  Lecture 2 Divide &amp; Conquer: Peak Finding </vt:lpstr>
      <vt:lpstr>PowerPoint 演示文稿</vt:lpstr>
      <vt:lpstr>Ex. 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Peak Finder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Lecture 1: Introduction and Peak Finding </dc:title>
  <dc:creator>r</dc:creator>
  <cp:lastModifiedBy>Admin</cp:lastModifiedBy>
  <cp:revision>105</cp:revision>
  <dcterms:created xsi:type="dcterms:W3CDTF">2020-02-26T01:48:00Z</dcterms:created>
  <dcterms:modified xsi:type="dcterms:W3CDTF">2026-03-25T15:41:43Z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