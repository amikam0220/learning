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28" r:id="rId2"/>
    <p:sldId id="451" r:id="rId3"/>
    <p:sldId id="452" r:id="rId4"/>
    <p:sldId id="453" r:id="rId5"/>
    <p:sldId id="454" r:id="rId6"/>
    <p:sldId id="455" r:id="rId7"/>
    <p:sldId id="463" r:id="rId8"/>
    <p:sldId id="456" r:id="rId9"/>
    <p:sldId id="458" r:id="rId10"/>
    <p:sldId id="459" r:id="rId11"/>
    <p:sldId id="460" r:id="rId12"/>
    <p:sldId id="444" r:id="rId13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A31E1-F531-4D1A-8302-73C5AA5CFBA3}" v="1" dt="2026-04-15T01:16:59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 autoAdjust="0"/>
    <p:restoredTop sz="94635"/>
  </p:normalViewPr>
  <p:slideViewPr>
    <p:cSldViewPr snapToGrid="0" showGuides="1">
      <p:cViewPr>
        <p:scale>
          <a:sx n="58" d="100"/>
          <a:sy n="58" d="100"/>
        </p:scale>
        <p:origin x="55" y="754"/>
      </p:cViewPr>
      <p:guideLst>
        <p:guide orient="horz" pos="720"/>
        <p:guide pos="4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的" userId="7483e1e6a959e322" providerId="LiveId" clId="{286C159D-603C-4CB1-AE78-F5F98B38873E}"/>
    <pc:docChg chg="modSld">
      <pc:chgData name="by 的" userId="7483e1e6a959e322" providerId="LiveId" clId="{286C159D-603C-4CB1-AE78-F5F98B38873E}" dt="2026-04-15T01:16:59.151" v="0" actId="1038"/>
      <pc:docMkLst>
        <pc:docMk/>
      </pc:docMkLst>
      <pc:sldChg chg="modSp">
        <pc:chgData name="by 的" userId="7483e1e6a959e322" providerId="LiveId" clId="{286C159D-603C-4CB1-AE78-F5F98B38873E}" dt="2026-04-15T01:16:59.151" v="0" actId="1038"/>
        <pc:sldMkLst>
          <pc:docMk/>
          <pc:sldMk cId="0" sldId="452"/>
        </pc:sldMkLst>
        <pc:spChg chg="mod">
          <ac:chgData name="by 的" userId="7483e1e6a959e322" providerId="LiveId" clId="{286C159D-603C-4CB1-AE78-F5F98B38873E}" dt="2026-04-15T01:16:59.151" v="0" actId="1038"/>
          <ac:spMkLst>
            <pc:docMk/>
            <pc:sldMk cId="0" sldId="452"/>
            <ac:spMk id="410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ctr" anchorCtr="0" compatLnSpc="1"/>
          <a:lstStyle>
            <a:lvl1pPr algn="r"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defTabSz="890905">
              <a:defRPr sz="1100">
                <a:latin typeface="Helvetica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9090" tIns="44546" rIns="89090" bIns="44546" numCol="1" anchor="b" anchorCtr="0" compatLnSpc="1"/>
          <a:lstStyle>
            <a:lvl1pPr algn="r" defTabSz="890905">
              <a:defRPr sz="1100">
                <a:latin typeface="Helvetica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0F0762C-192C-43F0-9235-1ED3B30BABF7}" type="slidenum">
              <a:rPr lang="en-US" altLang="x-none"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4035" tIns="47017" rIns="94035" bIns="47017" numCol="1" anchor="b" anchorCtr="0" compatLnSpc="1"/>
          <a:lstStyle>
            <a:lvl1pPr algn="r" defTabSz="939800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C9F949B7-291A-4420-9D9C-B1ABA67FB313}" type="slidenum">
              <a:rPr lang="en-US" altLang="x-none"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lstStyle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  <a:t>1</a:t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Silberschatz, Galvin and Gagne ©2018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147" y="6613525"/>
            <a:ext cx="447558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5.</a:t>
            </a:r>
            <a:fld id="{4EB6AB46-21AB-49DC-9DBD-606B37BEB33B}" type="slidenum">
              <a:rPr lang="en-US" altLang="en-US" sz="1000" b="1" smtClean="0">
                <a:solidFill>
                  <a:srgbClr val="006699"/>
                </a:solidFill>
                <a:latin typeface="Helvetica" charset="0"/>
              </a:r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Silberschatz, Galvin and Gagne ©2018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595087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c.max@yeah.ne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矩形 1"/>
          <p:cNvSpPr/>
          <p:nvPr/>
        </p:nvSpPr>
        <p:spPr>
          <a:xfrm>
            <a:off x="378460" y="2508250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B05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  <a:sym typeface="+mn-ea"/>
              </a:rPr>
              <a:t>Lab 2: Message Queues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  <a:t>2</a:t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title"/>
          </p:nvPr>
        </p:nvSpPr>
        <p:spPr>
          <a:xfrm>
            <a:off x="457200" y="233680"/>
            <a:ext cx="8686800" cy="57594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sym typeface="+mn-ea"/>
              </a:rPr>
              <a:t>Contents </a:t>
            </a:r>
            <a:r>
              <a:rPr lang="en-US" altLang="zh-CN" b="0" dirty="0">
                <a:latin typeface="Calibri" panose="020F0502020204030204" charset="0"/>
                <a:cs typeface="Calibri" panose="020F0502020204030204" charset="0"/>
                <a:sym typeface="+mn-ea"/>
              </a:rPr>
              <a:t>(Ch14.3 Message Queues, BLP-4e book)</a:t>
            </a:r>
            <a:endParaRPr lang="zh-CN" altLang="en-US" b="0" dirty="0"/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-52070" y="1143000"/>
            <a:ext cx="9167495" cy="5257800"/>
          </a:xfrm>
        </p:spPr>
        <p:txBody>
          <a:bodyPr vert="horz" wrap="square" lIns="91440" tIns="45720" rIns="91440" bIns="45720" anchor="t" anchorCtr="0"/>
          <a:lstStyle/>
          <a:p>
            <a:pPr marL="457200" lvl="1" indent="0" eaLnBrk="1" latinLnBrk="0" hangingPunct="1">
              <a:spcBef>
                <a:spcPts val="1200"/>
              </a:spcBef>
              <a:buNone/>
            </a:pPr>
            <a:r>
              <a:rPr lang="en-US" altLang="zh-CN" sz="2400" b="1" dirty="0">
                <a:latin typeface="Calibri" panose="020F0502020204030204" charset="0"/>
                <a:cs typeface="Calibri" panose="020F0502020204030204" charset="0"/>
              </a:rPr>
              <a:t>Message Queues, IPC</a:t>
            </a: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Create or get the flag of a messsage queue:</a:t>
            </a:r>
          </a:p>
          <a:p>
            <a:pPr marL="457200" lvl="1" indent="0" eaLnBrk="1" latinLnBrk="0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int msgget(key_t key, int msgflag)</a:t>
            </a:r>
            <a:endParaRPr lang="en-US" altLang="zh-CN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1" eaLnBrk="1" latinLnBrk="0" hangingPunct="1">
              <a:spcBef>
                <a:spcPts val="600"/>
              </a:spcBef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Send message to the specified message queue:</a:t>
            </a:r>
          </a:p>
          <a:p>
            <a:pPr marL="914400" lvl="2" indent="0"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6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int msgsnd(int msgid, struct msgbuf *msgp, int size, int type, int flag)</a:t>
            </a: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Receive message from the specified message queue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:</a:t>
            </a:r>
          </a:p>
          <a:p>
            <a:pPr marL="914400" lvl="2" indent="0" eaLnBrk="1" latinLnBrk="0" hangingPunct="1">
              <a:spcBef>
                <a:spcPts val="60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int msgrcv(int msgid, struct msgbuf *msgp, int size, int type, int flag)</a:t>
            </a:r>
          </a:p>
          <a:p>
            <a:pPr lvl="1" eaLnBrk="1" latinLnBrk="0" hangingPunct="1">
              <a:spcBef>
                <a:spcPts val="1200"/>
              </a:spcBef>
            </a:pP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Control </a:t>
            </a:r>
            <a:r>
              <a:rPr lang="en-US" altLang="zh-CN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messsage queue: state query, modify and remove queue</a:t>
            </a:r>
            <a:r>
              <a:rPr lang="zh-CN" altLang="en-US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：</a:t>
            </a:r>
          </a:p>
          <a:p>
            <a:pPr marL="457200" lvl="1" indent="0" eaLnBrk="1" latinLnBrk="0" hangingPunct="1">
              <a:spcBef>
                <a:spcPts val="60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int msgctl(int msgid, int cmd, struct msgid_ds *buf)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  <a:t>3</a:t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Task 1</a:t>
            </a:r>
            <a:r>
              <a:rPr lang="zh-CN" altLang="en-US" dirty="0">
                <a:ea typeface="宋体" panose="02010600030101010101" pitchFamily="2" charset="-122"/>
              </a:rPr>
              <a:t>：</a:t>
            </a:r>
            <a:r>
              <a:rPr lang="en-US" altLang="zh-CN" sz="2800" b="0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IPC with Message Queues </a:t>
            </a: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238027" y="1143000"/>
            <a:ext cx="8610600" cy="5547360"/>
          </a:xfrm>
        </p:spPr>
        <p:txBody>
          <a:bodyPr vert="horz" wrap="square" lIns="91440" tIns="45720" rIns="91440" bIns="45720" anchor="t" anchorCtr="0"/>
          <a:lstStyle/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b="0" dirty="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Use Message Queue, IPC, to implement sending &amp; receive messages</a:t>
            </a:r>
            <a:r>
              <a:rPr lang="zh-CN" altLang="en-US" sz="2400" b="0" dirty="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。</a:t>
            </a:r>
          </a:p>
          <a:p>
            <a:pPr lvl="2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Sending Process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sndfile.c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lang="en-US" altLang="zh-CN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gets messages (line by line) inputed from keybord, and send to the message que, end with a “</a:t>
            </a:r>
            <a:r>
              <a:rPr lang="en-US" altLang="zh-CN" sz="18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end</a:t>
            </a:r>
            <a:r>
              <a:rPr lang="en-US" altLang="zh-CN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”</a:t>
            </a: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2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Receiving </a:t>
            </a:r>
            <a:r>
              <a:rPr lang="en-US" altLang="zh-CN" sz="180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Process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lang="en-US" altLang="zh-CN" sz="18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rcvfile.c </a:t>
            </a:r>
            <a:r>
              <a:rPr lang="en-US" altLang="zh-CN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read and display messages one by one from the message queue, until reach a “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end</a:t>
            </a:r>
            <a:r>
              <a:rPr lang="en-US" altLang="zh-CN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”</a:t>
            </a: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2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The </a:t>
            </a:r>
            <a:r>
              <a:rPr lang="en-US" altLang="zh-CN" b="0" dirty="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key</a:t>
            </a:r>
            <a:r>
              <a:rPr lang="en-US" altLang="zh-CN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of the message queue is set to 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1234</a:t>
            </a:r>
            <a:endParaRPr lang="en-US" altLang="zh-CN" b="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b="0" dirty="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Objective：Learn to work with message queue to implement inter-process communication.</a:t>
            </a: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b="0" dirty="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Key Points：</a:t>
            </a:r>
          </a:p>
          <a:p>
            <a:pPr lvl="2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struct my_msg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lang="en-US" altLang="zh-CN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is the struct of msgbuf, need to be definedby users</a:t>
            </a:r>
            <a:endParaRPr lang="zh-CN" altLang="en-US" b="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lvl="2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Learn to use</a:t>
            </a:r>
            <a:r>
              <a:rPr lang="en-US" altLang="zh-CN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msgget()</a:t>
            </a:r>
            <a:r>
              <a:rPr lang="zh-CN" altLang="en-US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、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msgsnd()</a:t>
            </a:r>
            <a:r>
              <a:rPr lang="zh-CN" altLang="en-US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、</a:t>
            </a:r>
            <a:r>
              <a:rPr lang="en-US" altLang="zh-CN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msgrcv() </a:t>
            </a:r>
            <a:endParaRPr lang="zh-CN" altLang="en-US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lvl="2" eaLnBrk="1" latinLnBrk="0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zh-CN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Try to execute the two processes in diferrent order and see the results</a:t>
            </a:r>
            <a:endParaRPr lang="zh-CN" altLang="en-US" b="0" dirty="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  <a:t>4</a:t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sym typeface="+mn-ea"/>
              </a:rPr>
              <a:t>Task 1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b="0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IPC with Message Queues (cont.)</a:t>
            </a:r>
            <a:endParaRPr lang="zh-CN" altLang="en-US" b="0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  <a:sym typeface="+mn-ea"/>
            </a:endParaRPr>
          </a:p>
        </p:txBody>
      </p:sp>
      <p:sp>
        <p:nvSpPr>
          <p:cNvPr id="5124" name="Rectangle 4"/>
          <p:cNvSpPr>
            <a:spLocks noGrp="1" noRot="1"/>
          </p:cNvSpPr>
          <p:nvPr>
            <p:ph idx="1"/>
          </p:nvPr>
        </p:nvSpPr>
        <p:spPr>
          <a:xfrm>
            <a:off x="-24130" y="1981200"/>
            <a:ext cx="4891405" cy="4687570"/>
          </a:xfrm>
        </p:spPr>
        <p:txBody>
          <a:bodyPr vert="horz" wrap="square" lIns="91440" tIns="45720" rIns="91440" bIns="45720" anchor="t" anchorCtr="0"/>
          <a:lstStyle/>
          <a:p>
            <a:pPr algn="l" eaLnBrk="1" hangingPunct="1">
              <a:spcBef>
                <a:spcPct val="20000"/>
              </a:spcBef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r>
              <a:rPr kumimoji="0" lang="en-US" altLang="zh-CN" sz="24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sndfile.c</a:t>
            </a:r>
            <a:endParaRPr kumimoji="0" lang="en-US" altLang="zh-CN" sz="24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457200" lvl="1" indent="0" eaLnBrk="1" latinLnBrk="0" hangingPunct="1">
              <a:spcBef>
                <a:spcPts val="300"/>
              </a:spcBef>
              <a:buClr>
                <a:schemeClr val="tx1"/>
              </a:buClr>
              <a:buSzPct val="110000"/>
              <a:buNone/>
            </a:pPr>
            <a:r>
              <a:rPr lang="en-US" altLang="zh-CN" sz="20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1) </a:t>
            </a:r>
            <a:r>
              <a:rPr lang="en-US" altLang="zh-CN" sz="20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Define message buffer </a:t>
            </a:r>
            <a:r>
              <a:rPr lang="en-US" altLang="zh-CN" sz="20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(</a:t>
            </a:r>
            <a:r>
              <a:rPr lang="en-US" altLang="zh-CN" sz="20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my_msg</a:t>
            </a:r>
            <a:r>
              <a:rPr lang="en-US" altLang="zh-CN" sz="20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);</a:t>
            </a:r>
          </a:p>
          <a:p>
            <a:pPr marL="457200" lvl="1" indent="0" eaLnBrk="1" latinLnBrk="0" hangingPunct="1">
              <a:spcBef>
                <a:spcPts val="300"/>
              </a:spcBef>
              <a:buClr>
                <a:schemeClr val="tx1"/>
              </a:buClr>
              <a:buSzPct val="110000"/>
              <a:buNone/>
            </a:pPr>
            <a:r>
              <a:rPr lang="en-US" altLang="zh-CN" sz="20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2) </a:t>
            </a:r>
            <a:r>
              <a:rPr lang="en-US" altLang="zh-CN" sz="20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Use </a:t>
            </a:r>
            <a:r>
              <a:rPr lang="en-US" altLang="zh-CN" sz="20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msgget()</a:t>
            </a:r>
            <a:r>
              <a:rPr lang="en-US" altLang="zh-CN" sz="20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to create the message queque;</a:t>
            </a:r>
            <a:endParaRPr lang="en-US" altLang="zh-CN" sz="20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457200" lvl="1" indent="0" eaLnBrk="1" latinLnBrk="0" hangingPunct="1">
              <a:spcBef>
                <a:spcPts val="300"/>
              </a:spcBef>
              <a:buClr>
                <a:schemeClr val="tx1"/>
              </a:buClr>
              <a:buSzPct val="110000"/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3) while (1) {</a:t>
            </a:r>
          </a:p>
          <a:p>
            <a:pPr marL="914400" lvl="2" indent="0" eaLnBrk="1" latinLnBrk="0" hangingPunct="1">
              <a:spcBef>
                <a:spcPts val="3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1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</a:t>
            </a: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Display tips for input messages;</a:t>
            </a:r>
            <a:endParaRPr lang="en-US" altLang="zh-CN" sz="1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914400" lvl="2" indent="0" eaLnBrk="1" latinLnBrk="0" hangingPunct="1">
              <a:spcBef>
                <a:spcPts val="3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1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</a:t>
            </a: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  Get info from stdin to buffer</a:t>
            </a:r>
            <a:r>
              <a:rPr lang="zh-CN" altLang="en-US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；</a:t>
            </a:r>
            <a:endParaRPr lang="zh-CN" altLang="en-US" sz="1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914400" lvl="2" indent="0" eaLnBrk="1" latinLnBrk="0" hangingPunct="1">
              <a:spcBef>
                <a:spcPts val="3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1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</a:t>
            </a: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Copy from buffer to message buffer;</a:t>
            </a:r>
            <a:endParaRPr lang="en-US" altLang="zh-CN" sz="1800" b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914400" lvl="2" indent="0" eaLnBrk="1" latinLnBrk="0" hangingPunct="1">
              <a:spcBef>
                <a:spcPts val="3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1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</a:t>
            </a: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Use msgsnd() to send message;</a:t>
            </a:r>
          </a:p>
          <a:p>
            <a:pPr marL="914400" lvl="2" algn="l" eaLnBrk="1" latinLnBrk="0" hangingPunct="1">
              <a:spcBef>
                <a:spcPts val="3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18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  </a:t>
            </a: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Message “end” to end;</a:t>
            </a:r>
          </a:p>
          <a:p>
            <a:pPr marL="457200" lvl="1" indent="0" eaLnBrk="1" latinLnBrk="0" hangingPunct="1">
              <a:spcBef>
                <a:spcPts val="300"/>
              </a:spcBef>
              <a:buClr>
                <a:schemeClr val="tx1"/>
              </a:buClr>
              <a:buSzPct val="110000"/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}</a:t>
            </a:r>
          </a:p>
        </p:txBody>
      </p:sp>
      <p:sp>
        <p:nvSpPr>
          <p:cNvPr id="5125" name="Rectangle 5"/>
          <p:cNvSpPr>
            <a:spLocks noRot="1"/>
          </p:cNvSpPr>
          <p:nvPr/>
        </p:nvSpPr>
        <p:spPr>
          <a:xfrm>
            <a:off x="4572000" y="2057400"/>
            <a:ext cx="4571365" cy="445897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defRPr sz="3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+mn-lt"/>
                <a:ea typeface="方正姚体" panose="02010601030101010101" pitchFamily="2" charset="-122"/>
              </a:defRPr>
            </a:lvl5pPr>
          </a:lstStyle>
          <a:p>
            <a:pPr marL="342900" lvl="0" indent="-342900" algn="l" eaLnBrk="1" hangingPunct="1">
              <a:lnSpc>
                <a:spcPct val="100000"/>
              </a:lnSpc>
            </a:pPr>
            <a:r>
              <a:rPr lang="en-US" altLang="zh-CN" sz="2400" b="0" kern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rcvfile.c</a:t>
            </a:r>
          </a:p>
          <a:p>
            <a:pPr marL="457200" lvl="1" algn="l" eaLnBrk="1" hangingPunct="1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b="0" kern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1) </a:t>
            </a:r>
            <a:r>
              <a:rPr lang="en-US" altLang="zh-CN" sz="20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Define message buffer </a:t>
            </a:r>
            <a:r>
              <a:rPr lang="en-US" altLang="zh-CN" sz="20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(</a:t>
            </a:r>
            <a:r>
              <a:rPr lang="en-US" altLang="zh-CN" sz="20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my_msg</a:t>
            </a:r>
            <a:r>
              <a:rPr lang="en-US" altLang="zh-CN" sz="2000" b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);</a:t>
            </a:r>
            <a:endParaRPr lang="zh-CN" altLang="en-US" sz="2000" b="0" kern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457200" lvl="1" algn="l" eaLnBrk="1" hangingPunct="1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b="0" kern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2) </a:t>
            </a:r>
            <a:r>
              <a:rPr lang="en-US" altLang="zh-CN" sz="20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Use </a:t>
            </a:r>
            <a:r>
              <a:rPr lang="en-US" altLang="zh-CN" sz="2000" b="0" dirty="0">
                <a:solidFill>
                  <a:srgbClr val="0070C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msgget()</a:t>
            </a:r>
            <a:r>
              <a:rPr lang="en-US" altLang="zh-CN" sz="20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 to get the message queque;</a:t>
            </a:r>
            <a:endParaRPr lang="zh-CN" altLang="en-US" sz="2000" b="0" kern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457200" lvl="1" algn="l" eaLnBrk="1" hangingPunct="1"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en-US" sz="2000" b="0" kern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lang="en-US" altLang="zh-CN" sz="2000" b="0" kern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lang="en-US" altLang="zh-CN" sz="2400" b="0" kern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3) while (1) {</a:t>
            </a:r>
          </a:p>
          <a:p>
            <a:pPr marL="914400" lvl="2" algn="l" eaLnBrk="1" hangingPunct="1">
              <a:lnSpc>
                <a:spcPct val="100000"/>
              </a:lnSpc>
              <a:spcBef>
                <a:spcPts val="300"/>
              </a:spcBef>
              <a:buSzTx/>
              <a:buFontTx/>
              <a:buNone/>
            </a:pPr>
            <a:r>
              <a:rPr lang="en-US" altLang="zh-CN" sz="1800" b="0" kern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 </a:t>
            </a: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Use msgrsv() to receive message</a:t>
            </a:r>
            <a:r>
              <a:rPr lang="en-US" altLang="zh-CN" sz="1800" b="0" kern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;</a:t>
            </a:r>
          </a:p>
          <a:p>
            <a:pPr marL="914400" lvl="2" algn="l" eaLnBrk="1" hangingPunct="1">
              <a:lnSpc>
                <a:spcPct val="100000"/>
              </a:lnSpc>
              <a:spcBef>
                <a:spcPts val="300"/>
              </a:spcBef>
              <a:buSzTx/>
              <a:buFontTx/>
              <a:buNone/>
            </a:pPr>
            <a:r>
              <a:rPr lang="en-US" altLang="zh-CN" sz="1800" b="0" kern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 </a:t>
            </a: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Display Message；</a:t>
            </a:r>
            <a:endParaRPr lang="en-US" altLang="zh-CN" sz="1800" b="0" kern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914400" lvl="2" algn="l" eaLnBrk="1" hangingPunct="1">
              <a:lnSpc>
                <a:spcPct val="100000"/>
              </a:lnSpc>
              <a:spcBef>
                <a:spcPts val="300"/>
              </a:spcBef>
              <a:buSzTx/>
              <a:buFontTx/>
              <a:buNone/>
            </a:pPr>
            <a:r>
              <a:rPr lang="en-US" altLang="zh-CN" sz="1800" b="0" kern="0" dirty="0"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 </a:t>
            </a:r>
            <a:r>
              <a:rPr lang="en-US" altLang="zh-CN" sz="1800" b="0" dirty="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Message “end” to end;</a:t>
            </a:r>
            <a:endParaRPr lang="en-US" altLang="zh-CN" sz="1800" b="0" kern="0" dirty="0"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457200" lvl="1" algn="l" eaLnBrk="1" hangingPunct="1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400" b="0" kern="0" dirty="0">
                <a:solidFill>
                  <a:srgbClr val="FF000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   }</a:t>
            </a:r>
          </a:p>
        </p:txBody>
      </p:sp>
      <p:sp>
        <p:nvSpPr>
          <p:cNvPr id="350214" name="Rectangle 6"/>
          <p:cNvSpPr>
            <a:spLocks noChangeArrowheads="1"/>
          </p:cNvSpPr>
          <p:nvPr/>
        </p:nvSpPr>
        <p:spPr bwMode="auto">
          <a:xfrm>
            <a:off x="75883" y="1143000"/>
            <a:ext cx="8212138" cy="52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R="0" lvl="0" algn="l" defTabSz="914400" rtl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Ideas of 2 programs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sndfile.c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and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rcvfile.c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  <a:t>5</a:t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9240" y="6172200"/>
            <a:ext cx="7950835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b="0">
                <a:solidFill>
                  <a:srgbClr val="C00000"/>
                </a:solidFill>
                <a:latin typeface="Consolas" panose="020B0609020204030204" charset="0"/>
                <a:cs typeface="Consolas" panose="020B0609020204030204" charset="0"/>
              </a:rPr>
              <a:t>BUFSIZ</a:t>
            </a:r>
            <a:r>
              <a:rPr lang="en-US" altLang="zh-CN" sz="2800" b="0">
                <a:latin typeface="Consolas" panose="020B0609020204030204" charset="0"/>
                <a:cs typeface="Consolas" panose="020B0609020204030204" charset="0"/>
              </a:rPr>
              <a:t>?  </a:t>
            </a:r>
            <a:r>
              <a:rPr lang="en-US" altLang="zh-CN" sz="2800" b="0">
                <a:solidFill>
                  <a:srgbClr val="00B050"/>
                </a:solidFill>
                <a:latin typeface="Calibri" panose="020F0502020204030204" charset="0"/>
                <a:cs typeface="Calibri" panose="020F0502020204030204" charset="0"/>
              </a:rPr>
              <a:t>512 or 1024 ...</a:t>
            </a:r>
            <a:r>
              <a:rPr lang="en-US" altLang="zh-CN" sz="2800" b="0">
                <a:latin typeface="Calibri" panose="020F0502020204030204" charset="0"/>
                <a:cs typeface="Calibri" panose="020F0502020204030204" charset="0"/>
              </a:rPr>
              <a:t>   in </a:t>
            </a:r>
            <a:r>
              <a:rPr lang="en-US" altLang="zh-CN" sz="2800" b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stdio.h --</a:t>
            </a:r>
            <a:r>
              <a:rPr lang="en-US" altLang="zh-CN" sz="2800" b="0">
                <a:latin typeface="Calibri" panose="020F0502020204030204" charset="0"/>
                <a:cs typeface="Calibri" panose="020F0502020204030204" charset="0"/>
              </a:rPr>
              <a:t> Have a try!</a:t>
            </a:r>
          </a:p>
        </p:txBody>
      </p:sp>
      <p:graphicFrame>
        <p:nvGraphicFramePr>
          <p:cNvPr id="4" name="对象 3"/>
          <p:cNvGraphicFramePr/>
          <p:nvPr>
            <p:custDataLst>
              <p:tags r:id="rId1"/>
            </p:custDataLst>
          </p:nvPr>
        </p:nvGraphicFramePr>
        <p:xfrm>
          <a:off x="6400800" y="1600200"/>
          <a:ext cx="133350" cy="219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3350" imgH="219075" progId="Paint.Picture">
                  <p:embed/>
                </p:oleObj>
              </mc:Choice>
              <mc:Fallback>
                <p:oleObj r:id="rId3" imgW="133350" imgH="219075" progId="Paint.Picture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0800" y="1600200"/>
                        <a:ext cx="133350" cy="219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" y="297815"/>
            <a:ext cx="4429125" cy="53625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785" y="297815"/>
            <a:ext cx="4641215" cy="5019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457200" y="233680"/>
            <a:ext cx="8421370" cy="57594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2800" b="0" dirty="0">
                <a:latin typeface="Calibri" panose="020F0502020204030204" charset="0"/>
                <a:cs typeface="Calibri" panose="020F0502020204030204" charset="0"/>
                <a:sym typeface="+mn-ea"/>
              </a:rPr>
              <a:t>Open 2 Terminals to run </a:t>
            </a:r>
            <a:r>
              <a:rPr lang="en-US" altLang="zh-CN" sz="2800" b="0" dirty="0">
                <a:latin typeface="Consolas" panose="020B0609020204030204" charset="0"/>
                <a:cs typeface="Consolas" panose="020B0609020204030204" charset="0"/>
                <a:sym typeface="+mn-ea"/>
              </a:rPr>
              <a:t>./sndfile</a:t>
            </a:r>
            <a:r>
              <a:rPr lang="en-US" altLang="zh-CN" sz="2800" b="0" dirty="0">
                <a:latin typeface="Calibri" panose="020F0502020204030204" charset="0"/>
                <a:cs typeface="Calibri" panose="020F0502020204030204" charset="0"/>
                <a:sym typeface="+mn-ea"/>
              </a:rPr>
              <a:t> and </a:t>
            </a:r>
            <a:r>
              <a:rPr lang="en-US" altLang="zh-CN" sz="2800" b="0" dirty="0">
                <a:latin typeface="Consolas" panose="020B0609020204030204" charset="0"/>
                <a:cs typeface="Consolas" panose="020B0609020204030204" charset="0"/>
                <a:sym typeface="+mn-ea"/>
              </a:rPr>
              <a:t>./rsvfile</a:t>
            </a:r>
            <a:endParaRPr lang="en-US" altLang="zh-CN" sz="2800" b="0" dirty="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  <a:t>6</a:t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09550" y="1689100"/>
          <a:ext cx="8858250" cy="3461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477375" imgH="3476625" progId="Paint.Picture">
                  <p:embed/>
                </p:oleObj>
              </mc:Choice>
              <mc:Fallback>
                <p:oleObj r:id="rId2" imgW="9477375" imgH="3476625" progId="Paint.Picture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9550" y="1689100"/>
                        <a:ext cx="8858250" cy="3461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43000"/>
            <a:ext cx="889889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Modify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sndfile.c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&amp;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rcvfile.c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to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sender.c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&amp;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receiver.c</a:t>
            </a:r>
            <a:endParaRPr kumimoji="0" lang="zh-CN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</a:rPr>
              <a:t>sender.c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Repeat to read a record from stdin with following info: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   name, gender, age, mobile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Send the record to the message buffer msgid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  <a:sym typeface="+mn-ea"/>
              </a:rPr>
              <a:t> Continue to read next record from stdin until to read a name </a:t>
            </a:r>
            <a:r>
              <a:rPr kumimoji="0" lang="en-US" sz="240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  <a:sym typeface="+mn-ea"/>
              </a:rPr>
              <a:t>“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end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”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，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then exit.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There should have some tips displayed for inputs.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</a:t>
            </a:r>
          </a:p>
          <a:p>
            <a:pPr marR="0" lvl="1" algn="l" defTabSz="914400" rtl="0" eaLnBrk="1" fontAlgn="base" latinLnBrk="0" hangingPunct="1"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charset="0"/>
                <a:ea typeface="+mn-ea"/>
                <a:cs typeface="Consolas" panose="020B0609020204030204" charset="0"/>
                <a:sym typeface="+mn-ea"/>
              </a:rPr>
              <a:t>receiver.c</a:t>
            </a:r>
            <a:endParaRPr kumimoji="0" lang="en-US" altLang="zh-CN" sz="2400" b="0" i="0" u="none" strike="noStrike" kern="0" cap="none" spc="0" normalizeH="0" baseline="0" noProof="0" dirty="0" err="1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nsolas" panose="020B0609020204030204" charset="0"/>
              <a:ea typeface="+mn-ea"/>
              <a:cs typeface="Consolas" panose="020B060902020403020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Repeat to receive person info from the message queue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Display each person info in a line, better with a header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When receive a person info named </a:t>
            </a:r>
            <a:r>
              <a:rPr kumimoji="0" lang="en-US" sz="240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  <a:sym typeface="+mn-ea"/>
              </a:rPr>
              <a:t>“</a:t>
            </a:r>
            <a:r>
              <a:rPr kumimoji="0" lang="en-US" altLang="zh-CN" sz="2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end</a:t>
            </a:r>
            <a:r>
              <a:rPr kumimoji="0" lang="en-US" altLang="zh-CN" sz="2400" noProof="0" dirty="0">
                <a:ln>
                  <a:noFill/>
                </a:ln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”</a:t>
            </a:r>
            <a:r>
              <a:rPr kumimoji="0" lang="zh-CN" altLang="zh-CN" sz="2400" noProof="0" dirty="0">
                <a:ln>
                  <a:noFill/>
                </a:ln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，</a:t>
            </a:r>
            <a:r>
              <a:rPr kumimoji="0" lang="en-US" altLang="zh-CN" sz="2400" noProof="0" dirty="0">
                <a:ln>
                  <a:noFill/>
                </a:ln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  <a:sym typeface="+mn-ea"/>
              </a:rPr>
              <a:t>then exit.</a:t>
            </a:r>
            <a:r>
              <a:rPr kumimoji="0" lang="zh-CN" altLang="zh-CN" sz="2400" noProof="0" dirty="0">
                <a:ln>
                  <a:noFill/>
                </a:ln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  <a:sym typeface="+mn-ea"/>
              </a:rPr>
              <a:t> 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  <a:t>7</a:t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5123" name="Rectangle 2"/>
          <p:cNvSpPr>
            <a:spLocks noGrp="1"/>
          </p:cNvSpPr>
          <p:nvPr/>
        </p:nvSpPr>
        <p:spPr>
          <a:xfrm>
            <a:off x="-122555" y="176530"/>
            <a:ext cx="9104630" cy="5759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sym typeface="+mn-ea"/>
              </a:rPr>
              <a:t>Task 2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b="0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Programming with Message Queues, IPC</a:t>
            </a:r>
            <a:endParaRPr lang="zh-CN" altLang="en-US" b="0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43000"/>
            <a:ext cx="8898890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u"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 Tips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：</a:t>
            </a:r>
            <a:endParaRPr kumimoji="0" lang="zh-CN" altLang="zh-CN" sz="105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 pitchFamily="49" charset="-122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  <a:t>8</a:t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9221" name="TextBox 4"/>
          <p:cNvSpPr txBox="1"/>
          <p:nvPr/>
        </p:nvSpPr>
        <p:spPr>
          <a:xfrm>
            <a:off x="558800" y="2192655"/>
            <a:ext cx="3088640" cy="1076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defRPr sz="3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+mn-lt"/>
                <a:ea typeface="方正姚体" panose="02010601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rgbClr val="FF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struct my_msg {</a:t>
            </a:r>
            <a:endParaRPr lang="zh-CN" altLang="zh-CN" sz="1100" b="0" dirty="0">
              <a:solidFill>
                <a:srgbClr val="FF0000"/>
              </a:solidFill>
              <a:latin typeface="Consolas" panose="020B0609020204030204" charset="0"/>
              <a:ea typeface="隶书" panose="02010509060101010101" pitchFamily="49" charset="-122"/>
              <a:cs typeface="Consolas" panose="020B06090202040302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</a:t>
            </a:r>
            <a:r>
              <a:rPr lang="en-US" altLang="zh-CN" sz="1600" b="0" dirty="0">
                <a:solidFill>
                  <a:srgbClr val="FF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long int my_msg_type;</a:t>
            </a:r>
            <a:endParaRPr lang="zh-CN" altLang="zh-CN" sz="1100" b="0" dirty="0">
              <a:solidFill>
                <a:srgbClr val="FF0000"/>
              </a:solidFill>
              <a:latin typeface="Consolas" panose="020B0609020204030204" charset="0"/>
              <a:ea typeface="隶书" panose="02010509060101010101" pitchFamily="49" charset="-122"/>
              <a:cs typeface="Consolas" panose="020B06090202040302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rgbClr val="000066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char some_text[MAXMSG];</a:t>
            </a:r>
            <a:endParaRPr lang="zh-CN" altLang="zh-CN" sz="1100" b="0" dirty="0">
              <a:solidFill>
                <a:srgbClr val="000066"/>
              </a:solidFill>
              <a:latin typeface="Consolas" panose="020B0609020204030204" charset="0"/>
              <a:ea typeface="隶书" panose="02010509060101010101" pitchFamily="49" charset="-122"/>
              <a:cs typeface="Consolas" panose="020B06090202040302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rgbClr val="FF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} msg;</a:t>
            </a:r>
            <a:endParaRPr lang="zh-CN" altLang="zh-CN" sz="1100" b="0" dirty="0">
              <a:solidFill>
                <a:srgbClr val="FF0000"/>
              </a:solidFill>
              <a:latin typeface="Consolas" panose="020B0609020204030204" charset="0"/>
              <a:ea typeface="隶书" panose="02010509060101010101" pitchFamily="49" charset="-122"/>
              <a:cs typeface="Consolas" panose="020B0609020204030204" charset="0"/>
            </a:endParaRPr>
          </a:p>
        </p:txBody>
      </p:sp>
      <p:sp>
        <p:nvSpPr>
          <p:cNvPr id="9222" name="TextBox 5"/>
          <p:cNvSpPr txBox="1"/>
          <p:nvPr/>
        </p:nvSpPr>
        <p:spPr>
          <a:xfrm>
            <a:off x="5537835" y="2192655"/>
            <a:ext cx="319087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defRPr sz="3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+mn-lt"/>
                <a:ea typeface="方正姚体" panose="02010601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rgbClr val="FF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struct my_msg {</a:t>
            </a:r>
            <a:endParaRPr lang="zh-CN" altLang="zh-CN" sz="1100" b="0" dirty="0">
              <a:solidFill>
                <a:srgbClr val="FF0000"/>
              </a:solidFill>
              <a:latin typeface="Consolas" panose="020B0609020204030204" charset="0"/>
              <a:ea typeface="隶书" panose="02010509060101010101" pitchFamily="49" charset="-122"/>
              <a:cs typeface="Consolas" panose="020B06090202040302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</a:t>
            </a:r>
            <a:r>
              <a:rPr lang="en-US" altLang="zh-CN" sz="1600" b="0" dirty="0">
                <a:solidFill>
                  <a:srgbClr val="FF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long int my_msg_type;</a:t>
            </a:r>
            <a:endParaRPr lang="zh-CN" altLang="zh-CN" sz="1100" b="0" dirty="0">
              <a:solidFill>
                <a:srgbClr val="FF0000"/>
              </a:solidFill>
              <a:latin typeface="Consolas" panose="020B0609020204030204" charset="0"/>
              <a:ea typeface="隶书" panose="02010509060101010101" pitchFamily="49" charset="-122"/>
              <a:cs typeface="Consolas" panose="020B06090202040302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struct stdmsg {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   char name[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**</a:t>
            </a: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];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   char gender[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*</a:t>
            </a: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];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   char age[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*</a:t>
            </a: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];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   char mobil[</a:t>
            </a:r>
            <a:r>
              <a:rPr lang="en-US" altLang="zh-CN" sz="1600" b="0" dirty="0">
                <a:solidFill>
                  <a:srgbClr val="C0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**</a:t>
            </a: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];</a:t>
            </a: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   } </a:t>
            </a:r>
            <a:r>
              <a:rPr lang="en-US" altLang="zh-CN" sz="1600" b="0" dirty="0">
                <a:solidFill>
                  <a:srgbClr val="FF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std</a:t>
            </a:r>
            <a:r>
              <a:rPr lang="en-US" altLang="zh-CN" sz="1600" b="0" dirty="0"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;</a:t>
            </a:r>
            <a:endParaRPr lang="zh-CN" altLang="zh-CN" sz="1100" b="0" dirty="0">
              <a:latin typeface="Consolas" panose="020B0609020204030204" charset="0"/>
              <a:ea typeface="隶书" panose="02010509060101010101" pitchFamily="49" charset="-122"/>
              <a:cs typeface="Consolas" panose="020B060902020403020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solidFill>
                  <a:srgbClr val="FF0000"/>
                </a:solidFill>
                <a:latin typeface="Consolas" panose="020B0609020204030204" charset="0"/>
                <a:ea typeface="隶书" panose="02010509060101010101" pitchFamily="49" charset="-122"/>
                <a:cs typeface="Consolas" panose="020B0609020204030204" charset="0"/>
              </a:rPr>
              <a:t>} msg;</a:t>
            </a:r>
            <a:endParaRPr lang="zh-CN" altLang="zh-CN" sz="1100" b="0" dirty="0">
              <a:solidFill>
                <a:srgbClr val="FF0000"/>
              </a:solidFill>
              <a:latin typeface="Consolas" panose="020B0609020204030204" charset="0"/>
              <a:ea typeface="隶书" panose="02010509060101010101" pitchFamily="49" charset="-122"/>
              <a:cs typeface="Consolas" panose="020B0609020204030204" charset="0"/>
            </a:endParaRPr>
          </a:p>
        </p:txBody>
      </p:sp>
      <p:sp>
        <p:nvSpPr>
          <p:cNvPr id="9223" name="右箭头 6"/>
          <p:cNvSpPr/>
          <p:nvPr/>
        </p:nvSpPr>
        <p:spPr>
          <a:xfrm>
            <a:off x="4323715" y="2964180"/>
            <a:ext cx="537210" cy="304800"/>
          </a:xfrm>
          <a:prstGeom prst="rightArrow">
            <a:avLst>
              <a:gd name="adj1" fmla="val 50000"/>
              <a:gd name="adj2" fmla="val 49973"/>
            </a:avLst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defRPr sz="3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+mn-lt"/>
                <a:ea typeface="方正姚体" panose="02010601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solidFill>
                <a:srgbClr val="000066"/>
              </a:solidFill>
              <a:ea typeface="隶书" panose="02010509060101010101" pitchFamily="49" charset="-122"/>
            </a:endParaRPr>
          </a:p>
        </p:txBody>
      </p:sp>
      <p:sp>
        <p:nvSpPr>
          <p:cNvPr id="5123" name="Rectangle 2"/>
          <p:cNvSpPr>
            <a:spLocks noGrp="1"/>
          </p:cNvSpPr>
          <p:nvPr/>
        </p:nvSpPr>
        <p:spPr>
          <a:xfrm>
            <a:off x="-122555" y="176530"/>
            <a:ext cx="9104630" cy="5759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dirty="0">
                <a:sym typeface="+mn-ea"/>
              </a:rPr>
              <a:t>Task 2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b="0" dirty="0"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Programming with Message Queues, IPC</a:t>
            </a:r>
            <a:endParaRPr lang="zh-CN" altLang="en-US" b="0" dirty="0"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/>
          <p:nvPr/>
        </p:nvGraphicFramePr>
        <p:xfrm>
          <a:off x="196215" y="1322070"/>
          <a:ext cx="8750935" cy="421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743950" imgH="4210050" progId="Paint.Picture">
                  <p:embed/>
                </p:oleObj>
              </mc:Choice>
              <mc:Fallback>
                <p:oleObj r:id="rId2" imgW="8743950" imgH="4210050" progId="Paint.Picture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6215" y="1322070"/>
                        <a:ext cx="8750935" cy="421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/>
        </p:nvGraphicFramePr>
        <p:xfrm>
          <a:off x="232410" y="640715"/>
          <a:ext cx="3698875" cy="1753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95700" imgH="1752600" progId="Paint.Picture">
                  <p:embed/>
                </p:oleObj>
              </mc:Choice>
              <mc:Fallback>
                <p:oleObj r:id="rId2" imgW="3695700" imgH="1752600" progId="Paint.Picture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2410" y="640715"/>
                        <a:ext cx="3698875" cy="1753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232410" y="5461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  <a:sym typeface="+mn-ea"/>
              </a:rPr>
              <a:t>Part of sender.c :</a:t>
            </a:r>
          </a:p>
        </p:txBody>
      </p:sp>
      <p:graphicFrame>
        <p:nvGraphicFramePr>
          <p:cNvPr id="11" name="对象 10"/>
          <p:cNvGraphicFramePr/>
          <p:nvPr/>
        </p:nvGraphicFramePr>
        <p:xfrm>
          <a:off x="4096385" y="135255"/>
          <a:ext cx="5023485" cy="2259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019675" imgH="2257425" progId="Paint.Picture">
                  <p:embed/>
                </p:oleObj>
              </mc:Choice>
              <mc:Fallback>
                <p:oleObj r:id="rId4" imgW="5019675" imgH="2257425" progId="Paint.Picture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96385" y="135255"/>
                        <a:ext cx="5023485" cy="2259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4096385" y="2523490"/>
          <a:ext cx="4890135" cy="422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886325" imgH="4219575" progId="Paint.Picture">
                  <p:embed/>
                </p:oleObj>
              </mc:Choice>
              <mc:Fallback>
                <p:oleObj r:id="rId6" imgW="4886325" imgH="4219575" progId="Paint.Picture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96385" y="2523490"/>
                        <a:ext cx="4890135" cy="422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/>
          <p:nvPr/>
        </p:nvGraphicFramePr>
        <p:xfrm>
          <a:off x="492125" y="359410"/>
          <a:ext cx="8159750" cy="6139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153400" imgH="6134100" progId="Paint.Picture">
                  <p:embed/>
                </p:oleObj>
              </mc:Choice>
              <mc:Fallback>
                <p:oleObj r:id="rId2" imgW="8153400" imgH="6134100" progId="Paint.Picture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2125" y="359410"/>
                        <a:ext cx="8159750" cy="6139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椭圆 9"/>
          <p:cNvSpPr/>
          <p:nvPr/>
        </p:nvSpPr>
        <p:spPr>
          <a:xfrm>
            <a:off x="990600" y="2035175"/>
            <a:ext cx="4172585" cy="394335"/>
          </a:xfrm>
          <a:prstGeom prst="ellipse">
            <a:avLst/>
          </a:prstGeom>
          <a:noFill/>
          <a:ln w="12700" cap="flat" cmpd="sng" algn="ctr">
            <a:solidFill>
              <a:srgbClr val="FF6D6D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1" i="0" u="none" strike="noStrike" cap="none" normalizeH="0" baseline="0">
              <a:ln>
                <a:noFill/>
              </a:ln>
              <a:solidFill>
                <a:srgbClr val="000066"/>
              </a:solidFill>
              <a:effectLst/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7848600" y="6324600"/>
            <a:ext cx="1219200" cy="476250"/>
          </a:xfrm>
        </p:spPr>
        <p:txBody>
          <a:bodyPr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P</a:t>
            </a:r>
            <a:fld id="{9A0DB2DC-4C9A-4742-B13C-FB6460FD3503}" type="slidenum">
              <a:rPr lang="en-US" altLang="zh-CN" sz="1800" dirty="0">
                <a:ea typeface="宋体" panose="02010600030101010101" pitchFamily="2" charset="-122"/>
              </a:rPr>
              <a:t>12</a:t>
            </a:fld>
            <a:endParaRPr lang="en-US" altLang="zh-CN" sz="18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2110" y="1090930"/>
            <a:ext cx="8171815" cy="39947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2000" b="0">
                <a:solidFill>
                  <a:srgbClr val="00B0F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rPr>
              <a:t>What should you do in Lab 3:</a:t>
            </a:r>
          </a:p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             0) </a:t>
            </a:r>
            <a:r>
              <a:rPr lang="en-US" altLang="zh-CN" sz="2000" b="0">
                <a:solidFill>
                  <a:srgbClr val="0070C0"/>
                </a:solidFill>
                <a:latin typeface="Times New Roman" panose="02020603050405020304"/>
                <a:ea typeface="等线" panose="02010600030101010101" charset="-122"/>
              </a:rPr>
              <a:t>Test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sndfile.c</a:t>
            </a:r>
            <a:r>
              <a:rPr lang="en-US" altLang="zh-CN" sz="2000" b="0">
                <a:solidFill>
                  <a:srgbClr val="0070C0"/>
                </a:solidFill>
                <a:latin typeface="Times New Roman" panose="02020603050405020304"/>
                <a:ea typeface="等线" panose="02010600030101010101" charset="-122"/>
              </a:rPr>
              <a:t> and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rcvfile.c</a:t>
            </a:r>
            <a:r>
              <a:rPr lang="en-US" altLang="zh-CN" sz="2000" b="0">
                <a:solidFill>
                  <a:srgbClr val="0070C0"/>
                </a:solidFill>
                <a:latin typeface="Times New Roman" panose="02020603050405020304"/>
                <a:ea typeface="等线" panose="02010600030101010101" charset="-122"/>
              </a:rPr>
              <a:t> provided by the instructor.</a:t>
            </a: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Please submit a zip file which includes the C code for task 2 with file names: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sender.c, receiver.c</a:t>
            </a: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A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short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 report to show: your idea, your code structure, and execution results.</a:t>
            </a: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Your zip file should be named as: “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学号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+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姓名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+ OS26S-Lab3.zip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”</a:t>
            </a:r>
            <a:r>
              <a:rPr lang="zh-CN" altLang="en-US" sz="1700" b="0">
                <a:latin typeface="Times New Roman" panose="02020603050405020304"/>
                <a:ea typeface="等线" panose="02010600030101010101" charset="-122"/>
              </a:rPr>
              <a:t>，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e.g.: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1234567-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何明昕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-OS26S-Lab3.zip</a:t>
            </a:r>
          </a:p>
          <a:p>
            <a:pPr marL="914400" indent="-228600" algn="just" defTabSz="266700">
              <a:lnSpc>
                <a:spcPct val="107000"/>
              </a:lnSpc>
              <a:spcAft>
                <a:spcPts val="800"/>
              </a:spcAft>
              <a:buClr>
                <a:srgbClr val="0070C0"/>
              </a:buClr>
              <a:buFont typeface="Consolas" panose="020B0609020204030204"/>
              <a:buAutoNum type="arabicParenR"/>
            </a:pP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Please submit your zip file by sending email to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Mr. He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 as attachment 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with an email subject like 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“OS26S-Lab3 from 1234567-</a:t>
            </a:r>
            <a:r>
              <a:rPr lang="zh-CN" altLang="en-US" sz="1700" b="0">
                <a:solidFill>
                  <a:srgbClr val="0070C0"/>
                </a:solidFill>
                <a:latin typeface="等线" panose="02010600030101010101" charset="-122"/>
                <a:ea typeface="等线" panose="02010600030101010101" charset="-122"/>
              </a:rPr>
              <a:t>何明昕</a:t>
            </a:r>
            <a:r>
              <a:rPr lang="zh-CN" altLang="en-US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”</a:t>
            </a:r>
            <a:r>
              <a:rPr lang="en-US" altLang="zh-CN" sz="1700" b="0">
                <a:solidFill>
                  <a:srgbClr val="0070C0"/>
                </a:solidFill>
                <a:latin typeface="Consolas" panose="020B0609020204030204"/>
                <a:ea typeface="等线" panose="02010600030101010101" charset="-122"/>
              </a:rPr>
              <a:t> </a:t>
            </a:r>
            <a:r>
              <a:rPr lang="en-US" altLang="zh-CN" sz="1700" b="0">
                <a:solidFill>
                  <a:srgbClr val="C00000"/>
                </a:solidFill>
                <a:latin typeface="Calibri" panose="020F0502020204030204"/>
                <a:ea typeface="等线" panose="02010600030101010101" charset="-122"/>
              </a:rPr>
              <a:t>before (including) </a:t>
            </a:r>
            <a:r>
              <a:rPr lang="en-US" altLang="zh-CN" sz="1700" b="0">
                <a:solidFill>
                  <a:srgbClr val="C00000"/>
                </a:solidFill>
                <a:latin typeface="Calibri" panose="020F0502020204030204"/>
                <a:ea typeface="Calibri" panose="020F0502020204030204"/>
              </a:rPr>
              <a:t>April 20. 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M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y email address </a:t>
            </a:r>
            <a:r>
              <a:rPr lang="en-US" altLang="zh-CN" sz="1700" b="0">
                <a:latin typeface="Times New Roman" panose="02020603050405020304"/>
                <a:ea typeface="Times New Roman" panose="02020603050405020304"/>
              </a:rPr>
              <a:t>for the OS &amp; SE courses is</a:t>
            </a:r>
            <a:r>
              <a:rPr lang="en-US" altLang="zh-CN" sz="1700" b="0">
                <a:latin typeface="Times New Roman" panose="02020603050405020304"/>
                <a:ea typeface="等线" panose="02010600030101010101" charset="-122"/>
              </a:rPr>
              <a:t>: 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Consolas" panose="020B0609020204030204"/>
                <a:hlinkClick r:id="rId2" action="ppaction://hlinkfile"/>
              </a:rPr>
              <a:t>c.max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等线" panose="02010600030101010101" charset="-122"/>
                <a:hlinkClick r:id="rId2" action="ppaction://hlinkfile"/>
              </a:rPr>
              <a:t>@</a:t>
            </a:r>
            <a:r>
              <a:rPr lang="en-US" altLang="zh-CN" sz="1700" b="0" u="sng">
                <a:solidFill>
                  <a:srgbClr val="0000FF"/>
                </a:solidFill>
                <a:latin typeface="Consolas" panose="020B0609020204030204"/>
                <a:ea typeface="Consolas" panose="020B0609020204030204"/>
                <a:hlinkClick r:id="rId2" action="ppaction://hlinkfile"/>
              </a:rPr>
              <a:t>yeah.net</a:t>
            </a:r>
            <a:r>
              <a:rPr lang="en-US" altLang="zh-CN" sz="1700" b="0">
                <a:latin typeface="Consolas" panose="020B0609020204030204"/>
                <a:ea typeface="等线" panose="02010600030101010101" charset="-122"/>
              </a:rPr>
              <a:t> </a:t>
            </a:r>
          </a:p>
          <a:p>
            <a:pPr algn="just" defTabSz="266700">
              <a:lnSpc>
                <a:spcPct val="107000"/>
              </a:lnSpc>
              <a:spcAft>
                <a:spcPts val="800"/>
              </a:spcAft>
            </a:pPr>
            <a:r>
              <a:rPr lang="en-US" altLang="zh-CN" sz="1600">
                <a:latin typeface="Times New Roman" panose="02020603050405020304"/>
                <a:ea typeface="等线" panose="02010600030101010101" charset="-122"/>
              </a:rPr>
              <a:t> 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23</TotalTime>
  <Words>874</Words>
  <Application>Microsoft Office PowerPoint</Application>
  <PresentationFormat>全屏显示(4:3)</PresentationFormat>
  <Paragraphs>94</Paragraphs>
  <Slides>12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等线</vt:lpstr>
      <vt:lpstr>隶书</vt:lpstr>
      <vt:lpstr>宋体</vt:lpstr>
      <vt:lpstr>Arial</vt:lpstr>
      <vt:lpstr>Calibri</vt:lpstr>
      <vt:lpstr>Comic Sans MS</vt:lpstr>
      <vt:lpstr>Consolas</vt:lpstr>
      <vt:lpstr>Helvetica</vt:lpstr>
      <vt:lpstr>Times New Roman</vt:lpstr>
      <vt:lpstr>Verdana</vt:lpstr>
      <vt:lpstr>Webdings</vt:lpstr>
      <vt:lpstr>Wingdings</vt:lpstr>
      <vt:lpstr>os-8</vt:lpstr>
      <vt:lpstr>Paintbrush Picture</vt:lpstr>
      <vt:lpstr>PowerPoint 演示文稿</vt:lpstr>
      <vt:lpstr>Contents (Ch14.3 Message Queues, BLP-4e book)</vt:lpstr>
      <vt:lpstr>Task 1：IPC with Message Queues </vt:lpstr>
      <vt:lpstr>Task 1：IPC with Message Queues (cont.)</vt:lpstr>
      <vt:lpstr>PowerPoint 演示文稿</vt:lpstr>
      <vt:lpstr>Open 2 Terminals to run ./sndfile and ./rsvfile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by 的</cp:lastModifiedBy>
  <cp:revision>280</cp:revision>
  <cp:lastPrinted>2013-09-10T17:57:00Z</cp:lastPrinted>
  <dcterms:created xsi:type="dcterms:W3CDTF">2011-01-13T23:43:00Z</dcterms:created>
  <dcterms:modified xsi:type="dcterms:W3CDTF">2026-04-15T01:17:09Z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B8308F91BE414E5A8963C13657D020E5_13</vt:lpwstr>
  </property>
  <property fmtid="{D5CDD505-2E9C-101B-9397-08002B2CF9AE}" pid="3" name="KSOProductBuildVer">
    <vt:lpwstr>2052-12.1.0.23542</vt:lpwstr>
  </property>
</Properties>
</file>