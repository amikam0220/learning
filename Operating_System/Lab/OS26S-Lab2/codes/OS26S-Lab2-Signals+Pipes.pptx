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428" r:id="rId3"/>
    <p:sldId id="431" r:id="rId5"/>
    <p:sldId id="432" r:id="rId6"/>
    <p:sldId id="433" r:id="rId7"/>
    <p:sldId id="435" r:id="rId8"/>
    <p:sldId id="434" r:id="rId9"/>
    <p:sldId id="436" r:id="rId10"/>
    <p:sldId id="437" r:id="rId11"/>
    <p:sldId id="445" r:id="rId12"/>
    <p:sldId id="439" r:id="rId13"/>
    <p:sldId id="446" r:id="rId14"/>
    <p:sldId id="447" r:id="rId15"/>
    <p:sldId id="448" r:id="rId16"/>
    <p:sldId id="442" r:id="rId17"/>
    <p:sldId id="441" r:id="rId18"/>
    <p:sldId id="443" r:id="rId19"/>
    <p:sldId id="450" r:id="rId20"/>
    <p:sldId id="444" r:id="rId2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1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 autoAdjust="0"/>
    <p:restoredTop sz="94635"/>
  </p:normalViewPr>
  <p:slideViewPr>
    <p:cSldViewPr snapToGrid="0" showGuides="1">
      <p:cViewPr varScale="1">
        <p:scale>
          <a:sx n="70" d="100"/>
          <a:sy n="70" d="100"/>
        </p:scale>
        <p:origin x="835" y="53"/>
      </p:cViewPr>
      <p:guideLst>
        <p:guide orient="horz" pos="751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147" y="6613525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5.</a:t>
            </a:r>
            <a:fld id="{4EB6AB46-21AB-49DC-9DBD-606B37BEB33B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5087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c.max@yeah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Lab 2: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Signals and Pipes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Contents</a:t>
            </a:r>
            <a:endParaRPr lang="en-US" altLang="zh-CN" dirty="0"/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635" y="1143000"/>
            <a:ext cx="8838565" cy="5385435"/>
          </a:xfrm>
        </p:spPr>
        <p:txBody>
          <a:bodyPr vert="horz" wrap="square" lIns="91440" tIns="45720" rIns="91440" bIns="45720" anchor="t" anchorCtr="0"/>
          <a:p>
            <a:pPr marL="342900" lvl="1" indent="-342900" algn="l" eaLnBrk="1" latinLnBrk="0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2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1. Operations on Signals (Task 1,2)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signal()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 void (*signal(int sig, void (*func)(int)))(int);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sigaction()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indent="0" eaLnBrk="1" latinLnBrk="0" hangingPunct="1">
              <a:spcBef>
                <a:spcPts val="300"/>
              </a:spcBef>
              <a:buNone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int sigaction(int sig, const struct_sigaction *act, struct_sigaction *oact);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sz="18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kill()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 int kill(pid_t pid, int sig);</a:t>
            </a: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eaLnBrk="1" latinLnBrk="0" hangingPunct="1">
              <a:spcBef>
                <a:spcPts val="300"/>
              </a:spcBef>
            </a:pPr>
            <a:r>
              <a:rPr lang="en-US" altLang="zh-CN" sz="2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2. Working with |  (Task 3)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algn="l" eaLnBrk="1" latinLnBrk="0" hangingPunct="1">
              <a:spcBef>
                <a:spcPts val="3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job1 | job2 | job3</a:t>
            </a:r>
            <a:endParaRPr lang="en-US" altLang="zh-CN" sz="180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1" algn="l" eaLnBrk="1" latinLnBrk="0" hangingPunct="1">
              <a:spcBef>
                <a:spcPts val="3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randoms 1000 | statistics</a:t>
            </a:r>
            <a:endParaRPr lang="en-US" altLang="zh-CN" sz="1800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eaLnBrk="1" latinLnBrk="0" hangingPunct="1">
              <a:spcBef>
                <a:spcPts val="300"/>
              </a:spcBef>
            </a:pPr>
            <a:r>
              <a:rPr lang="en-US" altLang="zh-CN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3. Working with pipes  (Task 4)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algn="l" eaLnBrk="1" latinLnBrk="0" hangingPunct="1">
              <a:spcBef>
                <a:spcPts val="300"/>
              </a:spcBef>
              <a:buNone/>
            </a:pP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#include &lt;unistd.h&gt;</a:t>
            </a:r>
            <a:endParaRPr lang="en-US" altLang="zh-CN" sz="180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2" algn="l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int </a:t>
            </a:r>
            <a:r>
              <a:rPr lang="en-US" altLang="zh-CN" sz="180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pipe</a:t>
            </a: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(int file_descriptor[2]);</a:t>
            </a:r>
            <a:endParaRPr lang="en-US" altLang="zh-CN" sz="180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2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Write to pipe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write(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file_descriptor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[1], buf, size)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Read from pipe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read(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file_descriptor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[0], buf, size)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hangingPunct="1"/>
            <a:endParaRPr lang="en-US" altLang="zh-CN" sz="20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Task1</a:t>
            </a:r>
            <a:r>
              <a:rPr lang="en-US" altLang="zh-CN" dirty="0"/>
              <a:t>: Test Signals</a:t>
            </a:r>
            <a:endParaRPr lang="zh-CN" altLang="en-US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79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test2_1.c</a:t>
            </a:r>
            <a:endParaRPr lang="en-US" altLang="zh-CN" sz="2000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It use a loop to display 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“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Hello!\n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”，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when enter a C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trl+C from keybord, it exits with some info displayed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。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Objective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Resetting the Handler of C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trl+C from OS.</a:t>
            </a:r>
            <a:endParaRPr lang="en-US" altLang="zh-CN" b="0" dirty="0">
              <a:solidFill>
                <a:srgbClr val="FF000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300"/>
              </a:spcBef>
            </a:pP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Trial: Remove signal() statement and the MyCtrlC function, recompile the program and see what will happen.</a:t>
            </a:r>
            <a:endParaRPr lang="en-US" altLang="zh-CN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554605" y="3738245"/>
          <a:ext cx="5506720" cy="2490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648200" imgH="2095500" progId="Paint.Picture">
                  <p:embed/>
                </p:oleObj>
              </mc:Choice>
              <mc:Fallback>
                <p:oleObj name="" r:id="rId1" imgW="4648200" imgH="2095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4605" y="3738245"/>
                        <a:ext cx="5506720" cy="2490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852805" y="240665"/>
          <a:ext cx="7087870" cy="627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4953000" imgH="4800600" progId="Paint.Picture">
                  <p:embed/>
                </p:oleObj>
              </mc:Choice>
              <mc:Fallback>
                <p:oleObj name="" r:id="rId1" imgW="4953000" imgH="480060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2805" y="240665"/>
                        <a:ext cx="7087870" cy="6271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4160" y="300990"/>
            <a:ext cx="693039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1</a:t>
            </a:r>
            <a:r>
              <a:rPr lang="zh-CN" altLang="en-US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test2_1a.c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 that exit after 3 Ctrl+C entered.</a:t>
            </a:r>
            <a:endParaRPr lang="en-US" altLang="zh-CN" sz="2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5" name="对象 4"/>
          <p:cNvGraphicFramePr/>
          <p:nvPr/>
        </p:nvGraphicFramePr>
        <p:xfrm>
          <a:off x="1892935" y="1948815"/>
          <a:ext cx="5795645" cy="351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4752975" imgH="2590800" progId="Paint.Picture">
                  <p:embed/>
                </p:oleObj>
              </mc:Choice>
              <mc:Fallback>
                <p:oleObj name="" r:id="rId1" imgW="4752975" imgH="25908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2935" y="1948815"/>
                        <a:ext cx="5795645" cy="3519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/>
        </p:nvGraphicFramePr>
        <p:xfrm>
          <a:off x="1508125" y="425450"/>
          <a:ext cx="5796280" cy="584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638675" imgH="4448175" progId="Paint.Picture">
                  <p:embed/>
                </p:oleObj>
              </mc:Choice>
              <mc:Fallback>
                <p:oleObj name="" r:id="rId1" imgW="4638675" imgH="44481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425450"/>
                        <a:ext cx="5796280" cy="5841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dirty="0">
                <a:sym typeface="+mn-ea"/>
              </a:rPr>
              <a:t>Task2</a:t>
            </a:r>
            <a:r>
              <a:rPr lang="en-US" altLang="zh-CN" dirty="0">
                <a:sym typeface="+mn-ea"/>
              </a:rPr>
              <a:t>: Test Signals (cont.)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7200" y="1233488"/>
            <a:ext cx="7727950" cy="4530725"/>
          </a:xfrm>
        </p:spPr>
        <p:txBody>
          <a:bodyPr vert="horz" wrap="square" lIns="91440" tIns="45720" rIns="91440" bIns="45720" anchor="t" anchorCtr="0"/>
          <a:p>
            <a:pPr latinLnBrk="0">
              <a:spcBef>
                <a:spcPts val="3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 test2_2.c</a:t>
            </a:r>
            <a:endParaRPr lang="en-US" altLang="zh-CN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atinLnBrk="0">
              <a:spcBef>
                <a:spcPts val="300"/>
              </a:spcBef>
            </a:pP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745490" y="1729105"/>
          <a:ext cx="803465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524625" imgH="514350" progId="Paint.Picture">
                  <p:embed/>
                </p:oleObj>
              </mc:Choice>
              <mc:Fallback>
                <p:oleObj name="" r:id="rId1" imgW="6524625" imgH="5143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5490" y="1729105"/>
                        <a:ext cx="8034655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1706880" y="2708275"/>
          <a:ext cx="5235575" cy="361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733925" imgH="3133725" progId="Paint.Picture">
                  <p:embed/>
                </p:oleObj>
              </mc:Choice>
              <mc:Fallback>
                <p:oleObj name="" r:id="rId3" imgW="4733925" imgH="31337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6880" y="2708275"/>
                        <a:ext cx="5235575" cy="361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1085850" y="-2540"/>
          <a:ext cx="7049135" cy="686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372225" imgH="6858000" progId="Paint.Picture">
                  <p:embed/>
                </p:oleObj>
              </mc:Choice>
              <mc:Fallback>
                <p:oleObj name="" r:id="rId1" imgW="6372225" imgH="68580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5850" y="-2540"/>
                        <a:ext cx="7049135" cy="6863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9105" y="300990"/>
            <a:ext cx="8582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2</a:t>
            </a:r>
            <a:r>
              <a:rPr lang="zh-CN" altLang="en-US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test2_2a.c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 </a:t>
            </a:r>
            <a:endParaRPr lang="en-US" altLang="zh-CN" sz="2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763520" y="3429000"/>
          <a:ext cx="4980305" cy="320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4610100" imgH="2781300" progId="Paint.Picture">
                  <p:embed/>
                </p:oleObj>
              </mc:Choice>
              <mc:Fallback>
                <p:oleObj name="" r:id="rId1" imgW="4610100" imgH="27813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3520" y="3429000"/>
                        <a:ext cx="4980305" cy="320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-1270" y="1122045"/>
            <a:ext cx="9042400" cy="2338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/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Modify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test2_2.c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 to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test2_2a.c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，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creates a child process p1 and display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“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How are you!\n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”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3 times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child process display “I’m a child!” in a conditonal loop; The Parent process send a signal 12 to p1 and try to pass a parameter number (such as 15) and a 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conditonal loop variable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; The child process sensored the loop exit condition, then calculate and display the square of the parameter, finally exit.</a:t>
            </a:r>
            <a:endParaRPr lang="zh-CN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350010" y="635"/>
          <a:ext cx="6443980" cy="685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438900" imgH="6867525" progId="Paint.Picture">
                  <p:embed/>
                </p:oleObj>
              </mc:Choice>
              <mc:Fallback>
                <p:oleObj name="" r:id="rId1" imgW="6438900" imgH="68675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0010" y="635"/>
                        <a:ext cx="6443980" cy="6856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994410"/>
            <a:ext cx="8610600" cy="5479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randoms.c</a:t>
            </a: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652145" y="1638935"/>
          <a:ext cx="5147945" cy="237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5143500" imgH="2371725" progId="Paint.Picture">
                  <p:embed/>
                </p:oleObj>
              </mc:Choice>
              <mc:Fallback>
                <p:oleObj name="" r:id="rId1" imgW="5143500" imgH="23717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2145" y="1638935"/>
                        <a:ext cx="5147945" cy="2373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465830" y="4271645"/>
          <a:ext cx="5041900" cy="192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514850" imgH="1552575" progId="Paint.Picture">
                  <p:embed/>
                </p:oleObj>
              </mc:Choice>
              <mc:Fallback>
                <p:oleObj name="" r:id="rId3" imgW="4514850" imgH="15525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30" y="4271645"/>
                        <a:ext cx="5041900" cy="1922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977265"/>
            <a:ext cx="8610600" cy="56451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statistics.c</a:t>
            </a: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532130" y="1567180"/>
          <a:ext cx="4985385" cy="304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981575" imgH="3038475" progId="Paint.Picture">
                  <p:embed/>
                </p:oleObj>
              </mc:Choice>
              <mc:Fallback>
                <p:oleObj name="" r:id="rId1" imgW="4981575" imgH="30384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2130" y="1567180"/>
                        <a:ext cx="4985385" cy="3041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144010" y="4684395"/>
          <a:ext cx="4823460" cy="2116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4819650" imgH="2114550" progId="Paint.Picture">
                  <p:embed/>
                </p:oleObj>
              </mc:Choice>
              <mc:Fallback>
                <p:oleObj name="" r:id="rId3" imgW="4819650" imgH="21145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4010" y="4684395"/>
                        <a:ext cx="4823460" cy="2116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83385" y="5263515"/>
            <a:ext cx="2171700" cy="1198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Ctrl+D</a:t>
            </a:r>
            <a:r>
              <a:rPr lang="en-US" altLang="zh-CN" sz="2400">
                <a:latin typeface="Consolas" panose="020B0609020204030204" charset="0"/>
                <a:cs typeface="Consolas" panose="020B0609020204030204" charset="0"/>
              </a:rPr>
              <a:t> to</a:t>
            </a:r>
            <a:endParaRPr lang="en-US" altLang="zh-CN" sz="2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240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End Of File</a:t>
            </a:r>
            <a:endParaRPr lang="en-US" altLang="zh-CN" sz="2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2400">
                <a:solidFill>
                  <a:srgbClr val="0070C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EOF</a:t>
            </a:r>
            <a:endParaRPr lang="en-US" altLang="zh-CN" sz="2400">
              <a:solidFill>
                <a:srgbClr val="0070C0"/>
              </a:solidFill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959485" y="1281430"/>
          <a:ext cx="7369175" cy="442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419725" imgH="2790825" progId="Paint.Picture">
                  <p:embed/>
                </p:oleObj>
              </mc:Choice>
              <mc:Fallback>
                <p:oleObj name="" r:id="rId1" imgW="5419725" imgH="27908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9485" y="1281430"/>
                        <a:ext cx="7369175" cy="4427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457200" y="233680"/>
            <a:ext cx="8229600" cy="1223645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Task 4: Test anonymous pipes</a:t>
            </a:r>
            <a:br>
              <a:rPr lang="en-US" altLang="zh-CN" dirty="0"/>
            </a:br>
            <a:r>
              <a:rPr lang="en-US" altLang="zh-CN" dirty="0"/>
              <a:t>with </a:t>
            </a:r>
            <a:r>
              <a:rPr lang="en-US" altLang="zh-CN" dirty="0">
                <a:latin typeface="Consolas" panose="020B0609020204030204" charset="0"/>
                <a:cs typeface="Consolas" panose="020B0609020204030204" charset="0"/>
              </a:rPr>
              <a:t>test_pipe1.c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63830" y="1457325"/>
            <a:ext cx="8675370" cy="5257800"/>
          </a:xfrm>
        </p:spPr>
        <p:txBody>
          <a:bodyPr vert="horz" wrap="square" lIns="91440" tIns="45720" rIns="91440" bIns="45720" anchor="t" anchorCtr="0"/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create a child process and an anonymous pipe fd; The child process write “Just a message :-)” to the pipe and exit</a:t>
            </a:r>
            <a: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received the exit signal of the child process by wait() and read the message from the pipe and display the message, finally exit</a:t>
            </a:r>
            <a: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。</a:t>
            </a:r>
            <a:b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</a:b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Pay attention to the creation of the pipe, reading &amp; writting with pipes.</a:t>
            </a:r>
            <a:endParaRPr lang="zh-CN" altLang="en-US" sz="20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632075" y="3971290"/>
          <a:ext cx="5898515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943475" imgH="1762125" progId="Paint.Picture">
                  <p:embed/>
                </p:oleObj>
              </mc:Choice>
              <mc:Fallback>
                <p:oleObj name="" r:id="rId1" imgW="4943475" imgH="17621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2075" y="3971290"/>
                        <a:ext cx="5898515" cy="247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509905" y="0"/>
          <a:ext cx="8063230" cy="664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7000875" imgH="5305425" progId="Paint.Picture">
                  <p:embed/>
                </p:oleObj>
              </mc:Choice>
              <mc:Fallback>
                <p:oleObj name="" r:id="rId1" imgW="7000875" imgH="53054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9905" y="0"/>
                        <a:ext cx="8063230" cy="6645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4455" y="196850"/>
            <a:ext cx="9059545" cy="702310"/>
          </a:xfrm>
        </p:spPr>
        <p:txBody>
          <a:bodyPr vert="horz" wrap="square" lIns="91440" tIns="45720" rIns="91440" bIns="45720" anchor="ctr" anchorCtr="0"/>
          <a:p>
            <a:r>
              <a:rPr lang="en-US" altLang="zh-CN" sz="2800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3</a:t>
            </a:r>
            <a:r>
              <a:rPr lang="zh-CN" altLang="en-US" sz="24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test_pipe2.c</a:t>
            </a:r>
            <a:endParaRPr lang="zh-CN" altLang="en-US" sz="24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280160"/>
            <a:ext cx="8966835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Parent process (p0) create 2 children processes p1, p2 and a pipe fd[2]</a:t>
            </a:r>
            <a:endParaRPr lang="en-US" altLang="zh-CN" sz="2000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p1 write a string “Message from process p1!” to the pipe</a:t>
            </a:r>
            <a:endParaRPr lang="en-US" altLang="zh-CN" sz="20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p2 read the message from the pipe and display it; and </a:t>
            </a: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p2 write a string “Message from process p2!” to the pipe</a:t>
            </a:r>
            <a:endParaRPr lang="en-US" altLang="zh-CN" sz="2000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p0 read the message from the pipe and display it</a:t>
            </a:r>
            <a:endParaRPr lang="zh-CN" altLang="en-US" sz="20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328545" y="3643630"/>
          <a:ext cx="5902325" cy="2452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4867275" imgH="1733550" progId="Paint.Picture">
                  <p:embed/>
                </p:oleObj>
              </mc:Choice>
              <mc:Fallback>
                <p:oleObj name="" r:id="rId2" imgW="4867275" imgH="17335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8545" y="3643630"/>
                        <a:ext cx="5902325" cy="2452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>
            <a:graphicFrameLocks noChangeAspect="1"/>
          </p:cNvGraphicFramePr>
          <p:nvPr>
            <p:ph idx="1"/>
          </p:nvPr>
        </p:nvGraphicFramePr>
        <p:xfrm>
          <a:off x="1128395" y="106045"/>
          <a:ext cx="6769100" cy="651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7115175" imgH="6848475" progId="Paint.Picture">
                  <p:embed/>
                </p:oleObj>
              </mc:Choice>
              <mc:Fallback>
                <p:oleObj name="" r:id="rId1" imgW="7115175" imgH="68484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8395" y="106045"/>
                        <a:ext cx="6769100" cy="6516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110" y="1090930"/>
            <a:ext cx="8171815" cy="3994785"/>
          </a:xfrm>
          <a:prstGeom prst="rect">
            <a:avLst/>
          </a:prstGeom>
        </p:spPr>
        <p:txBody>
          <a:bodyPr wrap="square">
            <a:noAutofit/>
          </a:bodyPr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2000" b="0">
                <a:solidFill>
                  <a:srgbClr val="00B0F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What should you do in Lab 2:</a:t>
            </a:r>
            <a:endParaRPr lang="en-US" altLang="zh-CN" sz="2000" b="0">
              <a:solidFill>
                <a:srgbClr val="00B0F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             0) </a:t>
            </a:r>
            <a:r>
              <a:rPr lang="en-US" altLang="zh-CN" sz="2000" b="0">
                <a:solidFill>
                  <a:srgbClr val="0070C0"/>
                </a:solidFill>
                <a:latin typeface="Times New Roman" panose="02020603050405020304"/>
                <a:ea typeface="等线" panose="02010600030101010101" charset="-122"/>
              </a:rPr>
              <a:t>Test all the programs provided by the instructor.</a:t>
            </a:r>
            <a:endParaRPr lang="en-US" altLang="zh-CN" sz="2000" b="0">
              <a:solidFill>
                <a:srgbClr val="0070C0"/>
              </a:solidFill>
              <a:latin typeface="Times New Roman" panose="020206030504050203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a zip file which includes the C code for these 3 programming tasks  with name: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test2_1a.c, test2_2a.c, test_pipe2.c</a:t>
            </a:r>
            <a:endParaRPr lang="en-US" altLang="zh-CN" sz="1700" b="0">
              <a:solidFill>
                <a:srgbClr val="0070C0"/>
              </a:solidFill>
              <a:latin typeface="Consolas" panose="020B06090202040302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A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short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report to show: your idea, your code structure, and execution results.</a:t>
            </a:r>
            <a:endParaRPr lang="en-US" altLang="zh-CN" sz="1700" b="0">
              <a:latin typeface="Times New Roman" panose="020206030504050203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Your zip file should be named as: “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学号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姓名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 OS26S-Lab2.zip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”</a:t>
            </a:r>
            <a:r>
              <a:rPr lang="zh-CN" altLang="en-US" sz="1700" b="0"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e.g.: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-OS26S-Lab2.zip</a:t>
            </a:r>
            <a:endParaRPr lang="en-US" altLang="zh-CN" sz="1700" b="0">
              <a:solidFill>
                <a:srgbClr val="0070C0"/>
              </a:solidFill>
              <a:latin typeface="Consolas" panose="020B06090202040302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your zip file by sending email to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Mr. He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as attachment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with an email subject like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“OS26S-Lab2 from 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zh-CN" altLang="en-US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”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等线" panose="02010600030101010101" charset="-122"/>
              </a:rPr>
              <a:t>before (including)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Calibri" panose="020F0502020204030204"/>
              </a:rPr>
              <a:t>April 13.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 email address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for the OS &amp; SE courses is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: 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1" action="ppaction://hlinkfile"/>
              </a:rPr>
              <a:t>c.max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等线" panose="02010600030101010101" charset="-122"/>
                <a:hlinkClick r:id="rId1" action="ppaction://hlinkfile"/>
              </a:rPr>
              <a:t>@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1" action="ppaction://hlinkfile"/>
              </a:rPr>
              <a:t>yeah.net</a:t>
            </a:r>
            <a:r>
              <a:rPr lang="en-US" altLang="zh-CN" sz="1700" b="0">
                <a:latin typeface="Consolas" panose="020B0609020204030204"/>
                <a:ea typeface="等线" panose="02010600030101010101" charset="-122"/>
              </a:rPr>
              <a:t> </a:t>
            </a:r>
            <a:endParaRPr lang="en-US" altLang="zh-CN" sz="1700" b="0">
              <a:latin typeface="Consolas" panose="020B0609020204030204"/>
              <a:ea typeface="等线" panose="02010600030101010101" charset="-122"/>
            </a:endParaRP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600">
                <a:latin typeface="Times New Roman" panose="02020603050405020304"/>
                <a:ea typeface="等线" panose="02010600030101010101" charset="-122"/>
              </a:rPr>
              <a:t> </a:t>
            </a:r>
            <a:endParaRPr lang="en-US" altLang="zh-CN" sz="1600">
              <a:latin typeface="Times New Roman" panose="02020603050405020304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3212</Words>
  <Application>WPS 演示</Application>
  <PresentationFormat>On-screen Show (4:3)</PresentationFormat>
  <Paragraphs>101</Paragraphs>
  <Slides>18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18</vt:i4>
      </vt:variant>
    </vt:vector>
  </HeadingPairs>
  <TitlesOfParts>
    <vt:vector size="56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Wingdings</vt:lpstr>
      <vt:lpstr>等线</vt:lpstr>
      <vt:lpstr>Times New Roman</vt:lpstr>
      <vt:lpstr>Consolas</vt:lpstr>
      <vt:lpstr>Calibri</vt:lpstr>
      <vt:lpstr>微软雅黑</vt:lpstr>
      <vt:lpstr>Arial Unicode MS</vt:lpstr>
      <vt:lpstr>os-8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Contents</vt:lpstr>
      <vt:lpstr>Task1: Test Signals</vt:lpstr>
      <vt:lpstr>PowerPoint 演示文稿</vt:lpstr>
      <vt:lpstr>PowerPoint 演示文稿</vt:lpstr>
      <vt:lpstr>PowerPoint 演示文稿</vt:lpstr>
      <vt:lpstr>Task2: Test Signals (cont.)</vt:lpstr>
      <vt:lpstr>PowerPoint 演示文稿</vt:lpstr>
      <vt:lpstr>PowerPoint 演示文稿</vt:lpstr>
      <vt:lpstr>PowerPoint 演示文稿</vt:lpstr>
      <vt:lpstr>Task3: Test randoms.c and statistics.c with | in CLI</vt:lpstr>
      <vt:lpstr>Task3: Test randoms.c and statistics.c with | in CLI</vt:lpstr>
      <vt:lpstr>Task3: Test randoms.c and statistics.c with | in CLI</vt:lpstr>
      <vt:lpstr>Task 4: Test anonymous pipes with test_pipe1.c </vt:lpstr>
      <vt:lpstr>PowerPoint 演示文稿</vt:lpstr>
      <vt:lpstr>Programming Task 3：Write a program like test_pipe2.c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275</cp:revision>
  <cp:lastPrinted>2013-09-10T17:57:00Z</cp:lastPrinted>
  <dcterms:created xsi:type="dcterms:W3CDTF">2011-01-13T23:43:00Z</dcterms:created>
  <dcterms:modified xsi:type="dcterms:W3CDTF">2026-04-08T11:22:50Z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B8308F91BE414E5A8963C13657D020E5_13</vt:lpwstr>
  </property>
  <property fmtid="{D5CDD505-2E9C-101B-9397-08002B2CF9AE}" pid="3" name="KSOProductBuildVer">
    <vt:lpwstr>2052-12.1.0.23542</vt:lpwstr>
  </property>
</Properties>
</file>