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71"/>
  </p:handoutMasterIdLst>
  <p:sldIdLst>
    <p:sldId id="447" r:id="rId3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403" r:id="rId15"/>
    <p:sldId id="404" r:id="rId16"/>
    <p:sldId id="342" r:id="rId17"/>
    <p:sldId id="343" r:id="rId18"/>
    <p:sldId id="348" r:id="rId19"/>
    <p:sldId id="399" r:id="rId20"/>
    <p:sldId id="349" r:id="rId21"/>
    <p:sldId id="350" r:id="rId22"/>
    <p:sldId id="351" r:id="rId23"/>
    <p:sldId id="352" r:id="rId24"/>
    <p:sldId id="353" r:id="rId25"/>
    <p:sldId id="360" r:id="rId26"/>
    <p:sldId id="361" r:id="rId27"/>
    <p:sldId id="362" r:id="rId28"/>
    <p:sldId id="363" r:id="rId29"/>
    <p:sldId id="419" r:id="rId30"/>
    <p:sldId id="365" r:id="rId31"/>
    <p:sldId id="366" r:id="rId32"/>
    <p:sldId id="367" r:id="rId33"/>
    <p:sldId id="400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401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3" r:id="rId65"/>
    <p:sldId id="442" r:id="rId66"/>
    <p:sldId id="444" r:id="rId67"/>
    <p:sldId id="445" r:id="rId68"/>
    <p:sldId id="446" r:id="rId69"/>
    <p:sldId id="395" r:id="rId7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0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commentAuthors" Target="commentAuthors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9:  Main Memory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Background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Contiguous Memory Allocation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Paging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Structure of the Page Table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Swapping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Example: The Intel 32 and 64-bit Architectures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Example: ARMv8 Architecture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245" y="1262380"/>
            <a:ext cx="8287385" cy="4439920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To provide a detailed description of various ways of organizing memory hardware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 discuss various memory-management techniques, 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To provide a detailed description of the Intel Pentium, which supports both pure segmentation and segmentation with paging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8995" y="1208405"/>
            <a:ext cx="8016240" cy="5016500"/>
          </a:xfrm>
        </p:spPr>
        <p:txBody>
          <a:bodyPr/>
          <a:lstStyle/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Program must be brought (from disk)  into memory and placed within a process for it to be run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Main memory and registers are only storage CPU can access directly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Memory unit only sees a stream of: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addresses + read requests, or 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address + data and write requests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Register access is done in one CPU clock (or less)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Main memory can take many cycles, causing a </a:t>
            </a:r>
            <a:r>
              <a:rPr lang="en-US" altLang="en-US" sz="22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stall</a:t>
            </a:r>
            <a:endParaRPr lang="en-US" altLang="en-US" sz="22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Cache</a:t>
            </a:r>
            <a:r>
              <a:rPr lang="en-US" altLang="en-US" sz="22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sits between main memory and CPU registers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200" dirty="0">
                <a:latin typeface="Calibri" panose="020F0502020204030204" charset="0"/>
                <a:cs typeface="Calibri" panose="020F0502020204030204" charset="0"/>
              </a:rPr>
              <a:t>Protection of memory required to ensure correct operation</a:t>
            </a:r>
            <a:endParaRPr lang="en-US" altLang="en-US" sz="22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200" b="1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Need to ensure that a process can access only those addresses in its address space.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We can provide this protection by using  a pair of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base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limit registers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define the logical address space of a process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172" name="Picture 5" descr="W:\os-book\OS10\slide-dir\os-figures\9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380" y="3081655"/>
            <a:ext cx="3396615" cy="3317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  <a:endParaRPr lang="en-US" altLang="en-US" dirty="0"/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848995" y="1148080"/>
            <a:ext cx="7838440" cy="525081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CPU must check every memory access generated in user mode to be sure it is between base and limit for that user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the instructions to loading the base and limit registers are privileged</a:t>
            </a:r>
            <a:r>
              <a:rPr lang="en-US" altLang="en-US" dirty="0"/>
              <a:t>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220" y="2032000"/>
            <a:ext cx="5945505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70560" y="1144905"/>
            <a:ext cx="8133080" cy="5352415"/>
          </a:xfrm>
        </p:spPr>
        <p:txBody>
          <a:bodyPr/>
          <a:lstStyle/>
          <a:p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Programs on disk, ready to be brought into memory to execute form an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input queue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Without support, must be loaded into address 0000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Inconvenient to have first user process physical address always at 0000 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How can it not be?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Addresses represented in different ways at different stages of a program’</a:t>
            </a:r>
            <a:r>
              <a:rPr kumimoji="0" lang="en-US" altLang="ja-JP" sz="2000" dirty="0">
                <a:latin typeface="Calibri" panose="020F0502020204030204" charset="0"/>
                <a:cs typeface="Calibri" panose="020F0502020204030204" charset="0"/>
              </a:rPr>
              <a:t>s life</a:t>
            </a:r>
            <a:endParaRPr kumimoji="0"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Source code addresses usually symbolic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Compiled code addresses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bind</a:t>
            </a:r>
            <a:r>
              <a:rPr kumimoji="0" lang="en-US" altLang="en-US" sz="2000" b="1" dirty="0">
                <a:solidFill>
                  <a:srgbClr val="0000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to relocatable addresses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i.e., </a:t>
            </a:r>
            <a:r>
              <a:rPr kumimoji="0" lang="ja-JP" altLang="en-US" sz="2000" dirty="0"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kumimoji="0" lang="en-US" altLang="ja-JP" sz="2000" dirty="0">
                <a:latin typeface="Calibri" panose="020F0502020204030204" charset="0"/>
                <a:cs typeface="Calibri" panose="020F0502020204030204" charset="0"/>
              </a:rPr>
              <a:t>14 bytes from beginning of this module</a:t>
            </a:r>
            <a:r>
              <a:rPr kumimoji="0" lang="ja-JP" altLang="en-US" sz="2000" dirty="0">
                <a:latin typeface="Calibri" panose="020F0502020204030204" charset="0"/>
                <a:cs typeface="Calibri" panose="020F0502020204030204" charset="0"/>
              </a:rPr>
              <a:t>”</a:t>
            </a:r>
            <a:endParaRPr kumimoji="0"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Linker or loader will bind relocatable addresses to absolute addresses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i.e., 74014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Each binding maps one address space to another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  <a:endParaRPr lang="en-US" altLang="en-US" sz="28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945" y="1334135"/>
            <a:ext cx="7825740" cy="4251960"/>
          </a:xfrm>
        </p:spPr>
        <p:txBody>
          <a:bodyPr/>
          <a:lstStyle/>
          <a:p>
            <a:r>
              <a:rPr kumimoji="0" lang="en-US" altLang="en-US" sz="2000" dirty="0">
                <a:latin typeface="Calibri" panose="020F0502020204030204" charset="0"/>
                <a:cs typeface="Calibri" panose="020F0502020204030204" charset="0"/>
              </a:rPr>
              <a:t>Address binding of instructions and data to memory addresses can happen at three different stages</a:t>
            </a:r>
            <a:endParaRPr kumimoji="0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Compile time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  If memory location known a priori,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absolute code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can be generated; must recompile code if starting location changes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Load time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  Must generate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relocatable code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memory location is not known at compile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Execution time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  Binding delayed until run time if the process can be moved during its execution from one memory segment to another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Need hardware support for address maps (e.g., base and limit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registers)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  <a:endParaRPr lang="en-US" altLang="en-US" sz="3000" dirty="0"/>
          </a:p>
        </p:txBody>
      </p:sp>
      <p:pic>
        <p:nvPicPr>
          <p:cNvPr id="11267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160" y="1016000"/>
            <a:ext cx="2973070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  <a:endParaRPr lang="en-US" altLang="en-US" dirty="0"/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115" y="1711325"/>
            <a:ext cx="5657215" cy="2056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</p:txBody>
      </p:sp>
      <p:pic>
        <p:nvPicPr>
          <p:cNvPr id="15364" name="Picture 2" descr="W:\os-book\OS10\slide-dir\os-figures\9_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840" y="2957830"/>
            <a:ext cx="5062855" cy="357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  <a:endParaRPr lang="en-US" altLang="en-US" dirty="0"/>
          </a:p>
        </p:txBody>
      </p:sp>
      <p:sp>
        <p:nvSpPr>
          <p:cNvPr id="16387" name="Rectangle 3"/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The entire  program does need to be in memory to execute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Routine is not loaded until it is called</a:t>
            </a:r>
            <a:endParaRPr kumimoji="1"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Better memory-space utilization; unused routine is never loaded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All routines kept on disk in relocatable load format</a:t>
            </a:r>
            <a:endParaRPr kumimoji="1"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Useful when large amounts of code are needed to handle infrequently occurring cases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No special support from the operating system is required</a:t>
            </a:r>
            <a:endParaRPr kumimoji="1"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Implemented through program design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OS can help by providing libraries to implement dynamic loading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580" y="1062355"/>
            <a:ext cx="7669530" cy="506095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Static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linking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system libraries and program code combined by the loader into the binary program image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Dynamic linking –linking postponed until execution time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Small piece of code,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stub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, used to locate the appropriate memory-resident library routine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Stub replaces itself with the address of the routine, and executes the routine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Operating system checks if routine is in processes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’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 memory address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not in address space, add to address space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Dynamic linking is particularly useful for libraries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System also known as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libraries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Consider applicability to patching system libraries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Versioning may be needed</a:t>
            </a:r>
            <a:endParaRPr lang="en-US" altLang="en-US" sz="20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  <a:endParaRPr lang="en-US" altLang="en-US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Main memory must support both OS and user processes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Limited resource, must allocate efficiently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Contiguous allocation is one early method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Main memory usually into two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partitions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Resident operating system, usually held in low memory with interrupt vector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User processes then held in high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Each process contained in single contiguous section of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Relocation registers used to protect user processes from each other, and from changing operating-system code and data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Base register contains value of smallest physical address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Limit register contains range of logical addresses – each logical address must be less than the limit register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MMU maps logical address </a:t>
            </a:r>
            <a:r>
              <a:rPr lang="en-US" altLang="en-US" sz="2000" i="1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dynamically</a:t>
            </a:r>
            <a:endParaRPr lang="en-US" altLang="en-US" sz="2000" i="1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Can then allow actions such as kernel code being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transient</a:t>
            </a:r>
            <a:r>
              <a:rPr lang="en-US" altLang="en-US" sz="2000" b="1" dirty="0">
                <a:solidFill>
                  <a:srgbClr val="0000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and kernel changing size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  <a:endParaRPr lang="en-US" altLang="en-US" sz="2400" dirty="0"/>
          </a:p>
        </p:txBody>
      </p:sp>
      <p:pic>
        <p:nvPicPr>
          <p:cNvPr id="2048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348105"/>
            <a:ext cx="7778750" cy="38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  <a:endParaRPr lang="en-US" altLang="en-US" dirty="0"/>
          </a:p>
          <a:p>
            <a:pPr lvl="1"/>
            <a:r>
              <a:rPr lang="en-US" altLang="en-US" sz="1600" dirty="0"/>
              <a:t>Degree of multiprogramming limited by number of partitions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combined</a:t>
            </a:r>
            <a:endParaRPr lang="en-US" altLang="en-US" sz="1600" dirty="0"/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  <a:endParaRPr lang="en-US" altLang="en-US" sz="1600" dirty="0"/>
          </a:p>
        </p:txBody>
      </p:sp>
      <p:pic>
        <p:nvPicPr>
          <p:cNvPr id="21508" name="Picture 5" descr="W:\os-book\OS10\slide-dir\os-figures\9_0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  <a:endParaRPr lang="en-US" altLang="en-US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  <a:endParaRPr lang="en-US" altLang="en-US" dirty="0"/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External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total memory space exists to satisfy a request, but it is not contiguous</a:t>
            </a:r>
            <a:endParaRPr lang="en-US" altLang="en-US" sz="2000" b="1" dirty="0">
              <a:solidFill>
                <a:srgbClr val="3366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Internal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allocated memory may be slightly larger than requested memory; this size difference is memory internal to a partition, but not being used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First fit analysis reveals that given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N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blocks allocated, 0.5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N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blocks lost to fragmentation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1/3 may be unusable -&gt;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50-percent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rule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Reduce external fragmentation by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compaction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Shuffle memory contents to place all free memory together in one large block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Compaction is possible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if relocation is dynamic, and is done at execution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I/O problem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Latch job in memory while it is involved in I/O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Do I/O only into OS buffers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Now consider that backing store has same fragmentation problems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  <a:endParaRPr lang="en-US" altLang="en-US" dirty="0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1055" y="1129030"/>
            <a:ext cx="7484745" cy="536829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Physical  address space of a process can be noncontiguous; process is allocated physical memory whenever the latter is available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Avoids external fragmentation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Avoids problem of varying sized memory chunks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Divide physical memory into fixed-sized blocks called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frames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Size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is power of 2, between 512 bytes and 16 Mbytes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Divide logical memory into blocks of same size called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pages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Keep track of all free frames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To run a program of size </a:t>
            </a:r>
            <a:r>
              <a:rPr lang="en-US" altLang="en-US" sz="2000" b="1" i="1" dirty="0">
                <a:latin typeface="Calibri" panose="020F0502020204030204" charset="0"/>
                <a:cs typeface="Calibri" panose="020F0502020204030204" charset="0"/>
              </a:rPr>
              <a:t>N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pages, need to find </a:t>
            </a:r>
            <a:r>
              <a:rPr lang="en-US" altLang="en-US" sz="2000" b="1" i="1" dirty="0">
                <a:latin typeface="Calibri" panose="020F0502020204030204" charset="0"/>
                <a:cs typeface="Calibri" panose="020F0502020204030204" charset="0"/>
              </a:rPr>
              <a:t>N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free frames and load program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Set up a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table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to translate logical to physical addresses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Backing store likewise split into pages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Still have Internal fragmentation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  <a:endParaRPr lang="en-US" altLang="en-US" dirty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Address generated by CPU is divided into: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number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i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used as an index into a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which contains base address of each page in physical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offset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i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d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combined with base address to define the physical memory address that is sent to the memory unit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For given logical address space 2</a:t>
            </a:r>
            <a:r>
              <a:rPr lang="en-US" altLang="en-US" sz="2000" i="1" baseline="30000" dirty="0">
                <a:latin typeface="Calibri" panose="020F0502020204030204" charset="0"/>
                <a:cs typeface="Calibri" panose="020F0502020204030204" charset="0"/>
              </a:rPr>
              <a:t>m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and page size</a:t>
            </a:r>
            <a:r>
              <a:rPr lang="en-US" altLang="en-US" sz="2000" baseline="30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2</a:t>
            </a:r>
            <a:r>
              <a:rPr lang="en-US" altLang="en-US" sz="2000" baseline="30000" dirty="0">
                <a:latin typeface="Calibri" panose="020F0502020204030204" charset="0"/>
                <a:cs typeface="Calibri" panose="020F0502020204030204" charset="0"/>
              </a:rPr>
              <a:t>n</a:t>
            </a:r>
            <a:endParaRPr lang="en-US" altLang="en-US" sz="2000" baseline="30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890" y="3140710"/>
            <a:ext cx="4500880" cy="165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  <a:endParaRPr lang="en-US" altLang="en-US" dirty="0"/>
          </a:p>
        </p:txBody>
      </p:sp>
      <p:pic>
        <p:nvPicPr>
          <p:cNvPr id="27651" name="Picture 7" descr="C:\Users\as668\Desktop\9_0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" y="1123950"/>
            <a:ext cx="7762240" cy="4314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  <a:endParaRPr lang="en-US" altLang="en-US" sz="2600" dirty="0"/>
          </a:p>
        </p:txBody>
      </p:sp>
      <p:pic>
        <p:nvPicPr>
          <p:cNvPr id="28675" name="Picture 103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970" y="1061085"/>
            <a:ext cx="5530215" cy="5166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  <a:endParaRPr lang="en-US" alt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30424" y="1018223"/>
            <a:ext cx="7604449" cy="4821237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Logical address:  n = 2 and  m = 4. Using a page size of 4 bytes and a physical memory of 32 bytes (8 pages)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445" y="1816100"/>
            <a:ext cx="3882390" cy="483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  <a:endParaRPr lang="en-US" altLang="en-US" sz="2600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  <a:endParaRPr lang="en-US" altLang="en-US" dirty="0"/>
          </a:p>
          <a:p>
            <a:r>
              <a:rPr lang="en-US" altLang="en-US" dirty="0"/>
              <a:t>Process size = 72,766 bytes</a:t>
            </a:r>
            <a:endParaRPr lang="en-US" altLang="en-US" dirty="0"/>
          </a:p>
          <a:p>
            <a:r>
              <a:rPr lang="en-US" altLang="en-US" dirty="0"/>
              <a:t>35 pages + 1,086 bytes</a:t>
            </a:r>
            <a:endParaRPr lang="en-US" altLang="en-US" dirty="0"/>
          </a:p>
          <a:p>
            <a:r>
              <a:rPr lang="en-US" altLang="en-US" dirty="0"/>
              <a:t>Internal fragmentation of 2,048 - 1,086 = 962 bytes</a:t>
            </a:r>
            <a:endParaRPr lang="en-US" altLang="en-US" dirty="0"/>
          </a:p>
          <a:p>
            <a:r>
              <a:rPr lang="en-US" altLang="en-US" dirty="0"/>
              <a:t>Worst case fragmentation = 1 frame – 1 byte</a:t>
            </a:r>
            <a:endParaRPr lang="en-US" altLang="en-US" dirty="0"/>
          </a:p>
          <a:p>
            <a:r>
              <a:rPr lang="en-US" altLang="en-US" dirty="0"/>
              <a:t>On average fragmentation = 1 / 2 frame size</a:t>
            </a:r>
            <a:endParaRPr lang="en-US" altLang="en-US" dirty="0"/>
          </a:p>
          <a:p>
            <a:r>
              <a:rPr lang="en-US" altLang="en-US" dirty="0"/>
              <a:t>So small frame sizes desirable?</a:t>
            </a:r>
            <a:endParaRPr lang="en-US" altLang="en-US" dirty="0"/>
          </a:p>
          <a:p>
            <a:r>
              <a:rPr lang="en-US" altLang="en-US" dirty="0"/>
              <a:t>But each page table entry takes memory to track</a:t>
            </a:r>
            <a:endParaRPr lang="en-US" altLang="en-US" dirty="0"/>
          </a:p>
          <a:p>
            <a:r>
              <a:rPr lang="en-US" altLang="en-US" dirty="0"/>
              <a:t>Page sizes growing over time</a:t>
            </a:r>
            <a:endParaRPr lang="en-US" altLang="en-US" dirty="0"/>
          </a:p>
          <a:p>
            <a:pPr lvl="1"/>
            <a:r>
              <a:rPr lang="en-US" altLang="en-US" dirty="0"/>
              <a:t>Solaris supports two page sizes – 8 KB and 4 MB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  <a:endParaRPr lang="en-US" altLang="en-US" dirty="0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pic>
        <p:nvPicPr>
          <p:cNvPr id="3174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  <a:endParaRPr lang="en-US" altLang="en-US" dirty="0"/>
          </a:p>
          <a:p>
            <a:r>
              <a:rPr lang="en-US" altLang="en-US" dirty="0"/>
              <a:t>In this scheme every data/instruction access requires two memory accesses</a:t>
            </a:r>
            <a:endParaRPr lang="en-US" altLang="en-US" dirty="0"/>
          </a:p>
          <a:p>
            <a:pPr lvl="1"/>
            <a:r>
              <a:rPr lang="en-US" altLang="en-US" dirty="0"/>
              <a:t>One for the page table and one for the data / instruction</a:t>
            </a:r>
            <a:endParaRPr lang="en-US" altLang="en-US" dirty="0"/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  <a:endParaRPr lang="en-US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  <a:endParaRPr lang="en-US" altLang="en-US" dirty="0"/>
          </a:p>
          <a:p>
            <a:pPr lvl="1"/>
            <a:r>
              <a:rPr lang="en-US" altLang="en-US" dirty="0"/>
              <a:t>Otherwise need to flush at every context switch</a:t>
            </a:r>
            <a:endParaRPr lang="en-US" altLang="en-US" dirty="0"/>
          </a:p>
          <a:p>
            <a:r>
              <a:rPr lang="en-US" altLang="en-US" dirty="0"/>
              <a:t>TLBs typically small (64 to 1,024 entries)</a:t>
            </a:r>
            <a:endParaRPr lang="en-US" altLang="en-US" dirty="0"/>
          </a:p>
          <a:p>
            <a:r>
              <a:rPr lang="en-US" altLang="en-US" dirty="0"/>
              <a:t>On a TLB miss, value is loaded into the TLB for faster access next time</a:t>
            </a:r>
            <a:endParaRPr lang="en-US" altLang="en-US" dirty="0"/>
          </a:p>
          <a:p>
            <a:pPr lvl="1"/>
            <a:r>
              <a:rPr lang="en-US" altLang="en-US" dirty="0"/>
              <a:t>Replacement policies must be considered</a:t>
            </a:r>
            <a:endParaRPr lang="en-US" altLang="en-US" dirty="0"/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  <a:endParaRPr lang="en-US" altLang="en-US" dirty="0"/>
          </a:p>
        </p:txBody>
      </p:sp>
      <p:sp>
        <p:nvSpPr>
          <p:cNvPr id="3481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  <a:endParaRPr lang="en-US" altLang="en-US" dirty="0"/>
          </a:p>
          <a:p>
            <a:pPr marL="627380" lvl="1"/>
            <a:r>
              <a:rPr lang="en-US" altLang="en-US" dirty="0"/>
              <a:t>If p is in associative register, get frame # out</a:t>
            </a:r>
            <a:endParaRPr lang="en-US" altLang="en-US" dirty="0"/>
          </a:p>
          <a:p>
            <a:pPr marL="627380" lvl="1"/>
            <a:r>
              <a:rPr lang="en-US" altLang="en-US" dirty="0"/>
              <a:t>Otherwise get frame # from page table in memory</a:t>
            </a:r>
            <a:endParaRPr lang="en-US" altLang="en-US" dirty="0"/>
          </a:p>
          <a:p>
            <a:pPr marL="627380" lvl="1"/>
            <a:endParaRPr lang="en-US" altLang="en-US" dirty="0"/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  <a:endParaRPr lang="en-US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 TLB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anose="05050102010706020507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Suppose that 10 nanoseconds to access memory.  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Otherwise we need two memory access so it is 20 ns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anose="05050102010706020507" pitchFamily="18" charset="2"/>
              </a:rPr>
              <a:t>0.80 x 10 + 0.20 x 20 = 12 </a:t>
            </a:r>
            <a:r>
              <a:rPr lang="en-US" altLang="en-US" dirty="0"/>
              <a:t> nanoseconds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 implying 20% slowdown in access time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Consider  amore realistic hit ratio of 99%,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     EAT = 0.99 x 10 + 0.01 x 20 = 10.1ns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implying  only 1% slowdown in access time.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  <a:endParaRPr lang="en-US" altLang="en-US" dirty="0"/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  <a:endParaRPr lang="en-US" altLang="en-US" dirty="0"/>
          </a:p>
          <a:p>
            <a:pPr lvl="1"/>
            <a:r>
              <a:rPr lang="en-US" altLang="en-US" dirty="0"/>
              <a:t>Can also add more bits to indicate page execute-only, and so 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  <a:endParaRPr lang="en-US" altLang="en-US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  <a:endParaRPr lang="en-US" altLang="ja-JP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  <a:endParaRPr lang="en-US" altLang="ja-JP" dirty="0"/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Any violations result in a trap to the kernel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  <a:endParaRPr lang="en-US" altLang="en-US" sz="2800" dirty="0"/>
          </a:p>
        </p:txBody>
      </p:sp>
      <p:pic>
        <p:nvPicPr>
          <p:cNvPr id="3891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  <a:endParaRPr lang="en-US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  <a:endParaRPr lang="en-US" altLang="en-US" dirty="0"/>
          </a:p>
          <a:p>
            <a:pPr lvl="1"/>
            <a:r>
              <a:rPr lang="en-US" altLang="en-US" dirty="0"/>
              <a:t>Similar to multiple threads sharing the same process space</a:t>
            </a:r>
            <a:endParaRPr lang="en-US" altLang="en-US" dirty="0"/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endParaRPr lang="en-US" altLang="en-US" dirty="0">
              <a:solidFill>
                <a:srgbClr val="3366FF"/>
              </a:solidFill>
            </a:endParaRPr>
          </a:p>
          <a:p>
            <a:pPr lvl="1"/>
            <a:r>
              <a:rPr lang="en-US" altLang="en-US" dirty="0"/>
              <a:t>Each process keeps a separate copy of the code and data</a:t>
            </a:r>
            <a:endParaRPr lang="en-US" altLang="en-US" dirty="0"/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999490"/>
            <a:ext cx="4685030" cy="5106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  <a:endParaRPr lang="en-US" altLang="en-US" dirty="0"/>
          </a:p>
          <a:p>
            <a:pPr lvl="1"/>
            <a:r>
              <a:rPr lang="en-US" altLang="en-US" dirty="0"/>
              <a:t>Consider a 32-bit logical address space as on modern computers</a:t>
            </a:r>
            <a:endParaRPr lang="en-US" altLang="en-US" dirty="0"/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  <a:endParaRPr lang="en-US" altLang="en-US" dirty="0"/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  <a:endParaRPr lang="en-US" altLang="ja-JP" dirty="0"/>
          </a:p>
          <a:p>
            <a:pPr lvl="1"/>
            <a:r>
              <a:rPr lang="en-US" altLang="en-US" dirty="0"/>
              <a:t>One simple solution is to divide the page table into smaller units</a:t>
            </a:r>
            <a:endParaRPr lang="en-US" altLang="en-US" dirty="0"/>
          </a:p>
          <a:p>
            <a:pPr lvl="2"/>
            <a:r>
              <a:rPr lang="en-US" altLang="en-US" dirty="0"/>
              <a:t>Hierarchical Paging</a:t>
            </a:r>
            <a:endParaRPr lang="en-US" altLang="en-US" dirty="0"/>
          </a:p>
          <a:p>
            <a:pPr lvl="2"/>
            <a:r>
              <a:rPr lang="en-US" altLang="en-US" dirty="0"/>
              <a:t>Hashed Page Tables</a:t>
            </a:r>
            <a:endParaRPr lang="en-US" altLang="en-US" dirty="0"/>
          </a:p>
          <a:p>
            <a:pPr lvl="2"/>
            <a:r>
              <a:rPr lang="en-US" altLang="en-US" dirty="0"/>
              <a:t>Inverted Page Tables</a:t>
            </a: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  <a:endParaRPr lang="en-US" altLang="en-US" dirty="0"/>
          </a:p>
          <a:p>
            <a:r>
              <a:rPr lang="en-US" altLang="en-US" dirty="0"/>
              <a:t>A simple technique is a two-level page table</a:t>
            </a:r>
            <a:endParaRPr lang="en-US" altLang="en-US" dirty="0"/>
          </a:p>
          <a:p>
            <a:r>
              <a:rPr lang="en-US" altLang="en-US" dirty="0"/>
              <a:t>We then page the page table</a:t>
            </a:r>
            <a:endParaRPr lang="en-US" altLang="en-US" dirty="0"/>
          </a:p>
        </p:txBody>
      </p:sp>
      <p:pic>
        <p:nvPicPr>
          <p:cNvPr id="43012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10-bit page number 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44036" name="Picture 5" descr="W:\os-book\OS10\slide-dir\os-figures\in-9_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" y="1259205"/>
            <a:ext cx="7539355" cy="317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  <a:endParaRPr lang="en-US" alt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Address would look like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  <a:endParaRPr lang="en-US" altLang="en-US" dirty="0"/>
          </a:p>
        </p:txBody>
      </p:sp>
      <p:pic>
        <p:nvPicPr>
          <p:cNvPr id="4710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  <a:endParaRPr lang="en-US" altLang="en-US" dirty="0"/>
          </a:p>
          <a:p>
            <a:r>
              <a:rPr lang="en-US" altLang="en-US" dirty="0"/>
              <a:t>The virtual page number is hashed into a page table</a:t>
            </a:r>
            <a:endParaRPr lang="en-US" altLang="en-US" dirty="0"/>
          </a:p>
          <a:p>
            <a:pPr lvl="1"/>
            <a:r>
              <a:rPr lang="en-US" altLang="en-US" dirty="0"/>
              <a:t>This page table contains a chain of elements hashing to the same location</a:t>
            </a:r>
            <a:endParaRPr lang="en-US" altLang="en-US" dirty="0"/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  <a:endParaRPr lang="en-US" altLang="en-US" dirty="0"/>
          </a:p>
          <a:p>
            <a:r>
              <a:rPr lang="en-US" altLang="en-US" dirty="0"/>
              <a:t>Virtual page numbers are compared in this chain searching for a match</a:t>
            </a:r>
            <a:endParaRPr lang="en-US" altLang="en-US" dirty="0"/>
          </a:p>
          <a:p>
            <a:pPr lvl="1"/>
            <a:r>
              <a:rPr lang="en-US" altLang="en-US" dirty="0"/>
              <a:t>If a match is found, the corresponding physical frame is extracted</a:t>
            </a:r>
            <a:endParaRPr lang="en-US" altLang="en-US" dirty="0"/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  <a:endParaRPr lang="en-US" altLang="en-US" dirty="0"/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  <a:endParaRPr lang="en-US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  <a:endParaRPr lang="en-US" altLang="en-US" dirty="0"/>
          </a:p>
          <a:p>
            <a:r>
              <a:rPr lang="en-US" altLang="en-US" dirty="0"/>
              <a:t>One entry for each real page of memory</a:t>
            </a:r>
            <a:endParaRPr lang="en-US" altLang="en-US" dirty="0"/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  <a:endParaRPr lang="en-US" altLang="en-US" dirty="0"/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  <a:endParaRPr lang="en-US" altLang="en-US" dirty="0"/>
          </a:p>
          <a:p>
            <a:r>
              <a:rPr lang="en-US" altLang="en-US" dirty="0"/>
              <a:t>Use hash table to limit the search to one — or at most a few — page-table entries</a:t>
            </a:r>
            <a:endParaRPr lang="en-US" altLang="en-US" dirty="0"/>
          </a:p>
          <a:p>
            <a:pPr lvl="1"/>
            <a:r>
              <a:rPr lang="en-US" altLang="en-US" dirty="0"/>
              <a:t>TLB can accelerate access</a:t>
            </a:r>
            <a:endParaRPr lang="en-US" altLang="en-US" dirty="0"/>
          </a:p>
          <a:p>
            <a:r>
              <a:rPr lang="en-US" altLang="en-US" dirty="0"/>
              <a:t>But how to implement shared memory?</a:t>
            </a:r>
            <a:endParaRPr lang="en-US" altLang="en-US" dirty="0"/>
          </a:p>
          <a:p>
            <a:pPr lvl="1"/>
            <a:r>
              <a:rPr lang="en-US" altLang="en-US" dirty="0"/>
              <a:t>One mapping of a virtual address to the shared physical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  <a:endParaRPr lang="en-US" altLang="en-US" dirty="0"/>
          </a:p>
          <a:p>
            <a:pPr lvl="1"/>
            <a:r>
              <a:rPr lang="en-US" altLang="en-US" dirty="0"/>
              <a:t>Goals are efficiency, low overhead</a:t>
            </a:r>
            <a:endParaRPr lang="en-US" altLang="en-US" dirty="0"/>
          </a:p>
          <a:p>
            <a:r>
              <a:rPr lang="en-US" altLang="en-US" dirty="0"/>
              <a:t>Based on hashing, but more complex</a:t>
            </a:r>
            <a:endParaRPr lang="en-US" altLang="en-US" dirty="0"/>
          </a:p>
          <a:p>
            <a:r>
              <a:rPr lang="en-US" altLang="en-US" dirty="0"/>
              <a:t>Two hash tables</a:t>
            </a:r>
            <a:endParaRPr lang="en-US" altLang="en-US" dirty="0"/>
          </a:p>
          <a:p>
            <a:pPr lvl="1"/>
            <a:r>
              <a:rPr lang="en-US" altLang="en-US" dirty="0"/>
              <a:t>One kernel and one for all user processes</a:t>
            </a:r>
            <a:endParaRPr lang="en-US" altLang="en-US" dirty="0"/>
          </a:p>
          <a:p>
            <a:pPr lvl="1"/>
            <a:r>
              <a:rPr lang="en-US" altLang="en-US" dirty="0"/>
              <a:t>Each maps memory addresses from virtual to physical memory</a:t>
            </a:r>
            <a:endParaRPr lang="en-US" altLang="en-US" dirty="0"/>
          </a:p>
          <a:p>
            <a:pPr lvl="1"/>
            <a:r>
              <a:rPr lang="en-US" altLang="en-US" dirty="0"/>
              <a:t>Each entry represents a contiguous area of mapped virtual memory,</a:t>
            </a:r>
            <a:endParaRPr lang="en-US" altLang="en-US" dirty="0"/>
          </a:p>
          <a:p>
            <a:pPr lvl="2"/>
            <a:r>
              <a:rPr lang="en-US" altLang="en-US" dirty="0"/>
              <a:t>More efficient than having a separate hash-table entry for each page</a:t>
            </a:r>
            <a:endParaRPr lang="en-US" altLang="en-US" dirty="0"/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  <a:endParaRPr lang="en-US" altLang="en-US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  <a:endParaRPr lang="en-US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  <a:endParaRPr lang="en-US" altLang="en-US" dirty="0"/>
          </a:p>
          <a:p>
            <a:pPr lvl="1"/>
            <a:r>
              <a:rPr lang="en-US" altLang="en-US" dirty="0"/>
              <a:t>A cache of TTEs reside in a translation storage buffer (TSB)</a:t>
            </a:r>
            <a:endParaRPr lang="en-US" altLang="en-US" dirty="0"/>
          </a:p>
          <a:p>
            <a:pPr lvl="2"/>
            <a:r>
              <a:rPr lang="en-US" altLang="en-US" dirty="0"/>
              <a:t>Includes an entry per recently accessed page</a:t>
            </a:r>
            <a:endParaRPr lang="en-US" altLang="en-US" dirty="0"/>
          </a:p>
          <a:p>
            <a:r>
              <a:rPr lang="en-US" altLang="en-US" dirty="0"/>
              <a:t>Virtual address reference causes TLB search </a:t>
            </a:r>
            <a:endParaRPr lang="en-US" altLang="en-US" dirty="0"/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  <a:endParaRPr lang="en-US" altLang="en-US" dirty="0"/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  <a:endParaRPr lang="en-US" altLang="en-US" dirty="0"/>
          </a:p>
          <a:p>
            <a:pPr lvl="2"/>
            <a:r>
              <a:rPr lang="en-US" altLang="en-US" dirty="0"/>
              <a:t>If no match found, kernel interrupted to search the hash table</a:t>
            </a:r>
            <a:endParaRPr lang="en-US" altLang="en-US" dirty="0"/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  <a:endParaRPr lang="en-US" altLang="en-US" dirty="0"/>
          </a:p>
          <a:p>
            <a:pPr lvl="1"/>
            <a:r>
              <a:rPr lang="en-US" altLang="en-US" dirty="0"/>
              <a:t>Total physical memory space of processes can exceed physical memory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  <a:endParaRPr lang="en-US" altLang="en-US" dirty="0"/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  <a:endParaRPr lang="en-US" altLang="en-US" dirty="0"/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  <a:endParaRPr lang="en-US" altLang="en-US" dirty="0"/>
          </a:p>
          <a:p>
            <a:r>
              <a:rPr lang="en-US" altLang="en-US" dirty="0"/>
              <a:t>Depends on address binding method</a:t>
            </a:r>
            <a:endParaRPr lang="en-US" altLang="en-US" dirty="0"/>
          </a:p>
          <a:p>
            <a:pPr lvl="1"/>
            <a:r>
              <a:rPr lang="en-US" altLang="en-US" dirty="0"/>
              <a:t>Plus consider pending I/O to / from process memory space</a:t>
            </a:r>
            <a:endParaRPr lang="en-US" altLang="en-US" dirty="0"/>
          </a:p>
          <a:p>
            <a:r>
              <a:rPr lang="en-US" altLang="en-US" dirty="0"/>
              <a:t>Modified versions of swapping are found on many systems (i.e., UNIX, Linux, and Windows)</a:t>
            </a:r>
            <a:endParaRPr lang="en-US" altLang="en-US" dirty="0"/>
          </a:p>
          <a:p>
            <a:pPr lvl="1"/>
            <a:r>
              <a:rPr lang="en-US" altLang="en-US" dirty="0"/>
              <a:t>Swapping normally disabled</a:t>
            </a:r>
            <a:endParaRPr lang="en-US" altLang="en-US" dirty="0"/>
          </a:p>
          <a:p>
            <a:pPr lvl="1"/>
            <a:r>
              <a:rPr lang="en-US" altLang="en-US" dirty="0"/>
              <a:t>Started if more than threshold amount of memory allocated</a:t>
            </a:r>
            <a:endParaRPr lang="en-US" altLang="en-US" dirty="0"/>
          </a:p>
          <a:p>
            <a:pPr lvl="1"/>
            <a:r>
              <a:rPr lang="en-US" altLang="en-US" dirty="0"/>
              <a:t>Disabled again once memory demand reduced below threshold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30" y="1400175"/>
            <a:ext cx="5763895" cy="431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  <a:endParaRPr lang="en-US" altLang="en-US" sz="3000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  <a:endParaRPr lang="en-US" altLang="en-US" dirty="0"/>
          </a:p>
          <a:p>
            <a:r>
              <a:rPr lang="en-US" altLang="en-US" dirty="0"/>
              <a:t>Context switch time can then be very high</a:t>
            </a:r>
            <a:endParaRPr lang="en-US" altLang="en-US" dirty="0"/>
          </a:p>
          <a:p>
            <a:r>
              <a:rPr lang="en-US" altLang="en-US" dirty="0"/>
              <a:t>100MB process swapping to hard disk with transfer rate of 50MB/sec</a:t>
            </a:r>
            <a:endParaRPr lang="en-US" altLang="en-US" dirty="0"/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  <a:endParaRPr lang="en-US" altLang="en-US" dirty="0"/>
          </a:p>
          <a:p>
            <a:pPr lvl="1"/>
            <a:r>
              <a:rPr lang="en-US" altLang="en-US" dirty="0"/>
              <a:t>Total context switch swapping component time of 4000ms (4 seconds)</a:t>
            </a:r>
            <a:endParaRPr lang="en-US" altLang="en-US" dirty="0"/>
          </a:p>
          <a:p>
            <a:r>
              <a:rPr lang="en-US" altLang="en-US" dirty="0"/>
              <a:t>Can reduce if reduce size of memory swapped – by knowing how much memory really being used</a:t>
            </a:r>
            <a:endParaRPr lang="en-US" altLang="en-US" dirty="0"/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  <a:endParaRPr lang="en-US" altLang="en-US" sz="2800" dirty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  <a:endParaRPr lang="en-US" altLang="en-US" dirty="0"/>
          </a:p>
          <a:p>
            <a:pPr lvl="1"/>
            <a:r>
              <a:rPr lang="en-US" altLang="en-US" dirty="0"/>
              <a:t>Pending I/O – can’t swap out as I/O would occur to wrong process</a:t>
            </a:r>
            <a:endParaRPr lang="en-US" altLang="en-US" dirty="0"/>
          </a:p>
          <a:p>
            <a:pPr lvl="1"/>
            <a:r>
              <a:rPr lang="en-US" altLang="en-US" dirty="0"/>
              <a:t>Or always transfer I/O to kernel space, then to I/O device</a:t>
            </a:r>
            <a:endParaRPr lang="en-US" altLang="en-US" dirty="0"/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  <a:endParaRPr lang="en-US" altLang="en-US" dirty="0"/>
          </a:p>
          <a:p>
            <a:r>
              <a:rPr lang="en-US" altLang="en-US" dirty="0"/>
              <a:t>Standard swapping not used in modern operating systems</a:t>
            </a:r>
            <a:endParaRPr lang="en-US" altLang="en-US" dirty="0"/>
          </a:p>
          <a:p>
            <a:pPr lvl="1"/>
            <a:r>
              <a:rPr lang="en-US" altLang="en-US" dirty="0"/>
              <a:t>But modified version common</a:t>
            </a:r>
            <a:endParaRPr lang="en-US" altLang="en-US" dirty="0"/>
          </a:p>
          <a:p>
            <a:pPr lvl="2"/>
            <a:r>
              <a:rPr lang="en-US" altLang="en-US" dirty="0"/>
              <a:t>Swap only when free memory extremely 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  <a:endParaRPr lang="en-US" altLang="en-US" dirty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  <a:endParaRPr lang="en-US" altLang="en-US" dirty="0"/>
          </a:p>
          <a:p>
            <a:pPr lvl="1"/>
            <a:r>
              <a:rPr lang="en-US" altLang="en-US" dirty="0"/>
              <a:t>Flash memory based</a:t>
            </a:r>
            <a:endParaRPr lang="en-US" altLang="en-US" dirty="0"/>
          </a:p>
          <a:p>
            <a:pPr lvl="2"/>
            <a:r>
              <a:rPr lang="en-US" altLang="en-US" dirty="0"/>
              <a:t>Small amount of space</a:t>
            </a:r>
            <a:endParaRPr lang="en-US" altLang="en-US" dirty="0"/>
          </a:p>
          <a:p>
            <a:pPr lvl="2"/>
            <a:r>
              <a:rPr lang="en-US" altLang="en-US" dirty="0"/>
              <a:t>Limited number of write cycles</a:t>
            </a:r>
            <a:endParaRPr lang="en-US" altLang="en-US" dirty="0"/>
          </a:p>
          <a:p>
            <a:pPr lvl="2"/>
            <a:r>
              <a:rPr lang="en-US" altLang="en-US" dirty="0"/>
              <a:t>Poor throughput between flash memory and CPU on mobile platform</a:t>
            </a:r>
            <a:endParaRPr lang="en-US" altLang="en-US" dirty="0"/>
          </a:p>
          <a:p>
            <a:r>
              <a:rPr lang="en-US" altLang="en-US" dirty="0"/>
              <a:t>Instead use other methods to free memory if low</a:t>
            </a:r>
            <a:endParaRPr lang="en-US" altLang="en-US" dirty="0"/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  <a:endParaRPr lang="en-US" altLang="en-US" dirty="0"/>
          </a:p>
          <a:p>
            <a:pPr lvl="2"/>
            <a:r>
              <a:rPr lang="en-US" altLang="en-US" dirty="0"/>
              <a:t>Read-only data thrown out and reloaded from flash if needed</a:t>
            </a:r>
            <a:endParaRPr lang="en-US" altLang="en-US" dirty="0"/>
          </a:p>
          <a:p>
            <a:pPr lvl="2"/>
            <a:r>
              <a:rPr lang="en-US" altLang="en-US" dirty="0"/>
              <a:t>Failure to free can result in termination</a:t>
            </a:r>
            <a:endParaRPr lang="en-US" altLang="en-US" dirty="0"/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  <a:endParaRPr lang="en-US" altLang="en-US" dirty="0"/>
          </a:p>
          <a:p>
            <a:pPr lvl="1"/>
            <a:r>
              <a:rPr lang="en-US" altLang="en-US" dirty="0"/>
              <a:t>Both OSes support paging as discussed below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230" y="1295400"/>
            <a:ext cx="524573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  <a:endParaRPr lang="en-US" altLang="en-US" sz="2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Dominant industry chips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Pentium CPUs are 32-bit and called IA-32 architecture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Current Intel CPUs are 64-bit and called IA-64 architecture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Many variations in the chips, cover the main ideas here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  <a:endParaRPr lang="en-US" altLang="en-US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Supports both segmentation and segmentation with paging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Each segment can be 4 GB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Up to 16 K segments per process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Divided into two partitions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First partition of up to 8 K segments are private to process (kept in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local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LDT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Second partition of up to 8K segments shared among all processes (kept in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global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GDT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  <a:endParaRPr lang="en-US" altLang="en-US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produces linear addresses </a:t>
            </a:r>
            <a:endParaRPr lang="en-US" altLang="en-US" dirty="0"/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Pages sizes can be 4 KB or 4 MB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230" y="2458720"/>
            <a:ext cx="290004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  <a:endParaRPr lang="en-US" altLang="en-US" sz="2400" dirty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23564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" y="1524000"/>
            <a:ext cx="7473315" cy="91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  <a:endParaRPr lang="en-US" altLang="en-US" dirty="0"/>
          </a:p>
        </p:txBody>
      </p:sp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445" y="1099185"/>
            <a:ext cx="5323205" cy="51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  <a:endParaRPr lang="en-US" altLang="en-US" dirty="0"/>
          </a:p>
        </p:txBody>
      </p:sp>
      <p:pic>
        <p:nvPicPr>
          <p:cNvPr id="65539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0" y="1314450"/>
            <a:ext cx="647065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  <a:endParaRPr lang="en-US" altLang="en-US" dirty="0"/>
          </a:p>
        </p:txBody>
      </p:sp>
      <p:pic>
        <p:nvPicPr>
          <p:cNvPr id="67587" name="Picture 1" descr="8_24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55" y="3639185"/>
            <a:ext cx="6469380" cy="2764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/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kumimoji="1"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  <a:endParaRPr lang="en-US" altLang="en-US" dirty="0"/>
          </a:p>
        </p:txBody>
      </p:sp>
      <p:sp>
        <p:nvSpPr>
          <p:cNvPr id="68611" name="Rectangle 3"/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Current generation Intel x86 architecture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64 bits is ginormous (&gt; 16 exabytes)</a:t>
            </a:r>
            <a:endParaRPr kumimoji="1"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In practice only implement 48 bit addressing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Page sizes of 4 KB, 2 MB, 1 GB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Calibri" panose="020F0502020204030204" charset="0"/>
                <a:cs typeface="Calibri" panose="020F0502020204030204" charset="0"/>
              </a:rPr>
              <a:t>Four levels of paging hierarchy</a:t>
            </a:r>
            <a:endParaRPr kumimoji="1"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Can also use PAE so virtual addresses are 48 bits and physical addresses are 52 bits</a:t>
            </a:r>
            <a:endParaRPr kumimoji="1"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8612" name="Picture 2" descr="8_25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  <a:endParaRPr lang="en-US" altLang="en-US" dirty="0"/>
          </a:p>
        </p:txBody>
      </p:sp>
      <p:sp>
        <p:nvSpPr>
          <p:cNvPr id="69635" name="Rectangle 3"/>
          <p:cNvSpPr txBox="1">
            <a:spLocks noChangeArrowheads="1"/>
          </p:cNvSpPr>
          <p:nvPr/>
        </p:nvSpPr>
        <p:spPr bwMode="auto">
          <a:xfrm>
            <a:off x="490220" y="1170305"/>
            <a:ext cx="3797935" cy="514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9636" name="Picture 1" descr="8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190" y="1323340"/>
            <a:ext cx="4447540" cy="3247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90220" y="1056640"/>
            <a:ext cx="3980180" cy="5574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Dominant mobile platform chip (Apple iOS and Google Android devices for example)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Modern, energy efficient, 32-bit CPU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4 KB and 16 KB pages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1 MB and 16 MB pages (termed </a:t>
            </a:r>
            <a:r>
              <a:rPr kumimoji="1" lang="en-US" altLang="en-US" sz="18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sections</a:t>
            </a: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One-level paging for sections, two-level for smaller pages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Two levels of TLBs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Outer level has two micro TLBs (one data, one instruction)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Inner is single main TLB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800" dirty="0">
                <a:latin typeface="Calibri" panose="020F0502020204030204" charset="0"/>
                <a:cs typeface="Calibri" panose="020F0502020204030204" charset="0"/>
                <a:sym typeface="+mn-ea"/>
              </a:rPr>
              <a:t>First inner is checked, on miss outers are checked, and on miss page table walk performed by CPU</a:t>
            </a:r>
            <a:endParaRPr kumimoji="1" lang="en-US" altLang="en-US" sz="18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21333</Words>
  <Application>WPS 演示</Application>
  <PresentationFormat>On-screen Show (4:3)</PresentationFormat>
  <Paragraphs>581</Paragraphs>
  <Slides>67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6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Monotype Sorts</vt:lpstr>
      <vt:lpstr>微软雅黑</vt:lpstr>
      <vt:lpstr>Arial Unicode MS</vt:lpstr>
      <vt:lpstr>Symbol</vt:lpstr>
      <vt:lpstr>Wingdings</vt:lpstr>
      <vt:lpstr>Courier New</vt:lpstr>
      <vt:lpstr>os-8</vt:lpstr>
      <vt:lpstr>PowerPoint 演示文稿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Paging Architecture</vt:lpstr>
      <vt:lpstr>Intel IA-32 Segmentation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354</cp:revision>
  <cp:lastPrinted>2013-09-30T19:34:00Z</cp:lastPrinted>
  <dcterms:created xsi:type="dcterms:W3CDTF">2011-01-13T23:43:00Z</dcterms:created>
  <dcterms:modified xsi:type="dcterms:W3CDTF">2026-05-10T08:41:32Z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3BB796D199CE4218BF04B2FD3C0E2B2E_12</vt:lpwstr>
  </property>
  <property fmtid="{D5CDD505-2E9C-101B-9397-08002B2CF9AE}" pid="3" name="KSOProductBuildVer">
    <vt:lpwstr>2052-12.1.0.23542</vt:lpwstr>
  </property>
</Properties>
</file>