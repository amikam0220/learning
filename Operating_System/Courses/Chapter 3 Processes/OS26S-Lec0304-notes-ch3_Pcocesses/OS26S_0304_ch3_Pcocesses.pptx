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526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19" r:id="rId12"/>
    <p:sldId id="469" r:id="rId13"/>
    <p:sldId id="421" r:id="rId14"/>
    <p:sldId id="422" r:id="rId15"/>
    <p:sldId id="423" r:id="rId16"/>
    <p:sldId id="500" r:id="rId17"/>
    <p:sldId id="501" r:id="rId18"/>
    <p:sldId id="426" r:id="rId19"/>
    <p:sldId id="428" r:id="rId20"/>
    <p:sldId id="429" r:id="rId21"/>
    <p:sldId id="431" r:id="rId22"/>
    <p:sldId id="430" r:id="rId23"/>
    <p:sldId id="432" r:id="rId24"/>
    <p:sldId id="478" r:id="rId25"/>
    <p:sldId id="434" r:id="rId26"/>
    <p:sldId id="471" r:id="rId27"/>
    <p:sldId id="502" r:id="rId28"/>
    <p:sldId id="435" r:id="rId29"/>
    <p:sldId id="436" r:id="rId30"/>
    <p:sldId id="437" r:id="rId31"/>
    <p:sldId id="516" r:id="rId32"/>
    <p:sldId id="503" r:id="rId33"/>
    <p:sldId id="490" r:id="rId34"/>
    <p:sldId id="491" r:id="rId35"/>
    <p:sldId id="492" r:id="rId36"/>
    <p:sldId id="521" r:id="rId37"/>
    <p:sldId id="522" r:id="rId38"/>
    <p:sldId id="523" r:id="rId39"/>
    <p:sldId id="524" r:id="rId40"/>
    <p:sldId id="525" r:id="rId41"/>
    <p:sldId id="479" r:id="rId42"/>
    <p:sldId id="473" r:id="rId43"/>
    <p:sldId id="476" r:id="rId44"/>
    <p:sldId id="445" r:id="rId45"/>
    <p:sldId id="446" r:id="rId46"/>
    <p:sldId id="447" r:id="rId47"/>
    <p:sldId id="448" r:id="rId48"/>
    <p:sldId id="518" r:id="rId49"/>
    <p:sldId id="520" r:id="rId50"/>
    <p:sldId id="451" r:id="rId51"/>
    <p:sldId id="496" r:id="rId52"/>
    <p:sldId id="497" r:id="rId53"/>
    <p:sldId id="498" r:id="rId54"/>
    <p:sldId id="455" r:id="rId55"/>
    <p:sldId id="507" r:id="rId56"/>
    <p:sldId id="508" r:id="rId57"/>
    <p:sldId id="509" r:id="rId58"/>
    <p:sldId id="510" r:id="rId59"/>
    <p:sldId id="457" r:id="rId60"/>
    <p:sldId id="511" r:id="rId61"/>
    <p:sldId id="512" r:id="rId62"/>
    <p:sldId id="513" r:id="rId63"/>
    <p:sldId id="458" r:id="rId64"/>
    <p:sldId id="459" r:id="rId65"/>
    <p:sldId id="460" r:id="rId66"/>
    <p:sldId id="461" r:id="rId67"/>
    <p:sldId id="514" r:id="rId68"/>
    <p:sldId id="462" r:id="rId69"/>
    <p:sldId id="477" r:id="rId70"/>
    <p:sldId id="463" r:id="rId71"/>
    <p:sldId id="467" r:id="rId7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9447EF-E2F9-4768-A463-BCA447156F82}" v="2" dt="2026-04-10T06:15:13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5"/>
  </p:normalViewPr>
  <p:slideViewPr>
    <p:cSldViewPr snapToGrid="0" showGuides="1">
      <p:cViewPr>
        <p:scale>
          <a:sx n="60" d="100"/>
          <a:sy n="60" d="100"/>
        </p:scale>
        <p:origin x="55" y="717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的" userId="7483e1e6a959e322" providerId="LiveId" clId="{286C159D-603C-4CB1-AE78-F5F98B38873E}"/>
    <pc:docChg chg="modSld">
      <pc:chgData name="by 的" userId="7483e1e6a959e322" providerId="LiveId" clId="{286C159D-603C-4CB1-AE78-F5F98B38873E}" dt="2026-04-10T06:15:13.305" v="1" actId="1037"/>
      <pc:docMkLst>
        <pc:docMk/>
      </pc:docMkLst>
      <pc:sldChg chg="modSp">
        <pc:chgData name="by 的" userId="7483e1e6a959e322" providerId="LiveId" clId="{286C159D-603C-4CB1-AE78-F5F98B38873E}" dt="2026-04-10T06:12:49.871" v="0" actId="1038"/>
        <pc:sldMkLst>
          <pc:docMk/>
          <pc:sldMk cId="0" sldId="491"/>
        </pc:sldMkLst>
        <pc:spChg chg="mod">
          <ac:chgData name="by 的" userId="7483e1e6a959e322" providerId="LiveId" clId="{286C159D-603C-4CB1-AE78-F5F98B38873E}" dt="2026-04-10T06:12:49.871" v="0" actId="1038"/>
          <ac:spMkLst>
            <pc:docMk/>
            <pc:sldMk cId="0" sldId="491"/>
            <ac:spMk id="71683" creationId="{00000000-0000-0000-0000-000000000000}"/>
          </ac:spMkLst>
        </pc:spChg>
      </pc:sldChg>
      <pc:sldChg chg="modSp">
        <pc:chgData name="by 的" userId="7483e1e6a959e322" providerId="LiveId" clId="{286C159D-603C-4CB1-AE78-F5F98B38873E}" dt="2026-04-10T06:15:13.305" v="1" actId="1037"/>
        <pc:sldMkLst>
          <pc:docMk/>
          <pc:sldMk cId="0" sldId="523"/>
        </pc:sldMkLst>
        <pc:spChg chg="mod">
          <ac:chgData name="by 的" userId="7483e1e6a959e322" providerId="LiveId" clId="{286C159D-603C-4CB1-AE78-F5F98B38873E}" dt="2026-04-10T06:15:13.305" v="1" actId="1037"/>
          <ac:spMkLst>
            <pc:docMk/>
            <pc:sldMk cId="0" sldId="523"/>
            <ac:spMk id="1536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ctr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ctr" anchorCtr="0" compatLnSpc="1"/>
          <a:lstStyle>
            <a:lvl1pPr algn="r"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b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b" anchorCtr="0" compatLnSpc="1"/>
          <a:lstStyle>
            <a:lvl1pPr algn="r" defTabSz="882650">
              <a:defRPr sz="1100">
                <a:latin typeface="Helvetica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>
            <a:lvl1pPr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>
            <a:lvl1pPr algn="r"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b" anchorCtr="0" compatLnSpc="1"/>
          <a:lstStyle>
            <a:lvl1pPr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b" anchorCtr="0" compatLnSpc="1"/>
          <a:lstStyle>
            <a:lvl1pPr algn="r" defTabSz="930275">
              <a:defRPr sz="1200">
                <a:latin typeface="Times New Roman" panose="0202060305040502030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  <a:t>1</a:t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charset="0"/>
              </a:rPr>
              <a:t>36</a:t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charset="0"/>
              </a:rPr>
              <a:t>37</a:t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charset="0"/>
              </a:rPr>
              <a:t>38</a:t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charset="0"/>
              </a:rPr>
              <a:t>39</a:t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charset="0"/>
              </a:rPr>
              <a:t>40</a:t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Silberschatz, Galvin and Gagne ©2018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Silberschatz, Galvin and Gagne ©2018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3: Peocesses</a:t>
            </a:r>
            <a:endParaRPr lang="zh-CN" altLang="en-US" sz="4000" dirty="0">
              <a:solidFill>
                <a:srgbClr val="00206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Process Concept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Process Scheduling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Operations on Processes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Interprocess Communication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IPC in Shared-Memory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IPC in Message-Passing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Examples of IPC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01688" y="1138238"/>
            <a:ext cx="7745412" cy="4530725"/>
          </a:xfrm>
        </p:spPr>
        <p:txBody>
          <a:bodyPr/>
          <a:lstStyle/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Identify the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separate components of a process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and illustrate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how they are represented and scheduled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in an operating system.</a:t>
            </a: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Describe </a:t>
            </a:r>
            <a:r>
              <a:rPr lang="en-US" altLang="en-US" sz="2000" dirty="0">
                <a:solidFill>
                  <a:srgbClr val="00B050"/>
                </a:solidFill>
                <a:latin typeface="Calibri" panose="020F0502020204030204" charset="0"/>
                <a:cs typeface="Calibri" panose="020F0502020204030204" charset="0"/>
              </a:rPr>
              <a:t>how processes are created and terminated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in an operating system, including developing programs using the appropriate system calls that perform these operations.</a:t>
            </a: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Describe and contrast </a:t>
            </a:r>
            <a:r>
              <a:rPr lang="en-US" altLang="en-US" sz="2000" dirty="0" err="1">
                <a:solidFill>
                  <a:srgbClr val="00B050"/>
                </a:solidFill>
                <a:latin typeface="Calibri" panose="020F0502020204030204" charset="0"/>
                <a:cs typeface="Calibri" panose="020F0502020204030204" charset="0"/>
              </a:rPr>
              <a:t>interprocess</a:t>
            </a:r>
            <a:r>
              <a:rPr lang="en-US" altLang="en-US" sz="2000" dirty="0">
                <a:solidFill>
                  <a:srgbClr val="00B050"/>
                </a:solidFill>
                <a:latin typeface="Calibri" panose="020F0502020204030204" charset="0"/>
                <a:cs typeface="Calibri" panose="020F0502020204030204" charset="0"/>
              </a:rPr>
              <a:t> communication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using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shared memory and message passing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.</a:t>
            </a: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Design programs that uses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pipes and POSIX shared memory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to perform </a:t>
            </a:r>
            <a:r>
              <a:rPr lang="en-US" altLang="en-US" sz="20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interprocess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communication.</a:t>
            </a: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Describe client-server communication using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sockets and remote procedure calls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.</a:t>
            </a:r>
          </a:p>
          <a:p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Design kernel modules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that interact with the Linux operating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 (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进程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)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185" y="1190625"/>
            <a:ext cx="3093085" cy="4947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" y="1449070"/>
            <a:ext cx="8415655" cy="3997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Explore in detail in 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</a:p>
          <a:p>
            <a:pPr>
              <a:buFont typeface="Monotype Sorts" pitchFamily="-84" charset="2"/>
              <a:buNone/>
            </a:pP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4075113"/>
            <a:ext cx="457835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119417"/>
            <a:ext cx="6456362" cy="383944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</a:p>
          <a:p>
            <a:r>
              <a:rPr lang="en-US" altLang="en-US" dirty="0"/>
              <a:t>Goal -- Maximize CPU use, quickly switch processes onto CPU core</a:t>
            </a:r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55" y="1529080"/>
            <a:ext cx="7222490" cy="4296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" y="1378585"/>
            <a:ext cx="7612380" cy="4392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711518" y="16700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/>
          <p:cNvSpPr txBox="1">
            <a:spLocks noChangeArrowheads="1"/>
          </p:cNvSpPr>
          <p:nvPr/>
        </p:nvSpPr>
        <p:spPr bwMode="auto">
          <a:xfrm>
            <a:off x="527337" y="804863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" y="1779905"/>
            <a:ext cx="5988685" cy="489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11137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</a:t>
            </a:r>
          </a:p>
          <a:p>
            <a:r>
              <a:rPr lang="en-US" altLang="en-US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4471670"/>
            <a:ext cx="8288020" cy="1364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600835"/>
            <a:ext cx="8360410" cy="373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42290" y="1222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690" y="849630"/>
            <a:ext cx="6474460" cy="600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123825"/>
            <a:ext cx="8622030" cy="57658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rgbClr val="C00000"/>
                </a:solidFill>
              </a:rPr>
              <a:t>Creating a Separate Process via Windows API (*)</a:t>
            </a:r>
          </a:p>
        </p:txBody>
      </p:sp>
      <p:pic>
        <p:nvPicPr>
          <p:cNvPr id="50179" name="Picture 1" descr="Screen Shot 2012-12-04 at 11.23.4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 noChangeArrowheads="1"/>
          </p:cNvSpPr>
          <p:nvPr>
            <p:ph type="title"/>
          </p:nvPr>
        </p:nvSpPr>
        <p:spPr>
          <a:xfrm>
            <a:off x="1455123" y="119918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835" y="1073150"/>
            <a:ext cx="8453120" cy="462597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Many web browsers ran as single process (some still do)</a:t>
            </a: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one web site causes trouble, entire browser can hang or crash</a:t>
            </a: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Google Chrome Browser is </a:t>
            </a:r>
            <a:r>
              <a:rPr lang="en-US" altLang="en-US" sz="2000" dirty="0" err="1">
                <a:latin typeface="Calibri" panose="020F0502020204030204" charset="0"/>
                <a:cs typeface="Calibri" panose="020F0502020204030204" charset="0"/>
              </a:rPr>
              <a:t>multiprocess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with 3 different types of processes: 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Browser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process manages user interface, disk and network I/O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Renderer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process renders web pages, deals with HTML, </a:t>
            </a:r>
            <a:r>
              <a:rPr lang="en-US" altLang="en-US" sz="2000" dirty="0" err="1">
                <a:latin typeface="Calibri" panose="020F0502020204030204" charset="0"/>
                <a:cs typeface="Calibri" panose="020F0502020204030204" charset="0"/>
              </a:rPr>
              <a:t>Javascript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. A new renderer created for each website opened</a:t>
            </a: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Runs in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sandbox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restricting disk and network I/O, minimizing effect of security exploits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Plug-in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" y="4837430"/>
            <a:ext cx="8762365" cy="176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1132840" y="1055370"/>
            <a:ext cx="725424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kumimoji="0" lang="en-US" altLang="en-US" sz="240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(a) Shared memory.  	      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" y="1865630"/>
            <a:ext cx="7323455" cy="4688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920585" y="95580"/>
            <a:ext cx="8426450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IPC – Shared Memory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233488"/>
            <a:ext cx="7239751" cy="4385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Major issues is to provide mechanism that will allow the user processes to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Synchronization is discussed in great details in Chapters 6 &amp; 7.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26594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Bounded-Buffer – Shared-Memory Solution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486650" cy="4700588"/>
          </a:xfrm>
        </p:spPr>
        <p:txBody>
          <a:bodyPr/>
          <a:lstStyle/>
          <a:p>
            <a:r>
              <a:rPr lang="en-US" altLang="en-US"/>
              <a:t>Shared data</a:t>
            </a:r>
          </a:p>
          <a:p>
            <a:endParaRPr lang="en-US" altLang="en-US"/>
          </a:p>
          <a:p>
            <a:pPr marL="1598930" lvl="3"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#define BUFFER_SIZE 10</a:t>
            </a:r>
          </a:p>
          <a:p>
            <a:pPr marL="1598930" lvl="3"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typedef struct {</a:t>
            </a:r>
          </a:p>
          <a:p>
            <a:pPr marL="1598930" lvl="3"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. . .</a:t>
            </a:r>
          </a:p>
          <a:p>
            <a:pPr marL="1598930" lvl="3"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} item;</a:t>
            </a:r>
          </a:p>
          <a:p>
            <a:pPr marL="1598930" lvl="3">
              <a:buFontTx/>
              <a:buNone/>
            </a:pPr>
            <a:endParaRPr lang="en-US" altLang="en-US" b="1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1598930" lvl="3"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item buffer[BUFFER_SIZE];</a:t>
            </a:r>
          </a:p>
          <a:p>
            <a:pPr marL="1598930" lvl="3"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int in = 0;</a:t>
            </a:r>
          </a:p>
          <a:p>
            <a:pPr marL="1598930" lvl="3"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int out = 0;</a:t>
            </a:r>
          </a:p>
          <a:p>
            <a:pPr marL="1598930" lvl="3">
              <a:buFontTx/>
              <a:buNone/>
            </a:pPr>
            <a:endParaRPr lang="en-US" altLang="en-US"/>
          </a:p>
          <a:p>
            <a:r>
              <a:rPr lang="en-US" altLang="en-US"/>
              <a:t>Solution is correct, but can only use </a:t>
            </a:r>
            <a:r>
              <a:rPr lang="en-US" altLang="en-US" b="1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BUFFER_SIZE-1</a:t>
            </a:r>
            <a:r>
              <a:rPr lang="en-US" altLang="en-US"/>
              <a:t> elements</a:t>
            </a:r>
          </a:p>
          <a:p>
            <a:pPr marL="1598930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2519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item </a:t>
            </a:r>
            <a:r>
              <a:rPr lang="en-US" altLang="en-US" sz="1800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next_produced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; </a:t>
            </a:r>
            <a:b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endParaRPr lang="en-US" altLang="en-US" sz="1800" b="1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</a:t>
            </a:r>
            <a:r>
              <a:rPr lang="en-US" altLang="en-US" sz="1800" b="1" dirty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/* produce an item in next produced */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1800" b="1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   ; 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buffer[in] = </a:t>
            </a:r>
            <a:r>
              <a:rPr lang="en-US" altLang="en-US" sz="1800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next_produced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en-US" sz="18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1400" dirty="0"/>
              <a:t>	</a:t>
            </a:r>
          </a:p>
          <a:p>
            <a:pPr marL="7167880" lvl="4">
              <a:buFontTx/>
              <a:buNone/>
            </a:pPr>
            <a:endParaRPr lang="en-US" alt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item </a:t>
            </a:r>
            <a:r>
              <a:rPr lang="en-US" altLang="en-US" sz="1800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next_consumed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; </a:t>
            </a:r>
            <a:b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endParaRPr lang="en-US" altLang="en-US" sz="1800" b="1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while (true) {</a:t>
            </a:r>
            <a:b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 ;  /* do nothing */</a:t>
            </a:r>
            <a:b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en-US" sz="1800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next_consumed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out = (out + 1) % BUFFER_SIZE;</a:t>
            </a:r>
            <a:b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endParaRPr lang="en-US" altLang="en-US" sz="1800" b="1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en-US" sz="1800" b="1" dirty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/* consume the item in next consumed */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/>
          <p:cNvSpPr>
            <a:spLocks noGrp="1" noChangeArrowheads="1"/>
          </p:cNvSpPr>
          <p:nvPr>
            <p:ph type="title"/>
          </p:nvPr>
        </p:nvSpPr>
        <p:spPr>
          <a:xfrm>
            <a:off x="938127" y="215318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58888"/>
            <a:ext cx="6999288" cy="455771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while (true) {</a:t>
            </a:r>
            <a:b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en-US" sz="1800" b="1" dirty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/* produce an item in next produced */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while (counter == BUFFER_SIZE) 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 ; 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buffer[in] = </a:t>
            </a:r>
            <a:r>
              <a:rPr lang="en-US" altLang="en-US" sz="1800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next_produced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in = (in + 1) % BUFFER_SIZE;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counter++;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en-US" sz="1700" dirty="0">
                <a:latin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87" y="1262063"/>
            <a:ext cx="6931219" cy="4860925"/>
          </a:xfrm>
        </p:spPr>
        <p:txBody>
          <a:bodyPr/>
          <a:lstStyle/>
          <a:p>
            <a:pPr marL="0" algn="l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while (true) {</a:t>
            </a:r>
          </a:p>
          <a:p>
            <a:pPr marL="0" algn="l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while (counter == 0) </a:t>
            </a:r>
          </a:p>
          <a:p>
            <a:pPr marL="0" algn="l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 ;  /* do nothing */ </a:t>
            </a:r>
          </a:p>
          <a:p>
            <a:pPr marL="0" algn="l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next_consumed = buffer[out]; </a:t>
            </a:r>
          </a:p>
          <a:p>
            <a:pPr marL="0" algn="l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out = (out + 1) % BUFFER_SIZE; 	</a:t>
            </a:r>
          </a:p>
          <a:p>
            <a:pPr marL="0" algn="l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counter--; </a:t>
            </a:r>
          </a:p>
          <a:p>
            <a:pPr marL="0" algn="l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en-US" sz="1800" b="1" dirty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/* consume the item in next consumed */</a:t>
            </a: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</a:p>
          <a:p>
            <a:pPr marL="0" algn="l"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}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17410" name="Rectangle 1027"/>
          <p:cNvSpPr>
            <a:spLocks noGrp="1" noChangeArrowheads="1"/>
          </p:cNvSpPr>
          <p:nvPr>
            <p:ph idx="1"/>
          </p:nvPr>
        </p:nvSpPr>
        <p:spPr>
          <a:xfrm>
            <a:off x="666115" y="1177925"/>
            <a:ext cx="8082280" cy="54000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interleaving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(Cont.)</a:t>
            </a:r>
          </a:p>
        </p:txBody>
      </p:sp>
      <p:sp>
        <p:nvSpPr>
          <p:cNvPr id="17410" name="Rectangle 1027"/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6550503" cy="47452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b="1" dirty="0">
                <a:solidFill>
                  <a:srgbClr val="0070C0"/>
                </a:solidFill>
                <a:uFillTx/>
              </a:rPr>
              <a:t>Primitives</a:t>
            </a:r>
            <a:r>
              <a:rPr lang="en-US" altLang="en-US" dirty="0"/>
              <a:t>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730" indent="-379730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MS PGothic" panose="020B0600070205080204" pitchFamily="34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830" lvl="1" indent="-341630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830" lvl="1" indent="-341630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730" indent="-379730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MS PGothic" panose="020B0600070205080204" pitchFamily="34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830" lvl="1" indent="-341630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830" lvl="1" indent="-341630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730" lvl="2" indent="-341630">
              <a:defRPr/>
            </a:pPr>
            <a:r>
              <a:rPr lang="en-US" dirty="0"/>
              <a:t>A valid message,  or </a:t>
            </a:r>
          </a:p>
          <a:p>
            <a:pPr marL="1141730" lvl="2" indent="-341630">
              <a:defRPr/>
            </a:pPr>
            <a:r>
              <a:rPr lang="en-US" dirty="0"/>
              <a:t>Null message</a:t>
            </a:r>
          </a:p>
          <a:p>
            <a:pPr marL="398780" indent="-341630"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Different combinations possible</a:t>
            </a:r>
          </a:p>
          <a:p>
            <a:pPr marL="798830" lvl="1" indent="-341630">
              <a:defRPr/>
            </a:pPr>
            <a:r>
              <a:rPr lang="en-US" dirty="0">
                <a:ea typeface="MS PGothic" panose="020B0600070205080204" pitchFamily="34" charset="-128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780" indent="-341630">
              <a:defRPr/>
            </a:pPr>
            <a:endParaRPr lang="en-US" dirty="0">
              <a:cs typeface="MS PGothic" panose="020B0600070205080204" pitchFamily="34" charset="-128"/>
            </a:endParaRPr>
          </a:p>
          <a:p>
            <a:pPr marL="1141730" lvl="2" indent="-341630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730" indent="-379730">
              <a:defRPr/>
            </a:pPr>
            <a:r>
              <a:rPr lang="en-US" dirty="0">
                <a:cs typeface="MS PGothic" panose="020B0600070205080204" pitchFamily="34" charset="-128"/>
              </a:rPr>
              <a:t>Message passing may be either blocking or non-blocking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655" cy="4932045"/>
          </a:xfrm>
        </p:spPr>
        <p:txBody>
          <a:bodyPr/>
          <a:lstStyle/>
          <a:p>
            <a:r>
              <a:rPr lang="en-US" altLang="en-US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message </a:t>
            </a:r>
            <a:r>
              <a:rPr kumimoji="0" lang="en-US" altLang="en-US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next_produced</a:t>
            </a:r>
            <a: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while (true) {</a:t>
            </a:r>
            <a:b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</a:t>
            </a:r>
            <a:r>
              <a:rPr kumimoji="0" lang="en-US" altLang="en-US" b="1" dirty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/* produce an item in </a:t>
            </a:r>
            <a:r>
              <a:rPr kumimoji="0" lang="en-US" altLang="en-US" b="1" dirty="0" err="1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next_produced</a:t>
            </a:r>
            <a:r>
              <a:rPr kumimoji="0" lang="en-US" altLang="en-US" b="1" dirty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 */</a:t>
            </a:r>
            <a:br>
              <a:rPr kumimoji="0" lang="en-US" altLang="en-US" b="1" dirty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</a:br>
            <a: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   send(</a:t>
            </a:r>
            <a:r>
              <a:rPr kumimoji="0" lang="en-US" altLang="en-US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next_produced</a:t>
            </a:r>
            <a: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}</a:t>
            </a:r>
            <a:r>
              <a:rPr kumimoji="0" lang="en-US" altLang="en-US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Consumer</a:t>
            </a:r>
          </a:p>
          <a:p>
            <a:pPr algn="l">
              <a:buClrTx/>
              <a:buSzTx/>
              <a:buFont typeface="Monotype Sorts" pitchFamily="-84" charset="2"/>
              <a:buNone/>
            </a:pPr>
            <a:r>
              <a:rPr kumimoji="0"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message next_consumed;</a:t>
            </a:r>
          </a:p>
          <a:p>
            <a:pPr algn="l">
              <a:buClrTx/>
              <a:buSzTx/>
              <a:buFont typeface="Monotype Sorts" pitchFamily="-84" charset="2"/>
              <a:buNone/>
            </a:pPr>
            <a:r>
              <a:rPr kumimoji="0"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while (true) {</a:t>
            </a:r>
          </a:p>
          <a:p>
            <a:pPr algn="l">
              <a:buClrTx/>
              <a:buSzTx/>
              <a:buFont typeface="Monotype Sorts" pitchFamily="-84" charset="2"/>
              <a:buNone/>
            </a:pPr>
            <a:r>
              <a:rPr kumimoji="0"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   receive(next_consumed);</a:t>
            </a:r>
          </a:p>
          <a:p>
            <a:pPr algn="l">
              <a:buClrTx/>
              <a:buSzTx/>
              <a:buFont typeface="Monotype Sorts" pitchFamily="-84" charset="2"/>
              <a:buNone/>
            </a:pPr>
            <a:br>
              <a:rPr kumimoji="0"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r>
              <a:rPr kumimoji="0"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kumimoji="0" lang="en-US" altLang="en-US" sz="1800" b="1" dirty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/* consume the item in next_consumed */</a:t>
            </a:r>
            <a:br>
              <a:rPr kumimoji="0"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r>
              <a:rPr kumimoji="0" lang="en-US" altLang="en-US" sz="1800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}</a:t>
            </a: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1013081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Producer-Consumer: Message Passing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/>
              <a:t>Examples of IPC Systems - POSIX</a:t>
            </a:r>
          </a:p>
        </p:txBody>
      </p:sp>
      <p:sp>
        <p:nvSpPr>
          <p:cNvPr id="9625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11225" y="1233488"/>
            <a:ext cx="7577138" cy="4530725"/>
          </a:xfrm>
        </p:spPr>
        <p:txBody>
          <a:bodyPr/>
          <a:lstStyle/>
          <a:p>
            <a:r>
              <a:rPr lang="en-US" altLang="en-US" dirty="0"/>
              <a:t>POSIX Shared Memory</a:t>
            </a:r>
          </a:p>
          <a:p>
            <a:pPr lvl="1"/>
            <a:r>
              <a:rPr lang="en-US" altLang="en-US" dirty="0"/>
              <a:t>Process first creates shared memory segment</a:t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</a:p>
          <a:p>
            <a:pPr lvl="1"/>
            <a:r>
              <a:rPr lang="en-US" altLang="en-US" dirty="0"/>
              <a:t>Also used to open an existing segment</a:t>
            </a:r>
          </a:p>
          <a:p>
            <a:pPr lvl="1"/>
            <a:r>
              <a:rPr lang="en-US" altLang="en-US" dirty="0"/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           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 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to memory-map a file pointer to the shared memory object</a:t>
            </a:r>
          </a:p>
          <a:p>
            <a:pPr lvl="1"/>
            <a:r>
              <a:rPr lang="en-US" altLang="en-US" dirty="0"/>
              <a:t>Reading and writing to shared memory is done by using the pointer returned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.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 noChangeArrowheads="1"/>
          </p:cNvSpPr>
          <p:nvPr>
            <p:ph type="title"/>
          </p:nvPr>
        </p:nvSpPr>
        <p:spPr>
          <a:xfrm>
            <a:off x="167640" y="219075"/>
            <a:ext cx="2807970" cy="1423670"/>
          </a:xfrm>
        </p:spPr>
        <p:txBody>
          <a:bodyPr/>
          <a:lstStyle/>
          <a:p>
            <a:r>
              <a:rPr lang="en-US" altLang="en-US"/>
              <a:t>IPC POSIX Producer</a:t>
            </a:r>
          </a:p>
        </p:txBody>
      </p:sp>
      <p:pic>
        <p:nvPicPr>
          <p:cNvPr id="98307" name="Picture 1" descr="Screen Shot 2013-03-14 at 6.46.5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120" y="64770"/>
            <a:ext cx="5021580" cy="679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 noChangeArrowheads="1"/>
          </p:cNvSpPr>
          <p:nvPr>
            <p:ph type="title"/>
          </p:nvPr>
        </p:nvSpPr>
        <p:spPr>
          <a:xfrm>
            <a:off x="194310" y="233680"/>
            <a:ext cx="2731135" cy="1667510"/>
          </a:xfrm>
        </p:spPr>
        <p:txBody>
          <a:bodyPr/>
          <a:lstStyle/>
          <a:p>
            <a:r>
              <a:rPr lang="en-US" altLang="en-US"/>
              <a:t>IPC POSIX Consumer</a:t>
            </a:r>
          </a:p>
        </p:txBody>
      </p:sp>
      <p:pic>
        <p:nvPicPr>
          <p:cNvPr id="100355" name="Picture 1" descr="Screen Shot 2013-03-12 at 1.38.4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96520"/>
            <a:ext cx="5807710" cy="676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 noChangeArrowheads="1"/>
          </p:cNvSpPr>
          <p:nvPr>
            <p:ph type="title"/>
          </p:nvPr>
        </p:nvSpPr>
        <p:spPr>
          <a:xfrm>
            <a:off x="1138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</a:p>
        </p:txBody>
      </p:sp>
      <p:sp>
        <p:nvSpPr>
          <p:cNvPr id="1024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62940" y="1076325"/>
            <a:ext cx="8202930" cy="4530725"/>
          </a:xfrm>
        </p:spPr>
        <p:txBody>
          <a:bodyPr/>
          <a:lstStyle/>
          <a:p>
            <a:r>
              <a:rPr lang="en-US" altLang="en-US" dirty="0"/>
              <a:t>Mach communication is message based</a:t>
            </a:r>
          </a:p>
          <a:p>
            <a:pPr lvl="1"/>
            <a:r>
              <a:rPr lang="en-US" altLang="en-US" dirty="0"/>
              <a:t>Even system calls are messages</a:t>
            </a:r>
          </a:p>
          <a:p>
            <a:pPr lvl="1"/>
            <a:r>
              <a:rPr lang="en-US" altLang="en-US" dirty="0"/>
              <a:t>Each task gets two ports at creation  - Kernel and Notify</a:t>
            </a:r>
          </a:p>
          <a:p>
            <a:pPr lvl="1"/>
            <a:r>
              <a:rPr lang="en-US" altLang="en-US" dirty="0"/>
              <a:t>Messages are sent and received using the </a:t>
            </a:r>
            <a:r>
              <a:rPr lang="en-US" altLang="en-US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b="1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</a:t>
            </a:r>
          </a:p>
          <a:p>
            <a:pPr lvl="1"/>
            <a:r>
              <a:rPr lang="en-US" altLang="en-US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     </a:t>
            </a:r>
            <a:r>
              <a:rPr lang="en-US" altLang="en-US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b="1" dirty="0"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dirty="0"/>
              <a:t>Send and receive are flexible; for example four options if mailbox full:</a:t>
            </a:r>
          </a:p>
          <a:p>
            <a:pPr lvl="2"/>
            <a:r>
              <a:rPr lang="en-US" altLang="en-US" dirty="0"/>
              <a:t>Wait indefinitely</a:t>
            </a:r>
          </a:p>
          <a:p>
            <a:pPr lvl="2"/>
            <a:r>
              <a:rPr lang="en-US" altLang="en-US" dirty="0"/>
              <a:t>Wait at most n milliseconds</a:t>
            </a:r>
          </a:p>
          <a:p>
            <a:pPr lvl="2"/>
            <a:r>
              <a:rPr lang="en-US" altLang="en-US" dirty="0"/>
              <a:t>Return immediately</a:t>
            </a:r>
          </a:p>
          <a:p>
            <a:pPr lvl="2"/>
            <a:r>
              <a:rPr lang="en-US" altLang="en-US" dirty="0"/>
              <a:t>Temporarily cache a message</a:t>
            </a:r>
          </a:p>
          <a:p>
            <a:pPr lvl="1"/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Mach Messages</a:t>
            </a:r>
          </a:p>
        </p:txBody>
      </p:sp>
      <p:sp>
        <p:nvSpPr>
          <p:cNvPr id="104451" name="Rectangle 2"/>
          <p:cNvSpPr>
            <a:spLocks noChangeArrowheads="1"/>
          </p:cNvSpPr>
          <p:nvPr/>
        </p:nvSpPr>
        <p:spPr bwMode="auto">
          <a:xfrm>
            <a:off x="2209800" y="1572260"/>
            <a:ext cx="4641850" cy="322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#includen&lt;mach/mach.h&gt;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b="1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struct message </a:t>
            </a:r>
            <a:r>
              <a:rPr kumimoji="0" lang="en-US" altLang="en-US" sz="1400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mach_msg_header_t header;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  int data;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;</a:t>
            </a:r>
            <a:b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b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mach port t client;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mach port t server;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endParaRPr kumimoji="0" lang="en-US" altLang="en-U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 noChangeArrowheads="1"/>
          </p:cNvSpPr>
          <p:nvPr>
            <p:ph type="title"/>
          </p:nvPr>
        </p:nvSpPr>
        <p:spPr>
          <a:xfrm>
            <a:off x="895350" y="225425"/>
            <a:ext cx="7639050" cy="576263"/>
          </a:xfrm>
        </p:spPr>
        <p:txBody>
          <a:bodyPr/>
          <a:lstStyle/>
          <a:p>
            <a:r>
              <a:rPr lang="en-US" altLang="en-US"/>
              <a:t>Mach Message Passing - Client</a:t>
            </a:r>
          </a:p>
        </p:txBody>
      </p:sp>
      <p:pic>
        <p:nvPicPr>
          <p:cNvPr id="10547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143000"/>
            <a:ext cx="66675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 noChangeArrowheads="1"/>
          </p:cNvSpPr>
          <p:nvPr>
            <p:ph type="title"/>
          </p:nvPr>
        </p:nvSpPr>
        <p:spPr>
          <a:xfrm>
            <a:off x="1008063" y="225425"/>
            <a:ext cx="7526337" cy="576263"/>
          </a:xfrm>
        </p:spPr>
        <p:txBody>
          <a:bodyPr/>
          <a:lstStyle/>
          <a:p>
            <a:r>
              <a:rPr lang="en-US" altLang="en-US"/>
              <a:t>Mach Message Passing - Server</a:t>
            </a:r>
          </a:p>
        </p:txBody>
      </p:sp>
      <p:pic>
        <p:nvPicPr>
          <p:cNvPr id="10649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633538"/>
            <a:ext cx="69977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 noChangeArrowheads="1"/>
          </p:cNvSpPr>
          <p:nvPr>
            <p:ph type="title"/>
          </p:nvPr>
        </p:nvSpPr>
        <p:spPr>
          <a:xfrm>
            <a:off x="959603" y="170670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</a:p>
        </p:txBody>
      </p:sp>
      <p:sp>
        <p:nvSpPr>
          <p:cNvPr id="1075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9950" y="1154113"/>
            <a:ext cx="6950075" cy="4530725"/>
          </a:xfrm>
        </p:spPr>
        <p:txBody>
          <a:bodyPr/>
          <a:lstStyle/>
          <a:p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procedure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/>
            <a:r>
              <a:rPr lang="en-US" altLang="en-US" dirty="0"/>
              <a:t>Only works between processes on the same system</a:t>
            </a:r>
          </a:p>
          <a:p>
            <a:pPr lvl="1"/>
            <a:r>
              <a:rPr lang="en-US" altLang="en-US" dirty="0"/>
              <a:t>Uses ports (like mailboxes) to establish and maintain communication channels</a:t>
            </a:r>
          </a:p>
          <a:p>
            <a:pPr lvl="1"/>
            <a:r>
              <a:rPr lang="en-US" altLang="en-US" dirty="0"/>
              <a:t>Communication works as follows:</a:t>
            </a:r>
          </a:p>
          <a:p>
            <a:pPr lvl="2"/>
            <a:r>
              <a:rPr lang="en-US" altLang="en-US" dirty="0"/>
              <a:t>The client opens a handle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connection</a:t>
            </a:r>
            <a:r>
              <a:rPr lang="en-US" altLang="ja-JP" b="1" dirty="0">
                <a:solidFill>
                  <a:srgbClr val="0000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ja-JP" dirty="0"/>
              <a:t> object.</a:t>
            </a:r>
          </a:p>
          <a:p>
            <a:pPr lvl="2"/>
            <a:r>
              <a:rPr lang="en-US" altLang="en-US" dirty="0"/>
              <a:t>The client sends a connection request.</a:t>
            </a:r>
          </a:p>
          <a:p>
            <a:pPr lvl="2"/>
            <a:r>
              <a:rPr lang="en-US" altLang="en-US" dirty="0"/>
              <a:t>The server creates two private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returns the handle to one of them to the client.</a:t>
            </a:r>
          </a:p>
          <a:p>
            <a:pPr lvl="2"/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 noChangeArrowheads="1"/>
          </p:cNvSpPr>
          <p:nvPr>
            <p:ph type="title"/>
          </p:nvPr>
        </p:nvSpPr>
        <p:spPr>
          <a:xfrm>
            <a:off x="1025525" y="228600"/>
            <a:ext cx="7810500" cy="576263"/>
          </a:xfrm>
        </p:spPr>
        <p:txBody>
          <a:bodyPr/>
          <a:lstStyle/>
          <a:p>
            <a:r>
              <a:rPr lang="en-US" altLang="en-US"/>
              <a:t>Local Procedure Calls in Windows</a:t>
            </a:r>
          </a:p>
        </p:txBody>
      </p:sp>
      <p:pic>
        <p:nvPicPr>
          <p:cNvPr id="10957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820863"/>
            <a:ext cx="68897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713" y="1154113"/>
            <a:ext cx="7588250" cy="4530725"/>
          </a:xfrm>
        </p:spPr>
        <p:txBody>
          <a:bodyPr/>
          <a:lstStyle/>
          <a:p>
            <a:r>
              <a:rPr lang="en-US" altLang="en-US"/>
              <a:t>Acts as a conduit allowing two processes to communicate</a:t>
            </a:r>
          </a:p>
          <a:p>
            <a:r>
              <a:rPr lang="en-US" altLang="en-US"/>
              <a:t>Issues:</a:t>
            </a:r>
          </a:p>
          <a:p>
            <a:pPr lvl="1"/>
            <a:r>
              <a:rPr lang="en-US" altLang="en-US"/>
              <a:t>Is communication unidirectional or bidirectional?</a:t>
            </a:r>
          </a:p>
          <a:p>
            <a:pPr lvl="1"/>
            <a:r>
              <a:rPr lang="en-US" altLang="en-US"/>
              <a:t>In the case of two-way communication, is it half or full-duplex?</a:t>
            </a:r>
          </a:p>
          <a:p>
            <a:pPr lvl="1"/>
            <a:r>
              <a:rPr lang="en-US" altLang="en-US"/>
              <a:t>Must there exist a relationship (i.e., </a:t>
            </a:r>
            <a:r>
              <a:rPr lang="en-US" altLang="en-US" b="1" i="1"/>
              <a:t>parent-child</a:t>
            </a:r>
            <a:r>
              <a:rPr lang="en-US" altLang="en-US"/>
              <a:t>) between the communicating processes?</a:t>
            </a:r>
          </a:p>
          <a:p>
            <a:pPr lvl="1"/>
            <a:r>
              <a:rPr lang="en-US" altLang="en-US"/>
              <a:t>Can the pipes be used over a network?</a:t>
            </a:r>
          </a:p>
          <a:p>
            <a:r>
              <a:rPr lang="en-US" altLang="en-US" b="1"/>
              <a:t>Ordinary pipes </a:t>
            </a:r>
            <a:r>
              <a:rPr lang="en-US" altLang="en-US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b="1"/>
              <a:t>Named pipes </a:t>
            </a:r>
            <a:r>
              <a:rPr lang="en-US" altLang="en-US"/>
              <a:t>– can be accessed without a parent-child relationship.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/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/>
          <p:cNvSpPr>
            <a:spLocks noGrp="1" noChangeArrowheads="1"/>
          </p:cNvSpPr>
          <p:nvPr>
            <p:ph idx="1"/>
          </p:nvPr>
        </p:nvSpPr>
        <p:spPr>
          <a:xfrm>
            <a:off x="868363" y="1138238"/>
            <a:ext cx="7537450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530600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/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</a:t>
            </a:r>
          </a:p>
        </p:txBody>
      </p:sp>
      <p:sp>
        <p:nvSpPr>
          <p:cNvPr id="115715" name="Content Placeholder 7"/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/>
              <a:t>Named Pipes are more powerful than ordinary pipes</a:t>
            </a:r>
          </a:p>
          <a:p>
            <a:r>
              <a:rPr lang="en-US" altLang="en-US"/>
              <a:t>Communication is bidirectional</a:t>
            </a:r>
          </a:p>
          <a:p>
            <a:r>
              <a:rPr lang="en-US" altLang="en-US"/>
              <a:t>No parent-child relationship is necessary between the communicating processes</a:t>
            </a:r>
          </a:p>
          <a:p>
            <a:r>
              <a:rPr lang="en-US" altLang="en-US"/>
              <a:t>Several processes can use the named pipe for communication</a:t>
            </a:r>
          </a:p>
          <a:p>
            <a:r>
              <a:rPr lang="en-US" altLang="en-US"/>
              <a:t>Provided on both UNIX and Windows systems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3275013" y="1123950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620838"/>
            <a:ext cx="49545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138238"/>
            <a:ext cx="7654925" cy="4867275"/>
          </a:xfrm>
        </p:spPr>
        <p:txBody>
          <a:bodyPr/>
          <a:lstStyle/>
          <a:p>
            <a:r>
              <a:rPr lang="en-US" altLang="en-US" dirty="0"/>
              <a:t>Remote procedure call (RPC) abstracts procedure calls between processes on networked systems</a:t>
            </a:r>
          </a:p>
          <a:p>
            <a:pPr lvl="1"/>
            <a:r>
              <a:rPr lang="en-US" altLang="en-US" dirty="0"/>
              <a:t>Again uses ports for service differentiation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dirty="0"/>
              <a:t> – client-side proxy for the actual procedure on the server</a:t>
            </a:r>
          </a:p>
          <a:p>
            <a:r>
              <a:rPr lang="en-US" altLang="en-US" dirty="0"/>
              <a:t>The client-side stub locates the server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dirty="0"/>
              <a:t> the parameters</a:t>
            </a:r>
          </a:p>
          <a:p>
            <a:r>
              <a:rPr lang="en-US" altLang="en-US" dirty="0"/>
              <a:t>The server-side stub receives this message, unpacks the marshalled parameters, and performs the procedure on the server</a:t>
            </a:r>
          </a:p>
          <a:p>
            <a:r>
              <a:rPr lang="en-US" altLang="en-US" dirty="0"/>
              <a:t>On Windows, stub code compile from specification written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30275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275" y="969963"/>
            <a:ext cx="7672388" cy="4675187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/>
          </a:p>
          <a:p>
            <a:r>
              <a:rPr lang="en-US" altLang="en-US" dirty="0"/>
              <a:t>Data representation handled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dirty="0"/>
              <a:t>) format to account for different architectures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little-endian</a:t>
            </a:r>
          </a:p>
          <a:p>
            <a:r>
              <a:rPr lang="en-US" altLang="en-US" dirty="0"/>
              <a:t>Remote communication has more failure scenarios than local</a:t>
            </a:r>
          </a:p>
          <a:p>
            <a:pPr lvl="1"/>
            <a:r>
              <a:rPr lang="en-US" altLang="en-US" dirty="0"/>
              <a:t>Messages can be delivered </a:t>
            </a:r>
            <a:r>
              <a:rPr lang="en-US" altLang="en-US" b="1" i="1" dirty="0"/>
              <a:t>exactly once </a:t>
            </a:r>
            <a:r>
              <a:rPr lang="en-US" altLang="en-US" dirty="0"/>
              <a:t>rather than </a:t>
            </a:r>
            <a:r>
              <a:rPr lang="en-US" altLang="en-US" b="1" i="1" dirty="0"/>
              <a:t>at most once</a:t>
            </a:r>
          </a:p>
          <a:p>
            <a:r>
              <a:rPr lang="en-US" altLang="en-US" dirty="0"/>
              <a:t>OS typically provides a rendezvous 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dirty="0"/>
              <a:t>) service to connect client and server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Execution of RPC</a:t>
            </a:r>
          </a:p>
        </p:txBody>
      </p:sp>
      <p:pic>
        <p:nvPicPr>
          <p:cNvPr id="13107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09638"/>
            <a:ext cx="4419600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17</TotalTime>
  <Words>3693</Words>
  <Application>Microsoft Office PowerPoint</Application>
  <PresentationFormat>全屏显示(4:3)</PresentationFormat>
  <Paragraphs>460</Paragraphs>
  <Slides>71</Slides>
  <Notes>64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8" baseType="lpstr">
      <vt:lpstr>Courier</vt:lpstr>
      <vt:lpstr>Monaco</vt:lpstr>
      <vt:lpstr>Monotype Sorts</vt:lpstr>
      <vt:lpstr>MS PGothic</vt:lpstr>
      <vt:lpstr>黑体</vt:lpstr>
      <vt:lpstr>宋体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PowerPoint 演示文稿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Creating a Separate Process via Windows API (*)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Buffers?</vt:lpstr>
      <vt:lpstr>Producer </vt:lpstr>
      <vt:lpstr>Consumer</vt:lpstr>
      <vt:lpstr>Race Condition</vt:lpstr>
      <vt:lpstr>Race Condition (Cont.)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Client</vt:lpstr>
      <vt:lpstr>Mach Message Passing - Server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by 的</cp:lastModifiedBy>
  <cp:revision>353</cp:revision>
  <cp:lastPrinted>2013-10-02T18:16:00Z</cp:lastPrinted>
  <dcterms:created xsi:type="dcterms:W3CDTF">2011-01-13T23:43:00Z</dcterms:created>
  <dcterms:modified xsi:type="dcterms:W3CDTF">2026-04-10T06:15:24Z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B8BE3A32A4FE4644AC6EB7F8D4B2E040_12</vt:lpwstr>
  </property>
  <property fmtid="{D5CDD505-2E9C-101B-9397-08002B2CF9AE}" pid="3" name="KSOProductBuildVer">
    <vt:lpwstr>2052-12.1.0.23542</vt:lpwstr>
  </property>
</Properties>
</file>