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374" r:id="rId3"/>
    <p:sldId id="332" r:id="rId5"/>
    <p:sldId id="333" r:id="rId6"/>
    <p:sldId id="334" r:id="rId7"/>
    <p:sldId id="358" r:id="rId8"/>
    <p:sldId id="335" r:id="rId9"/>
    <p:sldId id="364" r:id="rId10"/>
    <p:sldId id="338" r:id="rId11"/>
    <p:sldId id="365" r:id="rId12"/>
    <p:sldId id="366" r:id="rId13"/>
    <p:sldId id="367" r:id="rId14"/>
    <p:sldId id="373" r:id="rId15"/>
    <p:sldId id="336" r:id="rId16"/>
    <p:sldId id="337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59" r:id="rId27"/>
    <p:sldId id="348" r:id="rId28"/>
    <p:sldId id="349" r:id="rId29"/>
    <p:sldId id="360" r:id="rId30"/>
    <p:sldId id="350" r:id="rId31"/>
    <p:sldId id="361" r:id="rId32"/>
    <p:sldId id="352" r:id="rId33"/>
    <p:sldId id="362" r:id="rId34"/>
    <p:sldId id="351" r:id="rId35"/>
    <p:sldId id="368" r:id="rId36"/>
    <p:sldId id="353" r:id="rId37"/>
    <p:sldId id="369" r:id="rId38"/>
    <p:sldId id="354" r:id="rId39"/>
    <p:sldId id="371" r:id="rId40"/>
    <p:sldId id="372" r:id="rId41"/>
    <p:sldId id="370" r:id="rId42"/>
    <p:sldId id="355" r:id="rId43"/>
    <p:sldId id="356" r:id="rId44"/>
    <p:sldId id="357" r:id="rId45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8" autoAdjust="0"/>
    <p:restoredTop sz="94667"/>
  </p:normalViewPr>
  <p:slideViewPr>
    <p:cSldViewPr snapToGrid="0" showGuides="1">
      <p:cViewPr varScale="1">
        <p:scale>
          <a:sx n="71" d="100"/>
          <a:sy n="71" d="100"/>
        </p:scale>
        <p:origin x="531" y="45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commentAuthors" Target="commentAuthors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FFFBBBBF-8BC8-4E37-B509-65EB2F23007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02841D2-82CE-4D2C-AC23-7155FD278E1B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F0AFAE-FA20-4437-830A-0F0A930521E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E27B9-A770-4F75-B804-D9E443B568A4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6B971B-1971-44D2-A9EE-AD65F528618A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14DFAC-88B2-4186-BD4C-0EC113119D01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F55662-F288-42E5-BBFA-E755D8C2132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07E97C-18C1-4A53-A749-AA4B26C71BE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43CE87-019F-4B28-A7BE-871FA88AAD6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0AF2B8-4378-4F58-B680-900DFEC6125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C39858-98BC-4B9A-B2D0-A8C296E28CB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B51C17-02EF-4A81-8B55-0082E7C16BA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91037B-5D96-42AF-9A59-DC8F0F0BC27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CB2AE4-6220-4AF6-80F6-B5EB015BFA7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DFF574-09AE-46F9-8FD7-639A9996326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B67219-1C93-4D0A-8BAE-B52FE0621E01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7DD8D4-6E96-4D98-9208-0B87B1F02EC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3F5FCD8-1A32-46A6-8FA9-243B4B7355B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A7CCC-62CB-4415-AE7C-F1D4BAF3DA2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6A2360-1AC0-418F-8DEF-ED0408F667E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A8B9A4-C219-41BB-B4BE-039AF1D8DD98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414D0A-E16E-419E-99B7-FE89FC41B14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AA4BA-5753-496D-9B4A-DD5800ADC22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F0D09E-737B-4477-A68C-CFA4D46BC8B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9E98FB-3206-40B1-B7FC-22803B621C1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3B375B-87CB-46F9-9388-73F7A492A17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E6E197-47A0-41B5-84A1-628D96B7629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A00F89-3F2A-4931-BEF2-77A8764DC67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FF6B38-0D4B-451B-9135-CC2261C2954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9B3FAC-CADF-409F-9A5E-2BC3FD116C6B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84BD52-0741-4BC7-BDB7-3969E5B6391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51AD96-D802-4D07-9373-D48DA2CCC85A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0A2E10-10F0-4F8E-9065-1A9E2A4C4E73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04733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84738" y="251437"/>
            <a:ext cx="75496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17.</a:t>
            </a:r>
            <a:fld id="{40720326-97D6-4F63-A380-127521996EE1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17: Protection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856406" y="242923"/>
            <a:ext cx="7718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17: Protection</a:t>
            </a:r>
            <a:endParaRPr lang="en-US" altLang="en-US" b="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155" y="1172210"/>
            <a:ext cx="7351395" cy="526923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Goals of Protection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Principles of Protection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Protection Rings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Domain of Protection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Access Matrix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Implementation of Access Matrix 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Revocation of Access Rights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Role-based Access Control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Mandatory Access Control (MAC)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Capability-Based Systems 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Other Protection Implementation Methods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Language-based Protection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436" y="1177502"/>
            <a:ext cx="7656413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Discuss the goals and principles of protection in a modern computer system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Explain how protection domains combined with an access matrix are used to specify the resources a process may access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Examine capability and language-based protection systems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Describe how protection mechanisms can mitigate system attacks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5692" y="247880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Goals of Protection</a:t>
            </a:r>
            <a:endParaRPr lang="en-US" altLang="en-US" dirty="0"/>
          </a:p>
        </p:txBody>
      </p:sp>
      <p:sp>
        <p:nvSpPr>
          <p:cNvPr id="112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2436" y="1177502"/>
            <a:ext cx="7619090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In one protection model,  computer consists of a collection of objects, hardware or software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Each object has a unique name and can be accessed through a well-defined set of operations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Protection problem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 - ensure that each object is accessed correctly and only by those processes that are allowed to do so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804408" y="243929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Principles of Protection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056" y="1172616"/>
            <a:ext cx="7699114" cy="4197350"/>
          </a:xfrm>
        </p:spPr>
        <p:txBody>
          <a:bodyPr/>
          <a:lstStyle/>
          <a:p>
            <a:r>
              <a:rPr lang="en-US" altLang="en-US" dirty="0"/>
              <a:t>Guiding principle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principle of least privilege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Programs, users and systems should be given just enough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perform their tasks</a:t>
            </a:r>
            <a:endParaRPr lang="en-US" altLang="en-US" dirty="0"/>
          </a:p>
          <a:p>
            <a:pPr lvl="1"/>
            <a:r>
              <a:rPr lang="en-US" altLang="en-US" dirty="0"/>
              <a:t>Properly set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permissions</a:t>
            </a:r>
            <a:r>
              <a:rPr lang="en-US" altLang="en-US" dirty="0"/>
              <a:t> can limit damage if entity has a bug, gets abused</a:t>
            </a:r>
            <a:endParaRPr lang="en-US" altLang="en-US" dirty="0"/>
          </a:p>
          <a:p>
            <a:pPr lvl="1"/>
            <a:r>
              <a:rPr lang="en-US" altLang="en-US" dirty="0"/>
              <a:t>Can be static (during life of system, during life of process) </a:t>
            </a:r>
            <a:endParaRPr lang="en-US" altLang="en-US" dirty="0"/>
          </a:p>
          <a:p>
            <a:pPr lvl="1"/>
            <a:r>
              <a:rPr lang="en-US" altLang="en-US" dirty="0"/>
              <a:t>Or dynamic (changed by process as needed)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 switching, privilege escalation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Compartmentalization</a:t>
            </a:r>
            <a:r>
              <a:rPr lang="en-US" altLang="ja-JP" dirty="0"/>
              <a:t> a derivative concept regarding access to data </a:t>
            </a:r>
            <a:endParaRPr lang="en-US" altLang="ja-JP" dirty="0"/>
          </a:p>
          <a:p>
            <a:pPr lvl="2"/>
            <a:r>
              <a:rPr lang="en-US" altLang="en-US" dirty="0"/>
              <a:t>Process of protecting each individual system component through the use of specific permissions and access restrictions</a:t>
            </a:r>
            <a:endParaRPr lang="en-US" altLang="en-US" dirty="0"/>
          </a:p>
          <a:p>
            <a:pPr lvl="2"/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944369" y="252253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Principles of Protection (Cont.)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430" y="1172616"/>
            <a:ext cx="7638757" cy="4530725"/>
          </a:xfrm>
        </p:spPr>
        <p:txBody>
          <a:bodyPr/>
          <a:lstStyle/>
          <a:p>
            <a:r>
              <a:rPr lang="en-US" altLang="en-US" dirty="0"/>
              <a:t>Must consider </a:t>
            </a:r>
            <a:r>
              <a:rPr lang="ja-JP" altLang="en-US" dirty="0"/>
              <a:t>“</a:t>
            </a:r>
            <a:r>
              <a:rPr lang="en-US" altLang="ja-JP" dirty="0"/>
              <a:t>grain</a:t>
            </a:r>
            <a:r>
              <a:rPr lang="ja-JP" altLang="en-US" dirty="0"/>
              <a:t>”</a:t>
            </a:r>
            <a:r>
              <a:rPr lang="en-US" altLang="ja-JP" dirty="0"/>
              <a:t> aspect</a:t>
            </a:r>
            <a:endParaRPr lang="en-US" altLang="ja-JP" dirty="0"/>
          </a:p>
          <a:p>
            <a:pPr lvl="1"/>
            <a:r>
              <a:rPr lang="en-US" altLang="en-US" dirty="0"/>
              <a:t>Rough-grained  privilege management easier, simpler, but least privilege now done in large chunks</a:t>
            </a:r>
            <a:endParaRPr lang="en-US" altLang="en-US" dirty="0"/>
          </a:p>
          <a:p>
            <a:pPr lvl="2"/>
            <a:r>
              <a:rPr lang="en-US" altLang="en-US" dirty="0"/>
              <a:t>For example, traditional Unix processes either have abilities of the associated user, or of root</a:t>
            </a:r>
            <a:endParaRPr lang="en-US" altLang="en-US" dirty="0"/>
          </a:p>
          <a:p>
            <a:pPr lvl="1"/>
            <a:r>
              <a:rPr lang="en-US" altLang="en-US" dirty="0"/>
              <a:t>Fine-grained management more complex, more overhead, but more protective</a:t>
            </a:r>
            <a:endParaRPr lang="en-US" altLang="en-US" dirty="0"/>
          </a:p>
          <a:p>
            <a:pPr lvl="2"/>
            <a:r>
              <a:rPr lang="en-US" altLang="en-US" dirty="0"/>
              <a:t>File ACL lists, RBAC</a:t>
            </a:r>
            <a:endParaRPr lang="en-US" altLang="en-US" dirty="0"/>
          </a:p>
          <a:p>
            <a:r>
              <a:rPr lang="en-US" altLang="en-US" dirty="0"/>
              <a:t>Domain can be user, process, procedure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Audit trail </a:t>
            </a:r>
            <a:r>
              <a:rPr lang="en-US" altLang="en-US" dirty="0"/>
              <a:t>– recording all protection-orientated activities, important to understanding what happened, why, and catching things that shouldn’t</a:t>
            </a:r>
            <a:endParaRPr lang="en-US" altLang="en-US" dirty="0"/>
          </a:p>
          <a:p>
            <a:r>
              <a:rPr lang="en-US" altLang="en-US" dirty="0"/>
              <a:t>No single principle is a panacea for security vulnerabilities –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defense in depth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823068" y="242923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Rings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431" y="1172616"/>
            <a:ext cx="7685410" cy="4530725"/>
          </a:xfrm>
        </p:spPr>
        <p:txBody>
          <a:bodyPr/>
          <a:lstStyle/>
          <a:p>
            <a:r>
              <a:rPr lang="en-US" altLang="en-US" dirty="0"/>
              <a:t>Components ordered by amount of privilege and protected from each other</a:t>
            </a:r>
            <a:endParaRPr lang="en-US" altLang="en-US" dirty="0"/>
          </a:p>
          <a:p>
            <a:pPr lvl="1"/>
            <a:r>
              <a:rPr lang="en-US" altLang="en-US" dirty="0"/>
              <a:t>For example, the kernel is in one ring and user applications in another</a:t>
            </a:r>
            <a:endParaRPr lang="en-US" altLang="en-US" dirty="0"/>
          </a:p>
          <a:p>
            <a:pPr lvl="1"/>
            <a:r>
              <a:rPr lang="en-US" altLang="en-US" dirty="0"/>
              <a:t>This privilege separation requires hardware support</a:t>
            </a:r>
            <a:endParaRPr lang="en-US" altLang="en-US" dirty="0"/>
          </a:p>
          <a:p>
            <a:pPr lvl="1"/>
            <a:r>
              <a:rPr lang="en-US" altLang="en-US" dirty="0"/>
              <a:t>Gates used to transfer between levels, for example the </a:t>
            </a:r>
            <a:r>
              <a:rPr lang="en-US" altLang="en-US" dirty="0" err="1"/>
              <a:t>syscall</a:t>
            </a:r>
            <a:r>
              <a:rPr lang="en-US" altLang="en-US" dirty="0"/>
              <a:t> Intel instruction</a:t>
            </a:r>
            <a:endParaRPr lang="en-US" altLang="en-US" dirty="0"/>
          </a:p>
          <a:p>
            <a:pPr lvl="1"/>
            <a:r>
              <a:rPr lang="en-US" altLang="en-US" dirty="0"/>
              <a:t>Also traps and interrupts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Hypervisors</a:t>
            </a:r>
            <a:r>
              <a:rPr lang="en-US" altLang="en-US" dirty="0"/>
              <a:t> introduced the need for yet another ring</a:t>
            </a:r>
            <a:endParaRPr lang="en-US" altLang="en-US" dirty="0"/>
          </a:p>
          <a:p>
            <a:pPr lvl="1"/>
            <a:r>
              <a:rPr lang="en-US" altLang="en-US" dirty="0"/>
              <a:t>ARMv7 processors added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TrustZone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TZ</a:t>
            </a:r>
            <a:r>
              <a:rPr lang="en-US" altLang="en-US" dirty="0"/>
              <a:t>) ring to protect crypto functions with access via new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Monitor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SMC</a:t>
            </a:r>
            <a:r>
              <a:rPr lang="en-US" altLang="en-US" dirty="0"/>
              <a:t>) instruction</a:t>
            </a:r>
            <a:endParaRPr lang="en-US" altLang="en-US" dirty="0"/>
          </a:p>
          <a:p>
            <a:pPr lvl="2"/>
            <a:r>
              <a:rPr lang="en-US" altLang="en-US" dirty="0"/>
              <a:t>Protecting NFC secure element and crypto keys from even the kernel</a:t>
            </a:r>
            <a:endParaRPr lang="en-US" altLang="en-US" dirty="0"/>
          </a:p>
          <a:p>
            <a:pPr lvl="2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989884" y="238549"/>
            <a:ext cx="77136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Rings (MULTICS)</a:t>
            </a:r>
            <a:endParaRPr lang="en-US" altLang="en-US" dirty="0"/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166" y="1174784"/>
            <a:ext cx="7369175" cy="1184275"/>
          </a:xfrm>
        </p:spPr>
        <p:txBody>
          <a:bodyPr/>
          <a:lstStyle/>
          <a:p>
            <a:r>
              <a:rPr lang="en-US" altLang="en-US" dirty="0"/>
              <a:t>Let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be any two domain rings</a:t>
            </a:r>
            <a:endParaRPr lang="en-US" altLang="en-US" dirty="0"/>
          </a:p>
          <a:p>
            <a:r>
              <a:rPr lang="en-US" altLang="en-US" dirty="0"/>
              <a:t>If </a:t>
            </a:r>
            <a:r>
              <a:rPr lang="en-US" altLang="en-US" i="1" dirty="0"/>
              <a:t>j</a:t>
            </a:r>
            <a:r>
              <a:rPr lang="en-US" altLang="en-US" dirty="0"/>
              <a:t> &lt; </a:t>
            </a:r>
            <a:r>
              <a:rPr lang="en-US" altLang="en-US" i="1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 </a:t>
            </a:r>
            <a:r>
              <a:rPr lang="en-US" altLang="en-US" i="1" dirty="0" err="1">
                <a:sym typeface="Symbol" panose="05050102010706020507" pitchFamily="18" charset="2"/>
              </a:rPr>
              <a:t>D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884" y="1880248"/>
            <a:ext cx="6000750" cy="41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168275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/>
              <a:t>Android use of TrustZone</a:t>
            </a:r>
            <a:endParaRPr lang="en-US" altLang="en-US"/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069975"/>
            <a:ext cx="6672262" cy="4530725"/>
          </a:xfrm>
        </p:spPr>
        <p:txBody>
          <a:bodyPr/>
          <a:lstStyle/>
          <a:p>
            <a:pPr lvl="2"/>
            <a:endParaRPr lang="en-US" altLang="en-US"/>
          </a:p>
          <a:p>
            <a:pPr lvl="1">
              <a:buFont typeface="Monotype Sorts" pitchFamily="-84" charset="2"/>
              <a:buNone/>
            </a:pPr>
            <a:endParaRPr lang="en-US" altLang="en-US"/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923925"/>
            <a:ext cx="7513638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 noChangeArrowheads="1"/>
          </p:cNvSpPr>
          <p:nvPr>
            <p:ph type="title"/>
          </p:nvPr>
        </p:nvSpPr>
        <p:spPr>
          <a:xfrm>
            <a:off x="984738" y="242106"/>
            <a:ext cx="7549662" cy="576262"/>
          </a:xfrm>
        </p:spPr>
        <p:txBody>
          <a:bodyPr/>
          <a:lstStyle/>
          <a:p>
            <a:r>
              <a:rPr lang="en-US" altLang="en-US" dirty="0"/>
              <a:t>ARM CPU Architecture</a:t>
            </a:r>
            <a:endParaRPr lang="en-US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749425"/>
            <a:ext cx="851535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 noChangeArrowheads="1"/>
          </p:cNvSpPr>
          <p:nvPr>
            <p:ph type="title"/>
          </p:nvPr>
        </p:nvSpPr>
        <p:spPr>
          <a:xfrm>
            <a:off x="984738" y="174867"/>
            <a:ext cx="7549662" cy="576262"/>
          </a:xfrm>
        </p:spPr>
        <p:txBody>
          <a:bodyPr/>
          <a:lstStyle/>
          <a:p>
            <a:r>
              <a:rPr lang="en-US" altLang="en-US" dirty="0"/>
              <a:t>Domain of Protection</a:t>
            </a:r>
            <a:endParaRPr lang="en-US" altLang="en-US" dirty="0"/>
          </a:p>
        </p:txBody>
      </p:sp>
      <p:sp>
        <p:nvSpPr>
          <p:cNvPr id="245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2436" y="1028208"/>
            <a:ext cx="6728429" cy="4505258"/>
          </a:xfrm>
        </p:spPr>
        <p:txBody>
          <a:bodyPr/>
          <a:lstStyle/>
          <a:p>
            <a:r>
              <a:rPr lang="en-US" altLang="en-US" dirty="0"/>
              <a:t>Rings of protection separate functions into domains and order them hierarchically  </a:t>
            </a:r>
            <a:endParaRPr lang="en-US" altLang="en-US" dirty="0"/>
          </a:p>
          <a:p>
            <a:r>
              <a:rPr lang="en-US" altLang="en-US" dirty="0"/>
              <a:t>Computer can be treated as processes and objects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Hardware objects </a:t>
            </a:r>
            <a:r>
              <a:rPr lang="en-US" altLang="en-US" dirty="0"/>
              <a:t>(such as devices)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software objects </a:t>
            </a:r>
            <a:r>
              <a:rPr lang="en-US" altLang="en-US" dirty="0"/>
              <a:t>(such as files, programs, semaphores</a:t>
            </a:r>
            <a:endParaRPr lang="en-US" altLang="en-US" dirty="0"/>
          </a:p>
          <a:p>
            <a:r>
              <a:rPr lang="en-US" altLang="en-US" dirty="0"/>
              <a:t>Process for example should only have access to objects it currently requires to complete its task – 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need-to-know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principle</a:t>
            </a:r>
            <a:endParaRPr lang="en-US" altLang="en-US" dirty="0"/>
          </a:p>
          <a:p>
            <a:pPr marL="0" indent="0">
              <a:buNone/>
            </a:pP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 noChangeArrowheads="1"/>
          </p:cNvSpPr>
          <p:nvPr>
            <p:ph type="title"/>
          </p:nvPr>
        </p:nvSpPr>
        <p:spPr>
          <a:xfrm>
            <a:off x="984738" y="174867"/>
            <a:ext cx="7549662" cy="576262"/>
          </a:xfrm>
        </p:spPr>
        <p:txBody>
          <a:bodyPr/>
          <a:lstStyle/>
          <a:p>
            <a:r>
              <a:rPr lang="en-US" altLang="en-US" dirty="0"/>
              <a:t>Domain of Protection (Cont.)</a:t>
            </a:r>
            <a:endParaRPr lang="en-US" altLang="en-US" dirty="0"/>
          </a:p>
        </p:txBody>
      </p:sp>
      <p:sp>
        <p:nvSpPr>
          <p:cNvPr id="245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2436" y="1028207"/>
            <a:ext cx="7727950" cy="4530725"/>
          </a:xfrm>
        </p:spPr>
        <p:txBody>
          <a:bodyPr/>
          <a:lstStyle/>
          <a:p>
            <a:r>
              <a:rPr lang="en-US" altLang="en-US" dirty="0"/>
              <a:t>Implementation can be via process operating in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protection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Specifies resources process may access</a:t>
            </a:r>
            <a:endParaRPr lang="en-US" altLang="en-US" dirty="0"/>
          </a:p>
          <a:p>
            <a:pPr lvl="1"/>
            <a:r>
              <a:rPr lang="en-US" altLang="en-US" dirty="0"/>
              <a:t>Each domain specifies set of objects and types of operations on them</a:t>
            </a:r>
            <a:endParaRPr lang="en-US" altLang="en-US" dirty="0"/>
          </a:p>
          <a:p>
            <a:pPr lvl="1"/>
            <a:r>
              <a:rPr lang="en-US" altLang="en-US" dirty="0"/>
              <a:t>Ability to execute an operation on an object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right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/>
              <a:t>&lt;object-name, rights-set&gt;</a:t>
            </a:r>
            <a:endParaRPr lang="en-US" altLang="en-US" dirty="0"/>
          </a:p>
          <a:p>
            <a:pPr lvl="1"/>
            <a:r>
              <a:rPr lang="en-US" altLang="en-US" dirty="0"/>
              <a:t>Domains may share access rights</a:t>
            </a:r>
            <a:endParaRPr lang="en-US" altLang="en-US" dirty="0"/>
          </a:p>
          <a:p>
            <a:pPr lvl="1"/>
            <a:r>
              <a:rPr lang="en-US" altLang="en-US" dirty="0"/>
              <a:t>Associations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dynamic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If dynamic, processes can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switch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54" y="23955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Domain Structure</a:t>
            </a:r>
            <a:endParaRPr lang="en-US" altLang="en-US" dirty="0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9" y="1177502"/>
            <a:ext cx="7548464" cy="4530725"/>
          </a:xfrm>
        </p:spPr>
        <p:txBody>
          <a:bodyPr/>
          <a:lstStyle/>
          <a:p>
            <a:r>
              <a:rPr lang="en-US" altLang="en-US" dirty="0"/>
              <a:t>Access-right = &lt;</a:t>
            </a:r>
            <a:r>
              <a:rPr lang="en-US" altLang="en-US" i="1" dirty="0"/>
              <a:t>object-name</a:t>
            </a:r>
            <a:r>
              <a:rPr lang="en-US" altLang="en-US" dirty="0"/>
              <a:t>, </a:t>
            </a:r>
            <a:r>
              <a:rPr lang="en-US" altLang="en-US" i="1" dirty="0"/>
              <a:t>rights-set</a:t>
            </a:r>
            <a:r>
              <a:rPr lang="en-US" altLang="en-US" dirty="0"/>
              <a:t>&gt;</a:t>
            </a:r>
            <a:br>
              <a:rPr lang="en-US" altLang="en-US" dirty="0"/>
            </a:br>
            <a:r>
              <a:rPr lang="en-US" altLang="en-US" dirty="0"/>
              <a:t>where </a:t>
            </a:r>
            <a:r>
              <a:rPr lang="en-US" altLang="en-US" i="1" dirty="0"/>
              <a:t>rights-set</a:t>
            </a:r>
            <a:r>
              <a:rPr lang="en-US" altLang="en-US" dirty="0"/>
              <a:t> is a subset of all valid operations that can be performed on the object </a:t>
            </a:r>
            <a:endParaRPr lang="en-US" altLang="en-US" dirty="0"/>
          </a:p>
          <a:p>
            <a:r>
              <a:rPr lang="en-US" altLang="en-US" dirty="0"/>
              <a:t>Domain = set of access-rights 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2855201"/>
            <a:ext cx="770255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3560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Domain Implementation (UNIX)</a:t>
            </a:r>
            <a:endParaRPr lang="en-US" altLang="en-US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171611"/>
            <a:ext cx="7695163" cy="4530725"/>
          </a:xfrm>
        </p:spPr>
        <p:txBody>
          <a:bodyPr/>
          <a:lstStyle/>
          <a:p>
            <a:r>
              <a:rPr lang="en-US" altLang="en-US" dirty="0"/>
              <a:t>Domain = user-id</a:t>
            </a:r>
            <a:endParaRPr lang="en-US" altLang="en-US" sz="800" dirty="0"/>
          </a:p>
          <a:p>
            <a:r>
              <a:rPr lang="en-US" altLang="en-US" dirty="0"/>
              <a:t>Domain switch accomplished via file system</a:t>
            </a:r>
            <a:endParaRPr lang="en-US" altLang="en-US" dirty="0"/>
          </a:p>
          <a:p>
            <a:pPr lvl="1"/>
            <a:r>
              <a:rPr lang="en-US" altLang="en-US" dirty="0"/>
              <a:t>Each file has associated with it a domain bit (</a:t>
            </a:r>
            <a:r>
              <a:rPr lang="en-US" altLang="en-US" dirty="0" err="1"/>
              <a:t>setuid</a:t>
            </a:r>
            <a:r>
              <a:rPr lang="en-US" altLang="en-US" dirty="0"/>
              <a:t> bit)</a:t>
            </a:r>
            <a:endParaRPr lang="en-US" altLang="en-US" dirty="0"/>
          </a:p>
          <a:p>
            <a:pPr lvl="1"/>
            <a:r>
              <a:rPr lang="en-US" altLang="en-US" dirty="0"/>
              <a:t>When file is executed and </a:t>
            </a:r>
            <a:r>
              <a:rPr lang="en-US" altLang="en-US" dirty="0" err="1"/>
              <a:t>setuid</a:t>
            </a:r>
            <a:r>
              <a:rPr lang="en-US" altLang="en-US" dirty="0"/>
              <a:t> = on, then user-id is set to owner of the file being executed</a:t>
            </a:r>
            <a:endParaRPr lang="en-US" altLang="en-US" dirty="0"/>
          </a:p>
          <a:p>
            <a:pPr lvl="1"/>
            <a:r>
              <a:rPr lang="en-US" altLang="en-US" dirty="0"/>
              <a:t> When execution completes user-id is reset </a:t>
            </a:r>
            <a:endParaRPr lang="en-US" altLang="en-US" sz="800" dirty="0"/>
          </a:p>
          <a:p>
            <a:r>
              <a:rPr lang="en-US" altLang="en-US" dirty="0"/>
              <a:t>Domain switch accomplished via passwords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</a:t>
            </a:r>
            <a:r>
              <a:rPr lang="en-US" altLang="en-US" dirty="0"/>
              <a:t> command temporarily switches to another user</a:t>
            </a:r>
            <a:r>
              <a:rPr lang="ja-JP" altLang="en-US" dirty="0"/>
              <a:t>’</a:t>
            </a:r>
            <a:r>
              <a:rPr lang="en-US" altLang="ja-JP" dirty="0"/>
              <a:t>s domain when other domain</a:t>
            </a:r>
            <a:r>
              <a:rPr lang="ja-JP" altLang="en-US" dirty="0"/>
              <a:t>’</a:t>
            </a:r>
            <a:r>
              <a:rPr lang="en-US" altLang="ja-JP" dirty="0"/>
              <a:t>s password provided</a:t>
            </a:r>
            <a:endParaRPr lang="en-US" altLang="en-US" sz="800" dirty="0"/>
          </a:p>
          <a:p>
            <a:r>
              <a:rPr lang="en-US" altLang="en-US" dirty="0"/>
              <a:t>Domain switching via commands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en-US" dirty="0"/>
              <a:t> command prefix executes specified command in another domain (if original domain has privilege or password given)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 noChangeArrowheads="1"/>
          </p:cNvSpPr>
          <p:nvPr>
            <p:ph type="title"/>
          </p:nvPr>
        </p:nvSpPr>
        <p:spPr>
          <a:xfrm>
            <a:off x="944880" y="275590"/>
            <a:ext cx="8199120" cy="575945"/>
          </a:xfrm>
        </p:spPr>
        <p:txBody>
          <a:bodyPr/>
          <a:lstStyle/>
          <a:p>
            <a:r>
              <a:rPr lang="en-US" altLang="en-US" sz="2800" dirty="0"/>
              <a:t>Domain Implementation  </a:t>
            </a:r>
            <a:r>
              <a:rPr lang="en-US" altLang="en-US" sz="2400" dirty="0"/>
              <a:t>(Android App IDs)</a:t>
            </a:r>
            <a:endParaRPr lang="en-US" altLang="en-US" sz="2400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886409" y="1168173"/>
            <a:ext cx="7734722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In Android, distinct user IDs are provided on a per-application basis</a:t>
            </a:r>
            <a:endParaRPr lang="en-US" dirty="0"/>
          </a:p>
          <a:p>
            <a:pPr>
              <a:defRPr/>
            </a:pPr>
            <a:r>
              <a:rPr lang="en-US" dirty="0"/>
              <a:t>When an application is installed, the </a:t>
            </a:r>
            <a:r>
              <a:rPr lang="en-US" dirty="0" err="1"/>
              <a:t>installd</a:t>
            </a:r>
            <a:r>
              <a:rPr lang="en-US" dirty="0"/>
              <a:t> daemon assigns it a distinct user ID (UID) and group ID (GID), along with a private data directory (/data/data/&lt;</a:t>
            </a:r>
            <a:r>
              <a:rPr lang="en-US" dirty="0" err="1"/>
              <a:t>appname</a:t>
            </a:r>
            <a:r>
              <a:rPr lang="en-US" dirty="0"/>
              <a:t>&gt;) whose ownership is granted to this UID/GID combination alone. </a:t>
            </a:r>
            <a:endParaRPr lang="en-US" dirty="0"/>
          </a:p>
          <a:p>
            <a:pPr>
              <a:defRPr/>
            </a:pPr>
            <a:r>
              <a:rPr lang="en-US" dirty="0"/>
              <a:t>Applications on the device enjoy the same level of protection provided by UNIX systems to separate users</a:t>
            </a:r>
            <a:endParaRPr lang="en-US" dirty="0"/>
          </a:p>
          <a:p>
            <a:pPr>
              <a:defRPr/>
            </a:pPr>
            <a:r>
              <a:rPr lang="en-US" dirty="0"/>
              <a:t>A quick and simple way to provide isolation, security, and privacy. </a:t>
            </a:r>
            <a:endParaRPr lang="en-US" dirty="0"/>
          </a:p>
          <a:p>
            <a:pPr>
              <a:defRPr/>
            </a:pPr>
            <a:r>
              <a:rPr lang="en-US" dirty="0"/>
              <a:t>The mechanism is extended by modifying the kernel to allow certain operations (such as networking sockets) only to members of a particular GID (for example, AID INET, 3003)</a:t>
            </a:r>
            <a:endParaRPr lang="en-US" dirty="0"/>
          </a:p>
          <a:p>
            <a:pPr>
              <a:defRPr/>
            </a:pPr>
            <a:r>
              <a:rPr lang="en-US" dirty="0"/>
              <a:t>A further enhancement by Android is to define certain UIDs as “isolated,” prevents them from initiating RPC requests to any but a bare minimum of services</a:t>
            </a:r>
            <a:endParaRPr lang="en-US" dirty="0"/>
          </a:p>
          <a:p>
            <a:pPr>
              <a:buFont typeface="Monotype Sorts" pitchFamily="-84" charset="2"/>
              <a:buChar char="n"/>
              <a:defRPr/>
            </a:pPr>
            <a:endParaRPr 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433" y="233592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375" y="1156512"/>
            <a:ext cx="6850062" cy="2006600"/>
          </a:xfrm>
        </p:spPr>
        <p:txBody>
          <a:bodyPr/>
          <a:lstStyle/>
          <a:p>
            <a:r>
              <a:rPr lang="en-US" altLang="en-US" dirty="0"/>
              <a:t>View protection as a matrix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matrix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Rows represent domains</a:t>
            </a:r>
            <a:endParaRPr lang="en-US" altLang="en-US" sz="800" dirty="0"/>
          </a:p>
          <a:p>
            <a:r>
              <a:rPr lang="en-US" altLang="en-US" dirty="0"/>
              <a:t>Columns represent objects</a:t>
            </a:r>
            <a:endParaRPr lang="en-US" altLang="en-US" sz="800" dirty="0"/>
          </a:p>
          <a:p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Access(i, j) </a:t>
            </a:r>
            <a:r>
              <a:rPr lang="en-US" altLang="en-US" dirty="0"/>
              <a:t>is the set of operations that a process executing in </a:t>
            </a:r>
            <a:r>
              <a:rPr lang="en-US" altLang="en-US" dirty="0" err="1"/>
              <a:t>Domain</a:t>
            </a:r>
            <a:r>
              <a:rPr lang="en-US" altLang="en-US" b="1" baseline="-25000" dirty="0" err="1"/>
              <a:t>i</a:t>
            </a:r>
            <a:r>
              <a:rPr lang="en-US" altLang="en-US" dirty="0"/>
              <a:t> can invoke on </a:t>
            </a:r>
            <a:r>
              <a:rPr lang="en-US" altLang="en-US" dirty="0" err="1"/>
              <a:t>Object</a:t>
            </a:r>
            <a:r>
              <a:rPr lang="en-US" altLang="en-US" b="1" baseline="-25000" dirty="0" err="1"/>
              <a:t>j</a:t>
            </a:r>
            <a:endParaRPr lang="en-US" altLang="en-US" b="1" baseline="-25000" dirty="0"/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3125788"/>
            <a:ext cx="5073650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671707" y="242923"/>
            <a:ext cx="8005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Access Matrix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417" y="1157905"/>
            <a:ext cx="7677085" cy="4689475"/>
          </a:xfrm>
        </p:spPr>
        <p:txBody>
          <a:bodyPr/>
          <a:lstStyle/>
          <a:p>
            <a:r>
              <a:rPr lang="en-US" altLang="en-US" dirty="0"/>
              <a:t>If a process 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tries to do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on object</a:t>
            </a:r>
            <a:r>
              <a:rPr lang="en-US" altLang="ja-JP" i="1" dirty="0"/>
              <a:t> </a:t>
            </a:r>
            <a:r>
              <a:rPr lang="en-US" altLang="ja-JP" i="1" dirty="0" err="1"/>
              <a:t>O</a:t>
            </a:r>
            <a:r>
              <a:rPr lang="en-US" altLang="ja-JP" i="1" baseline="-25000" dirty="0" err="1"/>
              <a:t>j</a:t>
            </a:r>
            <a:r>
              <a:rPr lang="en-US" altLang="ja-JP" dirty="0"/>
              <a:t>, then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must be in the access matrix</a:t>
            </a:r>
            <a:endParaRPr lang="en-US" altLang="en-US" sz="800" dirty="0"/>
          </a:p>
          <a:p>
            <a:r>
              <a:rPr lang="en-US" altLang="en-US" dirty="0"/>
              <a:t>User who creates object can define access column for that object</a:t>
            </a:r>
            <a:endParaRPr lang="en-US" altLang="en-US" dirty="0"/>
          </a:p>
          <a:p>
            <a:r>
              <a:rPr lang="en-US" altLang="en-US" dirty="0"/>
              <a:t>Can be expanded to dynamic protection</a:t>
            </a:r>
            <a:endParaRPr lang="en-US" altLang="en-US" dirty="0"/>
          </a:p>
          <a:p>
            <a:pPr lvl="1"/>
            <a:r>
              <a:rPr lang="en-US" altLang="en-US" dirty="0"/>
              <a:t>Operations to add, delete access rights</a:t>
            </a:r>
            <a:endParaRPr lang="en-US" altLang="en-US" dirty="0"/>
          </a:p>
          <a:p>
            <a:pPr lvl="1"/>
            <a:r>
              <a:rPr lang="en-US" altLang="en-US" dirty="0"/>
              <a:t>Special access rights:</a:t>
            </a:r>
            <a:endParaRPr lang="en-US" altLang="en-US" dirty="0"/>
          </a:p>
          <a:p>
            <a:pPr lvl="2"/>
            <a:r>
              <a:rPr lang="en-US" altLang="en-US" i="1" dirty="0"/>
              <a:t>owner of O</a:t>
            </a:r>
            <a:r>
              <a:rPr lang="en-US" altLang="en-US" i="1" baseline="-25000" dirty="0"/>
              <a:t>i</a:t>
            </a:r>
            <a:endParaRPr lang="en-US" altLang="en-US" i="1" dirty="0"/>
          </a:p>
          <a:p>
            <a:pPr lvl="2"/>
            <a:r>
              <a:rPr lang="en-US" altLang="en-US" i="1" dirty="0"/>
              <a:t>copy op from O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(denoted by </a:t>
            </a:r>
            <a:r>
              <a:rPr lang="ja-JP" altLang="en-US" i="1" dirty="0"/>
              <a:t>“</a:t>
            </a:r>
            <a:r>
              <a:rPr lang="en-US" altLang="ja-JP" i="1" dirty="0"/>
              <a:t>*</a:t>
            </a:r>
            <a:r>
              <a:rPr lang="ja-JP" altLang="en-US" i="1" dirty="0"/>
              <a:t>”</a:t>
            </a:r>
            <a:r>
              <a:rPr lang="en-US" altLang="ja-JP" i="1" dirty="0"/>
              <a:t>)</a:t>
            </a:r>
            <a:endParaRPr lang="en-US" altLang="ja-JP" i="1" dirty="0"/>
          </a:p>
          <a:p>
            <a:pPr lvl="2"/>
            <a:r>
              <a:rPr lang="en-US" altLang="en-US" i="1" dirty="0"/>
              <a:t>control –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can modify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access rights</a:t>
            </a:r>
            <a:endParaRPr lang="en-US" altLang="en-US" i="1" dirty="0"/>
          </a:p>
          <a:p>
            <a:pPr lvl="2"/>
            <a:r>
              <a:rPr lang="en-US" altLang="en-US" i="1" dirty="0"/>
              <a:t>transfer – switch from domain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 lvl="1"/>
            <a:r>
              <a:rPr lang="en-US" altLang="en-US" i="1" dirty="0"/>
              <a:t>Copy </a:t>
            </a:r>
            <a:r>
              <a:rPr lang="en-US" altLang="en-US" dirty="0"/>
              <a:t>and </a:t>
            </a:r>
            <a:r>
              <a:rPr lang="en-US" altLang="en-US" i="1" dirty="0"/>
              <a:t>Owner </a:t>
            </a:r>
            <a:r>
              <a:rPr lang="en-US" altLang="en-US" dirty="0"/>
              <a:t>applicable to an object</a:t>
            </a:r>
            <a:endParaRPr lang="en-US" altLang="en-US" dirty="0"/>
          </a:p>
          <a:p>
            <a:pPr lvl="1"/>
            <a:r>
              <a:rPr lang="en-US" altLang="en-US" i="1" dirty="0"/>
              <a:t>Control </a:t>
            </a:r>
            <a:r>
              <a:rPr lang="en-US" altLang="en-US" dirty="0"/>
              <a:t>applicable to domain object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801652" y="239552"/>
            <a:ext cx="7810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of Access Matrix (Cont.)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418" y="1160269"/>
            <a:ext cx="775172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 matrix </a:t>
            </a:r>
            <a:r>
              <a:rPr lang="en-US" altLang="en-US" dirty="0"/>
              <a:t>design separates mechanism from policy</a:t>
            </a:r>
            <a:endParaRPr lang="en-US" altLang="en-US" dirty="0"/>
          </a:p>
          <a:p>
            <a:pPr lvl="1"/>
            <a:r>
              <a:rPr lang="en-US" altLang="en-US" dirty="0"/>
              <a:t>Mechanism </a:t>
            </a:r>
            <a:endParaRPr lang="en-US" altLang="en-US" dirty="0"/>
          </a:p>
          <a:p>
            <a:pPr lvl="2"/>
            <a:r>
              <a:rPr lang="en-US" altLang="en-US" dirty="0"/>
              <a:t>Operating system provides access-matrix + rules</a:t>
            </a:r>
            <a:endParaRPr lang="en-US" altLang="en-US" dirty="0"/>
          </a:p>
          <a:p>
            <a:pPr lvl="2"/>
            <a:r>
              <a:rPr lang="en-US" altLang="en-US" dirty="0"/>
              <a:t>If ensures that the matrix is only manipulated by authorized agents and that rules are strictly enforced</a:t>
            </a:r>
            <a:endParaRPr lang="en-US" altLang="en-US" dirty="0"/>
          </a:p>
          <a:p>
            <a:pPr lvl="1"/>
            <a:r>
              <a:rPr lang="en-US" altLang="en-US" dirty="0"/>
              <a:t>Policy</a:t>
            </a:r>
            <a:endParaRPr lang="en-US" altLang="en-US" dirty="0"/>
          </a:p>
          <a:p>
            <a:pPr lvl="2"/>
            <a:r>
              <a:rPr lang="en-US" altLang="en-US" dirty="0"/>
              <a:t>User dictates policy</a:t>
            </a:r>
            <a:endParaRPr lang="en-US" altLang="en-US" dirty="0"/>
          </a:p>
          <a:p>
            <a:pPr lvl="2"/>
            <a:r>
              <a:rPr lang="en-US" altLang="en-US" dirty="0"/>
              <a:t>Who can access what object and in what mode</a:t>
            </a:r>
            <a:endParaRPr lang="en-US" altLang="en-US" dirty="0"/>
          </a:p>
          <a:p>
            <a:r>
              <a:rPr lang="en-US" altLang="en-US" dirty="0"/>
              <a:t>But </a:t>
            </a:r>
            <a:r>
              <a:rPr lang="en-US" altLang="en-US" dirty="0" err="1"/>
              <a:t>doesn</a:t>
            </a:r>
            <a:r>
              <a:rPr lang="ja-JP" altLang="en-US" dirty="0"/>
              <a:t>’</a:t>
            </a:r>
            <a:r>
              <a:rPr lang="en-US" altLang="ja-JP" dirty="0"/>
              <a:t>t solve the general confinement problem</a:t>
            </a:r>
            <a:endParaRPr lang="en-US" altLang="ja-JP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297557" y="164566"/>
            <a:ext cx="7747000" cy="51911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Access Matrix of Figure A with Domains as Objects</a:t>
            </a:r>
            <a:endParaRPr lang="en-US" altLang="en-US" sz="24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63" y="1985963"/>
            <a:ext cx="74041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793487" y="257209"/>
            <a:ext cx="7753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Copy</a:t>
            </a:r>
            <a:r>
              <a:rPr lang="en-US" altLang="en-US" dirty="0"/>
              <a:t> Rights</a:t>
            </a:r>
            <a:endParaRPr lang="en-US" alt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1339850"/>
            <a:ext cx="483235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845454" y="248883"/>
            <a:ext cx="77819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Owner</a:t>
            </a:r>
            <a:r>
              <a:rPr lang="en-US" altLang="en-US" dirty="0"/>
              <a:t> Rights</a:t>
            </a:r>
            <a:endParaRPr lang="en-US" alt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1428750"/>
            <a:ext cx="366712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952176" y="247880"/>
            <a:ext cx="78406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Modified Access Matrix of Figure B</a:t>
            </a:r>
            <a:endParaRPr lang="en-US" alt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1898650"/>
            <a:ext cx="7756525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865317" y="225265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Access Matrix</a:t>
            </a:r>
            <a:endParaRPr lang="en-US" altLang="en-U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218" y="1176177"/>
            <a:ext cx="7634383" cy="40052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Generally, a sparse matrix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Option 1 – Global table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Store ordered triples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&lt;domain, object, rights-set&gt; </a:t>
            </a:r>
            <a:r>
              <a:rPr lang="en-US" altLang="en-US" dirty="0"/>
              <a:t>in table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A requested operation M on object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within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-&gt; search table for </a:t>
            </a:r>
            <a:r>
              <a:rPr lang="en-US" altLang="en-US" i="1" dirty="0"/>
              <a:t>&lt;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&gt; </a:t>
            </a:r>
            <a:endParaRPr lang="en-US" altLang="en-US" i="1" dirty="0"/>
          </a:p>
          <a:p>
            <a:pPr lvl="2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with M ∈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But table could be large -&gt; won</a:t>
            </a:r>
            <a:r>
              <a:rPr lang="ja-JP" altLang="en-US" dirty="0"/>
              <a:t>’</a:t>
            </a:r>
            <a:r>
              <a:rPr lang="en-US" altLang="ja-JP" dirty="0"/>
              <a:t>t fit in main memory</a:t>
            </a:r>
            <a:endParaRPr lang="en-US" altLang="ja-JP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Difficult to group objects (consider an object that all domains can read)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73685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986614" y="253257"/>
            <a:ext cx="81200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Access Matrix (Cont.)</a:t>
            </a:r>
            <a:endParaRPr lang="en-US" altLang="en-US" dirty="0"/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176179"/>
            <a:ext cx="7673716" cy="40052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Option 2 – Access lists for objects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Each column implemented as an access list for one object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Resulting per-object list consists of ordered pairs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&lt;domain, rights-set&gt; </a:t>
            </a:r>
            <a:r>
              <a:rPr lang="en-US" altLang="en-US" dirty="0"/>
              <a:t>defining all domains with non-empty set of access rights for the object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736850" algn="l"/>
              </a:tabLst>
            </a:pPr>
            <a:r>
              <a:rPr lang="en-US" altLang="en-US" dirty="0"/>
              <a:t>Easily extended to contain default set -&gt; If M ∈ default set, also allow access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73685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 noChangeArrowheads="1"/>
          </p:cNvSpPr>
          <p:nvPr>
            <p:ph type="title"/>
          </p:nvPr>
        </p:nvSpPr>
        <p:spPr>
          <a:xfrm>
            <a:off x="926643" y="254259"/>
            <a:ext cx="8229600" cy="576263"/>
          </a:xfrm>
        </p:spPr>
        <p:txBody>
          <a:bodyPr/>
          <a:lstStyle/>
          <a:p>
            <a:r>
              <a:rPr lang="en-US" altLang="en-US" dirty="0"/>
              <a:t>Implementation of Access Matrix (Cont.)</a:t>
            </a:r>
            <a:endParaRPr lang="en-US" altLang="en-US" dirty="0"/>
          </a:p>
        </p:txBody>
      </p:sp>
      <p:sp>
        <p:nvSpPr>
          <p:cNvPr id="4915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4713" y="1177502"/>
            <a:ext cx="7616144" cy="4530725"/>
          </a:xfrm>
        </p:spPr>
        <p:txBody>
          <a:bodyPr/>
          <a:lstStyle/>
          <a:p>
            <a:pPr>
              <a:tabLst>
                <a:tab pos="2736850" algn="l"/>
              </a:tabLst>
            </a:pPr>
            <a:r>
              <a:rPr lang="en-US" altLang="en-US" dirty="0"/>
              <a:t>Each column = Access-control list for one object </a:t>
            </a:r>
            <a:br>
              <a:rPr lang="en-US" altLang="en-US" dirty="0"/>
            </a:br>
            <a:r>
              <a:rPr lang="en-US" altLang="en-US" dirty="0"/>
              <a:t>Defines who can perform what operation</a:t>
            </a:r>
            <a:br>
              <a:rPr lang="en-US" altLang="en-US" dirty="0"/>
            </a:br>
            <a:br>
              <a:rPr lang="en-US" altLang="en-US" sz="1600" dirty="0"/>
            </a:br>
            <a:r>
              <a:rPr lang="en-US" altLang="en-US" sz="1600" dirty="0"/>
              <a:t>	Domain 1 = Read, Write</a:t>
            </a:r>
            <a:br>
              <a:rPr lang="en-US" altLang="en-US" sz="1600" dirty="0"/>
            </a:br>
            <a:r>
              <a:rPr lang="en-US" altLang="en-US" sz="1600" dirty="0"/>
              <a:t>	Domain 2 = Read</a:t>
            </a:r>
            <a:br>
              <a:rPr lang="en-US" altLang="en-US" sz="1600" dirty="0"/>
            </a:br>
            <a:r>
              <a:rPr lang="en-US" altLang="en-US" sz="1600" dirty="0"/>
              <a:t>	Domain 3 = Read</a:t>
            </a:r>
            <a:br>
              <a:rPr lang="en-US" altLang="en-US" sz="1600" dirty="0"/>
            </a:br>
            <a:r>
              <a:rPr lang="en-US" altLang="en-US" sz="1600" dirty="0"/>
              <a:t>	       </a:t>
            </a:r>
            <a:endParaRPr lang="en-US" altLang="en-US" sz="1600" dirty="0">
              <a:sym typeface="MT Extra" panose="05050102010205020202" pitchFamily="18" charset="2"/>
            </a:endParaRPr>
          </a:p>
          <a:p>
            <a:pPr>
              <a:tabLst>
                <a:tab pos="2736850" algn="l"/>
              </a:tabLst>
            </a:pPr>
            <a:r>
              <a:rPr lang="en-US" altLang="en-US" dirty="0">
                <a:sym typeface="MT Extra" panose="05050102010205020202" pitchFamily="18" charset="2"/>
              </a:rPr>
              <a:t>Each Row = Capability List (like a key)</a:t>
            </a:r>
            <a:br>
              <a:rPr lang="en-US" altLang="en-US" dirty="0">
                <a:sym typeface="MT Extra" panose="05050102010205020202" pitchFamily="18" charset="2"/>
              </a:rPr>
            </a:br>
            <a:r>
              <a:rPr lang="en-US" altLang="en-US" dirty="0">
                <a:sym typeface="MT Extra" panose="05050102010205020202" pitchFamily="18" charset="2"/>
              </a:rPr>
              <a:t>For each domain, what operations allowed on what objects</a:t>
            </a:r>
            <a:endParaRPr lang="en-US" altLang="en-US" dirty="0">
              <a:sym typeface="MT Extra" panose="05050102010205020202" pitchFamily="18" charset="2"/>
            </a:endParaRPr>
          </a:p>
          <a:p>
            <a:pPr lvl="3">
              <a:buFontTx/>
              <a:buNone/>
              <a:tabLst>
                <a:tab pos="2736850" algn="l"/>
              </a:tabLst>
            </a:pPr>
            <a:r>
              <a:rPr lang="en-US" altLang="en-US" sz="1600" dirty="0"/>
              <a:t>Object F1 – Read</a:t>
            </a:r>
            <a:endParaRPr lang="en-US" altLang="en-US" sz="1600" dirty="0"/>
          </a:p>
          <a:p>
            <a:pPr lvl="3">
              <a:buFontTx/>
              <a:buNone/>
              <a:tabLst>
                <a:tab pos="2736850" algn="l"/>
              </a:tabLst>
            </a:pPr>
            <a:r>
              <a:rPr lang="en-US" altLang="en-US" sz="1600" dirty="0"/>
              <a:t>Object F4 – Read, Write, Execute</a:t>
            </a:r>
            <a:endParaRPr lang="en-US" altLang="en-US" sz="1600" dirty="0"/>
          </a:p>
          <a:p>
            <a:pPr lvl="3">
              <a:buFontTx/>
              <a:buNone/>
              <a:tabLst>
                <a:tab pos="2736850" algn="l"/>
              </a:tabLst>
            </a:pPr>
            <a:r>
              <a:rPr lang="en-US" altLang="en-US" sz="1600" dirty="0"/>
              <a:t>Object F5 – Read, Write, Delete, Copy</a:t>
            </a:r>
            <a:endParaRPr lang="en-US" altLang="en-US" sz="1600" dirty="0"/>
          </a:p>
          <a:p>
            <a:pPr>
              <a:tabLst>
                <a:tab pos="273685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 noChangeArrowheads="1"/>
          </p:cNvSpPr>
          <p:nvPr>
            <p:ph type="title"/>
          </p:nvPr>
        </p:nvSpPr>
        <p:spPr>
          <a:xfrm>
            <a:off x="1045032" y="258211"/>
            <a:ext cx="7993841" cy="576263"/>
          </a:xfrm>
        </p:spPr>
        <p:txBody>
          <a:bodyPr/>
          <a:lstStyle/>
          <a:p>
            <a:r>
              <a:rPr lang="en-US" altLang="en-US" dirty="0"/>
              <a:t>Implementation of Access Matrix (Cont.)</a:t>
            </a:r>
            <a:endParaRPr lang="en-US" altLang="en-US" dirty="0"/>
          </a:p>
        </p:txBody>
      </p:sp>
      <p:sp>
        <p:nvSpPr>
          <p:cNvPr id="501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755" y="1175562"/>
            <a:ext cx="7649093" cy="4530725"/>
          </a:xfrm>
        </p:spPr>
        <p:txBody>
          <a:bodyPr/>
          <a:lstStyle/>
          <a:p>
            <a:r>
              <a:rPr lang="en-US" altLang="en-US" dirty="0"/>
              <a:t>Option 3 – Capability list for domains</a:t>
            </a:r>
            <a:endParaRPr lang="en-US" altLang="en-US" dirty="0"/>
          </a:p>
          <a:p>
            <a:pPr lvl="1"/>
            <a:r>
              <a:rPr lang="en-US" altLang="en-US" dirty="0"/>
              <a:t>Instead of object-based, list is domain based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Capability list </a:t>
            </a:r>
            <a:r>
              <a:rPr lang="en-US" altLang="en-US" dirty="0"/>
              <a:t>for domain is list of objects together with operations allows on them</a:t>
            </a:r>
            <a:endParaRPr lang="en-US" altLang="en-US" dirty="0"/>
          </a:p>
          <a:p>
            <a:pPr lvl="1"/>
            <a:r>
              <a:rPr lang="en-US" altLang="en-US" dirty="0"/>
              <a:t>Object represented by its name or address, called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capability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Execute operation M on object </a:t>
            </a:r>
            <a:r>
              <a:rPr lang="en-US" altLang="en-US" dirty="0" err="1"/>
              <a:t>O</a:t>
            </a:r>
            <a:r>
              <a:rPr lang="en-US" altLang="en-US" baseline="-25000" dirty="0" err="1"/>
              <a:t>j</a:t>
            </a:r>
            <a:r>
              <a:rPr lang="en-US" altLang="en-US" dirty="0"/>
              <a:t>, process requests operation and specifies capability as parameter</a:t>
            </a:r>
            <a:endParaRPr lang="en-US" altLang="en-US" dirty="0"/>
          </a:p>
          <a:p>
            <a:pPr lvl="2"/>
            <a:r>
              <a:rPr lang="en-US" altLang="en-US" dirty="0"/>
              <a:t>Possession of capability means access is allowed</a:t>
            </a:r>
            <a:endParaRPr lang="en-US" altLang="en-US" dirty="0"/>
          </a:p>
          <a:p>
            <a:pPr lvl="1"/>
            <a:r>
              <a:rPr lang="en-US" altLang="en-US" dirty="0"/>
              <a:t>Capability list associated with domain but never directly accessible by domain</a:t>
            </a:r>
            <a:endParaRPr lang="en-US" altLang="en-US" dirty="0"/>
          </a:p>
          <a:p>
            <a:pPr lvl="2"/>
            <a:r>
              <a:rPr lang="en-US" altLang="en-US" dirty="0"/>
              <a:t>Rather, protected object, maintained by OS and accessed indirectly</a:t>
            </a:r>
            <a:endParaRPr lang="en-US" altLang="en-US" dirty="0"/>
          </a:p>
          <a:p>
            <a:pPr lvl="2"/>
            <a:r>
              <a:rPr lang="en-US" altLang="en-US" dirty="0"/>
              <a:t>Like a </a:t>
            </a:r>
            <a:r>
              <a:rPr lang="ja-JP" altLang="en-US" dirty="0"/>
              <a:t>“</a:t>
            </a:r>
            <a:r>
              <a:rPr lang="en-US" altLang="ja-JP" dirty="0"/>
              <a:t>secure pointer</a:t>
            </a:r>
            <a:r>
              <a:rPr lang="ja-JP" altLang="en-US" dirty="0"/>
              <a:t>”</a:t>
            </a:r>
            <a:endParaRPr lang="en-US" altLang="ja-JP" dirty="0"/>
          </a:p>
          <a:p>
            <a:pPr lvl="2"/>
            <a:r>
              <a:rPr lang="en-US" altLang="en-US" dirty="0"/>
              <a:t>Idea can be extended up to applications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 noChangeArrowheads="1"/>
          </p:cNvSpPr>
          <p:nvPr>
            <p:ph type="title"/>
          </p:nvPr>
        </p:nvSpPr>
        <p:spPr>
          <a:xfrm>
            <a:off x="975343" y="259151"/>
            <a:ext cx="8131336" cy="576262"/>
          </a:xfrm>
        </p:spPr>
        <p:txBody>
          <a:bodyPr/>
          <a:lstStyle/>
          <a:p>
            <a:r>
              <a:rPr lang="en-US" altLang="en-US" dirty="0"/>
              <a:t>Implementation of Access Matrix (Cont.)</a:t>
            </a:r>
            <a:endParaRPr lang="en-US" altLang="en-US" dirty="0"/>
          </a:p>
        </p:txBody>
      </p:sp>
      <p:sp>
        <p:nvSpPr>
          <p:cNvPr id="5120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756" y="872186"/>
            <a:ext cx="7677085" cy="4303712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400" dirty="0"/>
          </a:p>
          <a:p>
            <a:r>
              <a:rPr lang="en-US" altLang="en-US" dirty="0"/>
              <a:t>Option 4 – Lock-key</a:t>
            </a:r>
            <a:endParaRPr lang="en-US" altLang="en-US" dirty="0"/>
          </a:p>
          <a:p>
            <a:pPr lvl="1"/>
            <a:r>
              <a:rPr lang="en-US" altLang="en-US" dirty="0"/>
              <a:t>Compromise between access lists and capability lists</a:t>
            </a:r>
            <a:endParaRPr lang="en-US" altLang="en-US" dirty="0"/>
          </a:p>
          <a:p>
            <a:pPr lvl="1"/>
            <a:r>
              <a:rPr lang="en-US" altLang="en-US" dirty="0"/>
              <a:t>Each object has list of unique bit patterns,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locks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Each domain as list of unique bit patterns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keys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Process in a domain can only access object if domain has key that matches one of the locks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 noChangeArrowheads="1"/>
          </p:cNvSpPr>
          <p:nvPr>
            <p:ph type="title"/>
          </p:nvPr>
        </p:nvSpPr>
        <p:spPr>
          <a:xfrm>
            <a:off x="887413" y="238969"/>
            <a:ext cx="7799387" cy="576263"/>
          </a:xfrm>
        </p:spPr>
        <p:txBody>
          <a:bodyPr/>
          <a:lstStyle/>
          <a:p>
            <a:r>
              <a:rPr lang="en-US" altLang="en-US" dirty="0"/>
              <a:t>Comparison of Implementations</a:t>
            </a:r>
            <a:endParaRPr lang="en-US" altLang="en-US" dirty="0"/>
          </a:p>
        </p:txBody>
      </p:sp>
      <p:sp>
        <p:nvSpPr>
          <p:cNvPr id="5222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756" y="1180942"/>
            <a:ext cx="7667754" cy="4530725"/>
          </a:xfrm>
        </p:spPr>
        <p:txBody>
          <a:bodyPr/>
          <a:lstStyle/>
          <a:p>
            <a:r>
              <a:rPr lang="en-US" altLang="en-US" dirty="0"/>
              <a:t>Many trade-offs to consider</a:t>
            </a:r>
            <a:endParaRPr lang="en-US" altLang="en-US" dirty="0"/>
          </a:p>
          <a:p>
            <a:pPr lvl="1"/>
            <a:r>
              <a:rPr lang="en-US" altLang="en-US" dirty="0"/>
              <a:t>Global table is simple, but can be large</a:t>
            </a:r>
            <a:endParaRPr lang="en-US" altLang="en-US" dirty="0"/>
          </a:p>
          <a:p>
            <a:pPr lvl="1"/>
            <a:r>
              <a:rPr lang="en-US" altLang="en-US" dirty="0"/>
              <a:t>Access lists correspond to needs of users</a:t>
            </a:r>
            <a:endParaRPr lang="en-US" altLang="en-US" dirty="0"/>
          </a:p>
          <a:p>
            <a:pPr lvl="2"/>
            <a:r>
              <a:rPr lang="en-US" altLang="en-US" dirty="0"/>
              <a:t>Determining set of access rights for domain non-localized so difficult</a:t>
            </a:r>
            <a:endParaRPr lang="en-US" altLang="en-US" dirty="0"/>
          </a:p>
          <a:p>
            <a:pPr lvl="2"/>
            <a:r>
              <a:rPr lang="en-US" altLang="en-US" dirty="0"/>
              <a:t>Every access to an object must be checked</a:t>
            </a:r>
            <a:endParaRPr lang="en-US" altLang="en-US" dirty="0"/>
          </a:p>
          <a:p>
            <a:pPr lvl="3"/>
            <a:r>
              <a:rPr lang="en-US" altLang="en-US" dirty="0"/>
              <a:t>Many objects and access rights -&gt; slow</a:t>
            </a:r>
            <a:endParaRPr lang="en-US" altLang="en-US" dirty="0"/>
          </a:p>
          <a:p>
            <a:pPr lvl="1"/>
            <a:r>
              <a:rPr lang="en-US" altLang="en-US" dirty="0"/>
              <a:t>Capability lists useful for localizing information for a given process</a:t>
            </a:r>
            <a:endParaRPr lang="en-US" altLang="en-US" dirty="0"/>
          </a:p>
          <a:p>
            <a:pPr lvl="2"/>
            <a:r>
              <a:rPr lang="en-US" altLang="en-US" dirty="0"/>
              <a:t>But revocation capabilities can be inefficient</a:t>
            </a:r>
            <a:endParaRPr lang="en-US" altLang="en-US" dirty="0"/>
          </a:p>
          <a:p>
            <a:pPr lvl="1"/>
            <a:r>
              <a:rPr lang="en-US" altLang="en-US" dirty="0"/>
              <a:t>Lock-key effective and flexible, keys can be passed freely from domain to domain, easy revocation 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 noChangeArrowheads="1"/>
          </p:cNvSpPr>
          <p:nvPr>
            <p:ph type="title"/>
          </p:nvPr>
        </p:nvSpPr>
        <p:spPr>
          <a:xfrm>
            <a:off x="886407" y="248884"/>
            <a:ext cx="8252732" cy="576263"/>
          </a:xfrm>
        </p:spPr>
        <p:txBody>
          <a:bodyPr/>
          <a:lstStyle/>
          <a:p>
            <a:r>
              <a:rPr lang="en-US" altLang="en-US" dirty="0"/>
              <a:t>Comparison of Implementations (Cont.)</a:t>
            </a:r>
            <a:endParaRPr lang="en-US" altLang="en-US" dirty="0"/>
          </a:p>
        </p:txBody>
      </p:sp>
      <p:sp>
        <p:nvSpPr>
          <p:cNvPr id="5325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756" y="1176567"/>
            <a:ext cx="7695746" cy="4530725"/>
          </a:xfrm>
        </p:spPr>
        <p:txBody>
          <a:bodyPr/>
          <a:lstStyle/>
          <a:p>
            <a:r>
              <a:rPr lang="en-US" altLang="en-US" dirty="0"/>
              <a:t>Most systems use combination of access lists and capabilities</a:t>
            </a:r>
            <a:endParaRPr lang="en-US" altLang="en-US" dirty="0"/>
          </a:p>
          <a:p>
            <a:pPr lvl="1"/>
            <a:r>
              <a:rPr lang="en-US" altLang="en-US" dirty="0"/>
              <a:t>First access to an object -&gt; access list searched</a:t>
            </a:r>
            <a:endParaRPr lang="en-US" altLang="en-US" dirty="0"/>
          </a:p>
          <a:p>
            <a:pPr lvl="2"/>
            <a:r>
              <a:rPr lang="en-US" altLang="en-US" dirty="0"/>
              <a:t>If allowed, capability created and attached to process</a:t>
            </a:r>
            <a:endParaRPr lang="en-US" altLang="en-US" dirty="0"/>
          </a:p>
          <a:p>
            <a:pPr lvl="3"/>
            <a:r>
              <a:rPr lang="en-US" altLang="en-US" dirty="0"/>
              <a:t>Additional accesses need not be checked</a:t>
            </a:r>
            <a:endParaRPr lang="en-US" altLang="en-US" dirty="0"/>
          </a:p>
          <a:p>
            <a:pPr lvl="2"/>
            <a:r>
              <a:rPr lang="en-US" altLang="en-US" dirty="0"/>
              <a:t>After last access, capability destroyed</a:t>
            </a:r>
            <a:endParaRPr lang="en-US" altLang="en-US" dirty="0"/>
          </a:p>
          <a:p>
            <a:pPr lvl="2"/>
            <a:r>
              <a:rPr lang="en-US" altLang="en-US" dirty="0"/>
              <a:t>Consider file system with ACLs per file</a:t>
            </a: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919515" y="248301"/>
            <a:ext cx="7673975" cy="576263"/>
          </a:xfrm>
        </p:spPr>
        <p:txBody>
          <a:bodyPr/>
          <a:lstStyle/>
          <a:p>
            <a:pPr eaLnBrk="1" hangingPunct="1"/>
            <a:r>
              <a:rPr lang="en-US" altLang="en-US"/>
              <a:t>Revocation of Access Rights</a:t>
            </a:r>
            <a:endParaRPr lang="en-US" altLang="en-US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707" y="1172227"/>
            <a:ext cx="7607820" cy="4740275"/>
          </a:xfrm>
        </p:spPr>
        <p:txBody>
          <a:bodyPr/>
          <a:lstStyle/>
          <a:p>
            <a:r>
              <a:rPr lang="en-US" altLang="en-US" dirty="0"/>
              <a:t>Various options to remove the access right of a domain to an object</a:t>
            </a:r>
            <a:endParaRPr lang="en-US" altLang="en-US" dirty="0"/>
          </a:p>
          <a:p>
            <a:pPr lvl="1"/>
            <a:r>
              <a:rPr lang="en-US" altLang="en-US" b="1" dirty="0"/>
              <a:t>Immediate vs. delayed</a:t>
            </a:r>
            <a:endParaRPr lang="en-US" altLang="en-US" b="1" dirty="0"/>
          </a:p>
          <a:p>
            <a:pPr lvl="1"/>
            <a:r>
              <a:rPr lang="en-US" altLang="en-US" b="1" dirty="0"/>
              <a:t>Selective vs. general</a:t>
            </a:r>
            <a:endParaRPr lang="en-US" altLang="en-US" b="1" dirty="0"/>
          </a:p>
          <a:p>
            <a:pPr lvl="1"/>
            <a:r>
              <a:rPr lang="en-US" altLang="en-US" b="1" dirty="0"/>
              <a:t>Partial vs. total</a:t>
            </a:r>
            <a:endParaRPr lang="en-US" altLang="en-US" b="1" dirty="0"/>
          </a:p>
          <a:p>
            <a:pPr lvl="1"/>
            <a:r>
              <a:rPr lang="en-US" altLang="en-US" b="1" dirty="0"/>
              <a:t>Temporary vs. permanent</a:t>
            </a:r>
            <a:endParaRPr lang="en-US" altLang="en-US" b="1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Access List </a:t>
            </a:r>
            <a:r>
              <a:rPr lang="en-US" altLang="en-US" dirty="0"/>
              <a:t>– Delete access rights from access list</a:t>
            </a:r>
            <a:endParaRPr lang="en-US" altLang="en-US" dirty="0"/>
          </a:p>
          <a:p>
            <a:pPr lvl="1"/>
            <a:r>
              <a:rPr lang="en-US" altLang="en-US" b="1" dirty="0"/>
              <a:t>Simple</a:t>
            </a:r>
            <a:r>
              <a:rPr lang="en-US" altLang="en-US" dirty="0"/>
              <a:t> – search access list and remove entry</a:t>
            </a:r>
            <a:endParaRPr lang="en-US" altLang="en-US" dirty="0"/>
          </a:p>
          <a:p>
            <a:pPr lvl="1"/>
            <a:r>
              <a:rPr lang="en-US" altLang="en-US" b="1" dirty="0"/>
              <a:t>Immediate</a:t>
            </a:r>
            <a:r>
              <a:rPr lang="en-US" altLang="en-US" dirty="0"/>
              <a:t>, </a:t>
            </a:r>
            <a:r>
              <a:rPr lang="en-US" altLang="en-US" b="1" dirty="0"/>
              <a:t>general</a:t>
            </a:r>
            <a:r>
              <a:rPr lang="en-US" altLang="en-US" dirty="0"/>
              <a:t> or </a:t>
            </a:r>
            <a:r>
              <a:rPr lang="en-US" altLang="en-US" b="1" dirty="0"/>
              <a:t>selective</a:t>
            </a:r>
            <a:r>
              <a:rPr lang="en-US" altLang="en-US" dirty="0"/>
              <a:t>, </a:t>
            </a:r>
            <a:r>
              <a:rPr lang="en-US" altLang="en-US" b="1" dirty="0"/>
              <a:t>total</a:t>
            </a:r>
            <a:r>
              <a:rPr lang="en-US" altLang="en-US" dirty="0"/>
              <a:t> or </a:t>
            </a:r>
            <a:r>
              <a:rPr lang="en-US" altLang="en-US" b="1" dirty="0"/>
              <a:t>partial</a:t>
            </a:r>
            <a:r>
              <a:rPr lang="en-US" altLang="en-US" dirty="0"/>
              <a:t>, </a:t>
            </a:r>
            <a:r>
              <a:rPr lang="en-US" altLang="en-US" b="1" dirty="0"/>
              <a:t>permanent</a:t>
            </a:r>
            <a:r>
              <a:rPr lang="en-US" altLang="en-US" dirty="0"/>
              <a:t> or </a:t>
            </a:r>
            <a:r>
              <a:rPr lang="en-US" altLang="en-US" b="1" dirty="0"/>
              <a:t>temporary</a:t>
            </a:r>
            <a:endParaRPr lang="en-US" altLang="en-US" b="1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984836" y="248299"/>
            <a:ext cx="7673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Revocation of Access Rights (Cont.)</a:t>
            </a:r>
            <a:endParaRPr lang="en-US" altLang="en-US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087" y="1177180"/>
            <a:ext cx="7383463" cy="47402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Capability List </a:t>
            </a:r>
            <a:r>
              <a:rPr lang="en-US" altLang="en-US" dirty="0"/>
              <a:t>– Scheme required to locate capability in the system before capability can be revoked</a:t>
            </a:r>
            <a:endParaRPr lang="en-US" altLang="en-US" dirty="0"/>
          </a:p>
          <a:p>
            <a:pPr lvl="1"/>
            <a:r>
              <a:rPr lang="en-US" altLang="en-US" b="1" dirty="0"/>
              <a:t>Reacquisition</a:t>
            </a:r>
            <a:r>
              <a:rPr lang="en-US" altLang="en-US" dirty="0"/>
              <a:t> – periodic delete, with require and denial if revoked</a:t>
            </a:r>
            <a:endParaRPr lang="en-US" altLang="en-US" dirty="0"/>
          </a:p>
          <a:p>
            <a:pPr lvl="1"/>
            <a:r>
              <a:rPr lang="en-US" altLang="en-US" b="1" dirty="0"/>
              <a:t>Back-pointers </a:t>
            </a:r>
            <a:r>
              <a:rPr lang="en-US" altLang="en-US" dirty="0"/>
              <a:t>– set of pointers from each object to all capabilities of that object (Multics)</a:t>
            </a:r>
            <a:endParaRPr lang="en-US" altLang="en-US" dirty="0"/>
          </a:p>
          <a:p>
            <a:pPr lvl="1"/>
            <a:r>
              <a:rPr lang="en-US" altLang="en-US" b="1" dirty="0"/>
              <a:t>Indirection</a:t>
            </a:r>
            <a:r>
              <a:rPr lang="en-US" altLang="en-US" dirty="0"/>
              <a:t> – capability points to global table entry which points to object – delete entry from global table, not selective (CAL)</a:t>
            </a:r>
            <a:endParaRPr lang="en-US" altLang="en-US" dirty="0"/>
          </a:p>
          <a:p>
            <a:pPr lvl="1"/>
            <a:r>
              <a:rPr lang="en-US" altLang="en-US" b="1" dirty="0"/>
              <a:t>Keys</a:t>
            </a:r>
            <a:r>
              <a:rPr lang="en-US" altLang="en-US" dirty="0"/>
              <a:t> – unique bits associated with capability, generated when capability created</a:t>
            </a:r>
            <a:endParaRPr lang="en-US" altLang="en-US" dirty="0"/>
          </a:p>
          <a:p>
            <a:pPr lvl="2"/>
            <a:r>
              <a:rPr lang="en-US" altLang="en-US" dirty="0"/>
              <a:t>Master key associated with object, key matches master key for access</a:t>
            </a:r>
            <a:endParaRPr lang="en-US" altLang="en-US" dirty="0"/>
          </a:p>
          <a:p>
            <a:pPr lvl="2"/>
            <a:r>
              <a:rPr lang="en-US" altLang="en-US" dirty="0"/>
              <a:t>Revocation – create new master key</a:t>
            </a:r>
            <a:endParaRPr lang="en-US" altLang="en-US" dirty="0"/>
          </a:p>
          <a:p>
            <a:pPr lvl="2"/>
            <a:r>
              <a:rPr lang="en-US" altLang="en-US" dirty="0"/>
              <a:t>Policy decision of who can create and modify keys – object owner or others?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690563" y="238972"/>
            <a:ext cx="7996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Role-based Access Control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724" y="1171611"/>
            <a:ext cx="4310062" cy="4813300"/>
          </a:xfrm>
        </p:spPr>
        <p:txBody>
          <a:bodyPr/>
          <a:lstStyle/>
          <a:p>
            <a:r>
              <a:rPr lang="en-US" altLang="en-US" dirty="0"/>
              <a:t>Protection can be applied to non-file resources</a:t>
            </a:r>
            <a:endParaRPr lang="en-US" altLang="en-US" dirty="0"/>
          </a:p>
          <a:p>
            <a:r>
              <a:rPr lang="en-US" altLang="en-US" dirty="0"/>
              <a:t>Oracle Solaris 10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role-based access control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RBAC</a:t>
            </a:r>
            <a:r>
              <a:rPr lang="en-US" altLang="en-US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to implement least privilege</a:t>
            </a:r>
            <a:endParaRPr lang="en-US" altLang="en-US" dirty="0"/>
          </a:p>
          <a:p>
            <a:pPr lvl="1"/>
            <a:r>
              <a:rPr lang="en-US" altLang="en-US" b="1" i="1" dirty="0"/>
              <a:t>Privilege</a:t>
            </a:r>
            <a:r>
              <a:rPr lang="en-US" altLang="en-US" i="1" dirty="0"/>
              <a:t> </a:t>
            </a:r>
            <a:r>
              <a:rPr lang="en-US" altLang="en-US" dirty="0"/>
              <a:t>is right to execute system call or use an option within a system call</a:t>
            </a:r>
            <a:endParaRPr lang="en-US" altLang="en-US" dirty="0"/>
          </a:p>
          <a:p>
            <a:pPr lvl="1"/>
            <a:r>
              <a:rPr lang="en-US" altLang="en-US" dirty="0"/>
              <a:t>Can be assigned to processes</a:t>
            </a:r>
            <a:endParaRPr lang="en-US" altLang="en-US" dirty="0"/>
          </a:p>
          <a:p>
            <a:pPr lvl="1"/>
            <a:r>
              <a:rPr lang="en-US" altLang="en-US" dirty="0"/>
              <a:t>Users assigned </a:t>
            </a:r>
            <a:r>
              <a:rPr lang="en-US" altLang="en-US" b="1" i="1" dirty="0"/>
              <a:t>roles</a:t>
            </a:r>
            <a:r>
              <a:rPr lang="en-US" altLang="en-US" i="1" dirty="0"/>
              <a:t> </a:t>
            </a:r>
            <a:r>
              <a:rPr lang="en-US" altLang="en-US" dirty="0"/>
              <a:t>granting access to privileges and programs</a:t>
            </a:r>
            <a:endParaRPr lang="en-US" altLang="en-US" dirty="0"/>
          </a:p>
          <a:p>
            <a:pPr lvl="2"/>
            <a:r>
              <a:rPr lang="en-US" altLang="en-US" dirty="0"/>
              <a:t>Enable role via password to gain its privileges</a:t>
            </a:r>
            <a:endParaRPr lang="en-US" altLang="en-US" dirty="0"/>
          </a:p>
          <a:p>
            <a:pPr lvl="1"/>
            <a:r>
              <a:rPr lang="en-US" altLang="en-US" dirty="0"/>
              <a:t>Similar to access matrix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113" y="1223963"/>
            <a:ext cx="348615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821194" y="238970"/>
            <a:ext cx="7996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Mandatory Access Control (MAC)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724" y="1171611"/>
            <a:ext cx="7670117" cy="4813300"/>
          </a:xfrm>
        </p:spPr>
        <p:txBody>
          <a:bodyPr/>
          <a:lstStyle/>
          <a:p>
            <a:r>
              <a:rPr lang="en-US" altLang="en-US" dirty="0"/>
              <a:t>Operating systems traditionally had discretionary access control (DAC) to limit access to files and other objects (for example UNIX file permissions and Windows access control lists (ACLs))</a:t>
            </a:r>
            <a:endParaRPr lang="en-US" altLang="en-US" dirty="0"/>
          </a:p>
          <a:p>
            <a:pPr lvl="1"/>
            <a:r>
              <a:rPr lang="en-US" altLang="en-US" dirty="0"/>
              <a:t>Discretionary is a weakness – users / admins need to do something to increase protection</a:t>
            </a:r>
            <a:endParaRPr lang="en-US" altLang="en-US" dirty="0"/>
          </a:p>
          <a:p>
            <a:r>
              <a:rPr lang="en-US" altLang="en-US" dirty="0"/>
              <a:t>Stronger form is mandatory access control, which even root user can’t circumvent</a:t>
            </a:r>
            <a:endParaRPr lang="en-US" altLang="en-US" dirty="0"/>
          </a:p>
          <a:p>
            <a:pPr lvl="1"/>
            <a:r>
              <a:rPr lang="en-US" altLang="en-US" dirty="0"/>
              <a:t>Makes resources inaccessible except to their intended owners</a:t>
            </a:r>
            <a:endParaRPr lang="en-US" altLang="en-US" dirty="0"/>
          </a:p>
          <a:p>
            <a:pPr lvl="1"/>
            <a:r>
              <a:rPr lang="en-US" altLang="en-US" dirty="0"/>
              <a:t>Modern systems implement both MAC and DAC, with MAC usually a more secure, optional configuration (Trusted Solaris, </a:t>
            </a:r>
            <a:r>
              <a:rPr lang="en-US" altLang="en-US" dirty="0" err="1"/>
              <a:t>TrustedBSD</a:t>
            </a:r>
            <a:r>
              <a:rPr lang="en-US" altLang="en-US" dirty="0"/>
              <a:t> (used in macOS), </a:t>
            </a:r>
            <a:r>
              <a:rPr lang="en-US" altLang="en-US" dirty="0" err="1"/>
              <a:t>SELinux</a:t>
            </a:r>
            <a:r>
              <a:rPr lang="en-US" altLang="en-US" dirty="0"/>
              <a:t>), Windows Vista MAC)</a:t>
            </a:r>
            <a:endParaRPr lang="en-US" altLang="en-US" dirty="0"/>
          </a:p>
          <a:p>
            <a:r>
              <a:rPr lang="en-US" altLang="en-US" dirty="0"/>
              <a:t>At its heart, labels assigned to objects and subjects (including processes)</a:t>
            </a:r>
            <a:endParaRPr lang="en-US" altLang="en-US" dirty="0"/>
          </a:p>
          <a:p>
            <a:pPr lvl="1"/>
            <a:r>
              <a:rPr lang="en-US" altLang="en-US" dirty="0"/>
              <a:t>When a subject requests access to an object, policy checked to determine whether or not a given label-holding subject is allowed to perform the action on the object 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978482" y="238969"/>
            <a:ext cx="7721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Capability-Based Systems </a:t>
            </a:r>
            <a:endParaRPr lang="en-US" altLang="en-US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387" y="1134904"/>
            <a:ext cx="7721600" cy="4713288"/>
          </a:xfrm>
        </p:spPr>
        <p:txBody>
          <a:bodyPr/>
          <a:lstStyle/>
          <a:p>
            <a:r>
              <a:rPr lang="en-US" altLang="en-US" dirty="0"/>
              <a:t>Hydra and CAP were first capability-based systems</a:t>
            </a:r>
            <a:endParaRPr lang="en-US" altLang="en-US" dirty="0"/>
          </a:p>
          <a:p>
            <a:r>
              <a:rPr lang="en-US" altLang="en-US" dirty="0"/>
              <a:t>Now included in Linux, Android and others, based on POSIX.1e (that never became a standard)</a:t>
            </a:r>
            <a:endParaRPr lang="en-US" altLang="en-US" dirty="0"/>
          </a:p>
          <a:p>
            <a:pPr lvl="1"/>
            <a:r>
              <a:rPr lang="en-US" altLang="en-US" dirty="0"/>
              <a:t>Essentially slices up root powers into distinct areas, each represented by a bitmap bit</a:t>
            </a:r>
            <a:endParaRPr lang="en-US" altLang="en-US" dirty="0"/>
          </a:p>
          <a:p>
            <a:pPr lvl="1"/>
            <a:r>
              <a:rPr lang="en-US" altLang="en-US" dirty="0"/>
              <a:t>Fine grain control over privileged operations can be achieved by setting or masking the bitmap</a:t>
            </a:r>
            <a:endParaRPr lang="en-US" altLang="en-US" dirty="0"/>
          </a:p>
          <a:p>
            <a:pPr lvl="1"/>
            <a:r>
              <a:rPr lang="en-US" altLang="en-US" dirty="0"/>
              <a:t>Three sets of bitmaps – permitted, effective, and inheritable</a:t>
            </a:r>
            <a:endParaRPr lang="en-US" altLang="en-US" dirty="0"/>
          </a:p>
          <a:p>
            <a:pPr lvl="2"/>
            <a:r>
              <a:rPr lang="en-US" altLang="en-US" dirty="0"/>
              <a:t>Can apply per process or per thread</a:t>
            </a:r>
            <a:endParaRPr lang="en-US" altLang="en-US" dirty="0"/>
          </a:p>
          <a:p>
            <a:pPr lvl="2"/>
            <a:r>
              <a:rPr lang="en-US" altLang="en-US" dirty="0"/>
              <a:t>Once revoked, cannot be reacquired</a:t>
            </a:r>
            <a:endParaRPr lang="en-US" altLang="en-US" dirty="0"/>
          </a:p>
          <a:p>
            <a:pPr lvl="2"/>
            <a:r>
              <a:rPr lang="en-US" altLang="en-US" dirty="0"/>
              <a:t>Process or thread starts with all </a:t>
            </a:r>
            <a:r>
              <a:rPr lang="en-US" altLang="en-US" dirty="0" err="1"/>
              <a:t>privs</a:t>
            </a:r>
            <a:r>
              <a:rPr lang="en-US" altLang="en-US" dirty="0"/>
              <a:t>, voluntarily decreases set during execution</a:t>
            </a:r>
            <a:endParaRPr lang="en-US" altLang="en-US" dirty="0"/>
          </a:p>
          <a:p>
            <a:pPr lvl="2"/>
            <a:r>
              <a:rPr lang="en-US" altLang="en-US" dirty="0"/>
              <a:t>Essentially a direct implementation of the principle of least privilege</a:t>
            </a:r>
            <a:endParaRPr lang="en-US" altLang="en-US" dirty="0"/>
          </a:p>
          <a:p>
            <a:r>
              <a:rPr lang="en-US" altLang="en-US" dirty="0"/>
              <a:t>An improvement over root having all privileges but inflexible (adding new privilege difficult, etc.)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 noChangeArrowheads="1"/>
          </p:cNvSpPr>
          <p:nvPr>
            <p:ph type="title"/>
          </p:nvPr>
        </p:nvSpPr>
        <p:spPr>
          <a:xfrm>
            <a:off x="928752" y="242106"/>
            <a:ext cx="7549662" cy="576262"/>
          </a:xfrm>
        </p:spPr>
        <p:txBody>
          <a:bodyPr/>
          <a:lstStyle/>
          <a:p>
            <a:r>
              <a:rPr lang="en-US" altLang="en-US" dirty="0"/>
              <a:t>Capabilities in POSIX.1e </a:t>
            </a:r>
            <a:endParaRPr lang="en-US" alt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1057275"/>
            <a:ext cx="695325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830" y="258215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Other Protection Improvement Methods</a:t>
            </a:r>
            <a:endParaRPr lang="en-US" altLang="en-US" dirty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049" y="1188844"/>
            <a:ext cx="7736438" cy="4530725"/>
          </a:xfrm>
        </p:spPr>
        <p:txBody>
          <a:bodyPr/>
          <a:lstStyle/>
          <a:p>
            <a:r>
              <a:rPr lang="en-US" altLang="en-US" dirty="0"/>
              <a:t>System integrity protection (SIP)</a:t>
            </a:r>
            <a:endParaRPr lang="en-US" altLang="en-US" dirty="0"/>
          </a:p>
          <a:p>
            <a:pPr lvl="1"/>
            <a:r>
              <a:rPr lang="en-US" altLang="en-US" dirty="0"/>
              <a:t>Introduced by Apple in macOS 10.11</a:t>
            </a:r>
            <a:endParaRPr lang="en-US" altLang="en-US" dirty="0"/>
          </a:p>
          <a:p>
            <a:pPr lvl="1"/>
            <a:r>
              <a:rPr lang="en-US" altLang="en-US" dirty="0"/>
              <a:t>Restricts access to system files and resources, even by root</a:t>
            </a:r>
            <a:endParaRPr lang="en-US" altLang="en-US" dirty="0"/>
          </a:p>
          <a:p>
            <a:pPr lvl="1"/>
            <a:r>
              <a:rPr lang="en-US" altLang="en-US" dirty="0"/>
              <a:t>Uses extended file </a:t>
            </a:r>
            <a:r>
              <a:rPr lang="en-US" altLang="en-US" dirty="0" err="1"/>
              <a:t>attribs</a:t>
            </a:r>
            <a:r>
              <a:rPr lang="en-US" altLang="en-US" dirty="0"/>
              <a:t> to mark a binary to restrict changes, disable debugging and scrutinizing</a:t>
            </a:r>
            <a:endParaRPr lang="en-US" altLang="en-US" dirty="0"/>
          </a:p>
          <a:p>
            <a:pPr lvl="1"/>
            <a:r>
              <a:rPr lang="en-US" altLang="en-US" dirty="0"/>
              <a:t>Also, only code-signed kernel extensions allowed and </a:t>
            </a:r>
            <a:r>
              <a:rPr lang="en-US" altLang="en-US" dirty="0" err="1"/>
              <a:t>configurably</a:t>
            </a:r>
            <a:r>
              <a:rPr lang="en-US" altLang="en-US" dirty="0"/>
              <a:t> only code-signed apps</a:t>
            </a:r>
            <a:endParaRPr lang="en-US" altLang="en-US" dirty="0"/>
          </a:p>
          <a:p>
            <a:r>
              <a:rPr lang="en-US" altLang="en-US" dirty="0"/>
              <a:t>System-call filtering</a:t>
            </a:r>
            <a:endParaRPr lang="en-US" altLang="en-US" dirty="0"/>
          </a:p>
          <a:p>
            <a:pPr lvl="1"/>
            <a:r>
              <a:rPr lang="en-US" altLang="en-US" dirty="0"/>
              <a:t>Like a firewall, for system calls</a:t>
            </a:r>
            <a:endParaRPr lang="en-US" altLang="en-US" dirty="0"/>
          </a:p>
          <a:p>
            <a:pPr lvl="1"/>
            <a:r>
              <a:rPr lang="en-US" altLang="en-US" dirty="0"/>
              <a:t>Can also be deeper –inspecting all system call arguments</a:t>
            </a:r>
            <a:endParaRPr lang="en-US" altLang="en-US" dirty="0"/>
          </a:p>
          <a:p>
            <a:pPr lvl="1"/>
            <a:r>
              <a:rPr lang="en-US" altLang="en-US" dirty="0"/>
              <a:t>Linux implements via SECCOMP-BPF (Berkeley packet filtering)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658941" y="295540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Other Protection</a:t>
            </a:r>
            <a:br>
              <a:rPr lang="en-US" altLang="en-US" sz="2800" dirty="0"/>
            </a:br>
            <a:r>
              <a:rPr lang="en-US" altLang="en-US" sz="2800" dirty="0"/>
              <a:t>Improvement Methods (Cont.)</a:t>
            </a:r>
            <a:endParaRPr lang="en-US" altLang="en-US" sz="2800" dirty="0"/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049" y="1188844"/>
            <a:ext cx="7643131" cy="4530725"/>
          </a:xfrm>
        </p:spPr>
        <p:txBody>
          <a:bodyPr/>
          <a:lstStyle/>
          <a:p>
            <a:r>
              <a:rPr lang="en-US" altLang="en-US" dirty="0"/>
              <a:t>Sandboxing</a:t>
            </a:r>
            <a:endParaRPr lang="en-US" altLang="en-US" dirty="0"/>
          </a:p>
          <a:p>
            <a:pPr lvl="1"/>
            <a:r>
              <a:rPr lang="en-US" altLang="en-US" dirty="0"/>
              <a:t>Running process in limited environment</a:t>
            </a:r>
            <a:endParaRPr lang="en-US" altLang="en-US" dirty="0"/>
          </a:p>
          <a:p>
            <a:pPr lvl="1"/>
            <a:r>
              <a:rPr lang="en-US" altLang="en-US" dirty="0"/>
              <a:t>Impose set of irremovable restrictions early in startup of process (before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Process then unable to access any resources beyond its allowed set</a:t>
            </a:r>
            <a:endParaRPr lang="en-US" altLang="en-US" dirty="0"/>
          </a:p>
          <a:p>
            <a:pPr lvl="1"/>
            <a:r>
              <a:rPr lang="en-US" altLang="en-US" dirty="0"/>
              <a:t>Java and </a:t>
            </a:r>
            <a:r>
              <a:rPr lang="en-US" altLang="en-US" dirty="0" err="1"/>
              <a:t>.net</a:t>
            </a:r>
            <a:r>
              <a:rPr lang="en-US" altLang="en-US" dirty="0"/>
              <a:t> implement at a virtual machine level</a:t>
            </a:r>
            <a:endParaRPr lang="en-US" altLang="en-US" dirty="0"/>
          </a:p>
          <a:p>
            <a:pPr lvl="1"/>
            <a:r>
              <a:rPr lang="en-US" altLang="en-US" dirty="0"/>
              <a:t>Other systems use MAC to implement</a:t>
            </a:r>
            <a:endParaRPr lang="en-US" altLang="en-US" dirty="0"/>
          </a:p>
          <a:p>
            <a:pPr lvl="1"/>
            <a:r>
              <a:rPr lang="en-US" altLang="en-US" dirty="0"/>
              <a:t>Apple was an early adopter, from macOS 10.5’s “seatbelt” feature</a:t>
            </a:r>
            <a:endParaRPr lang="en-US" altLang="en-US" dirty="0"/>
          </a:p>
          <a:p>
            <a:pPr lvl="2"/>
            <a:r>
              <a:rPr lang="en-US" altLang="en-US" dirty="0"/>
              <a:t>Dynamic profiles written in the Scheme language, managing system calls even at the argument level</a:t>
            </a:r>
            <a:endParaRPr lang="en-US" altLang="en-US" dirty="0"/>
          </a:p>
          <a:p>
            <a:pPr lvl="2"/>
            <a:r>
              <a:rPr lang="en-US" altLang="en-US" dirty="0"/>
              <a:t>Apple now does SIP, a system-wide platform profile</a:t>
            </a: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115" y="295275"/>
            <a:ext cx="8261985" cy="57658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Other Protection Improvement Methods </a:t>
            </a:r>
            <a:r>
              <a:rPr lang="en-US" altLang="en-US" sz="2000" dirty="0"/>
              <a:t>(Cont.)</a:t>
            </a:r>
            <a:endParaRPr lang="en-US" altLang="en-US" sz="2000" dirty="0"/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049" y="1188844"/>
            <a:ext cx="7615139" cy="4530725"/>
          </a:xfrm>
        </p:spPr>
        <p:txBody>
          <a:bodyPr/>
          <a:lstStyle/>
          <a:p>
            <a:r>
              <a:rPr lang="en-US" altLang="en-US" dirty="0"/>
              <a:t>Code signing allows a system to trust a program or script by using crypto hash to have the developer sign the executable</a:t>
            </a:r>
            <a:endParaRPr lang="en-US" altLang="en-US" dirty="0"/>
          </a:p>
          <a:p>
            <a:pPr lvl="1"/>
            <a:r>
              <a:rPr lang="en-US" altLang="en-US" dirty="0"/>
              <a:t>So code as it was compiled by the author</a:t>
            </a:r>
            <a:endParaRPr lang="en-US" altLang="en-US" dirty="0"/>
          </a:p>
          <a:p>
            <a:pPr lvl="1"/>
            <a:r>
              <a:rPr lang="en-US" altLang="en-US" dirty="0"/>
              <a:t>If the code is changed, signature invalid and (some) systems disable execution</a:t>
            </a:r>
            <a:endParaRPr lang="en-US" altLang="en-US" dirty="0"/>
          </a:p>
          <a:p>
            <a:pPr lvl="1"/>
            <a:r>
              <a:rPr lang="en-US" altLang="en-US" dirty="0"/>
              <a:t>Can also be used to disable old programs by the operating system vendor (such as Apple) cosigning apps, and then invaliding those signatures so the code will no longer run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733589" y="248885"/>
            <a:ext cx="7869237" cy="576263"/>
          </a:xfrm>
        </p:spPr>
        <p:txBody>
          <a:bodyPr/>
          <a:lstStyle/>
          <a:p>
            <a:pPr eaLnBrk="1" hangingPunct="1"/>
            <a:r>
              <a:rPr lang="en-US" altLang="en-US"/>
              <a:t>Language-Based Protection</a:t>
            </a:r>
            <a:endParaRPr lang="en-US" altLang="en-US"/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049" y="1179513"/>
            <a:ext cx="7615140" cy="4530725"/>
          </a:xfrm>
        </p:spPr>
        <p:txBody>
          <a:bodyPr/>
          <a:lstStyle/>
          <a:p>
            <a:r>
              <a:rPr lang="en-US" altLang="en-US" dirty="0"/>
              <a:t>Specification of protection in a programming language allows the high-level description of policies for the allocation and use of resources</a:t>
            </a:r>
            <a:endParaRPr lang="en-US" altLang="en-US" dirty="0"/>
          </a:p>
          <a:p>
            <a:r>
              <a:rPr lang="en-US" altLang="en-US" dirty="0"/>
              <a:t>Language implementation can provide software for protection enforcement when automatic hardware-supported checking is unavailable</a:t>
            </a:r>
            <a:endParaRPr lang="en-US" altLang="en-US" dirty="0"/>
          </a:p>
          <a:p>
            <a:r>
              <a:rPr lang="en-US" altLang="en-US" dirty="0"/>
              <a:t>Interpret protection specifications to generate calls on whatever protection system is provided by the hardware and the operating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548043" y="242923"/>
            <a:ext cx="8045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 in Java 2</a:t>
            </a:r>
            <a:endParaRPr lang="en-US" altLang="en-US" dirty="0"/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424" y="1174556"/>
            <a:ext cx="7722731" cy="4530725"/>
          </a:xfrm>
        </p:spPr>
        <p:txBody>
          <a:bodyPr/>
          <a:lstStyle/>
          <a:p>
            <a:r>
              <a:rPr lang="en-US" altLang="en-US" dirty="0"/>
              <a:t>Protection is handled by the Java Virtual Machine (JVM)</a:t>
            </a:r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class</a:t>
            </a:r>
            <a:r>
              <a:rPr lang="en-US" altLang="en-US" dirty="0"/>
              <a:t> is assigned a protection domain when it is loaded by the JVM</a:t>
            </a:r>
            <a:endParaRPr lang="en-US" altLang="en-US" dirty="0"/>
          </a:p>
          <a:p>
            <a:r>
              <a:rPr lang="en-US" altLang="en-US" dirty="0"/>
              <a:t>The protection domain indicates what operations the class can (and cannot) perform</a:t>
            </a:r>
            <a:endParaRPr lang="en-US" altLang="en-US" dirty="0"/>
          </a:p>
          <a:p>
            <a:r>
              <a:rPr lang="en-US" altLang="en-US" dirty="0"/>
              <a:t>If a library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method</a:t>
            </a:r>
            <a:r>
              <a:rPr lang="en-US" altLang="en-US" dirty="0"/>
              <a:t> is invoked that performs a privileged operation, the stack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inspected</a:t>
            </a:r>
            <a:r>
              <a:rPr lang="en-US" altLang="en-US" dirty="0"/>
              <a:t> to ensure the operation can be performed by the library</a:t>
            </a:r>
            <a:endParaRPr lang="en-US" altLang="en-US" dirty="0"/>
          </a:p>
          <a:p>
            <a:r>
              <a:rPr lang="en-US" altLang="en-US" dirty="0"/>
              <a:t>Generally, Java’s load-time and run-time checks enforce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type safety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Classes effectively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encapsulate</a:t>
            </a:r>
            <a:r>
              <a:rPr lang="en-US" altLang="en-US" dirty="0"/>
              <a:t> and protect data and methods from other classes</a:t>
            </a: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708995" y="247880"/>
            <a:ext cx="7958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Stack Inspection</a:t>
            </a:r>
            <a:endParaRPr lang="en-US" altLang="en-US" dirty="0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933575"/>
            <a:ext cx="7458075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262188"/>
          </a:xfrm>
        </p:spPr>
        <p:txBody>
          <a:bodyPr/>
          <a:lstStyle/>
          <a:p>
            <a:pPr eaLnBrk="1" hangingPunct="1"/>
            <a:r>
              <a:rPr lang="en-US" altLang="en-US"/>
              <a:t>End of Chapter 17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14974</Words>
  <Application>WPS 演示</Application>
  <PresentationFormat>On-screen Show (4:3)</PresentationFormat>
  <Paragraphs>370</Paragraphs>
  <Slides>42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2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Courier New</vt:lpstr>
      <vt:lpstr>Monotype Sorts</vt:lpstr>
      <vt:lpstr>Symbol</vt:lpstr>
      <vt:lpstr>微软雅黑</vt:lpstr>
      <vt:lpstr>Arial Unicode MS</vt:lpstr>
      <vt:lpstr>MT Extra</vt:lpstr>
      <vt:lpstr>黑体</vt:lpstr>
      <vt:lpstr>Comic Sans MS</vt:lpstr>
      <vt:lpstr>Consolas</vt:lpstr>
      <vt:lpstr>Calibri</vt:lpstr>
      <vt:lpstr>Wingdings</vt:lpstr>
      <vt:lpstr>os-8</vt:lpstr>
      <vt:lpstr>PowerPoint 演示文稿</vt:lpstr>
      <vt:lpstr>Chapter 17: Protection</vt:lpstr>
      <vt:lpstr>Objectives</vt:lpstr>
      <vt:lpstr>Goals of Protection</vt:lpstr>
      <vt:lpstr>Principles of Protection</vt:lpstr>
      <vt:lpstr>Principles of Protection (Cont.)</vt:lpstr>
      <vt:lpstr>Protection Rings</vt:lpstr>
      <vt:lpstr>Protection Rings (MULTICS)</vt:lpstr>
      <vt:lpstr>Android use of TrustZone</vt:lpstr>
      <vt:lpstr>ARM CPU Architecture</vt:lpstr>
      <vt:lpstr>Domain of Protection</vt:lpstr>
      <vt:lpstr>Domain of Protection (Cont.)</vt:lpstr>
      <vt:lpstr>Domain Structure</vt:lpstr>
      <vt:lpstr>Domain Implementation (UNIX)</vt:lpstr>
      <vt:lpstr>Domain Implementation (Android App IDs)</vt:lpstr>
      <vt:lpstr>Access Matrix</vt:lpstr>
      <vt:lpstr>Use of Access Matrix</vt:lpstr>
      <vt:lpstr>Use of Access Matrix (Cont.)</vt:lpstr>
      <vt:lpstr>Access Matrix of Figure A with Domains as Objects</vt:lpstr>
      <vt:lpstr>Access Matrix with Copy Rights</vt:lpstr>
      <vt:lpstr>Access Matrix With Owner Rights</vt:lpstr>
      <vt:lpstr>Modified Access Matrix of Figure B</vt:lpstr>
      <vt:lpstr>Implementation of Access Matrix</vt:lpstr>
      <vt:lpstr>Implementation of Access Matrix (Cont.)</vt:lpstr>
      <vt:lpstr>Implementation of Access Matrix (Cont.)</vt:lpstr>
      <vt:lpstr>Implementation of Access Matrix (Cont.)</vt:lpstr>
      <vt:lpstr>Implementation of Access Matrix (Cont.)</vt:lpstr>
      <vt:lpstr>Comparison of Implementations</vt:lpstr>
      <vt:lpstr>Comparison of Implementations (Cont.)</vt:lpstr>
      <vt:lpstr>Revocation of Access Rights</vt:lpstr>
      <vt:lpstr>Revocation of Access Rights (Cont.)</vt:lpstr>
      <vt:lpstr>Role-based Access Control</vt:lpstr>
      <vt:lpstr>Mandatory Access Control (MAC)</vt:lpstr>
      <vt:lpstr>Capability-Based Systems </vt:lpstr>
      <vt:lpstr>Capabilities in POSIX.1e </vt:lpstr>
      <vt:lpstr>Other Protection Improvement Methods</vt:lpstr>
      <vt:lpstr>Other Protection Improvement Methods (Cont.)</vt:lpstr>
      <vt:lpstr>Other Protection Improvement Methods (Cont.)</vt:lpstr>
      <vt:lpstr>Language-Based Protection</vt:lpstr>
      <vt:lpstr>Protection in Java 2</vt:lpstr>
      <vt:lpstr>Stack Inspection</vt:lpstr>
      <vt:lpstr>End of Chapter 17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232</cp:revision>
  <cp:lastPrinted>2013-09-10T17:57:00Z</cp:lastPrinted>
  <dcterms:created xsi:type="dcterms:W3CDTF">2011-01-13T23:43:00Z</dcterms:created>
  <dcterms:modified xsi:type="dcterms:W3CDTF">2026-06-15T01:01:23Z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CB4BBF2F1F7A434DA4832A1CA5562783_12</vt:lpwstr>
  </property>
  <property fmtid="{D5CDD505-2E9C-101B-9397-08002B2CF9AE}" pid="3" name="KSOProductBuildVer">
    <vt:lpwstr>2052-12.1.0.23542</vt:lpwstr>
  </property>
</Properties>
</file>