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4"/>
  </p:handoutMasterIdLst>
  <p:sldIdLst>
    <p:sldId id="501" r:id="rId3"/>
    <p:sldId id="332" r:id="rId5"/>
    <p:sldId id="333" r:id="rId6"/>
    <p:sldId id="334" r:id="rId7"/>
    <p:sldId id="335" r:id="rId8"/>
    <p:sldId id="336" r:id="rId9"/>
    <p:sldId id="337" r:id="rId10"/>
    <p:sldId id="390" r:id="rId11"/>
    <p:sldId id="338" r:id="rId12"/>
    <p:sldId id="403" r:id="rId13"/>
    <p:sldId id="485" r:id="rId14"/>
    <p:sldId id="484" r:id="rId15"/>
    <p:sldId id="344" r:id="rId16"/>
    <p:sldId id="345" r:id="rId17"/>
    <p:sldId id="486" r:id="rId18"/>
    <p:sldId id="346" r:id="rId19"/>
    <p:sldId id="397" r:id="rId20"/>
    <p:sldId id="348" r:id="rId21"/>
    <p:sldId id="398" r:id="rId22"/>
    <p:sldId id="487" r:id="rId23"/>
    <p:sldId id="393" r:id="rId24"/>
    <p:sldId id="488" r:id="rId25"/>
    <p:sldId id="353" r:id="rId26"/>
    <p:sldId id="489" r:id="rId27"/>
    <p:sldId id="490" r:id="rId28"/>
    <p:sldId id="400" r:id="rId29"/>
    <p:sldId id="491" r:id="rId30"/>
    <p:sldId id="494" r:id="rId31"/>
    <p:sldId id="358" r:id="rId32"/>
    <p:sldId id="496" r:id="rId33"/>
    <p:sldId id="360" r:id="rId34"/>
    <p:sldId id="361" r:id="rId35"/>
    <p:sldId id="497" r:id="rId36"/>
    <p:sldId id="362" r:id="rId37"/>
    <p:sldId id="498" r:id="rId38"/>
    <p:sldId id="365" r:id="rId39"/>
    <p:sldId id="366" r:id="rId40"/>
    <p:sldId id="394" r:id="rId41"/>
    <p:sldId id="367" r:id="rId42"/>
    <p:sldId id="368" r:id="rId43"/>
    <p:sldId id="369" r:id="rId44"/>
    <p:sldId id="499" r:id="rId45"/>
    <p:sldId id="371" r:id="rId46"/>
    <p:sldId id="500" r:id="rId47"/>
    <p:sldId id="373" r:id="rId48"/>
    <p:sldId id="374" r:id="rId49"/>
    <p:sldId id="386" r:id="rId50"/>
    <p:sldId id="387" r:id="rId51"/>
    <p:sldId id="388" r:id="rId52"/>
    <p:sldId id="395" r:id="rId53"/>
    <p:sldId id="389" r:id="rId54"/>
    <p:sldId id="351" r:id="rId55"/>
    <p:sldId id="401" r:id="rId56"/>
    <p:sldId id="355" r:id="rId57"/>
    <p:sldId id="402" r:id="rId58"/>
    <p:sldId id="314" r:id="rId59"/>
    <p:sldId id="339" r:id="rId60"/>
    <p:sldId id="493" r:id="rId61"/>
    <p:sldId id="492" r:id="rId62"/>
    <p:sldId id="357" r:id="rId63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7" autoAdjust="0"/>
    <p:restoredTop sz="86449" autoAdjust="0"/>
  </p:normalViewPr>
  <p:slideViewPr>
    <p:cSldViewPr snapToGrid="0" showGuides="1">
      <p:cViewPr>
        <p:scale>
          <a:sx n="76" d="100"/>
          <a:sy n="76" d="100"/>
        </p:scale>
        <p:origin x="787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85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handoutMaster" Target="handoutMasters/handoutMaster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AAD36A-233E-4946-8BDD-D60EF2FDF08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BDF339-D079-482E-97EF-D957DD678C8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32B2E1-1E5D-4455-B7B9-80520931EBA0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627165-8720-4A3E-BB1B-84BD997463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57AB1F-3F1B-4BA4-BC1E-B4F52BC23CD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C2740B-2768-4F54-BC7D-348373841C6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675803-59BE-451D-8E49-1F417E86ED1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9838E-E051-4574-9E24-21E43812D97C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D7A724-2969-44B4-BB3F-C936AD58245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98AE17-A6A1-4C6D-AF0C-CAB6FD10BC8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C3D74-3A3D-45E4-98C3-19F016621CF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7B02CE-28ED-43B2-887E-1BE48C8DCBC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0824B9-1B83-49BF-AA99-B13C1383883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D058A0-2975-45BF-90B5-0AF0FF1350F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F3538C-839F-489E-A5B7-9BF2CF6B955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0986D-45AD-4059-8603-240F33B5949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2DC0FF-0CCF-41CC-A20E-D0372189681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FC0C1E-E7B7-4B60-8668-64137DECE5A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2877D1-E946-4EC0-8BE2-7E13D632715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A31134-7DBF-4044-AAC9-CEFAE1BA62E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9EA07E-4B01-40D1-9BF2-B2DA0AC533E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9838E-E051-4574-9E24-21E43812D97C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7C791C-4A96-4CA8-9CE2-BB3DDC24445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D7A724-2969-44B4-BB3F-C936AD58245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14.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14:  File-System I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mplementation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933152" y="15340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 </a:t>
            </a:r>
            <a:endParaRPr kumimoji="1"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958" y="981818"/>
            <a:ext cx="7640984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File-System Structure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File-System Operations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Directory Implementation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Allocation Methods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Free-Space Management 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Efficiency and Performance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Recovery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Example: WAFL File System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26570" y="1462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3294" y="960109"/>
            <a:ext cx="7327900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Describe the details of implementing local file systems and directory structures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Discuss block allocation and free-block algorithms and trade-offs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Explore file system efficiency and performance issues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Look at recovery from file system failures</a:t>
            </a:r>
            <a:endParaRPr lang="en-US" altLang="en-US" sz="24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Describe the WAFL file system as a concrete example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886601" y="113211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Structure</a:t>
            </a:r>
            <a:endParaRPr lang="en-US" altLang="en-US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670" y="937260"/>
            <a:ext cx="7734300" cy="5272405"/>
          </a:xfrm>
        </p:spPr>
        <p:txBody>
          <a:bodyPr/>
          <a:lstStyle/>
          <a:p>
            <a:r>
              <a:rPr lang="en-US" altLang="en-US" sz="1800" dirty="0"/>
              <a:t>File structure</a:t>
            </a:r>
            <a:endParaRPr lang="en-US" altLang="en-US" sz="1800" dirty="0"/>
          </a:p>
          <a:p>
            <a:pPr lvl="1"/>
            <a:r>
              <a:rPr lang="en-US" altLang="en-US" sz="1800" dirty="0"/>
              <a:t>Logical storage unit</a:t>
            </a:r>
            <a:endParaRPr lang="en-US" altLang="en-US" sz="1800" dirty="0"/>
          </a:p>
          <a:p>
            <a:pPr lvl="1"/>
            <a:r>
              <a:rPr lang="en-US" altLang="en-US" sz="1800" dirty="0"/>
              <a:t>Collection of related information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resides on secondary storage (disks)</a:t>
            </a:r>
            <a:endParaRPr lang="en-US" altLang="en-US" sz="1800" dirty="0"/>
          </a:p>
          <a:p>
            <a:pPr lvl="1"/>
            <a:r>
              <a:rPr lang="en-US" altLang="en-US" sz="1800" dirty="0"/>
              <a:t>Provided user interface to storage, mapping logical to physical</a:t>
            </a:r>
            <a:endParaRPr lang="en-US" altLang="en-US" sz="1800" dirty="0"/>
          </a:p>
          <a:p>
            <a:pPr lvl="1"/>
            <a:r>
              <a:rPr lang="en-US" altLang="en-US" sz="1800" dirty="0"/>
              <a:t>Provides efficient and convenient access to disk by allowing data to be stored, located retrieved easily</a:t>
            </a:r>
            <a:endParaRPr lang="en-US" altLang="en-US" sz="1800" dirty="0"/>
          </a:p>
          <a:p>
            <a:r>
              <a:rPr lang="en-US" altLang="en-US" sz="1800" dirty="0"/>
              <a:t>Disk provides in-place rewrite and random access</a:t>
            </a:r>
            <a:endParaRPr lang="en-US" altLang="en-US" sz="1800" dirty="0"/>
          </a:p>
          <a:p>
            <a:pPr lvl="1"/>
            <a:r>
              <a:rPr lang="en-US" altLang="en-US" sz="1800" dirty="0"/>
              <a:t>I/O transfers performed in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blocks</a:t>
            </a:r>
            <a:r>
              <a:rPr lang="en-US" altLang="en-US" sz="1800" dirty="0"/>
              <a:t> of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sectors</a:t>
            </a:r>
            <a:r>
              <a:rPr lang="en-US" altLang="en-US" sz="1800" dirty="0"/>
              <a:t> (usually 512 bytes)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FCB</a:t>
            </a:r>
            <a:r>
              <a:rPr lang="en-US" altLang="en-US" sz="1800" dirty="0"/>
              <a:t>)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storage structure consisting of information about a file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driver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controls the physical device </a:t>
            </a:r>
            <a:endParaRPr lang="en-US" altLang="en-US" sz="1800" dirty="0"/>
          </a:p>
          <a:p>
            <a:r>
              <a:rPr lang="en-US" altLang="en-US" sz="1800" dirty="0"/>
              <a:t>File system organized into layers</a:t>
            </a:r>
            <a:endParaRPr lang="en-US" altLang="en-US" sz="1800" dirty="0"/>
          </a:p>
          <a:p>
            <a:endParaRPr lang="en-US" alt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9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Layered File System</a:t>
            </a:r>
            <a:endParaRPr lang="en-US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060" y="1083945"/>
            <a:ext cx="2611755" cy="509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1311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</a:t>
            </a:r>
            <a:endParaRPr lang="en-US" altLang="en-US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94186" y="933252"/>
            <a:ext cx="7792614" cy="4798245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drivers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 I/O devices at the I/O control layer</a:t>
            </a:r>
            <a:endParaRPr lang="en-US" altLang="en-US" dirty="0"/>
          </a:p>
          <a:p>
            <a:pPr marL="457200" lvl="1" indent="0">
              <a:buNone/>
              <a:defRPr/>
            </a:pPr>
            <a:r>
              <a:rPr lang="en-US" altLang="en-US" dirty="0"/>
              <a:t>   Given commands like </a:t>
            </a:r>
            <a:endParaRPr lang="en-US" altLang="en-US" dirty="0"/>
          </a:p>
          <a:p>
            <a:pPr marL="457200" lvl="1" indent="0">
              <a:buNone/>
              <a:defRPr/>
            </a:pPr>
            <a:r>
              <a:rPr lang="en-US" altLang="ja-JP" dirty="0"/>
              <a:t>        </a:t>
            </a:r>
            <a:r>
              <a:rPr lang="en-US" altLang="ja-JP" sz="1600" dirty="0"/>
              <a:t>read drive1, cylinder 72, track 2, sector 10, into memory location 1060</a:t>
            </a:r>
            <a:endParaRPr lang="en-US" altLang="ja-JP" sz="1600" dirty="0"/>
          </a:p>
          <a:p>
            <a:pPr marL="457200" lvl="1" indent="0">
              <a:buNone/>
              <a:defRPr/>
            </a:pPr>
            <a:r>
              <a:rPr lang="en-US" altLang="ja-JP" dirty="0"/>
              <a:t>   Outputs low-level hardware specific commands to hardware controller</a:t>
            </a:r>
            <a:endParaRPr lang="en-US" altLang="ja-JP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given command like </a:t>
            </a:r>
            <a:r>
              <a:rPr lang="ja-JP" altLang="en-US" dirty="0"/>
              <a:t>“</a:t>
            </a:r>
            <a:r>
              <a:rPr lang="en-US" altLang="ja-JP" dirty="0"/>
              <a:t>retrieve block 123</a:t>
            </a:r>
            <a:r>
              <a:rPr lang="ja-JP" altLang="en-US" dirty="0"/>
              <a:t>”</a:t>
            </a:r>
            <a:r>
              <a:rPr lang="en-US" altLang="ja-JP" dirty="0"/>
              <a:t> translates to device driver</a:t>
            </a:r>
            <a:endParaRPr lang="en-US" altLang="ja-JP" dirty="0"/>
          </a:p>
          <a:p>
            <a:pPr>
              <a:defRPr/>
            </a:pPr>
            <a:r>
              <a:rPr lang="en-US" altLang="en-US" dirty="0"/>
              <a:t>Also manages memory buffers and caches (allocation, freeing, replacement) 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Buffers hold data in transit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Caches hold frequently used data</a:t>
            </a:r>
            <a:endParaRPr lang="en-US" altLang="ja-JP" b="1" dirty="0">
              <a:solidFill>
                <a:srgbClr val="3366FF"/>
              </a:solidFill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organization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module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files, logical address, and physical blocks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Translates logical block # to physical block #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Manages free space, disk allocation</a:t>
            </a:r>
            <a:endParaRPr lang="en-US" altLang="en-US" dirty="0"/>
          </a:p>
          <a:p>
            <a:pPr marL="1027430" lvl="3" indent="-341630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lvl="1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marL="1027430" lvl="3" indent="-341630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 noChangeArrowheads="1"/>
          </p:cNvSpPr>
          <p:nvPr>
            <p:ph type="title"/>
          </p:nvPr>
        </p:nvSpPr>
        <p:spPr>
          <a:xfrm>
            <a:off x="711729" y="144183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  <a:endParaRPr lang="en-US" altLang="en-US" dirty="0"/>
          </a:p>
        </p:txBody>
      </p:sp>
      <p:sp>
        <p:nvSpPr>
          <p:cNvPr id="163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91399" y="979706"/>
            <a:ext cx="6659471" cy="500631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manages metadata information</a:t>
            </a:r>
            <a:endParaRPr lang="en-US" altLang="en-US" dirty="0"/>
          </a:p>
          <a:p>
            <a:pPr lvl="1"/>
            <a:r>
              <a:rPr lang="en-US" altLang="en-US" dirty="0"/>
              <a:t>Translates file name into file number, file handle, location by maintaining file control blocks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inodes</a:t>
            </a:r>
            <a:r>
              <a:rPr lang="en-US" altLang="en-US" dirty="0"/>
              <a:t> in UNIX)</a:t>
            </a:r>
            <a:endParaRPr lang="en-US" altLang="en-US" dirty="0"/>
          </a:p>
          <a:p>
            <a:pPr lvl="1"/>
            <a:r>
              <a:rPr lang="en-US" altLang="en-US" dirty="0"/>
              <a:t>Directory management</a:t>
            </a:r>
            <a:endParaRPr lang="en-US" altLang="en-US" dirty="0"/>
          </a:p>
          <a:p>
            <a:pPr lvl="1"/>
            <a:r>
              <a:rPr lang="en-US" altLang="en-US" dirty="0"/>
              <a:t>Protection</a:t>
            </a:r>
            <a:endParaRPr lang="en-US" altLang="en-US" dirty="0"/>
          </a:p>
          <a:p>
            <a:r>
              <a:rPr lang="en-US" altLang="en-US" dirty="0"/>
              <a:t>Layering useful for reducing complexity and redundancy, but adds overhead and can decrease performance </a:t>
            </a:r>
            <a:endParaRPr lang="en-US" altLang="en-US" dirty="0"/>
          </a:p>
          <a:p>
            <a:r>
              <a:rPr lang="en-US" altLang="en-US" dirty="0"/>
              <a:t>Logical layers can be implemented by any coding method according to OS designer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884854" y="961529"/>
            <a:ext cx="7596673" cy="5227184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Many file systems, sometimes many within an operating system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Each with its own format: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CD-ROM is ISO 9660; 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Unix has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UFS</a:t>
            </a:r>
            <a:r>
              <a:rPr lang="en-US" altLang="en-US" dirty="0"/>
              <a:t>, FFS;  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Windows has FAT, FAT32, NTFS as well as floppy, CD, DVD Blu-ray, 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Linux has more than 130 types,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extended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ext3 and ext4 leading; plus distributed file systems, etc.)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New ones still arriving – ZFS, </a:t>
            </a:r>
            <a:r>
              <a:rPr lang="en-US" altLang="en-US" dirty="0" err="1"/>
              <a:t>GoogleFS</a:t>
            </a:r>
            <a:r>
              <a:rPr lang="en-US" altLang="en-US" dirty="0"/>
              <a:t>, Oracle ASM, FUSE</a:t>
            </a:r>
            <a:endParaRPr lang="en-US" altLang="en-US" dirty="0"/>
          </a:p>
          <a:p>
            <a:pPr marL="0" lvl="1" indent="0"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sp>
        <p:nvSpPr>
          <p:cNvPr id="6" name="Title 1"/>
          <p:cNvSpPr>
            <a:spLocks noGrp="1" noChangeArrowheads="1"/>
          </p:cNvSpPr>
          <p:nvPr>
            <p:ph type="title"/>
          </p:nvPr>
        </p:nvSpPr>
        <p:spPr>
          <a:xfrm>
            <a:off x="824848" y="11955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 Layers (Cont.)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 noChangeArrowheads="1"/>
          </p:cNvSpPr>
          <p:nvPr>
            <p:ph type="title"/>
          </p:nvPr>
        </p:nvSpPr>
        <p:spPr>
          <a:xfrm>
            <a:off x="1057354" y="122546"/>
            <a:ext cx="7724775" cy="591355"/>
          </a:xfrm>
        </p:spPr>
        <p:txBody>
          <a:bodyPr/>
          <a:lstStyle/>
          <a:p>
            <a:pPr eaLnBrk="1" hangingPunct="1"/>
            <a:r>
              <a:rPr lang="en-US" altLang="en-US" dirty="0"/>
              <a:t>File-System Operations</a:t>
            </a:r>
            <a:endParaRPr lang="en-US" altLang="en-US" dirty="0"/>
          </a:p>
        </p:txBody>
      </p:sp>
      <p:sp>
        <p:nvSpPr>
          <p:cNvPr id="1843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8612" y="942677"/>
            <a:ext cx="7491817" cy="4562577"/>
          </a:xfrm>
        </p:spPr>
        <p:txBody>
          <a:bodyPr/>
          <a:lstStyle/>
          <a:p>
            <a:r>
              <a:rPr lang="en-US" altLang="en-US" dirty="0"/>
              <a:t>We have system calls at the API level, but how do we implement their functions?</a:t>
            </a:r>
            <a:endParaRPr lang="en-US" altLang="en-US" dirty="0"/>
          </a:p>
          <a:p>
            <a:pPr lvl="1"/>
            <a:r>
              <a:rPr lang="en-US" altLang="en-US" dirty="0"/>
              <a:t>On-disk and in-memory structures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info needed by system to boot OS from that volume</a:t>
            </a:r>
            <a:endParaRPr lang="en-US" altLang="en-US" dirty="0"/>
          </a:p>
          <a:p>
            <a:pPr lvl="1"/>
            <a:r>
              <a:rPr lang="en-US" altLang="en-US" dirty="0"/>
              <a:t>Needed if volume contains OS, usually first block of volume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Volume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volume details</a:t>
            </a:r>
            <a:endParaRPr lang="en-US" altLang="en-US" dirty="0"/>
          </a:p>
          <a:p>
            <a:pPr lvl="1"/>
            <a:r>
              <a:rPr lang="en-US" altLang="en-US" dirty="0"/>
              <a:t>Total # of blocks, # of free blocks, block size, free block pointers or array</a:t>
            </a:r>
            <a:endParaRPr lang="en-US" altLang="en-US" dirty="0"/>
          </a:p>
          <a:p>
            <a:r>
              <a:rPr lang="en-US" altLang="en-US" dirty="0"/>
              <a:t>Directory structure organizes the files</a:t>
            </a:r>
            <a:endParaRPr lang="en-US" altLang="en-US" dirty="0"/>
          </a:p>
          <a:p>
            <a:pPr lvl="1"/>
            <a:r>
              <a:rPr lang="en-US" altLang="en-US" dirty="0"/>
              <a:t>Names and inode numbers, master file table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 noChangeArrowheads="1"/>
          </p:cNvSpPr>
          <p:nvPr>
            <p:ph type="title"/>
          </p:nvPr>
        </p:nvSpPr>
        <p:spPr>
          <a:xfrm>
            <a:off x="1178844" y="137735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Control Block (FCB)</a:t>
            </a:r>
            <a:endParaRPr lang="en-US" altLang="en-US" dirty="0"/>
          </a:p>
        </p:txBody>
      </p:sp>
      <p:sp>
        <p:nvSpPr>
          <p:cNvPr id="2048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8613" y="1027520"/>
            <a:ext cx="6539710" cy="4487160"/>
          </a:xfrm>
        </p:spPr>
        <p:txBody>
          <a:bodyPr/>
          <a:lstStyle/>
          <a:p>
            <a:r>
              <a:rPr lang="en-US" altLang="en-US" dirty="0"/>
              <a:t>OS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FCB </a:t>
            </a:r>
            <a:r>
              <a:rPr lang="en-US" altLang="en-US" dirty="0"/>
              <a:t>per file, which  contains many details about the file</a:t>
            </a:r>
            <a:endParaRPr lang="en-US" altLang="en-US" dirty="0"/>
          </a:p>
          <a:p>
            <a:pPr lvl="1"/>
            <a:r>
              <a:rPr lang="en-US" altLang="en-US" dirty="0"/>
              <a:t>Typically, inode number, permissions, size, dates</a:t>
            </a:r>
            <a:endParaRPr lang="en-US" altLang="en-US" dirty="0"/>
          </a:p>
          <a:p>
            <a:pPr lvl="1"/>
            <a:r>
              <a:rPr lang="en-US" altLang="en-US" dirty="0"/>
              <a:t>Example</a:t>
            </a:r>
            <a:endParaRPr lang="en-US" altLang="en-US" dirty="0"/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880" y="2764790"/>
            <a:ext cx="4799330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4787" y="134852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10" y="988294"/>
            <a:ext cx="6683314" cy="464893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    </a:t>
            </a:r>
            <a:r>
              <a:rPr lang="en-US" altLang="en-US" sz="2600" dirty="0"/>
              <a:t>In-Memory File System Structures (Cont.)</a:t>
            </a:r>
            <a:endParaRPr lang="en-US" alt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942680" y="1016184"/>
            <a:ext cx="7286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12-3(a) refers to opening a file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12-3(b) refers to reading a file</a:t>
            </a:r>
            <a:endParaRPr lang="en-US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95" y="1866265"/>
            <a:ext cx="6564630" cy="4341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7469" y="132065"/>
            <a:ext cx="7567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Implementation</a:t>
            </a:r>
            <a:endParaRPr lang="en-US" altLang="en-US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612" y="952103"/>
            <a:ext cx="6690539" cy="4628565"/>
          </a:xfrm>
        </p:spPr>
        <p:txBody>
          <a:bodyPr/>
          <a:lstStyle/>
          <a:p>
            <a:r>
              <a:rPr lang="en-US" altLang="en-US" b="1" dirty="0"/>
              <a:t>Linear list</a:t>
            </a:r>
            <a:r>
              <a:rPr lang="en-US" altLang="en-US" dirty="0"/>
              <a:t> of file names with pointer to the data blocks</a:t>
            </a:r>
            <a:endParaRPr lang="en-US" altLang="en-US" dirty="0"/>
          </a:p>
          <a:p>
            <a:pPr lvl="1"/>
            <a:r>
              <a:rPr lang="en-US" altLang="en-US" dirty="0"/>
              <a:t>Simple to program</a:t>
            </a:r>
            <a:endParaRPr lang="en-US" altLang="en-US" dirty="0"/>
          </a:p>
          <a:p>
            <a:pPr lvl="1"/>
            <a:r>
              <a:rPr lang="en-US" altLang="en-US" dirty="0"/>
              <a:t>Time-consuming to execute</a:t>
            </a:r>
            <a:endParaRPr lang="en-US" altLang="en-US" dirty="0"/>
          </a:p>
          <a:p>
            <a:pPr lvl="2"/>
            <a:r>
              <a:rPr lang="en-US" altLang="en-US" dirty="0"/>
              <a:t>Linear search time</a:t>
            </a:r>
            <a:endParaRPr lang="en-US" altLang="en-US" dirty="0"/>
          </a:p>
          <a:p>
            <a:pPr lvl="2"/>
            <a:r>
              <a:rPr lang="en-US" altLang="en-US" dirty="0"/>
              <a:t>Could keep ordered alphabetically via linked list or use B+ tree</a:t>
            </a:r>
            <a:endParaRPr lang="en-US" altLang="en-US" dirty="0"/>
          </a:p>
          <a:p>
            <a:r>
              <a:rPr lang="en-US" altLang="en-US" b="1" dirty="0"/>
              <a:t>Hash Table</a:t>
            </a:r>
            <a:r>
              <a:rPr lang="en-US" altLang="en-US" dirty="0"/>
              <a:t> – linear list with hash data structure</a:t>
            </a:r>
            <a:endParaRPr lang="en-US" altLang="en-US" dirty="0"/>
          </a:p>
          <a:p>
            <a:pPr lvl="1"/>
            <a:r>
              <a:rPr lang="en-US" altLang="en-US" dirty="0"/>
              <a:t>Decreases directory search time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Collisions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situations where two file names hash to the same location</a:t>
            </a:r>
            <a:endParaRPr lang="en-US" altLang="en-US" dirty="0"/>
          </a:p>
          <a:p>
            <a:pPr lvl="1"/>
            <a:r>
              <a:rPr lang="en-US" altLang="en-US" dirty="0"/>
              <a:t>Only good if entries are fixed size, or use chained-overflow method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3967" y="110534"/>
            <a:ext cx="7731125" cy="604019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Method 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  <a:endParaRPr lang="en-US" altLang="en-US" dirty="0"/>
          </a:p>
          <a:p>
            <a:pPr lvl="1"/>
            <a:r>
              <a:rPr lang="en-US" altLang="en-US" dirty="0"/>
              <a:t>Contiguous</a:t>
            </a:r>
            <a:endParaRPr lang="en-US" altLang="en-US" dirty="0"/>
          </a:p>
          <a:p>
            <a:pPr lvl="1"/>
            <a:r>
              <a:rPr lang="en-US" altLang="en-US" dirty="0"/>
              <a:t>Linked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File Allocation Table (FAT)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3967" y="188531"/>
            <a:ext cx="77311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Method 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581" y="952108"/>
            <a:ext cx="6445939" cy="4393834"/>
          </a:xfrm>
        </p:spPr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  <a:endParaRPr lang="en-US" altLang="en-US" dirty="0"/>
          </a:p>
          <a:p>
            <a:r>
              <a:rPr lang="en-US" altLang="en-US" dirty="0"/>
              <a:t>Each file occupies set of contiguous blocks</a:t>
            </a:r>
            <a:endParaRPr lang="en-US" altLang="en-US" dirty="0"/>
          </a:p>
          <a:p>
            <a:pPr lvl="1"/>
            <a:r>
              <a:rPr lang="en-US" altLang="en-US" dirty="0"/>
              <a:t>Best performance in most cases</a:t>
            </a:r>
            <a:endParaRPr lang="en-US" altLang="en-US" dirty="0"/>
          </a:p>
          <a:p>
            <a:pPr lvl="1"/>
            <a:r>
              <a:rPr lang="en-US" altLang="en-US" dirty="0"/>
              <a:t>Simple – only starting location (block #) and length (number of blocks) are required</a:t>
            </a:r>
            <a:endParaRPr lang="en-US" altLang="en-US" dirty="0"/>
          </a:p>
          <a:p>
            <a:pPr lvl="1"/>
            <a:r>
              <a:rPr lang="en-US" altLang="en-US" dirty="0"/>
              <a:t>Problems include:</a:t>
            </a:r>
            <a:endParaRPr lang="en-US" altLang="en-US" dirty="0"/>
          </a:p>
          <a:p>
            <a:pPr lvl="2"/>
            <a:r>
              <a:rPr lang="en-US" altLang="en-US" dirty="0"/>
              <a:t>Finding space on the disk for a file, </a:t>
            </a:r>
            <a:endParaRPr lang="en-US" altLang="en-US" dirty="0"/>
          </a:p>
          <a:p>
            <a:pPr lvl="2"/>
            <a:r>
              <a:rPr lang="en-US" altLang="en-US" dirty="0"/>
              <a:t>Knowing file size, </a:t>
            </a:r>
            <a:endParaRPr lang="en-US" altLang="en-US" dirty="0"/>
          </a:p>
          <a:p>
            <a:pPr lvl="2"/>
            <a:r>
              <a:rPr lang="en-US" altLang="en-US" dirty="0"/>
              <a:t>External fragmentation, need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off-line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downtime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on-line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1792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961529"/>
            <a:ext cx="3958590" cy="3611334"/>
          </a:xfrm>
        </p:spPr>
        <p:txBody>
          <a:bodyPr/>
          <a:lstStyle/>
          <a:p>
            <a:r>
              <a:rPr lang="en-US" altLang="en-US" dirty="0"/>
              <a:t>Mapping from logical to physical (block size =512 bytes)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kumimoji="0" lang="en-US" altLang="en-US" dirty="0"/>
              <a:t>Block to be accessed = starting address +  Q</a:t>
            </a:r>
            <a:endParaRPr kumimoji="0" lang="en-US" altLang="en-US" dirty="0"/>
          </a:p>
          <a:p>
            <a:r>
              <a:rPr kumimoji="0" lang="en-US" altLang="en-US" dirty="0"/>
              <a:t>Displacement into block = R</a:t>
            </a:r>
            <a:endParaRPr kumimoji="0" lang="en-US" altLang="en-US" dirty="0"/>
          </a:p>
          <a:p>
            <a:endParaRPr kumimoji="0" lang="en-US" altLang="en-US" dirty="0"/>
          </a:p>
          <a:p>
            <a:endParaRPr kumimoji="0"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0723" name="Group 1"/>
          <p:cNvGrpSpPr/>
          <p:nvPr/>
        </p:nvGrpSpPr>
        <p:grpSpPr bwMode="auto">
          <a:xfrm>
            <a:off x="2459788" y="1668027"/>
            <a:ext cx="1917700" cy="1562306"/>
            <a:chOff x="2655888" y="2127250"/>
            <a:chExt cx="1917700" cy="1385888"/>
          </a:xfrm>
        </p:grpSpPr>
        <p:sp>
          <p:nvSpPr>
            <p:cNvPr id="30726" name="Text Box 4"/>
            <p:cNvSpPr txBox="1">
              <a:spLocks noChangeArrowheads="1"/>
            </p:cNvSpPr>
            <p:nvPr/>
          </p:nvSpPr>
          <p:spPr bwMode="auto">
            <a:xfrm>
              <a:off x="2655888" y="2584450"/>
              <a:ext cx="12652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LA/512</a:t>
              </a:r>
              <a:endParaRPr kumimoji="0" lang="en-US" altLang="en-US" dirty="0"/>
            </a:p>
          </p:txBody>
        </p:sp>
        <p:sp>
          <p:nvSpPr>
            <p:cNvPr id="30727" name="Text Box 5"/>
            <p:cNvSpPr txBox="1">
              <a:spLocks noChangeArrowheads="1"/>
            </p:cNvSpPr>
            <p:nvPr/>
          </p:nvSpPr>
          <p:spPr bwMode="auto">
            <a:xfrm>
              <a:off x="3768725" y="2127250"/>
              <a:ext cx="8048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30728" name="Text Box 6"/>
            <p:cNvSpPr txBox="1">
              <a:spLocks noChangeArrowheads="1"/>
            </p:cNvSpPr>
            <p:nvPr/>
          </p:nvSpPr>
          <p:spPr bwMode="auto">
            <a:xfrm>
              <a:off x="3825875" y="3143250"/>
              <a:ext cx="635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0729" name="Line 7"/>
            <p:cNvSpPr>
              <a:spLocks noChangeShapeType="1"/>
            </p:cNvSpPr>
            <p:nvPr/>
          </p:nvSpPr>
          <p:spPr bwMode="auto">
            <a:xfrm flipV="1">
              <a:off x="3675327" y="2437022"/>
              <a:ext cx="309298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0730" name="Line 8"/>
            <p:cNvSpPr>
              <a:spLocks noChangeShapeType="1"/>
            </p:cNvSpPr>
            <p:nvPr/>
          </p:nvSpPr>
          <p:spPr bwMode="auto">
            <a:xfrm>
              <a:off x="3711575" y="2954338"/>
              <a:ext cx="27305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30724" name="Rectangle 10"/>
          <p:cNvSpPr>
            <a:spLocks noChangeArrowheads="1"/>
          </p:cNvSpPr>
          <p:nvPr/>
        </p:nvSpPr>
        <p:spPr bwMode="auto">
          <a:xfrm>
            <a:off x="635000" y="5111750"/>
            <a:ext cx="40465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215" y="1453515"/>
            <a:ext cx="4106545" cy="4126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924313" y="125276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Extent-Based Systems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4" y="970960"/>
            <a:ext cx="7586371" cy="4519870"/>
          </a:xfrm>
        </p:spPr>
        <p:txBody>
          <a:bodyPr/>
          <a:lstStyle/>
          <a:p>
            <a:r>
              <a:rPr lang="en-US" altLang="en-US" dirty="0"/>
              <a:t>Many newer file systems (i.e., Veritas File System) use a modified contiguous allocation scheme</a:t>
            </a:r>
            <a:endParaRPr lang="en-US" altLang="en-US" dirty="0"/>
          </a:p>
          <a:p>
            <a:r>
              <a:rPr lang="en-US" altLang="en-US" dirty="0"/>
              <a:t>Extent-based file systems allocate disk blocks in extents</a:t>
            </a:r>
            <a:endParaRPr lang="en-US" altLang="en-US" dirty="0"/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a contiguous block of disks</a:t>
            </a:r>
            <a:endParaRPr lang="en-US" altLang="en-US" dirty="0"/>
          </a:p>
          <a:p>
            <a:pPr lvl="1"/>
            <a:r>
              <a:rPr lang="en-US" altLang="en-US" dirty="0"/>
              <a:t>Extents are allocated for file allocation</a:t>
            </a:r>
            <a:endParaRPr lang="en-US" altLang="en-US" dirty="0"/>
          </a:p>
          <a:p>
            <a:pPr lvl="1"/>
            <a:r>
              <a:rPr lang="en-US" altLang="en-US" dirty="0"/>
              <a:t>A file consists of one or more extents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22493"/>
            <a:ext cx="8229600" cy="576262"/>
          </a:xfrm>
        </p:spPr>
        <p:txBody>
          <a:bodyPr/>
          <a:lstStyle/>
          <a:p>
            <a:r>
              <a:rPr lang="en-US" altLang="en-US" dirty="0"/>
              <a:t>Linked Allocation</a:t>
            </a:r>
            <a:endParaRPr lang="en-US" altLang="en-US" dirty="0"/>
          </a:p>
        </p:txBody>
      </p:sp>
      <p:sp>
        <p:nvSpPr>
          <p:cNvPr id="3481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855" y="945492"/>
            <a:ext cx="7324648" cy="4631343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is a linked list of blocks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File ends at nil pointer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No external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Each block contains pointer to next block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No compaction, external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Free space management system called when new block needed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Improve efficiency by clustering blocks into groups but increases internal fragmentation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Reliability can be a problem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Locating a block can take many I/</a:t>
            </a:r>
            <a:r>
              <a:rPr lang="en-US" altLang="en-US" dirty="0" err="1">
                <a:solidFill>
                  <a:srgbClr val="000000"/>
                </a:solidFill>
              </a:rPr>
              <a:t>Os</a:t>
            </a:r>
            <a:r>
              <a:rPr lang="en-US" altLang="en-US" dirty="0">
                <a:solidFill>
                  <a:srgbClr val="000000"/>
                </a:solidFill>
              </a:rPr>
              <a:t> and disk seeks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22234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Example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914397"/>
            <a:ext cx="6810851" cy="5085970"/>
          </a:xfrm>
        </p:spPr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  <a:endParaRPr lang="en-US" altLang="en-US" dirty="0"/>
          </a:p>
          <a:p>
            <a:r>
              <a:rPr lang="en-US" altLang="en-US" dirty="0"/>
              <a:t>Scheme</a:t>
            </a:r>
            <a:endParaRPr lang="en-US" alt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930" y="1832610"/>
            <a:ext cx="4392295" cy="4516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6936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 (Cont.)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942675"/>
            <a:ext cx="6160612" cy="3744222"/>
          </a:xfrm>
        </p:spPr>
        <p:txBody>
          <a:bodyPr/>
          <a:lstStyle/>
          <a:p>
            <a:r>
              <a:rPr lang="en-US" altLang="en-US" dirty="0"/>
              <a:t>Mapping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Block to be accessed is the Q</a:t>
            </a:r>
            <a:r>
              <a:rPr lang="en-US" altLang="en-US" baseline="30000" dirty="0"/>
              <a:t>th</a:t>
            </a:r>
            <a:r>
              <a:rPr lang="en-US" altLang="en-US" dirty="0"/>
              <a:t> block in the linked chain of blocks representing the file.</a:t>
            </a:r>
            <a:endParaRPr lang="en-US" altLang="en-US" dirty="0"/>
          </a:p>
          <a:p>
            <a:r>
              <a:rPr lang="en-US" altLang="en-US" dirty="0"/>
              <a:t>Displacement into block = R + 1</a:t>
            </a:r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6870" name="Group 1"/>
          <p:cNvGrpSpPr/>
          <p:nvPr/>
        </p:nvGrpSpPr>
        <p:grpSpPr bwMode="auto">
          <a:xfrm>
            <a:off x="1911442" y="1357458"/>
            <a:ext cx="1386205" cy="1186557"/>
            <a:chOff x="3232150" y="3935037"/>
            <a:chExt cx="1374775" cy="985838"/>
          </a:xfrm>
        </p:grpSpPr>
        <p:sp>
          <p:nvSpPr>
            <p:cNvPr id="36871" name="Text Box 5"/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LA/511</a:t>
              </a:r>
              <a:endParaRPr kumimoji="0" lang="en-US" altLang="en-US" dirty="0"/>
            </a:p>
          </p:txBody>
        </p:sp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Q</a:t>
              </a:r>
              <a:endParaRPr kumimoji="0" lang="en-US" altLang="en-US" dirty="0"/>
            </a:p>
          </p:txBody>
        </p:sp>
        <p:sp>
          <p:nvSpPr>
            <p:cNvPr id="36873" name="Text Box 7"/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/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 noChangeArrowheads="1"/>
          </p:cNvSpPr>
          <p:nvPr>
            <p:ph type="title"/>
          </p:nvPr>
        </p:nvSpPr>
        <p:spPr>
          <a:xfrm>
            <a:off x="712882" y="134756"/>
            <a:ext cx="8229600" cy="576262"/>
          </a:xfrm>
        </p:spPr>
        <p:txBody>
          <a:bodyPr/>
          <a:lstStyle/>
          <a:p>
            <a:r>
              <a:rPr lang="en-US" altLang="en-US" dirty="0"/>
              <a:t>FAT Allocation Method</a:t>
            </a:r>
            <a:endParaRPr lang="en-US" altLang="en-US" dirty="0"/>
          </a:p>
        </p:txBody>
      </p:sp>
      <p:sp>
        <p:nvSpPr>
          <p:cNvPr id="3584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4856" y="983202"/>
            <a:ext cx="7671315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Beginning of volume has table, indexed by block number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Much like a linked list, but faster on disk and cacheable 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New block allocation simple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493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File-Allocation Table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097915"/>
            <a:ext cx="5744210" cy="5029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/>
          <p:cNvSpPr>
            <a:spLocks noGrp="1" noChangeArrowheads="1"/>
          </p:cNvSpPr>
          <p:nvPr>
            <p:ph type="title"/>
          </p:nvPr>
        </p:nvSpPr>
        <p:spPr>
          <a:xfrm>
            <a:off x="793102" y="146279"/>
            <a:ext cx="7893698" cy="576262"/>
          </a:xfrm>
        </p:spPr>
        <p:txBody>
          <a:bodyPr/>
          <a:lstStyle/>
          <a:p>
            <a:r>
              <a:rPr lang="en-US" altLang="en-US" dirty="0"/>
              <a:t>Indexed Allocation Method</a:t>
            </a:r>
            <a:endParaRPr lang="en-US" altLang="en-US" dirty="0"/>
          </a:p>
        </p:txBody>
      </p:sp>
      <p:sp>
        <p:nvSpPr>
          <p:cNvPr id="4301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7864" y="1040448"/>
            <a:ext cx="7640983" cy="4530725"/>
          </a:xfrm>
        </p:spPr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has its own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0000"/>
                </a:solidFill>
              </a:rPr>
              <a:t>(s) of pointers to its data blocks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Logical view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/>
          </a:p>
        </p:txBody>
      </p:sp>
      <p:pic>
        <p:nvPicPr>
          <p:cNvPr id="43011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435" y="2184400"/>
            <a:ext cx="3229610" cy="3516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08407" y="1248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of Indexed Allocation</a:t>
            </a:r>
            <a:endParaRPr lang="en-US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1219200"/>
            <a:ext cx="5647055" cy="495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998732" y="16660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Small Files</a:t>
            </a:r>
            <a:endParaRPr lang="en-US" altLang="en-U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982285"/>
            <a:ext cx="7029450" cy="328826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Need index table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Random access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Dynamic access without external fragmentation, but have overhead of index block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maximum size of 256K bytes and block size of 512 bytes.  We need only 1 block for index table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Calculation: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Q = displacement into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R = displacement into block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6084" name="Rectangle 9"/>
          <p:cNvSpPr>
            <a:spLocks noChangeArrowheads="1"/>
          </p:cNvSpPr>
          <p:nvPr/>
        </p:nvSpPr>
        <p:spPr bwMode="auto">
          <a:xfrm>
            <a:off x="1457325" y="5322677"/>
            <a:ext cx="70294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25755" indent="-325755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None/>
            </a:pPr>
            <a:endParaRPr kumimoji="0" lang="en-US" altLang="en-US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85686" y="3482844"/>
            <a:ext cx="1265237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LA/512</a:t>
            </a:r>
            <a:endParaRPr kumimoji="0" lang="en-US" altLang="en-US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598523" y="2967444"/>
            <a:ext cx="804863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Q</a:t>
            </a:r>
            <a:endParaRPr kumimoji="0" lang="en-US" altLang="en-US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655673" y="4112777"/>
            <a:ext cx="635000" cy="41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</a:t>
            </a:r>
            <a:endParaRPr kumimoji="0" lang="en-US" altLang="en-US" dirty="0"/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V="1">
            <a:off x="3505125" y="3316649"/>
            <a:ext cx="309298" cy="1950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3541373" y="3899817"/>
            <a:ext cx="273050" cy="243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Large Files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79057"/>
            <a:ext cx="6305212" cy="435784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unbounded length (block size of 512 words)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Linked scheme – Link blocks of index table (no limit on size)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Multi-level indexing</a:t>
            </a:r>
            <a:endParaRPr lang="en-US" altLang="en-US" dirty="0"/>
          </a:p>
        </p:txBody>
      </p: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48134" name="Rectangle 15"/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dirty="0"/>
              <a:t>Inner-level  mapping scheme</a:t>
            </a:r>
            <a:endParaRPr kumimoji="0" lang="en-US" altLang="en-US" dirty="0"/>
          </a:p>
          <a:p>
            <a:pPr lvl="2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2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  <a:endParaRPr kumimoji="0" lang="en-US" altLang="en-US" sz="1600" dirty="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1803533" y="3205432"/>
            <a:ext cx="1641475" cy="1051444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767" y="952140"/>
            <a:ext cx="7430858" cy="4457306"/>
          </a:xfrm>
        </p:spPr>
        <p:txBody>
          <a:bodyPr/>
          <a:lstStyle/>
          <a:p>
            <a:r>
              <a:rPr lang="en-US" altLang="en-US" dirty="0"/>
              <a:t>Two-level index (4K blocks could store 1,024 four-byte pointers in outer index -&gt; 1,048,567 data blocks and file size of up to 4GB)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Mapping scheme for outer-index:</a:t>
            </a:r>
            <a:endParaRPr lang="en-US" altLang="en-US" dirty="0"/>
          </a:p>
          <a:p>
            <a:pPr lvl="1"/>
            <a:r>
              <a:rPr kumimoji="0" lang="en-US" altLang="en-US" i="1" dirty="0"/>
              <a:t>Q</a:t>
            </a:r>
            <a:r>
              <a:rPr kumimoji="0" lang="en-US" altLang="en-US" baseline="-25000" dirty="0"/>
              <a:t>1</a:t>
            </a:r>
            <a:r>
              <a:rPr kumimoji="0" lang="en-US" altLang="en-US" dirty="0"/>
              <a:t> = displacement into outer-index</a:t>
            </a:r>
            <a:endParaRPr kumimoji="0" lang="en-US" altLang="en-US" dirty="0"/>
          </a:p>
          <a:p>
            <a:pPr lvl="1"/>
            <a:r>
              <a:rPr kumimoji="0" lang="en-US" altLang="en-US" i="1" dirty="0"/>
              <a:t>R</a:t>
            </a:r>
            <a:r>
              <a:rPr kumimoji="0" lang="en-US" altLang="en-US" baseline="-25000" dirty="0"/>
              <a:t>1</a:t>
            </a:r>
            <a:r>
              <a:rPr kumimoji="0" lang="en-US" altLang="en-US" dirty="0"/>
              <a:t> is used as follows:</a:t>
            </a:r>
            <a:endParaRPr kumimoji="0" lang="en-US" altLang="en-US" dirty="0"/>
          </a:p>
          <a:p>
            <a:pPr lvl="1"/>
            <a:endParaRPr kumimoji="0"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kumimoji="0" lang="en-US" altLang="en-US" dirty="0"/>
              <a:t>Mapping scheme for index level:</a:t>
            </a:r>
            <a:endParaRPr kumimoji="0" lang="en-US" altLang="en-US" dirty="0"/>
          </a:p>
          <a:p>
            <a:pPr lvl="2"/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2"/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grpSp>
        <p:nvGrpSpPr>
          <p:cNvPr id="50179" name="Group 1"/>
          <p:cNvGrpSpPr/>
          <p:nvPr/>
        </p:nvGrpSpPr>
        <p:grpSpPr bwMode="auto">
          <a:xfrm>
            <a:off x="2620826" y="1720015"/>
            <a:ext cx="2376487" cy="852488"/>
            <a:chOff x="3294063" y="2101850"/>
            <a:chExt cx="2376487" cy="852488"/>
          </a:xfrm>
        </p:grpSpPr>
        <p:sp>
          <p:nvSpPr>
            <p:cNvPr id="50188" name="Text Box 4"/>
            <p:cNvSpPr txBox="1">
              <a:spLocks noChangeArrowheads="1"/>
            </p:cNvSpPr>
            <p:nvPr/>
          </p:nvSpPr>
          <p:spPr bwMode="auto">
            <a:xfrm>
              <a:off x="3294063" y="2354263"/>
              <a:ext cx="16351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512)</a:t>
              </a:r>
              <a:endParaRPr kumimoji="0" lang="en-US" altLang="en-US" sz="1600" dirty="0"/>
            </a:p>
          </p:txBody>
        </p:sp>
        <p:sp>
          <p:nvSpPr>
            <p:cNvPr id="50189" name="Text Box 5"/>
            <p:cNvSpPr txBox="1">
              <a:spLocks noChangeArrowheads="1"/>
            </p:cNvSpPr>
            <p:nvPr/>
          </p:nvSpPr>
          <p:spPr bwMode="auto">
            <a:xfrm>
              <a:off x="5249863" y="2101850"/>
              <a:ext cx="4206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0" name="Text Box 6"/>
            <p:cNvSpPr txBox="1">
              <a:spLocks noChangeArrowheads="1"/>
            </p:cNvSpPr>
            <p:nvPr/>
          </p:nvSpPr>
          <p:spPr bwMode="auto">
            <a:xfrm>
              <a:off x="5249863" y="2616200"/>
              <a:ext cx="4079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1" name="Line 7"/>
            <p:cNvSpPr>
              <a:spLocks noChangeShapeType="1"/>
            </p:cNvSpPr>
            <p:nvPr/>
          </p:nvSpPr>
          <p:spPr bwMode="auto">
            <a:xfrm flipV="1">
              <a:off x="4862513" y="22939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92" name="Line 8"/>
            <p:cNvSpPr>
              <a:spLocks noChangeShapeType="1"/>
            </p:cNvSpPr>
            <p:nvPr/>
          </p:nvSpPr>
          <p:spPr bwMode="auto">
            <a:xfrm>
              <a:off x="4854575" y="25352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0" name="Rectangle 9"/>
          <p:cNvSpPr>
            <a:spLocks noChangeArrowheads="1"/>
          </p:cNvSpPr>
          <p:nvPr/>
        </p:nvSpPr>
        <p:spPr bwMode="auto">
          <a:xfrm>
            <a:off x="841375" y="5710494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50181" name="Group 2"/>
          <p:cNvGrpSpPr/>
          <p:nvPr/>
        </p:nvGrpSpPr>
        <p:grpSpPr bwMode="auto">
          <a:xfrm>
            <a:off x="2486711" y="3734555"/>
            <a:ext cx="1641475" cy="852487"/>
            <a:chOff x="3662363" y="4116388"/>
            <a:chExt cx="1641475" cy="852487"/>
          </a:xfrm>
        </p:grpSpPr>
        <p:sp>
          <p:nvSpPr>
            <p:cNvPr id="50183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50184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5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6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87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2" name="Rectangle 15"/>
          <p:cNvSpPr>
            <a:spLocks noChangeArrowheads="1"/>
          </p:cNvSpPr>
          <p:nvPr/>
        </p:nvSpPr>
        <p:spPr bwMode="auto">
          <a:xfrm>
            <a:off x="841375" y="5788667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737122" y="161363"/>
            <a:ext cx="8229600" cy="58312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  <a:endParaRPr lang="en-US" altLang="en-US" sz="280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25522" y="132909"/>
            <a:ext cx="76581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  <a:endParaRPr lang="en-US" altLang="en-US" sz="2800" dirty="0"/>
          </a:p>
        </p:txBody>
      </p:sp>
      <p:pic>
        <p:nvPicPr>
          <p:cNvPr id="52226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1145540"/>
            <a:ext cx="7142480" cy="448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2928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Combined Scheme : UNIX UFS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979057"/>
            <a:ext cx="7284065" cy="48343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en-US" sz="1600" dirty="0">
                <a:latin typeface="Verdana" panose="020B0604030504040204" pitchFamily="34" charset="0"/>
              </a:rPr>
              <a:t>4K bytes per block, 32-bit addresses</a:t>
            </a:r>
            <a:endParaRPr kumimoji="0" lang="en-US" altLang="en-US" sz="16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endParaRPr kumimoji="0" lang="en-US" altLang="en-US" sz="16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sz="1600" dirty="0">
                <a:latin typeface="Verdana" panose="020B0604030504040204" pitchFamily="34" charset="0"/>
              </a:rPr>
              <a:t>More index blocks than can be addressed with 32-bit file pointer</a:t>
            </a:r>
            <a:endParaRPr kumimoji="0" lang="en-US" altLang="en-US" sz="1600" dirty="0">
              <a:latin typeface="Verdana" panose="020B060403050404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sp>
        <p:nvSpPr>
          <p:cNvPr id="48134" name="Rectangle 15"/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230" y="1310005"/>
            <a:ext cx="5018405" cy="4281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37352"/>
            <a:ext cx="8229600" cy="576262"/>
          </a:xfrm>
        </p:spPr>
        <p:txBody>
          <a:bodyPr/>
          <a:lstStyle/>
          <a:p>
            <a:r>
              <a:rPr lang="en-US" altLang="en-US" dirty="0"/>
              <a:t>Performance</a:t>
            </a:r>
            <a:endParaRPr lang="en-US" altLang="en-US" dirty="0"/>
          </a:p>
        </p:txBody>
      </p:sp>
      <p:sp>
        <p:nvSpPr>
          <p:cNvPr id="5632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9950" y="947323"/>
            <a:ext cx="7480230" cy="4619464"/>
          </a:xfrm>
        </p:spPr>
        <p:txBody>
          <a:bodyPr/>
          <a:lstStyle/>
          <a:p>
            <a:r>
              <a:rPr lang="en-US" altLang="en-US" dirty="0"/>
              <a:t>Best method depends on file access type</a:t>
            </a:r>
            <a:endParaRPr lang="en-US" altLang="en-US" dirty="0"/>
          </a:p>
          <a:p>
            <a:pPr lvl="1"/>
            <a:r>
              <a:rPr lang="en-US" altLang="en-US" dirty="0"/>
              <a:t>Contiguous great for sequential and random</a:t>
            </a:r>
            <a:endParaRPr lang="en-US" altLang="en-US" dirty="0"/>
          </a:p>
          <a:p>
            <a:r>
              <a:rPr lang="en-US" altLang="en-US" dirty="0"/>
              <a:t>Linked good for sequential, not random</a:t>
            </a:r>
            <a:endParaRPr lang="en-US" altLang="en-US" dirty="0"/>
          </a:p>
          <a:p>
            <a:r>
              <a:rPr lang="en-US" altLang="en-US" dirty="0"/>
              <a:t>Declare access type at creation</a:t>
            </a:r>
            <a:endParaRPr lang="en-US" altLang="en-US" dirty="0"/>
          </a:p>
          <a:p>
            <a:pPr lvl="1"/>
            <a:r>
              <a:rPr lang="en-US" altLang="en-US" dirty="0"/>
              <a:t> Select either contiguous or linked</a:t>
            </a:r>
            <a:endParaRPr lang="en-US" altLang="en-US" dirty="0"/>
          </a:p>
          <a:p>
            <a:r>
              <a:rPr lang="en-US" altLang="en-US" dirty="0"/>
              <a:t>Indexed more complex</a:t>
            </a:r>
            <a:endParaRPr lang="en-US" altLang="en-US" dirty="0"/>
          </a:p>
          <a:p>
            <a:pPr lvl="1"/>
            <a:r>
              <a:rPr lang="en-US" altLang="en-US" dirty="0"/>
              <a:t>Single block access could require 2 index block reads then data block read</a:t>
            </a:r>
            <a:endParaRPr lang="en-US" altLang="en-US" dirty="0"/>
          </a:p>
          <a:p>
            <a:pPr lvl="1"/>
            <a:r>
              <a:rPr lang="en-US" altLang="en-US" dirty="0"/>
              <a:t>Clustering can help improve throughput, reduce CPU overhead</a:t>
            </a:r>
            <a:endParaRPr lang="en-US" altLang="en-US" dirty="0"/>
          </a:p>
          <a:p>
            <a:r>
              <a:rPr lang="en-US" altLang="en-US" dirty="0"/>
              <a:t>For NVM, no disk head so different algorithms and optimizations needed</a:t>
            </a:r>
            <a:endParaRPr lang="en-US" altLang="en-US" dirty="0"/>
          </a:p>
          <a:p>
            <a:pPr lvl="1"/>
            <a:r>
              <a:rPr lang="en-US" altLang="en-US" dirty="0"/>
              <a:t>Using old algorithm uses many CPU cycles trying to avoid non-existent head movement</a:t>
            </a:r>
            <a:endParaRPr lang="en-US" altLang="en-US" dirty="0"/>
          </a:p>
          <a:p>
            <a:pPr lvl="1"/>
            <a:r>
              <a:rPr lang="en-US" altLang="en-US" dirty="0"/>
              <a:t>Goal is to reduce CPU cycles and overall path needed for I/O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38549"/>
            <a:ext cx="8229600" cy="576262"/>
          </a:xfrm>
        </p:spPr>
        <p:txBody>
          <a:bodyPr/>
          <a:lstStyle/>
          <a:p>
            <a:r>
              <a:rPr lang="en-US" altLang="en-US"/>
              <a:t>Performance (Cont.)</a:t>
            </a:r>
            <a:endParaRPr lang="en-US" altLang="en-US"/>
          </a:p>
        </p:txBody>
      </p:sp>
      <p:sp>
        <p:nvSpPr>
          <p:cNvPr id="5734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6193" y="1067118"/>
            <a:ext cx="7652656" cy="4530725"/>
          </a:xfrm>
        </p:spPr>
        <p:txBody>
          <a:bodyPr/>
          <a:lstStyle/>
          <a:p>
            <a:r>
              <a:rPr lang="en-US" altLang="en-US" dirty="0"/>
              <a:t>Adding instructions to the execution path to save one disk I/O is reasonable</a:t>
            </a:r>
            <a:endParaRPr lang="en-US" altLang="en-US" dirty="0"/>
          </a:p>
          <a:p>
            <a:pPr lvl="1"/>
            <a:r>
              <a:rPr lang="en-US" altLang="en-US" dirty="0"/>
              <a:t>Intel Core i7 Extreme Edition 990x (2011) at 3.46Ghz = 159,000 MIPS</a:t>
            </a:r>
            <a:endParaRPr lang="en-US" altLang="en-US" dirty="0"/>
          </a:p>
          <a:p>
            <a:pPr lvl="2"/>
            <a:r>
              <a:rPr lang="en-US" altLang="en-US" dirty="0"/>
              <a:t>http://en.wikipedia.org/wiki/Instructions_per_second</a:t>
            </a:r>
            <a:endParaRPr lang="en-US" altLang="en-US" dirty="0"/>
          </a:p>
          <a:p>
            <a:pPr lvl="1"/>
            <a:r>
              <a:rPr lang="en-US" altLang="en-US" dirty="0"/>
              <a:t>Typical disk drive at 250 I/</a:t>
            </a:r>
            <a:r>
              <a:rPr lang="en-US" altLang="en-US" dirty="0" err="1"/>
              <a:t>Os</a:t>
            </a:r>
            <a:r>
              <a:rPr lang="en-US" altLang="en-US" dirty="0"/>
              <a:t> per second</a:t>
            </a:r>
            <a:endParaRPr lang="en-US" altLang="en-US" dirty="0"/>
          </a:p>
          <a:p>
            <a:pPr lvl="2"/>
            <a:r>
              <a:rPr lang="en-US" altLang="en-US" dirty="0"/>
              <a:t>159,000 MIPS / 250 = 630 million instructions during one disk I/O </a:t>
            </a:r>
            <a:endParaRPr lang="en-US" altLang="en-US" dirty="0"/>
          </a:p>
          <a:p>
            <a:pPr lvl="1"/>
            <a:r>
              <a:rPr lang="en-US" altLang="en-US" dirty="0"/>
              <a:t>Fast SSD drives provide 60,000 IOPS</a:t>
            </a:r>
            <a:endParaRPr lang="en-US" altLang="en-US" dirty="0"/>
          </a:p>
          <a:p>
            <a:pPr lvl="2"/>
            <a:r>
              <a:rPr lang="en-US" altLang="en-US" dirty="0"/>
              <a:t>159,000 MIPS / 60,000 = 2.65 millions instructions during one disk I/O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243" y="144608"/>
            <a:ext cx="7527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129" y="958487"/>
            <a:ext cx="7653039" cy="501650"/>
          </a:xfrm>
        </p:spPr>
        <p:txBody>
          <a:bodyPr/>
          <a:lstStyle/>
          <a:p>
            <a:r>
              <a:rPr lang="en-US" altLang="en-US" dirty="0"/>
              <a:t>File system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track available blocks/clusters</a:t>
            </a:r>
            <a:endParaRPr lang="en-US" altLang="en-US" dirty="0"/>
          </a:p>
          <a:p>
            <a:pPr lvl="1"/>
            <a:r>
              <a:rPr lang="en-US" altLang="en-US" dirty="0"/>
              <a:t>(Using term </a:t>
            </a:r>
            <a:r>
              <a:rPr lang="ja-JP" altLang="en-US" dirty="0"/>
              <a:t>“</a:t>
            </a:r>
            <a:r>
              <a:rPr lang="en-US" altLang="ja-JP" dirty="0"/>
              <a:t>block</a:t>
            </a:r>
            <a:r>
              <a:rPr lang="ja-JP" altLang="en-US" dirty="0"/>
              <a:t>”</a:t>
            </a:r>
            <a:r>
              <a:rPr lang="en-US" altLang="ja-JP" dirty="0"/>
              <a:t> for simplicity)</a:t>
            </a:r>
            <a:endParaRPr lang="en-US" altLang="ja-JP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(</a:t>
            </a:r>
            <a:r>
              <a:rPr lang="en-US" altLang="en-US" b="1" i="1" dirty="0"/>
              <a:t>n</a:t>
            </a:r>
            <a:r>
              <a:rPr lang="en-US" altLang="en-US" dirty="0"/>
              <a:t> blocks)</a:t>
            </a:r>
            <a:endParaRPr lang="en-US" altLang="en-US" dirty="0"/>
          </a:p>
        </p:txBody>
      </p:sp>
      <p:grpSp>
        <p:nvGrpSpPr>
          <p:cNvPr id="58371" name="Group 1"/>
          <p:cNvGrpSpPr/>
          <p:nvPr/>
        </p:nvGrpSpPr>
        <p:grpSpPr bwMode="auto">
          <a:xfrm>
            <a:off x="2692962" y="2230739"/>
            <a:ext cx="2358788" cy="1402365"/>
            <a:chOff x="2784475" y="2216150"/>
            <a:chExt cx="3878263" cy="1944688"/>
          </a:xfrm>
        </p:grpSpPr>
        <p:sp>
          <p:nvSpPr>
            <p:cNvPr id="58375" name="Rectangle 4"/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/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/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/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/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/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/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/>
                <a:t>…</a:t>
              </a:r>
              <a:endParaRPr kumimoji="0" lang="en-US" altLang="en-US"/>
            </a:p>
          </p:txBody>
        </p:sp>
        <p:sp>
          <p:nvSpPr>
            <p:cNvPr id="58382" name="Rectangle 11"/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/>
            <p:cNvSpPr txBox="1">
              <a:spLocks noChangeArrowheads="1"/>
            </p:cNvSpPr>
            <p:nvPr/>
          </p:nvSpPr>
          <p:spPr bwMode="auto">
            <a:xfrm>
              <a:off x="3040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0</a:t>
              </a:r>
              <a:endParaRPr kumimoji="0" lang="en-US" altLang="en-US"/>
            </a:p>
          </p:txBody>
        </p:sp>
        <p:sp>
          <p:nvSpPr>
            <p:cNvPr id="58384" name="Text Box 13"/>
            <p:cNvSpPr txBox="1">
              <a:spLocks noChangeArrowheads="1"/>
            </p:cNvSpPr>
            <p:nvPr/>
          </p:nvSpPr>
          <p:spPr bwMode="auto">
            <a:xfrm>
              <a:off x="33448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1</a:t>
              </a:r>
              <a:endParaRPr kumimoji="0" lang="en-US" altLang="en-US"/>
            </a:p>
          </p:txBody>
        </p:sp>
        <p:sp>
          <p:nvSpPr>
            <p:cNvPr id="58385" name="Text Box 14"/>
            <p:cNvSpPr txBox="1">
              <a:spLocks noChangeArrowheads="1"/>
            </p:cNvSpPr>
            <p:nvPr/>
          </p:nvSpPr>
          <p:spPr bwMode="auto">
            <a:xfrm>
              <a:off x="3802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2</a:t>
              </a:r>
              <a:endParaRPr kumimoji="0" lang="en-US" altLang="en-US" dirty="0"/>
            </a:p>
          </p:txBody>
        </p:sp>
        <p:sp>
          <p:nvSpPr>
            <p:cNvPr id="58386" name="Text Box 15"/>
            <p:cNvSpPr txBox="1">
              <a:spLocks noChangeArrowheads="1"/>
            </p:cNvSpPr>
            <p:nvPr/>
          </p:nvSpPr>
          <p:spPr bwMode="auto">
            <a:xfrm>
              <a:off x="6132513" y="2216150"/>
              <a:ext cx="5302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b="1" i="1"/>
                <a:t>n</a:t>
              </a:r>
              <a:r>
                <a:rPr kumimoji="0" lang="en-US" altLang="en-US"/>
                <a:t>-1</a:t>
              </a:r>
              <a:endParaRPr kumimoji="0" lang="en-US" altLang="en-US"/>
            </a:p>
          </p:txBody>
        </p:sp>
        <p:sp>
          <p:nvSpPr>
            <p:cNvPr id="58387" name="Text Box 16"/>
            <p:cNvSpPr txBox="1">
              <a:spLocks noChangeArrowheads="1"/>
            </p:cNvSpPr>
            <p:nvPr/>
          </p:nvSpPr>
          <p:spPr bwMode="auto">
            <a:xfrm>
              <a:off x="2784475" y="3479800"/>
              <a:ext cx="819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bit[</a:t>
              </a:r>
              <a:r>
                <a:rPr kumimoji="0" lang="en-US" altLang="en-US" b="1" i="1"/>
                <a:t>i</a:t>
              </a:r>
              <a:r>
                <a:rPr kumimoji="0" lang="en-US" altLang="en-US"/>
                <a:t>] =</a:t>
              </a:r>
              <a:endParaRPr kumimoji="0" lang="en-US" altLang="en-US"/>
            </a:p>
          </p:txBody>
        </p:sp>
        <p:sp>
          <p:nvSpPr>
            <p:cNvPr id="58388" name="Text Box 17"/>
            <p:cNvSpPr txBox="1">
              <a:spLocks noChangeArrowheads="1"/>
            </p:cNvSpPr>
            <p:nvPr/>
          </p:nvSpPr>
          <p:spPr bwMode="auto">
            <a:xfrm rot="-5400000">
              <a:off x="3142456" y="3482182"/>
              <a:ext cx="9572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ym typeface="MT Extra" panose="05050102010205020202" pitchFamily="18" charset="2"/>
                </a:rPr>
                <a:t></a:t>
              </a:r>
              <a:endParaRPr kumimoji="0" lang="en-US" altLang="en-US" sz="5400" dirty="0">
                <a:sym typeface="Monotype Sorts" pitchFamily="-84" charset="2"/>
              </a:endParaRPr>
            </a:p>
          </p:txBody>
        </p:sp>
        <p:sp>
          <p:nvSpPr>
            <p:cNvPr id="58389" name="Text Box 18"/>
            <p:cNvSpPr txBox="1">
              <a:spLocks noChangeArrowheads="1"/>
            </p:cNvSpPr>
            <p:nvPr/>
          </p:nvSpPr>
          <p:spPr bwMode="auto">
            <a:xfrm>
              <a:off x="3879850" y="3281363"/>
              <a:ext cx="2451100" cy="78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1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free</a:t>
              </a:r>
              <a:endParaRPr kumimoji="0" lang="en-US" altLang="en-US" dirty="0"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>
                  <a:sym typeface="Symbol" panose="05050102010706020507" pitchFamily="18" charset="2"/>
                </a:rPr>
                <a:t>0 </a:t>
              </a:r>
              <a:r>
                <a:rPr kumimoji="0" lang="en-US" altLang="en-US" dirty="0"/>
                <a:t>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occupied</a:t>
              </a:r>
              <a:endParaRPr kumimoji="0" lang="en-US" altLang="en-US" dirty="0">
                <a:sym typeface="Symbol" panose="05050102010706020507" pitchFamily="18" charset="2"/>
              </a:endParaRPr>
            </a:p>
          </p:txBody>
        </p:sp>
      </p:grpSp>
      <p:sp>
        <p:nvSpPr>
          <p:cNvPr id="58372" name="Rectangle 19"/>
          <p:cNvSpPr>
            <a:spLocks noChangeArrowheads="1"/>
          </p:cNvSpPr>
          <p:nvPr/>
        </p:nvSpPr>
        <p:spPr bwMode="auto">
          <a:xfrm>
            <a:off x="1304604" y="4539510"/>
            <a:ext cx="70294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Block number calculation</a:t>
            </a:r>
            <a:endParaRPr lang="en-US" altLang="en-US" dirty="0"/>
          </a:p>
        </p:txBody>
      </p:sp>
      <p:sp>
        <p:nvSpPr>
          <p:cNvPr id="58373" name="Text Box 20"/>
          <p:cNvSpPr txBox="1">
            <a:spLocks noChangeArrowheads="1"/>
          </p:cNvSpPr>
          <p:nvPr/>
        </p:nvSpPr>
        <p:spPr bwMode="auto">
          <a:xfrm>
            <a:off x="2813050" y="4956175"/>
            <a:ext cx="30765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bits per word) *</a:t>
            </a:r>
            <a:endParaRPr kumimoji="0"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0-value words) +</a:t>
            </a:r>
            <a:endParaRPr kumimoji="0"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offset of first 1 bit</a:t>
            </a:r>
            <a:endParaRPr kumimoji="0" lang="en-US" altLang="en-US"/>
          </a:p>
        </p:txBody>
      </p:sp>
      <p:sp>
        <p:nvSpPr>
          <p:cNvPr id="58374" name="Rectangle 19"/>
          <p:cNvSpPr>
            <a:spLocks noChangeArrowheads="1"/>
          </p:cNvSpPr>
          <p:nvPr/>
        </p:nvSpPr>
        <p:spPr bwMode="auto">
          <a:xfrm>
            <a:off x="1335705" y="5832475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CPUs have instructions to return offset within word of first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 bit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8243" y="144608"/>
            <a:ext cx="7527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129" y="958487"/>
            <a:ext cx="7276229" cy="4728880"/>
          </a:xfrm>
        </p:spPr>
        <p:txBody>
          <a:bodyPr/>
          <a:lstStyle/>
          <a:p>
            <a:r>
              <a:rPr lang="en-US" altLang="en-US" dirty="0"/>
              <a:t>File system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track available blocks</a:t>
            </a:r>
            <a:endParaRPr lang="en-US" altLang="ja-JP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(</a:t>
            </a:r>
            <a:r>
              <a:rPr lang="en-US" altLang="en-US" b="1" i="1" dirty="0"/>
              <a:t>n</a:t>
            </a:r>
            <a:r>
              <a:rPr lang="en-US" altLang="en-US" dirty="0"/>
              <a:t> blocks)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Bit map requires extra space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Example: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block size = 4KB =  2</a:t>
            </a:r>
            <a:r>
              <a:rPr lang="en-US" altLang="en-US" baseline="30000" dirty="0"/>
              <a:t>12</a:t>
            </a:r>
            <a:r>
              <a:rPr lang="en-US" altLang="en-US" dirty="0"/>
              <a:t> bytes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disk size = 2</a:t>
            </a:r>
            <a:r>
              <a:rPr lang="en-US" altLang="en-US" baseline="30000" dirty="0"/>
              <a:t>40</a:t>
            </a:r>
            <a:r>
              <a:rPr lang="en-US" altLang="en-US" dirty="0"/>
              <a:t> bytes (1 terabyte)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</a:t>
            </a:r>
            <a:r>
              <a:rPr lang="en-US" altLang="en-US" b="1" i="1" dirty="0"/>
              <a:t>n</a:t>
            </a:r>
            <a:r>
              <a:rPr lang="en-US" altLang="en-US" dirty="0"/>
              <a:t> = 2</a:t>
            </a:r>
            <a:r>
              <a:rPr lang="en-US" altLang="en-US" baseline="30000" dirty="0"/>
              <a:t>40</a:t>
            </a:r>
            <a:r>
              <a:rPr lang="en-US" altLang="en-US" dirty="0"/>
              <a:t>/2</a:t>
            </a:r>
            <a:r>
              <a:rPr lang="en-US" altLang="en-US" baseline="30000" dirty="0"/>
              <a:t>12</a:t>
            </a:r>
            <a:r>
              <a:rPr lang="en-US" altLang="en-US" dirty="0"/>
              <a:t> = 2</a:t>
            </a:r>
            <a:r>
              <a:rPr lang="en-US" altLang="en-US" baseline="30000" dirty="0"/>
              <a:t>28</a:t>
            </a:r>
            <a:r>
              <a:rPr lang="en-US" altLang="en-US" dirty="0"/>
              <a:t> bits (or 32MB)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r>
              <a:rPr lang="en-US" altLang="en-US" dirty="0"/>
              <a:t>		if clusters of 4 blocks -&gt; 8MB of memory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1311275" algn="l"/>
              </a:tabLst>
            </a:pPr>
            <a:endParaRPr lang="en-US" altLang="en-US" sz="9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Easy to get contiguous files</a:t>
            </a:r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58371" name="Group 1"/>
          <p:cNvGrpSpPr/>
          <p:nvPr/>
        </p:nvGrpSpPr>
        <p:grpSpPr bwMode="auto">
          <a:xfrm>
            <a:off x="2873831" y="1858946"/>
            <a:ext cx="2039816" cy="1034981"/>
            <a:chOff x="2784475" y="2216150"/>
            <a:chExt cx="3878263" cy="1944688"/>
          </a:xfrm>
        </p:grpSpPr>
        <p:sp>
          <p:nvSpPr>
            <p:cNvPr id="58375" name="Rectangle 4"/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/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/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/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/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/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/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/>
                <a:t>…</a:t>
              </a:r>
              <a:endParaRPr kumimoji="0" lang="en-US" altLang="en-US"/>
            </a:p>
          </p:txBody>
        </p:sp>
        <p:sp>
          <p:nvSpPr>
            <p:cNvPr id="58382" name="Rectangle 11"/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/>
            <p:cNvSpPr txBox="1">
              <a:spLocks noChangeArrowheads="1"/>
            </p:cNvSpPr>
            <p:nvPr/>
          </p:nvSpPr>
          <p:spPr bwMode="auto">
            <a:xfrm>
              <a:off x="3040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0</a:t>
              </a:r>
              <a:endParaRPr kumimoji="0" lang="en-US" altLang="en-US"/>
            </a:p>
          </p:txBody>
        </p:sp>
        <p:sp>
          <p:nvSpPr>
            <p:cNvPr id="58384" name="Text Box 13"/>
            <p:cNvSpPr txBox="1">
              <a:spLocks noChangeArrowheads="1"/>
            </p:cNvSpPr>
            <p:nvPr/>
          </p:nvSpPr>
          <p:spPr bwMode="auto">
            <a:xfrm>
              <a:off x="33448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1</a:t>
              </a:r>
              <a:endParaRPr kumimoji="0" lang="en-US" altLang="en-US"/>
            </a:p>
          </p:txBody>
        </p:sp>
        <p:sp>
          <p:nvSpPr>
            <p:cNvPr id="58385" name="Text Box 14"/>
            <p:cNvSpPr txBox="1">
              <a:spLocks noChangeArrowheads="1"/>
            </p:cNvSpPr>
            <p:nvPr/>
          </p:nvSpPr>
          <p:spPr bwMode="auto">
            <a:xfrm>
              <a:off x="3802063" y="2216150"/>
              <a:ext cx="312737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2</a:t>
              </a:r>
              <a:endParaRPr kumimoji="0" lang="en-US" altLang="en-US" dirty="0"/>
            </a:p>
          </p:txBody>
        </p:sp>
        <p:sp>
          <p:nvSpPr>
            <p:cNvPr id="58386" name="Text Box 15"/>
            <p:cNvSpPr txBox="1">
              <a:spLocks noChangeArrowheads="1"/>
            </p:cNvSpPr>
            <p:nvPr/>
          </p:nvSpPr>
          <p:spPr bwMode="auto">
            <a:xfrm>
              <a:off x="6132513" y="2216150"/>
              <a:ext cx="53022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b="1" i="1"/>
                <a:t>n</a:t>
              </a:r>
              <a:r>
                <a:rPr kumimoji="0" lang="en-US" altLang="en-US"/>
                <a:t>-1</a:t>
              </a:r>
              <a:endParaRPr kumimoji="0" lang="en-US" altLang="en-US"/>
            </a:p>
          </p:txBody>
        </p:sp>
        <p:sp>
          <p:nvSpPr>
            <p:cNvPr id="58387" name="Text Box 16"/>
            <p:cNvSpPr txBox="1">
              <a:spLocks noChangeArrowheads="1"/>
            </p:cNvSpPr>
            <p:nvPr/>
          </p:nvSpPr>
          <p:spPr bwMode="auto">
            <a:xfrm>
              <a:off x="2784475" y="3479800"/>
              <a:ext cx="8191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bit[</a:t>
              </a:r>
              <a:r>
                <a:rPr kumimoji="0" lang="en-US" altLang="en-US" b="1" i="1"/>
                <a:t>i</a:t>
              </a:r>
              <a:r>
                <a:rPr kumimoji="0" lang="en-US" altLang="en-US"/>
                <a:t>] =</a:t>
              </a:r>
              <a:endParaRPr kumimoji="0" lang="en-US" altLang="en-US"/>
            </a:p>
          </p:txBody>
        </p:sp>
        <p:sp>
          <p:nvSpPr>
            <p:cNvPr id="58388" name="Text Box 17"/>
            <p:cNvSpPr txBox="1">
              <a:spLocks noChangeArrowheads="1"/>
            </p:cNvSpPr>
            <p:nvPr/>
          </p:nvSpPr>
          <p:spPr bwMode="auto">
            <a:xfrm rot="-5400000">
              <a:off x="3142456" y="3482182"/>
              <a:ext cx="9572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sym typeface="MT Extra" panose="05050102010205020202" pitchFamily="18" charset="2"/>
                </a:rPr>
                <a:t></a:t>
              </a:r>
              <a:endParaRPr kumimoji="0" lang="en-US" altLang="en-US" sz="5400" dirty="0">
                <a:sym typeface="Monotype Sorts" pitchFamily="-84" charset="2"/>
              </a:endParaRPr>
            </a:p>
          </p:txBody>
        </p:sp>
        <p:sp>
          <p:nvSpPr>
            <p:cNvPr id="58389" name="Text Box 18"/>
            <p:cNvSpPr txBox="1">
              <a:spLocks noChangeArrowheads="1"/>
            </p:cNvSpPr>
            <p:nvPr/>
          </p:nvSpPr>
          <p:spPr bwMode="auto">
            <a:xfrm>
              <a:off x="3879850" y="3281363"/>
              <a:ext cx="2451100" cy="78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1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free</a:t>
              </a:r>
              <a:endParaRPr kumimoji="0" lang="en-US" altLang="en-US" dirty="0"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>
                  <a:sym typeface="Symbol" panose="05050102010706020507" pitchFamily="18" charset="2"/>
                </a:rPr>
                <a:t>0 </a:t>
              </a:r>
              <a:r>
                <a:rPr kumimoji="0" lang="en-US" altLang="en-US" dirty="0"/>
                <a:t> </a:t>
              </a:r>
              <a:r>
                <a:rPr kumimoji="0" lang="en-US" altLang="en-US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dirty="0">
                  <a:sym typeface="Symbol" panose="05050102010706020507" pitchFamily="18" charset="2"/>
                </a:rPr>
                <a:t>] occupied</a:t>
              </a:r>
              <a:endParaRPr kumimoji="0" lang="en-US" altLang="en-US" dirty="0">
                <a:sym typeface="Symbol" panose="05050102010706020507" pitchFamily="18" charset="2"/>
              </a:endParaRPr>
            </a:p>
          </p:txBody>
        </p:sp>
      </p:grpSp>
      <p:sp>
        <p:nvSpPr>
          <p:cNvPr id="58374" name="Rectangle 19"/>
          <p:cNvSpPr>
            <a:spLocks noChangeArrowheads="1"/>
          </p:cNvSpPr>
          <p:nvPr/>
        </p:nvSpPr>
        <p:spPr bwMode="auto">
          <a:xfrm>
            <a:off x="1335705" y="5832475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9421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Free Space List on Disk</a:t>
            </a:r>
            <a:endParaRPr lang="en-US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62012" y="964646"/>
            <a:ext cx="3820520" cy="43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1060450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520" algn="l"/>
              </a:tabLst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800" dirty="0"/>
              <a:t> </a:t>
            </a:r>
            <a:endParaRPr lang="en-US" altLang="en-US" sz="800" dirty="0"/>
          </a:p>
          <a:p>
            <a:pPr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Linked list (free list)</a:t>
            </a:r>
            <a:endParaRPr lang="en-US" altLang="en-US" sz="17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Cannot get contiguous space easily</a:t>
            </a:r>
            <a:endParaRPr lang="en-US" altLang="en-US" sz="17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waste. Linked Free Space List on Disk of space</a:t>
            </a:r>
            <a:endParaRPr lang="en-US" altLang="en-US" sz="17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need to traverse the entire list (if # free blocks recorded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505" y="1175385"/>
            <a:ext cx="3977005" cy="465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 noChangeArrowheads="1"/>
          </p:cNvSpPr>
          <p:nvPr>
            <p:ph type="title"/>
          </p:nvPr>
        </p:nvSpPr>
        <p:spPr>
          <a:xfrm>
            <a:off x="1025093" y="130631"/>
            <a:ext cx="8229600" cy="563602"/>
          </a:xfrm>
        </p:spPr>
        <p:txBody>
          <a:bodyPr/>
          <a:lstStyle/>
          <a:p>
            <a:r>
              <a:rPr lang="en-US" altLang="en-US" dirty="0"/>
              <a:t>Free-Space Management (Cont.)</a:t>
            </a:r>
            <a:endParaRPr lang="en-US" altLang="en-US" dirty="0"/>
          </a:p>
        </p:txBody>
      </p:sp>
      <p:sp>
        <p:nvSpPr>
          <p:cNvPr id="645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43771" y="992333"/>
            <a:ext cx="6923605" cy="4504116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Grouping 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Modify linked list to store address of next </a:t>
            </a:r>
            <a:r>
              <a:rPr lang="en-US" altLang="en-US" i="1" dirty="0"/>
              <a:t>n-1</a:t>
            </a:r>
            <a:r>
              <a:rPr lang="en-US" altLang="en-US" dirty="0"/>
              <a:t> free blocks in first free block, plus a pointer to next block that contains free-block-pointers (like this one)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endParaRPr lang="en-US" altLang="en-US" sz="8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Counting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Because space is frequently contiguously used and freed,  with contiguous-allocation allocation, extents, or clustering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 address of first free block and count of following free blocks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Free space list then has entries containing addresses and counts</a:t>
            </a: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 noChangeArrowheads="1"/>
          </p:cNvSpPr>
          <p:nvPr>
            <p:ph type="title"/>
          </p:nvPr>
        </p:nvSpPr>
        <p:spPr>
          <a:xfrm>
            <a:off x="1066618" y="168213"/>
            <a:ext cx="8229600" cy="576262"/>
          </a:xfrm>
        </p:spPr>
        <p:txBody>
          <a:bodyPr/>
          <a:lstStyle/>
          <a:p>
            <a:r>
              <a:rPr lang="en-US" altLang="en-US" dirty="0"/>
              <a:t>Free-Space Management (Cont.)</a:t>
            </a:r>
            <a:endParaRPr lang="en-US" altLang="en-US" dirty="0"/>
          </a:p>
        </p:txBody>
      </p:sp>
      <p:sp>
        <p:nvSpPr>
          <p:cNvPr id="655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58416" y="967402"/>
            <a:ext cx="7660433" cy="504031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Space Maps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Used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ZFS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Consider meta-data I/O on very large file systems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Full data structures like bit maps cannot </a:t>
            </a:r>
            <a:r>
              <a:rPr lang="en-US" altLang="ja-JP" dirty="0"/>
              <a:t> fit in memory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ja-JP" dirty="0"/>
              <a:t> thousands of I/</a:t>
            </a:r>
            <a:r>
              <a:rPr lang="en-US" altLang="ja-JP" dirty="0" err="1"/>
              <a:t>Os</a:t>
            </a:r>
            <a:endParaRPr lang="en-US" altLang="ja-JP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Divides device space into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metaslab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units and manages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Given volume can contain hundreds of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Each metaslab has associated space map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Uses counting algorithm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But records to log file rather than file system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Log of all block activity, in time order, in counting format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Metaslab activity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load space map into memory in balanced-tree structure, indexed  by offset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Replay log into that structure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Combine contiguous free blocks into single entry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 noChangeArrowheads="1"/>
          </p:cNvSpPr>
          <p:nvPr>
            <p:ph type="title"/>
          </p:nvPr>
        </p:nvSpPr>
        <p:spPr>
          <a:xfrm>
            <a:off x="518271" y="167496"/>
            <a:ext cx="8229600" cy="576262"/>
          </a:xfrm>
        </p:spPr>
        <p:txBody>
          <a:bodyPr/>
          <a:lstStyle/>
          <a:p>
            <a:r>
              <a:rPr lang="en-US" altLang="en-US" dirty="0" err="1"/>
              <a:t>TRIMing</a:t>
            </a:r>
            <a:r>
              <a:rPr lang="en-US" altLang="en-US" dirty="0"/>
              <a:t> Unused Blocks</a:t>
            </a:r>
            <a:endParaRPr lang="en-US" altLang="en-US" dirty="0"/>
          </a:p>
        </p:txBody>
      </p:sp>
      <p:sp>
        <p:nvSpPr>
          <p:cNvPr id="665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6408" y="1259631"/>
            <a:ext cx="7539133" cy="485143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HDDS overwrite in place so need only free list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Blocks not treated specially when freed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Keeps its data but without any file pointers to it, until overwritten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Storage devices not allowing overwrite (like NVM) suffer badly with same algorithm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Must be erased before written, erases made in large chunks (blocks, composed of pages) and are slow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TRIM is a newer mechanism for the file system to inform the NVM storage device that a page is free</a:t>
            </a: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Can be garbage collected or if block is free, now block can be erased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1161979" y="13152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</a:t>
            </a:r>
            <a:endParaRPr lang="en-US" altLang="en-US" dirty="0"/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1096" y="982283"/>
            <a:ext cx="7423146" cy="4530725"/>
          </a:xfrm>
        </p:spPr>
        <p:txBody>
          <a:bodyPr/>
          <a:lstStyle/>
          <a:p>
            <a:r>
              <a:rPr lang="en-US" altLang="en-US" dirty="0"/>
              <a:t>Efficiency dependent on:</a:t>
            </a:r>
            <a:endParaRPr lang="en-US" altLang="en-US" dirty="0"/>
          </a:p>
          <a:p>
            <a:pPr lvl="1"/>
            <a:r>
              <a:rPr lang="en-US" altLang="en-US" dirty="0"/>
              <a:t>Disk allocation and directory algorithms</a:t>
            </a:r>
            <a:endParaRPr lang="en-US" altLang="en-US" dirty="0"/>
          </a:p>
          <a:p>
            <a:pPr lvl="1"/>
            <a:r>
              <a:rPr lang="en-US" altLang="en-US" dirty="0"/>
              <a:t>Types of data kept in file</a:t>
            </a:r>
            <a:r>
              <a:rPr lang="ja-JP" altLang="en-US" dirty="0"/>
              <a:t>’</a:t>
            </a:r>
            <a:r>
              <a:rPr lang="en-US" altLang="ja-JP" dirty="0"/>
              <a:t>s directory entry</a:t>
            </a:r>
            <a:endParaRPr lang="en-US" altLang="ja-JP" dirty="0"/>
          </a:p>
          <a:p>
            <a:pPr lvl="1"/>
            <a:r>
              <a:rPr lang="en-US" altLang="en-US" dirty="0"/>
              <a:t>Pre-allocation or as-needed allocation of metadata structures</a:t>
            </a:r>
            <a:endParaRPr lang="en-US" altLang="en-US" dirty="0"/>
          </a:p>
          <a:p>
            <a:pPr lvl="1"/>
            <a:r>
              <a:rPr lang="en-US" altLang="en-US" dirty="0"/>
              <a:t>Fixed-size or varying-size data structures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8530" y="16749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Efficiency and Performance (Cont.)</a:t>
            </a:r>
            <a:endParaRPr lang="en-US" altLang="en-US" dirty="0"/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844" y="1004690"/>
            <a:ext cx="7359650" cy="4530725"/>
          </a:xfrm>
        </p:spPr>
        <p:txBody>
          <a:bodyPr/>
          <a:lstStyle/>
          <a:p>
            <a:r>
              <a:rPr lang="en-US" altLang="en-US" dirty="0"/>
              <a:t>Performance</a:t>
            </a:r>
            <a:endParaRPr lang="en-US" altLang="en-US" dirty="0"/>
          </a:p>
          <a:p>
            <a:pPr lvl="1"/>
            <a:r>
              <a:rPr lang="en-US" altLang="en-US" dirty="0"/>
              <a:t>Keeping data and metadata close together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separate section of main memory for frequently used blocks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writes sometimes requested by apps or needed by OS</a:t>
            </a:r>
            <a:endParaRPr lang="en-US" altLang="en-US" dirty="0"/>
          </a:p>
          <a:p>
            <a:pPr lvl="2"/>
            <a:r>
              <a:rPr lang="en-US" altLang="en-US" dirty="0"/>
              <a:t>No buffering / caching – writes must hit disk before acknowledgement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dirty="0"/>
              <a:t> writes more common, buffer-able, faster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Free-behind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read-ahead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techniques to optimize sequential access</a:t>
            </a:r>
            <a:endParaRPr lang="en-US" altLang="en-US" dirty="0"/>
          </a:p>
          <a:p>
            <a:pPr lvl="1"/>
            <a:r>
              <a:rPr lang="en-US" altLang="en-US" dirty="0"/>
              <a:t>Reads frequently slower than writes</a:t>
            </a:r>
            <a:endParaRPr lang="en-US" altLang="en-US" dirty="0"/>
          </a:p>
          <a:p>
            <a:pPr lvl="1"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730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Cache</a:t>
            </a:r>
            <a:endParaRPr lang="en-US" altLang="en-US" dirty="0"/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488" y="1002381"/>
            <a:ext cx="6652012" cy="440531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caches pages rather than disk blocks using virtual memory techniques and addresses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Memory-mapped I/O uses a page cache</a:t>
            </a:r>
            <a:endParaRPr lang="en-US" altLang="en-US" dirty="0"/>
          </a:p>
          <a:p>
            <a:r>
              <a:rPr lang="en-US" altLang="en-US" dirty="0"/>
              <a:t>Routine I/O through the file system uses the buffer (disk) cache</a:t>
            </a:r>
            <a:endParaRPr lang="en-US" altLang="en-US" dirty="0"/>
          </a:p>
          <a:p>
            <a:r>
              <a:rPr lang="en-US" altLang="en-US" dirty="0"/>
              <a:t>This leads to the following figure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29469" y="1047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I/O Without a Unified Buffer Cache</a:t>
            </a:r>
            <a:endParaRPr lang="en-US" altLang="en-US" sz="3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135" y="1155700"/>
            <a:ext cx="4779645" cy="466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22447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Unified Buffer Cache</a:t>
            </a:r>
            <a:endParaRPr lang="en-US" altLang="en-US" dirty="0"/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980846"/>
            <a:ext cx="6348572" cy="4323150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unified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the same page cache to cache both memory-mapped pages and ordinary file system I/O to avoid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caching</a:t>
            </a:r>
            <a:endParaRPr lang="en-US" altLang="en-US" b="1" dirty="0">
              <a:solidFill>
                <a:srgbClr val="3366FF"/>
              </a:solidFill>
            </a:endParaRPr>
          </a:p>
          <a:p>
            <a:pPr marL="341630" lvl="1" indent="-341630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But which caches get priority, and what replacement algorithms to use?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9421" y="1248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Using a Unified Buffer Cache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90" y="1217295"/>
            <a:ext cx="5482590" cy="3808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4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Recovery</a:t>
            </a:r>
            <a:endParaRPr lang="en-US" altLang="en-US" dirty="0"/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760" y="980133"/>
            <a:ext cx="6885340" cy="4402719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Consistency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checking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compares data in directory structure with data blocks on disk, and tries to fix inconsistencies</a:t>
            </a:r>
            <a:endParaRPr lang="en-US" altLang="en-US" dirty="0"/>
          </a:p>
          <a:p>
            <a:pPr lvl="1"/>
            <a:r>
              <a:rPr lang="en-US" altLang="en-US" dirty="0"/>
              <a:t>Can be slow and sometimes fails</a:t>
            </a:r>
            <a:endParaRPr lang="en-US" altLang="en-US" dirty="0"/>
          </a:p>
          <a:p>
            <a:r>
              <a:rPr lang="en-US" altLang="en-US" dirty="0"/>
              <a:t>Use system programs 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data from disk to another storage device (magnetic tape, other magnetic disk, optical)</a:t>
            </a:r>
            <a:endParaRPr lang="en-US" altLang="en-US" dirty="0"/>
          </a:p>
          <a:p>
            <a:r>
              <a:rPr lang="en-US" altLang="en-US" dirty="0"/>
              <a:t>Recover lost file or disk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restoring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data from backup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xfrm>
            <a:off x="1177925" y="119657"/>
            <a:ext cx="7508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 Structured File Systems</a:t>
            </a:r>
            <a:endParaRPr lang="en-US" altLang="en-US" dirty="0"/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951925"/>
            <a:ext cx="7693897" cy="5227811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structured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journaling</a:t>
            </a:r>
            <a:r>
              <a:rPr lang="en-US" altLang="en-US" dirty="0"/>
              <a:t>) file systems record each metadata update to the file system as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transaction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All transactions are written to a log</a:t>
            </a:r>
            <a:endParaRPr lang="en-US" altLang="en-US" dirty="0"/>
          </a:p>
          <a:p>
            <a:pPr lvl="1"/>
            <a:r>
              <a:rPr lang="en-US" altLang="en-US" dirty="0"/>
              <a:t> A transaction is considered committed once it is written to the log (sequentially)</a:t>
            </a:r>
            <a:endParaRPr lang="en-US" altLang="en-US" dirty="0"/>
          </a:p>
          <a:p>
            <a:pPr lvl="1"/>
            <a:r>
              <a:rPr lang="en-US" altLang="en-US" dirty="0"/>
              <a:t>Sometimes to a separate device or section of disk</a:t>
            </a:r>
            <a:endParaRPr lang="en-US" altLang="en-US" dirty="0"/>
          </a:p>
          <a:p>
            <a:pPr lvl="1"/>
            <a:r>
              <a:rPr lang="en-US" altLang="en-US" dirty="0"/>
              <a:t>However, the file system may not yet be updated</a:t>
            </a:r>
            <a:endParaRPr lang="en-US" altLang="en-US" sz="800" dirty="0"/>
          </a:p>
          <a:p>
            <a:r>
              <a:rPr lang="en-US" altLang="en-US" dirty="0"/>
              <a:t>The transactions in the log are asynchronously written to the file system structures</a:t>
            </a:r>
            <a:endParaRPr lang="en-US" altLang="en-US" dirty="0"/>
          </a:p>
          <a:p>
            <a:pPr lvl="1"/>
            <a:r>
              <a:rPr lang="en-US" altLang="en-US" dirty="0"/>
              <a:t> When the file system structures are modified, the transaction is removed from the log</a:t>
            </a:r>
            <a:endParaRPr lang="en-US" altLang="en-US" sz="800" dirty="0"/>
          </a:p>
          <a:p>
            <a:r>
              <a:rPr lang="en-US" altLang="en-US" dirty="0"/>
              <a:t>If the file system crashes, all remaining transactions in the log must still be performed</a:t>
            </a:r>
            <a:endParaRPr lang="en-US" altLang="en-US" dirty="0"/>
          </a:p>
          <a:p>
            <a:r>
              <a:rPr lang="en-US" altLang="en-US" dirty="0"/>
              <a:t>Faster recovery from crash, removes chance of inconsistency of metadata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>
          <a:xfrm>
            <a:off x="954088" y="146280"/>
            <a:ext cx="7732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WAFL File System</a:t>
            </a:r>
            <a:endParaRPr lang="en-US" altLang="en-US" dirty="0"/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193" y="961593"/>
            <a:ext cx="7732712" cy="4530725"/>
          </a:xfrm>
        </p:spPr>
        <p:txBody>
          <a:bodyPr/>
          <a:lstStyle/>
          <a:p>
            <a:r>
              <a:rPr lang="en-US" altLang="en-US" dirty="0"/>
              <a:t>Used on Network Appliance </a:t>
            </a:r>
            <a:r>
              <a:rPr lang="ja-JP" altLang="en-US" dirty="0"/>
              <a:t>“</a:t>
            </a:r>
            <a:r>
              <a:rPr lang="en-US" altLang="ja-JP" dirty="0"/>
              <a:t>Filers</a:t>
            </a:r>
            <a:r>
              <a:rPr lang="ja-JP" altLang="en-US" dirty="0"/>
              <a:t>”</a:t>
            </a:r>
            <a:r>
              <a:rPr lang="en-US" altLang="ja-JP" dirty="0"/>
              <a:t> – distributed file system appliances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Write-anywhere file layout</a:t>
            </a:r>
            <a:r>
              <a:rPr lang="ja-JP" altLang="en-US" dirty="0"/>
              <a:t>”</a:t>
            </a:r>
            <a:endParaRPr lang="en-US" altLang="en-US" dirty="0"/>
          </a:p>
          <a:p>
            <a:r>
              <a:rPr lang="en-US" altLang="en-US" dirty="0"/>
              <a:t>Serves up NFS, CIFS, http, ftp</a:t>
            </a:r>
            <a:endParaRPr lang="en-US" altLang="en-US" dirty="0"/>
          </a:p>
          <a:p>
            <a:r>
              <a:rPr lang="en-US" altLang="en-US" dirty="0"/>
              <a:t>Random I/O optimized, write optimized</a:t>
            </a:r>
            <a:endParaRPr lang="en-US" altLang="en-US" dirty="0"/>
          </a:p>
          <a:p>
            <a:pPr lvl="1"/>
            <a:r>
              <a:rPr lang="en-US" altLang="en-US" dirty="0"/>
              <a:t>NVRAM for write caching</a:t>
            </a:r>
            <a:endParaRPr lang="en-US" altLang="en-US" dirty="0"/>
          </a:p>
          <a:p>
            <a:r>
              <a:rPr lang="en-US" altLang="en-US" dirty="0"/>
              <a:t>Similar to Berkeley Fast File System, with extensive modifications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631825" y="134565"/>
            <a:ext cx="8054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WAFL File Layout</a:t>
            </a:r>
            <a:endParaRPr lang="en-US" altLang="en-US" dirty="0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585" y="1507490"/>
            <a:ext cx="7329170" cy="2470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>
          <a:xfrm>
            <a:off x="555170" y="80389"/>
            <a:ext cx="8077200" cy="582729"/>
          </a:xfrm>
        </p:spPr>
        <p:txBody>
          <a:bodyPr/>
          <a:lstStyle/>
          <a:p>
            <a:pPr eaLnBrk="1" hangingPunct="1"/>
            <a:r>
              <a:rPr lang="en-US" altLang="en-US" dirty="0"/>
              <a:t>Snapshots in WAFL</a:t>
            </a:r>
            <a:endParaRPr lang="en-US" altLang="en-US" dirty="0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990" y="968375"/>
            <a:ext cx="3469005" cy="553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42106"/>
            <a:ext cx="8229600" cy="576262"/>
          </a:xfrm>
        </p:spPr>
        <p:txBody>
          <a:bodyPr/>
          <a:lstStyle/>
          <a:p>
            <a:r>
              <a:rPr lang="en-US" altLang="en-US" dirty="0"/>
              <a:t>The Apple File System</a:t>
            </a:r>
            <a:endParaRPr lang="en-US" altLang="en-US" dirty="0"/>
          </a:p>
        </p:txBody>
      </p:sp>
      <p:pic>
        <p:nvPicPr>
          <p:cNvPr id="93186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0888" y="942975"/>
            <a:ext cx="5573712" cy="5329238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14</a:t>
            </a:r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325" y="1547813"/>
            <a:ext cx="387985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2327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662182" y="169369"/>
            <a:ext cx="789398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429" y="1233488"/>
            <a:ext cx="7577138" cy="749300"/>
          </a:xfrm>
        </p:spPr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  <a:endParaRPr lang="en-US" altLang="en-US" dirty="0"/>
          </a:p>
        </p:txBody>
      </p:sp>
      <p:grpSp>
        <p:nvGrpSpPr>
          <p:cNvPr id="36867" name="Group 4"/>
          <p:cNvGrpSpPr/>
          <p:nvPr/>
        </p:nvGrpSpPr>
        <p:grpSpPr bwMode="auto">
          <a:xfrm>
            <a:off x="2673350" y="1983050"/>
            <a:ext cx="2765425" cy="1500187"/>
            <a:chOff x="1684" y="1576"/>
            <a:chExt cx="1742" cy="945"/>
          </a:xfrm>
        </p:grpSpPr>
        <p:sp>
          <p:nvSpPr>
            <p:cNvPr id="36876" name="Rectangle 5"/>
            <p:cNvSpPr>
              <a:spLocks noChangeArrowheads="1"/>
            </p:cNvSpPr>
            <p:nvPr/>
          </p:nvSpPr>
          <p:spPr bwMode="auto">
            <a:xfrm>
              <a:off x="2481" y="1576"/>
              <a:ext cx="945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pointer</a:t>
              </a:r>
              <a:endParaRPr kumimoji="0" lang="en-US" altLang="en-US" dirty="0"/>
            </a:p>
          </p:txBody>
        </p:sp>
        <p:sp>
          <p:nvSpPr>
            <p:cNvPr id="36877" name="Rectangle 6"/>
            <p:cNvSpPr>
              <a:spLocks noChangeArrowheads="1"/>
            </p:cNvSpPr>
            <p:nvPr/>
          </p:nvSpPr>
          <p:spPr bwMode="auto">
            <a:xfrm>
              <a:off x="2481" y="1848"/>
              <a:ext cx="945" cy="6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6878" name="Text Box 7"/>
            <p:cNvSpPr txBox="1">
              <a:spLocks noChangeArrowheads="1"/>
            </p:cNvSpPr>
            <p:nvPr/>
          </p:nvSpPr>
          <p:spPr bwMode="auto">
            <a:xfrm>
              <a:off x="1684" y="1596"/>
              <a:ext cx="7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block      =</a:t>
              </a:r>
              <a:endParaRPr kumimoji="0" lang="en-US" altLang="en-US"/>
            </a:p>
          </p:txBody>
        </p:sp>
      </p:grp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65077" y="3203223"/>
            <a:ext cx="7370763" cy="906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Font typeface="Monotype Sorts" pitchFamily="-84" charset="2"/>
              <a:buNone/>
              <a:defRPr/>
            </a:pPr>
            <a:endParaRPr lang="en-US" altLang="en-US" kern="0" dirty="0"/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kern="0" dirty="0"/>
              <a:t>Mapping</a:t>
            </a:r>
            <a:endParaRPr lang="en-US" altLang="en-US" kern="0" dirty="0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843774" y="4933950"/>
            <a:ext cx="7670183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Block to be accessed is the Qth block in the linked chain of blocks representing the file.</a:t>
            </a:r>
            <a:endParaRPr lang="en-US" altLang="en-US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endParaRPr lang="en-US" altLang="en-US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Displacement into block = R + 1</a:t>
            </a:r>
            <a:endParaRPr lang="en-US" altLang="en-US" dirty="0"/>
          </a:p>
        </p:txBody>
      </p:sp>
      <p:grpSp>
        <p:nvGrpSpPr>
          <p:cNvPr id="36870" name="Group 1"/>
          <p:cNvGrpSpPr/>
          <p:nvPr/>
        </p:nvGrpSpPr>
        <p:grpSpPr bwMode="auto">
          <a:xfrm>
            <a:off x="3232150" y="3935413"/>
            <a:ext cx="1374775" cy="985837"/>
            <a:chOff x="3232150" y="3935037"/>
            <a:chExt cx="1374775" cy="985838"/>
          </a:xfrm>
        </p:grpSpPr>
        <p:sp>
          <p:nvSpPr>
            <p:cNvPr id="36871" name="Text Box 5"/>
            <p:cNvSpPr txBox="1">
              <a:spLocks noChangeArrowheads="1"/>
            </p:cNvSpPr>
            <p:nvPr/>
          </p:nvSpPr>
          <p:spPr bwMode="auto">
            <a:xfrm>
              <a:off x="3232150" y="4250950"/>
              <a:ext cx="89852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LA/511</a:t>
              </a:r>
              <a:endParaRPr kumimoji="0" lang="en-US" altLang="en-US"/>
            </a:p>
          </p:txBody>
        </p:sp>
        <p:sp>
          <p:nvSpPr>
            <p:cNvPr id="36872" name="Text Box 6"/>
            <p:cNvSpPr txBox="1">
              <a:spLocks noChangeArrowheads="1"/>
            </p:cNvSpPr>
            <p:nvPr/>
          </p:nvSpPr>
          <p:spPr bwMode="auto">
            <a:xfrm>
              <a:off x="4241800" y="3935037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36873" name="Text Box 7"/>
            <p:cNvSpPr txBox="1">
              <a:spLocks noChangeArrowheads="1"/>
            </p:cNvSpPr>
            <p:nvPr/>
          </p:nvSpPr>
          <p:spPr bwMode="auto">
            <a:xfrm>
              <a:off x="4241800" y="4550987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/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998732" y="166600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(Cont.)</a:t>
            </a:r>
            <a:endParaRPr lang="en-US" altLang="en-U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233488"/>
            <a:ext cx="7694612" cy="32051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Need index table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Random access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Dynamic access without external fragmentation, but have overhead of index block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maximum size of 256K bytes and block size of 512 bytes.  We need only 1 block for index table</a:t>
            </a:r>
            <a:endParaRPr lang="en-US" altLang="en-US" dirty="0"/>
          </a:p>
        </p:txBody>
      </p:sp>
      <p:grpSp>
        <p:nvGrpSpPr>
          <p:cNvPr id="46083" name="Group 1"/>
          <p:cNvGrpSpPr/>
          <p:nvPr/>
        </p:nvGrpSpPr>
        <p:grpSpPr bwMode="auto">
          <a:xfrm>
            <a:off x="2984500" y="3694113"/>
            <a:ext cx="1382713" cy="985837"/>
            <a:chOff x="2984500" y="3600450"/>
            <a:chExt cx="1382713" cy="985838"/>
          </a:xfrm>
        </p:grpSpPr>
        <p:sp>
          <p:nvSpPr>
            <p:cNvPr id="46085" name="Text Box 4"/>
            <p:cNvSpPr txBox="1">
              <a:spLocks noChangeArrowheads="1"/>
            </p:cNvSpPr>
            <p:nvPr/>
          </p:nvSpPr>
          <p:spPr bwMode="auto">
            <a:xfrm>
              <a:off x="2984500" y="3916363"/>
              <a:ext cx="914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LA/512</a:t>
              </a:r>
              <a:endParaRPr kumimoji="0" lang="en-US" altLang="en-US"/>
            </a:p>
          </p:txBody>
        </p:sp>
        <p:sp>
          <p:nvSpPr>
            <p:cNvPr id="46086" name="Text Box 5"/>
            <p:cNvSpPr txBox="1">
              <a:spLocks noChangeArrowheads="1"/>
            </p:cNvSpPr>
            <p:nvPr/>
          </p:nvSpPr>
          <p:spPr bwMode="auto">
            <a:xfrm>
              <a:off x="4002088" y="3600450"/>
              <a:ext cx="3651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  <a:endParaRPr kumimoji="0" lang="en-US" altLang="en-US"/>
            </a:p>
          </p:txBody>
        </p:sp>
        <p:sp>
          <p:nvSpPr>
            <p:cNvPr id="46087" name="Text Box 6"/>
            <p:cNvSpPr txBox="1">
              <a:spLocks noChangeArrowheads="1"/>
            </p:cNvSpPr>
            <p:nvPr/>
          </p:nvSpPr>
          <p:spPr bwMode="auto">
            <a:xfrm>
              <a:off x="4002088" y="4216400"/>
              <a:ext cx="352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  <a:endParaRPr kumimoji="0" lang="en-US" altLang="en-US"/>
            </a:p>
          </p:txBody>
        </p:sp>
        <p:sp>
          <p:nvSpPr>
            <p:cNvPr id="46088" name="Line 7"/>
            <p:cNvSpPr>
              <a:spLocks noChangeShapeType="1"/>
            </p:cNvSpPr>
            <p:nvPr/>
          </p:nvSpPr>
          <p:spPr bwMode="auto">
            <a:xfrm flipV="1">
              <a:off x="3810000" y="3843338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6089" name="Line 8"/>
            <p:cNvSpPr>
              <a:spLocks noChangeShapeType="1"/>
            </p:cNvSpPr>
            <p:nvPr/>
          </p:nvSpPr>
          <p:spPr bwMode="auto">
            <a:xfrm>
              <a:off x="3817938" y="4154488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6084" name="Rectangle 9"/>
          <p:cNvSpPr>
            <a:spLocks noChangeArrowheads="1"/>
          </p:cNvSpPr>
          <p:nvPr/>
        </p:nvSpPr>
        <p:spPr bwMode="auto">
          <a:xfrm>
            <a:off x="1457325" y="4960938"/>
            <a:ext cx="70294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25755" indent="-325755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/>
              <a:t>Q = displacement into index table</a:t>
            </a:r>
            <a:endParaRPr kumimoji="0" lang="en-US" altLang="en-US"/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/>
              <a:t>R = displacement into block</a:t>
            </a:r>
            <a:endParaRPr kumimoji="0" lang="en-US" altLang="en-US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Small Files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1233487"/>
            <a:ext cx="7029450" cy="44154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Mapping from logical to physical in a file of unbounded length (block size of 512 words)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Linked scheme – Link blocks of index table (no limit on size)</a:t>
            </a: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3230563" y="2765425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LA / (512 x 511)</a:t>
              </a:r>
              <a:endParaRPr kumimoji="0" lang="en-US" altLang="en-US" sz="160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3581400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i="1" baseline="-25000"/>
              <a:t>1</a:t>
            </a:r>
            <a:r>
              <a:rPr kumimoji="0" lang="en-US" altLang="en-US" i="1"/>
              <a:t> </a:t>
            </a:r>
            <a:r>
              <a:rPr kumimoji="0" lang="en-US" altLang="en-US"/>
              <a:t>=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i="1" baseline="-25000"/>
              <a:t>1</a:t>
            </a:r>
            <a:r>
              <a:rPr kumimoji="0" lang="en-US" altLang="en-US" i="1"/>
              <a:t> </a:t>
            </a:r>
            <a:r>
              <a:rPr kumimoji="0" lang="en-US" altLang="en-US"/>
              <a:t>is used as follows:</a:t>
            </a:r>
            <a:endParaRPr kumimoji="0" lang="en-US" altLang="en-US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  <a:endParaRPr kumimoji="0" lang="en-US" altLang="en-US" sz="160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4" name="Rectangle 15"/>
          <p:cNvSpPr>
            <a:spLocks noChangeArrowheads="1"/>
          </p:cNvSpPr>
          <p:nvPr/>
        </p:nvSpPr>
        <p:spPr bwMode="auto">
          <a:xfrm>
            <a:off x="992188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2</a:t>
            </a:r>
            <a:r>
              <a:rPr kumimoji="0" lang="en-US" altLang="en-US"/>
              <a:t> = displacement into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2</a:t>
            </a:r>
            <a:r>
              <a:rPr kumimoji="0" lang="en-US" altLang="en-US"/>
              <a:t> displacement into block of file:</a:t>
            </a:r>
            <a:endParaRPr kumimoji="0" lang="en-US" altLang="en-US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End of Chapter 14</a:t>
            </a: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4787" y="181987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10" y="988294"/>
            <a:ext cx="766043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  <a:endParaRPr lang="en-US" altLang="en-US" dirty="0"/>
          </a:p>
          <a:p>
            <a:r>
              <a:rPr lang="en-US" altLang="en-US" dirty="0"/>
              <a:t>The following figure illustrates the necessary file system structures provided by the operating systems</a:t>
            </a:r>
            <a:endParaRPr lang="en-US" altLang="en-US" dirty="0"/>
          </a:p>
          <a:p>
            <a:r>
              <a:rPr lang="en-US" altLang="en-US" dirty="0"/>
              <a:t>Figure 12-3(a) refers to opening a file</a:t>
            </a:r>
            <a:endParaRPr lang="en-US" altLang="en-US" dirty="0"/>
          </a:p>
          <a:p>
            <a:r>
              <a:rPr lang="en-US" altLang="en-US" dirty="0"/>
              <a:t>Figure 12-3(b) refers to reading a file</a:t>
            </a:r>
            <a:endParaRPr lang="en-US" altLang="en-US" dirty="0"/>
          </a:p>
          <a:p>
            <a:r>
              <a:rPr lang="en-US" altLang="en-US" dirty="0"/>
              <a:t>Plus buffers hold data blocks from secondary storage</a:t>
            </a:r>
            <a:endParaRPr lang="en-US" altLang="en-US" dirty="0"/>
          </a:p>
          <a:p>
            <a:r>
              <a:rPr lang="en-US" altLang="en-US" dirty="0"/>
              <a:t>Open returns a file handle for subsequent use</a:t>
            </a:r>
            <a:endParaRPr lang="en-US" altLang="en-US" dirty="0"/>
          </a:p>
          <a:p>
            <a:r>
              <a:rPr lang="en-US" altLang="en-US" dirty="0"/>
              <a:t>Data from read eventually copied to specified user process memory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dirty="0"/>
              <a:t>Inner-level  mapping scheme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  <a:endParaRPr kumimoji="0" lang="en-US" altLang="en-US" sz="1600" dirty="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1743245" y="3446588"/>
            <a:ext cx="1641475" cy="1051444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680" y="179529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Indexed Allocation – Linked Scheme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962189"/>
            <a:ext cx="7029450" cy="4579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Link blocks of index table (no limit on size)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Outer-level Mapping scheme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=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i="1" baseline="-25000" dirty="0"/>
              <a:t>1</a:t>
            </a:r>
            <a:r>
              <a:rPr kumimoji="0" lang="en-US" altLang="en-US" i="1" dirty="0"/>
              <a:t> </a:t>
            </a:r>
            <a:r>
              <a:rPr kumimoji="0" lang="en-US" altLang="en-US" dirty="0"/>
              <a:t>is used as follows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r>
              <a:rPr kumimoji="0" lang="en-US" altLang="en-US" dirty="0"/>
              <a:t>Inner-level Mapping scheme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>
              <a:lnSpc>
                <a:spcPct val="90000"/>
              </a:lnSpc>
            </a:pP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Q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= displacement into block of index table</a:t>
            </a:r>
            <a:endParaRPr kumimoji="0" lang="en-US" altLang="en-US" dirty="0"/>
          </a:p>
          <a:p>
            <a:pPr lvl="1">
              <a:lnSpc>
                <a:spcPct val="90000"/>
              </a:lnSpc>
            </a:pPr>
            <a:r>
              <a:rPr kumimoji="0" lang="en-US" altLang="en-US" i="1" dirty="0"/>
              <a:t>R</a:t>
            </a:r>
            <a:r>
              <a:rPr kumimoji="0" lang="en-US" altLang="en-US" baseline="-25000" dirty="0"/>
              <a:t>2</a:t>
            </a:r>
            <a:r>
              <a:rPr kumimoji="0" lang="en-US" altLang="en-US" dirty="0"/>
              <a:t> displacement into block of file</a:t>
            </a:r>
            <a:endParaRPr kumimoji="0"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48131" name="Group 1"/>
          <p:cNvGrpSpPr/>
          <p:nvPr/>
        </p:nvGrpSpPr>
        <p:grpSpPr bwMode="auto">
          <a:xfrm>
            <a:off x="2337674" y="1327396"/>
            <a:ext cx="2368550" cy="852488"/>
            <a:chOff x="3230563" y="2765425"/>
            <a:chExt cx="2368550" cy="852488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3230563" y="3017838"/>
              <a:ext cx="1619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511)</a:t>
              </a:r>
              <a:endParaRPr kumimoji="0" lang="en-US" altLang="en-US" sz="1600" dirty="0"/>
            </a:p>
          </p:txBody>
        </p:sp>
        <p:sp>
          <p:nvSpPr>
            <p:cNvPr id="48141" name="Text Box 5"/>
            <p:cNvSpPr txBox="1">
              <a:spLocks noChangeArrowheads="1"/>
            </p:cNvSpPr>
            <p:nvPr/>
          </p:nvSpPr>
          <p:spPr bwMode="auto">
            <a:xfrm>
              <a:off x="5178425" y="2765425"/>
              <a:ext cx="420688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5178425" y="3278188"/>
              <a:ext cx="4079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48143" name="Line 7"/>
            <p:cNvSpPr>
              <a:spLocks noChangeShapeType="1"/>
            </p:cNvSpPr>
            <p:nvPr/>
          </p:nvSpPr>
          <p:spPr bwMode="auto">
            <a:xfrm flipV="1">
              <a:off x="4791075" y="29575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44" name="Line 8"/>
            <p:cNvSpPr>
              <a:spLocks noChangeShapeType="1"/>
            </p:cNvSpPr>
            <p:nvPr/>
          </p:nvSpPr>
          <p:spPr bwMode="auto">
            <a:xfrm>
              <a:off x="4783138" y="3198813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48132" name="Rectangle 9"/>
          <p:cNvSpPr>
            <a:spLocks noChangeArrowheads="1"/>
          </p:cNvSpPr>
          <p:nvPr/>
        </p:nvSpPr>
        <p:spPr bwMode="auto">
          <a:xfrm>
            <a:off x="992188" y="5600757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endParaRPr kumimoji="0" lang="en-US" altLang="en-US" dirty="0"/>
          </a:p>
        </p:txBody>
      </p:sp>
      <p:grpSp>
        <p:nvGrpSpPr>
          <p:cNvPr id="48133" name="Group 2"/>
          <p:cNvGrpSpPr/>
          <p:nvPr/>
        </p:nvGrpSpPr>
        <p:grpSpPr bwMode="auto">
          <a:xfrm>
            <a:off x="1743245" y="3667654"/>
            <a:ext cx="1641475" cy="940906"/>
            <a:chOff x="3662363" y="4116388"/>
            <a:chExt cx="1641475" cy="852487"/>
          </a:xfrm>
        </p:grpSpPr>
        <p:sp>
          <p:nvSpPr>
            <p:cNvPr id="48135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R</a:t>
              </a:r>
              <a:r>
                <a:rPr kumimoji="0" lang="en-US" altLang="en-US" sz="1600" baseline="-25000" dirty="0"/>
                <a:t>1</a:t>
              </a:r>
              <a:r>
                <a:rPr kumimoji="0" lang="en-US" altLang="en-US" sz="1600" dirty="0"/>
                <a:t> / 512</a:t>
              </a:r>
              <a:endParaRPr kumimoji="0" lang="en-US" altLang="en-US" sz="1600" dirty="0"/>
            </a:p>
          </p:txBody>
        </p:sp>
        <p:sp>
          <p:nvSpPr>
            <p:cNvPr id="48136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7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48138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48139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767" y="952140"/>
            <a:ext cx="7430858" cy="4457306"/>
          </a:xfrm>
        </p:spPr>
        <p:txBody>
          <a:bodyPr/>
          <a:lstStyle/>
          <a:p>
            <a:r>
              <a:rPr lang="en-US" altLang="en-US" dirty="0"/>
              <a:t>Two-level index (4K blocks could store 1,024 four-byte pointers in outer index -&gt; 1,048,567 data blocks and file size of up to 4GB)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Mapping scheme:</a:t>
            </a:r>
            <a:endParaRPr lang="en-US" altLang="en-US" dirty="0"/>
          </a:p>
        </p:txBody>
      </p:sp>
      <p:grpSp>
        <p:nvGrpSpPr>
          <p:cNvPr id="50179" name="Group 1"/>
          <p:cNvGrpSpPr/>
          <p:nvPr/>
        </p:nvGrpSpPr>
        <p:grpSpPr bwMode="auto">
          <a:xfrm>
            <a:off x="2620826" y="1720015"/>
            <a:ext cx="2376487" cy="852488"/>
            <a:chOff x="3294063" y="2101850"/>
            <a:chExt cx="2376487" cy="852488"/>
          </a:xfrm>
        </p:grpSpPr>
        <p:sp>
          <p:nvSpPr>
            <p:cNvPr id="50188" name="Text Box 4"/>
            <p:cNvSpPr txBox="1">
              <a:spLocks noChangeArrowheads="1"/>
            </p:cNvSpPr>
            <p:nvPr/>
          </p:nvSpPr>
          <p:spPr bwMode="auto">
            <a:xfrm>
              <a:off x="3294063" y="2354263"/>
              <a:ext cx="1635125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 dirty="0"/>
                <a:t>LA / (512 x 512)</a:t>
              </a:r>
              <a:endParaRPr kumimoji="0" lang="en-US" altLang="en-US" sz="1600" dirty="0"/>
            </a:p>
          </p:txBody>
        </p:sp>
        <p:sp>
          <p:nvSpPr>
            <p:cNvPr id="50189" name="Text Box 5"/>
            <p:cNvSpPr txBox="1">
              <a:spLocks noChangeArrowheads="1"/>
            </p:cNvSpPr>
            <p:nvPr/>
          </p:nvSpPr>
          <p:spPr bwMode="auto">
            <a:xfrm>
              <a:off x="5249863" y="2101850"/>
              <a:ext cx="420687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0" name="Text Box 6"/>
            <p:cNvSpPr txBox="1">
              <a:spLocks noChangeArrowheads="1"/>
            </p:cNvSpPr>
            <p:nvPr/>
          </p:nvSpPr>
          <p:spPr bwMode="auto">
            <a:xfrm>
              <a:off x="5249863" y="2616200"/>
              <a:ext cx="40798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endParaRPr kumimoji="0" lang="en-US" altLang="en-US" sz="1600"/>
            </a:p>
          </p:txBody>
        </p:sp>
        <p:sp>
          <p:nvSpPr>
            <p:cNvPr id="50191" name="Line 7"/>
            <p:cNvSpPr>
              <a:spLocks noChangeShapeType="1"/>
            </p:cNvSpPr>
            <p:nvPr/>
          </p:nvSpPr>
          <p:spPr bwMode="auto">
            <a:xfrm flipV="1">
              <a:off x="4862513" y="22939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92" name="Line 8"/>
            <p:cNvSpPr>
              <a:spLocks noChangeShapeType="1"/>
            </p:cNvSpPr>
            <p:nvPr/>
          </p:nvSpPr>
          <p:spPr bwMode="auto">
            <a:xfrm>
              <a:off x="4854575" y="2535238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0" name="Rectangle 9"/>
          <p:cNvSpPr>
            <a:spLocks noChangeArrowheads="1"/>
          </p:cNvSpPr>
          <p:nvPr/>
        </p:nvSpPr>
        <p:spPr bwMode="auto">
          <a:xfrm>
            <a:off x="841375" y="3419475"/>
            <a:ext cx="70294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1</a:t>
            </a:r>
            <a:r>
              <a:rPr kumimoji="0" lang="en-US" altLang="en-US"/>
              <a:t> = displacement into outer-index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1</a:t>
            </a:r>
            <a:r>
              <a:rPr kumimoji="0" lang="en-US" altLang="en-US"/>
              <a:t> is used as follows:</a:t>
            </a:r>
            <a:endParaRPr kumimoji="0" lang="en-US" altLang="en-US"/>
          </a:p>
        </p:txBody>
      </p:sp>
      <p:grpSp>
        <p:nvGrpSpPr>
          <p:cNvPr id="50181" name="Group 2"/>
          <p:cNvGrpSpPr/>
          <p:nvPr/>
        </p:nvGrpSpPr>
        <p:grpSpPr bwMode="auto">
          <a:xfrm>
            <a:off x="3662363" y="4116388"/>
            <a:ext cx="1641475" cy="852487"/>
            <a:chOff x="3662363" y="4116388"/>
            <a:chExt cx="1641475" cy="852487"/>
          </a:xfrm>
        </p:grpSpPr>
        <p:sp>
          <p:nvSpPr>
            <p:cNvPr id="50183" name="Text Box 10"/>
            <p:cNvSpPr txBox="1">
              <a:spLocks noChangeArrowheads="1"/>
            </p:cNvSpPr>
            <p:nvPr/>
          </p:nvSpPr>
          <p:spPr bwMode="auto">
            <a:xfrm>
              <a:off x="3662363" y="4383088"/>
              <a:ext cx="92075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1</a:t>
              </a:r>
              <a:r>
                <a:rPr kumimoji="0" lang="en-US" altLang="en-US" sz="1600"/>
                <a:t> / 512</a:t>
              </a:r>
              <a:endParaRPr kumimoji="0" lang="en-US" altLang="en-US" sz="1600"/>
            </a:p>
          </p:txBody>
        </p:sp>
        <p:sp>
          <p:nvSpPr>
            <p:cNvPr id="50184" name="Text Box 11"/>
            <p:cNvSpPr txBox="1">
              <a:spLocks noChangeArrowheads="1"/>
            </p:cNvSpPr>
            <p:nvPr/>
          </p:nvSpPr>
          <p:spPr bwMode="auto">
            <a:xfrm>
              <a:off x="4883150" y="4116388"/>
              <a:ext cx="420688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Q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5" name="Text Box 12"/>
            <p:cNvSpPr txBox="1">
              <a:spLocks noChangeArrowheads="1"/>
            </p:cNvSpPr>
            <p:nvPr/>
          </p:nvSpPr>
          <p:spPr bwMode="auto">
            <a:xfrm>
              <a:off x="4883150" y="4630738"/>
              <a:ext cx="40798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2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600"/>
                <a:t>R</a:t>
              </a:r>
              <a:r>
                <a:rPr kumimoji="0" lang="en-US" altLang="en-US" sz="1600" baseline="-25000"/>
                <a:t>2</a:t>
              </a:r>
              <a:endParaRPr kumimoji="0" lang="en-US" altLang="en-US" sz="1600"/>
            </a:p>
          </p:txBody>
        </p:sp>
        <p:sp>
          <p:nvSpPr>
            <p:cNvPr id="50186" name="Line 13"/>
            <p:cNvSpPr>
              <a:spLocks noChangeShapeType="1"/>
            </p:cNvSpPr>
            <p:nvPr/>
          </p:nvSpPr>
          <p:spPr bwMode="auto">
            <a:xfrm flipV="1">
              <a:off x="4495800" y="43084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50187" name="Line 14"/>
            <p:cNvSpPr>
              <a:spLocks noChangeShapeType="1"/>
            </p:cNvSpPr>
            <p:nvPr/>
          </p:nvSpPr>
          <p:spPr bwMode="auto">
            <a:xfrm>
              <a:off x="4487863" y="4549775"/>
              <a:ext cx="419100" cy="203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50182" name="Rectangle 15"/>
          <p:cNvSpPr>
            <a:spLocks noChangeArrowheads="1"/>
          </p:cNvSpPr>
          <p:nvPr/>
        </p:nvSpPr>
        <p:spPr bwMode="auto">
          <a:xfrm>
            <a:off x="841375" y="5075238"/>
            <a:ext cx="70294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897255" indent="-408305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Q</a:t>
            </a:r>
            <a:r>
              <a:rPr kumimoji="0" lang="en-US" altLang="en-US" baseline="-25000"/>
              <a:t>2</a:t>
            </a:r>
            <a:r>
              <a:rPr kumimoji="0" lang="en-US" altLang="en-US"/>
              <a:t> = displacement into block of index table</a:t>
            </a:r>
            <a:endParaRPr kumimoji="0" lang="en-US" altLang="en-US"/>
          </a:p>
          <a:p>
            <a:pPr lvl="1">
              <a:spcBef>
                <a:spcPct val="0"/>
              </a:spcBef>
              <a:buClr>
                <a:schemeClr val="accent2"/>
              </a:buClr>
              <a:buSzTx/>
              <a:buFontTx/>
              <a:buNone/>
            </a:pPr>
            <a:r>
              <a:rPr kumimoji="0" lang="en-US" altLang="en-US" i="1"/>
              <a:t>R</a:t>
            </a:r>
            <a:r>
              <a:rPr kumimoji="0" lang="en-US" altLang="en-US" baseline="-25000"/>
              <a:t>2</a:t>
            </a:r>
            <a:r>
              <a:rPr kumimoji="0" lang="en-US" altLang="en-US"/>
              <a:t> displacement into block of file:</a:t>
            </a:r>
            <a:endParaRPr kumimoji="0" lang="en-US" altLang="en-US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737122" y="161363"/>
            <a:ext cx="8229600" cy="58312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Indexed Allocation – Two-level Scheme</a:t>
            </a:r>
            <a:endParaRPr lang="en-US" altLang="en-US" sz="2800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16362</Words>
  <Application>WPS 演示</Application>
  <PresentationFormat>On-screen Show (4:3)</PresentationFormat>
  <Paragraphs>739</Paragraphs>
  <Slides>60</Slides>
  <Notes>48</Notes>
  <HiddenSlides>13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81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Wingdings</vt:lpstr>
      <vt:lpstr>微软雅黑</vt:lpstr>
      <vt:lpstr>Arial Unicode MS</vt:lpstr>
      <vt:lpstr>MT Extra</vt:lpstr>
      <vt:lpstr>Symbol</vt:lpstr>
      <vt:lpstr>Helvetica LT Pro</vt:lpstr>
      <vt:lpstr>Toots Regular</vt:lpstr>
      <vt:lpstr>黑体</vt:lpstr>
      <vt:lpstr>Comic Sans MS</vt:lpstr>
      <vt:lpstr>Consolas</vt:lpstr>
      <vt:lpstr>Calibri</vt:lpstr>
      <vt:lpstr>os-8</vt:lpstr>
      <vt:lpstr>PowerPoint 演示文稿</vt:lpstr>
      <vt:lpstr>Outline </vt:lpstr>
      <vt:lpstr>Objectives</vt:lpstr>
      <vt:lpstr>File-System Structure</vt:lpstr>
      <vt:lpstr>Layered File System</vt:lpstr>
      <vt:lpstr>File System Layers</vt:lpstr>
      <vt:lpstr>File System Layers (Cont.)</vt:lpstr>
      <vt:lpstr>File System Layers (Cont.)</vt:lpstr>
      <vt:lpstr>File-System Operations</vt:lpstr>
      <vt:lpstr>File Control Block (FCB)</vt:lpstr>
      <vt:lpstr>In-Memory File System Structures</vt:lpstr>
      <vt:lpstr>     In-Memory File System Structures (Cont.)</vt:lpstr>
      <vt:lpstr>Directory Implementation</vt:lpstr>
      <vt:lpstr>Allocation Method </vt:lpstr>
      <vt:lpstr>Contiguous Allocation Method </vt:lpstr>
      <vt:lpstr>Contiguous Allocation (Cont.)</vt:lpstr>
      <vt:lpstr>Extent-Based Systems</vt:lpstr>
      <vt:lpstr>Linked Allocation</vt:lpstr>
      <vt:lpstr>Linked Allocation Example</vt:lpstr>
      <vt:lpstr>Linked Allocation (Cont.)</vt:lpstr>
      <vt:lpstr>FAT Allocation Method</vt:lpstr>
      <vt:lpstr>File-Allocation Table</vt:lpstr>
      <vt:lpstr>Indexed Allocation Method</vt:lpstr>
      <vt:lpstr>Example of Indexed Allocation</vt:lpstr>
      <vt:lpstr>Indexed Allocation – Small Files</vt:lpstr>
      <vt:lpstr>Indexed Allocation – Large Files</vt:lpstr>
      <vt:lpstr>Indexed Allocation – Linked Scheme</vt:lpstr>
      <vt:lpstr>Indexed Allocation – Two-level Scheme</vt:lpstr>
      <vt:lpstr>Indexed Allocation – Two-Level Scheme</vt:lpstr>
      <vt:lpstr>Combined Scheme : UNIX UFS</vt:lpstr>
      <vt:lpstr>Performance</vt:lpstr>
      <vt:lpstr>Performance (Cont.)</vt:lpstr>
      <vt:lpstr>Free-Space Management</vt:lpstr>
      <vt:lpstr>Free-Space Management</vt:lpstr>
      <vt:lpstr>Linked Free Space List on Disk</vt:lpstr>
      <vt:lpstr>Free-Space Management (Cont.)</vt:lpstr>
      <vt:lpstr>Free-Space Management (Cont.)</vt:lpstr>
      <vt:lpstr>TRIMing Unused Blocks</vt:lpstr>
      <vt:lpstr>Efficiency and Performance</vt:lpstr>
      <vt:lpstr>Efficiency and Performance (Cont.)</vt:lpstr>
      <vt:lpstr>Page Cache</vt:lpstr>
      <vt:lpstr>I/O Without a Unified Buffer Cache</vt:lpstr>
      <vt:lpstr>Unified Buffer Cache</vt:lpstr>
      <vt:lpstr>I/O Using a Unified Buffer Cache</vt:lpstr>
      <vt:lpstr>Recovery</vt:lpstr>
      <vt:lpstr>Log Structured File Systems</vt:lpstr>
      <vt:lpstr>Example: WAFL File System</vt:lpstr>
      <vt:lpstr>The WAFL File Layout</vt:lpstr>
      <vt:lpstr>Snapshots in WAFL</vt:lpstr>
      <vt:lpstr>The Apple File System</vt:lpstr>
      <vt:lpstr>End of Chapter 14</vt:lpstr>
      <vt:lpstr>Linked Allocation</vt:lpstr>
      <vt:lpstr>Linked Allocation</vt:lpstr>
      <vt:lpstr>Indexed Allocation (Cont.)</vt:lpstr>
      <vt:lpstr>Indexed Allocation – Small Files</vt:lpstr>
      <vt:lpstr>End of Chapter 14</vt:lpstr>
      <vt:lpstr>In-Memory File System Structures</vt:lpstr>
      <vt:lpstr>Indexed Allocation – Linked Scheme</vt:lpstr>
      <vt:lpstr>Indexed Allocation – Linked Scheme</vt:lpstr>
      <vt:lpstr>Indexed Allocation – Two-level Scheme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325</cp:revision>
  <cp:lastPrinted>2001-06-14T13:58:00Z</cp:lastPrinted>
  <dcterms:created xsi:type="dcterms:W3CDTF">2011-01-13T23:43:00Z</dcterms:created>
  <dcterms:modified xsi:type="dcterms:W3CDTF">2026-05-31T06:53:08Z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6CA33807BE5C410C9525340105B7703D_13</vt:lpwstr>
  </property>
  <property fmtid="{D5CDD505-2E9C-101B-9397-08002B2CF9AE}" pid="3" name="KSOProductBuildVer">
    <vt:lpwstr>2052-12.1.0.23542</vt:lpwstr>
  </property>
</Properties>
</file>