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82"/>
  </p:notesMasterIdLst>
  <p:handoutMasterIdLst>
    <p:handoutMasterId r:id="rId83"/>
  </p:handoutMasterIdLst>
  <p:sldIdLst>
    <p:sldId id="428"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1" r:id="rId17"/>
    <p:sldId id="345" r:id="rId18"/>
    <p:sldId id="422" r:id="rId19"/>
    <p:sldId id="424" r:id="rId20"/>
    <p:sldId id="423" r:id="rId21"/>
    <p:sldId id="350" r:id="rId22"/>
    <p:sldId id="351" r:id="rId23"/>
    <p:sldId id="352" r:id="rId24"/>
    <p:sldId id="353" r:id="rId25"/>
    <p:sldId id="348" r:id="rId26"/>
    <p:sldId id="425" r:id="rId27"/>
    <p:sldId id="427" r:id="rId28"/>
    <p:sldId id="426" r:id="rId29"/>
    <p:sldId id="354" r:id="rId30"/>
    <p:sldId id="400" r:id="rId31"/>
    <p:sldId id="356" r:id="rId32"/>
    <p:sldId id="404" r:id="rId33"/>
    <p:sldId id="358" r:id="rId34"/>
    <p:sldId id="359" r:id="rId35"/>
    <p:sldId id="360" r:id="rId36"/>
    <p:sldId id="361" r:id="rId37"/>
    <p:sldId id="362" r:id="rId38"/>
    <p:sldId id="405" r:id="rId39"/>
    <p:sldId id="365" r:id="rId40"/>
    <p:sldId id="411" r:id="rId41"/>
    <p:sldId id="412" r:id="rId42"/>
    <p:sldId id="413" r:id="rId43"/>
    <p:sldId id="364" r:id="rId44"/>
    <p:sldId id="414" r:id="rId45"/>
    <p:sldId id="363" r:id="rId46"/>
    <p:sldId id="367" r:id="rId47"/>
    <p:sldId id="407" r:id="rId48"/>
    <p:sldId id="408" r:id="rId49"/>
    <p:sldId id="368" r:id="rId50"/>
    <p:sldId id="369" r:id="rId51"/>
    <p:sldId id="371" r:id="rId52"/>
    <p:sldId id="415" r:id="rId53"/>
    <p:sldId id="416" r:id="rId54"/>
    <p:sldId id="374" r:id="rId55"/>
    <p:sldId id="375" r:id="rId56"/>
    <p:sldId id="376" r:id="rId57"/>
    <p:sldId id="377" r:id="rId58"/>
    <p:sldId id="378" r:id="rId59"/>
    <p:sldId id="379" r:id="rId60"/>
    <p:sldId id="410" r:id="rId61"/>
    <p:sldId id="380" r:id="rId62"/>
    <p:sldId id="381" r:id="rId63"/>
    <p:sldId id="382" r:id="rId64"/>
    <p:sldId id="409" r:id="rId65"/>
    <p:sldId id="383" r:id="rId66"/>
    <p:sldId id="384" r:id="rId67"/>
    <p:sldId id="398" r:id="rId68"/>
    <p:sldId id="385" r:id="rId69"/>
    <p:sldId id="386" r:id="rId70"/>
    <p:sldId id="387" r:id="rId71"/>
    <p:sldId id="388" r:id="rId72"/>
    <p:sldId id="389" r:id="rId73"/>
    <p:sldId id="390" r:id="rId74"/>
    <p:sldId id="391" r:id="rId75"/>
    <p:sldId id="392" r:id="rId76"/>
    <p:sldId id="393" r:id="rId77"/>
    <p:sldId id="394" r:id="rId78"/>
    <p:sldId id="395" r:id="rId79"/>
    <p:sldId id="396" r:id="rId80"/>
    <p:sldId id="417" r:id="rId81"/>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88" userDrawn="1">
          <p15:clr>
            <a:srgbClr val="A4A3A4"/>
          </p15:clr>
        </p15:guide>
        <p15:guide id="2" pos="4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ABA7E4-CA1E-4B15-AA74-975DBB38F77C}" v="2" dt="2026-05-11T08:34:43.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showGuides="1">
      <p:cViewPr varScale="1">
        <p:scale>
          <a:sx n="58" d="100"/>
          <a:sy n="58" d="100"/>
        </p:scale>
        <p:origin x="55" y="754"/>
      </p:cViewPr>
      <p:guideLst>
        <p:guide orient="horz" pos="788"/>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 的" userId="7483e1e6a959e322" providerId="LiveId" clId="{286C159D-603C-4CB1-AE78-F5F98B38873E}"/>
    <pc:docChg chg="modSld">
      <pc:chgData name="by 的" userId="7483e1e6a959e322" providerId="LiveId" clId="{286C159D-603C-4CB1-AE78-F5F98B38873E}" dt="2026-05-11T08:34:43.240" v="1"/>
      <pc:docMkLst>
        <pc:docMk/>
      </pc:docMkLst>
      <pc:sldChg chg="modSp">
        <pc:chgData name="by 的" userId="7483e1e6a959e322" providerId="LiveId" clId="{286C159D-603C-4CB1-AE78-F5F98B38873E}" dt="2026-05-11T08:34:43.240" v="1"/>
        <pc:sldMkLst>
          <pc:docMk/>
          <pc:sldMk cId="0" sldId="337"/>
        </pc:sldMkLst>
        <pc:graphicFrameChg chg="mod">
          <ac:chgData name="by 的" userId="7483e1e6a959e322" providerId="LiveId" clId="{286C159D-603C-4CB1-AE78-F5F98B38873E}" dt="2026-05-11T08:34:43.240" v="1"/>
          <ac:graphicFrameMkLst>
            <pc:docMk/>
            <pc:sldMk cId="0" sldId="337"/>
            <ac:graphicFrameMk id="4"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06738" cy="446088"/>
          </a:xfrm>
          <a:prstGeom prst="rect">
            <a:avLst/>
          </a:prstGeom>
          <a:noFill/>
          <a:ln w="9525">
            <a:noFill/>
            <a:miter lim="800000"/>
          </a:ln>
        </p:spPr>
        <p:txBody>
          <a:bodyPr vert="horz" wrap="none" lIns="89090" tIns="44546" rIns="89090" bIns="44546" numCol="1" anchor="ctr" anchorCtr="0" compatLnSpc="1"/>
          <a:lstStyle>
            <a:lvl1pPr defTabSz="890905">
              <a:defRPr sz="1100">
                <a:latin typeface="Helvetica" charset="0"/>
              </a:defRPr>
            </a:lvl1pPr>
          </a:lstStyle>
          <a:p>
            <a:endParaRPr lang="en-US" altLang="en-US"/>
          </a:p>
        </p:txBody>
      </p:sp>
      <p:sp>
        <p:nvSpPr>
          <p:cNvPr id="46083" name="Rectangle 3"/>
          <p:cNvSpPr>
            <a:spLocks noGrp="1" noChangeArrowheads="1"/>
          </p:cNvSpPr>
          <p:nvPr>
            <p:ph type="dt" sz="quarter" idx="1"/>
          </p:nvPr>
        </p:nvSpPr>
        <p:spPr bwMode="auto">
          <a:xfrm>
            <a:off x="3994150" y="0"/>
            <a:ext cx="3105150" cy="446088"/>
          </a:xfrm>
          <a:prstGeom prst="rect">
            <a:avLst/>
          </a:prstGeom>
          <a:noFill/>
          <a:ln w="9525">
            <a:noFill/>
            <a:miter lim="800000"/>
          </a:ln>
        </p:spPr>
        <p:txBody>
          <a:bodyPr vert="horz" wrap="none" lIns="89090" tIns="44546" rIns="89090" bIns="44546" numCol="1" anchor="ctr" anchorCtr="0" compatLnSpc="1"/>
          <a:lstStyle>
            <a:lvl1pPr algn="r" defTabSz="890905">
              <a:defRPr sz="1100">
                <a:latin typeface="Helvetica" charset="0"/>
              </a:defRPr>
            </a:lvl1pPr>
          </a:lstStyle>
          <a:p>
            <a:endParaRPr lang="en-US" altLang="en-US"/>
          </a:p>
        </p:txBody>
      </p:sp>
      <p:sp>
        <p:nvSpPr>
          <p:cNvPr id="46084" name="Rectangle 4"/>
          <p:cNvSpPr>
            <a:spLocks noGrp="1" noChangeArrowheads="1"/>
          </p:cNvSpPr>
          <p:nvPr>
            <p:ph type="ftr" sz="quarter" idx="2"/>
          </p:nvPr>
        </p:nvSpPr>
        <p:spPr bwMode="auto">
          <a:xfrm>
            <a:off x="0" y="8939213"/>
            <a:ext cx="3106738" cy="446087"/>
          </a:xfrm>
          <a:prstGeom prst="rect">
            <a:avLst/>
          </a:prstGeom>
          <a:noFill/>
          <a:ln w="9525">
            <a:noFill/>
            <a:miter lim="800000"/>
          </a:ln>
        </p:spPr>
        <p:txBody>
          <a:bodyPr vert="horz" wrap="none" lIns="89090" tIns="44546" rIns="89090" bIns="44546" numCol="1" anchor="b" anchorCtr="0" compatLnSpc="1"/>
          <a:lstStyle>
            <a:lvl1pPr defTabSz="890905">
              <a:defRPr sz="1100">
                <a:latin typeface="Helvetica" charset="0"/>
              </a:defRPr>
            </a:lvl1pPr>
          </a:lstStyle>
          <a:p>
            <a:endParaRPr lang="en-US" altLang="en-US"/>
          </a:p>
        </p:txBody>
      </p:sp>
      <p:sp>
        <p:nvSpPr>
          <p:cNvPr id="46085" name="Rectangle 5"/>
          <p:cNvSpPr>
            <a:spLocks noGrp="1" noChangeArrowheads="1"/>
          </p:cNvSpPr>
          <p:nvPr>
            <p:ph type="sldNum" sz="quarter" idx="3"/>
          </p:nvPr>
        </p:nvSpPr>
        <p:spPr bwMode="auto">
          <a:xfrm>
            <a:off x="3994150" y="8939213"/>
            <a:ext cx="3105150" cy="446087"/>
          </a:xfrm>
          <a:prstGeom prst="rect">
            <a:avLst/>
          </a:prstGeom>
          <a:noFill/>
          <a:ln w="9525">
            <a:noFill/>
            <a:miter lim="800000"/>
          </a:ln>
        </p:spPr>
        <p:txBody>
          <a:bodyPr vert="horz" wrap="none" lIns="89090" tIns="44546" rIns="89090" bIns="44546" numCol="1" anchor="b" anchorCtr="0" compatLnSpc="1"/>
          <a:lstStyle>
            <a:lvl1pPr algn="r" defTabSz="890905">
              <a:defRPr sz="1100">
                <a:latin typeface="Helvetica" charset="0"/>
                <a:ea typeface="MS PGothic" panose="020B0600070205080204" pitchFamily="34" charset="-128"/>
              </a:defRPr>
            </a:lvl1pPr>
          </a:lstStyle>
          <a:p>
            <a:pPr>
              <a:defRPr/>
            </a:pPr>
            <a:fld id="{E0F0762C-192C-43F0-9235-1ED3B30BABF7}" type="slidenum">
              <a:rPr lang="en-US" altLang="x-none"/>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0225" cy="466725"/>
          </a:xfrm>
          <a:prstGeom prst="rect">
            <a:avLst/>
          </a:prstGeom>
          <a:noFill/>
          <a:ln w="9525">
            <a:noFill/>
            <a:miter lim="800000"/>
          </a:ln>
        </p:spPr>
        <p:txBody>
          <a:bodyPr vert="horz" wrap="none" lIns="94035" tIns="47017" rIns="94035" bIns="47017" numCol="1" anchor="ctr" anchorCtr="0" compatLnSpc="1"/>
          <a:lstStyle>
            <a:lvl1pPr defTabSz="939800">
              <a:defRPr sz="120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4016375" y="0"/>
            <a:ext cx="3070225" cy="466725"/>
          </a:xfrm>
          <a:prstGeom prst="rect">
            <a:avLst/>
          </a:prstGeom>
          <a:noFill/>
          <a:ln w="9525">
            <a:noFill/>
            <a:miter lim="800000"/>
          </a:ln>
        </p:spPr>
        <p:txBody>
          <a:bodyPr vert="horz" wrap="none" lIns="94035" tIns="47017" rIns="94035" bIns="47017" numCol="1" anchor="ctr" anchorCtr="0" compatLnSpc="1"/>
          <a:lstStyle>
            <a:lvl1pPr algn="r" defTabSz="939800">
              <a:defRPr sz="1200">
                <a:latin typeface="Times New Roman" panose="02020603050405020304" pitchFamily="18" charset="0"/>
              </a:defRPr>
            </a:lvl1pPr>
          </a:lstStyle>
          <a:p>
            <a:endParaRPr lang="en-US" altLang="en-US"/>
          </a:p>
        </p:txBody>
      </p:sp>
      <p:sp>
        <p:nvSpPr>
          <p:cNvPr id="3076" name="Rectangle 4"/>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44563" y="4452938"/>
            <a:ext cx="5197475" cy="4214812"/>
          </a:xfrm>
          <a:prstGeom prst="rect">
            <a:avLst/>
          </a:prstGeom>
          <a:noFill/>
          <a:ln w="9525">
            <a:noFill/>
            <a:miter lim="800000"/>
          </a:ln>
        </p:spPr>
        <p:txBody>
          <a:bodyPr vert="horz" wrap="none" lIns="94035" tIns="47017" rIns="94035" bIns="47017" numCol="1" anchor="ctr"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905875"/>
            <a:ext cx="3070225" cy="466725"/>
          </a:xfrm>
          <a:prstGeom prst="rect">
            <a:avLst/>
          </a:prstGeom>
          <a:noFill/>
          <a:ln w="9525">
            <a:noFill/>
            <a:miter lim="800000"/>
          </a:ln>
        </p:spPr>
        <p:txBody>
          <a:bodyPr vert="horz" wrap="none" lIns="94035" tIns="47017" rIns="94035" bIns="47017" numCol="1" anchor="b" anchorCtr="0" compatLnSpc="1"/>
          <a:lstStyle>
            <a:lvl1pPr defTabSz="939800">
              <a:defRPr sz="120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4016375" y="8905875"/>
            <a:ext cx="3070225" cy="466725"/>
          </a:xfrm>
          <a:prstGeom prst="rect">
            <a:avLst/>
          </a:prstGeom>
          <a:noFill/>
          <a:ln w="9525">
            <a:noFill/>
            <a:miter lim="800000"/>
          </a:ln>
        </p:spPr>
        <p:txBody>
          <a:bodyPr vert="horz" wrap="none" lIns="94035" tIns="47017" rIns="94035" bIns="47017" numCol="1" anchor="b" anchorCtr="0" compatLnSpc="1"/>
          <a:lstStyle>
            <a:lvl1pPr algn="r" defTabSz="939800">
              <a:defRPr sz="1200">
                <a:latin typeface="Times New Roman" panose="02020603050405020304" pitchFamily="18" charset="0"/>
                <a:ea typeface="MS PGothic" panose="020B0600070205080204" pitchFamily="34" charset="-128"/>
              </a:defRPr>
            </a:lvl1pPr>
          </a:lstStyle>
          <a:p>
            <a:pPr>
              <a:defRPr/>
            </a:pPr>
            <a:fld id="{C9F949B7-291A-4420-9D9C-B1ABA67FB313}" type="slidenum">
              <a:rPr lang="en-US" altLang="x-none"/>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xfrm>
            <a:off x="974725" y="4560888"/>
            <a:ext cx="5365750" cy="4319587"/>
          </a:xfrm>
        </p:spPr>
        <p:txBody>
          <a:bodyPr wrap="square" lIns="96661" tIns="48331" rIns="96661" bIns="48331" anchor="t" anchorCtr="0"/>
          <a:lstStyle/>
          <a:p>
            <a:pPr lvl="0"/>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lstStyle/>
          <a:p>
            <a:pPr lvl="0" algn="r" defTabSz="967105" eaLnBrk="1" hangingPunct="1"/>
            <a:fld id="{9A0DB2DC-4C9A-4742-B13C-FB6460FD3503}" type="slidenum">
              <a:rPr lang="en-US" altLang="zh-CN" sz="1300" b="0" dirty="0">
                <a:solidFill>
                  <a:schemeClr val="bg1"/>
                </a:solidFill>
              </a:rPr>
              <a:t>1</a:t>
            </a:fld>
            <a:endParaRPr lang="en-US" altLang="zh-CN" sz="1300" b="0" dirty="0">
              <a:solidFill>
                <a:schemeClr val="bg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t>2</a:t>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ChangeArrowheads="1" noTextEdit="1"/>
          </p:cNvSpPr>
          <p:nvPr>
            <p:ph type="sldImg"/>
          </p:nvPr>
        </p:nvSpPr>
        <p:spPr/>
      </p:sp>
      <p:sp>
        <p:nvSpPr>
          <p:cNvPr id="1024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t>4</a:t>
            </a:fld>
            <a:endParaRPr lang="en-US" altLang="en-US">
              <a:latin typeface="Times New Roman" panose="02020603050405020304" pitchFamily="18" charset="0"/>
            </a:endParaRPr>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t>5</a:t>
            </a:fld>
            <a:endParaRPr lang="en-US" altLang="en-US">
              <a:latin typeface="Times New Roman" panose="02020603050405020304" pitchFamily="18" charset="0"/>
            </a:endParaRPr>
          </a:p>
        </p:txBody>
      </p:sp>
      <p:sp>
        <p:nvSpPr>
          <p:cNvPr id="14338" name="Rectangle 2"/>
          <p:cNvSpPr>
            <a:spLocks noGrp="1" noRot="1" noChangeAspect="1" noChangeArrowheads="1" noTextEdit="1"/>
          </p:cNvSpPr>
          <p:nvPr>
            <p:ph type="sldImg"/>
          </p:nvPr>
        </p:nvSpPr>
        <p:spPr/>
      </p:sp>
      <p:sp>
        <p:nvSpPr>
          <p:cNvPr id="143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t>6</a:t>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t>7</a:t>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t>8</a:t>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t>9</a:t>
            </a:fld>
            <a:endParaRPr lang="en-US" altLang="en-US">
              <a:latin typeface="Times New Roman" panose="02020603050405020304" pitchFamily="18" charset="0"/>
            </a:endParaRPr>
          </a:p>
        </p:txBody>
      </p:sp>
      <p:sp>
        <p:nvSpPr>
          <p:cNvPr id="18434" name="Rectangle 2"/>
          <p:cNvSpPr>
            <a:spLocks noGrp="1" noRot="1" noChangeAspect="1" noChangeArrowheads="1" noTextEdit="1"/>
          </p:cNvSpPr>
          <p:nvPr>
            <p:ph type="sldImg"/>
          </p:nvPr>
        </p:nvSpPr>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t>10</a:t>
            </a:fld>
            <a:endParaRPr lang="en-US" altLang="en-US">
              <a:latin typeface="Times New Roman" panose="02020603050405020304" pitchFamily="18" charset="0"/>
            </a:endParaRPr>
          </a:p>
        </p:txBody>
      </p:sp>
      <p:sp>
        <p:nvSpPr>
          <p:cNvPr id="20482" name="Rectangle 2"/>
          <p:cNvSpPr>
            <a:spLocks noGrp="1" noRot="1" noChangeAspect="1" noChangeArrowheads="1" noTextEdit="1"/>
          </p:cNvSpPr>
          <p:nvPr>
            <p:ph type="sldImg"/>
          </p:nvPr>
        </p:nvSpPr>
        <p:spPr/>
      </p:sp>
      <p:sp>
        <p:nvSpPr>
          <p:cNvPr id="204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t>11</a:t>
            </a:fld>
            <a:endParaRPr lang="en-US" altLang="en-US">
              <a:latin typeface="Times New Roman" panose="02020603050405020304" pitchFamily="18" charset="0"/>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t>12</a:t>
            </a:fld>
            <a:endParaRPr lang="en-US" altLang="en-US">
              <a:latin typeface="Times New Roman" panose="02020603050405020304" pitchFamily="18" charset="0"/>
            </a:endParaRPr>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t>13</a:t>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t>14</a:t>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t>15</a:t>
            </a:fld>
            <a:endParaRPr lang="en-US" altLang="en-US">
              <a:latin typeface="Times New Roman" panose="02020603050405020304" pitchFamily="18" charset="0"/>
            </a:endParaRPr>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t>16</a:t>
            </a:fld>
            <a:endParaRPr lang="en-US" altLang="en-US">
              <a:latin typeface="Times New Roman" panose="02020603050405020304" pitchFamily="18" charset="0"/>
            </a:endParaRPr>
          </a:p>
        </p:txBody>
      </p:sp>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t>17</a:t>
            </a:fld>
            <a:endParaRPr lang="en-US" altLang="en-US">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t>18</a:t>
            </a:fld>
            <a:endParaRPr lang="en-US" altLang="en-US">
              <a:latin typeface="Times New Roman" panose="02020603050405020304" pitchFamily="18" charset="0"/>
            </a:endParaRPr>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t>19</a:t>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t>20</a:t>
            </a:fld>
            <a:endParaRPr lang="en-US" altLang="en-US">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t>21</a:t>
            </a:fld>
            <a:endParaRPr lang="en-US" altLang="en-US">
              <a:latin typeface="Times New Roman" panose="02020603050405020304" pitchFamily="18" charset="0"/>
            </a:endParaRPr>
          </a:p>
        </p:txBody>
      </p:sp>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t>22</a:t>
            </a:fld>
            <a:endParaRPr lang="en-US" altLang="en-US">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t>23</a:t>
            </a:fld>
            <a:endParaRPr lang="en-US" altLang="en-US">
              <a:latin typeface="Times New Roman" panose="02020603050405020304" pitchFamily="18" charset="0"/>
            </a:endParaRPr>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t>24</a:t>
            </a:fld>
            <a:endParaRPr lang="en-US" altLang="en-US">
              <a:latin typeface="Times New Roman" panose="02020603050405020304" pitchFamily="18" charset="0"/>
            </a:endParaRPr>
          </a:p>
        </p:txBody>
      </p:sp>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t>25</a:t>
            </a:fld>
            <a:endParaRPr lang="en-US" altLang="en-US">
              <a:latin typeface="Times New Roman" panose="02020603050405020304" pitchFamily="18" charset="0"/>
            </a:endParaRPr>
          </a:p>
        </p:txBody>
      </p:sp>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t>26</a:t>
            </a:fld>
            <a:endParaRPr lang="en-US" altLang="en-US">
              <a:latin typeface="Times New Roman" panose="02020603050405020304" pitchFamily="18" charset="0"/>
            </a:endParaRPr>
          </a:p>
        </p:txBody>
      </p:sp>
      <p:sp>
        <p:nvSpPr>
          <p:cNvPr id="51202" name="Rectangle 2"/>
          <p:cNvSpPr>
            <a:spLocks noGrp="1" noRot="1" noChangeAspect="1" noChangeArrowheads="1" noTextEdit="1"/>
          </p:cNvSpPr>
          <p:nvPr>
            <p:ph type="sldImg"/>
          </p:nvPr>
        </p:nvSpPr>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t>27</a:t>
            </a:fld>
            <a:endParaRPr lang="en-US" altLang="en-US">
              <a:latin typeface="Times New Roman" panose="02020603050405020304" pitchFamily="18" charset="0"/>
            </a:endParaRPr>
          </a:p>
        </p:txBody>
      </p:sp>
      <p:sp>
        <p:nvSpPr>
          <p:cNvPr id="53250" name="Rectangle 2"/>
          <p:cNvSpPr>
            <a:spLocks noGrp="1" noRot="1" noChangeAspect="1" noChangeArrowheads="1" noTextEdit="1"/>
          </p:cNvSpPr>
          <p:nvPr>
            <p:ph type="sldImg"/>
          </p:nvPr>
        </p:nvSpPr>
        <p:spPr/>
      </p:sp>
      <p:sp>
        <p:nvSpPr>
          <p:cNvPr id="532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t>28</a:t>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t>29</a:t>
            </a:fld>
            <a:endParaRPr lang="en-US" altLang="en-US">
              <a:latin typeface="Times New Roman" panose="02020603050405020304" pitchFamily="18" charset="0"/>
            </a:endParaRPr>
          </a:p>
        </p:txBody>
      </p:sp>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t>31</a:t>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t>32</a:t>
            </a:fld>
            <a:endParaRPr lang="en-US" altLang="en-US">
              <a:latin typeface="Times New Roman" panose="02020603050405020304" pitchFamily="18" charset="0"/>
            </a:endParaRPr>
          </a:p>
        </p:txBody>
      </p:sp>
      <p:sp>
        <p:nvSpPr>
          <p:cNvPr id="60418" name="Rectangle 2"/>
          <p:cNvSpPr>
            <a:spLocks noGrp="1" noRot="1" noChangeAspect="1" noChangeArrowheads="1" noTextEdit="1"/>
          </p:cNvSpPr>
          <p:nvPr>
            <p:ph type="sldImg"/>
          </p:nvPr>
        </p:nvSpPr>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t>33</a:t>
            </a:fld>
            <a:endParaRPr lang="en-US" altLang="en-US">
              <a:latin typeface="Times New Roman" panose="02020603050405020304" pitchFamily="18" charset="0"/>
            </a:endParaRPr>
          </a:p>
        </p:txBody>
      </p:sp>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t>34</a:t>
            </a:fld>
            <a:endParaRPr lang="en-US" altLang="en-US">
              <a:latin typeface="Times New Roman" panose="02020603050405020304" pitchFamily="18" charset="0"/>
            </a:endParaRPr>
          </a:p>
        </p:txBody>
      </p:sp>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t>35</a:t>
            </a:fld>
            <a:endParaRPr lang="en-US" altLang="en-US">
              <a:latin typeface="Times New Roman" panose="02020603050405020304" pitchFamily="18" charset="0"/>
            </a:endParaRPr>
          </a:p>
        </p:txBody>
      </p:sp>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t>36</a:t>
            </a:fld>
            <a:endParaRPr lang="en-US" altLang="en-US">
              <a:latin typeface="Times New Roman" panose="02020603050405020304" pitchFamily="18" charset="0"/>
            </a:endParaRPr>
          </a:p>
        </p:txBody>
      </p:sp>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t>37</a:t>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p:sp>
      <p:sp>
        <p:nvSpPr>
          <p:cNvPr id="7373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t>40</a:t>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t>43</a:t>
            </a:fld>
            <a:endParaRPr lang="en-US" altLang="en-US">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t>44</a:t>
            </a:fld>
            <a:endParaRPr lang="en-US" altLang="en-US">
              <a:latin typeface="Times New Roman" panose="02020603050405020304" pitchFamily="18" charset="0"/>
            </a:endParaRPr>
          </a:p>
        </p:txBody>
      </p:sp>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p:sp>
      <p:sp>
        <p:nvSpPr>
          <p:cNvPr id="8397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p:sp>
      <p:sp>
        <p:nvSpPr>
          <p:cNvPr id="8601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Rot="1" noChangeAspect="1" noChangeArrowheads="1" noTextEdit="1"/>
          </p:cNvSpPr>
          <p:nvPr>
            <p:ph type="sldImg"/>
          </p:nvPr>
        </p:nvSpPr>
        <p:spPr/>
      </p:sp>
      <p:sp>
        <p:nvSpPr>
          <p:cNvPr id="8806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Rot="1" noChangeAspect="1" noChangeArrowheads="1" noTextEdit="1"/>
          </p:cNvSpPr>
          <p:nvPr>
            <p:ph type="sldImg"/>
          </p:nvPr>
        </p:nvSpPr>
        <p:spPr/>
      </p:sp>
      <p:sp>
        <p:nvSpPr>
          <p:cNvPr id="9113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Rot="1" noChangeAspect="1" noChangeArrowheads="1" noTextEdit="1"/>
          </p:cNvSpPr>
          <p:nvPr>
            <p:ph type="sldImg"/>
          </p:nvPr>
        </p:nvSpPr>
        <p:spPr/>
      </p:sp>
      <p:sp>
        <p:nvSpPr>
          <p:cNvPr id="9318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t>51</a:t>
            </a:fld>
            <a:endParaRPr lang="en-US" altLang="en-US">
              <a:latin typeface="Times New Roman" panose="02020603050405020304" pitchFamily="18" charset="0"/>
            </a:endParaRPr>
          </a:p>
        </p:txBody>
      </p:sp>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t>52</a:t>
            </a:fld>
            <a:endParaRPr lang="en-US" altLang="en-US">
              <a:latin typeface="Times New Roman" panose="02020603050405020304" pitchFamily="18" charset="0"/>
            </a:endParaRPr>
          </a:p>
        </p:txBody>
      </p:sp>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t>53</a:t>
            </a:fld>
            <a:endParaRPr lang="en-US" altLang="en-US">
              <a:latin typeface="Times New Roman" panose="02020603050405020304" pitchFamily="18" charset="0"/>
            </a:endParaRPr>
          </a:p>
        </p:txBody>
      </p:sp>
      <p:sp>
        <p:nvSpPr>
          <p:cNvPr id="99330" name="Rectangle 2"/>
          <p:cNvSpPr>
            <a:spLocks noGrp="1" noRot="1" noChangeAspect="1" noChangeArrowheads="1" noTextEdit="1"/>
          </p:cNvSpPr>
          <p:nvPr>
            <p:ph type="sldImg"/>
          </p:nvPr>
        </p:nvSpPr>
        <p:spPr/>
      </p:sp>
      <p:sp>
        <p:nvSpPr>
          <p:cNvPr id="993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t>54</a:t>
            </a:fld>
            <a:endParaRPr lang="en-US" altLang="en-US">
              <a:latin typeface="Times New Roman" panose="02020603050405020304" pitchFamily="18" charset="0"/>
            </a:endParaRPr>
          </a:p>
        </p:txBody>
      </p:sp>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t>55</a:t>
            </a:fld>
            <a:endParaRPr lang="en-US" altLang="en-US">
              <a:latin typeface="Times New Roman" panose="02020603050405020304" pitchFamily="18" charset="0"/>
            </a:endParaRPr>
          </a:p>
        </p:txBody>
      </p:sp>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t>56</a:t>
            </a:fld>
            <a:endParaRPr lang="en-US" altLang="en-US">
              <a:latin typeface="Times New Roman" panose="02020603050405020304" pitchFamily="18" charset="0"/>
            </a:endParaRPr>
          </a:p>
        </p:txBody>
      </p:sp>
      <p:sp>
        <p:nvSpPr>
          <p:cNvPr id="105474" name="Rectangle 2"/>
          <p:cNvSpPr>
            <a:spLocks noGrp="1" noRot="1" noChangeAspect="1" noChangeArrowheads="1" noTextEdit="1"/>
          </p:cNvSpPr>
          <p:nvPr>
            <p:ph type="sldImg"/>
          </p:nvPr>
        </p:nvSpPr>
        <p:spPr/>
      </p:sp>
      <p:sp>
        <p:nvSpPr>
          <p:cNvPr id="1054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t>57</a:t>
            </a:fld>
            <a:endParaRPr lang="en-US" altLang="en-US">
              <a:latin typeface="Times New Roman" panose="02020603050405020304" pitchFamily="18" charset="0"/>
            </a:endParaRPr>
          </a:p>
        </p:txBody>
      </p:sp>
      <p:sp>
        <p:nvSpPr>
          <p:cNvPr id="107522" name="Rectangle 2"/>
          <p:cNvSpPr>
            <a:spLocks noGrp="1" noRot="1" noChangeAspect="1" noChangeArrowheads="1" noTextEdit="1"/>
          </p:cNvSpPr>
          <p:nvPr>
            <p:ph type="sldImg"/>
          </p:nvPr>
        </p:nvSpPr>
        <p:spPr/>
      </p:sp>
      <p:sp>
        <p:nvSpPr>
          <p:cNvPr id="1075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t>58</a:t>
            </a:fld>
            <a:endParaRPr lang="en-US" altLang="en-US">
              <a:latin typeface="Times New Roman" panose="02020603050405020304" pitchFamily="18" charset="0"/>
            </a:endParaRPr>
          </a:p>
        </p:txBody>
      </p:sp>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t>59</a:t>
            </a:fld>
            <a:endParaRPr lang="en-US" altLang="en-US">
              <a:latin typeface="Times New Roman" panose="02020603050405020304" pitchFamily="18" charset="0"/>
            </a:endParaRPr>
          </a:p>
        </p:txBody>
      </p:sp>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t>60</a:t>
            </a:fld>
            <a:endParaRPr lang="en-US" altLang="en-US">
              <a:latin typeface="Times New Roman" panose="02020603050405020304" pitchFamily="18" charset="0"/>
            </a:endParaRPr>
          </a:p>
        </p:txBody>
      </p:sp>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t>61</a:t>
            </a:fld>
            <a:endParaRPr lang="en-US" altLang="en-US">
              <a:latin typeface="Times New Roman" panose="02020603050405020304" pitchFamily="18" charset="0"/>
            </a:endParaRPr>
          </a:p>
        </p:txBody>
      </p:sp>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t>62</a:t>
            </a:fld>
            <a:endParaRPr lang="en-US" altLang="en-US">
              <a:latin typeface="Times New Roman" panose="02020603050405020304" pitchFamily="18" charset="0"/>
            </a:endParaRPr>
          </a:p>
        </p:txBody>
      </p:sp>
      <p:sp>
        <p:nvSpPr>
          <p:cNvPr id="115714" name="Rectangle 2"/>
          <p:cNvSpPr>
            <a:spLocks noGrp="1" noRot="1" noChangeAspect="1" noChangeArrowheads="1" noTextEdit="1"/>
          </p:cNvSpPr>
          <p:nvPr>
            <p:ph type="sldImg"/>
          </p:nvPr>
        </p:nvSpPr>
        <p:spPr/>
      </p:sp>
      <p:sp>
        <p:nvSpPr>
          <p:cNvPr id="1157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t>68</a:t>
            </a:fld>
            <a:endParaRPr lang="en-US" altLang="en-US">
              <a:latin typeface="Times New Roman" panose="02020603050405020304" pitchFamily="18" charset="0"/>
            </a:endParaRPr>
          </a:p>
        </p:txBody>
      </p:sp>
      <p:sp>
        <p:nvSpPr>
          <p:cNvPr id="122882" name="Rectangle 2"/>
          <p:cNvSpPr>
            <a:spLocks noGrp="1" noRot="1" noChangeAspect="1" noChangeArrowheads="1" noTextEdit="1"/>
          </p:cNvSpPr>
          <p:nvPr>
            <p:ph type="sldImg"/>
          </p:nvPr>
        </p:nvSpPr>
        <p:spPr/>
      </p:sp>
      <p:sp>
        <p:nvSpPr>
          <p:cNvPr id="1228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t>70</a:t>
            </a:fld>
            <a:endParaRPr lang="en-US" altLang="en-US">
              <a:latin typeface="Times New Roman" panose="02020603050405020304" pitchFamily="18" charset="0"/>
            </a:endParaRPr>
          </a:p>
        </p:txBody>
      </p:sp>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Rot="1" noChangeAspect="1" noChangeArrowheads="1" noTextEdit="1"/>
          </p:cNvSpPr>
          <p:nvPr>
            <p:ph type="sldImg"/>
          </p:nvPr>
        </p:nvSpPr>
        <p:spPr/>
      </p:sp>
      <p:sp>
        <p:nvSpPr>
          <p:cNvPr id="12800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t>73</a:t>
            </a:fld>
            <a:endParaRPr lang="en-US" altLang="en-US">
              <a:latin typeface="Times New Roman" panose="02020603050405020304" pitchFamily="18" charset="0"/>
            </a:endParaRPr>
          </a:p>
        </p:txBody>
      </p:sp>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t>74</a:t>
            </a:fld>
            <a:endParaRPr lang="en-US" altLang="en-US">
              <a:latin typeface="Times New Roman" panose="02020603050405020304" pitchFamily="18" charset="0"/>
            </a:endParaRPr>
          </a:p>
        </p:txBody>
      </p:sp>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t>78</a:t>
            </a:fld>
            <a:endParaRPr lang="en-US" altLang="en-US">
              <a:latin typeface="Times New Roman" panose="02020603050405020304" pitchFamily="18" charset="0"/>
            </a:endParaRPr>
          </a:p>
        </p:txBody>
      </p:sp>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t>80</a:t>
            </a:fld>
            <a:endParaRPr lang="en-US" altLang="en-US">
              <a:latin typeface="Times New Roman" panose="02020603050405020304" pitchFamily="18" charset="0"/>
            </a:endParaRPr>
          </a:p>
        </p:txBody>
      </p:sp>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336699"/>
                </a:solidFill>
                <a:latin typeface="Helvetica" charset="0"/>
              </a:rPr>
              <a:t>Silberschatz, Galvin and Gagne ©2018</a:t>
            </a:r>
          </a:p>
        </p:txBody>
      </p:sp>
      <p:sp>
        <p:nvSpPr>
          <p:cNvPr id="8" name="Text Box 8"/>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336699"/>
                </a:solidFill>
                <a:latin typeface="Helvetica" charset="0"/>
              </a:rPr>
              <a:t>Operating System Concepts – 10</a:t>
            </a:r>
            <a:r>
              <a:rPr lang="en-US" altLang="en-US" sz="1000" b="1" baseline="30000" dirty="0">
                <a:solidFill>
                  <a:srgbClr val="336699"/>
                </a:solidFill>
                <a:latin typeface="Helvetica" charset="0"/>
              </a:rPr>
              <a:t>th</a:t>
            </a:r>
            <a:r>
              <a:rPr lang="en-US" altLang="en-US" sz="1000" b="1" dirty="0">
                <a:solidFill>
                  <a:srgbClr val="336699"/>
                </a:solidFill>
                <a:latin typeface="Helvetica" charset="0"/>
              </a:rPr>
              <a:t> Edition</a:t>
            </a: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8" name="Rectangle 4"/>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3" name="Text Box 9"/>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t>‹#›</a:t>
            </a:fld>
            <a:endParaRPr lang="en-US" altLang="en-US" sz="1000" b="1" dirty="0">
              <a:solidFill>
                <a:srgbClr val="006699"/>
              </a:solidFill>
              <a:latin typeface="Helvetica"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charset="0"/>
              </a:rPr>
              <a:t>Silberschatz, Galvin and Gagne ©2018</a:t>
            </a:r>
          </a:p>
        </p:txBody>
      </p:sp>
      <p:sp>
        <p:nvSpPr>
          <p:cNvPr id="1035" name="Text Box 11"/>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006699"/>
                </a:solidFill>
                <a:latin typeface="Helvetica" charset="0"/>
              </a:rPr>
              <a:t>Operating System Concepts – 10</a:t>
            </a:r>
            <a:r>
              <a:rPr lang="en-US" altLang="en-US" sz="1000" b="1" baseline="30000" dirty="0">
                <a:solidFill>
                  <a:srgbClr val="006699"/>
                </a:solidFill>
                <a:latin typeface="Helvetica" charset="0"/>
              </a:rPr>
              <a:t>th</a:t>
            </a:r>
            <a:r>
              <a:rPr lang="en-US" altLang="en-US" sz="1000" b="1" dirty="0">
                <a:solidFill>
                  <a:srgbClr val="006699"/>
                </a:solidFill>
                <a:latin typeface="Helvetica" charset="0"/>
              </a:rPr>
              <a:t> Edition</a:t>
            </a:r>
          </a:p>
        </p:txBody>
      </p:sp>
      <p:pic>
        <p:nvPicPr>
          <p:cNvPr id="1036" name="Picture 12" descr="dino_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矩形 1"/>
          <p:cNvSpPr/>
          <p:nvPr/>
        </p:nvSpPr>
        <p:spPr>
          <a:xfrm>
            <a:off x="378460" y="2508250"/>
            <a:ext cx="8587105" cy="3476625"/>
          </a:xfrm>
          <a:prstGeom prst="rect">
            <a:avLst/>
          </a:prstGeom>
          <a:noFill/>
          <a:ln w="9525">
            <a:noFill/>
          </a:ln>
        </p:spPr>
        <p:txBody>
          <a:bodyPr wrap="square">
            <a:spAutoFit/>
          </a:bodyPr>
          <a:lstStyle/>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Dr. </a:t>
            </a:r>
            <a:r>
              <a:rPr lang="zh-CN" altLang="en-US" sz="2000" b="0" dirty="0">
                <a:solidFill>
                  <a:srgbClr val="002060"/>
                </a:solidFill>
                <a:latin typeface="Verdana" panose="020B0604030504040204" pitchFamily="34" charset="0"/>
                <a:ea typeface="黑体" panose="02010609060101010101" pitchFamily="49" charset="-122"/>
              </a:rPr>
              <a:t>何明昕  </a:t>
            </a:r>
            <a:r>
              <a:rPr lang="en-US" altLang="zh-CN" sz="2000" b="0" dirty="0">
                <a:solidFill>
                  <a:srgbClr val="002060"/>
                </a:solidFill>
                <a:latin typeface="Comic Sans MS" panose="030F0702030302020204" pitchFamily="66" charset="0"/>
                <a:ea typeface="黑体" panose="02010609060101010101" pitchFamily="49" charset="-122"/>
              </a:rPr>
              <a:t>HE Mingxin, MX, Max</a:t>
            </a: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Send your email to </a:t>
            </a:r>
            <a:r>
              <a:rPr lang="en-US" altLang="zh-CN" sz="2000" b="0" dirty="0">
                <a:solidFill>
                  <a:srgbClr val="00B050"/>
                </a:solidFill>
                <a:latin typeface="Verdana" panose="020B0604030504040204" pitchFamily="34" charset="0"/>
                <a:ea typeface="黑体" panose="02010609060101010101" pitchFamily="49" charset="-122"/>
              </a:rPr>
              <a:t>c.max@yeah.net</a:t>
            </a:r>
            <a:r>
              <a:rPr lang="en-US" altLang="zh-CN" sz="2000" b="0" dirty="0">
                <a:solidFill>
                  <a:srgbClr val="002060"/>
                </a:solidFill>
                <a:latin typeface="Verdana" panose="020B0604030504040204" pitchFamily="34" charset="0"/>
                <a:ea typeface="黑体" panose="02010609060101010101" pitchFamily="49" charset="-122"/>
              </a:rPr>
              <a:t>  with</a:t>
            </a: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a subject like:  </a:t>
            </a:r>
            <a:r>
              <a:rPr lang="en-US" altLang="zh-CN" sz="2000" b="0" dirty="0">
                <a:solidFill>
                  <a:srgbClr val="00B0F0"/>
                </a:solidFill>
                <a:latin typeface="Comic Sans MS" panose="030F0702030302020204" pitchFamily="66" charset="0"/>
                <a:ea typeface="黑体" panose="02010609060101010101" pitchFamily="49" charset="-122"/>
              </a:rPr>
              <a:t>OS-id</a:t>
            </a:r>
            <a:r>
              <a:rPr lang="en-US" altLang="zh-CN" sz="2000" b="0" i="1" dirty="0">
                <a:solidFill>
                  <a:srgbClr val="00B0F0"/>
                </a:solidFill>
                <a:latin typeface="Comic Sans MS" panose="030F0702030302020204" pitchFamily="66" charset="0"/>
                <a:ea typeface="黑体" panose="02010609060101010101" pitchFamily="49" charset="-122"/>
              </a:rPr>
              <a:t>-Andy: On What </a:t>
            </a:r>
            <a:r>
              <a:rPr lang="en-US" altLang="zh-CN" sz="2000" b="0" i="1" dirty="0">
                <a:solidFill>
                  <a:srgbClr val="00B0F0"/>
                </a:solidFill>
                <a:latin typeface="Verdana" panose="020B0604030504040204" pitchFamily="34" charset="0"/>
                <a:ea typeface="黑体" panose="02010609060101010101" pitchFamily="49" charset="-122"/>
              </a:rPr>
              <a:t>…</a:t>
            </a:r>
            <a:endParaRPr lang="en-US" altLang="zh-CN" sz="2000" b="0" i="1" dirty="0">
              <a:solidFill>
                <a:srgbClr val="002060"/>
              </a:solidFill>
              <a:latin typeface="Verdana" panose="020B0604030504040204" pitchFamily="34" charset="0"/>
              <a:ea typeface="黑体" panose="02010609060101010101" pitchFamily="49" charset="-122"/>
            </a:endParaRPr>
          </a:p>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Download from </a:t>
            </a:r>
            <a:r>
              <a:rPr lang="en-US" altLang="zh-CN" sz="2000" b="0" dirty="0">
                <a:solidFill>
                  <a:srgbClr val="00B050"/>
                </a:solidFill>
                <a:latin typeface="Verdana" panose="020B0604030504040204" pitchFamily="34" charset="0"/>
                <a:ea typeface="黑体" panose="02010609060101010101" pitchFamily="49" charset="-122"/>
              </a:rPr>
              <a:t>c.program@yeah.net</a:t>
            </a:r>
            <a:endParaRPr lang="en-US" altLang="zh-CN" sz="2000" b="0" dirty="0">
              <a:solidFill>
                <a:srgbClr val="FF000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文件中心</a:t>
            </a: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网盘</a:t>
            </a:r>
            <a:r>
              <a:rPr lang="en-US" altLang="zh-CN" sz="2000" b="0" dirty="0">
                <a:solidFill>
                  <a:srgbClr val="00B0F0"/>
                </a:solidFill>
                <a:latin typeface="Verdana" panose="020B0604030504040204" pitchFamily="34" charset="0"/>
                <a:ea typeface="黑体" panose="02010609060101010101" pitchFamily="49" charset="-122"/>
              </a:rPr>
              <a:t>/OperatingSystems26S</a:t>
            </a:r>
            <a:endParaRPr lang="en-US" altLang="zh-CN" sz="2000" b="0" dirty="0">
              <a:solidFill>
                <a:srgbClr val="002060"/>
              </a:solidFill>
              <a:latin typeface="Verdana" panose="020B0604030504040204" pitchFamily="34" charset="0"/>
              <a:ea typeface="黑体" panose="02010609060101010101" pitchFamily="49" charset="-122"/>
            </a:endParaRPr>
          </a:p>
          <a:p>
            <a:pPr marL="0" indent="0" algn="ctr" latinLnBrk="0">
              <a:lnSpc>
                <a:spcPct val="200000"/>
              </a:lnSpc>
              <a:spcBef>
                <a:spcPts val="0"/>
              </a:spcBef>
              <a:buNone/>
            </a:pPr>
            <a:r>
              <a:rPr lang="en-US" altLang="zh-CN" sz="2000" b="0" dirty="0">
                <a:solidFill>
                  <a:srgbClr val="002060"/>
                </a:solidFill>
                <a:latin typeface="Verdana" panose="020B0604030504040204" pitchFamily="34" charset="0"/>
                <a:ea typeface="黑体" panose="02010609060101010101" pitchFamily="49" charset="-122"/>
              </a:rPr>
              <a:t>Book site: </a:t>
            </a:r>
            <a:r>
              <a:rPr lang="en-US" altLang="zh-CN" sz="1800" b="1" dirty="0">
                <a:solidFill>
                  <a:srgbClr val="00B0F0"/>
                </a:solidFill>
                <a:latin typeface="Consolas" panose="020B0609020204030204" charset="0"/>
                <a:ea typeface="黑体" panose="02010609060101010101" pitchFamily="49" charset="-122"/>
                <a:cs typeface="Consolas" panose="020B0609020204030204" charset="0"/>
              </a:rPr>
              <a:t>https://codex.cs.yale.edu/avi/os-book/OS10/index.html</a:t>
            </a:r>
          </a:p>
        </p:txBody>
      </p:sp>
      <p:sp>
        <p:nvSpPr>
          <p:cNvPr id="2051" name="矩形 2"/>
          <p:cNvSpPr/>
          <p:nvPr/>
        </p:nvSpPr>
        <p:spPr>
          <a:xfrm>
            <a:off x="1041400" y="76835"/>
            <a:ext cx="7924800" cy="2061210"/>
          </a:xfrm>
          <a:prstGeom prst="rect">
            <a:avLst/>
          </a:prstGeom>
          <a:noFill/>
          <a:ln w="9525">
            <a:noFill/>
          </a:ln>
        </p:spPr>
        <p:txBody>
          <a:bodyPr>
            <a:spAutoFit/>
          </a:bodyPr>
          <a:lstStyle/>
          <a:p>
            <a:pPr algn="ctr">
              <a:spcBef>
                <a:spcPct val="50000"/>
              </a:spcBef>
            </a:pPr>
            <a:r>
              <a:rPr lang="en-US" altLang="zh-CN" sz="4800" dirty="0">
                <a:solidFill>
                  <a:srgbClr val="002060"/>
                </a:solidFill>
                <a:latin typeface="Calibri" panose="020F0502020204030204" charset="0"/>
              </a:rPr>
              <a:t>Operating Systems</a:t>
            </a:r>
          </a:p>
          <a:p>
            <a:pPr marL="0" indent="0" algn="ctr" latinLnBrk="0">
              <a:lnSpc>
                <a:spcPct val="200000"/>
              </a:lnSpc>
            </a:pPr>
            <a:r>
              <a:rPr lang="en-US" altLang="zh-CN" sz="4000" dirty="0">
                <a:solidFill>
                  <a:srgbClr val="002060"/>
                </a:solidFill>
                <a:latin typeface="Calibri" panose="020F0502020204030204" charset="0"/>
                <a:sym typeface="+mn-ea"/>
              </a:rPr>
              <a:t>Ch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solidFill>
                  <a:srgbClr val="C00000"/>
                </a:solidFill>
              </a:rPr>
              <a:t>Real-Time CPU Scheduling</a:t>
            </a:r>
            <a:endParaRPr lang="en-US" altLang="en-US" dirty="0"/>
          </a:p>
          <a:p>
            <a:r>
              <a:rPr lang="en-US" altLang="en-US" dirty="0">
                <a:solidFill>
                  <a:srgbClr val="C00000"/>
                </a:solidFill>
              </a:rPr>
              <a:t>Operating Systems Examples</a:t>
            </a:r>
          </a:p>
          <a:p>
            <a:r>
              <a:rPr lang="en-US" altLang="en-US" dirty="0">
                <a:solidFill>
                  <a:srgbClr val="C00000"/>
                </a:solidFill>
              </a:rPr>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a:t>
            </a:r>
            <a:r>
              <a:rPr lang="en-US" altLang="en-US" dirty="0">
                <a:solidFill>
                  <a:srgbClr val="C00000"/>
                </a:solidFill>
              </a:rPr>
              <a:t>Windows, Linux, and Solaris operating systems</a:t>
            </a:r>
          </a:p>
          <a:p>
            <a:r>
              <a:rPr lang="en-US" altLang="en-US" dirty="0">
                <a:solidFill>
                  <a:srgbClr val="C00000"/>
                </a:solidFill>
              </a:rPr>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p:cNvSpPr>
            <a:spLocks noGrp="1" noChangeArrowheads="1"/>
          </p:cNvSpPr>
          <p:nvPr>
            <p:ph type="body" idx="1"/>
          </p:nvPr>
        </p:nvSpPr>
        <p:spPr>
          <a:xfrm>
            <a:off x="667385" y="1275080"/>
            <a:ext cx="4370070" cy="5057775"/>
          </a:xfrm>
        </p:spPr>
        <p:txBody>
          <a:bodyPr/>
          <a:lstStyle/>
          <a:p>
            <a:r>
              <a:rPr lang="en-US" altLang="en-US" sz="2000" b="1" dirty="0">
                <a:latin typeface="Calibri" panose="020F0502020204030204" charset="0"/>
                <a:cs typeface="Calibri" panose="020F0502020204030204" charset="0"/>
              </a:rPr>
              <a:t>Maximum CPU utilization obtained with multiprogramming</a:t>
            </a:r>
          </a:p>
          <a:p>
            <a:r>
              <a:rPr lang="en-US" altLang="en-US" sz="2000" b="1" dirty="0">
                <a:latin typeface="Calibri" panose="020F0502020204030204" charset="0"/>
                <a:cs typeface="Calibri" panose="020F0502020204030204" charset="0"/>
              </a:rPr>
              <a:t>CPU–I/O Burst Cycle – Process execution consists of a </a:t>
            </a:r>
            <a:r>
              <a:rPr lang="en-US" altLang="en-US" sz="2000" b="1" dirty="0">
                <a:solidFill>
                  <a:srgbClr val="006699"/>
                </a:solidFill>
                <a:latin typeface="Calibri" panose="020F0502020204030204" charset="0"/>
                <a:cs typeface="Calibri" panose="020F0502020204030204" charset="0"/>
              </a:rPr>
              <a:t>cycle</a:t>
            </a:r>
            <a:r>
              <a:rPr lang="en-US" altLang="en-US" sz="2000" b="1" dirty="0">
                <a:latin typeface="Calibri" panose="020F0502020204030204" charset="0"/>
                <a:cs typeface="Calibri" panose="020F0502020204030204" charset="0"/>
              </a:rPr>
              <a:t> of CPU execution and I/O wait</a:t>
            </a:r>
          </a:p>
          <a:p>
            <a:r>
              <a:rPr lang="en-US" altLang="en-US" sz="2000" b="1" dirty="0">
                <a:solidFill>
                  <a:srgbClr val="006699"/>
                </a:solidFill>
                <a:latin typeface="Calibri" panose="020F0502020204030204" charset="0"/>
                <a:cs typeface="Calibri" panose="020F0502020204030204" charset="0"/>
              </a:rPr>
              <a:t>CPU</a:t>
            </a:r>
            <a:r>
              <a:rPr lang="en-US" altLang="en-US" sz="2000" b="1" dirty="0">
                <a:solidFill>
                  <a:srgbClr val="3366FF"/>
                </a:solidFill>
                <a:latin typeface="Calibri" panose="020F0502020204030204" charset="0"/>
                <a:cs typeface="Calibri" panose="020F0502020204030204" charset="0"/>
              </a:rPr>
              <a:t> </a:t>
            </a:r>
            <a:r>
              <a:rPr lang="en-US" altLang="en-US" sz="2000" b="1" dirty="0">
                <a:solidFill>
                  <a:srgbClr val="006699"/>
                </a:solidFill>
                <a:latin typeface="Calibri" panose="020F0502020204030204" charset="0"/>
                <a:cs typeface="Calibri" panose="020F0502020204030204" charset="0"/>
              </a:rPr>
              <a:t>burst</a:t>
            </a:r>
            <a:r>
              <a:rPr lang="en-US" altLang="en-US" sz="2000" b="1" dirty="0">
                <a:solidFill>
                  <a:srgbClr val="3366FF"/>
                </a:solidFill>
                <a:latin typeface="Calibri" panose="020F0502020204030204" charset="0"/>
                <a:cs typeface="Calibri" panose="020F0502020204030204" charset="0"/>
              </a:rPr>
              <a:t> </a:t>
            </a:r>
            <a:r>
              <a:rPr lang="en-US" altLang="en-US" sz="2000" b="1" dirty="0">
                <a:latin typeface="Calibri" panose="020F0502020204030204" charset="0"/>
                <a:cs typeface="Calibri" panose="020F0502020204030204" charset="0"/>
              </a:rPr>
              <a:t>followed by </a:t>
            </a:r>
            <a:r>
              <a:rPr lang="en-US" altLang="en-US" sz="2000" b="1" dirty="0">
                <a:solidFill>
                  <a:srgbClr val="006699"/>
                </a:solidFill>
                <a:latin typeface="Calibri" panose="020F0502020204030204" charset="0"/>
                <a:cs typeface="Calibri" panose="020F0502020204030204" charset="0"/>
              </a:rPr>
              <a:t>I/O burst</a:t>
            </a:r>
          </a:p>
          <a:p>
            <a:r>
              <a:rPr lang="en-US" altLang="en-US" sz="2000" b="1" dirty="0">
                <a:latin typeface="Calibri" panose="020F0502020204030204" charset="0"/>
                <a:cs typeface="Calibri" panose="020F0502020204030204" charset="0"/>
              </a:rPr>
              <a:t>CPU burst distribution is of main concern</a:t>
            </a:r>
          </a:p>
          <a:p>
            <a:pPr>
              <a:buFont typeface="Monotype Sorts" pitchFamily="-84" charset="2"/>
              <a:buNone/>
            </a:pPr>
            <a:endParaRPr lang="en-US" altLang="en-US" sz="2000" b="1" dirty="0">
              <a:latin typeface="Calibri" panose="020F0502020204030204" charset="0"/>
              <a:cs typeface="Calibri" panose="020F0502020204030204" charset="0"/>
            </a:endParaRPr>
          </a:p>
        </p:txBody>
      </p:sp>
      <p:pic>
        <p:nvPicPr>
          <p:cNvPr id="1126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4185" y="1084580"/>
            <a:ext cx="2745105" cy="511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 calcmode="lin" valueType="num">
                                      <p:cBhvr additive="base">
                                        <p:cTn id="7" dur="500" fill="hold"/>
                                        <p:tgtEl>
                                          <p:spTgt spid="11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6">
                                            <p:txEl>
                                              <p:pRg st="1" end="1"/>
                                            </p:txEl>
                                          </p:spTgt>
                                        </p:tgtEl>
                                        <p:attrNameLst>
                                          <p:attrName>style.visibility</p:attrName>
                                        </p:attrNameLst>
                                      </p:cBhvr>
                                      <p:to>
                                        <p:strVal val="visible"/>
                                      </p:to>
                                    </p:set>
                                    <p:anim calcmode="lin" valueType="num">
                                      <p:cBhvr additive="base">
                                        <p:cTn id="13" dur="500" fill="hold"/>
                                        <p:tgtEl>
                                          <p:spTgt spid="11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66">
                                            <p:txEl>
                                              <p:pRg st="2" end="2"/>
                                            </p:txEl>
                                          </p:spTgt>
                                        </p:tgtEl>
                                        <p:attrNameLst>
                                          <p:attrName>style.visibility</p:attrName>
                                        </p:attrNameLst>
                                      </p:cBhvr>
                                      <p:to>
                                        <p:strVal val="visible"/>
                                      </p:to>
                                    </p:set>
                                    <p:anim calcmode="lin" valueType="num">
                                      <p:cBhvr additive="base">
                                        <p:cTn id="19" dur="5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266">
                                            <p:txEl>
                                              <p:pRg st="3" end="3"/>
                                            </p:txEl>
                                          </p:spTgt>
                                        </p:tgtEl>
                                        <p:attrNameLst>
                                          <p:attrName>style.visibility</p:attrName>
                                        </p:attrNameLst>
                                      </p:cBhvr>
                                      <p:to>
                                        <p:strVal val="visible"/>
                                      </p:to>
                                    </p:set>
                                    <p:anim calcmode="lin" valueType="num">
                                      <p:cBhvr additive="base">
                                        <p:cTn id="25" dur="5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689225"/>
            <a:ext cx="5593080"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p:cNvSpPr>
            <a:spLocks noGrp="1" noChangeArrowheads="1"/>
          </p:cNvSpPr>
          <p:nvPr>
            <p:ph type="body" idx="1"/>
          </p:nvPr>
        </p:nvSpPr>
        <p:spPr>
          <a:xfrm>
            <a:off x="838201" y="1169988"/>
            <a:ext cx="7227276" cy="4808781"/>
          </a:xfrm>
        </p:spPr>
        <p:txBody>
          <a:bodyPr/>
          <a:lstStyle/>
          <a:p>
            <a:pPr>
              <a:defRPr/>
            </a:pPr>
            <a:r>
              <a:rPr lang="en-US" dirty="0">
                <a:ea typeface="MS PGothic" panose="020B0600070205080204" pitchFamily="34" charset="-128"/>
                <a:cs typeface="MS PGothic" panose="020B0600070205080204" pitchFamily="34" charset="-128"/>
              </a:rPr>
              <a:t>The</a:t>
            </a:r>
            <a:r>
              <a:rPr lang="en-US" b="1" dirty="0">
                <a:solidFill>
                  <a:srgbClr val="3366FF"/>
                </a:solidFill>
                <a:ea typeface="MS PGothic" panose="020B0600070205080204" pitchFamily="34" charset="-128"/>
                <a:cs typeface="MS PGothic" panose="020B0600070205080204" pitchFamily="34" charset="-128"/>
              </a:rPr>
              <a:t> </a:t>
            </a:r>
            <a:r>
              <a:rPr lang="en-US" b="1" dirty="0">
                <a:solidFill>
                  <a:srgbClr val="006699"/>
                </a:solidFill>
                <a:latin typeface="+mj-lt"/>
              </a:rPr>
              <a:t>CPU scheduler </a:t>
            </a:r>
            <a:r>
              <a:rPr lang="en-US" dirty="0">
                <a:ea typeface="MS PGothic" panose="020B0600070205080204" pitchFamily="34" charset="-128"/>
                <a:cs typeface="MS PGothic" panose="020B0600070205080204" pitchFamily="34" charset="-128"/>
              </a:rPr>
              <a:t>selects from among the processes in ready queue, and allocates a CPU core to one of them</a:t>
            </a:r>
          </a:p>
          <a:p>
            <a:pPr marL="742950" lvl="1">
              <a:defRPr/>
            </a:pPr>
            <a:r>
              <a:rPr lang="en-US" dirty="0">
                <a:ea typeface="MS PGothic" panose="020B0600070205080204" pitchFamily="34" charset="-128"/>
              </a:rPr>
              <a:t>Queue may be ordered in various ways</a:t>
            </a:r>
          </a:p>
          <a:p>
            <a:pPr>
              <a:defRPr/>
            </a:pPr>
            <a:r>
              <a:rPr lang="en-US" dirty="0">
                <a:ea typeface="MS PGothic" panose="020B0600070205080204" pitchFamily="34" charset="-128"/>
                <a:cs typeface="MS PGothic" panose="020B0600070205080204" pitchFamily="34" charset="-128"/>
              </a:rPr>
              <a:t>CPU scheduling decisions may take place when a process:</a:t>
            </a:r>
          </a:p>
          <a:p>
            <a:pPr marL="800100" lvl="1" indent="-342900">
              <a:buFont typeface="Monotype Sorts" pitchFamily="-84" charset="2"/>
              <a:buNone/>
              <a:defRPr/>
            </a:pPr>
            <a:r>
              <a:rPr lang="en-US" dirty="0">
                <a:solidFill>
                  <a:srgbClr val="CC6600"/>
                </a:solidFill>
                <a:ea typeface="MS PGothic" panose="020B0600070205080204" pitchFamily="34" charset="-128"/>
              </a:rPr>
              <a:t>1.	</a:t>
            </a:r>
            <a:r>
              <a:rPr lang="en-US" dirty="0">
                <a:ea typeface="MS PGothic" panose="020B0600070205080204" pitchFamily="34" charset="-128"/>
              </a:rPr>
              <a:t>Switches from running to waiting state</a:t>
            </a:r>
          </a:p>
          <a:p>
            <a:pPr marL="800100" lvl="1" indent="-342900">
              <a:buFont typeface="Monotype Sorts" pitchFamily="-84" charset="2"/>
              <a:buNone/>
              <a:defRPr/>
            </a:pPr>
            <a:r>
              <a:rPr lang="en-US" dirty="0">
                <a:solidFill>
                  <a:srgbClr val="CC6600"/>
                </a:solidFill>
                <a:ea typeface="MS PGothic" panose="020B0600070205080204" pitchFamily="34" charset="-128"/>
              </a:rPr>
              <a:t>2.</a:t>
            </a:r>
            <a:r>
              <a:rPr lang="en-US" dirty="0">
                <a:ea typeface="MS PGothic" panose="020B0600070205080204" pitchFamily="34" charset="-128"/>
              </a:rPr>
              <a:t>	Switches from running to ready state</a:t>
            </a:r>
          </a:p>
          <a:p>
            <a:pPr marL="800100" lvl="1" indent="-342900">
              <a:buFont typeface="Monotype Sorts" pitchFamily="-84" charset="2"/>
              <a:buNone/>
              <a:defRPr/>
            </a:pPr>
            <a:r>
              <a:rPr lang="en-US" dirty="0">
                <a:solidFill>
                  <a:srgbClr val="CC6600"/>
                </a:solidFill>
                <a:ea typeface="MS PGothic" panose="020B0600070205080204" pitchFamily="34" charset="-128"/>
              </a:rPr>
              <a:t>3.</a:t>
            </a:r>
            <a:r>
              <a:rPr lang="en-US" dirty="0">
                <a:ea typeface="MS PGothic" panose="020B0600070205080204" pitchFamily="34" charset="-128"/>
              </a:rPr>
              <a:t>	Switches from waiting to ready</a:t>
            </a:r>
          </a:p>
          <a:p>
            <a:pPr marL="800100" lvl="1" indent="-342900">
              <a:buFont typeface="Monotype Sorts" pitchFamily="-84" charset="2"/>
              <a:buAutoNum type="arabicPeriod" startAt="4"/>
              <a:defRPr/>
            </a:pPr>
            <a:r>
              <a:rPr lang="en-US" dirty="0">
                <a:ea typeface="MS PGothic" panose="020B0600070205080204" pitchFamily="34" charset="-128"/>
              </a:rPr>
              <a:t>Terminates</a:t>
            </a:r>
          </a:p>
          <a:p>
            <a:pPr>
              <a:defRPr/>
            </a:pPr>
            <a:r>
              <a:rPr lang="en-US" dirty="0">
                <a:ea typeface="MS PGothic" panose="020B0600070205080204" pitchFamily="34" charset="-128"/>
                <a:cs typeface="MS PGothic" panose="020B0600070205080204" pitchFamily="34" charset="-128"/>
              </a:rPr>
              <a:t>For situations 1 and 4, there is no choice in terms of scheduling. A new process (if one exists in the ready queue) must be selected for execution. </a:t>
            </a:r>
          </a:p>
          <a:p>
            <a:pPr>
              <a:defRPr/>
            </a:pPr>
            <a:r>
              <a:rPr lang="en-US" dirty="0">
                <a:ea typeface="MS PGothic" panose="020B0600070205080204" pitchFamily="34" charset="-128"/>
                <a:cs typeface="MS PGothic" panose="020B0600070205080204" pitchFamily="34" charset="-128"/>
              </a:rPr>
              <a:t>For situations 2 and 3, however, there is  a choice.</a:t>
            </a:r>
            <a:endParaRPr lang="en-US" b="1" dirty="0">
              <a:solidFill>
                <a:srgbClr val="3366FF"/>
              </a:solidFill>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 calcmode="lin" valueType="num">
                                      <p:cBhvr additive="base">
                                        <p:cTn id="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anim calcmode="lin" valueType="num">
                                      <p:cBhvr additive="base">
                                        <p:cTn id="1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651">
                                            <p:txEl>
                                              <p:pRg st="4" end="4"/>
                                            </p:txEl>
                                          </p:spTgt>
                                        </p:tgtEl>
                                        <p:attrNameLst>
                                          <p:attrName>style.visibility</p:attrName>
                                        </p:attrNameLst>
                                      </p:cBhvr>
                                      <p:to>
                                        <p:strVal val="visible"/>
                                      </p:to>
                                    </p:set>
                                    <p:anim calcmode="lin" valueType="num">
                                      <p:cBhvr additive="base">
                                        <p:cTn id="15"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651">
                                            <p:txEl>
                                              <p:pRg st="5" end="5"/>
                                            </p:txEl>
                                          </p:spTgt>
                                        </p:tgtEl>
                                        <p:attrNameLst>
                                          <p:attrName>style.visibility</p:attrName>
                                        </p:attrNameLst>
                                      </p:cBhvr>
                                      <p:to>
                                        <p:strVal val="visible"/>
                                      </p:to>
                                    </p:set>
                                    <p:anim calcmode="lin" valueType="num">
                                      <p:cBhvr additive="base">
                                        <p:cTn id="19"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651">
                                            <p:txEl>
                                              <p:pRg st="6" end="6"/>
                                            </p:txEl>
                                          </p:spTgt>
                                        </p:tgtEl>
                                        <p:attrNameLst>
                                          <p:attrName>style.visibility</p:attrName>
                                        </p:attrNameLst>
                                      </p:cBhvr>
                                      <p:to>
                                        <p:strVal val="visible"/>
                                      </p:to>
                                    </p:set>
                                    <p:anim calcmode="lin" valueType="num">
                                      <p:cBhvr additive="base">
                                        <p:cTn id="23" dur="500" fill="hold"/>
                                        <p:tgtEl>
                                          <p:spTgt spid="27651">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6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7651">
                                            <p:txEl>
                                              <p:pRg st="7" end="7"/>
                                            </p:txEl>
                                          </p:spTgt>
                                        </p:tgtEl>
                                        <p:attrNameLst>
                                          <p:attrName>style.visibility</p:attrName>
                                        </p:attrNameLst>
                                      </p:cBhvr>
                                      <p:to>
                                        <p:strVal val="visible"/>
                                      </p:to>
                                    </p:set>
                                    <p:anim calcmode="lin" valueType="num">
                                      <p:cBhvr additive="base">
                                        <p:cTn id="29" dur="500" fill="hold"/>
                                        <p:tgtEl>
                                          <p:spTgt spid="27651">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765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7651">
                                            <p:txEl>
                                              <p:pRg st="8" end="8"/>
                                            </p:txEl>
                                          </p:spTgt>
                                        </p:tgtEl>
                                        <p:attrNameLst>
                                          <p:attrName>style.visibility</p:attrName>
                                        </p:attrNameLst>
                                      </p:cBhvr>
                                      <p:to>
                                        <p:strVal val="visible"/>
                                      </p:to>
                                    </p:set>
                                    <p:anim calcmode="lin" valueType="num">
                                      <p:cBhvr additive="base">
                                        <p:cTn id="35" dur="500" fill="hold"/>
                                        <p:tgtEl>
                                          <p:spTgt spid="27651">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765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p:cNvSpPr>
            <a:spLocks noGrp="1" noChangeArrowheads="1"/>
          </p:cNvSpPr>
          <p:nvPr>
            <p:ph type="body" idx="1"/>
          </p:nvPr>
        </p:nvSpPr>
        <p:spPr>
          <a:xfrm>
            <a:off x="931985" y="1193434"/>
            <a:ext cx="6828692" cy="4707181"/>
          </a:xfrm>
        </p:spPr>
        <p:txBody>
          <a:bodyPr/>
          <a:lstStyle/>
          <a:p>
            <a:pPr>
              <a:defRPr/>
            </a:pPr>
            <a:r>
              <a:rPr lang="en-US" dirty="0">
                <a:ea typeface="MS PGothic" panose="020B0600070205080204" pitchFamily="34" charset="-128"/>
              </a:rPr>
              <a:t>When scheduling takes place only under circumstances 1 and 4, the scheduling scheme is </a:t>
            </a:r>
            <a:r>
              <a:rPr lang="en-US" b="1" dirty="0">
                <a:solidFill>
                  <a:srgbClr val="006699"/>
                </a:solidFill>
                <a:latin typeface="+mj-lt"/>
              </a:rPr>
              <a:t>nonpreemptive</a:t>
            </a:r>
            <a:r>
              <a:rPr lang="en-US" dirty="0">
                <a:ea typeface="MS PGothic" panose="020B0600070205080204" pitchFamily="34" charset="-128"/>
              </a:rPr>
              <a:t>.</a:t>
            </a:r>
          </a:p>
          <a:p>
            <a:pPr>
              <a:defRPr/>
            </a:pPr>
            <a:r>
              <a:rPr lang="en-US" dirty="0">
                <a:ea typeface="MS PGothic" panose="020B0600070205080204" pitchFamily="34" charset="-128"/>
              </a:rPr>
              <a:t>Otherwise, it is </a:t>
            </a:r>
            <a:r>
              <a:rPr lang="en-US" b="1" dirty="0">
                <a:solidFill>
                  <a:srgbClr val="006699"/>
                </a:solidFill>
                <a:latin typeface="+mj-lt"/>
              </a:rPr>
              <a:t>preemptive (</a:t>
            </a:r>
            <a:r>
              <a:rPr lang="zh-CN" altLang="en-US" b="1" dirty="0">
                <a:solidFill>
                  <a:srgbClr val="006699"/>
                </a:solidFill>
                <a:latin typeface="黑体" panose="02010609060101010101" pitchFamily="49" charset="-122"/>
                <a:ea typeface="黑体" panose="02010609060101010101" pitchFamily="49" charset="-122"/>
              </a:rPr>
              <a:t>抢占式的</a:t>
            </a:r>
            <a:r>
              <a:rPr lang="en-US" altLang="zh-CN" b="1" dirty="0">
                <a:solidFill>
                  <a:srgbClr val="006699"/>
                </a:solidFill>
                <a:latin typeface="+mj-lt"/>
              </a:rPr>
              <a:t>)</a:t>
            </a:r>
            <a:r>
              <a:rPr lang="en-US" dirty="0">
                <a:ea typeface="MS PGothic" panose="020B0600070205080204" pitchFamily="34" charset="-128"/>
              </a:rPr>
              <a:t>. </a:t>
            </a:r>
          </a:p>
          <a:p>
            <a:pPr>
              <a:defRPr/>
            </a:pPr>
            <a:r>
              <a:rPr lang="en-US" dirty="0">
                <a:ea typeface="MS PGothic" panose="020B0600070205080204" pitchFamily="34" charset="-128"/>
              </a:rPr>
              <a:t>Under Nonpreemptive scheduling, once the CPU has been allocated to a process, the process keeps the CPU until it releases it either by terminating or by switching to the waiting state. </a:t>
            </a:r>
          </a:p>
          <a:p>
            <a:pPr>
              <a:defRPr/>
            </a:pPr>
            <a:r>
              <a:rPr lang="en-US" dirty="0">
                <a:ea typeface="MS PGothic" panose="020B0600070205080204" pitchFamily="34" charset="-128"/>
              </a:rPr>
              <a:t>Virtually</a:t>
            </a:r>
            <a:r>
              <a:rPr lang="en-US" dirty="0">
                <a:solidFill>
                  <a:srgbClr val="0070C0"/>
                </a:solidFill>
                <a:ea typeface="MS PGothic" panose="020B0600070205080204" pitchFamily="34" charset="-128"/>
              </a:rPr>
              <a:t> all modern operating systems</a:t>
            </a:r>
            <a:r>
              <a:rPr lang="en-US" dirty="0">
                <a:ea typeface="MS PGothic" panose="020B0600070205080204" pitchFamily="34" charset="-128"/>
              </a:rPr>
              <a:t> including Windows, MacOS, Linux, and UNIX </a:t>
            </a:r>
            <a:r>
              <a:rPr lang="en-US" dirty="0">
                <a:gradFill>
                  <a:gsLst>
                    <a:gs pos="50000">
                      <a:srgbClr val="1F5FBF"/>
                    </a:gs>
                    <a:gs pos="0">
                      <a:srgbClr val="1486CB"/>
                    </a:gs>
                    <a:gs pos="100000">
                      <a:srgbClr val="2A34B2"/>
                    </a:gs>
                  </a:gsLst>
                  <a:lin ang="5400000" scaled="1"/>
                </a:gradFill>
                <a:ea typeface="MS PGothic" panose="020B0600070205080204" pitchFamily="34" charset="-128"/>
              </a:rPr>
              <a:t>use preemptive scheduling algorithms.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 calcmode="lin" valueType="num">
                                      <p:cBhvr additive="base">
                                        <p:cTn id="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1">
                                            <p:txEl>
                                              <p:pRg st="3" end="3"/>
                                            </p:txEl>
                                          </p:spTgt>
                                        </p:tgtEl>
                                        <p:attrNameLst>
                                          <p:attrName>style.visibility</p:attrName>
                                        </p:attrNameLst>
                                      </p:cBhvr>
                                      <p:to>
                                        <p:strVal val="visible"/>
                                      </p:to>
                                    </p:set>
                                    <p:anim calcmode="lin" valueType="num">
                                      <p:cBhvr additive="base">
                                        <p:cTn id="13"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p:cNvSpPr>
            <a:spLocks noGrp="1" noChangeArrowheads="1"/>
          </p:cNvSpPr>
          <p:nvPr>
            <p:ph type="body" idx="1"/>
          </p:nvPr>
        </p:nvSpPr>
        <p:spPr>
          <a:xfrm>
            <a:off x="931985" y="1193435"/>
            <a:ext cx="6273800" cy="4621212"/>
          </a:xfrm>
        </p:spPr>
        <p:txBody>
          <a:bodyPr/>
          <a:lstStyle/>
          <a:p>
            <a:pPr>
              <a:defRPr/>
            </a:pPr>
            <a:r>
              <a:rPr lang="en-US" dirty="0">
                <a:ea typeface="MS PGothic" panose="020B0600070205080204" pitchFamily="34" charset="-128"/>
              </a:rPr>
              <a:t>Preemptive scheduling can result in</a:t>
            </a:r>
            <a:r>
              <a:rPr lang="en-US" dirty="0">
                <a:solidFill>
                  <a:srgbClr val="C00000"/>
                </a:solidFill>
                <a:ea typeface="MS PGothic" panose="020B0600070205080204" pitchFamily="34" charset="-128"/>
              </a:rPr>
              <a:t> race conditions</a:t>
            </a:r>
            <a:r>
              <a:rPr lang="en-US" dirty="0">
                <a:ea typeface="MS PGothic" panose="020B0600070205080204" pitchFamily="34" charset="-128"/>
              </a:rPr>
              <a:t> when data are shared among several processes.</a:t>
            </a:r>
          </a:p>
          <a:p>
            <a:pPr>
              <a:defRPr/>
            </a:pPr>
            <a:r>
              <a:rPr lang="en-US" dirty="0">
                <a:ea typeface="MS PGothic" panose="020B0600070205080204" pitchFamily="34" charset="-128"/>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MS PGothic" panose="020B0600070205080204" pitchFamily="34" charset="-128"/>
              </a:rPr>
              <a:t>This issue will be explored in detail in Chapter 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 calcmode="lin" valueType="num">
                                      <p:cBhvr additive="base">
                                        <p:cTn id="7"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anim calcmode="lin" valueType="num">
                                      <p:cBhvr additive="base">
                                        <p:cTn id="11"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p:cNvSpPr>
            <a:spLocks noGrp="1" noChangeArrowheads="1"/>
          </p:cNvSpPr>
          <p:nvPr>
            <p:ph type="body" idx="1"/>
          </p:nvPr>
        </p:nvSpPr>
        <p:spPr>
          <a:xfrm>
            <a:off x="848995" y="1119505"/>
            <a:ext cx="4273550" cy="4515485"/>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graphicFrame>
        <p:nvGraphicFramePr>
          <p:cNvPr id="4" name="对象 3"/>
          <p:cNvGraphicFramePr/>
          <p:nvPr>
            <p:extLst>
              <p:ext uri="{D42A27DB-BD31-4B8C-83A1-F6EECF244321}">
                <p14:modId xmlns:p14="http://schemas.microsoft.com/office/powerpoint/2010/main" val="88359163"/>
              </p:ext>
            </p:extLst>
          </p:nvPr>
        </p:nvGraphicFramePr>
        <p:xfrm>
          <a:off x="6132513" y="2189163"/>
          <a:ext cx="2009775" cy="2506662"/>
        </p:xfrm>
        <a:graphic>
          <a:graphicData uri="http://schemas.openxmlformats.org/presentationml/2006/ole">
            <mc:AlternateContent xmlns:mc="http://schemas.openxmlformats.org/markup-compatibility/2006">
              <mc:Choice xmlns:v="urn:schemas-microsoft-com:vml" Requires="v">
                <p:oleObj name="Bitmap Image" r:id="rId3" imgW="1654560" imgH="2090160" progId="Paint.Picture">
                  <p:embed/>
                </p:oleObj>
              </mc:Choice>
              <mc:Fallback>
                <p:oleObj name="Bitmap Image" r:id="rId3" imgW="1654560" imgH="2090160" progId="Paint.Picture">
                  <p:embed/>
                  <p:pic>
                    <p:nvPicPr>
                      <p:cNvPr id="4" name="对象 3"/>
                      <p:cNvPicPr/>
                      <p:nvPr/>
                    </p:nvPicPr>
                    <p:blipFill>
                      <a:blip r:embed="rId4"/>
                      <a:stretch>
                        <a:fillRect/>
                      </a:stretch>
                    </p:blipFill>
                    <p:spPr>
                      <a:xfrm>
                        <a:off x="6132513" y="2189163"/>
                        <a:ext cx="2009775" cy="2506662"/>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4" end="4"/>
                                            </p:txEl>
                                          </p:spTgt>
                                        </p:tgtEl>
                                        <p:attrNameLst>
                                          <p:attrName>style.visibility</p:attrName>
                                        </p:attrNameLst>
                                      </p:cBhvr>
                                      <p:to>
                                        <p:strVal val="visible"/>
                                      </p:to>
                                    </p:set>
                                    <p:anim calcmode="lin" valueType="num">
                                      <p:cBhvr additive="base">
                                        <p:cTn id="7" dur="500" fill="hold"/>
                                        <p:tgtEl>
                                          <p:spTgt spid="1741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8">
                                            <p:txEl>
                                              <p:pRg st="1" end="1"/>
                                            </p:txEl>
                                          </p:spTgt>
                                        </p:tgtEl>
                                        <p:attrNameLst>
                                          <p:attrName>style.visibility</p:attrName>
                                        </p:attrNameLst>
                                      </p:cBhvr>
                                      <p:to>
                                        <p:strVal val="visible"/>
                                      </p:to>
                                    </p:set>
                                    <p:anim calcmode="lin" valueType="num">
                                      <p:cBhvr additive="base">
                                        <p:cTn id="7" dur="500" fill="hold"/>
                                        <p:tgtEl>
                                          <p:spTgt spid="1945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8">
                                            <p:txEl>
                                              <p:pRg st="2" end="2"/>
                                            </p:txEl>
                                          </p:spTgt>
                                        </p:tgtEl>
                                        <p:attrNameLst>
                                          <p:attrName>style.visibility</p:attrName>
                                        </p:attrNameLst>
                                      </p:cBhvr>
                                      <p:to>
                                        <p:strVal val="visible"/>
                                      </p:to>
                                    </p:set>
                                    <p:anim calcmode="lin" valueType="num">
                                      <p:cBhvr additive="base">
                                        <p:cTn id="13" dur="500" fill="hold"/>
                                        <p:tgtEl>
                                          <p:spTgt spid="1945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58">
                                            <p:txEl>
                                              <p:pRg st="3" end="3"/>
                                            </p:txEl>
                                          </p:spTgt>
                                        </p:tgtEl>
                                        <p:attrNameLst>
                                          <p:attrName>style.visibility</p:attrName>
                                        </p:attrNameLst>
                                      </p:cBhvr>
                                      <p:to>
                                        <p:strVal val="visible"/>
                                      </p:to>
                                    </p:set>
                                    <p:anim calcmode="lin" valueType="num">
                                      <p:cBhvr additive="base">
                                        <p:cTn id="19" dur="500" fill="hold"/>
                                        <p:tgtEl>
                                          <p:spTgt spid="1945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458">
                                            <p:txEl>
                                              <p:pRg st="4" end="4"/>
                                            </p:txEl>
                                          </p:spTgt>
                                        </p:tgtEl>
                                        <p:attrNameLst>
                                          <p:attrName>style.visibility</p:attrName>
                                        </p:attrNameLst>
                                      </p:cBhvr>
                                      <p:to>
                                        <p:strVal val="visible"/>
                                      </p:to>
                                    </p:set>
                                    <p:anim calcmode="lin" valueType="num">
                                      <p:cBhvr additive="base">
                                        <p:cTn id="25" dur="500" fill="hold"/>
                                        <p:tgtEl>
                                          <p:spTgt spid="1945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595"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595"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br>
              <a:rPr lang="en-US" altLang="en-US" sz="1600"/>
            </a:br>
            <a:br>
              <a:rPr lang="en-US" altLang="en-US" sz="1600"/>
            </a:br>
            <a:br>
              <a:rPr lang="en-US" altLang="en-US" sz="1600"/>
            </a:br>
            <a:br>
              <a:rPr lang="en-US" altLang="en-US" sz="1600"/>
            </a:br>
            <a:endParaRPr lang="en-US" altLang="en-US" sz="1600"/>
          </a:p>
          <a:p>
            <a:pPr>
              <a:lnSpc>
                <a:spcPct val="90000"/>
              </a:lnSpc>
              <a:buFont typeface="Monotype Sorts" pitchFamily="-84" charset="2"/>
              <a:buNone/>
              <a:tabLst>
                <a:tab pos="3028950" algn="ctr"/>
                <a:tab pos="4633595" algn="ctr"/>
              </a:tabLst>
            </a:pPr>
            <a:endParaRPr lang="en-US" altLang="en-US" sz="1600"/>
          </a:p>
          <a:p>
            <a:pPr>
              <a:lnSpc>
                <a:spcPct val="90000"/>
              </a:lnSpc>
              <a:tabLst>
                <a:tab pos="3028950" algn="ctr"/>
                <a:tab pos="4633595"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595" algn="ctr"/>
              </a:tabLst>
            </a:pPr>
            <a:r>
              <a:rPr lang="en-US" altLang="en-US"/>
              <a:t>Average waiting time:  (0 + 24 + 27)/3 = 17</a:t>
            </a:r>
          </a:p>
        </p:txBody>
      </p:sp>
      <p:pic>
        <p:nvPicPr>
          <p:cNvPr id="2355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MS PGothic" panose="020B0600070205080204" pitchFamily="34" charset="-128"/>
              </a:rPr>
              <a:t>Suppose that the processes arrive in the order:</a:t>
            </a:r>
          </a:p>
          <a:p>
            <a:pPr>
              <a:buFont typeface="Monotype Sorts" pitchFamily="-84" charset="2"/>
              <a:buNone/>
              <a:tabLst>
                <a:tab pos="364934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a:t>
            </a:r>
            <a:r>
              <a:rPr lang="en-US" altLang="en-US" dirty="0">
                <a:cs typeface="MS PGothic" panose="020B0600070205080204" pitchFamily="34" charset="-128"/>
              </a:rPr>
              <a:t> , </a:t>
            </a:r>
            <a:r>
              <a:rPr lang="en-US" altLang="en-US" i="1" dirty="0">
                <a:cs typeface="MS PGothic" panose="020B0600070205080204" pitchFamily="34" charset="-128"/>
              </a:rPr>
              <a:t>P</a:t>
            </a:r>
            <a:r>
              <a:rPr lang="en-US" altLang="en-US" i="1" baseline="-25000" dirty="0">
                <a:cs typeface="MS PGothic" panose="020B0600070205080204" pitchFamily="34" charset="-128"/>
              </a:rPr>
              <a:t>3</a:t>
            </a:r>
            <a:r>
              <a:rPr lang="en-US" altLang="en-US" dirty="0">
                <a:cs typeface="MS PGothic" panose="020B0600070205080204" pitchFamily="34" charset="-128"/>
              </a:rPr>
              <a:t> , </a:t>
            </a:r>
            <a:r>
              <a:rPr lang="en-US" altLang="en-US" i="1" dirty="0">
                <a:cs typeface="MS PGothic" panose="020B0600070205080204" pitchFamily="34" charset="-128"/>
              </a:rPr>
              <a:t>P</a:t>
            </a:r>
            <a:r>
              <a:rPr lang="en-US" altLang="en-US" i="1" baseline="-25000" dirty="0">
                <a:cs typeface="MS PGothic" panose="020B0600070205080204" pitchFamily="34" charset="-128"/>
              </a:rPr>
              <a:t>1</a:t>
            </a:r>
            <a:r>
              <a:rPr lang="en-US" altLang="en-US" dirty="0">
                <a:cs typeface="MS PGothic" panose="020B0600070205080204" pitchFamily="34" charset="-128"/>
              </a:rPr>
              <a:t> </a:t>
            </a:r>
          </a:p>
          <a:p>
            <a:pPr>
              <a:tabLst>
                <a:tab pos="3649345" algn="ctr"/>
              </a:tabLst>
              <a:defRPr/>
            </a:pPr>
            <a:r>
              <a:rPr lang="en-US" altLang="en-US" dirty="0">
                <a:cs typeface="MS PGothic" panose="020B0600070205080204" pitchFamily="34" charset="-128"/>
              </a:rPr>
              <a:t>The Gantt chart for the schedule is:</a:t>
            </a:r>
            <a:br>
              <a:rPr lang="en-US" altLang="en-US" dirty="0">
                <a:cs typeface="MS PGothic" panose="020B0600070205080204" pitchFamily="34" charset="-128"/>
              </a:rPr>
            </a:br>
            <a:endParaRPr lang="en-US" altLang="en-US" dirty="0">
              <a:cs typeface="MS PGothic" panose="020B0600070205080204" pitchFamily="34" charset="-128"/>
            </a:endParaRPr>
          </a:p>
          <a:p>
            <a:pPr>
              <a:tabLst>
                <a:tab pos="3649345" algn="ctr"/>
              </a:tabLst>
              <a:defRPr/>
            </a:pPr>
            <a:endParaRPr lang="en-US" altLang="en-US" dirty="0">
              <a:cs typeface="MS PGothic" panose="020B0600070205080204" pitchFamily="34" charset="-128"/>
            </a:endParaRPr>
          </a:p>
          <a:p>
            <a:pPr>
              <a:tabLst>
                <a:tab pos="3649345" algn="ctr"/>
              </a:tabLst>
              <a:defRPr/>
            </a:pPr>
            <a:endParaRPr lang="en-US" altLang="en-US" dirty="0">
              <a:cs typeface="MS PGothic" panose="020B0600070205080204" pitchFamily="34" charset="-128"/>
            </a:endParaRPr>
          </a:p>
          <a:p>
            <a:pPr marL="0" indent="0">
              <a:buFont typeface="Monotype Sorts" pitchFamily="-84" charset="2"/>
              <a:buNone/>
              <a:tabLst>
                <a:tab pos="3649345" algn="ctr"/>
              </a:tabLst>
              <a:defRPr/>
            </a:pPr>
            <a:endParaRPr lang="en-US" altLang="en-US" dirty="0">
              <a:cs typeface="MS PGothic" panose="020B0600070205080204" pitchFamily="34" charset="-128"/>
            </a:endParaRPr>
          </a:p>
          <a:p>
            <a:pPr>
              <a:tabLst>
                <a:tab pos="3649345" algn="ctr"/>
              </a:tabLst>
              <a:defRPr/>
            </a:pPr>
            <a:r>
              <a:rPr lang="en-US" altLang="en-US" dirty="0">
                <a:cs typeface="MS PGothic" panose="020B0600070205080204" pitchFamily="34" charset="-128"/>
              </a:rPr>
              <a:t>Waiting time for </a:t>
            </a:r>
            <a:r>
              <a:rPr lang="en-US" altLang="en-US" i="1" dirty="0">
                <a:cs typeface="MS PGothic" panose="020B0600070205080204" pitchFamily="34" charset="-128"/>
              </a:rPr>
              <a:t>P</a:t>
            </a:r>
            <a:r>
              <a:rPr lang="en-US" altLang="en-US" i="1" baseline="-25000" dirty="0">
                <a:cs typeface="MS PGothic" panose="020B0600070205080204" pitchFamily="34" charset="-128"/>
              </a:rPr>
              <a:t>1 </a:t>
            </a:r>
            <a:r>
              <a:rPr lang="en-US" altLang="en-US" i="1" dirty="0">
                <a:cs typeface="MS PGothic" panose="020B0600070205080204" pitchFamily="34" charset="-128"/>
              </a:rPr>
              <a:t>=</a:t>
            </a:r>
            <a:r>
              <a:rPr lang="en-US" altLang="en-US" dirty="0">
                <a:cs typeface="MS PGothic" panose="020B0600070205080204" pitchFamily="34" charset="-128"/>
              </a:rPr>
              <a:t> 6</a:t>
            </a:r>
            <a:r>
              <a:rPr lang="en-US" altLang="en-US" i="1" dirty="0">
                <a:cs typeface="MS PGothic" panose="020B0600070205080204" pitchFamily="34" charset="-128"/>
              </a:rPr>
              <a:t>;</a:t>
            </a:r>
            <a:r>
              <a:rPr lang="en-US" altLang="en-US" i="1" baseline="-25000"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a:t>
            </a:r>
            <a:r>
              <a:rPr lang="en-US" altLang="en-US" dirty="0">
                <a:cs typeface="MS PGothic" panose="020B0600070205080204" pitchFamily="34" charset="-128"/>
              </a:rPr>
              <a:t> = 0</a:t>
            </a:r>
            <a:r>
              <a:rPr lang="en-US" altLang="en-US" i="1" baseline="-25000"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3 </a:t>
            </a:r>
            <a:r>
              <a:rPr lang="en-US" altLang="en-US" i="1" dirty="0">
                <a:cs typeface="MS PGothic" panose="020B0600070205080204" pitchFamily="34" charset="-128"/>
              </a:rPr>
              <a:t>= </a:t>
            </a:r>
            <a:r>
              <a:rPr lang="en-US" altLang="en-US" dirty="0">
                <a:cs typeface="MS PGothic" panose="020B0600070205080204" pitchFamily="34" charset="-128"/>
              </a:rPr>
              <a:t>3</a:t>
            </a:r>
            <a:endParaRPr lang="en-US" altLang="en-US" i="1" dirty="0">
              <a:cs typeface="MS PGothic" panose="020B0600070205080204" pitchFamily="34" charset="-128"/>
            </a:endParaRPr>
          </a:p>
          <a:p>
            <a:pPr>
              <a:tabLst>
                <a:tab pos="3649345" algn="ctr"/>
              </a:tabLst>
              <a:defRPr/>
            </a:pPr>
            <a:r>
              <a:rPr lang="en-US" altLang="en-US" dirty="0">
                <a:cs typeface="MS PGothic" panose="020B0600070205080204" pitchFamily="34" charset="-128"/>
              </a:rPr>
              <a:t>Average waiting time:   (6 + 0 + 3)/3 = 3</a:t>
            </a:r>
          </a:p>
          <a:p>
            <a:pPr>
              <a:tabLst>
                <a:tab pos="3649345" algn="ctr"/>
              </a:tabLst>
              <a:defRPr/>
            </a:pPr>
            <a:r>
              <a:rPr lang="en-US" altLang="en-US" dirty="0">
                <a:cs typeface="MS PGothic" panose="020B0600070205080204" pitchFamily="34"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MS PGothic" panose="020B0600070205080204" pitchFamily="34" charset="-128"/>
              </a:rPr>
              <a:t> </a:t>
            </a:r>
            <a:r>
              <a:rPr lang="en-US" altLang="en-US" b="1" dirty="0">
                <a:solidFill>
                  <a:srgbClr val="006699"/>
                </a:solidFill>
                <a:latin typeface="+mj-lt"/>
              </a:rPr>
              <a:t>effect</a:t>
            </a:r>
            <a:r>
              <a:rPr lang="en-US" altLang="en-US" b="1" dirty="0">
                <a:solidFill>
                  <a:srgbClr val="3366FF"/>
                </a:solidFill>
                <a:cs typeface="MS PGothic" panose="020B0600070205080204" pitchFamily="34" charset="-128"/>
              </a:rPr>
              <a:t> </a:t>
            </a:r>
            <a:r>
              <a:rPr lang="en-US" altLang="en-US" dirty="0">
                <a:cs typeface="MS PGothic" panose="020B0600070205080204" pitchFamily="34" charset="-128"/>
              </a:rPr>
              <a:t>- short process behind long process</a:t>
            </a:r>
          </a:p>
          <a:p>
            <a:pPr lvl="1">
              <a:tabLst>
                <a:tab pos="3649345" algn="ctr"/>
              </a:tabLst>
              <a:defRPr/>
            </a:pPr>
            <a:r>
              <a:rPr lang="en-US" altLang="en-US" dirty="0"/>
              <a:t>Consider one CPU-bound and many I/O-bound processes</a:t>
            </a:r>
          </a:p>
        </p:txBody>
      </p:sp>
      <p:pic>
        <p:nvPicPr>
          <p:cNvPr id="2560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MS PGothic" panose="020B0600070205080204" pitchFamily="34"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p:cNvSpPr>
            <a:spLocks noGrp="1" noChangeArrowheads="1"/>
          </p:cNvSpPr>
          <p:nvPr>
            <p:ph type="body" idx="1"/>
          </p:nvPr>
        </p:nvSpPr>
        <p:spPr>
          <a:xfrm>
            <a:off x="833438" y="1250949"/>
            <a:ext cx="7788048" cy="4594679"/>
          </a:xfrm>
        </p:spPr>
        <p:txBody>
          <a:bodyPr/>
          <a:lstStyle/>
          <a:p>
            <a:pPr>
              <a:lnSpc>
                <a:spcPct val="90000"/>
              </a:lnSpc>
              <a:buFont typeface="Monotype Sorts" pitchFamily="-84" charset="2"/>
              <a:buNone/>
              <a:tabLst>
                <a:tab pos="3028950" algn="ctr"/>
                <a:tab pos="4633595"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595" algn="ctr"/>
              </a:tabLst>
            </a:pPr>
            <a:r>
              <a:rPr lang="en-US" altLang="en-US" dirty="0">
                <a:latin typeface="Consolas" panose="020B0609020204030204" charset="0"/>
                <a:cs typeface="Consolas" panose="020B0609020204030204" charset="0"/>
              </a:rPr>
              <a:t>		 </a:t>
            </a:r>
            <a:r>
              <a:rPr lang="en-US" altLang="en-US" i="1" dirty="0">
                <a:latin typeface="Consolas" panose="020B0609020204030204" charset="0"/>
                <a:cs typeface="Consolas" panose="020B0609020204030204" charset="0"/>
              </a:rPr>
              <a:t>P</a:t>
            </a:r>
            <a:r>
              <a:rPr lang="en-US" altLang="en-US" i="1" baseline="-25000" dirty="0">
                <a:latin typeface="Consolas" panose="020B0609020204030204" charset="0"/>
                <a:cs typeface="Consolas" panose="020B0609020204030204" charset="0"/>
              </a:rPr>
              <a:t>1	</a:t>
            </a:r>
            <a:r>
              <a:rPr lang="en-US" altLang="en-US" dirty="0">
                <a:latin typeface="Consolas" panose="020B0609020204030204" charset="0"/>
                <a:cs typeface="Consolas" panose="020B0609020204030204" charset="0"/>
              </a:rPr>
              <a:t>6</a:t>
            </a:r>
          </a:p>
          <a:p>
            <a:pPr>
              <a:lnSpc>
                <a:spcPct val="90000"/>
              </a:lnSpc>
              <a:buFont typeface="Monotype Sorts" pitchFamily="-84" charset="2"/>
              <a:buNone/>
              <a:tabLst>
                <a:tab pos="3028950" algn="ctr"/>
                <a:tab pos="4633595" algn="ctr"/>
              </a:tabLst>
            </a:pPr>
            <a:r>
              <a:rPr lang="en-US" altLang="en-US" dirty="0">
                <a:latin typeface="Consolas" panose="020B0609020204030204" charset="0"/>
                <a:cs typeface="Consolas" panose="020B0609020204030204" charset="0"/>
              </a:rPr>
              <a:t>                      	  </a:t>
            </a:r>
            <a:r>
              <a:rPr lang="en-US" altLang="en-US" i="1" dirty="0">
                <a:latin typeface="Consolas" panose="020B0609020204030204" charset="0"/>
                <a:cs typeface="Consolas" panose="020B0609020204030204" charset="0"/>
              </a:rPr>
              <a:t>P</a:t>
            </a:r>
            <a:r>
              <a:rPr lang="en-US" altLang="en-US" i="1" baseline="-25000" dirty="0">
                <a:latin typeface="Consolas" panose="020B0609020204030204" charset="0"/>
                <a:cs typeface="Consolas" panose="020B0609020204030204" charset="0"/>
              </a:rPr>
              <a:t>2</a:t>
            </a:r>
            <a:r>
              <a:rPr lang="en-US" altLang="en-US" dirty="0">
                <a:latin typeface="Consolas" panose="020B0609020204030204" charset="0"/>
                <a:cs typeface="Consolas" panose="020B0609020204030204" charset="0"/>
              </a:rPr>
              <a:t>          	8</a:t>
            </a:r>
          </a:p>
          <a:p>
            <a:pPr algn="l">
              <a:lnSpc>
                <a:spcPct val="90000"/>
              </a:lnSpc>
              <a:buFont typeface="Monotype Sorts" pitchFamily="-84" charset="2"/>
              <a:buNone/>
              <a:tabLst>
                <a:tab pos="3028950" algn="ctr"/>
                <a:tab pos="4633595" algn="ctr"/>
              </a:tabLst>
            </a:pPr>
            <a:r>
              <a:rPr lang="en-US" altLang="en-US" dirty="0">
                <a:latin typeface="Consolas" panose="020B0609020204030204" charset="0"/>
                <a:cs typeface="Consolas" panose="020B0609020204030204" charset="0"/>
              </a:rPr>
              <a:t>		             </a:t>
            </a:r>
            <a:r>
              <a:rPr lang="en-US" altLang="en-US" i="1" dirty="0">
                <a:latin typeface="Consolas" panose="020B0609020204030204" charset="0"/>
                <a:cs typeface="Consolas" panose="020B0609020204030204" charset="0"/>
              </a:rPr>
              <a:t>P</a:t>
            </a:r>
            <a:r>
              <a:rPr lang="en-US" altLang="en-US" i="1" baseline="-25000" dirty="0">
                <a:latin typeface="Consolas" panose="020B0609020204030204" charset="0"/>
                <a:cs typeface="Consolas" panose="020B0609020204030204" charset="0"/>
              </a:rPr>
              <a:t>3                 </a:t>
            </a:r>
            <a:r>
              <a:rPr lang="en-US" altLang="en-US" dirty="0">
                <a:latin typeface="Consolas" panose="020B0609020204030204" charset="0"/>
                <a:cs typeface="Consolas" panose="020B0609020204030204" charset="0"/>
              </a:rPr>
              <a:t>7</a:t>
            </a:r>
          </a:p>
          <a:p>
            <a:pPr algn="l">
              <a:lnSpc>
                <a:spcPct val="90000"/>
              </a:lnSpc>
              <a:buFont typeface="Monotype Sorts" pitchFamily="-84" charset="2"/>
              <a:buNone/>
              <a:tabLst>
                <a:tab pos="3028950" algn="ctr"/>
                <a:tab pos="4633595" algn="ctr"/>
              </a:tabLst>
            </a:pPr>
            <a:r>
              <a:rPr lang="en-US" altLang="en-US" i="1" baseline="-25000" dirty="0">
                <a:latin typeface="Consolas" panose="020B0609020204030204" charset="0"/>
                <a:cs typeface="Consolas" panose="020B0609020204030204" charset="0"/>
              </a:rPr>
              <a:t>                                     </a:t>
            </a:r>
            <a:r>
              <a:rPr lang="en-US" altLang="en-US" i="1" dirty="0">
                <a:latin typeface="Consolas" panose="020B0609020204030204" charset="0"/>
                <a:cs typeface="Consolas" panose="020B0609020204030204" charset="0"/>
              </a:rPr>
              <a:t>P</a:t>
            </a:r>
            <a:r>
              <a:rPr lang="en-US" altLang="en-US" i="1" baseline="-25000" dirty="0">
                <a:latin typeface="Consolas" panose="020B0609020204030204" charset="0"/>
                <a:cs typeface="Consolas" panose="020B0609020204030204" charset="0"/>
              </a:rPr>
              <a:t>4	</a:t>
            </a:r>
            <a:r>
              <a:rPr lang="en-US" altLang="en-US" dirty="0">
                <a:latin typeface="Consolas" panose="020B0609020204030204" charset="0"/>
                <a:cs typeface="Consolas" panose="020B0609020204030204" charset="0"/>
              </a:rPr>
              <a:t>3</a:t>
            </a:r>
          </a:p>
          <a:p>
            <a:pPr>
              <a:lnSpc>
                <a:spcPct val="90000"/>
              </a:lnSpc>
              <a:buFont typeface="Monotype Sorts" pitchFamily="-84" charset="2"/>
              <a:buNone/>
              <a:tabLst>
                <a:tab pos="3028950" algn="ctr"/>
                <a:tab pos="4633595" algn="ctr"/>
              </a:tabLst>
            </a:pPr>
            <a:endParaRPr lang="en-US" altLang="en-US" i="1" baseline="-25000" dirty="0"/>
          </a:p>
          <a:p>
            <a:pPr>
              <a:lnSpc>
                <a:spcPct val="90000"/>
              </a:lnSpc>
              <a:tabLst>
                <a:tab pos="3028950" algn="ctr"/>
                <a:tab pos="4633595" algn="ctr"/>
              </a:tabLst>
            </a:pPr>
            <a:r>
              <a:rPr lang="en-US" altLang="en-US" dirty="0"/>
              <a:t>SJF scheduling chart</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marL="0" indent="0">
              <a:lnSpc>
                <a:spcPct val="90000"/>
              </a:lnSpc>
              <a:buNone/>
              <a:tabLst>
                <a:tab pos="3028950" algn="ctr"/>
                <a:tab pos="4633595" algn="ctr"/>
              </a:tabLst>
            </a:pPr>
            <a:endParaRPr lang="en-US" altLang="en-US" dirty="0"/>
          </a:p>
          <a:p>
            <a:pPr>
              <a:lnSpc>
                <a:spcPct val="90000"/>
              </a:lnSpc>
              <a:tabLst>
                <a:tab pos="3028950" algn="ctr"/>
                <a:tab pos="4633595" algn="ctr"/>
              </a:tabLst>
            </a:pPr>
            <a:r>
              <a:rPr lang="en-US" altLang="en-US" dirty="0"/>
              <a:t>Average waiting time = (3 + 16 + 9 + 0) / 4 = 7</a:t>
            </a:r>
          </a:p>
        </p:txBody>
      </p:sp>
      <p:pic>
        <p:nvPicPr>
          <p:cNvPr id="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p:cNvSpPr>
            <a:spLocks noGrp="1" noChangeArrowheads="1"/>
          </p:cNvSpPr>
          <p:nvPr>
            <p:ph type="body" idx="1"/>
          </p:nvPr>
        </p:nvSpPr>
        <p:spPr>
          <a:xfrm>
            <a:off x="802433" y="1233488"/>
            <a:ext cx="7681167" cy="4935537"/>
          </a:xfrm>
        </p:spPr>
        <p:txBody>
          <a:bodyPr/>
          <a:lstStyle/>
          <a:p>
            <a:pPr>
              <a:defRPr/>
            </a:pPr>
            <a:r>
              <a:rPr lang="en-US" altLang="en-US" dirty="0">
                <a:cs typeface="MS PGothic" panose="020B0600070205080204" pitchFamily="34" charset="-128"/>
              </a:rPr>
              <a:t>Can only estimate the length – should be similar to the previous one</a:t>
            </a:r>
          </a:p>
          <a:p>
            <a:pPr lvl="1">
              <a:defRPr/>
            </a:pPr>
            <a:r>
              <a:rPr lang="en-US" altLang="en-US" dirty="0"/>
              <a:t>Then pick process with shortest predicted next CPU burst</a:t>
            </a:r>
            <a:endParaRPr lang="en-US" altLang="en-US" dirty="0">
              <a:cs typeface="MS PGothic" panose="020B0600070205080204" pitchFamily="34" charset="-128"/>
            </a:endParaRPr>
          </a:p>
          <a:p>
            <a:pPr>
              <a:defRPr/>
            </a:pPr>
            <a:r>
              <a:rPr lang="en-US" altLang="en-US" dirty="0">
                <a:cs typeface="MS PGothic" panose="020B0600070205080204" pitchFamily="34" charset="-128"/>
              </a:rPr>
              <a:t>Can be done by using the length of previous CPU bursts, using exponential averaging</a:t>
            </a:r>
          </a:p>
          <a:p>
            <a:pPr>
              <a:defRPr/>
            </a:pPr>
            <a:endParaRPr lang="en-US" altLang="en-US" dirty="0">
              <a:cs typeface="MS PGothic" panose="020B0600070205080204" pitchFamily="34" charset="-128"/>
            </a:endParaRPr>
          </a:p>
          <a:p>
            <a:pPr>
              <a:defRPr/>
            </a:pPr>
            <a:endParaRPr lang="en-US" altLang="en-US" dirty="0">
              <a:cs typeface="MS PGothic" panose="020B0600070205080204" pitchFamily="34" charset="-128"/>
            </a:endParaRPr>
          </a:p>
          <a:p>
            <a:pPr>
              <a:defRPr/>
            </a:pPr>
            <a:endParaRPr lang="en-US" altLang="en-US" dirty="0">
              <a:cs typeface="MS PGothic" panose="020B0600070205080204" pitchFamily="34" charset="-128"/>
            </a:endParaRPr>
          </a:p>
          <a:p>
            <a:pPr marL="0" indent="0">
              <a:buFont typeface="Monotype Sorts" pitchFamily="-84" charset="2"/>
              <a:buNone/>
              <a:defRPr/>
            </a:pPr>
            <a:endParaRPr lang="en-US" altLang="en-US" dirty="0">
              <a:cs typeface="MS PGothic" panose="020B0600070205080204" pitchFamily="34" charset="-128"/>
            </a:endParaRPr>
          </a:p>
          <a:p>
            <a:pPr marL="0" indent="0">
              <a:buFont typeface="Monotype Sorts" pitchFamily="-84" charset="2"/>
              <a:buNone/>
              <a:defRPr/>
            </a:pPr>
            <a:endParaRPr lang="en-US" altLang="en-US" dirty="0">
              <a:cs typeface="MS PGothic" panose="020B0600070205080204" pitchFamily="34" charset="-128"/>
            </a:endParaRPr>
          </a:p>
          <a:p>
            <a:pPr>
              <a:defRPr/>
            </a:pPr>
            <a:r>
              <a:rPr lang="en-US" altLang="en-US" dirty="0">
                <a:cs typeface="MS PGothic" panose="020B0600070205080204" pitchFamily="34" charset="-128"/>
              </a:rPr>
              <a:t>Commonly,  </a:t>
            </a:r>
            <a:r>
              <a:rPr lang="en-US" altLang="en-US" dirty="0">
                <a:latin typeface="Calibri" panose="020F0502020204030204" charset="0"/>
                <a:cs typeface="Calibri" panose="020F0502020204030204" charset="0"/>
              </a:rPr>
              <a:t>α</a:t>
            </a:r>
            <a:r>
              <a:rPr lang="en-US" altLang="en-US" dirty="0">
                <a:latin typeface="Lucida Grande" pitchFamily="-84" charset="0"/>
                <a:cs typeface="MS PGothic" panose="020B0600070205080204" pitchFamily="34" charset="-128"/>
              </a:rPr>
              <a:t> </a:t>
            </a:r>
            <a:r>
              <a:rPr lang="en-US" altLang="en-US" dirty="0">
                <a:cs typeface="MS PGothic" panose="020B0600070205080204" pitchFamily="34" charset="-128"/>
              </a:rPr>
              <a:t>set to ½</a:t>
            </a:r>
          </a:p>
        </p:txBody>
      </p:sp>
      <p:pic>
        <p:nvPicPr>
          <p:cNvPr id="3174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3022" y="3782501"/>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p:cNvPicPr>
            <a:picLocks noChangeAspect="1"/>
          </p:cNvPicPr>
          <p:nvPr/>
        </p:nvPicPr>
        <p:blipFill>
          <a:blip r:embed="rId4"/>
          <a:stretch>
            <a:fillRect/>
          </a:stretch>
        </p:blipFill>
        <p:spPr>
          <a:xfrm>
            <a:off x="1504165" y="2611222"/>
            <a:ext cx="445770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p:cNvSpPr>
            <a:spLocks noGrp="1" noChangeArrowheads="1"/>
          </p:cNvSpPr>
          <p:nvPr>
            <p:ph type="body" idx="1"/>
          </p:nvPr>
        </p:nvSpPr>
        <p:spPr>
          <a:xfrm>
            <a:off x="793115" y="1233805"/>
            <a:ext cx="8191500" cy="4723130"/>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200349" y="129252"/>
            <a:ext cx="7709971" cy="576262"/>
          </a:xfrm>
        </p:spPr>
        <p:txBody>
          <a:bodyPr/>
          <a:lstStyle/>
          <a:p>
            <a:pPr eaLnBrk="1" hangingPunct="1"/>
            <a:r>
              <a:rPr lang="en-US" altLang="en-US" sz="2800" dirty="0">
                <a:solidFill>
                  <a:srgbClr val="C00000"/>
                </a:solidFill>
              </a:rPr>
              <a:t>S</a:t>
            </a:r>
            <a:r>
              <a:rPr lang="en-US" altLang="en-US" sz="2800" dirty="0"/>
              <a:t>hortest </a:t>
            </a:r>
            <a:r>
              <a:rPr lang="en-US" altLang="en-US" sz="2800" dirty="0">
                <a:solidFill>
                  <a:srgbClr val="C00000"/>
                </a:solidFill>
              </a:rPr>
              <a:t>R</a:t>
            </a:r>
            <a:r>
              <a:rPr lang="en-US" altLang="en-US" sz="2800" dirty="0"/>
              <a:t>emaining </a:t>
            </a:r>
            <a:r>
              <a:rPr lang="en-US" altLang="en-US" sz="2800" dirty="0">
                <a:solidFill>
                  <a:srgbClr val="C00000"/>
                </a:solidFill>
              </a:rPr>
              <a:t>T</a:t>
            </a:r>
            <a:r>
              <a:rPr lang="en-US" altLang="en-US" sz="2800" dirty="0"/>
              <a:t>ime First Scheduling</a:t>
            </a:r>
          </a:p>
        </p:txBody>
      </p:sp>
      <p:sp>
        <p:nvSpPr>
          <p:cNvPr id="27650" name="Rectangle 3"/>
          <p:cNvSpPr>
            <a:spLocks noGrp="1" noChangeArrowheads="1"/>
          </p:cNvSpPr>
          <p:nvPr>
            <p:ph type="body" idx="1"/>
          </p:nvPr>
        </p:nvSpPr>
        <p:spPr>
          <a:xfrm>
            <a:off x="821093" y="1139969"/>
            <a:ext cx="6760325" cy="4345509"/>
          </a:xfrm>
        </p:spPr>
        <p:txBody>
          <a:bodyPr/>
          <a:lstStyle/>
          <a:p>
            <a:r>
              <a:rPr lang="en-US" altLang="en-US" dirty="0">
                <a:cs typeface="MS PGothic" panose="020B0600070205080204" pitchFamily="34"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a:t>
            </a:r>
            <a:r>
              <a:rPr lang="en-US" altLang="en-US" dirty="0">
                <a:solidFill>
                  <a:srgbClr val="C00000"/>
                </a:solidFill>
              </a:rPr>
              <a:t>SRT</a:t>
            </a:r>
            <a:r>
              <a:rPr lang="en-US" altLang="en-US" dirty="0"/>
              <a:t> more “optimal” than SJN in terms of the minimum average waiting time for a given set of processes?</a:t>
            </a:r>
          </a:p>
          <a:p>
            <a:endParaRPr lang="en-US" altLang="en-US" dirty="0"/>
          </a:p>
          <a:p>
            <a:pPr marL="457200" lvl="1" indent="0">
              <a:buNone/>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p:cNvSpPr>
            <a:spLocks noGrp="1" noChangeArrowheads="1"/>
          </p:cNvSpPr>
          <p:nvPr>
            <p:ph type="body" idx="1"/>
          </p:nvPr>
        </p:nvSpPr>
        <p:spPr>
          <a:xfrm>
            <a:off x="802433" y="1233488"/>
            <a:ext cx="7707085" cy="4530725"/>
          </a:xfrm>
        </p:spPr>
        <p:txBody>
          <a:bodyPr/>
          <a:lstStyle/>
          <a:p>
            <a:pPr>
              <a:tabLst>
                <a:tab pos="1600835" algn="ctr"/>
                <a:tab pos="3252470" algn="ctr"/>
                <a:tab pos="5141595" algn="ctr"/>
              </a:tabLst>
              <a:defRPr/>
            </a:pPr>
            <a:r>
              <a:rPr lang="en-US" altLang="en-US" dirty="0">
                <a:cs typeface="MS PGothic" panose="020B0600070205080204" pitchFamily="34" charset="-128"/>
              </a:rPr>
              <a:t>Now we add the concepts of varying arrival times and preemption to the analysis</a:t>
            </a: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u="sng" dirty="0">
                <a:cs typeface="MS PGothic" panose="020B0600070205080204" pitchFamily="34" charset="-128"/>
              </a:rPr>
              <a:t>Process</a:t>
            </a:r>
            <a:r>
              <a:rPr lang="en-US" altLang="en-US" u="sng" dirty="0">
                <a:solidFill>
                  <a:schemeClr val="bg1"/>
                </a:solidFill>
                <a:cs typeface="MS PGothic" panose="020B0600070205080204" pitchFamily="34" charset="-128"/>
              </a:rPr>
              <a:t>      </a:t>
            </a:r>
            <a:r>
              <a:rPr lang="en-US" altLang="en-US" u="sng" dirty="0" err="1">
                <a:solidFill>
                  <a:schemeClr val="bg1"/>
                </a:solidFill>
                <a:cs typeface="MS PGothic" panose="020B0600070205080204" pitchFamily="34" charset="-128"/>
              </a:rPr>
              <a:t>i</a:t>
            </a:r>
            <a:r>
              <a:rPr lang="en-US" altLang="en-US" u="sng" dirty="0">
                <a:solidFill>
                  <a:schemeClr val="bg1"/>
                </a:solidFill>
                <a:cs typeface="MS PGothic" panose="020B0600070205080204" pitchFamily="34" charset="-128"/>
              </a:rPr>
              <a:t> </a:t>
            </a:r>
            <a:r>
              <a:rPr lang="en-US" altLang="en-US" i="1" u="sng" dirty="0">
                <a:cs typeface="MS PGothic" panose="020B0600070205080204" pitchFamily="34" charset="-128"/>
              </a:rPr>
              <a:t>Arrival </a:t>
            </a:r>
            <a:r>
              <a:rPr lang="en-US" altLang="en-US" u="sng" dirty="0" err="1">
                <a:cs typeface="MS PGothic" panose="020B0600070205080204" pitchFamily="34" charset="-128"/>
              </a:rPr>
              <a:t>Time</a:t>
            </a:r>
            <a:r>
              <a:rPr lang="en-US" altLang="en-US" u="sng" dirty="0" err="1">
                <a:solidFill>
                  <a:schemeClr val="bg1"/>
                </a:solidFill>
                <a:cs typeface="MS PGothic" panose="020B0600070205080204" pitchFamily="34" charset="-128"/>
              </a:rPr>
              <a:t>T</a:t>
            </a:r>
            <a:r>
              <a:rPr lang="en-US" altLang="en-US" dirty="0">
                <a:cs typeface="MS PGothic" panose="020B0600070205080204" pitchFamily="34" charset="-128"/>
              </a:rPr>
              <a:t>	</a:t>
            </a:r>
            <a:r>
              <a:rPr lang="en-US" altLang="en-US" u="sng" dirty="0">
                <a:cs typeface="MS PGothic" panose="020B0600070205080204" pitchFamily="34" charset="-128"/>
              </a:rPr>
              <a:t>Burst Time</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1</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0</a:t>
            </a:r>
            <a:r>
              <a:rPr lang="en-US" altLang="en-US" dirty="0">
                <a:cs typeface="MS PGothic" panose="020B0600070205080204" pitchFamily="34" charset="-128"/>
              </a:rPr>
              <a:t>	8</a:t>
            </a: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 	</a:t>
            </a:r>
            <a:r>
              <a:rPr lang="en-US" altLang="en-US" dirty="0">
                <a:solidFill>
                  <a:srgbClr val="000000"/>
                </a:solidFill>
                <a:cs typeface="MS PGothic" panose="020B0600070205080204" pitchFamily="34" charset="-128"/>
              </a:rPr>
              <a:t>1</a:t>
            </a:r>
            <a:r>
              <a:rPr lang="en-US" altLang="en-US" dirty="0">
                <a:cs typeface="MS PGothic" panose="020B0600070205080204" pitchFamily="34" charset="-128"/>
              </a:rPr>
              <a:t>	4</a:t>
            </a: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3</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2</a:t>
            </a:r>
            <a:r>
              <a:rPr lang="en-US" altLang="en-US" dirty="0">
                <a:cs typeface="MS PGothic" panose="020B0600070205080204" pitchFamily="34" charset="-128"/>
              </a:rPr>
              <a:t>	9</a:t>
            </a: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4</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3</a:t>
            </a:r>
            <a:r>
              <a:rPr lang="en-US" altLang="en-US" dirty="0">
                <a:cs typeface="MS PGothic" panose="020B0600070205080204" pitchFamily="34" charset="-128"/>
              </a:rPr>
              <a:t>	5</a:t>
            </a:r>
          </a:p>
          <a:p>
            <a:pPr>
              <a:tabLst>
                <a:tab pos="1600835" algn="ctr"/>
                <a:tab pos="3252470" algn="ctr"/>
                <a:tab pos="5141595" algn="ctr"/>
              </a:tabLst>
              <a:defRPr/>
            </a:pPr>
            <a:r>
              <a:rPr lang="en-US" altLang="en-US" i="1" dirty="0">
                <a:cs typeface="MS PGothic" panose="020B0600070205080204" pitchFamily="34" charset="-128"/>
              </a:rPr>
              <a:t>Preemptive </a:t>
            </a:r>
            <a:r>
              <a:rPr lang="en-US" altLang="en-US" dirty="0">
                <a:cs typeface="MS PGothic" panose="020B0600070205080204" pitchFamily="34" charset="-128"/>
              </a:rPr>
              <a:t>SJF Gantt Chart</a:t>
            </a:r>
          </a:p>
          <a:p>
            <a:pPr>
              <a:tabLst>
                <a:tab pos="1600835" algn="ctr"/>
                <a:tab pos="3252470" algn="ctr"/>
                <a:tab pos="5141595" algn="ctr"/>
              </a:tabLst>
              <a:defRPr/>
            </a:pPr>
            <a:endParaRPr lang="en-US" altLang="en-US" dirty="0">
              <a:cs typeface="MS PGothic" panose="020B0600070205080204" pitchFamily="34" charset="-128"/>
            </a:endParaRPr>
          </a:p>
          <a:p>
            <a:pPr>
              <a:tabLst>
                <a:tab pos="1600835" algn="ctr"/>
                <a:tab pos="3252470" algn="ctr"/>
                <a:tab pos="5141595" algn="ctr"/>
              </a:tabLst>
              <a:defRPr/>
            </a:pPr>
            <a:endParaRPr lang="en-US" altLang="en-US" dirty="0">
              <a:cs typeface="MS PGothic" panose="020B0600070205080204" pitchFamily="34" charset="-128"/>
            </a:endParaRPr>
          </a:p>
          <a:p>
            <a:pPr marL="0" indent="0">
              <a:buFont typeface="Monotype Sorts" pitchFamily="-84" charset="2"/>
              <a:buNone/>
              <a:tabLst>
                <a:tab pos="1600835" algn="ctr"/>
                <a:tab pos="3252470" algn="ctr"/>
                <a:tab pos="5141595" algn="ctr"/>
              </a:tabLst>
              <a:defRPr/>
            </a:pPr>
            <a:endParaRPr lang="en-US" altLang="en-US" dirty="0">
              <a:cs typeface="MS PGothic" panose="020B0600070205080204" pitchFamily="34" charset="-128"/>
            </a:endParaRPr>
          </a:p>
          <a:p>
            <a:pPr>
              <a:tabLst>
                <a:tab pos="1600835" algn="ctr"/>
                <a:tab pos="3252470" algn="ctr"/>
                <a:tab pos="5141595" algn="ctr"/>
              </a:tabLst>
              <a:defRPr/>
            </a:pPr>
            <a:r>
              <a:rPr lang="en-US" altLang="en-US" dirty="0">
                <a:cs typeface="MS PGothic" panose="020B0600070205080204" pitchFamily="34" charset="-128"/>
              </a:rPr>
              <a:t>Average waiting time = [(10-1)+(1-1)+(17-2)+(5-3)]/4 = 26/4 = 6.5</a:t>
            </a:r>
          </a:p>
          <a:p>
            <a:pPr>
              <a:tabLst>
                <a:tab pos="1600835" algn="ctr"/>
                <a:tab pos="3252470" algn="ctr"/>
                <a:tab pos="5141595" algn="ctr"/>
              </a:tabLst>
              <a:defRPr/>
            </a:pPr>
            <a:endParaRPr lang="en-US" altLang="en-US" i="1" baseline="-25000" dirty="0">
              <a:cs typeface="MS PGothic" panose="020B0600070205080204" pitchFamily="34" charset="-128"/>
            </a:endParaRPr>
          </a:p>
          <a:p>
            <a:pPr>
              <a:buFont typeface="Monotype Sorts" pitchFamily="-84" charset="2"/>
              <a:buNone/>
              <a:tabLst>
                <a:tab pos="1600835" algn="ctr"/>
                <a:tab pos="3252470" algn="ctr"/>
                <a:tab pos="5141595" algn="ctr"/>
              </a:tabLst>
              <a:defRPr/>
            </a:pPr>
            <a:endParaRPr lang="en-US" altLang="en-US" i="1" baseline="-25000" dirty="0">
              <a:cs typeface="MS PGothic" panose="020B0600070205080204" pitchFamily="34" charset="-128"/>
            </a:endParaRPr>
          </a:p>
        </p:txBody>
      </p:sp>
      <p:pic>
        <p:nvPicPr>
          <p:cNvPr id="3789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457200" y="153418"/>
            <a:ext cx="8229600" cy="576262"/>
          </a:xfrm>
        </p:spPr>
        <p:txBody>
          <a:bodyPr/>
          <a:lstStyle/>
          <a:p>
            <a:pPr eaLnBrk="1" hangingPunct="1"/>
            <a:r>
              <a:rPr lang="en-US" altLang="en-US" dirty="0"/>
              <a:t>Round Robin (RR)  (</a:t>
            </a:r>
            <a:r>
              <a:rPr lang="zh-CN" altLang="en-US" dirty="0">
                <a:latin typeface="黑体" panose="02010609060101010101" pitchFamily="49" charset="-122"/>
                <a:ea typeface="黑体" panose="02010609060101010101" pitchFamily="49" charset="-122"/>
              </a:rPr>
              <a:t>轮转</a:t>
            </a:r>
            <a:r>
              <a:rPr lang="en-US" altLang="zh-CN" dirty="0"/>
              <a:t>)</a:t>
            </a:r>
          </a:p>
        </p:txBody>
      </p:sp>
      <p:sp>
        <p:nvSpPr>
          <p:cNvPr id="39938" name="Rectangle 3"/>
          <p:cNvSpPr>
            <a:spLocks noGrp="1" noChangeArrowheads="1"/>
          </p:cNvSpPr>
          <p:nvPr>
            <p:ph type="body" idx="1"/>
          </p:nvPr>
        </p:nvSpPr>
        <p:spPr>
          <a:xfrm>
            <a:off x="532765" y="1058545"/>
            <a:ext cx="8154035" cy="4670425"/>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 </a:t>
            </a:r>
            <a:r>
              <a:rPr lang="en-US" altLang="en-US" b="1" i="1" dirty="0">
                <a:solidFill>
                  <a:srgbClr val="C00000"/>
                </a:solidFill>
              </a:rPr>
              <a:t>time slice</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p:cNvSpPr>
            <a:spLocks noGrp="1" noChangeArrowheads="1"/>
          </p:cNvSpPr>
          <p:nvPr>
            <p:ph type="body" idx="1"/>
          </p:nvPr>
        </p:nvSpPr>
        <p:spPr>
          <a:xfrm>
            <a:off x="806450" y="1233487"/>
            <a:ext cx="7973868" cy="4907539"/>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p:cNvSpPr>
            <a:spLocks noGrp="1" noChangeArrowheads="1"/>
          </p:cNvSpPr>
          <p:nvPr>
            <p:ph type="body"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49682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p:cNvSpPr>
            <a:spLocks noGrp="1" noChangeArrowheads="1"/>
          </p:cNvSpPr>
          <p:nvPr>
            <p:ph type="body"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p:cNvSpPr>
            <a:spLocks noGrp="1"/>
          </p:cNvSpPr>
          <p:nvPr>
            <p:ph idx="1"/>
          </p:nvPr>
        </p:nvSpPr>
        <p:spPr/>
        <p:txBody>
          <a:bodyPr/>
          <a:lstStyle/>
          <a:p>
            <a:r>
              <a:rPr lang="en-US" altLang="en-US"/>
              <a:t>Prioritization based upon process type</a:t>
            </a:r>
          </a:p>
        </p:txBody>
      </p:sp>
      <p:pic>
        <p:nvPicPr>
          <p:cNvPr id="5632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2135505"/>
            <a:ext cx="6326505" cy="336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1063512" y="112029"/>
            <a:ext cx="8186349" cy="679450"/>
          </a:xfrm>
        </p:spPr>
        <p:txBody>
          <a:bodyPr/>
          <a:lstStyle/>
          <a:p>
            <a:pPr eaLnBrk="1" hangingPunct="1"/>
            <a:r>
              <a:rPr lang="en-US" altLang="en-US" dirty="0"/>
              <a:t>Example of Multilevel Feedback Queue</a:t>
            </a:r>
          </a:p>
        </p:txBody>
      </p:sp>
      <p:sp>
        <p:nvSpPr>
          <p:cNvPr id="59394" name="Rectangle 3"/>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a:t>
            </a:r>
            <a:r>
              <a:rPr lang="en-US" altLang="en-US" dirty="0">
                <a:solidFill>
                  <a:srgbClr val="0070C0"/>
                </a:solidFill>
              </a:rPr>
              <a:t>LWP (Light-Weight Process)</a:t>
            </a:r>
            <a:endParaRPr lang="en-US" altLang="en-US" dirty="0"/>
          </a:p>
          <a:p>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p:cNvSpPr>
            <a:spLocks noGrp="1" noChangeArrowheads="1"/>
          </p:cNvSpPr>
          <p:nvPr>
            <p:ph type="body" idx="1"/>
          </p:nvPr>
        </p:nvSpPr>
        <p:spPr>
          <a:xfrm>
            <a:off x="561340" y="1137920"/>
            <a:ext cx="8408670" cy="3521710"/>
          </a:xfrm>
        </p:spPr>
        <p:txBody>
          <a:bodyPr/>
          <a:lstStyle/>
          <a:p>
            <a:r>
              <a:rPr lang="en-US" altLang="en-US" sz="2400" dirty="0">
                <a:latin typeface="Calibri" panose="020F0502020204030204" charset="0"/>
                <a:cs typeface="Calibri" panose="020F0502020204030204" charset="0"/>
              </a:rPr>
              <a:t>API allows specifying either PCS or SCS during thread creation</a:t>
            </a:r>
          </a:p>
          <a:p>
            <a:pPr lvl="1"/>
            <a:r>
              <a:rPr lang="en-US" altLang="en-US" sz="2400" dirty="0">
                <a:latin typeface="Calibri" panose="020F0502020204030204" charset="0"/>
                <a:cs typeface="Calibri" panose="020F0502020204030204" charset="0"/>
              </a:rPr>
              <a:t>PTHREAD_SCOPE_PROCESS schedules threads using PCS scheduling</a:t>
            </a:r>
          </a:p>
          <a:p>
            <a:pPr lvl="1"/>
            <a:r>
              <a:rPr lang="en-US" altLang="en-US" sz="2400" dirty="0">
                <a:latin typeface="Calibri" panose="020F0502020204030204" charset="0"/>
                <a:cs typeface="Calibri" panose="020F0502020204030204" charset="0"/>
              </a:rPr>
              <a:t>PTHREAD_SCOPE_SYSTEM schedules threads using SCS scheduling</a:t>
            </a:r>
          </a:p>
          <a:p>
            <a:r>
              <a:rPr lang="en-US" altLang="en-US" sz="2400" dirty="0">
                <a:latin typeface="Calibri" panose="020F0502020204030204" charset="0"/>
                <a:cs typeface="Calibri" panose="020F0502020204030204" charset="0"/>
              </a:rPr>
              <a:t>Can be limited by OS – Linux and macOS only allow PTHREAD_SCOPE_SYSTEM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p:cNvSpPr>
            <a:spLocks noGrp="1" noChangeArrowheads="1"/>
          </p:cNvSpPr>
          <p:nvPr>
            <p:ph type="body" idx="1"/>
          </p:nvPr>
        </p:nvSpPr>
        <p:spPr>
          <a:xfrm>
            <a:off x="1538605" y="942975"/>
            <a:ext cx="6817995" cy="5775960"/>
          </a:xfrm>
        </p:spPr>
        <p:txBody>
          <a:bodyPr/>
          <a:lstStyle/>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pthread.h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stdio.h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#define NUM_THREADS 5 </a:t>
            </a:r>
          </a:p>
          <a:p>
            <a:pPr marL="0" indent="0">
              <a:buFont typeface="Monotype Sorts" pitchFamily="-84" charset="2"/>
              <a:buNone/>
            </a:pPr>
            <a:r>
              <a:rPr lang="en-US" altLang="en-US" sz="1400" b="1" dirty="0">
                <a:latin typeface="Courier New" panose="02070309020205020404" pitchFamily="49" charset="0"/>
              </a:rPr>
              <a:t>int main(int </a:t>
            </a:r>
            <a:r>
              <a:rPr lang="en-US" altLang="en-US" sz="1400" b="1" dirty="0" err="1">
                <a:latin typeface="Courier New" panose="02070309020205020404" pitchFamily="49" charset="0"/>
              </a:rPr>
              <a:t>argc</a:t>
            </a:r>
            <a:r>
              <a:rPr lang="en-US" altLang="en-US" sz="1400" b="1" dirty="0">
                <a:latin typeface="Courier New" panose="02070309020205020404" pitchFamily="49" charset="0"/>
              </a:rPr>
              <a:t>, char *</a:t>
            </a:r>
            <a:r>
              <a:rPr lang="en-US" altLang="en-US" sz="1400" b="1" dirty="0" err="1">
                <a:latin typeface="Courier New" panose="02070309020205020404" pitchFamily="49" charset="0"/>
              </a:rPr>
              <a:t>argv</a:t>
            </a:r>
            <a:r>
              <a:rPr lang="en-US" altLang="en-US" sz="1400" b="1" dirty="0">
                <a:latin typeface="Courier New" panose="02070309020205020404" pitchFamily="49" charset="0"/>
              </a:rPr>
              <a:t>[]) { </a:t>
            </a:r>
          </a:p>
          <a:p>
            <a:pPr marL="0" indent="0">
              <a:buFont typeface="Monotype Sorts" pitchFamily="-84" charset="2"/>
              <a:buNone/>
            </a:pPr>
            <a:r>
              <a:rPr lang="en-US" altLang="en-US" sz="1400" b="1" dirty="0">
                <a:latin typeface="Courier New" panose="02070309020205020404" pitchFamily="49" charset="0"/>
              </a:rPr>
              <a:t>   int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scope;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[NUM THREADS];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get the default attributes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pthread_attr_init</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first inquire on the current scope */</a:t>
            </a:r>
            <a:br>
              <a:rPr lang="en-US" altLang="en-US" sz="1400" b="1" dirty="0">
                <a:latin typeface="Courier New" panose="02070309020205020404" pitchFamily="49" charset="0"/>
              </a:rPr>
            </a:br>
            <a:r>
              <a:rPr lang="en-US" altLang="en-US" sz="1400" b="1" dirty="0">
                <a:latin typeface="Courier New" panose="02070309020205020404" pitchFamily="49" charset="0"/>
              </a:rPr>
              <a:t>   if (</a:t>
            </a:r>
            <a:r>
              <a:rPr lang="en-US" altLang="en-US" sz="1400" b="1" dirty="0" err="1">
                <a:latin typeface="Courier New" panose="02070309020205020404" pitchFamily="49" charset="0"/>
              </a:rPr>
              <a:t>pthread_attr_getscope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&amp;scope) != 0)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"Unable to get scheduling scope\n"); </a:t>
            </a:r>
          </a:p>
          <a:p>
            <a:pPr marL="0" indent="0">
              <a:buFont typeface="Monotype Sorts" pitchFamily="-84" charset="2"/>
              <a:buNone/>
            </a:pPr>
            <a:r>
              <a:rPr lang="en-US" altLang="en-US" sz="1400" b="1" dirty="0">
                <a:latin typeface="Courier New" panose="02070309020205020404" pitchFamily="49" charset="0"/>
              </a:rPr>
              <a:t>   else { </a:t>
            </a:r>
          </a:p>
          <a:p>
            <a:pPr marL="0" indent="0">
              <a:buFont typeface="Monotype Sorts" pitchFamily="-84" charset="2"/>
              <a:buNone/>
            </a:pPr>
            <a:r>
              <a:rPr lang="en-US" altLang="en-US" sz="1400" b="1" dirty="0">
                <a:latin typeface="Courier New" panose="02070309020205020404" pitchFamily="49" charset="0"/>
              </a:rPr>
              <a:t>      if (scope == PTHREAD_SCOPE_PROCESS)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("PTHREAD_SCOPE_PROCESS"); </a:t>
            </a:r>
          </a:p>
          <a:p>
            <a:pPr marL="0" indent="0">
              <a:buFont typeface="Monotype Sorts" pitchFamily="-84" charset="2"/>
              <a:buNone/>
            </a:pPr>
            <a:r>
              <a:rPr lang="en-US" altLang="en-US" sz="1400" b="1" dirty="0">
                <a:latin typeface="Courier New" panose="02070309020205020404" pitchFamily="49" charset="0"/>
              </a:rPr>
              <a:t>      else if (scope == PTHREAD_SCOPE_SYSTEM)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("PTHREAD_SCOPE_SYSTEM"); </a:t>
            </a:r>
          </a:p>
          <a:p>
            <a:pPr marL="0" indent="0">
              <a:buFont typeface="Monotype Sorts" pitchFamily="-84" charset="2"/>
              <a:buNone/>
            </a:pPr>
            <a:r>
              <a:rPr lang="en-US" altLang="en-US" sz="1400" b="1" dirty="0">
                <a:latin typeface="Courier New" panose="02070309020205020404" pitchFamily="49" charset="0"/>
              </a:rPr>
              <a:t>      else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"Illegal scope value.\n"); </a:t>
            </a:r>
          </a:p>
          <a:p>
            <a:pPr marL="0" indent="0">
              <a:buFont typeface="Monotype Sorts" pitchFamily="-84" charset="2"/>
              <a:buNone/>
            </a:pPr>
            <a:r>
              <a:rPr lang="en-US" altLang="en-US" sz="1400" b="1" dirty="0">
                <a:latin typeface="Courier New" panose="02070309020205020404" pitchFamily="49" charset="0"/>
              </a:rPr>
              <a:t>   }</a:t>
            </a:r>
            <a:r>
              <a:rPr lang="en-US" altLang="en-US" sz="1400" dirty="0">
                <a:latin typeface="Courier New" panose="02070309020205020404" pitchFamily="49" charset="0"/>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p:cNvSpPr>
            <a:spLocks noGrp="1" noChangeArrowheads="1"/>
          </p:cNvSpPr>
          <p:nvPr>
            <p:ph type="body" idx="1"/>
          </p:nvPr>
        </p:nvSpPr>
        <p:spPr>
          <a:xfrm>
            <a:off x="1462723" y="1193800"/>
            <a:ext cx="7321550" cy="4765675"/>
          </a:xfrm>
        </p:spPr>
        <p:txBody>
          <a:bodyPr/>
          <a:lstStyle/>
          <a:p>
            <a:pPr marL="0" indent="0">
              <a:buFont typeface="Monotype Sorts" pitchFamily="-84" charset="2"/>
              <a:buNone/>
            </a:pPr>
            <a:r>
              <a:rPr lang="en-US" altLang="en-US" sz="1400" b="1" dirty="0">
                <a:latin typeface="Courier New" panose="02070309020205020404" pitchFamily="49" charset="0"/>
              </a:rPr>
              <a:t>   /* set the scheduling algorithm to PCS or SCS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pthread_attr_setscope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PTHREAD_SCOPE_SYSTEM); </a:t>
            </a:r>
          </a:p>
          <a:p>
            <a:pPr marL="0" indent="0">
              <a:buFont typeface="Monotype Sorts" pitchFamily="-84" charset="2"/>
              <a:buNone/>
            </a:pPr>
            <a:r>
              <a:rPr lang="en-US" altLang="en-US" sz="1400" b="1" dirty="0">
                <a:latin typeface="Courier New" panose="02070309020205020404" pitchFamily="49" charset="0"/>
              </a:rPr>
              <a:t>   /* create the threads */</a:t>
            </a:r>
            <a:br>
              <a:rPr lang="en-US" altLang="en-US" sz="1400" b="1" dirty="0">
                <a:latin typeface="Courier New" panose="02070309020205020404" pitchFamily="49" charset="0"/>
              </a:rPr>
            </a:br>
            <a:r>
              <a:rPr lang="en-US" altLang="en-US" sz="1400" b="1" dirty="0">
                <a:latin typeface="Courier New" panose="02070309020205020404" pitchFamily="49" charset="0"/>
              </a:rPr>
              <a:t>   for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0;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&lt; NUM_THREADS;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pthread_create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a:t>
            </a:r>
            <a:r>
              <a:rPr lang="en-US" altLang="en-US" sz="1400" b="1" dirty="0" err="1">
                <a:latin typeface="Courier New" panose="02070309020205020404" pitchFamily="49" charset="0"/>
              </a:rPr>
              <a:t>i</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attr,runner,NULL</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now join on each thread */</a:t>
            </a:r>
            <a:br>
              <a:rPr lang="en-US" altLang="en-US" sz="1400" b="1" dirty="0">
                <a:latin typeface="Courier New" panose="02070309020205020404" pitchFamily="49" charset="0"/>
              </a:rPr>
            </a:br>
            <a:r>
              <a:rPr lang="en-US" altLang="en-US" sz="1400" b="1" dirty="0">
                <a:latin typeface="Courier New" panose="02070309020205020404" pitchFamily="49" charset="0"/>
              </a:rPr>
              <a:t>   for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0;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&lt; NUM_THREADS;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pthread_join</a:t>
            </a:r>
            <a:r>
              <a:rPr lang="en-US" altLang="en-US" sz="1400" b="1" dirty="0">
                <a:latin typeface="Courier New" panose="02070309020205020404" pitchFamily="49" charset="0"/>
              </a:rPr>
              <a:t>(</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a:t>
            </a:r>
            <a:r>
              <a:rPr lang="en-US" altLang="en-US" sz="1400" b="1" dirty="0" err="1">
                <a:latin typeface="Courier New" panose="02070309020205020404" pitchFamily="49" charset="0"/>
              </a:rPr>
              <a:t>i</a:t>
            </a:r>
            <a:r>
              <a:rPr lang="en-US" altLang="en-US" sz="1400" b="1" dirty="0">
                <a:latin typeface="Courier New" panose="02070309020205020404" pitchFamily="49" charset="0"/>
              </a:rPr>
              <a:t>], NULL); </a:t>
            </a:r>
          </a:p>
          <a:p>
            <a:pPr marL="0" indent="0">
              <a:buFont typeface="Monotype Sorts" pitchFamily="-84" charset="2"/>
              <a:buNone/>
            </a:pP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Each thread will begin control in this function */ </a:t>
            </a:r>
          </a:p>
          <a:p>
            <a:pPr marL="0" indent="0">
              <a:buFont typeface="Monotype Sorts" pitchFamily="-84" charset="2"/>
              <a:buNone/>
            </a:pPr>
            <a:r>
              <a:rPr lang="en-US" altLang="en-US" sz="1400" b="1" dirty="0">
                <a:latin typeface="Courier New" panose="02070309020205020404" pitchFamily="49" charset="0"/>
              </a:rPr>
              <a:t>void *runner(void *param) { </a:t>
            </a:r>
          </a:p>
          <a:p>
            <a:pPr marL="0" indent="0">
              <a:buFont typeface="Monotype Sorts" pitchFamily="-84" charset="2"/>
              <a:buNone/>
            </a:pPr>
            <a:r>
              <a:rPr lang="en-US" altLang="en-US" sz="1400" b="1" dirty="0">
                <a:latin typeface="Courier New" panose="02070309020205020404" pitchFamily="49" charset="0"/>
              </a:rPr>
              <a:t>   /* do some work ...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pthread_exit</a:t>
            </a:r>
            <a:r>
              <a:rPr lang="en-US" altLang="en-US" sz="1400" b="1" dirty="0">
                <a:latin typeface="Courier New" panose="02070309020205020404" pitchFamily="49" charset="0"/>
              </a:rPr>
              <a:t>(0); </a:t>
            </a:r>
          </a:p>
          <a:p>
            <a:pPr marL="0" indent="0">
              <a:buFont typeface="Monotype Sorts" pitchFamily="-84" charset="2"/>
              <a:buNone/>
            </a:pPr>
            <a:r>
              <a:rPr lang="en-US" altLang="en-US" sz="1400" b="1" dirty="0">
                <a:latin typeface="Courier New" panose="020703090202050204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pic>
        <p:nvPicPr>
          <p:cNvPr id="7168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pic>
        <p:nvPicPr>
          <p:cNvPr id="7270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br>
              <a:rPr lang="en-US" altLang="en-US" dirty="0"/>
            </a:br>
            <a:br>
              <a:rPr lang="en-US" altLang="en-US" dirty="0"/>
            </a:b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782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t>
            </a:r>
            <a:r>
              <a:rPr lang="en-US" altLang="en-US" b="1" dirty="0">
                <a:solidFill>
                  <a:srgbClr val="0070C0"/>
                </a:solidFill>
              </a:rPr>
              <a:t>affinity for a processor</a:t>
            </a:r>
            <a:r>
              <a:rPr lang="en-US" altLang="en-US" dirty="0"/>
              <a:t> (i.e., “</a:t>
            </a:r>
            <a:r>
              <a:rPr lang="en-US" altLang="en-US" b="1" dirty="0">
                <a:solidFill>
                  <a:srgbClr val="0070C0"/>
                </a:solidFill>
              </a:rPr>
              <a:t>processor affinity</a:t>
            </a:r>
            <a:r>
              <a:rPr lang="en-US" altLang="en-US" dirty="0"/>
              <a:t>”)</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zh-CN" altLang="en-US" dirty="0">
                <a:latin typeface="黑体" panose="02010609060101010101" pitchFamily="49" charset="-122"/>
                <a:ea typeface="黑体" panose="02010609060101010101" pitchFamily="49" charset="-122"/>
              </a:rPr>
              <a:t>软亲和性</a:t>
            </a:r>
            <a:r>
              <a:rPr lang="en-US" altLang="en-US" b="1" dirty="0"/>
              <a:t>)</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1310" y="2148840"/>
            <a:ext cx="6247765"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p:cNvSpPr>
            <a:spLocks noGrp="1"/>
          </p:cNvSpPr>
          <p:nvPr>
            <p:ph idx="1"/>
          </p:nvPr>
        </p:nvSpPr>
        <p:spPr>
          <a:xfrm>
            <a:off x="806450" y="1005840"/>
            <a:ext cx="7740391" cy="4575493"/>
          </a:xfrm>
        </p:spPr>
        <p:txBody>
          <a:bodyPr/>
          <a:lstStyle/>
          <a:p>
            <a:r>
              <a:rPr lang="en-US" altLang="en-US" dirty="0"/>
              <a:t>Can present obvious challenges</a:t>
            </a:r>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p>
          <a:p>
            <a:r>
              <a:rPr lang="en-US" altLang="en-US" b="1" dirty="0">
                <a:solidFill>
                  <a:srgbClr val="006699"/>
                </a:solidFill>
                <a:latin typeface="+mj-lt"/>
              </a:rPr>
              <a:t>Hard real-time systems – task must be serviced by its deadline</a:t>
            </a:r>
          </a:p>
          <a:p>
            <a:pPr lvl="1">
              <a:buFont typeface="Monotype Sorts" pitchFamily="-84" charset="2"/>
              <a:buNone/>
            </a:pPr>
            <a:r>
              <a:rPr lang="en-US" altLang="en-US" b="1" dirty="0">
                <a:solidFill>
                  <a:srgbClr val="006699"/>
                </a:solidFill>
                <a:latin typeface="+mj-lt"/>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p:cNvSpPr>
            <a:spLocks noGrp="1"/>
          </p:cNvSpPr>
          <p:nvPr>
            <p:ph idx="1"/>
          </p:nvPr>
        </p:nvSpPr>
        <p:spPr>
          <a:xfrm>
            <a:off x="605155" y="1097280"/>
            <a:ext cx="3552825" cy="4585653"/>
          </a:xfrm>
        </p:spPr>
        <p:txBody>
          <a:bodyPr/>
          <a:lstStyle/>
          <a:p>
            <a:r>
              <a:rPr lang="en-US" altLang="en-US" dirty="0"/>
              <a:t>Event latency – the amount of time that elapses from when an event occurs to when it is serviced.</a:t>
            </a:r>
          </a:p>
          <a:p>
            <a:r>
              <a:rPr lang="en-US" altLang="en-US" dirty="0"/>
              <a:t>Two types of latencies affect performance</a:t>
            </a:r>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p>
          <a:p>
            <a:endParaRPr lang="en-US" altLang="en-US" dirty="0"/>
          </a:p>
          <a:p>
            <a:pPr lvl="1">
              <a:buFont typeface="Monotype Sorts" pitchFamily="-84" charset="2"/>
              <a:buNone/>
            </a:pPr>
            <a:r>
              <a:rPr lang="en-US" altLang="en-US" dirty="0"/>
              <a:t> </a:t>
            </a:r>
          </a:p>
        </p:txBody>
      </p:sp>
      <p:pic>
        <p:nvPicPr>
          <p:cNvPr id="8704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9925" y="1875155"/>
            <a:ext cx="4406900"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5310" y="1027430"/>
            <a:ext cx="5643245"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p:cNvSpPr>
            <a:spLocks noGrp="1"/>
          </p:cNvSpPr>
          <p:nvPr>
            <p:ph idx="1"/>
          </p:nvPr>
        </p:nvSpPr>
        <p:spPr>
          <a:xfrm>
            <a:off x="553085" y="1097280"/>
            <a:ext cx="2633663" cy="4523105"/>
          </a:xfrm>
        </p:spPr>
        <p:txBody>
          <a:bodyPr/>
          <a:lstStyle/>
          <a:p>
            <a:r>
              <a:rPr lang="en-US" altLang="en-US" dirty="0"/>
              <a:t>Conflict phase of dispatch latency:</a:t>
            </a:r>
          </a:p>
          <a:p>
            <a:pPr lvl="1">
              <a:buFont typeface="Arial" panose="020B0604020202020204" pitchFamily="34" charset="0"/>
              <a:buAutoNum type="arabicPeriod"/>
            </a:pPr>
            <a:r>
              <a:rPr lang="en-US" altLang="en-US" dirty="0"/>
              <a:t>Preemption of any process running in kernel mode</a:t>
            </a:r>
          </a:p>
          <a:p>
            <a:pPr lvl="1">
              <a:buFont typeface="Arial" panose="020B0604020202020204" pitchFamily="34" charset="0"/>
              <a:buAutoNum type="arabicPeriod"/>
            </a:pPr>
            <a:r>
              <a:rPr lang="en-US" altLang="en-US" dirty="0"/>
              <a:t>Release by low-priority process of resources needed by high-priority processes</a:t>
            </a:r>
          </a:p>
          <a:p>
            <a:endParaRPr lang="en-US" altLang="en-US" dirty="0"/>
          </a:p>
          <a:p>
            <a:pPr lvl="1">
              <a:buFont typeface="Monotype Sorts" pitchFamily="-84" charset="2"/>
              <a:buNone/>
            </a:pPr>
            <a:r>
              <a:rPr lang="en-US" altLang="en-US" dirty="0"/>
              <a:t> </a:t>
            </a:r>
          </a:p>
        </p:txBody>
      </p:sp>
      <p:pic>
        <p:nvPicPr>
          <p:cNvPr id="9011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1530" y="1419225"/>
            <a:ext cx="5501005" cy="404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p:cNvSpPr>
            <a:spLocks noGrp="1"/>
          </p:cNvSpPr>
          <p:nvPr>
            <p:ph idx="1"/>
          </p:nvPr>
        </p:nvSpPr>
        <p:spPr>
          <a:xfrm>
            <a:off x="865188" y="1195388"/>
            <a:ext cx="7727950" cy="4530725"/>
          </a:xfrm>
        </p:spPr>
        <p:txBody>
          <a:bodyPr/>
          <a:lstStyle/>
          <a:p>
            <a:r>
              <a:rPr lang="en-US" altLang="en-US" dirty="0"/>
              <a:t>For real-time scheduling, scheduler must support preemptive, priority-based scheduling</a:t>
            </a:r>
          </a:p>
          <a:p>
            <a:pPr lvl="1"/>
            <a:r>
              <a:rPr lang="en-US" altLang="en-US" dirty="0"/>
              <a:t>But only guarantees soft real-time</a:t>
            </a:r>
          </a:p>
          <a:p>
            <a:r>
              <a:rPr lang="en-US" altLang="en-US" dirty="0"/>
              <a:t>For hard real-time must also provide ability to meet deadlines</a:t>
            </a:r>
          </a:p>
          <a:p>
            <a:r>
              <a:rPr lang="en-US" altLang="en-US" dirty="0"/>
              <a:t>Processes have new characteristics: </a:t>
            </a:r>
            <a:r>
              <a:rPr lang="en-US" altLang="en-US" b="1" dirty="0">
                <a:solidFill>
                  <a:srgbClr val="006699"/>
                </a:solidFill>
                <a:latin typeface="+mj-lt"/>
              </a:rPr>
              <a:t>periodic</a:t>
            </a:r>
            <a:r>
              <a:rPr lang="en-US" altLang="en-US" dirty="0"/>
              <a:t> ones require CPU at constant intervals</a:t>
            </a:r>
          </a:p>
          <a:p>
            <a:pPr lvl="1"/>
            <a:r>
              <a:rPr lang="en-US" altLang="en-US" dirty="0"/>
              <a:t>Has processing time </a:t>
            </a:r>
            <a:r>
              <a:rPr lang="en-US" altLang="en-US" i="1" dirty="0"/>
              <a:t>t</a:t>
            </a:r>
            <a:r>
              <a:rPr lang="en-US" altLang="en-US" dirty="0"/>
              <a:t>, deadline </a:t>
            </a:r>
            <a:r>
              <a:rPr lang="en-US" altLang="en-US" i="1" dirty="0"/>
              <a:t>d, </a:t>
            </a:r>
            <a:r>
              <a:rPr lang="en-US" altLang="en-US" dirty="0"/>
              <a:t>period </a:t>
            </a:r>
            <a:r>
              <a:rPr lang="en-US" altLang="en-US" i="1" dirty="0"/>
              <a:t>p</a:t>
            </a:r>
          </a:p>
          <a:p>
            <a:pPr lvl="1"/>
            <a:r>
              <a:rPr lang="en-US" altLang="en-US" dirty="0"/>
              <a:t>0 ≤ </a:t>
            </a:r>
            <a:r>
              <a:rPr lang="en-US" altLang="en-US" i="1" dirty="0"/>
              <a:t>t</a:t>
            </a:r>
            <a:r>
              <a:rPr lang="en-US" altLang="en-US" dirty="0"/>
              <a:t> ≤ </a:t>
            </a:r>
            <a:r>
              <a:rPr lang="en-US" altLang="en-US" i="1" dirty="0"/>
              <a:t>d</a:t>
            </a:r>
            <a:r>
              <a:rPr lang="en-US" altLang="en-US" dirty="0"/>
              <a:t> ≤ </a:t>
            </a:r>
            <a:r>
              <a:rPr lang="en-US" altLang="en-US" i="1" dirty="0"/>
              <a:t>p</a:t>
            </a:r>
          </a:p>
          <a:p>
            <a:pPr lvl="1"/>
            <a:r>
              <a:rPr lang="en-US" altLang="en-US" b="1" dirty="0">
                <a:solidFill>
                  <a:srgbClr val="006699"/>
                </a:solidFill>
                <a:latin typeface="+mj-lt"/>
              </a:rPr>
              <a:t>Rate</a:t>
            </a:r>
            <a:r>
              <a:rPr lang="en-US" altLang="en-US" dirty="0"/>
              <a:t> of periodic task is 1/</a:t>
            </a:r>
            <a:r>
              <a:rPr lang="en-US" altLang="en-US" i="1" dirty="0"/>
              <a:t>p</a:t>
            </a:r>
            <a:endParaRPr lang="en-US" altLang="en-US" dirty="0"/>
          </a:p>
          <a:p>
            <a:endParaRPr lang="en-US" altLang="en-US" dirty="0"/>
          </a:p>
          <a:p>
            <a:pPr lvl="1">
              <a:buFont typeface="Monotype Sorts" pitchFamily="-84" charset="2"/>
              <a:buNone/>
            </a:pPr>
            <a:r>
              <a:rPr lang="en-US" altLang="en-US" dirty="0"/>
              <a:t> </a:t>
            </a:r>
          </a:p>
        </p:txBody>
      </p:sp>
      <p:pic>
        <p:nvPicPr>
          <p:cNvPr id="9216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52905" y="4533265"/>
            <a:ext cx="6050915" cy="18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p:cNvSpPr>
            <a:spLocks noGrp="1" noChangeArrowheads="1"/>
          </p:cNvSpPr>
          <p:nvPr>
            <p:ph type="body" idx="1"/>
          </p:nvPr>
        </p:nvSpPr>
        <p:spPr>
          <a:xfrm>
            <a:off x="614045" y="1064895"/>
            <a:ext cx="7351713" cy="4483100"/>
          </a:xfrm>
        </p:spPr>
        <p:txBody>
          <a:bodyPr/>
          <a:lstStyle/>
          <a:p>
            <a:r>
              <a:rPr lang="en-US" altLang="en-US" dirty="0"/>
              <a:t>A priority is assigned based on the inverse of its period</a:t>
            </a:r>
            <a:endParaRPr lang="en-US" altLang="en-US" sz="800" dirty="0"/>
          </a:p>
          <a:p>
            <a:r>
              <a:rPr lang="en-US" altLang="en-US" dirty="0"/>
              <a:t>Shorter periods = higher priority;</a:t>
            </a:r>
            <a:endParaRPr lang="en-US" altLang="en-US" sz="800" dirty="0"/>
          </a:p>
          <a:p>
            <a:r>
              <a:rPr lang="en-US" altLang="en-US" dirty="0"/>
              <a:t>Longer periods = lower priority</a:t>
            </a:r>
            <a:endParaRPr lang="en-US" altLang="en-US" sz="800" dirty="0"/>
          </a:p>
          <a:p>
            <a:r>
              <a:rPr lang="en-US" altLang="en-US" dirty="0"/>
              <a:t>P</a:t>
            </a:r>
            <a:r>
              <a:rPr lang="en-US" altLang="en-US" baseline="-25000" dirty="0"/>
              <a:t>1</a:t>
            </a:r>
            <a:r>
              <a:rPr lang="en-US" altLang="en-US" dirty="0"/>
              <a:t> is assigned a higher priority than P</a:t>
            </a:r>
            <a:r>
              <a:rPr lang="en-US" altLang="en-US" baseline="-25000" dirty="0"/>
              <a:t>2</a:t>
            </a:r>
            <a:r>
              <a:rPr lang="en-US" altLang="en-US" dirty="0"/>
              <a:t>.</a:t>
            </a:r>
            <a:br>
              <a:rPr lang="en-US" altLang="en-US" dirty="0"/>
            </a:br>
            <a:endParaRPr lang="en-US" altLang="en-US" dirty="0"/>
          </a:p>
        </p:txBody>
      </p:sp>
      <p:pic>
        <p:nvPicPr>
          <p:cNvPr id="9421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2475" y="3178175"/>
            <a:ext cx="805751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p:cNvSpPr>
            <a:spLocks noGrp="1" noChangeArrowheads="1"/>
          </p:cNvSpPr>
          <p:nvPr>
            <p:ph type="body" idx="1"/>
          </p:nvPr>
        </p:nvSpPr>
        <p:spPr>
          <a:xfrm>
            <a:off x="806450" y="1064895"/>
            <a:ext cx="7351713" cy="4483100"/>
          </a:xfrm>
        </p:spPr>
        <p:txBody>
          <a:bodyPr/>
          <a:lstStyle/>
          <a:p>
            <a:r>
              <a:rPr kumimoji="0" lang="en-US" altLang="en-US" dirty="0"/>
              <a:t>Process </a:t>
            </a:r>
            <a:r>
              <a:rPr lang="en-US" altLang="en-US" dirty="0"/>
              <a:t>P</a:t>
            </a:r>
            <a:r>
              <a:rPr lang="en-US" altLang="en-US" baseline="-25000" dirty="0"/>
              <a:t>2</a:t>
            </a:r>
            <a:r>
              <a:rPr kumimoji="0" lang="en-US" altLang="en-US" dirty="0"/>
              <a:t> misses finishing its deadline at time 80</a:t>
            </a:r>
          </a:p>
          <a:p>
            <a:pPr marL="0" indent="0">
              <a:buNone/>
            </a:pPr>
            <a:br>
              <a:rPr lang="en-US" altLang="en-US" dirty="0"/>
            </a:br>
            <a:endParaRPr lang="en-US" altLang="en-US" dirty="0"/>
          </a:p>
        </p:txBody>
      </p:sp>
      <p:pic>
        <p:nvPicPr>
          <p:cNvPr id="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6450" y="2561590"/>
            <a:ext cx="7974330" cy="1219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a:xfrm>
            <a:off x="1182370" y="121920"/>
            <a:ext cx="7729220" cy="571412"/>
          </a:xfrm>
        </p:spPr>
        <p:txBody>
          <a:bodyPr/>
          <a:lstStyle/>
          <a:p>
            <a:pPr eaLnBrk="1" hangingPunct="1"/>
            <a:r>
              <a:rPr lang="en-US" altLang="en-US" sz="2800" dirty="0"/>
              <a:t>Earliest Deadline First Scheduling (EDF)</a:t>
            </a:r>
          </a:p>
        </p:txBody>
      </p:sp>
      <p:sp>
        <p:nvSpPr>
          <p:cNvPr id="98306" name="Rectangle 3"/>
          <p:cNvSpPr>
            <a:spLocks noGrp="1" noChangeArrowheads="1"/>
          </p:cNvSpPr>
          <p:nvPr>
            <p:ph type="body" idx="1"/>
          </p:nvPr>
        </p:nvSpPr>
        <p:spPr>
          <a:xfrm>
            <a:off x="811763" y="1257300"/>
            <a:ext cx="7432125" cy="4483100"/>
          </a:xfrm>
        </p:spPr>
        <p:txBody>
          <a:bodyPr/>
          <a:lstStyle/>
          <a:p>
            <a:r>
              <a:rPr lang="en-US" altLang="en-US" dirty="0"/>
              <a:t>Priorities are assigned according to deadlines:</a:t>
            </a:r>
          </a:p>
          <a:p>
            <a:pPr lvl="1"/>
            <a:r>
              <a:rPr lang="en-US" altLang="en-US" dirty="0"/>
              <a:t>The earlier the deadline, the higher the priority</a:t>
            </a:r>
          </a:p>
          <a:p>
            <a:pPr lvl="1"/>
            <a:r>
              <a:rPr lang="en-US" altLang="en-US" dirty="0"/>
              <a:t>The later the deadline, the lower the priority</a:t>
            </a:r>
          </a:p>
          <a:p>
            <a:pPr marL="0" indent="0">
              <a:buNone/>
            </a:pPr>
            <a:endParaRPr lang="en-US" altLang="en-US" dirty="0"/>
          </a:p>
        </p:txBody>
      </p:sp>
      <p:pic>
        <p:nvPicPr>
          <p:cNvPr id="98307"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530" y="3266440"/>
            <a:ext cx="7622540" cy="1185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
        <p:nvSpPr>
          <p:cNvPr id="56323" name="Rectangle 3"/>
          <p:cNvSpPr>
            <a:spLocks noGrp="1" noChangeArrowheads="1"/>
          </p:cNvSpPr>
          <p:nvPr>
            <p:ph type="body" idx="1"/>
          </p:nvPr>
        </p:nvSpPr>
        <p:spPr>
          <a:xfrm>
            <a:off x="774441" y="1001395"/>
            <a:ext cx="7753739" cy="4483100"/>
          </a:xfrm>
        </p:spPr>
        <p:txBody>
          <a:bodyPr/>
          <a:lstStyle/>
          <a:p>
            <a:pPr marL="344805" indent="-344805"/>
            <a:r>
              <a:rPr lang="en-US" altLang="en-US" dirty="0"/>
              <a:t>The POSIX.1b standard</a:t>
            </a:r>
          </a:p>
          <a:p>
            <a:pPr marL="344805" indent="-344805"/>
            <a:r>
              <a:rPr lang="en-US" altLang="en-US" dirty="0"/>
              <a:t>API provides functions for managing real-time threads</a:t>
            </a:r>
          </a:p>
          <a:p>
            <a:pPr marL="344805" indent="-344805"/>
            <a:r>
              <a:rPr lang="en-US" altLang="en-US" dirty="0"/>
              <a:t>Defines two scheduling classes for real-time threads:</a:t>
            </a:r>
            <a:endParaRPr lang="en-US" altLang="en-US" sz="1000" dirty="0"/>
          </a:p>
          <a:p>
            <a:pPr marL="744855" lvl="1" indent="-344805">
              <a:buFont typeface="Arial" panose="020B0604020202020204" pitchFamily="34" charset="0"/>
              <a:buAutoNum type="arabicPeriod"/>
            </a:pPr>
            <a:r>
              <a:rPr lang="en-US" altLang="en-US" dirty="0"/>
              <a:t>SCHED_FIFO - threads are scheduled using a FCFS strategy with a FIFO queue. There is no time-slicing for threads of equal priority</a:t>
            </a:r>
          </a:p>
          <a:p>
            <a:pPr marL="744855" lvl="1" indent="-344805">
              <a:buFont typeface="Arial" panose="020B0604020202020204" pitchFamily="34" charset="0"/>
              <a:buAutoNum type="arabicPeriod"/>
            </a:pPr>
            <a:r>
              <a:rPr lang="en-US" altLang="en-US" dirty="0"/>
              <a:t>SCHED_RR - similar to SCHED_FIFO except time-slicing occurs for threads of equal priority</a:t>
            </a:r>
          </a:p>
          <a:p>
            <a:pPr marL="344805" indent="-344805"/>
            <a:r>
              <a:rPr lang="en-US" altLang="en-US" dirty="0"/>
              <a:t>Defines two functions for getting and setting scheduling policy:</a:t>
            </a:r>
          </a:p>
          <a:p>
            <a:pPr marL="744855" lvl="1" indent="-344805">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a:p>
            <a:pPr marL="744855" lvl="1" indent="-344805">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
        <p:nvSpPr>
          <p:cNvPr id="104450" name="Rectangle 3"/>
          <p:cNvSpPr>
            <a:spLocks noGrp="1" noChangeArrowheads="1"/>
          </p:cNvSpPr>
          <p:nvPr>
            <p:ph type="body" idx="1"/>
          </p:nvPr>
        </p:nvSpPr>
        <p:spPr>
          <a:xfrm>
            <a:off x="806450" y="1066800"/>
            <a:ext cx="7702550" cy="5434965"/>
          </a:xfrm>
        </p:spPr>
        <p:txBody>
          <a:bodyPr/>
          <a:lstStyle/>
          <a:p>
            <a:pPr marL="0" indent="0">
              <a:buFont typeface="Monotype Sorts" pitchFamily="-84" charset="2"/>
              <a:buNone/>
            </a:pPr>
            <a:r>
              <a:rPr lang="en-US" altLang="en-US" sz="1500" b="1" dirty="0">
                <a:latin typeface="Courier New" panose="02070309020205020404" pitchFamily="49" charset="0"/>
              </a:rPr>
              <a:t>#include &lt;</a:t>
            </a:r>
            <a:r>
              <a:rPr lang="en-US" altLang="en-US" sz="1500" b="1" dirty="0" err="1">
                <a:latin typeface="Courier New" panose="02070309020205020404" pitchFamily="49" charset="0"/>
              </a:rPr>
              <a:t>pthread.h</a:t>
            </a:r>
            <a:r>
              <a:rPr lang="en-US" altLang="en-US" sz="1500" b="1" dirty="0">
                <a:latin typeface="Courier New" panose="02070309020205020404" pitchFamily="49" charset="0"/>
              </a:rPr>
              <a:t>&gt; </a:t>
            </a:r>
          </a:p>
          <a:p>
            <a:pPr marL="0" indent="0">
              <a:buFont typeface="Monotype Sorts" pitchFamily="-84" charset="2"/>
              <a:buNone/>
            </a:pPr>
            <a:r>
              <a:rPr lang="en-US" altLang="en-US" sz="1500" b="1" dirty="0">
                <a:latin typeface="Courier New" panose="02070309020205020404" pitchFamily="49" charset="0"/>
              </a:rPr>
              <a:t>#include &lt;</a:t>
            </a:r>
            <a:r>
              <a:rPr lang="en-US" altLang="en-US" sz="1500" b="1" dirty="0" err="1">
                <a:latin typeface="Courier New" panose="02070309020205020404" pitchFamily="49" charset="0"/>
              </a:rPr>
              <a:t>stdio.h</a:t>
            </a:r>
            <a:r>
              <a:rPr lang="en-US" altLang="en-US" sz="1500" b="1" dirty="0">
                <a:latin typeface="Courier New" panose="02070309020205020404" pitchFamily="49" charset="0"/>
              </a:rPr>
              <a:t>&gt; </a:t>
            </a:r>
          </a:p>
          <a:p>
            <a:pPr marL="0" indent="0">
              <a:buFont typeface="Monotype Sorts" pitchFamily="-84" charset="2"/>
              <a:buNone/>
            </a:pPr>
            <a:r>
              <a:rPr lang="en-US" altLang="en-US" sz="1500" b="1" dirty="0">
                <a:latin typeface="Courier New" panose="02070309020205020404" pitchFamily="49" charset="0"/>
              </a:rPr>
              <a:t>#define NUM_THREADS 5 </a:t>
            </a:r>
          </a:p>
          <a:p>
            <a:pPr marL="0" indent="0">
              <a:buFont typeface="Monotype Sorts" pitchFamily="-84" charset="2"/>
              <a:buNone/>
            </a:pPr>
            <a:r>
              <a:rPr lang="en-US" altLang="en-US" sz="1500" b="1" dirty="0">
                <a:latin typeface="Courier New" panose="02070309020205020404" pitchFamily="49" charset="0"/>
              </a:rPr>
              <a:t>int main(int </a:t>
            </a:r>
            <a:r>
              <a:rPr lang="en-US" altLang="en-US" sz="1500" b="1" dirty="0" err="1">
                <a:latin typeface="Courier New" panose="02070309020205020404" pitchFamily="49" charset="0"/>
              </a:rPr>
              <a:t>argc</a:t>
            </a:r>
            <a:r>
              <a:rPr lang="en-US" altLang="en-US" sz="1500" b="1" dirty="0">
                <a:latin typeface="Courier New" panose="02070309020205020404" pitchFamily="49" charset="0"/>
              </a:rPr>
              <a:t>, char *</a:t>
            </a:r>
            <a:r>
              <a:rPr lang="en-US" altLang="en-US" sz="1500" b="1" dirty="0" err="1">
                <a:latin typeface="Courier New" panose="02070309020205020404" pitchFamily="49" charset="0"/>
              </a:rPr>
              <a:t>argv</a:t>
            </a:r>
            <a:r>
              <a:rPr lang="en-US" altLang="en-US" sz="1500" b="1" dirty="0">
                <a:latin typeface="Courier New" panose="02070309020205020404" pitchFamily="49" charset="0"/>
              </a:rPr>
              <a:t>[]) { </a:t>
            </a:r>
          </a:p>
          <a:p>
            <a:pPr marL="0" indent="0">
              <a:buFont typeface="Monotype Sorts" pitchFamily="-84" charset="2"/>
              <a:buNone/>
            </a:pPr>
            <a:r>
              <a:rPr lang="en-US" altLang="en-US" sz="1500" b="1" dirty="0">
                <a:latin typeface="Courier New" panose="02070309020205020404" pitchFamily="49" charset="0"/>
              </a:rPr>
              <a:t>   int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policy;</a:t>
            </a:r>
            <a:br>
              <a:rPr lang="en-US" altLang="en-US" sz="1500" b="1" dirty="0">
                <a:latin typeface="Courier New" panose="02070309020205020404" pitchFamily="49" charset="0"/>
              </a:rPr>
            </a:b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pthread_t_tid</a:t>
            </a:r>
            <a:r>
              <a:rPr lang="en-US" altLang="en-US" sz="1500" b="1" dirty="0">
                <a:latin typeface="Courier New" panose="02070309020205020404" pitchFamily="49" charset="0"/>
              </a:rPr>
              <a:t>[NUM_THREADS];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pthread_attr_t</a:t>
            </a:r>
            <a:r>
              <a:rPr lang="en-US" altLang="en-US" sz="1500" b="1" dirty="0">
                <a:latin typeface="Courier New" panose="02070309020205020404" pitchFamily="49" charset="0"/>
              </a:rPr>
              <a:t> </a:t>
            </a:r>
            <a:r>
              <a:rPr lang="en-US" altLang="en-US" sz="1500" b="1" dirty="0" err="1">
                <a:latin typeface="Courier New" panose="02070309020205020404" pitchFamily="49" charset="0"/>
              </a:rPr>
              <a:t>attr</a:t>
            </a: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 get the default attributes */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pthread_attr_init</a:t>
            </a:r>
            <a:r>
              <a:rPr lang="en-US" altLang="en-US" sz="1500" b="1" dirty="0">
                <a:latin typeface="Courier New" panose="02070309020205020404" pitchFamily="49" charset="0"/>
              </a:rPr>
              <a:t>(&amp;</a:t>
            </a:r>
            <a:r>
              <a:rPr lang="en-US" altLang="en-US" sz="1500" b="1" dirty="0" err="1">
                <a:latin typeface="Courier New" panose="02070309020205020404" pitchFamily="49" charset="0"/>
              </a:rPr>
              <a:t>attr</a:t>
            </a: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 get the current scheduling policy */</a:t>
            </a:r>
            <a:br>
              <a:rPr lang="en-US" altLang="en-US" sz="1500" b="1" dirty="0">
                <a:latin typeface="Courier New" panose="02070309020205020404" pitchFamily="49" charset="0"/>
              </a:rPr>
            </a:br>
            <a:r>
              <a:rPr lang="en-US" altLang="en-US" sz="1500" b="1" dirty="0">
                <a:latin typeface="Courier New" panose="02070309020205020404" pitchFamily="49" charset="0"/>
              </a:rPr>
              <a:t>   if (</a:t>
            </a:r>
            <a:r>
              <a:rPr lang="en-US" altLang="en-US" sz="1500" b="1" dirty="0" err="1">
                <a:latin typeface="Courier New" panose="02070309020205020404" pitchFamily="49" charset="0"/>
              </a:rPr>
              <a:t>pthread_attr_getschedpolicy</a:t>
            </a:r>
            <a:r>
              <a:rPr lang="en-US" altLang="en-US" sz="1500" b="1" dirty="0">
                <a:latin typeface="Courier New" panose="02070309020205020404" pitchFamily="49" charset="0"/>
              </a:rPr>
              <a:t>(&amp;</a:t>
            </a:r>
            <a:r>
              <a:rPr lang="en-US" altLang="en-US" sz="1500" b="1" dirty="0" err="1">
                <a:latin typeface="Courier New" panose="02070309020205020404" pitchFamily="49" charset="0"/>
              </a:rPr>
              <a:t>attr</a:t>
            </a:r>
            <a:r>
              <a:rPr lang="en-US" altLang="en-US" sz="1500" b="1" dirty="0">
                <a:latin typeface="Courier New" panose="02070309020205020404" pitchFamily="49" charset="0"/>
              </a:rPr>
              <a:t>, &amp;policy) != 0)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fprintf</a:t>
            </a:r>
            <a:r>
              <a:rPr lang="en-US" altLang="en-US" sz="1500" b="1" dirty="0">
                <a:latin typeface="Courier New" panose="02070309020205020404" pitchFamily="49" charset="0"/>
              </a:rPr>
              <a:t>(stderr, "Unable to get policy.\n"); </a:t>
            </a:r>
          </a:p>
          <a:p>
            <a:pPr marL="0" indent="0">
              <a:buFont typeface="Monotype Sorts" pitchFamily="-84" charset="2"/>
              <a:buNone/>
            </a:pPr>
            <a:r>
              <a:rPr lang="en-US" altLang="en-US" sz="1500" b="1" dirty="0">
                <a:latin typeface="Courier New" panose="02070309020205020404" pitchFamily="49" charset="0"/>
              </a:rPr>
              <a:t>   else { </a:t>
            </a:r>
          </a:p>
          <a:p>
            <a:pPr marL="0" indent="0">
              <a:buFont typeface="Monotype Sorts" pitchFamily="-84" charset="2"/>
              <a:buNone/>
            </a:pPr>
            <a:r>
              <a:rPr lang="en-US" altLang="en-US" sz="1500" b="1" dirty="0">
                <a:latin typeface="Courier New" panose="02070309020205020404" pitchFamily="49" charset="0"/>
              </a:rPr>
              <a:t>      if (policy == SCHED_OTHER) </a:t>
            </a:r>
            <a:r>
              <a:rPr lang="en-US" altLang="en-US" sz="1500" b="1" dirty="0" err="1">
                <a:latin typeface="Courier New" panose="02070309020205020404" pitchFamily="49" charset="0"/>
              </a:rPr>
              <a:t>printf</a:t>
            </a:r>
            <a:r>
              <a:rPr lang="en-US" altLang="en-US" sz="1500" b="1" dirty="0">
                <a:latin typeface="Courier New" panose="02070309020205020404" pitchFamily="49" charset="0"/>
              </a:rPr>
              <a:t>("SCHED_OTHER\n"); </a:t>
            </a:r>
          </a:p>
          <a:p>
            <a:pPr marL="0" indent="0">
              <a:buFont typeface="Monotype Sorts" pitchFamily="-84" charset="2"/>
              <a:buNone/>
            </a:pPr>
            <a:r>
              <a:rPr lang="en-US" altLang="en-US" sz="1500" b="1" dirty="0">
                <a:latin typeface="Courier New" panose="02070309020205020404" pitchFamily="49" charset="0"/>
              </a:rPr>
              <a:t>      else if (policy == SCHED_RR) </a:t>
            </a:r>
            <a:r>
              <a:rPr lang="en-US" altLang="en-US" sz="1500" b="1" dirty="0" err="1">
                <a:latin typeface="Courier New" panose="02070309020205020404" pitchFamily="49" charset="0"/>
              </a:rPr>
              <a:t>printf</a:t>
            </a:r>
            <a:r>
              <a:rPr lang="en-US" altLang="en-US" sz="1500" b="1" dirty="0">
                <a:latin typeface="Courier New" panose="02070309020205020404" pitchFamily="49" charset="0"/>
              </a:rPr>
              <a:t>("SCHED_RR\n"); </a:t>
            </a:r>
          </a:p>
          <a:p>
            <a:pPr marL="0" indent="0">
              <a:buFont typeface="Monotype Sorts" pitchFamily="-84" charset="2"/>
              <a:buNone/>
            </a:pPr>
            <a:r>
              <a:rPr lang="en-US" altLang="en-US" sz="1500" b="1" dirty="0">
                <a:latin typeface="Courier New" panose="02070309020205020404" pitchFamily="49" charset="0"/>
              </a:rPr>
              <a:t>      else if (policy == SCHED_FIFO) </a:t>
            </a:r>
            <a:r>
              <a:rPr lang="en-US" altLang="en-US" sz="1500" b="1" dirty="0" err="1">
                <a:latin typeface="Courier New" panose="02070309020205020404" pitchFamily="49" charset="0"/>
              </a:rPr>
              <a:t>printf</a:t>
            </a:r>
            <a:r>
              <a:rPr lang="en-US" altLang="en-US" sz="1500" b="1" dirty="0">
                <a:latin typeface="Courier New" panose="02070309020205020404" pitchFamily="49" charset="0"/>
              </a:rPr>
              <a:t>("SCHED_FIFO\n"); </a:t>
            </a:r>
          </a:p>
          <a:p>
            <a:pPr marL="0" indent="0">
              <a:buFont typeface="Monotype Sorts" pitchFamily="-84" charset="2"/>
              <a:buNone/>
            </a:pPr>
            <a:r>
              <a:rPr lang="en-US" altLang="en-US" sz="1500" b="1" dirty="0">
                <a:latin typeface="Courier New" panose="02070309020205020404" pitchFamily="49" charset="0"/>
              </a:rPr>
              <a:t>   }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type="body" idx="1"/>
          </p:nvPr>
        </p:nvSpPr>
        <p:spPr>
          <a:xfrm>
            <a:off x="806450" y="1298575"/>
            <a:ext cx="7702550" cy="4937760"/>
          </a:xfrm>
        </p:spPr>
        <p:txBody>
          <a:bodyPr/>
          <a:lstStyle/>
          <a:p>
            <a:pPr marL="0" indent="0">
              <a:buFont typeface="Monotype Sorts" pitchFamily="-84" charset="2"/>
              <a:buNone/>
            </a:pPr>
            <a:r>
              <a:rPr lang="en-US" altLang="en-US" sz="1500" b="1" dirty="0">
                <a:latin typeface="Courier New" panose="02070309020205020404" pitchFamily="49" charset="0"/>
              </a:rPr>
              <a:t>   /* set the scheduling policy - FIFO, RR, or OTHER */ </a:t>
            </a:r>
            <a:br>
              <a:rPr lang="en-US" altLang="en-US" sz="1500" b="1" dirty="0">
                <a:latin typeface="Courier New" panose="02070309020205020404" pitchFamily="49" charset="0"/>
              </a:rPr>
            </a:br>
            <a:r>
              <a:rPr lang="en-US" altLang="en-US" sz="1500" b="1" dirty="0">
                <a:latin typeface="Courier New" panose="02070309020205020404" pitchFamily="49" charset="0"/>
              </a:rPr>
              <a:t>   if (</a:t>
            </a:r>
            <a:r>
              <a:rPr lang="en-US" altLang="en-US" sz="1500" b="1" dirty="0" err="1">
                <a:latin typeface="Courier New" panose="02070309020205020404" pitchFamily="49" charset="0"/>
              </a:rPr>
              <a:t>pthread_attr_setschedpolicy</a:t>
            </a:r>
            <a:r>
              <a:rPr lang="en-US" altLang="en-US" sz="1500" b="1" dirty="0">
                <a:latin typeface="Courier New" panose="02070309020205020404" pitchFamily="49" charset="0"/>
              </a:rPr>
              <a:t>(&amp;</a:t>
            </a:r>
            <a:r>
              <a:rPr lang="en-US" altLang="en-US" sz="1500" b="1" dirty="0" err="1">
                <a:latin typeface="Courier New" panose="02070309020205020404" pitchFamily="49" charset="0"/>
              </a:rPr>
              <a:t>attr</a:t>
            </a:r>
            <a:r>
              <a:rPr lang="en-US" altLang="en-US" sz="1500" b="1" dirty="0">
                <a:latin typeface="Courier New" panose="02070309020205020404" pitchFamily="49" charset="0"/>
              </a:rPr>
              <a:t>, SCHED_FIFO) != 0)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fprintf</a:t>
            </a:r>
            <a:r>
              <a:rPr lang="en-US" altLang="en-US" sz="1500" b="1" dirty="0">
                <a:latin typeface="Courier New" panose="02070309020205020404" pitchFamily="49" charset="0"/>
              </a:rPr>
              <a:t>(stderr, "Unable to set policy.\n"); </a:t>
            </a:r>
          </a:p>
          <a:p>
            <a:pPr marL="0" indent="0">
              <a:buFont typeface="Monotype Sorts" pitchFamily="-84" charset="2"/>
              <a:buNone/>
            </a:pPr>
            <a:r>
              <a:rPr lang="en-US" altLang="en-US" sz="1500" b="1" dirty="0">
                <a:latin typeface="Courier New" panose="02070309020205020404" pitchFamily="49" charset="0"/>
              </a:rPr>
              <a:t>   /* create the threads */</a:t>
            </a:r>
            <a:br>
              <a:rPr lang="en-US" altLang="en-US" sz="1500" b="1" dirty="0">
                <a:latin typeface="Courier New" panose="02070309020205020404" pitchFamily="49" charset="0"/>
              </a:rPr>
            </a:br>
            <a:r>
              <a:rPr lang="en-US" altLang="en-US" sz="1500" b="1" dirty="0">
                <a:latin typeface="Courier New" panose="02070309020205020404" pitchFamily="49" charset="0"/>
              </a:rPr>
              <a:t>   for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 0;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&lt; NUM_THREADS;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pthread_create</a:t>
            </a:r>
            <a:r>
              <a:rPr lang="en-US" altLang="en-US" sz="1500" b="1" dirty="0">
                <a:latin typeface="Courier New" panose="02070309020205020404" pitchFamily="49" charset="0"/>
              </a:rPr>
              <a:t>(&amp;</a:t>
            </a:r>
            <a:r>
              <a:rPr lang="en-US" altLang="en-US" sz="1500" b="1" dirty="0" err="1">
                <a:latin typeface="Courier New" panose="02070309020205020404" pitchFamily="49" charset="0"/>
              </a:rPr>
              <a:t>tid</a:t>
            </a:r>
            <a:r>
              <a:rPr lang="en-US" altLang="en-US" sz="1500" b="1" dirty="0">
                <a:latin typeface="Courier New" panose="02070309020205020404" pitchFamily="49" charset="0"/>
              </a:rPr>
              <a:t>[</a:t>
            </a:r>
            <a:r>
              <a:rPr lang="en-US" altLang="en-US" sz="1500" b="1" dirty="0" err="1">
                <a:latin typeface="Courier New" panose="02070309020205020404" pitchFamily="49" charset="0"/>
              </a:rPr>
              <a:t>i</a:t>
            </a:r>
            <a:r>
              <a:rPr lang="en-US" altLang="en-US" sz="1500" b="1" dirty="0">
                <a:latin typeface="Courier New" panose="02070309020205020404" pitchFamily="49" charset="0"/>
              </a:rPr>
              <a:t>],&amp;</a:t>
            </a:r>
            <a:r>
              <a:rPr lang="en-US" altLang="en-US" sz="1500" b="1" dirty="0" err="1">
                <a:latin typeface="Courier New" panose="02070309020205020404" pitchFamily="49" charset="0"/>
              </a:rPr>
              <a:t>attr,runner,NULL</a:t>
            </a: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 now join on each thread */</a:t>
            </a:r>
            <a:br>
              <a:rPr lang="en-US" altLang="en-US" sz="1500" b="1" dirty="0">
                <a:latin typeface="Courier New" panose="02070309020205020404" pitchFamily="49" charset="0"/>
              </a:rPr>
            </a:br>
            <a:r>
              <a:rPr lang="en-US" altLang="en-US" sz="1500" b="1" dirty="0">
                <a:latin typeface="Courier New" panose="02070309020205020404" pitchFamily="49" charset="0"/>
              </a:rPr>
              <a:t>   for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 0;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&lt; NUM_THREADS; </a:t>
            </a:r>
            <a:r>
              <a:rPr lang="en-US" altLang="en-US" sz="1500" b="1" dirty="0" err="1">
                <a:latin typeface="Courier New" panose="02070309020205020404" pitchFamily="49" charset="0"/>
              </a:rPr>
              <a:t>i</a:t>
            </a: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pthread_join</a:t>
            </a:r>
            <a:r>
              <a:rPr lang="en-US" altLang="en-US" sz="1500" b="1" dirty="0">
                <a:latin typeface="Courier New" panose="02070309020205020404" pitchFamily="49" charset="0"/>
              </a:rPr>
              <a:t>(</a:t>
            </a:r>
            <a:r>
              <a:rPr lang="en-US" altLang="en-US" sz="1500" b="1" dirty="0" err="1">
                <a:latin typeface="Courier New" panose="02070309020205020404" pitchFamily="49" charset="0"/>
              </a:rPr>
              <a:t>tid</a:t>
            </a:r>
            <a:r>
              <a:rPr lang="en-US" altLang="en-US" sz="1500" b="1" dirty="0">
                <a:latin typeface="Courier New" panose="02070309020205020404" pitchFamily="49" charset="0"/>
              </a:rPr>
              <a:t>[</a:t>
            </a:r>
            <a:r>
              <a:rPr lang="en-US" altLang="en-US" sz="1500" b="1" dirty="0" err="1">
                <a:latin typeface="Courier New" panose="02070309020205020404" pitchFamily="49" charset="0"/>
              </a:rPr>
              <a:t>i</a:t>
            </a:r>
            <a:r>
              <a:rPr lang="en-US" altLang="en-US" sz="1500" b="1" dirty="0">
                <a:latin typeface="Courier New" panose="02070309020205020404" pitchFamily="49" charset="0"/>
              </a:rPr>
              <a:t>], NULL); </a:t>
            </a:r>
          </a:p>
          <a:p>
            <a:pPr marL="0" indent="0">
              <a:buFont typeface="Monotype Sorts" pitchFamily="-84" charset="2"/>
              <a:buNone/>
            </a:pPr>
            <a:r>
              <a:rPr lang="en-US" altLang="en-US" sz="1500" b="1" dirty="0">
                <a:latin typeface="Courier New" panose="02070309020205020404" pitchFamily="49" charset="0"/>
              </a:rPr>
              <a:t>}</a:t>
            </a:r>
          </a:p>
          <a:p>
            <a:pPr marL="0" indent="0">
              <a:buFont typeface="Monotype Sorts" pitchFamily="-84" charset="2"/>
              <a:buNone/>
            </a:pPr>
            <a:r>
              <a:rPr lang="en-US" altLang="en-US" sz="1500" b="1" dirty="0">
                <a:latin typeface="Courier New" panose="02070309020205020404" pitchFamily="49" charset="0"/>
              </a:rPr>
              <a:t> </a:t>
            </a:r>
          </a:p>
          <a:p>
            <a:pPr marL="0" indent="0">
              <a:buFont typeface="Monotype Sorts" pitchFamily="-84" charset="2"/>
              <a:buNone/>
            </a:pPr>
            <a:r>
              <a:rPr lang="en-US" altLang="en-US" sz="1500" b="1" dirty="0">
                <a:latin typeface="Courier New" panose="02070309020205020404" pitchFamily="49" charset="0"/>
              </a:rPr>
              <a:t>/* Each thread will begin control in this function */ </a:t>
            </a:r>
          </a:p>
          <a:p>
            <a:pPr marL="0" indent="0">
              <a:buFont typeface="Monotype Sorts" pitchFamily="-84" charset="2"/>
              <a:buNone/>
            </a:pPr>
            <a:r>
              <a:rPr lang="en-US" altLang="en-US" sz="1500" b="1" dirty="0">
                <a:latin typeface="Courier New" panose="02070309020205020404" pitchFamily="49" charset="0"/>
              </a:rPr>
              <a:t>void *runner(void *param) { </a:t>
            </a:r>
          </a:p>
          <a:p>
            <a:pPr marL="0" indent="0">
              <a:buFont typeface="Monotype Sorts" pitchFamily="-84" charset="2"/>
              <a:buNone/>
            </a:pPr>
            <a:r>
              <a:rPr lang="en-US" altLang="en-US" sz="1500" b="1" dirty="0">
                <a:latin typeface="Courier New" panose="02070309020205020404" pitchFamily="49" charset="0"/>
              </a:rPr>
              <a:t>   /* do some work ... */ </a:t>
            </a:r>
          </a:p>
          <a:p>
            <a:pPr marL="0" indent="0">
              <a:buFont typeface="Monotype Sorts" pitchFamily="-84" charset="2"/>
              <a:buNone/>
            </a:pPr>
            <a:r>
              <a:rPr lang="en-US" altLang="en-US" sz="1500" b="1" dirty="0">
                <a:latin typeface="Courier New" panose="02070309020205020404" pitchFamily="49" charset="0"/>
              </a:rPr>
              <a:t>   </a:t>
            </a:r>
            <a:r>
              <a:rPr lang="en-US" altLang="en-US" sz="1500" b="1" dirty="0" err="1">
                <a:latin typeface="Courier New" panose="02070309020205020404" pitchFamily="49" charset="0"/>
              </a:rPr>
              <a:t>pthread_exit</a:t>
            </a:r>
            <a:r>
              <a:rPr lang="en-US" altLang="en-US" sz="1500" b="1" dirty="0">
                <a:latin typeface="Courier New" panose="02070309020205020404" pitchFamily="49" charset="0"/>
              </a:rPr>
              <a:t>(0); </a:t>
            </a:r>
          </a:p>
          <a:p>
            <a:pPr marL="0" indent="0">
              <a:buFont typeface="Monotype Sorts" pitchFamily="-84" charset="2"/>
              <a:buNone/>
            </a:pPr>
            <a:r>
              <a:rPr lang="en-US" altLang="en-US" sz="1500" b="1" dirty="0">
                <a:latin typeface="Courier New" panose="02070309020205020404" pitchFamily="49" charset="0"/>
              </a:rPr>
              <a:t>} </a:t>
            </a:r>
          </a:p>
        </p:txBody>
      </p:sp>
      <p:sp>
        <p:nvSpPr>
          <p:cNvPr id="6" name="Rectangle 2"/>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xfrm>
            <a:off x="1138238" y="142417"/>
            <a:ext cx="7548562" cy="576262"/>
          </a:xfrm>
        </p:spPr>
        <p:txBody>
          <a:bodyPr/>
          <a:lstStyle/>
          <a:p>
            <a:pPr eaLnBrk="1" hangingPunct="1"/>
            <a:r>
              <a:rPr lang="en-US" altLang="en-US" dirty="0">
                <a:solidFill>
                  <a:srgbClr val="C00000"/>
                </a:solidFill>
              </a:rPr>
              <a:t>Operating System Examples</a:t>
            </a:r>
          </a:p>
        </p:txBody>
      </p:sp>
      <p:sp>
        <p:nvSpPr>
          <p:cNvPr id="108546" name="Rectangle 3"/>
          <p:cNvSpPr>
            <a:spLocks noGrp="1" noChangeArrowheads="1"/>
          </p:cNvSpPr>
          <p:nvPr>
            <p:ph type="body" idx="1"/>
          </p:nvPr>
        </p:nvSpPr>
        <p:spPr>
          <a:xfrm>
            <a:off x="849086" y="1109663"/>
            <a:ext cx="6750277" cy="3508375"/>
          </a:xfrm>
        </p:spPr>
        <p:txBody>
          <a:bodyPr/>
          <a:lstStyle/>
          <a:p>
            <a:r>
              <a:rPr lang="en-US" altLang="en-US" sz="2000" dirty="0">
                <a:solidFill>
                  <a:srgbClr val="C00000"/>
                </a:solidFill>
              </a:rPr>
              <a:t>Linux scheduling</a:t>
            </a:r>
          </a:p>
          <a:p>
            <a:r>
              <a:rPr lang="en-US" altLang="en-US" sz="2000" dirty="0">
                <a:solidFill>
                  <a:srgbClr val="C00000"/>
                </a:solidFill>
              </a:rPr>
              <a:t>Windows scheduling</a:t>
            </a:r>
          </a:p>
          <a:p>
            <a:r>
              <a:rPr lang="en-US" altLang="en-US" sz="2000" dirty="0">
                <a:solidFill>
                  <a:srgbClr val="C00000"/>
                </a:solidFill>
              </a:rPr>
              <a:t>Solaris scheduling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
        <p:nvSpPr>
          <p:cNvPr id="110594" name="Rectangle 3"/>
          <p:cNvSpPr>
            <a:spLocks noGrp="1" noChangeArrowheads="1"/>
          </p:cNvSpPr>
          <p:nvPr>
            <p:ph type="body"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p>
          <a:p>
            <a:pPr>
              <a:lnSpc>
                <a:spcPct val="90000"/>
              </a:lnSpc>
            </a:pPr>
            <a:r>
              <a:rPr lang="en-US" altLang="en-US" sz="1600" dirty="0"/>
              <a:t>Version 2.5 moved to constant order </a:t>
            </a:r>
            <a:r>
              <a:rPr lang="en-US" altLang="en-US" sz="1600" i="1" dirty="0"/>
              <a:t>O</a:t>
            </a:r>
            <a:r>
              <a:rPr lang="en-US" altLang="en-US" sz="16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
        <p:nvSpPr>
          <p:cNvPr id="112642" name="Rectangle 3"/>
          <p:cNvSpPr>
            <a:spLocks noGrp="1" noChangeArrowheads="1"/>
          </p:cNvSpPr>
          <p:nvPr>
            <p:ph type="body"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p>
          <a:p>
            <a:pPr>
              <a:lnSpc>
                <a:spcPct val="90000"/>
              </a:lnSpc>
            </a:pPr>
            <a:r>
              <a:rPr lang="en-US" altLang="en-US" b="1" dirty="0">
                <a:latin typeface="+mj-lt"/>
              </a:rPr>
              <a:t>Scheduling classes</a:t>
            </a:r>
          </a:p>
          <a:p>
            <a:pPr lvl="1">
              <a:lnSpc>
                <a:spcPct val="90000"/>
              </a:lnSpc>
            </a:pPr>
            <a:r>
              <a:rPr lang="en-US" altLang="en-US" dirty="0"/>
              <a:t>Each has specific priority</a:t>
            </a:r>
          </a:p>
          <a:p>
            <a:pPr lvl="1">
              <a:lnSpc>
                <a:spcPct val="90000"/>
              </a:lnSpc>
            </a:pPr>
            <a:r>
              <a:rPr lang="en-US" altLang="en-US" dirty="0"/>
              <a:t>Scheduler picks highest priority task in highest scheduling class</a:t>
            </a:r>
          </a:p>
          <a:p>
            <a:pPr lvl="1">
              <a:lnSpc>
                <a:spcPct val="90000"/>
              </a:lnSpc>
            </a:pPr>
            <a:r>
              <a:rPr lang="en-US" altLang="en-US" dirty="0"/>
              <a:t>Rather than quantum based on fixed time allotments, based on proportion of CPU time</a:t>
            </a:r>
          </a:p>
          <a:p>
            <a:pPr lvl="1">
              <a:lnSpc>
                <a:spcPct val="90000"/>
              </a:lnSpc>
            </a:pPr>
            <a:r>
              <a:rPr lang="en-US" altLang="en-US" dirty="0"/>
              <a:t>Two scheduling classes included, others can be added</a:t>
            </a:r>
          </a:p>
          <a:p>
            <a:pPr marL="1095375" lvl="2" indent="-240030">
              <a:lnSpc>
                <a:spcPct val="90000"/>
              </a:lnSpc>
              <a:buFont typeface="Arial" panose="020B0604020202020204" pitchFamily="34" charset="0"/>
              <a:buAutoNum type="arabicPeriod"/>
            </a:pPr>
            <a:r>
              <a:rPr lang="en-US" altLang="en-US" dirty="0"/>
              <a:t>default</a:t>
            </a:r>
          </a:p>
          <a:p>
            <a:pPr marL="1095375" lvl="2" indent="-240030">
              <a:lnSpc>
                <a:spcPct val="90000"/>
              </a:lnSpc>
              <a:buFont typeface="Arial" panose="020B0604020202020204" pitchFamily="34" charset="0"/>
              <a:buAutoNum type="arabicPeriod"/>
            </a:pPr>
            <a:r>
              <a:rPr lang="en-US" altLang="en-US" dirty="0"/>
              <a:t>real-time</a:t>
            </a:r>
          </a:p>
          <a:p>
            <a:pPr marL="457200" lvl="1" indent="0">
              <a:lnSpc>
                <a:spcPct val="90000"/>
              </a:lnSpc>
              <a:buNone/>
            </a:pP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
        <p:nvSpPr>
          <p:cNvPr id="112642" name="Rectangle 3"/>
          <p:cNvSpPr>
            <a:spLocks noGrp="1" noChangeArrowheads="1"/>
          </p:cNvSpPr>
          <p:nvPr>
            <p:ph type="body"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p>
          <a:p>
            <a:pPr lvl="1">
              <a:lnSpc>
                <a:spcPct val="90000"/>
              </a:lnSpc>
            </a:pPr>
            <a:r>
              <a:rPr lang="en-US" altLang="en-US" dirty="0"/>
              <a:t>Lower value is higher priority</a:t>
            </a:r>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p>
          <a:p>
            <a:pPr lvl="1">
              <a:lnSpc>
                <a:spcPct val="90000"/>
              </a:lnSpc>
            </a:pPr>
            <a:r>
              <a:rPr lang="en-US" altLang="en-US" dirty="0"/>
              <a:t>Target latency can increase if say number of active tasks increases</a:t>
            </a:r>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p>
          <a:p>
            <a:pPr lvl="1">
              <a:lnSpc>
                <a:spcPct val="90000"/>
              </a:lnSpc>
            </a:pPr>
            <a:r>
              <a:rPr lang="en-US" altLang="en-US" dirty="0"/>
              <a:t>Normal default priority yields virtual run time = actual run time</a:t>
            </a:r>
          </a:p>
          <a:p>
            <a:pPr>
              <a:lnSpc>
                <a:spcPct val="90000"/>
              </a:lnSpc>
            </a:pPr>
            <a:r>
              <a:rPr lang="en-US" altLang="en-US" dirty="0"/>
              <a:t>To decide next task to run, scheduler picks task with lowest virtual run time</a:t>
            </a:r>
          </a:p>
          <a:p>
            <a:pPr lvl="1">
              <a:lnSpc>
                <a:spcPct val="90000"/>
              </a:lnSpc>
            </a:pPr>
            <a:endParaRPr lang="en-US" altLang="en-US" dirty="0"/>
          </a:p>
          <a:p>
            <a:pPr marL="1095375" lvl="2" indent="-240030">
              <a:lnSpc>
                <a:spcPct val="90000"/>
              </a:lnSpc>
            </a:pPr>
            <a:endParaRPr lang="en-US" altLang="en-US" sz="1600" dirty="0"/>
          </a:p>
          <a:p>
            <a:pPr lvl="1">
              <a:lnSpc>
                <a:spcPct val="90000"/>
              </a:lnSpc>
            </a:pPr>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457200" y="137390"/>
            <a:ext cx="8229600" cy="576262"/>
          </a:xfrm>
        </p:spPr>
        <p:txBody>
          <a:bodyPr/>
          <a:lstStyle/>
          <a:p>
            <a:r>
              <a:rPr lang="en-US" altLang="en-US" dirty="0"/>
              <a:t>Linux Scheduling (Cont.)</a:t>
            </a:r>
          </a:p>
        </p:txBody>
      </p:sp>
      <p:sp>
        <p:nvSpPr>
          <p:cNvPr id="116738" name="Content Placeholder 2"/>
          <p:cNvSpPr>
            <a:spLocks noGrp="1"/>
          </p:cNvSpPr>
          <p:nvPr>
            <p:ph idx="1"/>
          </p:nvPr>
        </p:nvSpPr>
        <p:spPr>
          <a:xfrm>
            <a:off x="882650" y="1022668"/>
            <a:ext cx="7791450" cy="4530725"/>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pic>
        <p:nvPicPr>
          <p:cNvPr id="116739" name="Picture 1" descr="Screen Shot 2012-12-17 at 9.28.34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a:xfrm>
            <a:off x="457200" y="228830"/>
            <a:ext cx="8229600" cy="576262"/>
          </a:xfrm>
        </p:spPr>
        <p:txBody>
          <a:bodyPr/>
          <a:lstStyle/>
          <a:p>
            <a:r>
              <a:rPr lang="en-US" altLang="en-US" dirty="0"/>
              <a:t>Linux Scheduling (Cont.)</a:t>
            </a:r>
          </a:p>
        </p:txBody>
      </p:sp>
      <p:sp>
        <p:nvSpPr>
          <p:cNvPr id="117762" name="Content Placeholder 2"/>
          <p:cNvSpPr>
            <a:spLocks noGrp="1"/>
          </p:cNvSpPr>
          <p:nvPr>
            <p:ph idx="1"/>
          </p:nvPr>
        </p:nvSpPr>
        <p:spPr>
          <a:xfrm>
            <a:off x="882650" y="1144588"/>
            <a:ext cx="7791450" cy="4530725"/>
          </a:xfrm>
        </p:spPr>
        <p:txBody>
          <a:bodyPr/>
          <a:lstStyle/>
          <a:p>
            <a:r>
              <a:rPr lang="en-US" altLang="en-US" dirty="0"/>
              <a:t>Linux supports load balancing, but is also NUMA-aware.</a:t>
            </a:r>
          </a:p>
          <a:p>
            <a:r>
              <a:rPr lang="en-US" altLang="en-US" b="1" dirty="0"/>
              <a:t>Scheduling domain </a:t>
            </a:r>
            <a:r>
              <a:rPr lang="en-US" altLang="en-US" dirty="0"/>
              <a:t>is a set of CPU cores that can be balanced against one another. </a:t>
            </a:r>
          </a:p>
          <a:p>
            <a:r>
              <a:rPr lang="en-US" altLang="en-US" dirty="0"/>
              <a:t>Domains are organized by what they share (i.e., cache memory.) Goal is to keep threads from migrating between domains.</a:t>
            </a:r>
          </a:p>
        </p:txBody>
      </p:sp>
      <p:pic>
        <p:nvPicPr>
          <p:cNvPr id="11776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457200" y="114477"/>
            <a:ext cx="8229600" cy="576262"/>
          </a:xfrm>
        </p:spPr>
        <p:txBody>
          <a:bodyPr/>
          <a:lstStyle/>
          <a:p>
            <a:r>
              <a:rPr lang="en-US" altLang="en-US" dirty="0"/>
              <a:t>Windows Scheduling</a:t>
            </a:r>
          </a:p>
        </p:txBody>
      </p:sp>
      <p:sp>
        <p:nvSpPr>
          <p:cNvPr id="118786" name="Content Placeholder 2"/>
          <p:cNvSpPr>
            <a:spLocks noGrp="1"/>
          </p:cNvSpPr>
          <p:nvPr>
            <p:ph idx="1"/>
          </p:nvPr>
        </p:nvSpPr>
        <p:spPr>
          <a:xfrm>
            <a:off x="913905" y="1024414"/>
            <a:ext cx="6371617" cy="4341812"/>
          </a:xfrm>
        </p:spPr>
        <p:txBody>
          <a:bodyPr/>
          <a:lstStyle/>
          <a:p>
            <a:r>
              <a:rPr lang="en-US" altLang="en-US" dirty="0"/>
              <a:t>Windows uses priority-based preemptive scheduling</a:t>
            </a:r>
          </a:p>
          <a:p>
            <a:r>
              <a:rPr lang="en-US" altLang="en-US" dirty="0"/>
              <a:t>Highest-priority thread runs next</a:t>
            </a:r>
          </a:p>
          <a:p>
            <a:r>
              <a:rPr lang="en-US" altLang="en-US" b="1" dirty="0">
                <a:solidFill>
                  <a:srgbClr val="006699"/>
                </a:solidFill>
                <a:latin typeface="+mj-lt"/>
              </a:rPr>
              <a:t>Dispatcher</a:t>
            </a:r>
            <a:r>
              <a:rPr lang="en-US" altLang="en-US" i="1" dirty="0"/>
              <a:t> </a:t>
            </a:r>
            <a:r>
              <a:rPr lang="en-US" altLang="en-US" dirty="0"/>
              <a:t>is scheduler</a:t>
            </a:r>
          </a:p>
          <a:p>
            <a:r>
              <a:rPr lang="en-US" altLang="en-US" dirty="0"/>
              <a:t>Thread runs until (1) blocks, (2) uses time slice, (3) preempted by higher-priority thread</a:t>
            </a:r>
          </a:p>
          <a:p>
            <a:r>
              <a:rPr lang="en-US" altLang="en-US" dirty="0"/>
              <a:t>Real-time threads can preempt non-real-time</a:t>
            </a:r>
          </a:p>
          <a:p>
            <a:r>
              <a:rPr lang="en-US" altLang="en-US" dirty="0"/>
              <a:t>32-level priority scheme</a:t>
            </a:r>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p>
          <a:p>
            <a:r>
              <a:rPr lang="en-US" altLang="en-US" dirty="0"/>
              <a:t>Priority 0 is memory-management thread</a:t>
            </a:r>
          </a:p>
          <a:p>
            <a:r>
              <a:rPr lang="en-US" altLang="en-US" dirty="0"/>
              <a:t>Queue for each priority</a:t>
            </a:r>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p:cNvSpPr>
          <p:nvPr>
            <p:ph type="title"/>
          </p:nvPr>
        </p:nvSpPr>
        <p:spPr>
          <a:xfrm>
            <a:off x="457200" y="173673"/>
            <a:ext cx="8229600" cy="576262"/>
          </a:xfrm>
        </p:spPr>
        <p:txBody>
          <a:bodyPr/>
          <a:lstStyle/>
          <a:p>
            <a:r>
              <a:rPr lang="en-US" altLang="en-US" dirty="0"/>
              <a:t>Windows Priority Classes</a:t>
            </a:r>
          </a:p>
        </p:txBody>
      </p:sp>
      <p:sp>
        <p:nvSpPr>
          <p:cNvPr id="119810" name="Content Placeholder 2"/>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p>
          <a:p>
            <a:r>
              <a:rPr lang="en-US" altLang="en-US" dirty="0"/>
              <a:t>A thread within a given priority class has a relative priority</a:t>
            </a:r>
          </a:p>
          <a:p>
            <a:pPr lvl="1"/>
            <a:r>
              <a:rPr lang="en-US" altLang="en-US" dirty="0"/>
              <a:t>TIME_CRITICAL, HIGHEST, ABOVE_NORMAL, NORMAL, BELOW_NORMAL, LOWEST, IDLE</a:t>
            </a:r>
          </a:p>
          <a:p>
            <a:r>
              <a:rPr lang="en-US" altLang="en-US" dirty="0"/>
              <a:t>Priority class and relative priority combine to give numeric priority</a:t>
            </a:r>
          </a:p>
          <a:p>
            <a:r>
              <a:rPr lang="en-US" altLang="en-US" dirty="0"/>
              <a:t>Base priority is NORMAL within the class</a:t>
            </a:r>
          </a:p>
          <a:p>
            <a:r>
              <a:rPr lang="en-US" altLang="en-US" dirty="0"/>
              <a:t>If quantum expires, priority lowered, but never below base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881694" y="101600"/>
            <a:ext cx="8229600" cy="618842"/>
          </a:xfrm>
        </p:spPr>
        <p:txBody>
          <a:bodyPr/>
          <a:lstStyle/>
          <a:p>
            <a:r>
              <a:rPr lang="en-US" altLang="en-US" dirty="0"/>
              <a:t>Windows Priority Classes (Cont.)</a:t>
            </a:r>
          </a:p>
        </p:txBody>
      </p:sp>
      <p:sp>
        <p:nvSpPr>
          <p:cNvPr id="120834" name="Content Placeholder 2"/>
          <p:cNvSpPr>
            <a:spLocks noGrp="1"/>
          </p:cNvSpPr>
          <p:nvPr>
            <p:ph idx="1"/>
          </p:nvPr>
        </p:nvSpPr>
        <p:spPr>
          <a:xfrm>
            <a:off x="890429" y="1114108"/>
            <a:ext cx="7818438" cy="4530725"/>
          </a:xfrm>
        </p:spPr>
        <p:txBody>
          <a:bodyPr/>
          <a:lstStyle/>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p:cNvSpPr>
          <p:nvPr>
            <p:ph type="title"/>
          </p:nvPr>
        </p:nvSpPr>
        <p:spPr>
          <a:xfrm>
            <a:off x="457200" y="130652"/>
            <a:ext cx="8229600" cy="576262"/>
          </a:xfrm>
        </p:spPr>
        <p:txBody>
          <a:bodyPr/>
          <a:lstStyle/>
          <a:p>
            <a:r>
              <a:rPr lang="en-US" altLang="en-US" dirty="0"/>
              <a:t>Solaris</a:t>
            </a:r>
          </a:p>
        </p:txBody>
      </p:sp>
      <p:sp>
        <p:nvSpPr>
          <p:cNvPr id="123906" name="Content Placeholder 2"/>
          <p:cNvSpPr>
            <a:spLocks noGrp="1"/>
          </p:cNvSpPr>
          <p:nvPr>
            <p:ph idx="1"/>
          </p:nvPr>
        </p:nvSpPr>
        <p:spPr>
          <a:xfrm>
            <a:off x="933450" y="1081088"/>
            <a:ext cx="7181850" cy="4530725"/>
          </a:xfrm>
        </p:spPr>
        <p:txBody>
          <a:bodyPr/>
          <a:lstStyle/>
          <a:p>
            <a:r>
              <a:rPr lang="en-US" altLang="en-US"/>
              <a:t>Priority-based scheduling</a:t>
            </a:r>
          </a:p>
          <a:p>
            <a:r>
              <a:rPr lang="en-US" altLang="en-US"/>
              <a:t>Six classes available</a:t>
            </a:r>
          </a:p>
          <a:p>
            <a:pPr lvl="1"/>
            <a:r>
              <a:rPr lang="en-US" altLang="en-US"/>
              <a:t>Time sharing (default) (TS)</a:t>
            </a:r>
          </a:p>
          <a:p>
            <a:pPr lvl="1"/>
            <a:r>
              <a:rPr lang="en-US" altLang="en-US"/>
              <a:t>Interactive (IA)</a:t>
            </a:r>
          </a:p>
          <a:p>
            <a:pPr lvl="1"/>
            <a:r>
              <a:rPr lang="en-US" altLang="en-US"/>
              <a:t>Real time (RT)</a:t>
            </a:r>
          </a:p>
          <a:p>
            <a:pPr lvl="1"/>
            <a:r>
              <a:rPr lang="en-US" altLang="en-US"/>
              <a:t>System (SYS)</a:t>
            </a:r>
          </a:p>
          <a:p>
            <a:pPr lvl="1"/>
            <a:r>
              <a:rPr lang="en-US" altLang="en-US"/>
              <a:t>Fair Share (FSS)</a:t>
            </a:r>
          </a:p>
          <a:p>
            <a:pPr lvl="1"/>
            <a:r>
              <a:rPr lang="en-US" altLang="en-US"/>
              <a:t>Fixed priority (FP)</a:t>
            </a:r>
          </a:p>
          <a:p>
            <a:r>
              <a:rPr lang="en-US" altLang="en-US"/>
              <a:t>Given thread can be in one class at a time</a:t>
            </a:r>
          </a:p>
          <a:p>
            <a:r>
              <a:rPr lang="en-US" altLang="en-US"/>
              <a:t>Each class has its own scheduling algorithm</a:t>
            </a:r>
          </a:p>
          <a:p>
            <a:r>
              <a:rPr lang="en-US" altLang="en-US"/>
              <a:t>Time sharing is multi-level feedback queue</a:t>
            </a:r>
          </a:p>
          <a:p>
            <a:pPr lvl="1"/>
            <a:r>
              <a:rPr lang="en-US" altLang="en-US"/>
              <a:t>Loadable table configurable by sysadmin</a:t>
            </a:r>
          </a:p>
          <a:p>
            <a:endParaRPr lang="en-US" altLang="en-US"/>
          </a:p>
          <a:p>
            <a:pPr lvl="1"/>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a:xfrm>
            <a:off x="731520" y="143193"/>
            <a:ext cx="8229600" cy="576262"/>
          </a:xfrm>
        </p:spPr>
        <p:txBody>
          <a:bodyPr/>
          <a:lstStyle/>
          <a:p>
            <a:r>
              <a:rPr lang="en-US" altLang="en-US" dirty="0"/>
              <a:t>Solaris Scheduling (Cont.)</a:t>
            </a:r>
          </a:p>
        </p:txBody>
      </p:sp>
      <p:sp>
        <p:nvSpPr>
          <p:cNvPr id="129026" name="Content Placeholder 2"/>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p>
          <a:p>
            <a:pPr lvl="1"/>
            <a:r>
              <a:rPr lang="en-US" altLang="en-US" dirty="0"/>
              <a:t>Thread with highest priority runs next</a:t>
            </a:r>
          </a:p>
          <a:p>
            <a:pPr lvl="1"/>
            <a:r>
              <a:rPr lang="en-US" altLang="en-US" dirty="0"/>
              <a:t>Runs until (1) blocks, (2) uses time slice, (3) preempted by higher-priority thread</a:t>
            </a:r>
          </a:p>
          <a:p>
            <a:pPr lvl="1"/>
            <a:r>
              <a:rPr lang="en-US" altLang="en-US" dirty="0"/>
              <a:t>Multiple threads at same priority selected via RR</a:t>
            </a:r>
          </a:p>
          <a:p>
            <a:pPr lvl="1">
              <a:buFont typeface="Monotype Sorts" pitchFamily="-84" charset="2"/>
              <a:buNone/>
            </a:pPr>
            <a:endParaRPr lang="en-US"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sp>
        <p:nvSpPr>
          <p:cNvPr id="130050" name="Rectangle 3"/>
          <p:cNvSpPr>
            <a:spLocks noGrp="1" noChangeArrowheads="1"/>
          </p:cNvSpPr>
          <p:nvPr>
            <p:ph type="body" idx="1"/>
          </p:nvPr>
        </p:nvSpPr>
        <p:spPr>
          <a:xfrm>
            <a:off x="825271" y="965201"/>
            <a:ext cx="6774409" cy="4622799"/>
          </a:xfrm>
        </p:spPr>
        <p:txBody>
          <a:bodyPr/>
          <a:lstStyle/>
          <a:p>
            <a:r>
              <a:rPr lang="en-US" altLang="en-US" dirty="0"/>
              <a:t>How to select CPU-scheduling algorithm for an OS?</a:t>
            </a:r>
          </a:p>
          <a:p>
            <a:r>
              <a:rPr lang="en-US" altLang="en-US" dirty="0"/>
              <a:t>Determine criteria, then evaluate algorithms</a:t>
            </a:r>
          </a:p>
          <a:p>
            <a:r>
              <a:rPr lang="en-US" altLang="en-US" b="1" dirty="0">
                <a:solidFill>
                  <a:srgbClr val="006699"/>
                </a:solidFill>
                <a:latin typeface="+mj-lt"/>
              </a:rPr>
              <a:t>Deterministic modeling</a:t>
            </a:r>
          </a:p>
          <a:p>
            <a:pPr lvl="1"/>
            <a:r>
              <a:rPr lang="en-US" altLang="en-US" dirty="0"/>
              <a:t>Type of </a:t>
            </a:r>
            <a:r>
              <a:rPr lang="en-US" altLang="en-US" b="1" dirty="0">
                <a:solidFill>
                  <a:srgbClr val="006699"/>
                </a:solidFill>
                <a:latin typeface="+mj-lt"/>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pic>
        <p:nvPicPr>
          <p:cNvPr id="130051" name="Picture 1" descr="Screen Shot 2012-12-17 at 9.44.14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p>
        </p:txBody>
      </p:sp>
      <p:sp>
        <p:nvSpPr>
          <p:cNvPr id="101378" name="Rectangle 3"/>
          <p:cNvSpPr>
            <a:spLocks noGrp="1" noChangeArrowheads="1"/>
          </p:cNvSpPr>
          <p:nvPr>
            <p:ph type="body" idx="1"/>
          </p:nvPr>
        </p:nvSpPr>
        <p:spPr>
          <a:xfrm>
            <a:off x="827089" y="1097280"/>
            <a:ext cx="7087552" cy="4683760"/>
          </a:xfrm>
        </p:spPr>
        <p:txBody>
          <a:bodyPr/>
          <a:lstStyle/>
          <a:p>
            <a:pPr marL="341630" indent="-341630"/>
            <a:r>
              <a:rPr lang="en-US" altLang="en-US" dirty="0"/>
              <a:t>For each algorithm, calculate minimum average waiting time</a:t>
            </a:r>
          </a:p>
          <a:p>
            <a:pPr marL="341630" indent="-341630"/>
            <a:r>
              <a:rPr lang="en-US" altLang="en-US" dirty="0"/>
              <a:t>Simple and fast, but requires exact numbers for input, applies only to those inputs</a:t>
            </a:r>
          </a:p>
          <a:p>
            <a:pPr marL="741680" lvl="1" indent="-284480"/>
            <a:r>
              <a:rPr lang="en-US" altLang="en-US" dirty="0"/>
              <a:t>FCS is 28ms:</a:t>
            </a:r>
          </a:p>
          <a:p>
            <a:pPr marL="341630" indent="-341630"/>
            <a:endParaRPr lang="en-US" altLang="en-US" dirty="0"/>
          </a:p>
          <a:p>
            <a:pPr marL="341630" indent="-341630">
              <a:buFont typeface="Monotype Sorts" pitchFamily="-84" charset="2"/>
              <a:buNone/>
            </a:pPr>
            <a:endParaRPr lang="en-US" altLang="en-US" dirty="0"/>
          </a:p>
          <a:p>
            <a:pPr marL="741680" lvl="1" indent="-284480"/>
            <a:r>
              <a:rPr lang="en-US" altLang="en-US" dirty="0"/>
              <a:t>Non-preemptive SFJ is 13ms:</a:t>
            </a:r>
          </a:p>
          <a:p>
            <a:pPr marL="341630" indent="-341630"/>
            <a:endParaRPr lang="en-US" altLang="en-US" dirty="0"/>
          </a:p>
          <a:p>
            <a:pPr marL="341630" indent="-341630">
              <a:buFont typeface="Monotype Sorts" pitchFamily="-84" charset="2"/>
              <a:buNone/>
            </a:pPr>
            <a:endParaRPr lang="en-US" altLang="en-US" dirty="0"/>
          </a:p>
          <a:p>
            <a:pPr marL="741680" lvl="1" indent="-284480"/>
            <a:r>
              <a:rPr lang="en-US" altLang="en-US" dirty="0"/>
              <a:t>RR is 23ms:</a:t>
            </a:r>
          </a:p>
          <a:p>
            <a:pPr marL="341630" indent="-341630">
              <a:buFont typeface="Monotype Sorts" pitchFamily="-84" charset="2"/>
              <a:buNone/>
            </a:pPr>
            <a:endParaRPr lang="en-US" altLang="en-US" dirty="0"/>
          </a:p>
        </p:txBody>
      </p:sp>
      <p:pic>
        <p:nvPicPr>
          <p:cNvPr id="132099" name="Picture 2" descr="Screen Shot 2012-12-17 at 9.47.12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p:cNvSpPr>
            <a:spLocks noGrp="1"/>
          </p:cNvSpPr>
          <p:nvPr>
            <p:ph type="title"/>
          </p:nvPr>
        </p:nvSpPr>
        <p:spPr>
          <a:xfrm>
            <a:off x="457200" y="144071"/>
            <a:ext cx="8229600" cy="576262"/>
          </a:xfrm>
        </p:spPr>
        <p:txBody>
          <a:bodyPr/>
          <a:lstStyle/>
          <a:p>
            <a:r>
              <a:rPr lang="en-US" altLang="en-US" dirty="0"/>
              <a:t>Queueing Models</a:t>
            </a:r>
          </a:p>
        </p:txBody>
      </p:sp>
      <p:sp>
        <p:nvSpPr>
          <p:cNvPr id="134146" name="Content Placeholder 2"/>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p:cNvSpPr>
            <a:spLocks noGrp="1"/>
          </p:cNvSpPr>
          <p:nvPr>
            <p:ph idx="1"/>
          </p:nvPr>
        </p:nvSpPr>
        <p:spPr>
          <a:xfrm>
            <a:off x="858026" y="1016001"/>
            <a:ext cx="7137894" cy="4551680"/>
          </a:xfrm>
        </p:spPr>
        <p:txBody>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p:cNvSpPr>
            <a:spLocks noGrp="1"/>
          </p:cNvSpPr>
          <p:nvPr>
            <p:ph type="title"/>
          </p:nvPr>
        </p:nvSpPr>
        <p:spPr>
          <a:xfrm>
            <a:off x="457200" y="122922"/>
            <a:ext cx="8229600" cy="576262"/>
          </a:xfrm>
        </p:spPr>
        <p:txBody>
          <a:bodyPr/>
          <a:lstStyle/>
          <a:p>
            <a:r>
              <a:rPr lang="en-US" altLang="en-US" dirty="0"/>
              <a:t>Simulations</a:t>
            </a:r>
          </a:p>
        </p:txBody>
      </p:sp>
      <p:sp>
        <p:nvSpPr>
          <p:cNvPr id="136194" name="Content Placeholder 2"/>
          <p:cNvSpPr>
            <a:spLocks noGrp="1"/>
          </p:cNvSpPr>
          <p:nvPr>
            <p:ph idx="1"/>
          </p:nvPr>
        </p:nvSpPr>
        <p:spPr>
          <a:xfrm>
            <a:off x="834443" y="1060768"/>
            <a:ext cx="7727950" cy="4530725"/>
          </a:xfrm>
        </p:spPr>
        <p:txBody>
          <a:bodyPr/>
          <a:lstStyle/>
          <a:p>
            <a:r>
              <a:rPr lang="en-US" altLang="en-US" dirty="0"/>
              <a:t>Queueing models limited</a:t>
            </a:r>
          </a:p>
          <a:p>
            <a:r>
              <a:rPr lang="en-US" altLang="en-US" b="1" dirty="0">
                <a:solidFill>
                  <a:srgbClr val="006699"/>
                </a:solidFill>
                <a:latin typeface="+mj-lt"/>
              </a:rPr>
              <a:t>Simulations</a:t>
            </a:r>
            <a:r>
              <a:rPr lang="en-US" altLang="en-US" b="1" dirty="0"/>
              <a:t> </a:t>
            </a:r>
            <a:r>
              <a:rPr lang="en-US" altLang="en-US" dirty="0"/>
              <a:t>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p:cNvSpPr>
          <p:nvPr>
            <p:ph type="title" idx="4294967295"/>
          </p:nvPr>
        </p:nvSpPr>
        <p:spPr>
          <a:xfrm>
            <a:off x="1404938" y="124637"/>
            <a:ext cx="6824662" cy="576262"/>
          </a:xfrm>
        </p:spPr>
        <p:txBody>
          <a:bodyPr/>
          <a:lstStyle/>
          <a:p>
            <a:r>
              <a:rPr lang="en-US" altLang="en-US" dirty="0"/>
              <a:t>Implementation</a:t>
            </a:r>
          </a:p>
        </p:txBody>
      </p:sp>
      <p:sp>
        <p:nvSpPr>
          <p:cNvPr id="139266" name="Content Placeholder 2"/>
          <p:cNvSpPr txBox="1"/>
          <p:nvPr/>
        </p:nvSpPr>
        <p:spPr bwMode="auto">
          <a:xfrm>
            <a:off x="850900" y="1055688"/>
            <a:ext cx="7531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730" indent="-488950" defTabSz="1304925">
              <a:defRPr>
                <a:solidFill>
                  <a:schemeClr val="tx1"/>
                </a:solidFill>
                <a:latin typeface="Verdana" panose="020B0604030504040204" pitchFamily="34" charset="0"/>
                <a:ea typeface="MS PGothic" panose="020B0600070205080204" pitchFamily="34" charset="-128"/>
              </a:defRPr>
            </a:lvl2pPr>
            <a:lvl3pPr marL="1551305" indent="-325755"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dirty="0">
                <a:latin typeface="Helvetica"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dirty="0">
                <a:latin typeface="Helvetica" charset="0"/>
              </a:rPr>
              <a:t>High cost, high risk</a:t>
            </a:r>
          </a:p>
          <a:p>
            <a:pPr lvl="1">
              <a:spcBef>
                <a:spcPct val="35000"/>
              </a:spcBef>
              <a:buClr>
                <a:srgbClr val="993300"/>
              </a:buClr>
              <a:buSzPct val="110000"/>
              <a:buFont typeface="Arial" panose="020B0604020202020204" pitchFamily="34" charset="0"/>
              <a:buChar char="•"/>
            </a:pPr>
            <a:r>
              <a:rPr kumimoji="1" lang="en-US" altLang="en-US" dirty="0">
                <a:latin typeface="Helvetica" charset="0"/>
              </a:rPr>
              <a:t>Environments vary</a:t>
            </a:r>
          </a:p>
          <a:p>
            <a:pPr>
              <a:spcBef>
                <a:spcPct val="35000"/>
              </a:spcBef>
              <a:buClr>
                <a:srgbClr val="993300"/>
              </a:buClr>
              <a:buSzPct val="110000"/>
              <a:buFont typeface="Wingdings" panose="05000000000000000000" pitchFamily="2" charset="2"/>
              <a:buChar char="§"/>
            </a:pPr>
            <a:r>
              <a:rPr kumimoji="1" lang="en-US" altLang="en-US" dirty="0">
                <a:latin typeface="Helvetica"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dirty="0">
                <a:latin typeface="Helvetica" charset="0"/>
              </a:rPr>
              <a:t>Or APIs to modify priorities</a:t>
            </a:r>
          </a:p>
          <a:p>
            <a:pPr>
              <a:spcBef>
                <a:spcPct val="35000"/>
              </a:spcBef>
              <a:buClr>
                <a:srgbClr val="993300"/>
              </a:buClr>
              <a:buSzPct val="110000"/>
              <a:buFont typeface="Wingdings" panose="05000000000000000000" pitchFamily="2" charset="2"/>
              <a:buChar char="§"/>
            </a:pPr>
            <a:r>
              <a:rPr kumimoji="1" lang="en-US" altLang="en-US" dirty="0">
                <a:latin typeface="Helvetica" charset="0"/>
              </a:rPr>
              <a:t>But again environments vary</a:t>
            </a:r>
          </a:p>
          <a:p>
            <a:pPr>
              <a:spcBef>
                <a:spcPct val="35000"/>
              </a:spcBef>
              <a:buClr>
                <a:srgbClr val="993300"/>
              </a:buClr>
              <a:buSzPct val="90000"/>
              <a:buFont typeface="Monotype Sorts" pitchFamily="-84" charset="2"/>
              <a:buChar char="n"/>
            </a:pPr>
            <a:endParaRPr kumimoji="1" lang="en-US" altLang="en-US" dirty="0">
              <a:latin typeface="Helvetica"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charset="0"/>
            </a:endParaRPr>
          </a:p>
          <a:p>
            <a:pPr lvl="1">
              <a:spcBef>
                <a:spcPct val="35000"/>
              </a:spcBef>
              <a:buClr>
                <a:srgbClr val="CC6600"/>
              </a:buClr>
              <a:buSzPct val="80000"/>
              <a:buFont typeface="Monotype Sorts" pitchFamily="-84" charset="2"/>
              <a:buChar char="l"/>
            </a:pPr>
            <a:endParaRPr kumimoji="1" lang="en-US" altLang="en-US" dirty="0">
              <a:latin typeface="Helvetica"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27</TotalTime>
  <Words>4721</Words>
  <Application>Microsoft Office PowerPoint</Application>
  <PresentationFormat>全屏显示(4:3)</PresentationFormat>
  <Paragraphs>616</Paragraphs>
  <Slides>80</Slides>
  <Notes>64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80</vt:i4>
      </vt:variant>
    </vt:vector>
  </HeadingPairs>
  <TitlesOfParts>
    <vt:vector size="98" baseType="lpstr">
      <vt:lpstr>Lucida Grande</vt:lpstr>
      <vt:lpstr>Monotype Sorts</vt:lpstr>
      <vt:lpstr>MS PGothic</vt:lpstr>
      <vt:lpstr>黑体</vt:lpstr>
      <vt:lpstr>宋体</vt:lpstr>
      <vt:lpstr>Arial</vt:lpstr>
      <vt:lpstr>Calibri</vt:lpstr>
      <vt:lpstr>Comic Sans MS</vt:lpstr>
      <vt:lpstr>Consolas</vt:lpstr>
      <vt:lpstr>Courier New</vt:lpstr>
      <vt:lpstr>Helvetica</vt:lpstr>
      <vt:lpstr>Symbol</vt:lpstr>
      <vt:lpstr>Times New Roman</vt:lpstr>
      <vt:lpstr>Verdana</vt:lpstr>
      <vt:lpstr>Webdings</vt:lpstr>
      <vt:lpstr>Wingdings</vt:lpstr>
      <vt:lpstr>os-8</vt:lpstr>
      <vt:lpstr>Paintbrush Picture</vt:lpstr>
      <vt:lpstr>PowerPoint 演示文稿</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  (轮转)</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by 的</cp:lastModifiedBy>
  <cp:revision>270</cp:revision>
  <cp:lastPrinted>2013-09-10T17:57:00Z</cp:lastPrinted>
  <dcterms:created xsi:type="dcterms:W3CDTF">2011-01-13T23:43:00Z</dcterms:created>
  <dcterms:modified xsi:type="dcterms:W3CDTF">2026-05-11T08:34:54Z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E3C69293F8D94F05B94DE6F1FD2980C4_12</vt:lpwstr>
  </property>
  <property fmtid="{D5CDD505-2E9C-101B-9397-08002B2CF9AE}" pid="3" name="KSOProductBuildVer">
    <vt:lpwstr>2052-12.1.0.23542</vt:lpwstr>
  </property>
</Properties>
</file>