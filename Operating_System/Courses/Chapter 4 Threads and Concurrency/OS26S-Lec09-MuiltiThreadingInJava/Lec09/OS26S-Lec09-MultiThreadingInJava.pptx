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481" r:id="rId3"/>
    <p:sldId id="451" r:id="rId4"/>
    <p:sldId id="452" r:id="rId5"/>
    <p:sldId id="453" r:id="rId6"/>
    <p:sldId id="454" r:id="rId7"/>
    <p:sldId id="455" r:id="rId8"/>
    <p:sldId id="456" r:id="rId9"/>
    <p:sldId id="457" r:id="rId10"/>
    <p:sldId id="442" r:id="rId11"/>
    <p:sldId id="441" r:id="rId12"/>
    <p:sldId id="374" r:id="rId13"/>
    <p:sldId id="375" r:id="rId14"/>
    <p:sldId id="376" r:id="rId15"/>
    <p:sldId id="377" r:id="rId16"/>
    <p:sldId id="378" r:id="rId17"/>
    <p:sldId id="379" r:id="rId18"/>
    <p:sldId id="389" r:id="rId19"/>
    <p:sldId id="380" r:id="rId20"/>
    <p:sldId id="445" r:id="rId21"/>
    <p:sldId id="444" r:id="rId22"/>
    <p:sldId id="383" r:id="rId23"/>
    <p:sldId id="384" r:id="rId24"/>
    <p:sldId id="385" r:id="rId25"/>
    <p:sldId id="386" r:id="rId26"/>
    <p:sldId id="387" r:id="rId27"/>
    <p:sldId id="388" r:id="rId28"/>
    <p:sldId id="390" r:id="rId29"/>
    <p:sldId id="447" r:id="rId30"/>
    <p:sldId id="446" r:id="rId31"/>
    <p:sldId id="448" r:id="rId32"/>
    <p:sldId id="450" r:id="rId33"/>
    <p:sldId id="449" r:id="rId34"/>
    <p:sldId id="391" r:id="rId35"/>
    <p:sldId id="392" r:id="rId36"/>
    <p:sldId id="393" r:id="rId37"/>
    <p:sldId id="394" r:id="rId38"/>
    <p:sldId id="395" r:id="rId39"/>
    <p:sldId id="396" r:id="rId40"/>
    <p:sldId id="397" r:id="rId41"/>
    <p:sldId id="398" r:id="rId42"/>
    <p:sldId id="399" r:id="rId43"/>
    <p:sldId id="400" r:id="rId44"/>
    <p:sldId id="402" r:id="rId45"/>
    <p:sldId id="403" r:id="rId46"/>
    <p:sldId id="404" r:id="rId47"/>
    <p:sldId id="405" r:id="rId48"/>
    <p:sldId id="406" r:id="rId49"/>
    <p:sldId id="407" r:id="rId50"/>
    <p:sldId id="408" r:id="rId51"/>
    <p:sldId id="409" r:id="rId52"/>
    <p:sldId id="410" r:id="rId53"/>
    <p:sldId id="411" r:id="rId54"/>
    <p:sldId id="412" r:id="rId55"/>
  </p:sldIdLst>
  <p:sldSz cx="9144000" cy="6858000" type="screen4x3"/>
  <p:notesSz cx="7103745" cy="1023429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clrMru>
    <a:srgbClr val="D55D68"/>
    <a:srgbClr val="741621"/>
    <a:srgbClr val="8B008C"/>
    <a:srgbClr val="0009CC"/>
    <a:srgbClr val="E41900"/>
    <a:srgbClr val="FCFF8D"/>
    <a:srgbClr val="FCFF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howGuides="1">
      <p:cViewPr>
        <p:scale>
          <a:sx n="100" d="100"/>
          <a:sy n="100" d="100"/>
        </p:scale>
        <p:origin x="-1938" y="-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notesMaster" Target="notesMasters/notesMaster1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t" anchorCtr="0" compatLnSpc="1"/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590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t" anchorCtr="0" compatLnSpc="1"/>
          <a:lstStyle>
            <a:lvl1pPr algn="r"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9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b" anchorCtr="0" compatLnSpc="1"/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5900" y="9723439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b" anchorCtr="0" compatLnSpc="1"/>
          <a:lstStyle>
            <a:lvl1pPr algn="r">
              <a:defRPr sz="1300"/>
            </a:lvl1pPr>
          </a:lstStyle>
          <a:p>
            <a:pPr>
              <a:defRPr/>
            </a:pPr>
            <a:fld id="{93747AD9-77A5-4608-BC85-8D482E1AFD8C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t" anchorCtr="0" compatLnSpc="1"/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5900" y="0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t" anchorCtr="0" compatLnSpc="1"/>
          <a:lstStyle>
            <a:lvl1pPr algn="r"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9" y="4860926"/>
            <a:ext cx="5208587" cy="4605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t" anchorCtr="0" compatLnSpc="1"/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9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b" anchorCtr="0" compatLnSpc="1"/>
          <a:lstStyle>
            <a:lvl1pPr>
              <a:defRPr sz="13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5900" y="9723439"/>
            <a:ext cx="3078163" cy="5111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9062" tIns="49531" rIns="99062" bIns="49531" numCol="1" anchor="b" anchorCtr="0" compatLnSpc="1"/>
          <a:lstStyle>
            <a:lvl1pPr algn="r">
              <a:defRPr sz="1300"/>
            </a:lvl1pPr>
          </a:lstStyle>
          <a:p>
            <a:pPr>
              <a:defRPr/>
            </a:pPr>
            <a:fld id="{489434A3-6426-40F8-B09E-2F1DEDE7FCE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75E577-FBDD-4A14-8F3E-A4F68CC3EE0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E41E6-E85C-4056-B2F9-19472C5D73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593377-DBBA-4BC8-82A3-372C5E4D17F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423E42-6A03-4EE5-9D7F-9FFF1D68245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AAFC62-19CD-416F-A4FB-2E8E318AB1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49D3E-7246-4846-B17C-BEC6852DBE7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D7418-85C1-4EF6-8C6C-685959B9FE8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83509-55A2-4BBA-824F-5867687D0DE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AEA214-3EA0-42E1-9DCC-D0F7B0567AB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D42F5-4CA3-4CE3-B08B-461E79EE522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BECC9-E2E3-4024-8F70-A16B7228BF45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1"/>
            <a:r>
              <a:rPr lang="en-US" altLang="zh-CN" smtClean="0"/>
              <a:t>Second level</a:t>
            </a:r>
            <a:endParaRPr lang="en-US" altLang="zh-CN" smtClean="0"/>
          </a:p>
          <a:p>
            <a:pPr lvl="2"/>
            <a:r>
              <a:rPr lang="en-US" altLang="zh-CN" smtClean="0"/>
              <a:t>Third level</a:t>
            </a:r>
            <a:endParaRPr lang="en-US" altLang="zh-CN" smtClean="0"/>
          </a:p>
          <a:p>
            <a:pPr lvl="3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>
              <a:defRPr/>
            </a:pPr>
            <a:fld id="{664FA49C-DAEB-4209-A9B1-F5CE9B3EC28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914400" y="3352800"/>
            <a:ext cx="7200900" cy="3124200"/>
          </a:xfrm>
        </p:spPr>
        <p:txBody>
          <a:bodyPr>
            <a:normAutofit/>
          </a:bodyPr>
          <a:lstStyle/>
          <a:p>
            <a:pPr marL="0" indent="0" algn="r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sz="3000" dirty="0" smtClean="0">
                <a:latin typeface="Calibri" panose="020F0502020204030204" pitchFamily="34" charset="0"/>
                <a:ea typeface="黑体" panose="02010609060101010101" pitchFamily="49" charset="-122"/>
              </a:rPr>
              <a:t>何明昕</a:t>
            </a:r>
            <a:r>
              <a:rPr lang="zh-CN" sz="3000" dirty="0" smtClean="0">
                <a:latin typeface="Calibri" panose="020F0502020204030204" pitchFamily="34" charset="0"/>
              </a:rPr>
              <a:t>   </a:t>
            </a:r>
            <a:r>
              <a:rPr lang="zh-CN" altLang="zh-CN" sz="3000" dirty="0" smtClean="0">
                <a:latin typeface="Calibri" panose="020F0502020204030204" pitchFamily="34" charset="0"/>
              </a:rPr>
              <a:t>He Mingxin, Max</a:t>
            </a:r>
            <a:endParaRPr lang="zh-CN" altLang="zh-CN" sz="3000" dirty="0" smtClean="0">
              <a:latin typeface="Calibri" panose="020F0502020204030204" pitchFamily="34" charset="0"/>
            </a:endParaRPr>
          </a:p>
          <a:p>
            <a:pPr marL="0" indent="0" algn="r">
              <a:buNone/>
            </a:pP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indent="0" algn="r">
              <a:buNone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Operating Systems</a:t>
            </a:r>
            <a:endParaRPr lang="en-US" altLang="zh-CN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marL="0" indent="0" algn="r">
              <a:buNone/>
            </a:pPr>
            <a:r>
              <a:rPr lang="en-US" altLang="zh-CN" sz="3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</a:rPr>
              <a:t>2026 Spring</a:t>
            </a:r>
            <a:endParaRPr lang="en-US" altLang="zh-CN" sz="3200" dirty="0" smtClean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381000"/>
            <a:ext cx="9144000" cy="1752600"/>
          </a:xfrm>
          <a:prstGeom prst="rect">
            <a:avLst/>
          </a:prstGeom>
        </p:spPr>
        <p:txBody>
          <a:bodyPr vert="horz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lvl="0" algn="ctr">
              <a:spcBef>
                <a:spcPts val="600"/>
              </a:spcBef>
              <a:defRPr/>
            </a:pPr>
            <a:r>
              <a:rPr lang="en-US" altLang="zh-CN" sz="4800" b="1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rPr>
              <a:t>Multi-Threading </a:t>
            </a:r>
            <a:r>
              <a:rPr lang="en-US" altLang="zh-CN" sz="4800" b="1" dirty="0" smtClean="0">
                <a:solidFill>
                  <a:srgbClr val="0070C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rPr>
              <a:t>in Java</a:t>
            </a:r>
            <a:endParaRPr kumimoji="0" lang="zh-CN" altLang="zh-CN" sz="4800" b="1" i="0" u="none" strike="noStrike" kern="1200" cap="none" spc="0" normalizeH="0" baseline="0" noProof="0" dirty="0" smtClean="0">
              <a:ln>
                <a:noFill/>
              </a:ln>
              <a:solidFill>
                <a:srgbClr val="0070C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494" name="Rectangle 6"/>
          <p:cNvSpPr>
            <a:spLocks noGrp="1" noChangeArrowheads="1"/>
          </p:cNvSpPr>
          <p:nvPr>
            <p:ph type="title"/>
          </p:nvPr>
        </p:nvSpPr>
        <p:spPr>
          <a:xfrm>
            <a:off x="228600" y="152400"/>
            <a:ext cx="8382000" cy="685800"/>
          </a:xfrm>
        </p:spPr>
        <p:txBody>
          <a:bodyPr/>
          <a:lstStyle/>
          <a:p>
            <a:r>
              <a:rPr lang="en-GB" sz="4000" dirty="0">
                <a:latin typeface="Calibri" panose="020F0502020204030204" pitchFamily="34" charset="0"/>
              </a:rPr>
              <a:t>Definitions of Threads and Processes</a:t>
            </a:r>
            <a:endParaRPr lang="en-GB" sz="4000" dirty="0">
              <a:latin typeface="Calibri" panose="020F0502020204030204" pitchFamily="34" charset="0"/>
            </a:endParaRPr>
          </a:p>
        </p:txBody>
      </p:sp>
      <p:sp>
        <p:nvSpPr>
          <p:cNvPr id="191495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>
                <a:latin typeface="Calibri" panose="020F0502020204030204" pitchFamily="34" charset="0"/>
              </a:rPr>
              <a:t>Threads in multithreaded processors may or may not be same as software threads</a:t>
            </a:r>
            <a:endParaRPr lang="en-GB" sz="2400" dirty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GB" sz="2400" dirty="0"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sz="2400" dirty="0">
                <a:latin typeface="Calibri" panose="020F0502020204030204" pitchFamily="34" charset="0"/>
              </a:rPr>
              <a:t>Process: </a:t>
            </a:r>
            <a:endParaRPr lang="en-GB" sz="2400" dirty="0">
              <a:latin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An instance of program running on computer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sz="2400" dirty="0">
                <a:latin typeface="Calibri" panose="020F0502020204030204" pitchFamily="34" charset="0"/>
              </a:rPr>
              <a:t>Thread: </a:t>
            </a:r>
            <a:r>
              <a:rPr lang="en-GB" sz="2400" dirty="0" err="1">
                <a:latin typeface="Calibri" panose="020F0502020204030204" pitchFamily="34" charset="0"/>
              </a:rPr>
              <a:t>dispatchable</a:t>
            </a:r>
            <a:r>
              <a:rPr lang="en-GB" sz="2400" dirty="0">
                <a:latin typeface="Calibri" panose="020F0502020204030204" pitchFamily="34" charset="0"/>
              </a:rPr>
              <a:t> unit of work within process</a:t>
            </a:r>
            <a:endParaRPr lang="en-GB" sz="2400" dirty="0">
              <a:latin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Includes processor context (which includes the program counter and stack pointer) and data area for stack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Thread executes sequentially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Interruptible: processor can turn to another thread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GB" sz="2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lnSpc>
                <a:spcPct val="90000"/>
              </a:lnSpc>
            </a:pPr>
            <a:r>
              <a:rPr lang="en-GB" sz="2400" dirty="0">
                <a:latin typeface="Calibri" panose="020F0502020204030204" pitchFamily="34" charset="0"/>
              </a:rPr>
              <a:t>Thread switch</a:t>
            </a:r>
            <a:endParaRPr lang="en-GB" sz="2400" dirty="0">
              <a:latin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Switching processor between threads within same process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 lvl="1">
              <a:lnSpc>
                <a:spcPct val="90000"/>
              </a:lnSpc>
            </a:pPr>
            <a:r>
              <a:rPr lang="en-GB" sz="2000" dirty="0">
                <a:solidFill>
                  <a:schemeClr val="tx1"/>
                </a:solidFill>
                <a:latin typeface="Calibri" panose="020F0502020204030204" pitchFamily="34" charset="0"/>
              </a:rPr>
              <a:t>Typically less costly than process switch</a:t>
            </a:r>
            <a:endParaRPr lang="en-GB" sz="2000" dirty="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762000"/>
            <a:ext cx="8534400" cy="4348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800" dirty="0" smtClean="0">
                <a:latin typeface="Calibri" panose="020F0502020204030204" pitchFamily="34" charset="0"/>
              </a:rPr>
              <a:t>In Java, a single task is called a thread. The term "thread" refers to a "thread of control" or "thread of execution," meaning a sequence of instructions that are executed one after another—the thread extends through time, connecting each instruction to the next. </a:t>
            </a:r>
            <a:endParaRPr lang="en-US" altLang="zh-CN" sz="2800" dirty="0" smtClean="0">
              <a:latin typeface="Calibri" panose="020F0502020204030204" pitchFamily="34" charset="0"/>
            </a:endParaRP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lang="en-US" altLang="zh-CN" sz="2800" dirty="0" smtClean="0">
                <a:latin typeface="Calibri" panose="020F0502020204030204" pitchFamily="34" charset="0"/>
              </a:rPr>
              <a:t>In a multithreaded program, there can be many threads of control, weaving through time in parallel and forming the complete fabric of the program.</a:t>
            </a:r>
            <a:endParaRPr lang="en-US" altLang="zh-CN" sz="2800" dirty="0" smtClean="0">
              <a:solidFill>
                <a:srgbClr val="002060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51799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762000"/>
            <a:ext cx="9144000" cy="38115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-3203" y="457200"/>
            <a:ext cx="9147203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228600"/>
            <a:ext cx="9143999" cy="6156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1447800"/>
            <a:ext cx="8486775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42925" y="0"/>
            <a:ext cx="80581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862013" y="0"/>
            <a:ext cx="74199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990600"/>
            <a:ext cx="79248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2000" y="228600"/>
            <a:ext cx="9020175" cy="628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8600" y="228600"/>
            <a:ext cx="8724900" cy="604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8600" y="533400"/>
            <a:ext cx="8601075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8600" y="838200"/>
            <a:ext cx="8696325" cy="3314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57225" y="1"/>
            <a:ext cx="782955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304800"/>
            <a:ext cx="7820025" cy="59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4288" y="0"/>
            <a:ext cx="9129711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4813" y="1"/>
            <a:ext cx="833437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23888" y="0"/>
            <a:ext cx="78962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0075" y="0"/>
            <a:ext cx="7943850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8600" y="685800"/>
            <a:ext cx="876300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685800"/>
            <a:ext cx="9144000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8600" y="533400"/>
            <a:ext cx="8677275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连接符 3"/>
          <p:cNvCxnSpPr/>
          <p:nvPr/>
        </p:nvCxnSpPr>
        <p:spPr bwMode="auto">
          <a:xfrm>
            <a:off x="1066800" y="3352800"/>
            <a:ext cx="22098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>
            <a:off x="1371600" y="5029200"/>
            <a:ext cx="2362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43000" y="914400"/>
            <a:ext cx="6743700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8600" y="533400"/>
            <a:ext cx="8648700" cy="492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71463" y="528638"/>
            <a:ext cx="8601075" cy="58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762000"/>
            <a:ext cx="8582025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533400"/>
            <a:ext cx="8582025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304800"/>
            <a:ext cx="8867775" cy="5838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09575" y="342900"/>
            <a:ext cx="832485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连接符 3"/>
          <p:cNvCxnSpPr/>
          <p:nvPr/>
        </p:nvCxnSpPr>
        <p:spPr bwMode="auto">
          <a:xfrm>
            <a:off x="1981200" y="5715000"/>
            <a:ext cx="41148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>
            <a:off x="1981200" y="6019800"/>
            <a:ext cx="62484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3400" y="609600"/>
            <a:ext cx="8115300" cy="515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连接符 3"/>
          <p:cNvCxnSpPr/>
          <p:nvPr/>
        </p:nvCxnSpPr>
        <p:spPr bwMode="auto">
          <a:xfrm>
            <a:off x="2133600" y="2895600"/>
            <a:ext cx="25908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直接连接符 7"/>
          <p:cNvCxnSpPr/>
          <p:nvPr/>
        </p:nvCxnSpPr>
        <p:spPr bwMode="auto">
          <a:xfrm>
            <a:off x="2438400" y="4464000"/>
            <a:ext cx="38862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直接连接符 8"/>
          <p:cNvCxnSpPr/>
          <p:nvPr/>
        </p:nvCxnSpPr>
        <p:spPr bwMode="auto">
          <a:xfrm>
            <a:off x="2438400" y="5004000"/>
            <a:ext cx="2808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28588" y="0"/>
            <a:ext cx="8886825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接连接符 3"/>
          <p:cNvCxnSpPr/>
          <p:nvPr/>
        </p:nvCxnSpPr>
        <p:spPr bwMode="auto">
          <a:xfrm>
            <a:off x="1752600" y="1828800"/>
            <a:ext cx="25908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直接连接符 5"/>
          <p:cNvCxnSpPr/>
          <p:nvPr/>
        </p:nvCxnSpPr>
        <p:spPr bwMode="auto">
          <a:xfrm>
            <a:off x="2362200" y="2514600"/>
            <a:ext cx="33528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直接连接符 6"/>
          <p:cNvCxnSpPr/>
          <p:nvPr/>
        </p:nvCxnSpPr>
        <p:spPr bwMode="auto">
          <a:xfrm>
            <a:off x="2057400" y="4114800"/>
            <a:ext cx="2772000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09713" y="9525"/>
            <a:ext cx="6124575" cy="683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00188" y="1"/>
            <a:ext cx="6143625" cy="685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304800"/>
            <a:ext cx="8534400" cy="606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" y="381000"/>
            <a:ext cx="8763000" cy="596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152400"/>
            <a:ext cx="8601075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514600"/>
            <a:ext cx="584835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0" y="2362200"/>
            <a:ext cx="2857500" cy="3819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228600" y="609600"/>
            <a:ext cx="881062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81000" y="609600"/>
            <a:ext cx="852487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152400"/>
            <a:ext cx="851535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600200"/>
            <a:ext cx="64389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85800" y="190500"/>
            <a:ext cx="7772400" cy="647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0" y="304800"/>
            <a:ext cx="9144000" cy="591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09600" y="609600"/>
            <a:ext cx="7867650" cy="536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09588" y="71438"/>
            <a:ext cx="8124825" cy="671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62000" y="1066800"/>
            <a:ext cx="7677150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" y="228600"/>
            <a:ext cx="8896350" cy="621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9538" y="0"/>
            <a:ext cx="8924925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" y="304800"/>
            <a:ext cx="8810625" cy="615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671513" y="176213"/>
            <a:ext cx="7800975" cy="650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533400" y="914400"/>
            <a:ext cx="803910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988</Words>
  <Application>WPS 演示</Application>
  <PresentationFormat>全屏显示(4:3)</PresentationFormat>
  <Paragraphs>26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4" baseType="lpstr">
      <vt:lpstr>Arial</vt:lpstr>
      <vt:lpstr>宋体</vt:lpstr>
      <vt:lpstr>Wingdings</vt:lpstr>
      <vt:lpstr>Times</vt:lpstr>
      <vt:lpstr>Times New Roman</vt:lpstr>
      <vt:lpstr>MS PGothic</vt:lpstr>
      <vt:lpstr>Calibri</vt:lpstr>
      <vt:lpstr>黑体</vt:lpstr>
      <vt:lpstr>微软雅黑</vt:lpstr>
      <vt:lpstr>Arial Unicode MS</vt:lpstr>
      <vt:lpstr>Blank Presentation</vt:lpstr>
      <vt:lpstr>PowerPoint 演示文稿</vt:lpstr>
      <vt:lpstr>Definitions of Threads and Processes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University of Georgia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CS100J</dc:title>
  <dc:creator>Trial User</dc:creator>
  <cp:lastModifiedBy>MX</cp:lastModifiedBy>
  <cp:revision>276</cp:revision>
  <cp:lastPrinted>2009-08-26T12:39:00Z</cp:lastPrinted>
  <dcterms:created xsi:type="dcterms:W3CDTF">2010-01-22T18:17:00Z</dcterms:created>
  <dcterms:modified xsi:type="dcterms:W3CDTF">2026-04-21T01:01:42Z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6A71B4254BD3491990608D98E76ABFEF_12</vt:lpwstr>
  </property>
  <property fmtid="{D5CDD505-2E9C-101B-9397-08002B2CF9AE}" pid="3" name="KSOProductBuildVer">
    <vt:lpwstr>2052-12.1.0.23542</vt:lpwstr>
  </property>
</Properties>
</file>