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399" r:id="rId2"/>
    <p:sldId id="332" r:id="rId3"/>
    <p:sldId id="333" r:id="rId4"/>
    <p:sldId id="334" r:id="rId5"/>
    <p:sldId id="377" r:id="rId6"/>
    <p:sldId id="335" r:id="rId7"/>
    <p:sldId id="336" r:id="rId8"/>
    <p:sldId id="337" r:id="rId9"/>
    <p:sldId id="338" r:id="rId10"/>
    <p:sldId id="374" r:id="rId11"/>
    <p:sldId id="378" r:id="rId12"/>
    <p:sldId id="340" r:id="rId13"/>
    <p:sldId id="379" r:id="rId14"/>
    <p:sldId id="341" r:id="rId15"/>
    <p:sldId id="38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81" r:id="rId25"/>
    <p:sldId id="351" r:id="rId26"/>
    <p:sldId id="352" r:id="rId27"/>
    <p:sldId id="353" r:id="rId28"/>
    <p:sldId id="354" r:id="rId29"/>
    <p:sldId id="382" r:id="rId30"/>
    <p:sldId id="383" r:id="rId31"/>
    <p:sldId id="384" r:id="rId32"/>
    <p:sldId id="385" r:id="rId33"/>
    <p:sldId id="357" r:id="rId34"/>
    <p:sldId id="358" r:id="rId35"/>
    <p:sldId id="386" r:id="rId36"/>
    <p:sldId id="387" r:id="rId37"/>
    <p:sldId id="388" r:id="rId38"/>
    <p:sldId id="389" r:id="rId39"/>
    <p:sldId id="390" r:id="rId40"/>
    <p:sldId id="391" r:id="rId41"/>
    <p:sldId id="392" r:id="rId42"/>
    <p:sldId id="394" r:id="rId43"/>
    <p:sldId id="359" r:id="rId44"/>
    <p:sldId id="395" r:id="rId45"/>
    <p:sldId id="360" r:id="rId46"/>
    <p:sldId id="373" r:id="rId47"/>
    <p:sldId id="396" r:id="rId48"/>
    <p:sldId id="397" r:id="rId49"/>
    <p:sldId id="361" r:id="rId50"/>
    <p:sldId id="362" r:id="rId51"/>
    <p:sldId id="363" r:id="rId52"/>
    <p:sldId id="375" r:id="rId53"/>
    <p:sldId id="364" r:id="rId54"/>
    <p:sldId id="365" r:id="rId55"/>
    <p:sldId id="398" r:id="rId56"/>
    <p:sldId id="366" r:id="rId57"/>
    <p:sldId id="367" r:id="rId58"/>
    <p:sldId id="368" r:id="rId59"/>
    <p:sldId id="376" r:id="rId60"/>
    <p:sldId id="369" r:id="rId61"/>
    <p:sldId id="370" r:id="rId62"/>
    <p:sldId id="371" r:id="rId63"/>
    <p:sldId id="372" r:id="rId6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6FCA2-75D6-4321-9175-71C6AA2BCF8E}" v="1" dt="2026-04-13T07:13:22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 autoAdjust="0"/>
    <p:restoredTop sz="94626"/>
  </p:normalViewPr>
  <p:slideViewPr>
    <p:cSldViewPr snapToGrid="0" showGuides="1">
      <p:cViewPr>
        <p:scale>
          <a:sx n="59" d="100"/>
          <a:sy n="59" d="100"/>
        </p:scale>
        <p:origin x="27" y="73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6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modSld">
      <pc:chgData name="by 的" userId="7483e1e6a959e322" providerId="LiveId" clId="{286C159D-603C-4CB1-AE78-F5F98B38873E}" dt="2026-04-13T07:13:22.954" v="0" actId="1038"/>
      <pc:docMkLst>
        <pc:docMk/>
      </pc:docMkLst>
      <pc:sldChg chg="modSp">
        <pc:chgData name="by 的" userId="7483e1e6a959e322" providerId="LiveId" clId="{286C159D-603C-4CB1-AE78-F5F98B38873E}" dt="2026-04-13T07:13:22.954" v="0" actId="1038"/>
        <pc:sldMkLst>
          <pc:docMk/>
          <pc:sldMk cId="0" sldId="367"/>
        </pc:sldMkLst>
        <pc:picChg chg="mod">
          <ac:chgData name="by 的" userId="7483e1e6a959e322" providerId="LiveId" clId="{286C159D-603C-4CB1-AE78-F5F98B38873E}" dt="2026-04-13T07:13:22.954" v="0" actId="1038"/>
          <ac:picMkLst>
            <pc:docMk/>
            <pc:sldMk cId="0" sldId="367"/>
            <ac:picMk id="94211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algn="r" defTabSz="882650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algn="r" defTabSz="882650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  <a:t>1</a:t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73D603-B8D2-4718-A866-542F17F0E427}" type="slidenum">
              <a:rPr lang="en-US" altLang="en-US" smtClean="0">
                <a:latin typeface="Helvetica" charset="0"/>
              </a:rPr>
              <a:t>2</a:t>
            </a:fld>
            <a:endParaRPr lang="en-US" altLang="en-US">
              <a:latin typeface="Helvetica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charset="0"/>
              </a:rPr>
              <a:t>5</a:t>
            </a:fld>
            <a:endParaRPr lang="en-US" altLang="en-US">
              <a:latin typeface="Helvetica" charset="0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charset="0"/>
              </a:rPr>
              <a:t>7</a:t>
            </a:fld>
            <a:endParaRPr lang="en-US" altLang="en-US">
              <a:latin typeface="Helvetica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charset="0"/>
              </a:rPr>
              <a:t>12</a:t>
            </a:fld>
            <a:endParaRPr lang="en-US" altLang="en-US">
              <a:latin typeface="Helvetica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charset="0"/>
              </a:rPr>
              <a:t>14</a:t>
            </a:fld>
            <a:endParaRPr lang="en-US" altLang="en-US">
              <a:latin typeface="Helvetica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charset="0"/>
              </a:rPr>
              <a:t>16</a:t>
            </a:fld>
            <a:endParaRPr lang="en-US" altLang="en-US">
              <a:latin typeface="Helvetica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charset="0"/>
              </a:rPr>
              <a:t>17</a:t>
            </a:fld>
            <a:endParaRPr lang="en-US" altLang="en-US">
              <a:latin typeface="Helvetica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charset="0"/>
              </a:rPr>
              <a:t>18</a:t>
            </a:fld>
            <a:endParaRPr lang="en-US" altLang="en-US">
              <a:latin typeface="Helvetica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charset="0"/>
              </a:rPr>
              <a:t>19</a:t>
            </a:fld>
            <a:endParaRPr lang="en-US" altLang="en-US">
              <a:latin typeface="Helvetica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charset="0"/>
              </a:rPr>
              <a:t>20</a:t>
            </a:fld>
            <a:endParaRPr lang="en-US" altLang="en-US">
              <a:latin typeface="Helvetica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charset="0"/>
              </a:rPr>
              <a:t>22</a:t>
            </a:fld>
            <a:endParaRPr lang="en-US" altLang="en-US">
              <a:latin typeface="Helvetica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charset="0"/>
              </a:rPr>
              <a:t>28</a:t>
            </a:fld>
            <a:endParaRPr lang="en-US" altLang="en-US">
              <a:latin typeface="Helvetica" charset="0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charset="0"/>
              </a:rPr>
              <a:t>33</a:t>
            </a:fld>
            <a:endParaRPr lang="en-US" altLang="en-US">
              <a:latin typeface="Helvetica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20DC-D625-4FC1-80D1-197547D6A0FC}" type="slidenum">
              <a:rPr lang="en-US" altLang="en-US" smtClean="0">
                <a:latin typeface="Helvetica" charset="0"/>
              </a:rPr>
              <a:t>34</a:t>
            </a:fld>
            <a:endParaRPr lang="en-US" altLang="en-US">
              <a:latin typeface="Helvetica" charset="0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086FDF-C283-4A26-A609-6B6E5A4F7611}" type="slidenum">
              <a:rPr lang="en-US" altLang="en-US" smtClean="0">
                <a:latin typeface="Helvetica" charset="0"/>
              </a:rPr>
              <a:t>43</a:t>
            </a:fld>
            <a:endParaRPr lang="en-US" altLang="en-US">
              <a:latin typeface="Helvetica" charset="0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B4739B-763B-41A7-BF7B-6390169FD7EB}" type="slidenum">
              <a:rPr lang="en-US" altLang="en-US" smtClean="0">
                <a:latin typeface="Helvetica" charset="0"/>
              </a:rPr>
              <a:t>45</a:t>
            </a:fld>
            <a:endParaRPr lang="en-US" altLang="en-US">
              <a:latin typeface="Helvetica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5790EF-1AC9-4C3D-A973-AAE8B010255A}" type="slidenum">
              <a:rPr lang="en-US" altLang="en-US" smtClean="0">
                <a:latin typeface="Helvetica" charset="0"/>
              </a:rPr>
              <a:t>46</a:t>
            </a:fld>
            <a:endParaRPr lang="en-US" altLang="en-US">
              <a:latin typeface="Helvetica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910074-6A37-4496-AE68-529FF68CD695}" type="slidenum">
              <a:rPr lang="en-US" altLang="en-US" smtClean="0">
                <a:latin typeface="Helvetica" charset="0"/>
              </a:rPr>
              <a:t>49</a:t>
            </a:fld>
            <a:endParaRPr lang="en-US" altLang="en-US">
              <a:latin typeface="Helvetica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0F8462-1483-480D-9499-599BDADC3331}" type="slidenum">
              <a:rPr lang="en-US" altLang="en-US" smtClean="0">
                <a:latin typeface="Helvetica" charset="0"/>
              </a:rPr>
              <a:t>50</a:t>
            </a:fld>
            <a:endParaRPr lang="en-US" altLang="en-US">
              <a:latin typeface="Helvetica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C7D05-D70C-4688-A6EC-0CAD37F60868}" type="slidenum">
              <a:rPr lang="en-US" altLang="en-US" smtClean="0">
                <a:latin typeface="Helvetica" charset="0"/>
              </a:rPr>
              <a:t>51</a:t>
            </a:fld>
            <a:endParaRPr lang="en-US" altLang="en-US">
              <a:latin typeface="Helvetica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384F79-FBB8-4CF0-ACB5-B2C4E81F4BD7}" type="slidenum">
              <a:rPr lang="en-US" altLang="en-US" smtClean="0">
                <a:latin typeface="Helvetica" charset="0"/>
              </a:rPr>
              <a:t>52</a:t>
            </a:fld>
            <a:endParaRPr lang="en-US" altLang="en-US">
              <a:latin typeface="Helvetica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charset="0"/>
              </a:rPr>
              <a:t>53</a:t>
            </a:fld>
            <a:endParaRPr lang="en-US" altLang="en-US">
              <a:latin typeface="Helvetica" charset="0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7F09621-5A44-4CBF-82F9-AF59D7D29429}" type="slidenum">
              <a:rPr lang="en-US" altLang="en-US" smtClean="0">
                <a:latin typeface="Helvetica" charset="0"/>
              </a:rPr>
              <a:t>54</a:t>
            </a:fld>
            <a:endParaRPr lang="en-US" altLang="en-US">
              <a:latin typeface="Helvetica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24DD7-701B-4C62-BB67-32CAEE595173}" type="slidenum">
              <a:rPr lang="en-US" altLang="en-US" smtClean="0">
                <a:latin typeface="Helvetica" charset="0"/>
              </a:rPr>
              <a:t>56</a:t>
            </a:fld>
            <a:endParaRPr lang="en-US" altLang="en-US">
              <a:latin typeface="Helvetica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1AA22-768A-4441-B4A7-7B9EE0F1CEA2}" type="slidenum">
              <a:rPr lang="en-US" altLang="en-US" smtClean="0">
                <a:latin typeface="Helvetica" charset="0"/>
              </a:rPr>
              <a:t>57</a:t>
            </a:fld>
            <a:endParaRPr lang="en-US" altLang="en-US">
              <a:latin typeface="Helvetica" charset="0"/>
            </a:endParaRPr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 txBox="1">
            <a:spLocks noGrp="1" noChangeArrowheads="1"/>
          </p:cNvSpPr>
          <p:nvPr/>
        </p:nvSpPr>
        <p:spPr bwMode="auto">
          <a:xfrm>
            <a:off x="3973513" y="8853488"/>
            <a:ext cx="305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604" tIns="45801" rIns="91604" bIns="45801" anchor="b"/>
          <a:lstStyle>
            <a:lvl1pPr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87849D-3357-408B-BE81-D941B68A9C17}" type="slidenum">
              <a:rPr lang="en-US" altLang="en-US" sz="1200">
                <a:latin typeface="Helvetica" charset="0"/>
              </a:rPr>
              <a:t>58</a:t>
            </a:fld>
            <a:endParaRPr lang="en-US" altLang="en-US" sz="1200">
              <a:latin typeface="Helvetica" charset="0"/>
            </a:endParaRPr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116B57-7969-4071-A746-9D77D5F1E3CB}" type="slidenum">
              <a:rPr lang="en-US" altLang="en-US" smtClean="0">
                <a:latin typeface="Helvetica" charset="0"/>
              </a:rPr>
              <a:t>59</a:t>
            </a:fld>
            <a:endParaRPr lang="en-US" altLang="en-US">
              <a:latin typeface="Helvetica" charset="0"/>
            </a:endParaRPr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6A8B9C-1E5D-4E07-B8D8-9FCDFD426338}" type="slidenum">
              <a:rPr lang="en-US" altLang="en-US" smtClean="0">
                <a:latin typeface="Helvetica" charset="0"/>
              </a:rPr>
              <a:t>60</a:t>
            </a:fld>
            <a:endParaRPr lang="en-US" altLang="en-US">
              <a:latin typeface="Helvetica" charset="0"/>
            </a:endParaRPr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2ED1-C80C-4561-A421-39FDA9B078BC}" type="slidenum">
              <a:rPr lang="en-US" altLang="en-US" smtClean="0">
                <a:latin typeface="Helvetica" charset="0"/>
              </a:rPr>
              <a:t>62</a:t>
            </a:fld>
            <a:endParaRPr lang="en-US" altLang="en-US">
              <a:latin typeface="Helvetica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05454-0887-49D1-BB79-E16982FE9E04}" type="slidenum">
              <a:rPr lang="en-US" altLang="en-US" smtClean="0">
                <a:latin typeface="Helvetica" charset="0"/>
              </a:rPr>
              <a:t>63</a:t>
            </a:fld>
            <a:endParaRPr lang="en-US" altLang="en-US">
              <a:latin typeface="Helvetica" charset="0"/>
            </a:endParaRPr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4: Threads &amp; Concurrency</a:t>
            </a:r>
            <a:endParaRPr lang="zh-CN" altLang="en-US" sz="4000" dirty="0">
              <a:solidFill>
                <a:srgbClr val="00206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Overview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Multicore Programming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Multithreading Models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Thread Libraries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Implicit Threading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Threading Issues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Operating System Examples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Content Placeholder 2"/>
          <p:cNvSpPr>
            <a:spLocks noGrp="1"/>
          </p:cNvSpPr>
          <p:nvPr>
            <p:ph idx="1"/>
          </p:nvPr>
        </p:nvSpPr>
        <p:spPr>
          <a:xfrm>
            <a:off x="806450" y="1233805"/>
            <a:ext cx="6940550" cy="5168265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Identify the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basic components of a thread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, and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contrast threads and processes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the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benefits and challenges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of designng 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</a:rPr>
              <a:t>multithreaded applications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Illustrate different approaches to implicit threading including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thread pools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fork-join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, and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Grand Central Dispatch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how the Windows and Linux operating systems represent threads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Designing multithreaded applications using the Pthreads, Java, and Windows threading APIs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/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</a:t>
            </a:r>
          </a:p>
        </p:txBody>
      </p:sp>
      <p:sp>
        <p:nvSpPr>
          <p:cNvPr id="11266" name="Content Placeholder 2"/>
          <p:cNvSpPr>
            <a:spLocks noGrp="1"/>
          </p:cNvSpPr>
          <p:nvPr>
            <p:ph idx="1"/>
          </p:nvPr>
        </p:nvSpPr>
        <p:spPr>
          <a:xfrm>
            <a:off x="806450" y="1233805"/>
            <a:ext cx="6813550" cy="5011420"/>
          </a:xfrm>
        </p:spPr>
        <p:txBody>
          <a:bodyPr/>
          <a:lstStyle/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Most modern applications are multithreaded</a:t>
            </a: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Threads run within application</a:t>
            </a: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Multiple tasks with the application can be implemented by separate threads</a:t>
            </a:r>
          </a:p>
          <a:p>
            <a:pPr lvl="1"/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Update display</a:t>
            </a:r>
          </a:p>
          <a:p>
            <a:pPr lvl="1"/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Fetch data</a:t>
            </a:r>
          </a:p>
          <a:p>
            <a:pPr lvl="1"/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Spell checking</a:t>
            </a:r>
          </a:p>
          <a:p>
            <a:pPr lvl="1"/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Answer a network request</a:t>
            </a:r>
          </a:p>
          <a:p>
            <a:r>
              <a:rPr lang="en-US" altLang="en-US" sz="20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Process creation is heavy-weight while thread creation is light-weight</a:t>
            </a:r>
          </a:p>
          <a:p>
            <a:r>
              <a:rPr lang="en-US" altLang="en-US" sz="20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Can simplify code, increase efficiency</a:t>
            </a:r>
          </a:p>
          <a:p>
            <a:r>
              <a:rPr lang="en-US" altLang="en-US" sz="20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Kernels are generally multithreaded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82700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862013" y="481242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Benefits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07250" cy="4530725"/>
          </a:xfrm>
        </p:spPr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808002" y="1208088"/>
            <a:ext cx="7723188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puts pressure on programmers, challenges include: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pPr lvl="1"/>
            <a:r>
              <a:rPr lang="en-US" altLang="en-US" b="1" dirty="0"/>
              <a:t>Testing and debugging</a:t>
            </a:r>
          </a:p>
          <a:p>
            <a:r>
              <a:rPr lang="en-US" altLang="en-US" b="1" i="1" dirty="0">
                <a:solidFill>
                  <a:srgbClr val="0070C0"/>
                </a:solidFill>
              </a:rPr>
              <a:t>Parallelism</a:t>
            </a:r>
            <a:r>
              <a:rPr lang="en-US" altLang="en-US" dirty="0">
                <a:solidFill>
                  <a:srgbClr val="0070C0"/>
                </a:solidFill>
              </a:rPr>
              <a:t> implies a system can perform more than one task simultaneously</a:t>
            </a:r>
          </a:p>
          <a:p>
            <a:r>
              <a:rPr lang="en-US" altLang="en-US" b="1" i="1" dirty="0">
                <a:solidFill>
                  <a:srgbClr val="0070C0"/>
                </a:solidFill>
              </a:rPr>
              <a:t>Concurrency</a:t>
            </a:r>
            <a:r>
              <a:rPr lang="en-US" altLang="en-US" dirty="0">
                <a:solidFill>
                  <a:srgbClr val="0070C0"/>
                </a:solidFill>
              </a:rPr>
              <a:t> supports more than one task making progress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dirty="0"/>
              <a:t>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06805"/>
            <a:ext cx="7901305" cy="537718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Identifies performance gains from adding additional cores to an application that has both serial and parallel components</a:t>
            </a:r>
          </a:p>
          <a:p>
            <a:pPr>
              <a:defRPr/>
            </a:pPr>
            <a:r>
              <a:rPr lang="en-US" altLang="en-US" i="1" dirty="0">
                <a:cs typeface="MS PGothic" panose="020B0600070205080204" pitchFamily="34" charset="-128"/>
              </a:rPr>
              <a:t>S</a:t>
            </a:r>
            <a:r>
              <a:rPr lang="en-US" altLang="en-US" dirty="0">
                <a:cs typeface="MS PGothic" panose="020B0600070205080204" pitchFamily="34" charset="-128"/>
              </a:rPr>
              <a:t> is serial portion</a:t>
            </a:r>
          </a:p>
          <a:p>
            <a:pPr>
              <a:defRPr/>
            </a:pPr>
            <a:r>
              <a:rPr lang="en-US" altLang="en-US" i="1" dirty="0">
                <a:cs typeface="MS PGothic" panose="020B0600070205080204" pitchFamily="34" charset="-128"/>
              </a:rPr>
              <a:t>N</a:t>
            </a:r>
            <a:r>
              <a:rPr lang="en-US" altLang="en-US" dirty="0">
                <a:cs typeface="MS PGothic" panose="020B0600070205080204" pitchFamily="34" charset="-128"/>
              </a:rPr>
              <a:t> processing cores</a:t>
            </a: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That is, if application is 75% parallel / 25% serial, moving from 1 to 2 cores results in speedup of 1.6 times</a:t>
            </a: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As </a:t>
            </a:r>
            <a:r>
              <a:rPr lang="en-US" altLang="en-US" i="1" dirty="0">
                <a:cs typeface="MS PGothic" panose="020B0600070205080204" pitchFamily="34" charset="-128"/>
              </a:rPr>
              <a:t>N</a:t>
            </a:r>
            <a:r>
              <a:rPr lang="en-US" altLang="en-US" dirty="0">
                <a:cs typeface="MS PGothic" panose="020B0600070205080204" pitchFamily="34" charset="-128"/>
              </a:rPr>
              <a:t> approaches infinity, speedup approaches 1 / </a:t>
            </a:r>
            <a:r>
              <a:rPr lang="en-US" altLang="en-US" i="1" dirty="0">
                <a:cs typeface="MS PGothic" panose="020B0600070205080204" pitchFamily="34" charset="-128"/>
              </a:rPr>
              <a:t>S</a:t>
            </a:r>
          </a:p>
          <a:p>
            <a:pPr>
              <a:buFont typeface="Monotype Sorts" pitchFamily="-84" charset="2"/>
              <a:buNone/>
              <a:defRPr/>
            </a:pPr>
            <a:br>
              <a:rPr lang="en-US" altLang="en-US" b="1" dirty="0">
                <a:cs typeface="MS PGothic" panose="020B0600070205080204" pitchFamily="34" charset="-128"/>
              </a:rPr>
            </a:br>
            <a:r>
              <a:rPr lang="en-US" altLang="en-US" b="1" dirty="0">
                <a:cs typeface="MS PGothic" panose="020B0600070205080204" pitchFamily="34" charset="-128"/>
              </a:rPr>
              <a:t>Serial portion of an application has disproportionate  effect on performance gained by adding additional cores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But does the law take into account contemporary multicore systems?</a:t>
            </a:r>
          </a:p>
        </p:txBody>
      </p:sp>
      <p:pic>
        <p:nvPicPr>
          <p:cNvPr id="25603" name="Picture 1" descr="Screen Shot 2012-12-04 at 7.54.0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117" y="259718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</a:p>
        </p:txBody>
      </p:sp>
      <p:pic>
        <p:nvPicPr>
          <p:cNvPr id="2765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" y="896620"/>
            <a:ext cx="7573010" cy="534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en-US" altLang="en-US" dirty="0"/>
              <a:t>- management done by user-level threads library</a:t>
            </a:r>
          </a:p>
          <a:p>
            <a:r>
              <a:rPr lang="en-US" altLang="en-US" dirty="0"/>
              <a:t>Three primary thread libraries:</a:t>
            </a:r>
          </a:p>
          <a:p>
            <a:pPr lvl="1"/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Pthreads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 Windows threads</a:t>
            </a:r>
          </a:p>
          <a:p>
            <a:pPr lvl="1"/>
            <a:r>
              <a:rPr lang="en-US" altLang="en-US" dirty="0"/>
              <a:t> Java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r>
              <a:rPr lang="en-US" altLang="en-US" dirty="0"/>
              <a:t>Examples – virtually all general-purpose operating systems, including:</a:t>
            </a:r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Linux</a:t>
            </a:r>
          </a:p>
          <a:p>
            <a:pPr lvl="1"/>
            <a:r>
              <a:rPr lang="en-US" altLang="en-US" dirty="0"/>
              <a:t>Mac OS X</a:t>
            </a:r>
          </a:p>
          <a:p>
            <a:pPr lvl="1"/>
            <a:r>
              <a:rPr lang="en-US" altLang="en-US" dirty="0"/>
              <a:t>iOS</a:t>
            </a:r>
          </a:p>
          <a:p>
            <a:pPr lvl="1"/>
            <a:r>
              <a:rPr lang="en-US" altLang="en-US" dirty="0"/>
              <a:t>Android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</a:p>
        </p:txBody>
      </p:sp>
      <p:pic>
        <p:nvPicPr>
          <p:cNvPr id="3072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765" y="1901825"/>
            <a:ext cx="5619115" cy="309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Many-to-One</a:t>
            </a:r>
          </a:p>
          <a:p>
            <a:r>
              <a:rPr lang="en-US" altLang="en-US" dirty="0"/>
              <a:t>One-to-One</a:t>
            </a:r>
          </a:p>
          <a:p>
            <a:r>
              <a:rPr lang="en-US" altLang="en-US" dirty="0"/>
              <a:t>Many-to-Many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8863"/>
            <a:ext cx="772173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40" y="3261360"/>
            <a:ext cx="4801235" cy="263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28423" cy="4530725"/>
          </a:xfrm>
        </p:spPr>
        <p:txBody>
          <a:bodyPr/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5" y="3157220"/>
            <a:ext cx="5121275" cy="2840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135" y="3096895"/>
            <a:ext cx="4913630" cy="2706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Model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87" y="1155700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3993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090" y="2336800"/>
            <a:ext cx="5191760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>
          <a:xfrm>
            <a:off x="457200" y="2169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834442" y="1233488"/>
            <a:ext cx="770306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r>
              <a:rPr lang="en-US" altLang="en-US" dirty="0"/>
              <a:t>Two primary ways of implementing</a:t>
            </a:r>
          </a:p>
          <a:p>
            <a:pPr lvl="1"/>
            <a:r>
              <a:rPr lang="en-US" altLang="en-US" dirty="0"/>
              <a:t>Library entirely in user space</a:t>
            </a:r>
          </a:p>
          <a:p>
            <a:pPr lvl="1"/>
            <a:r>
              <a:rPr lang="en-US" altLang="en-US" dirty="0"/>
              <a:t>Kernel-level library supported by the 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233488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</a:p>
        </p:txBody>
      </p:sp>
      <p:pic>
        <p:nvPicPr>
          <p:cNvPr id="4608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" y="1002665"/>
            <a:ext cx="7220585" cy="5422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</a:p>
        </p:txBody>
      </p:sp>
      <p:pic>
        <p:nvPicPr>
          <p:cNvPr id="4710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85" y="1891030"/>
            <a:ext cx="5982335" cy="2896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>
          <a:xfrm>
            <a:off x="1023938" y="222868"/>
            <a:ext cx="7793037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</a:p>
        </p:txBody>
      </p:sp>
      <p:pic>
        <p:nvPicPr>
          <p:cNvPr id="4813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3" y="1543685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541176" y="226237"/>
            <a:ext cx="8615524" cy="576262"/>
          </a:xfrm>
        </p:spPr>
        <p:txBody>
          <a:bodyPr/>
          <a:lstStyle/>
          <a:p>
            <a:r>
              <a:rPr lang="en-US" altLang="en-US" dirty="0"/>
              <a:t>Windows  Multithreaded C Program</a:t>
            </a:r>
          </a:p>
        </p:txBody>
      </p:sp>
      <p:pic>
        <p:nvPicPr>
          <p:cNvPr id="4915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" y="1468120"/>
            <a:ext cx="6662420" cy="328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>
          <a:xfrm>
            <a:off x="1054359" y="222868"/>
            <a:ext cx="8026141" cy="576262"/>
          </a:xfrm>
        </p:spPr>
        <p:txBody>
          <a:bodyPr/>
          <a:lstStyle/>
          <a:p>
            <a:r>
              <a:rPr lang="en-US" altLang="en-US" sz="3000" dirty="0"/>
              <a:t>Windows  Multithreaded C Program (Cont.)</a:t>
            </a:r>
          </a:p>
        </p:txBody>
      </p:sp>
      <p:pic>
        <p:nvPicPr>
          <p:cNvPr id="5017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83" y="929958"/>
            <a:ext cx="65405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C00000"/>
                </a:solidFill>
              </a:rPr>
              <a:t>Java Threads</a:t>
            </a:r>
          </a:p>
        </p:txBody>
      </p:sp>
      <p:sp>
        <p:nvSpPr>
          <p:cNvPr id="512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11213" y="1231900"/>
            <a:ext cx="7688975" cy="3746500"/>
          </a:xfrm>
        </p:spPr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  <a:p>
            <a:r>
              <a:rPr lang="en-US" altLang="en-US" dirty="0"/>
              <a:t>Java threads may be created by:</a:t>
            </a:r>
          </a:p>
          <a:p>
            <a:pPr lvl="1"/>
            <a:r>
              <a:rPr lang="en-US" altLang="en-US" dirty="0"/>
              <a:t>Extending Thread class</a:t>
            </a:r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marL="457200" lvl="1" indent="0">
              <a:buNone/>
            </a:pPr>
            <a:endParaRPr lang="en-US" altLang="en-US" sz="900" dirty="0"/>
          </a:p>
          <a:p>
            <a:pPr lvl="1"/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1203" name="Picture 1" descr="Screen Shot 2012-12-04 at 9.09.2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50361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Java Threads</a:t>
            </a:r>
          </a:p>
        </p:txBody>
      </p:sp>
      <p:sp>
        <p:nvSpPr>
          <p:cNvPr id="53250" name="TextBox 2"/>
          <p:cNvSpPr txBox="1">
            <a:spLocks noChangeArrowheads="1"/>
          </p:cNvSpPr>
          <p:nvPr/>
        </p:nvSpPr>
        <p:spPr bwMode="auto">
          <a:xfrm>
            <a:off x="1141413" y="1062038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Implementing Runnable interface:</a:t>
            </a:r>
          </a:p>
        </p:txBody>
      </p:sp>
      <p:pic>
        <p:nvPicPr>
          <p:cNvPr id="5325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1492250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1214438" y="30146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Creating a thread:</a:t>
            </a:r>
          </a:p>
        </p:txBody>
      </p:sp>
      <p:pic>
        <p:nvPicPr>
          <p:cNvPr id="5325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3494088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214438" y="4219575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Waiting on a thread:</a:t>
            </a:r>
          </a:p>
        </p:txBody>
      </p:sp>
      <p:pic>
        <p:nvPicPr>
          <p:cNvPr id="5325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657725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Java Executor Framework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Rather than explicitly creating threads, Java also allows thread creation around the Executor interface: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The Executor is used as follows: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pic>
        <p:nvPicPr>
          <p:cNvPr id="5427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982788"/>
            <a:ext cx="4267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4083050"/>
            <a:ext cx="3695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Java Executor Framework</a:t>
            </a:r>
          </a:p>
        </p:txBody>
      </p:sp>
      <p:pic>
        <p:nvPicPr>
          <p:cNvPr id="5529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1389063"/>
            <a:ext cx="6019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Java Executor Framework (Cont.)</a:t>
            </a:r>
          </a:p>
        </p:txBody>
      </p:sp>
      <p:pic>
        <p:nvPicPr>
          <p:cNvPr id="5632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778000"/>
            <a:ext cx="75819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84407" cy="4478337"/>
          </a:xfrm>
        </p:spPr>
        <p:txBody>
          <a:bodyPr/>
          <a:lstStyle/>
          <a:p>
            <a:r>
              <a:rPr lang="en-US" altLang="en-US" dirty="0"/>
              <a:t>Growing in popularity as numbers of threads increase, program correctness more difficult with explicit threads</a:t>
            </a:r>
          </a:p>
          <a:p>
            <a:r>
              <a:rPr lang="en-US" altLang="en-US" dirty="0"/>
              <a:t>Creation and management of threads done by compilers and run-time libraries rather than programmers</a:t>
            </a: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Five methods explored</a:t>
            </a: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Thread Pools</a:t>
            </a: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Fork-Join</a:t>
            </a: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OpenMP</a:t>
            </a: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Grand Central Dispatch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Intel Threading Building Blocks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Pools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49" y="1081088"/>
            <a:ext cx="7686221" cy="4478337"/>
          </a:xfrm>
        </p:spPr>
        <p:txBody>
          <a:bodyPr/>
          <a:lstStyle/>
          <a:p>
            <a:r>
              <a:rPr lang="en-US" altLang="en-US" dirty="0"/>
              <a:t>Create a number of threads in a pool where they await work</a:t>
            </a:r>
          </a:p>
          <a:p>
            <a:r>
              <a:rPr lang="en-US" altLang="en-US" dirty="0"/>
              <a:t>Advantages:</a:t>
            </a:r>
          </a:p>
          <a:p>
            <a:pPr lvl="1"/>
            <a:r>
              <a:rPr lang="en-US" altLang="en-US" dirty="0"/>
              <a:t>Usually slightly faster to service a request with an existing thread than create a new thread</a:t>
            </a:r>
          </a:p>
          <a:p>
            <a:pPr lvl="1"/>
            <a:r>
              <a:rPr lang="en-US" altLang="en-US" dirty="0"/>
              <a:t>Allows the number of threads in the application(s) to be bound to the size of the pool</a:t>
            </a:r>
          </a:p>
          <a:p>
            <a:pPr lvl="1"/>
            <a:r>
              <a:rPr lang="en-US" altLang="en-US" dirty="0"/>
              <a:t>Separating task to be performed from mechanics of creating task allows different strategies for running task</a:t>
            </a:r>
          </a:p>
          <a:p>
            <a:pPr lvl="2"/>
            <a:r>
              <a:rPr lang="en-US" altLang="en-US" dirty="0" err="1"/>
              <a:t>i.e,Tasks</a:t>
            </a:r>
            <a:r>
              <a:rPr lang="en-US" altLang="en-US" dirty="0"/>
              <a:t> could be scheduled to run periodically</a:t>
            </a:r>
          </a:p>
          <a:p>
            <a:r>
              <a:rPr lang="en-US" altLang="en-US" dirty="0"/>
              <a:t>Windows API supports thread pools:</a:t>
            </a:r>
          </a:p>
        </p:txBody>
      </p:sp>
      <p:pic>
        <p:nvPicPr>
          <p:cNvPr id="59395" name="Picture 1" descr="Screen Shot 2012-12-04 at 9.17.4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4743450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Java Thread Pools</a:t>
            </a: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Three factory methods for creating thread pools in Executors class:</a:t>
            </a:r>
          </a:p>
        </p:txBody>
      </p:sp>
      <p:pic>
        <p:nvPicPr>
          <p:cNvPr id="6144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636713"/>
            <a:ext cx="66802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Java Thread Pools (Cont.)</a:t>
            </a:r>
          </a:p>
        </p:txBody>
      </p:sp>
      <p:pic>
        <p:nvPicPr>
          <p:cNvPr id="6246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1311275"/>
            <a:ext cx="7010400" cy="425450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</a:t>
            </a:r>
          </a:p>
        </p:txBody>
      </p:sp>
      <p:sp>
        <p:nvSpPr>
          <p:cNvPr id="634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Multiple threads (tasks) are </a:t>
            </a:r>
            <a:r>
              <a:rPr lang="en-US" altLang="en-US" b="1"/>
              <a:t>forked</a:t>
            </a:r>
            <a:r>
              <a:rPr lang="en-US" altLang="en-US"/>
              <a:t>, and then </a:t>
            </a:r>
            <a:r>
              <a:rPr lang="en-US" altLang="en-US" b="1"/>
              <a:t>joined</a:t>
            </a:r>
            <a:r>
              <a:rPr lang="en-US" altLang="en-US"/>
              <a:t>.</a:t>
            </a:r>
          </a:p>
        </p:txBody>
      </p:sp>
      <p:pic>
        <p:nvPicPr>
          <p:cNvPr id="63491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838450"/>
            <a:ext cx="835183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General algorithm for fork-join strategy:</a:t>
            </a:r>
          </a:p>
        </p:txBody>
      </p:sp>
      <p:pic>
        <p:nvPicPr>
          <p:cNvPr id="6451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865" y="1979295"/>
            <a:ext cx="7201535" cy="3402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pic>
        <p:nvPicPr>
          <p:cNvPr id="6553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450" y="1157605"/>
            <a:ext cx="5059045" cy="5085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Fork-Join Parallelism in Java</a:t>
            </a:r>
          </a:p>
        </p:txBody>
      </p:sp>
      <p:pic>
        <p:nvPicPr>
          <p:cNvPr id="6656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580" y="1708785"/>
            <a:ext cx="6875780" cy="201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Fork-Join Parallelism in Java</a:t>
            </a:r>
          </a:p>
        </p:txBody>
      </p:sp>
      <p:pic>
        <p:nvPicPr>
          <p:cNvPr id="6758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632" y="906105"/>
            <a:ext cx="4806691" cy="5718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Fork-Join Parallelism in Java</a:t>
            </a:r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712399" cy="1857375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r>
              <a:rPr lang="en-US" altLang="en-US" dirty="0"/>
              <a:t> is an abstract base class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and </a:t>
            </a:r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classes extend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returns a result (via the return value from the </a:t>
            </a:r>
            <a:r>
              <a:rPr lang="en-US" altLang="en-US" b="1" dirty="0">
                <a:latin typeface="Courier New" panose="02070309020205020404" pitchFamily="49" charset="0"/>
              </a:rPr>
              <a:t>compute() </a:t>
            </a:r>
            <a:r>
              <a:rPr lang="en-US" altLang="en-US" dirty="0"/>
              <a:t>method) 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does not return a result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endParaRPr lang="en-US" altLang="en-US" b="1" dirty="0">
              <a:latin typeface="Courier New" panose="02070309020205020404" pitchFamily="49" charset="0"/>
            </a:endParaRPr>
          </a:p>
        </p:txBody>
      </p:sp>
      <p:pic>
        <p:nvPicPr>
          <p:cNvPr id="68611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7" y="3514236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4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OpenMP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473200"/>
            <a:ext cx="3560763" cy="3997325"/>
          </a:xfrm>
        </p:spPr>
        <p:txBody>
          <a:bodyPr/>
          <a:lstStyle/>
          <a:p>
            <a:r>
              <a:rPr lang="en-US" altLang="en-US" dirty="0"/>
              <a:t>Set of compiler directives and an API for C, C++, FORTRAN </a:t>
            </a:r>
          </a:p>
          <a:p>
            <a:r>
              <a:rPr lang="en-US" altLang="en-US" dirty="0"/>
              <a:t>Provides support for parallel programming in shared-memory environments</a:t>
            </a:r>
          </a:p>
          <a:p>
            <a:r>
              <a:rPr lang="en-US" altLang="en-US" dirty="0"/>
              <a:t>Identifies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 regions </a:t>
            </a:r>
            <a:r>
              <a:rPr lang="en-US" altLang="en-US" dirty="0"/>
              <a:t>– blocks of code that can run in parallel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parallel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Create as many threads as there are cores</a:t>
            </a:r>
          </a:p>
        </p:txBody>
      </p:sp>
      <p:pic>
        <p:nvPicPr>
          <p:cNvPr id="69635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473200"/>
            <a:ext cx="4577715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Run the for loop in parallel</a:t>
            </a:r>
          </a:p>
        </p:txBody>
      </p:sp>
      <p:pic>
        <p:nvPicPr>
          <p:cNvPr id="7168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2482850"/>
            <a:ext cx="4507230" cy="148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27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3" y="1187450"/>
            <a:ext cx="7753740" cy="4478338"/>
          </a:xfrm>
        </p:spPr>
        <p:txBody>
          <a:bodyPr/>
          <a:lstStyle/>
          <a:p>
            <a:r>
              <a:rPr lang="en-US" altLang="en-US" dirty="0"/>
              <a:t>Apple technology for macOS and iOS operating systems</a:t>
            </a:r>
          </a:p>
          <a:p>
            <a:r>
              <a:rPr lang="en-US" altLang="en-US" dirty="0"/>
              <a:t>Extensions to C, C++ and Objective-C languages, API, and run-time library</a:t>
            </a:r>
          </a:p>
          <a:p>
            <a:r>
              <a:rPr lang="en-US" altLang="en-US" dirty="0"/>
              <a:t>Allows identification of parallel sections</a:t>
            </a:r>
          </a:p>
          <a:p>
            <a:r>
              <a:rPr lang="en-US" altLang="en-US" dirty="0"/>
              <a:t>Manages most of the details of threading</a:t>
            </a:r>
          </a:p>
          <a:p>
            <a:r>
              <a:rPr lang="en-US" altLang="en-US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Block is in “^{ }” :</a:t>
            </a:r>
            <a:br>
              <a:rPr lang="en-US" altLang="en-US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</a:br>
            <a:br>
              <a:rPr lang="en-US" altLang="en-US" dirty="0"/>
            </a:br>
            <a:r>
              <a:rPr lang="en-US" altLang="en-US" dirty="0"/>
              <a:t>   </a:t>
            </a:r>
            <a:r>
              <a:rPr lang="ro-RO" altLang="en-US" sz="1800" b="1" dirty="0">
                <a:latin typeface="Consolas" panose="020B0609020204030204" charset="0"/>
                <a:cs typeface="Consolas" panose="020B0609020204030204" charset="0"/>
                <a:sym typeface="+mn-ea"/>
              </a:rPr>
              <a:t>^</a:t>
            </a:r>
            <a:r>
              <a:rPr lang="ro-RO" altLang="en-US" b="1" dirty="0">
                <a:latin typeface="Consolas" panose="020B0609020204030204" charset="0"/>
                <a:cs typeface="Consolas" panose="020B0609020204030204" charset="0"/>
              </a:rPr>
              <a:t>{ printf("I am a block"); } </a:t>
            </a:r>
            <a:br>
              <a:rPr lang="ro-RO" altLang="en-US" b="1" dirty="0">
                <a:latin typeface="Courier New" panose="02070309020205020404" pitchFamily="49" charset="0"/>
              </a:rPr>
            </a:br>
            <a:endParaRPr lang="en-US" altLang="en-US" dirty="0"/>
          </a:p>
          <a:p>
            <a:r>
              <a:rPr lang="en-US" altLang="en-US" dirty="0"/>
              <a:t>Blocks placed in dispatch queue</a:t>
            </a:r>
          </a:p>
          <a:p>
            <a:pPr lvl="1"/>
            <a:r>
              <a:rPr lang="en-US" altLang="en-US" dirty="0"/>
              <a:t>Assigned to available thread in thread pool when removed from queue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2" y="1203325"/>
            <a:ext cx="7688426" cy="4478338"/>
          </a:xfrm>
        </p:spPr>
        <p:txBody>
          <a:bodyPr/>
          <a:lstStyle/>
          <a:p>
            <a:r>
              <a:rPr lang="en-US" altLang="en-US" dirty="0"/>
              <a:t>Two types of dispatch queues:</a:t>
            </a:r>
          </a:p>
          <a:p>
            <a:pPr lvl="1"/>
            <a:r>
              <a:rPr lang="en-US" altLang="en-US" b="1" dirty="0"/>
              <a:t>serial</a:t>
            </a:r>
            <a:r>
              <a:rPr lang="en-US" altLang="en-US" dirty="0"/>
              <a:t> – blocks removed in FIFO order, queue is per process,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main queue</a:t>
            </a:r>
          </a:p>
          <a:p>
            <a:pPr lvl="2"/>
            <a:r>
              <a:rPr lang="en-US" altLang="en-US" dirty="0"/>
              <a:t>Programmers can create additional serial queues within program</a:t>
            </a:r>
          </a:p>
          <a:p>
            <a:pPr lvl="1"/>
            <a:r>
              <a:rPr lang="en-US" altLang="en-US" b="1" dirty="0"/>
              <a:t>concurrent</a:t>
            </a:r>
            <a:r>
              <a:rPr lang="en-US" altLang="en-US" dirty="0"/>
              <a:t> – removed in FIFO order but several may be removed at a time</a:t>
            </a:r>
          </a:p>
          <a:p>
            <a:pPr lvl="2"/>
            <a:r>
              <a:rPr lang="en-US" altLang="en-US" dirty="0"/>
              <a:t>Four system wide queues divided by quality of service: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QOS_CLASS_USER_INTERACTIVE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QOS_CLASS_USER_INITIATED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QOS_CLASS_USER_UTILITY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QOS_CLASS_USER_BACKGROUND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>
          <a:xfrm>
            <a:off x="457200" y="205860"/>
            <a:ext cx="8229600" cy="576262"/>
          </a:xfrm>
        </p:spPr>
        <p:txBody>
          <a:bodyPr/>
          <a:lstStyle/>
          <a:p>
            <a:r>
              <a:rPr lang="en-US" altLang="en-US" dirty="0"/>
              <a:t>Grand Central Dispatch</a:t>
            </a:r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the Swift language a task is defined as a closure – similar to a block, minus the caret</a:t>
            </a:r>
          </a:p>
          <a:p>
            <a:r>
              <a:rPr lang="en-US" altLang="en-US" dirty="0"/>
              <a:t>Closures are submitted to the queue using the </a:t>
            </a:r>
            <a:r>
              <a:rPr lang="en-US" altLang="en-US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dispatch_async</a:t>
            </a:r>
            <a:r>
              <a:rPr lang="en-US" altLang="en-US" b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/>
              <a:t>function: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</a:p>
        </p:txBody>
      </p:sp>
      <p:pic>
        <p:nvPicPr>
          <p:cNvPr id="7680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645" y="2813050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>
          <a:xfrm>
            <a:off x="958850" y="233853"/>
            <a:ext cx="7727950" cy="576262"/>
          </a:xfrm>
        </p:spPr>
        <p:txBody>
          <a:bodyPr/>
          <a:lstStyle/>
          <a:p>
            <a:r>
              <a:rPr lang="en-US" altLang="en-US" dirty="0"/>
              <a:t>Intel Threading Building Blocks (TBB)</a:t>
            </a:r>
          </a:p>
        </p:txBody>
      </p:sp>
      <p:sp>
        <p:nvSpPr>
          <p:cNvPr id="778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Template library for designing parallel C++ programs</a:t>
            </a:r>
          </a:p>
          <a:p>
            <a:r>
              <a:rPr lang="en-US" altLang="en-US" dirty="0"/>
              <a:t>A serial version of a simple for loop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same for loop written using TBB with </a:t>
            </a:r>
            <a:r>
              <a:rPr lang="en-US" altLang="en-US" b="1" dirty="0" err="1">
                <a:latin typeface="Courier New" panose="02070309020205020404" pitchFamily="49" charset="0"/>
              </a:rPr>
              <a:t>parallel_for</a:t>
            </a:r>
            <a:r>
              <a:rPr lang="en-US" altLang="en-US" dirty="0"/>
              <a:t> statement:</a:t>
            </a:r>
          </a:p>
        </p:txBody>
      </p:sp>
      <p:pic>
        <p:nvPicPr>
          <p:cNvPr id="7782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145" y="2096135"/>
            <a:ext cx="3941445" cy="941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15" y="4072255"/>
            <a:ext cx="7109460" cy="66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2" y="1143000"/>
            <a:ext cx="7440645" cy="4483100"/>
          </a:xfrm>
        </p:spPr>
        <p:txBody>
          <a:bodyPr/>
          <a:lstStyle/>
          <a:p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r>
              <a:rPr lang="en-US" altLang="en-US" dirty="0"/>
              <a:t>Signal handling</a:t>
            </a:r>
          </a:p>
          <a:p>
            <a:pPr lvl="1"/>
            <a:r>
              <a:rPr lang="en-US" altLang="en-US" dirty="0"/>
              <a:t>Synchronous and asynchronous</a:t>
            </a:r>
            <a:endParaRPr lang="en-US" altLang="en-US" sz="800" dirty="0"/>
          </a:p>
          <a:p>
            <a:r>
              <a:rPr lang="en-US" altLang="en-US" dirty="0"/>
              <a:t>Thread cancellation of target thread</a:t>
            </a:r>
          </a:p>
          <a:p>
            <a:pPr lvl="1"/>
            <a:r>
              <a:rPr lang="en-US" altLang="en-US" dirty="0"/>
              <a:t>Asynchronous or deferred</a:t>
            </a:r>
            <a:endParaRPr lang="en-US" altLang="en-US" sz="800" dirty="0"/>
          </a:p>
          <a:p>
            <a:r>
              <a:rPr lang="en-US" altLang="en-US" dirty="0"/>
              <a:t>Thread-local storage</a:t>
            </a:r>
          </a:p>
          <a:p>
            <a:r>
              <a:rPr lang="en-US" altLang="en-US" dirty="0"/>
              <a:t>Scheduler Activations</a:t>
            </a:r>
          </a:p>
          <a:p>
            <a:endParaRPr lang="en-US" altLang="en-US" sz="800" dirty="0"/>
          </a:p>
          <a:p>
            <a:pPr lvl="1">
              <a:buFont typeface="Monotype Sorts" pitchFamily="-84" charset="2"/>
              <a:buNone/>
            </a:pPr>
            <a:endParaRPr lang="en-US" alt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04206"/>
            <a:ext cx="7569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56415" cy="4530725"/>
          </a:xfrm>
        </p:spPr>
        <p:txBody>
          <a:bodyPr/>
          <a:lstStyle/>
          <a:p>
            <a:r>
              <a:rPr lang="en-US" altLang="en-US"/>
              <a:t>Does </a:t>
            </a:r>
            <a:r>
              <a:rPr lang="en-US" altLang="en-US" b="1">
                <a:latin typeface="Courier New" panose="02070309020205020404" pitchFamily="49" charset="0"/>
              </a:rPr>
              <a:t>fork()</a:t>
            </a:r>
            <a:r>
              <a:rPr lang="en-US" altLang="en-US"/>
              <a:t>duplicate only the calling thread or all threads?</a:t>
            </a:r>
          </a:p>
          <a:p>
            <a:pPr lvl="1"/>
            <a:r>
              <a:rPr lang="en-US" altLang="en-US"/>
              <a:t>Some UNIXes have two versions of fork</a:t>
            </a:r>
          </a:p>
          <a:p>
            <a:r>
              <a:rPr lang="en-US" altLang="en-US" b="1">
                <a:latin typeface="Courier New" panose="02070309020205020404" pitchFamily="49" charset="0"/>
              </a:rPr>
              <a:t>exec() </a:t>
            </a:r>
            <a:r>
              <a:rPr lang="en-US" altLang="en-US"/>
              <a:t>usually works as normal – replace the running process including all threads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7756" y="1164839"/>
            <a:ext cx="7719753" cy="5156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Signals</a:t>
            </a:r>
            <a:r>
              <a:rPr lang="en-US" b="1" dirty="0">
                <a:solidFill>
                  <a:srgbClr val="3366FF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are used in UNIX systems to notify a process that a particular event has occurred.</a:t>
            </a:r>
          </a:p>
          <a:p>
            <a:pPr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signal handler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is used to process signals</a:t>
            </a:r>
          </a:p>
          <a:p>
            <a:pPr marL="798830" lvl="1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Signal is generated by particular event</a:t>
            </a:r>
          </a:p>
          <a:p>
            <a:pPr marL="798830" lvl="1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Signal is delivered to a process</a:t>
            </a:r>
          </a:p>
          <a:p>
            <a:pPr marL="798830" lvl="1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Signal is handled by one of two signal handlers:</a:t>
            </a:r>
          </a:p>
          <a:p>
            <a:pPr marL="1142365" lvl="2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default</a:t>
            </a:r>
          </a:p>
          <a:p>
            <a:pPr marL="1142365" lvl="2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user-defined</a:t>
            </a:r>
          </a:p>
          <a:p>
            <a:pPr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Every signal has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default handler</a:t>
            </a:r>
            <a:r>
              <a:rPr lang="en-US" b="1" dirty="0">
                <a:solidFill>
                  <a:srgbClr val="3366FF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that kernel runs when handling signal</a:t>
            </a:r>
          </a:p>
          <a:p>
            <a:pPr marL="780415" lvl="1" indent="-380365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User-defined signal handler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can override default</a:t>
            </a:r>
          </a:p>
          <a:p>
            <a:pPr marL="780415" lvl="1" indent="-380365"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For single-threaded, signal delivered to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7" y="1146175"/>
            <a:ext cx="7691761" cy="51562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Where should a signal be delivered for multi-threaded? </a:t>
            </a: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Deliver the signal to the thread to which the signal applies</a:t>
            </a: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Deliver the signal to every thread in the process</a:t>
            </a: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Deliver the signal to certain threads in the process</a:t>
            </a: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Assign a specific thread to receive all signals for the process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4" y="1146175"/>
            <a:ext cx="7672031" cy="4430713"/>
          </a:xfrm>
        </p:spPr>
        <p:txBody>
          <a:bodyPr/>
          <a:lstStyle/>
          <a:p>
            <a:r>
              <a:rPr lang="en-US" altLang="en-US" dirty="0"/>
              <a:t>Terminating a thread before it has finished</a:t>
            </a:r>
          </a:p>
          <a:p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target thread</a:t>
            </a:r>
          </a:p>
          <a:p>
            <a:r>
              <a:rPr lang="en-US" altLang="en-US" dirty="0"/>
              <a:t>Two general approaches:</a:t>
            </a:r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704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190" y="3978275"/>
            <a:ext cx="4245610" cy="260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2228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057275"/>
            <a:ext cx="7735078" cy="49625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Invoking thread cancellation requests cancellation, but actual cancellation depends on thread state</a:t>
            </a: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If thread has cancellation disabled, cancellation remains pending until thread enables it</a:t>
            </a: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Default type is deferred</a:t>
            </a:r>
          </a:p>
          <a:p>
            <a:pPr lvl="1"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cancellation point</a:t>
            </a:r>
          </a:p>
          <a:p>
            <a:pPr lvl="2">
              <a:defRPr/>
            </a:pPr>
            <a:r>
              <a:rPr lang="en-US" altLang="en-US" dirty="0"/>
              <a:t>i.e.,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pthread_testcancel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On Linux systems, thread cancellation is handled through signals</a:t>
            </a:r>
          </a:p>
        </p:txBody>
      </p:sp>
      <p:pic>
        <p:nvPicPr>
          <p:cNvPr id="8909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963738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Thread Cancellation in Java</a:t>
            </a:r>
          </a:p>
        </p:txBody>
      </p:sp>
      <p:sp>
        <p:nvSpPr>
          <p:cNvPr id="911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Deferred cancellation uses the </a:t>
            </a:r>
            <a:r>
              <a:rPr lang="en-US" altLang="en-US" b="1">
                <a:latin typeface="Courier New" panose="02070309020205020404" pitchFamily="49" charset="0"/>
              </a:rPr>
              <a:t>interrupt()</a:t>
            </a:r>
            <a:r>
              <a:rPr lang="en-US" altLang="en-US"/>
              <a:t> method, which sets the interrupted status of a thread. 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endParaRPr lang="en-US" altLang="en-US"/>
          </a:p>
          <a:p>
            <a:r>
              <a:rPr lang="en-US" altLang="en-US"/>
              <a:t>A thread can then check to see if it has been interrupted:</a:t>
            </a:r>
          </a:p>
        </p:txBody>
      </p:sp>
      <p:pic>
        <p:nvPicPr>
          <p:cNvPr id="9113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40" y="1926590"/>
            <a:ext cx="626745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110" y="4467225"/>
            <a:ext cx="6564630" cy="1148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68383" cy="44783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Thread-local storage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r>
              <a:rPr lang="en-US" altLang="en-US" dirty="0"/>
              <a:t>Useful when you do not have control over the thread creation process (i.e., when using a thread pool)</a:t>
            </a:r>
          </a:p>
          <a:p>
            <a:r>
              <a:rPr lang="en-US" altLang="en-US" dirty="0"/>
              <a:t>Different from local variables</a:t>
            </a:r>
          </a:p>
          <a:p>
            <a:pPr lvl="1"/>
            <a:r>
              <a:rPr lang="en-US" altLang="en-US" dirty="0"/>
              <a:t>Local variables visible only during single function invocation</a:t>
            </a:r>
          </a:p>
          <a:p>
            <a:pPr lvl="1"/>
            <a:r>
              <a:rPr lang="en-US" altLang="en-US" dirty="0"/>
              <a:t>TLS visible across function invocations</a:t>
            </a:r>
          </a:p>
          <a:p>
            <a:r>
              <a:rPr lang="en-US" altLang="en-US" dirty="0"/>
              <a:t>Similar to </a:t>
            </a:r>
            <a:r>
              <a:rPr lang="en-US" altLang="en-US" b="1" dirty="0">
                <a:latin typeface="Courier New" panose="02070309020205020404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/>
            <a:r>
              <a:rPr lang="en-US" altLang="en-US" dirty="0"/>
              <a:t>TLS is unique to each thread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463" y="228830"/>
            <a:ext cx="75263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017588"/>
            <a:ext cx="5316538" cy="4964112"/>
          </a:xfrm>
        </p:spPr>
        <p:txBody>
          <a:bodyPr/>
          <a:lstStyle/>
          <a:p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LWP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Appears to be a virtual processor on which process can schedule user thread to run</a:t>
            </a:r>
          </a:p>
          <a:p>
            <a:pPr lvl="1"/>
            <a:r>
              <a:rPr lang="en-US" altLang="en-US" dirty="0"/>
              <a:t>Each LWP attached to kernel thread</a:t>
            </a:r>
          </a:p>
          <a:p>
            <a:pPr lvl="1"/>
            <a:r>
              <a:rPr lang="en-US" altLang="en-US" dirty="0"/>
              <a:t>How many LWPs to create?</a:t>
            </a:r>
          </a:p>
          <a:p>
            <a:r>
              <a:rPr lang="en-US" altLang="en-US" dirty="0"/>
              <a:t>Scheduler activations provide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thread library</a:t>
            </a:r>
          </a:p>
          <a:p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421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421" y="2040255"/>
            <a:ext cx="31019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5525" y="228830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469188" cy="4492625"/>
          </a:xfrm>
        </p:spPr>
        <p:txBody>
          <a:bodyPr/>
          <a:lstStyle/>
          <a:p>
            <a:r>
              <a:rPr lang="en-US" altLang="en-US"/>
              <a:t>Windows Threads</a:t>
            </a:r>
          </a:p>
          <a:p>
            <a:r>
              <a:rPr lang="en-US" altLang="en-US"/>
              <a:t>Linux Threads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64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</a:t>
            </a:r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130300"/>
            <a:ext cx="7763068" cy="5141913"/>
          </a:xfrm>
        </p:spPr>
        <p:txBody>
          <a:bodyPr/>
          <a:lstStyle/>
          <a:p>
            <a:r>
              <a:rPr lang="en-US" altLang="en-US" dirty="0"/>
              <a:t>Windows API – primary API for Windows applications</a:t>
            </a:r>
          </a:p>
          <a:p>
            <a:r>
              <a:rPr lang="en-US" altLang="en-US" dirty="0"/>
              <a:t>Implements the one-to-one mapping, kernel-level</a:t>
            </a:r>
          </a:p>
          <a:p>
            <a:r>
              <a:rPr lang="en-US" altLang="en-US" dirty="0"/>
              <a:t>Each thread contains</a:t>
            </a:r>
          </a:p>
          <a:p>
            <a:pPr lvl="1"/>
            <a:r>
              <a:rPr lang="en-US" altLang="en-US" dirty="0"/>
              <a:t>A thread id</a:t>
            </a:r>
          </a:p>
          <a:p>
            <a:pPr lvl="1"/>
            <a:r>
              <a:rPr lang="en-US" altLang="en-US" dirty="0"/>
              <a:t>Register set representing state of processor</a:t>
            </a:r>
          </a:p>
          <a:p>
            <a:pPr lvl="1"/>
            <a:r>
              <a:rPr lang="en-US" altLang="en-US" dirty="0"/>
              <a:t>Separate user and kernel stacks for when thread runs in user mode or kernel mode</a:t>
            </a:r>
          </a:p>
          <a:p>
            <a:pPr lvl="1"/>
            <a:r>
              <a:rPr lang="en-US" altLang="en-US" dirty="0"/>
              <a:t>Private data storage area used by run-time libraries and dynamic link libraries (DLLs)</a:t>
            </a:r>
          </a:p>
          <a:p>
            <a:r>
              <a:rPr lang="en-US" altLang="en-US" dirty="0"/>
              <a:t>The register set, stacks, and private storage area are known as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context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thread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64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(Cont.)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06500"/>
            <a:ext cx="7701092" cy="5141913"/>
          </a:xfrm>
        </p:spPr>
        <p:txBody>
          <a:bodyPr/>
          <a:lstStyle/>
          <a:p>
            <a:r>
              <a:rPr lang="en-US" altLang="en-US" dirty="0"/>
              <a:t>The primary data structures of a thread include:</a:t>
            </a:r>
          </a:p>
          <a:p>
            <a:pPr lvl="1"/>
            <a:r>
              <a:rPr lang="en-US" altLang="en-US" dirty="0"/>
              <a:t>ETHREAD (executive thread block) – includes pointer to process to which thread belongs and to KTHREAD, in kernel space</a:t>
            </a:r>
          </a:p>
          <a:p>
            <a:pPr lvl="1"/>
            <a:r>
              <a:rPr lang="en-US" altLang="en-US" dirty="0"/>
              <a:t>KTHREAD (kernel thread block) – scheduling and synchronization info, kernel-mode stack, pointer to TEB, in kernel space</a:t>
            </a:r>
          </a:p>
          <a:p>
            <a:pPr lvl="1"/>
            <a:r>
              <a:rPr lang="en-US" altLang="en-US" dirty="0"/>
              <a:t>TEB (thread environment block) – thread id, user-mode stack, thread-local storage, in user space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 idx="4294967295"/>
          </p:nvPr>
        </p:nvSpPr>
        <p:spPr>
          <a:xfrm>
            <a:off x="1151874" y="228830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Data Structures</a:t>
            </a:r>
          </a:p>
        </p:txBody>
      </p:sp>
      <p:pic>
        <p:nvPicPr>
          <p:cNvPr id="10240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1498600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54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Threads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092200"/>
            <a:ext cx="7594308" cy="449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Linux refers to them as </a:t>
            </a:r>
            <a:r>
              <a:rPr lang="en-US" altLang="en-US" b="1" i="1" dirty="0">
                <a:cs typeface="MS PGothic" panose="020B0600070205080204" pitchFamily="34" charset="-128"/>
              </a:rPr>
              <a:t>tasks</a:t>
            </a:r>
            <a:r>
              <a:rPr lang="en-US" altLang="en-US" dirty="0">
                <a:cs typeface="MS PGothic" panose="020B0600070205080204" pitchFamily="34" charset="-128"/>
              </a:rPr>
              <a:t> rather than </a:t>
            </a:r>
            <a:r>
              <a:rPr lang="en-US" altLang="en-US" b="1" i="1" dirty="0">
                <a:cs typeface="MS PGothic" panose="020B0600070205080204" pitchFamily="34" charset="-128"/>
              </a:rPr>
              <a:t>threads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Thread creation is done through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clone()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cs typeface="MS PGothic" panose="020B0600070205080204" pitchFamily="34" charset="-128"/>
              </a:rPr>
              <a:t>system call</a:t>
            </a:r>
          </a:p>
          <a:p>
            <a:pPr>
              <a:defRPr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clone() </a:t>
            </a:r>
            <a:r>
              <a:rPr lang="en-US" altLang="en-US" dirty="0">
                <a:cs typeface="MS PGothic" panose="020B0600070205080204" pitchFamily="34" charset="-128"/>
              </a:rPr>
              <a:t>allows a child task to share the address space of the parent task (process)</a:t>
            </a:r>
          </a:p>
          <a:p>
            <a:pPr lvl="1">
              <a:defRPr/>
            </a:pPr>
            <a:r>
              <a:rPr lang="en-US" altLang="en-US" dirty="0"/>
              <a:t>Flags control behavior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cs typeface="Courier New" panose="02070309020205020404" pitchFamily="49" charset="0"/>
              </a:rPr>
              <a:t>points to process data structures (shared or unique)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</p:txBody>
      </p:sp>
      <p:pic>
        <p:nvPicPr>
          <p:cNvPr id="10445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032125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81</TotalTime>
  <Words>2156</Words>
  <Application>Microsoft Office PowerPoint</Application>
  <PresentationFormat>全屏显示(4:3)</PresentationFormat>
  <Paragraphs>348</Paragraphs>
  <Slides>63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7" baseType="lpstr">
      <vt:lpstr>Monotype Sorts</vt:lpstr>
      <vt:lpstr>MS PGothic</vt:lpstr>
      <vt:lpstr>宋体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PowerPoint 演示文稿</vt:lpstr>
      <vt:lpstr>Outline</vt:lpstr>
      <vt:lpstr>Objectives</vt:lpstr>
      <vt:lpstr>Motivation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(Cont.)</vt:lpstr>
      <vt:lpstr>Pthreads Code for Joining 10 Threads</vt:lpstr>
      <vt:lpstr>Windows  Multithreaded C Program</vt:lpstr>
      <vt:lpstr>Windows  Multithreaded C Program (Cont.)</vt:lpstr>
      <vt:lpstr>Java Threads</vt:lpstr>
      <vt:lpstr>Java Threads</vt:lpstr>
      <vt:lpstr>Java Executor Framework</vt:lpstr>
      <vt:lpstr>Java Executor Framework</vt:lpstr>
      <vt:lpstr>Java Executor Framework (Cont.)</vt:lpstr>
      <vt:lpstr>Implicit Threading</vt:lpstr>
      <vt:lpstr>Thread Pools</vt:lpstr>
      <vt:lpstr>Java Thread Pools</vt:lpstr>
      <vt:lpstr>Java Thread Pools (Cont.)</vt:lpstr>
      <vt:lpstr>Fork-Join Parallelism</vt:lpstr>
      <vt:lpstr>Fork-Join Parallelism</vt:lpstr>
      <vt:lpstr>Fork-Join Parallelism</vt:lpstr>
      <vt:lpstr>Fork-Join Parallelism in Java</vt:lpstr>
      <vt:lpstr>Fork-Join Parallelism in Java</vt:lpstr>
      <vt:lpstr>Fork-Join Parallelism in Java</vt:lpstr>
      <vt:lpstr>OpenMP</vt:lpstr>
      <vt:lpstr>PowerPoint 演示文稿</vt:lpstr>
      <vt:lpstr>Grand Central Dispatch</vt:lpstr>
      <vt:lpstr>Grand Central Dispatch</vt:lpstr>
      <vt:lpstr>Grand Central Dispatch</vt:lpstr>
      <vt:lpstr>Intel Threading Building Blocks (TBB)</vt:lpstr>
      <vt:lpstr>Threading Issues</vt:lpstr>
      <vt:lpstr>Semantics of fork() and exec()</vt:lpstr>
      <vt:lpstr>Signal Handling</vt:lpstr>
      <vt:lpstr>Signal Handling (Cont.)</vt:lpstr>
      <vt:lpstr>Thread Cancellation</vt:lpstr>
      <vt:lpstr>Thread Cancellation (Cont.)</vt:lpstr>
      <vt:lpstr>Thread Cancellation in Java</vt:lpstr>
      <vt:lpstr>Thread-Local Storage</vt:lpstr>
      <vt:lpstr>Scheduler Activations</vt:lpstr>
      <vt:lpstr>Operating System Examples</vt:lpstr>
      <vt:lpstr>Windows Threads</vt:lpstr>
      <vt:lpstr>Windows Threads (Cont.)</vt:lpstr>
      <vt:lpstr>Windows Threads Data Structures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by 的</cp:lastModifiedBy>
  <cp:revision>231</cp:revision>
  <cp:lastPrinted>2013-09-10T17:57:00Z</cp:lastPrinted>
  <dcterms:created xsi:type="dcterms:W3CDTF">2011-01-13T23:43:00Z</dcterms:created>
  <dcterms:modified xsi:type="dcterms:W3CDTF">2026-04-13T07:13:33Z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033895F683934FECA5D043E90D688803_12</vt:lpwstr>
  </property>
  <property fmtid="{D5CDD505-2E9C-101B-9397-08002B2CF9AE}" pid="3" name="KSOProductBuildVer">
    <vt:lpwstr>2052-12.1.0.23542</vt:lpwstr>
  </property>
</Properties>
</file>