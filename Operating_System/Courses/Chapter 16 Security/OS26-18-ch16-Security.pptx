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395" r:id="rId3"/>
    <p:sldId id="332" r:id="rId5"/>
    <p:sldId id="333" r:id="rId6"/>
    <p:sldId id="334" r:id="rId7"/>
    <p:sldId id="335" r:id="rId8"/>
    <p:sldId id="336" r:id="rId9"/>
    <p:sldId id="338" r:id="rId10"/>
    <p:sldId id="339" r:id="rId11"/>
    <p:sldId id="337" r:id="rId12"/>
    <p:sldId id="340" r:id="rId13"/>
    <p:sldId id="341" r:id="rId14"/>
    <p:sldId id="389" r:id="rId15"/>
    <p:sldId id="342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3" r:id="rId24"/>
    <p:sldId id="354" r:id="rId25"/>
    <p:sldId id="390" r:id="rId26"/>
    <p:sldId id="356" r:id="rId27"/>
    <p:sldId id="358" r:id="rId28"/>
    <p:sldId id="359" r:id="rId29"/>
    <p:sldId id="386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91" r:id="rId51"/>
    <p:sldId id="380" r:id="rId52"/>
    <p:sldId id="381" r:id="rId53"/>
    <p:sldId id="382" r:id="rId54"/>
    <p:sldId id="383" r:id="rId55"/>
    <p:sldId id="392" r:id="rId56"/>
    <p:sldId id="393" r:id="rId57"/>
    <p:sldId id="394" r:id="rId58"/>
    <p:sldId id="384" r:id="rId59"/>
    <p:sldId id="387" r:id="rId60"/>
    <p:sldId id="385" r:id="rId6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 showGuides="1">
      <p:cViewPr varScale="1">
        <p:scale>
          <a:sx n="60" d="100"/>
          <a:sy n="60" d="100"/>
        </p:scale>
        <p:origin x="1094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4C256248-9AFB-4C3E-BD54-6F1CB35B531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93150D9-DA23-40E9-A514-80F8C538961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02728C-218C-4710-8D02-D1F469C85E3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0AD2ED-52D0-4803-A2D7-A4C228D538B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30CEBB-66A6-4064-A8CA-F52A000F7EA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9CC6EB-6A1E-44E4-A1FE-D4F9975B1A0C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2D3FA-5ADC-4E9F-A445-8140FB7206D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B165F3-AA10-48D0-A79E-6CD11187BFA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D50E3E-DF79-475C-BC9A-DA4EF65F8D5C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B20A41-B317-4D25-978A-8F343BD1C88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25B18D-4B67-40E2-927D-5DB890AC458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CA10D4-DC47-444D-B9EE-30AB3AE64D0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EB0C7A-DF4E-4A92-A880-1D8F0FFDD22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47BFF3-4AE6-43CC-8680-66F6C405E559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851B20-52F9-4CD0-95AF-F45821076BD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6F1548-237D-4BA2-9FAF-358DA74BAB8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2CF5AF-178B-4492-805B-A437539FA2B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E85D1-D69D-4EDD-976E-AE09D93E37C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33EAD2-1B7D-459B-AB20-7F1D105BA48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42B048-5707-4B6E-BF3E-576BD5DEE66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AC87C2-C449-4F48-A842-C7FEAF69A9F9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9028DE-DD95-4EBA-98E1-33E292F4E14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1145E3-AA98-4734-BA1A-2C7C1076AE17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32F9FD-C269-431F-A7A0-AC50D797BCC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05C505-6073-4D11-A420-B59BBED2D77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32F722-1D84-4A8E-A41B-0478D6590A8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99A312-AD2A-44D4-A868-6320506C5AD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30D098-8078-43D1-9E6D-116A0219DC17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8F9050-5A59-4485-B29E-2AB1694A5A57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B35020F-E041-429D-81FC-5975C3B6F50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11EE5C-249C-4FD0-BDF7-A0D9DFC4075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BB4E04-5CC9-41F5-987E-CC47C69011D4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8EC057-F896-42F7-BCDB-CC5673F7A5D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359B1DA-775E-4E0D-8693-66D101AEE2C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3544599-3CBE-4558-8D3C-1AF2F3CCFF7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0F6BB7-5454-45F6-B50F-439F5F72CCA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7C2F68-39A5-40CB-B104-1B1287F8624A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86EB2A-84E2-48B1-A46E-DEFE55ADF32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CB4C8D-5A25-493B-BB55-6BC2727124C8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47992E-C80F-4B5B-B9C5-0225616B4BD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D5C142-293B-4464-9EE0-3479791720E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62620-C8FE-46DB-9B70-FDEF05A247F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1D0C5-BF98-45CA-89A8-AFC677EBB46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8738A-74D8-4769-B6B8-5FD77228833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FDB533-F366-4A6C-80EB-4A3227B0DCD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FEBD32-27AB-48B0-8202-20449964CAD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1984" y="260229"/>
            <a:ext cx="760241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7994" y="1233488"/>
            <a:ext cx="7666406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16.</a:t>
            </a:r>
            <a:fld id="{A8E133B6-8EC2-44C8-922F-3CC1F2EF4BA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16: S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ecurity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16:  Security</a:t>
            </a:r>
            <a:endParaRPr lang="en-US" altLang="en-US" dirty="0"/>
          </a:p>
        </p:txBody>
      </p:sp>
      <p:sp>
        <p:nvSpPr>
          <p:cNvPr id="71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0425" y="1135063"/>
            <a:ext cx="7351713" cy="4483100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The Security Problem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Program Threats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System and Network Threats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Cryptography as a Security Tool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User Authentication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Implementing Security Defenses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Firewalling to Protect Systems and Networks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Computer-Security Classifications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An Example: Windows</a:t>
            </a:r>
            <a:endParaRPr lang="en-US" altLang="en-US" sz="24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54562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1" y="1233488"/>
            <a:ext cx="7651099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Discuss security threats and attacks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Explain the fundamentals of encryption, authentication, and hashing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Examine the uses of cryptography in computing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the various countermeasures to security attacks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363892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Security Problem</a:t>
            </a:r>
            <a:endParaRPr lang="en-US" altLang="en-US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387" y="1165225"/>
            <a:ext cx="7596479" cy="4852988"/>
          </a:xfrm>
        </p:spPr>
        <p:txBody>
          <a:bodyPr/>
          <a:lstStyle/>
          <a:p>
            <a:r>
              <a:rPr lang="en-US" altLang="en-US" dirty="0"/>
              <a:t>System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dirty="0"/>
              <a:t> if resources used and accessed as intended under all circumstances</a:t>
            </a:r>
            <a:endParaRPr lang="en-US" altLang="en-US" dirty="0"/>
          </a:p>
          <a:p>
            <a:pPr lvl="1"/>
            <a:r>
              <a:rPr lang="en-US" altLang="en-US" dirty="0"/>
              <a:t>Unachievable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Intruders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crackers</a:t>
            </a:r>
            <a:r>
              <a:rPr lang="en-US" altLang="en-US" dirty="0"/>
              <a:t>) attempt to breach security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potential security violation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dirty="0"/>
              <a:t> is attempt to breach security</a:t>
            </a:r>
            <a:endParaRPr lang="en-US" altLang="en-US" dirty="0"/>
          </a:p>
          <a:p>
            <a:r>
              <a:rPr lang="en-US" altLang="en-US" dirty="0"/>
              <a:t>Attack can be accidental or malicious</a:t>
            </a:r>
            <a:endParaRPr lang="en-US" altLang="en-US" dirty="0"/>
          </a:p>
          <a:p>
            <a:r>
              <a:rPr lang="en-US" altLang="en-US" dirty="0"/>
              <a:t>Easier to protect against accidental than malicious misuse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1101012" y="232587"/>
            <a:ext cx="744583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Violation Categories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165225"/>
            <a:ext cx="6700838" cy="5035550"/>
          </a:xfrm>
        </p:spPr>
        <p:txBody>
          <a:bodyPr/>
          <a:lstStyle/>
          <a:p>
            <a:r>
              <a:rPr lang="en-US" altLang="en-US" b="1" dirty="0"/>
              <a:t>Breach of confidentiality</a:t>
            </a:r>
            <a:endParaRPr lang="en-US" altLang="en-US" b="1" dirty="0"/>
          </a:p>
          <a:p>
            <a:pPr lvl="1"/>
            <a:r>
              <a:rPr lang="en-US" altLang="en-US" dirty="0"/>
              <a:t>Unauthorized reading of data</a:t>
            </a:r>
            <a:endParaRPr lang="en-US" altLang="en-US" dirty="0"/>
          </a:p>
          <a:p>
            <a:r>
              <a:rPr lang="en-US" altLang="en-US" b="1" dirty="0"/>
              <a:t>Breach of integrity</a:t>
            </a:r>
            <a:endParaRPr lang="en-US" altLang="en-US" b="1" dirty="0"/>
          </a:p>
          <a:p>
            <a:pPr lvl="1"/>
            <a:r>
              <a:rPr lang="en-US" altLang="en-US" dirty="0"/>
              <a:t>Unauthorized modification of data</a:t>
            </a:r>
            <a:endParaRPr lang="en-US" altLang="en-US" dirty="0"/>
          </a:p>
          <a:p>
            <a:r>
              <a:rPr lang="en-US" altLang="en-US" b="1" dirty="0"/>
              <a:t>Breach of availability</a:t>
            </a:r>
            <a:endParaRPr lang="en-US" altLang="en-US" b="1" dirty="0"/>
          </a:p>
          <a:p>
            <a:pPr lvl="1"/>
            <a:r>
              <a:rPr lang="en-US" altLang="en-US" dirty="0"/>
              <a:t>Unauthorized destruction of data</a:t>
            </a:r>
            <a:endParaRPr lang="en-US" altLang="en-US" dirty="0"/>
          </a:p>
          <a:p>
            <a:r>
              <a:rPr lang="en-US" altLang="en-US" b="1" dirty="0"/>
              <a:t>Theft of service</a:t>
            </a:r>
            <a:endParaRPr lang="en-US" altLang="en-US" b="1" dirty="0"/>
          </a:p>
          <a:p>
            <a:pPr lvl="1"/>
            <a:r>
              <a:rPr lang="en-US" altLang="en-US" dirty="0"/>
              <a:t>Unauthorized use of resources</a:t>
            </a:r>
            <a:endParaRPr lang="en-US" altLang="en-US" dirty="0"/>
          </a:p>
          <a:p>
            <a:r>
              <a:rPr lang="en-US" altLang="en-US" b="1" dirty="0"/>
              <a:t>Denial of service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DOS</a:t>
            </a:r>
            <a:r>
              <a:rPr lang="en-US" altLang="en-US" b="1" dirty="0"/>
              <a:t>)</a:t>
            </a:r>
            <a:endParaRPr lang="en-US" altLang="en-US" b="1" dirty="0"/>
          </a:p>
          <a:p>
            <a:pPr lvl="1"/>
            <a:r>
              <a:rPr lang="en-US" altLang="en-US" dirty="0"/>
              <a:t>Prevention of legitimate use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 noChangeArrowheads="1"/>
          </p:cNvSpPr>
          <p:nvPr>
            <p:ph type="title"/>
          </p:nvPr>
        </p:nvSpPr>
        <p:spPr>
          <a:xfrm>
            <a:off x="686093" y="232587"/>
            <a:ext cx="7842085" cy="576262"/>
          </a:xfrm>
        </p:spPr>
        <p:txBody>
          <a:bodyPr/>
          <a:lstStyle/>
          <a:p>
            <a:r>
              <a:rPr lang="en-US" altLang="en-US" dirty="0"/>
              <a:t>Security Violation Methods</a:t>
            </a:r>
            <a:endParaRPr lang="en-US" altLang="en-US" dirty="0"/>
          </a:p>
        </p:txBody>
      </p:sp>
      <p:sp>
        <p:nvSpPr>
          <p:cNvPr id="153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47725" y="796925"/>
            <a:ext cx="7123113" cy="4530725"/>
          </a:xfrm>
        </p:spPr>
        <p:txBody>
          <a:bodyPr/>
          <a:lstStyle/>
          <a:p>
            <a:pPr lvl="1"/>
            <a:endParaRPr lang="en-US" altLang="en-US" b="1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Masquerading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(breach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authentication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Pretending to be an authorized user to escalate privileges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As is or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modification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Man-in-the-middle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Intruder sits in data flow, masquerading as sender to receiver and vice versa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hijacking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Intercept an already-established session to bypass authentication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escalation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Common attack type with access beyond what a user or resource is supposed to have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b="1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734557" y="242923"/>
            <a:ext cx="78216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Measure Levels</a:t>
            </a:r>
            <a:endParaRPr lang="en-US" alt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69975"/>
            <a:ext cx="7708444" cy="4921250"/>
          </a:xfrm>
        </p:spPr>
        <p:txBody>
          <a:bodyPr/>
          <a:lstStyle/>
          <a:p>
            <a:r>
              <a:rPr lang="en-US" altLang="en-US" dirty="0"/>
              <a:t>Impossible to have absolute security, but make cost to perpetrator sufficiently high to deter most intruders</a:t>
            </a:r>
            <a:endParaRPr lang="en-US" altLang="en-US" dirty="0"/>
          </a:p>
          <a:p>
            <a:r>
              <a:rPr lang="en-US" altLang="en-US" dirty="0"/>
              <a:t>Security must occur at four levels to be effective:</a:t>
            </a:r>
            <a:endParaRPr lang="en-US" altLang="en-US" dirty="0"/>
          </a:p>
          <a:p>
            <a:pPr lvl="1"/>
            <a:r>
              <a:rPr lang="en-US" altLang="en-US" b="1" dirty="0"/>
              <a:t>Physical</a:t>
            </a:r>
            <a:endParaRPr lang="en-US" altLang="en-US" b="1" dirty="0"/>
          </a:p>
          <a:p>
            <a:pPr lvl="2"/>
            <a:r>
              <a:rPr lang="en-US" altLang="en-US" dirty="0"/>
              <a:t>Data centers, servers, connected terminals</a:t>
            </a:r>
            <a:endParaRPr lang="en-US" altLang="en-US" dirty="0"/>
          </a:p>
          <a:p>
            <a:pPr lvl="1"/>
            <a:r>
              <a:rPr lang="en-US" altLang="en-US" b="1" dirty="0"/>
              <a:t>Application</a:t>
            </a:r>
            <a:endParaRPr lang="en-US" altLang="en-US" b="1" dirty="0"/>
          </a:p>
          <a:p>
            <a:pPr lvl="2"/>
            <a:r>
              <a:rPr lang="en-US" altLang="en-US" dirty="0"/>
              <a:t>Benign or malicious apps can cause security problems</a:t>
            </a:r>
            <a:endParaRPr lang="en-US" altLang="en-US" dirty="0"/>
          </a:p>
          <a:p>
            <a:pPr lvl="1"/>
            <a:r>
              <a:rPr lang="en-US" altLang="en-US" b="1" dirty="0"/>
              <a:t>Operating System</a:t>
            </a:r>
            <a:endParaRPr lang="en-US" altLang="en-US" b="1" dirty="0"/>
          </a:p>
          <a:p>
            <a:pPr lvl="2"/>
            <a:r>
              <a:rPr lang="en-US" altLang="en-US" dirty="0"/>
              <a:t>Protection mechanisms, debugging</a:t>
            </a:r>
            <a:endParaRPr lang="en-US" altLang="en-US" dirty="0"/>
          </a:p>
          <a:p>
            <a:pPr lvl="1"/>
            <a:r>
              <a:rPr lang="en-US" altLang="en-US" b="1" dirty="0"/>
              <a:t>Network</a:t>
            </a:r>
            <a:endParaRPr lang="en-US" altLang="en-US" b="1" dirty="0"/>
          </a:p>
          <a:p>
            <a:pPr lvl="2"/>
            <a:r>
              <a:rPr lang="en-US" altLang="en-US" dirty="0"/>
              <a:t>Intercepted communications, interruption, DOS</a:t>
            </a:r>
            <a:endParaRPr lang="en-US" altLang="en-US" dirty="0"/>
          </a:p>
          <a:p>
            <a:r>
              <a:rPr lang="en-US" altLang="en-US" dirty="0"/>
              <a:t>Security is as weak as the weakest link in the chain</a:t>
            </a:r>
            <a:endParaRPr lang="en-US" altLang="en-US" dirty="0"/>
          </a:p>
          <a:p>
            <a:r>
              <a:rPr lang="en-US" altLang="en-US" dirty="0"/>
              <a:t>Humans a risk too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phishing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social-engineering</a:t>
            </a:r>
            <a:r>
              <a:rPr lang="en-US" altLang="en-US" dirty="0"/>
              <a:t> attacks</a:t>
            </a:r>
            <a:endParaRPr lang="en-US" altLang="en-US" dirty="0"/>
          </a:p>
          <a:p>
            <a:r>
              <a:rPr lang="en-US" altLang="en-US" dirty="0"/>
              <a:t>But can too much security be a problem?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334897" y="24830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</a:t>
            </a:r>
            <a:endParaRPr lang="en-US" altLang="en-US" dirty="0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82675"/>
            <a:ext cx="7704138" cy="530066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Many variations, many names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Code segment that misuses its environment</a:t>
            </a:r>
            <a:endParaRPr lang="en-US" altLang="en-US" dirty="0"/>
          </a:p>
          <a:p>
            <a:pPr lvl="1"/>
            <a:r>
              <a:rPr lang="en-US" altLang="en-US" dirty="0"/>
              <a:t>Exploits mechanisms for allowing programs written by users to be executed by other users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pop-up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windows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covert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channels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Up to 80% of spam delivered by spyware-infected systems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Door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Specific user identifier or password that circumvents normal security procedures</a:t>
            </a:r>
            <a:endParaRPr lang="en-US" altLang="en-US" dirty="0"/>
          </a:p>
          <a:p>
            <a:pPr lvl="1"/>
            <a:r>
              <a:rPr lang="en-US" altLang="en-US" dirty="0"/>
              <a:t>Could be included in a compiler</a:t>
            </a:r>
            <a:endParaRPr lang="en-US" altLang="en-US" dirty="0"/>
          </a:p>
          <a:p>
            <a:pPr lvl="1"/>
            <a:r>
              <a:rPr lang="en-US" altLang="en-US" dirty="0"/>
              <a:t>How to detect them?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802337" y="238549"/>
            <a:ext cx="8005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Four-layered Model of Security</a:t>
            </a:r>
            <a:endParaRPr lang="en-US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533650"/>
            <a:ext cx="864076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 noChangeArrowheads="1"/>
          </p:cNvSpPr>
          <p:nvPr>
            <p:ph type="title"/>
          </p:nvPr>
        </p:nvSpPr>
        <p:spPr>
          <a:xfrm>
            <a:off x="1092131" y="244934"/>
            <a:ext cx="7445375" cy="576263"/>
          </a:xfrm>
        </p:spPr>
        <p:txBody>
          <a:bodyPr/>
          <a:lstStyle/>
          <a:p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225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069975"/>
            <a:ext cx="7616825" cy="4530725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Malware</a:t>
            </a:r>
            <a:r>
              <a:rPr lang="en-US" altLang="en-US" b="1" dirty="0">
                <a:solidFill>
                  <a:srgbClr val="3366FF"/>
                </a:solidFill>
              </a:rPr>
              <a:t> - </a:t>
            </a:r>
            <a:r>
              <a:rPr lang="en-US" altLang="en-US" dirty="0"/>
              <a:t>Software designed to exploit, disable, or damage computer</a:t>
            </a:r>
            <a:endParaRPr lang="en-US" altLang="en-US" dirty="0"/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that acts in a clandestine manner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frequently installed with legitimate software to display adds, capture user data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Ransomware</a:t>
            </a:r>
            <a:r>
              <a:rPr lang="en-US" altLang="en-US" dirty="0"/>
              <a:t> – locks up data via encryption, demanding payment to unlock it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Others include trap doors, logic </a:t>
            </a:r>
            <a:r>
              <a:rPr lang="en-US" altLang="en-US" dirty="0" err="1"/>
              <a:t>boms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All try to violate the Principle of Least Privilege</a:t>
            </a: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Goal frequently is to leave behind Remote Access Tool (RAT) for repeated access</a:t>
            </a:r>
            <a:endParaRPr lang="en-US" altLang="en-US" dirty="0"/>
          </a:p>
          <a:p>
            <a:pPr lvl="1">
              <a:buFont typeface="Monotype Sorts" pitchFamily="2" charset="2"/>
              <a:buChar char="l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3806825"/>
            <a:ext cx="44958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5059" y="248883"/>
            <a:ext cx="7662862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 Program with Buffer-overflow Condition</a:t>
            </a:r>
            <a:endParaRPr lang="en-US" altLang="en-US" sz="28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0475" y="955675"/>
            <a:ext cx="6386513" cy="45307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#include </a:t>
            </a:r>
            <a:r>
              <a:rPr lang="en-US" altLang="en-US" b="1" i="1">
                <a:latin typeface="Courier New" panose="02070309020205020404" pitchFamily="49" charset="0"/>
              </a:rPr>
              <a:t>&lt;</a:t>
            </a:r>
            <a:r>
              <a:rPr lang="en-US" altLang="en-US" b="1">
                <a:latin typeface="Courier New" panose="02070309020205020404" pitchFamily="49" charset="0"/>
              </a:rPr>
              <a:t>stdio.h</a:t>
            </a:r>
            <a:r>
              <a:rPr lang="en-US" altLang="en-US" b="1" i="1">
                <a:latin typeface="Courier New" panose="02070309020205020404" pitchFamily="49" charset="0"/>
              </a:rPr>
              <a:t>&gt;</a:t>
            </a:r>
            <a:endParaRPr lang="en-US" altLang="en-US" b="1" i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#define BUFFER SIZE 256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main(int argc, char *argv[]) {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char buffer[BUFFER SIZE];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if (argc &lt; 2)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	return -1;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else {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	strcpy(buffer, argv[1]);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	return 0;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	}</a:t>
            </a:r>
            <a:endParaRPr lang="en-US" altLang="en-US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5" name="Content Placeholder 2"/>
          <p:cNvSpPr txBox="1">
            <a:spLocks noChangeArrowheads="1"/>
          </p:cNvSpPr>
          <p:nvPr/>
        </p:nvSpPr>
        <p:spPr bwMode="auto">
          <a:xfrm>
            <a:off x="1038077" y="5453315"/>
            <a:ext cx="7616825" cy="704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review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kern="0" dirty="0"/>
              <a:t>can help – programmers review each other’s code, looking for logic flows, programming flaws</a:t>
            </a:r>
            <a:endParaRPr lang="en-US" altLang="en-US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664091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Injection</a:t>
            </a:r>
            <a:endParaRPr lang="en-US" altLang="en-US" dirty="0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874713" y="1069975"/>
            <a:ext cx="756016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Code-injection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occurs when system code is not malicious but has bugs allowing executable code to be added or modified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Results from poor or insecure programming paradigms, commonly in low level languages like C or C++ which allow for direct memory access through pointers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Goal is a buffer overflow in which code is placed in a buffer and execution caused by the attack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Can be run by script kiddies – use tools written but exploit identifiers</a:t>
            </a: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kern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626770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</a:t>
            </a:r>
            <a:r>
              <a:rPr lang="en-US" altLang="en-US"/>
              <a:t>Injection (Cont</a:t>
            </a:r>
            <a:r>
              <a:rPr lang="en-US" altLang="en-US" dirty="0"/>
              <a:t>.)</a:t>
            </a:r>
            <a:endParaRPr lang="en-US" altLang="en-US" dirty="0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914400" y="947420"/>
            <a:ext cx="484378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Outcomes from code injection include: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Frequently use trampoline to code execution to exploit buffer overflow: </a:t>
            </a:r>
            <a:endParaRPr lang="en-US" altLang="en-US" dirty="0"/>
          </a:p>
          <a:p>
            <a:pPr>
              <a:defRPr/>
            </a:pPr>
            <a:endParaRPr lang="en-US" altLang="en-US" kern="0" dirty="0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880" y="1234440"/>
            <a:ext cx="6232525" cy="305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4141470"/>
            <a:ext cx="2235200" cy="25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 noChangeArrowheads="1"/>
          </p:cNvSpPr>
          <p:nvPr>
            <p:ph type="title"/>
          </p:nvPr>
        </p:nvSpPr>
        <p:spPr>
          <a:xfrm>
            <a:off x="789147" y="239552"/>
            <a:ext cx="7813675" cy="576263"/>
          </a:xfrm>
        </p:spPr>
        <p:txBody>
          <a:bodyPr/>
          <a:lstStyle/>
          <a:p>
            <a:r>
              <a:rPr lang="en-US" altLang="en-US" dirty="0"/>
              <a:t>Great Programming Required?</a:t>
            </a:r>
            <a:endParaRPr lang="en-US" altLang="en-US" dirty="0"/>
          </a:p>
        </p:txBody>
      </p:sp>
      <p:sp>
        <p:nvSpPr>
          <p:cNvPr id="2969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9087" y="1148574"/>
            <a:ext cx="7649093" cy="4530725"/>
          </a:xfrm>
        </p:spPr>
        <p:txBody>
          <a:bodyPr/>
          <a:lstStyle/>
          <a:p>
            <a:r>
              <a:rPr lang="en-US" altLang="en-US" dirty="0"/>
              <a:t>For the first step of determining the bug, and second step of writing exploit code, yes</a:t>
            </a:r>
            <a:endParaRPr lang="en-US" altLang="en-US" dirty="0"/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Script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kiddies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can run pre-written exploit code to attack a given system</a:t>
            </a:r>
            <a:endParaRPr lang="en-US" altLang="en-US" dirty="0"/>
          </a:p>
          <a:p>
            <a:r>
              <a:rPr lang="en-US" altLang="en-US" dirty="0"/>
              <a:t>Attack code can get a shell with the processes</a:t>
            </a:r>
            <a:r>
              <a:rPr lang="ja-JP" altLang="en-US" dirty="0"/>
              <a:t>’</a:t>
            </a:r>
            <a:r>
              <a:rPr lang="en-US" altLang="ja-JP" dirty="0"/>
              <a:t> owner</a:t>
            </a:r>
            <a:r>
              <a:rPr lang="ja-JP" altLang="en-US" dirty="0"/>
              <a:t>’</a:t>
            </a:r>
            <a:r>
              <a:rPr lang="en-US" altLang="ja-JP" dirty="0"/>
              <a:t>s permissions</a:t>
            </a:r>
            <a:endParaRPr lang="en-US" altLang="ja-JP" dirty="0"/>
          </a:p>
          <a:p>
            <a:pPr lvl="1"/>
            <a:r>
              <a:rPr lang="en-US" altLang="en-US" dirty="0"/>
              <a:t>Or open a network port, delete files, download a program, etc.</a:t>
            </a:r>
            <a:endParaRPr lang="en-US" altLang="en-US" dirty="0"/>
          </a:p>
          <a:p>
            <a:r>
              <a:rPr lang="en-US" altLang="en-US" dirty="0"/>
              <a:t>Depending on bug, attack can be executed across a network using allowed connections, bypassing firewalls</a:t>
            </a:r>
            <a:endParaRPr lang="en-US" altLang="en-US" dirty="0"/>
          </a:p>
          <a:p>
            <a:r>
              <a:rPr lang="en-US" altLang="en-US" dirty="0"/>
              <a:t>Buffer overflow can be disabled by disabling stack execution or adding bit to page table to indicate </a:t>
            </a:r>
            <a:r>
              <a:rPr lang="ja-JP" altLang="en-US" dirty="0"/>
              <a:t>“</a:t>
            </a:r>
            <a:r>
              <a:rPr lang="en-US" altLang="ja-JP" dirty="0"/>
              <a:t>non-executable</a:t>
            </a:r>
            <a:r>
              <a:rPr lang="ja-JP" altLang="en-US" dirty="0"/>
              <a:t>”</a:t>
            </a:r>
            <a:r>
              <a:rPr lang="en-US" altLang="ja-JP" dirty="0"/>
              <a:t> state</a:t>
            </a:r>
            <a:endParaRPr lang="en-US" altLang="ja-JP" dirty="0"/>
          </a:p>
          <a:p>
            <a:pPr lvl="1"/>
            <a:r>
              <a:rPr lang="en-US" altLang="en-US" dirty="0"/>
              <a:t>Available in SPARC and x86</a:t>
            </a:r>
            <a:endParaRPr lang="en-US" altLang="en-US" dirty="0"/>
          </a:p>
          <a:p>
            <a:pPr lvl="1"/>
            <a:r>
              <a:rPr lang="en-US" altLang="en-US" dirty="0"/>
              <a:t>But still have security exploits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918124" y="248885"/>
            <a:ext cx="76660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120" y="1150938"/>
            <a:ext cx="7826341" cy="453072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Viruses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Code fragment embedded in legitimate program</a:t>
            </a:r>
            <a:endParaRPr lang="en-US" altLang="en-US" dirty="0"/>
          </a:p>
          <a:p>
            <a:pPr lvl="1"/>
            <a:r>
              <a:rPr lang="en-US" altLang="en-US" dirty="0"/>
              <a:t>Self-replicating, designed to infect other computers</a:t>
            </a:r>
            <a:endParaRPr lang="en-US" altLang="en-US" dirty="0"/>
          </a:p>
          <a:p>
            <a:pPr lvl="1"/>
            <a:r>
              <a:rPr lang="en-US" altLang="en-US" dirty="0"/>
              <a:t>Very specific to CPU architecture, operating system, applications</a:t>
            </a:r>
            <a:endParaRPr lang="en-US" altLang="en-US" dirty="0"/>
          </a:p>
          <a:p>
            <a:pPr lvl="1"/>
            <a:r>
              <a:rPr lang="en-US" altLang="en-US" dirty="0"/>
              <a:t>Usually borne via email or as a macro</a:t>
            </a:r>
            <a:endParaRPr lang="en-US" altLang="en-US" dirty="0"/>
          </a:p>
          <a:p>
            <a:pPr lvl="1"/>
            <a:r>
              <a:rPr lang="en-US" altLang="en-US" dirty="0"/>
              <a:t>Visual Basic Macro to reformat hard drive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Sub AutoOpen()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Dim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Set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r>
              <a:rPr lang="en-US" altLang="en-US" sz="1600" dirty="0">
                <a:latin typeface="Courier New" panose="02070309020205020404" pitchFamily="49" charset="0"/>
              </a:rPr>
              <a:t> = </a:t>
            </a:r>
            <a:r>
              <a:rPr lang="en-US" altLang="en-US" sz="1600" dirty="0" err="1">
                <a:latin typeface="Courier New" panose="02070309020205020404" pitchFamily="49" charset="0"/>
              </a:rPr>
              <a:t>CreateObject</a:t>
            </a:r>
            <a:r>
              <a:rPr lang="en-US" altLang="en-US" sz="1600" dirty="0">
                <a:latin typeface="Courier New" panose="02070309020205020404" pitchFamily="49" charset="0"/>
              </a:rPr>
              <a:t>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 err="1">
                <a:latin typeface="Courier New" panose="02070309020205020404" pitchFamily="49" charset="0"/>
              </a:rPr>
              <a:t>Scripting.FileSystemObject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  <a:endParaRPr lang="en-US" altLang="ja-JP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vs = Shell(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c:command.com /k format c: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,</a:t>
            </a:r>
            <a:r>
              <a:rPr lang="en-US" altLang="ja-JP" sz="1600" dirty="0" err="1">
                <a:latin typeface="Courier New" panose="02070309020205020404" pitchFamily="49" charset="0"/>
              </a:rPr>
              <a:t>vbHide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  <a:endParaRPr lang="en-US" altLang="ja-JP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End Sub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1"/>
            <a:endParaRPr lang="en-US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907080" y="243929"/>
            <a:ext cx="769574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087" y="1179936"/>
            <a:ext cx="75596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dropper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inserts virus onto the system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Many categories of viruses, literally many thousands of viruses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File / parasitic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Boot / memory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Macro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Source code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Polymorphic to avoid having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signature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Encrypted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Stealth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Multipartite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Armored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248303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Boot-sector Computer Virus</a:t>
            </a:r>
            <a:endParaRPr lang="en-US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1120775"/>
            <a:ext cx="4953000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r>
              <a:rPr lang="en-US" altLang="en-US" dirty="0"/>
              <a:t>The Threat Continues</a:t>
            </a:r>
            <a:endParaRPr lang="en-US" altLang="en-US" dirty="0"/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129330"/>
            <a:ext cx="7723187" cy="4530725"/>
          </a:xfrm>
        </p:spPr>
        <p:txBody>
          <a:bodyPr/>
          <a:lstStyle/>
          <a:p>
            <a:r>
              <a:rPr lang="en-US" altLang="en-US" dirty="0"/>
              <a:t>Attacks still common, still occurring</a:t>
            </a:r>
            <a:endParaRPr lang="en-US" altLang="en-US" dirty="0"/>
          </a:p>
          <a:p>
            <a:r>
              <a:rPr lang="en-US" altLang="en-US" dirty="0"/>
              <a:t>Attacks moved over time from science experiments to tools of organized crime</a:t>
            </a:r>
            <a:endParaRPr lang="en-US" altLang="en-US" dirty="0"/>
          </a:p>
          <a:p>
            <a:pPr lvl="1"/>
            <a:r>
              <a:rPr lang="en-US" altLang="en-US" dirty="0"/>
              <a:t>Targeting specific companies</a:t>
            </a:r>
            <a:endParaRPr lang="en-US" altLang="en-US" dirty="0"/>
          </a:p>
          <a:p>
            <a:pPr lvl="1"/>
            <a:r>
              <a:rPr lang="en-US" altLang="en-US" dirty="0"/>
              <a:t>Creating botnets to use as tool for spam and DDOS delivery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Keystroke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logger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grab passwords, credit card numbers</a:t>
            </a:r>
            <a:endParaRPr lang="en-US" altLang="en-US" dirty="0"/>
          </a:p>
          <a:p>
            <a:r>
              <a:rPr lang="en-US" altLang="en-US" dirty="0"/>
              <a:t>Why is Windows the target for most attacks?</a:t>
            </a:r>
            <a:endParaRPr lang="en-US" altLang="en-US" dirty="0"/>
          </a:p>
          <a:p>
            <a:pPr lvl="1"/>
            <a:r>
              <a:rPr lang="en-US" altLang="en-US" dirty="0"/>
              <a:t>Most common</a:t>
            </a:r>
            <a:endParaRPr lang="en-US" altLang="en-US" dirty="0"/>
          </a:p>
          <a:p>
            <a:pPr lvl="1"/>
            <a:r>
              <a:rPr lang="en-US" altLang="en-US" dirty="0"/>
              <a:t>Everyone is an administrator</a:t>
            </a:r>
            <a:endParaRPr lang="en-US" altLang="en-US" dirty="0"/>
          </a:p>
          <a:p>
            <a:pPr lvl="2"/>
            <a:r>
              <a:rPr lang="en-US" altLang="en-US" dirty="0"/>
              <a:t>Licensing required?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Monoculture</a:t>
            </a:r>
            <a:r>
              <a:rPr lang="en-US" altLang="en-US" dirty="0"/>
              <a:t> considered harmful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43929"/>
            <a:ext cx="7859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</a:t>
            </a:r>
            <a:endParaRPr lang="en-US" altLang="en-US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18" y="1128907"/>
            <a:ext cx="7671122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Some systems </a:t>
            </a:r>
            <a:r>
              <a:rPr lang="ja-JP" altLang="en-US" dirty="0">
                <a:solidFill>
                  <a:srgbClr val="000000"/>
                </a:solidFill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open</a:t>
            </a:r>
            <a:r>
              <a:rPr lang="ja-JP" altLang="en-US" dirty="0">
                <a:solidFill>
                  <a:srgbClr val="000000"/>
                </a:solidFill>
              </a:rPr>
              <a:t>”</a:t>
            </a:r>
            <a:r>
              <a:rPr lang="en-US" altLang="ja-JP" dirty="0">
                <a:solidFill>
                  <a:srgbClr val="000000"/>
                </a:solidFill>
              </a:rPr>
              <a:t> rather than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by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default</a:t>
            </a:r>
            <a:endParaRPr lang="en-US" altLang="ja-JP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Reduce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surface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But harder to use, more knowledge needed to administer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Network threats harder to detect, prevent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Protection systems weaker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More difficult to have a shared secret on which to base access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No physical limits once system attached to internet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Or on network with system attached to internet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Even determining location of connecting system difficult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IP address is only knowledge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342" y="242921"/>
            <a:ext cx="7513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093" y="1125958"/>
            <a:ext cx="747871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Worms</a:t>
            </a:r>
            <a:r>
              <a:rPr lang="en-US" altLang="en-US" dirty="0"/>
              <a:t> – use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spawn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mechanism; standalone program</a:t>
            </a:r>
            <a:endParaRPr lang="en-US" altLang="en-US" sz="800" dirty="0"/>
          </a:p>
          <a:p>
            <a:r>
              <a:rPr lang="en-US" altLang="en-US" dirty="0"/>
              <a:t>Internet worm</a:t>
            </a:r>
            <a:endParaRPr lang="en-US" altLang="en-US" dirty="0"/>
          </a:p>
          <a:p>
            <a:pPr lvl="1"/>
            <a:r>
              <a:rPr lang="en-US" altLang="en-US" dirty="0"/>
              <a:t>Exploited UNIX networking features (remote access) and bugs in </a:t>
            </a:r>
            <a:r>
              <a:rPr lang="en-US" altLang="en-US" i="1" dirty="0"/>
              <a:t>finger</a:t>
            </a:r>
            <a:r>
              <a:rPr lang="en-US" altLang="en-US" dirty="0"/>
              <a:t> and </a:t>
            </a:r>
            <a:r>
              <a:rPr lang="en-US" altLang="en-US" i="1" dirty="0" err="1"/>
              <a:t>sendmail</a:t>
            </a:r>
            <a:r>
              <a:rPr lang="en-US" altLang="en-US" dirty="0"/>
              <a:t> programs</a:t>
            </a:r>
            <a:endParaRPr lang="en-US" altLang="en-US" dirty="0"/>
          </a:p>
          <a:p>
            <a:pPr lvl="1"/>
            <a:r>
              <a:rPr lang="en-US" altLang="en-US" dirty="0"/>
              <a:t>Exploited trust-relationship mechanism used by </a:t>
            </a:r>
            <a:r>
              <a:rPr lang="en-US" altLang="en-US" i="1" dirty="0" err="1"/>
              <a:t>rsh</a:t>
            </a:r>
            <a:r>
              <a:rPr lang="en-US" altLang="en-US" i="1" dirty="0"/>
              <a:t> </a:t>
            </a:r>
            <a:r>
              <a:rPr lang="en-US" altLang="en-US" dirty="0"/>
              <a:t>to access friendly systems without use of password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Grappling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hook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program uploaded main worm program</a:t>
            </a:r>
            <a:endParaRPr lang="en-US" altLang="en-US" dirty="0"/>
          </a:p>
          <a:p>
            <a:pPr lvl="2"/>
            <a:r>
              <a:rPr lang="en-US" altLang="en-US" dirty="0"/>
              <a:t>99 lines of C code </a:t>
            </a:r>
            <a:endParaRPr lang="en-US" altLang="en-US" dirty="0"/>
          </a:p>
          <a:p>
            <a:pPr lvl="1"/>
            <a:r>
              <a:rPr lang="en-US" altLang="en-US" dirty="0"/>
              <a:t>Hooked system then uploaded main code, tried to attack connected systems</a:t>
            </a:r>
            <a:endParaRPr lang="en-US" altLang="en-US" dirty="0"/>
          </a:p>
          <a:p>
            <a:pPr lvl="1"/>
            <a:r>
              <a:rPr lang="en-US" altLang="en-US" dirty="0"/>
              <a:t>Also tried to break into other users accounts on local system via password guessing</a:t>
            </a:r>
            <a:endParaRPr lang="en-US" altLang="en-US" dirty="0"/>
          </a:p>
          <a:p>
            <a:pPr lvl="1"/>
            <a:r>
              <a:rPr lang="en-US" altLang="en-US" dirty="0"/>
              <a:t>If target system already infected, abort, except for every 7</a:t>
            </a:r>
            <a:r>
              <a:rPr lang="en-US" altLang="en-US" baseline="30000" dirty="0"/>
              <a:t>th</a:t>
            </a:r>
            <a:r>
              <a:rPr lang="en-US" altLang="en-US" dirty="0"/>
              <a:t> time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 noChangeArrowheads="1"/>
          </p:cNvSpPr>
          <p:nvPr>
            <p:ph type="title"/>
          </p:nvPr>
        </p:nvSpPr>
        <p:spPr>
          <a:xfrm>
            <a:off x="1017041" y="248298"/>
            <a:ext cx="7799388" cy="576263"/>
          </a:xfrm>
        </p:spPr>
        <p:txBody>
          <a:bodyPr/>
          <a:lstStyle/>
          <a:p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419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9669" y="1134287"/>
            <a:ext cx="7648512" cy="4530725"/>
          </a:xfrm>
        </p:spPr>
        <p:txBody>
          <a:bodyPr/>
          <a:lstStyle/>
          <a:p>
            <a:r>
              <a:rPr lang="en-US" altLang="en-US" b="1" dirty="0"/>
              <a:t>Port scanning</a:t>
            </a:r>
            <a:endParaRPr lang="en-US" altLang="en-US" dirty="0"/>
          </a:p>
          <a:p>
            <a:pPr lvl="1"/>
            <a:r>
              <a:rPr lang="en-US" altLang="en-US" dirty="0"/>
              <a:t>Automated attempt to connect to a range of ports on one or a range of IP addresses</a:t>
            </a:r>
            <a:endParaRPr lang="en-US" altLang="en-US" dirty="0"/>
          </a:p>
          <a:p>
            <a:pPr lvl="1"/>
            <a:r>
              <a:rPr lang="en-US" altLang="en-US" dirty="0"/>
              <a:t>Detection of answering service protocol</a:t>
            </a:r>
            <a:endParaRPr lang="en-US" altLang="en-US" dirty="0"/>
          </a:p>
          <a:p>
            <a:pPr lvl="1"/>
            <a:r>
              <a:rPr lang="en-US" altLang="en-US" dirty="0"/>
              <a:t>Detection of OS and version running on system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scans all ports in a given IP range for a response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nessus</a:t>
            </a:r>
            <a:r>
              <a:rPr lang="en-US" altLang="en-US" dirty="0"/>
              <a:t> has a database of protocols and bugs (and exploits) to apply against a system</a:t>
            </a:r>
            <a:endParaRPr lang="en-US" altLang="en-US" dirty="0"/>
          </a:p>
          <a:p>
            <a:pPr lvl="1"/>
            <a:r>
              <a:rPr lang="en-US" altLang="en-US" dirty="0"/>
              <a:t>Frequently launched from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zombie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dirty="0"/>
              <a:t> </a:t>
            </a:r>
            <a:endParaRPr lang="en-US" altLang="en-US" dirty="0"/>
          </a:p>
          <a:p>
            <a:pPr lvl="2"/>
            <a:r>
              <a:rPr lang="en-US" altLang="en-US" dirty="0"/>
              <a:t>To decrease trace-ability	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 noChangeArrowheads="1"/>
          </p:cNvSpPr>
          <p:nvPr>
            <p:ph type="title"/>
          </p:nvPr>
        </p:nvSpPr>
        <p:spPr>
          <a:xfrm>
            <a:off x="1066643" y="248301"/>
            <a:ext cx="7704137" cy="576263"/>
          </a:xfrm>
        </p:spPr>
        <p:txBody>
          <a:bodyPr/>
          <a:lstStyle/>
          <a:p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4301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661" y="1101173"/>
            <a:ext cx="7783480" cy="4530725"/>
          </a:xfrm>
        </p:spPr>
        <p:txBody>
          <a:bodyPr/>
          <a:lstStyle/>
          <a:p>
            <a:r>
              <a:rPr lang="en-US" altLang="en-US" b="1" dirty="0"/>
              <a:t>Denial of Service</a:t>
            </a:r>
            <a:endParaRPr lang="en-US" altLang="en-US" b="1" dirty="0"/>
          </a:p>
          <a:p>
            <a:pPr lvl="1"/>
            <a:r>
              <a:rPr lang="en-US" altLang="en-US" dirty="0"/>
              <a:t>Overload the targeted computer preventing it from doing any useful work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Denial-of-Service</a:t>
            </a:r>
            <a:r>
              <a:rPr lang="en-US" altLang="en-US" dirty="0"/>
              <a:t>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DDoS</a:t>
            </a:r>
            <a:r>
              <a:rPr lang="en-US" altLang="en-US" dirty="0"/>
              <a:t>) come from multiple sites at once</a:t>
            </a:r>
            <a:endParaRPr lang="en-US" altLang="en-US" dirty="0"/>
          </a:p>
          <a:p>
            <a:pPr lvl="1"/>
            <a:r>
              <a:rPr lang="en-US" altLang="en-US" dirty="0"/>
              <a:t>Consider the start of the IP-connection handshake (SYN)</a:t>
            </a:r>
            <a:endParaRPr lang="en-US" altLang="en-US" dirty="0"/>
          </a:p>
          <a:p>
            <a:pPr lvl="2"/>
            <a:r>
              <a:rPr lang="en-US" altLang="en-US" dirty="0"/>
              <a:t>How many started-connections can the OS handle?</a:t>
            </a:r>
            <a:endParaRPr lang="en-US" altLang="en-US" dirty="0"/>
          </a:p>
          <a:p>
            <a:pPr lvl="1"/>
            <a:r>
              <a:rPr lang="en-US" altLang="en-US" dirty="0"/>
              <a:t>Consider traffic to a web site</a:t>
            </a:r>
            <a:endParaRPr lang="en-US" altLang="en-US" dirty="0"/>
          </a:p>
          <a:p>
            <a:pPr lvl="2"/>
            <a:r>
              <a:rPr lang="en-US" altLang="en-US" dirty="0"/>
              <a:t>How can you tell the difference between being a target and being really popular?</a:t>
            </a:r>
            <a:endParaRPr lang="en-US" altLang="en-US" dirty="0"/>
          </a:p>
          <a:p>
            <a:pPr lvl="1"/>
            <a:r>
              <a:rPr lang="en-US" altLang="en-US" dirty="0"/>
              <a:t>Accidental – CS students writing bad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dirty="0"/>
              <a:t>code</a:t>
            </a:r>
            <a:endParaRPr lang="en-US" altLang="en-US" dirty="0"/>
          </a:p>
          <a:p>
            <a:pPr lvl="1"/>
            <a:r>
              <a:rPr lang="en-US" altLang="en-US" dirty="0"/>
              <a:t>Purposeful – extortion, punishment</a:t>
            </a:r>
            <a:endParaRPr lang="en-US" altLang="en-US" dirty="0"/>
          </a:p>
          <a:p>
            <a:r>
              <a:rPr lang="en-US" altLang="en-US" dirty="0"/>
              <a:t>Port scanning</a:t>
            </a:r>
            <a:endParaRPr lang="en-US" altLang="en-US" dirty="0"/>
          </a:p>
          <a:p>
            <a:pPr lvl="1"/>
            <a:r>
              <a:rPr lang="en-US" altLang="en-US" dirty="0"/>
              <a:t>Automated tool to look for network ports accepting connections</a:t>
            </a:r>
            <a:endParaRPr lang="en-US" altLang="en-US" dirty="0"/>
          </a:p>
          <a:p>
            <a:pPr lvl="1"/>
            <a:r>
              <a:rPr lang="en-US" altLang="en-US" dirty="0"/>
              <a:t>Used for good and evil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 noChangeArrowheads="1"/>
          </p:cNvSpPr>
          <p:nvPr>
            <p:ph type="title"/>
          </p:nvPr>
        </p:nvSpPr>
        <p:spPr>
          <a:xfrm>
            <a:off x="908017" y="238972"/>
            <a:ext cx="7704137" cy="576263"/>
          </a:xfrm>
        </p:spPr>
        <p:txBody>
          <a:bodyPr/>
          <a:lstStyle/>
          <a:p>
            <a:r>
              <a:rPr lang="en-US" altLang="en-US" dirty="0"/>
              <a:t>Standard Security Attacks</a:t>
            </a:r>
            <a:endParaRPr lang="en-US" alt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5" y="1343025"/>
            <a:ext cx="45720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234598"/>
            <a:ext cx="7967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Cryptography as a Security Tool</a:t>
            </a:r>
            <a:endParaRPr lang="en-US" altLang="en-U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102343"/>
            <a:ext cx="7723738" cy="4530725"/>
          </a:xfrm>
        </p:spPr>
        <p:txBody>
          <a:bodyPr/>
          <a:lstStyle/>
          <a:p>
            <a:r>
              <a:rPr lang="en-US" altLang="en-US" dirty="0"/>
              <a:t>Broadest security tool available</a:t>
            </a:r>
            <a:endParaRPr lang="en-US" altLang="en-US" dirty="0"/>
          </a:p>
          <a:p>
            <a:pPr lvl="1"/>
            <a:r>
              <a:rPr lang="en-US" altLang="en-US" dirty="0"/>
              <a:t>Internal to a given computer, source and destination of messages can be known and protected</a:t>
            </a:r>
            <a:endParaRPr lang="en-US" altLang="en-US" dirty="0"/>
          </a:p>
          <a:p>
            <a:pPr lvl="2"/>
            <a:r>
              <a:rPr lang="en-US" altLang="en-US" dirty="0"/>
              <a:t>OS creates, manages, protects process IDs, communication ports</a:t>
            </a:r>
            <a:endParaRPr lang="en-US" altLang="en-US" dirty="0"/>
          </a:p>
          <a:p>
            <a:pPr lvl="1"/>
            <a:r>
              <a:rPr lang="en-US" altLang="en-US" dirty="0"/>
              <a:t>Source and destination of messages on network cannot be trusted without cryptography</a:t>
            </a:r>
            <a:endParaRPr lang="en-US" altLang="en-US" dirty="0"/>
          </a:p>
          <a:p>
            <a:pPr lvl="2"/>
            <a:r>
              <a:rPr lang="en-US" altLang="en-US" dirty="0"/>
              <a:t>Local network – IP address?</a:t>
            </a:r>
            <a:endParaRPr lang="en-US" altLang="en-US" dirty="0"/>
          </a:p>
          <a:p>
            <a:pPr lvl="3"/>
            <a:r>
              <a:rPr lang="en-US" altLang="en-US" dirty="0"/>
              <a:t>Consider unauthorized host added</a:t>
            </a:r>
            <a:endParaRPr lang="en-US" altLang="en-US" dirty="0"/>
          </a:p>
          <a:p>
            <a:pPr lvl="2"/>
            <a:r>
              <a:rPr lang="en-US" altLang="en-US" dirty="0"/>
              <a:t>WAN / Internet – how to establish authenticity </a:t>
            </a:r>
            <a:endParaRPr lang="en-US" altLang="en-US" dirty="0"/>
          </a:p>
          <a:p>
            <a:pPr lvl="3"/>
            <a:r>
              <a:rPr lang="en-US" altLang="en-US" dirty="0"/>
              <a:t>Not via IP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 noChangeArrowheads="1"/>
          </p:cNvSpPr>
          <p:nvPr>
            <p:ph type="title"/>
          </p:nvPr>
        </p:nvSpPr>
        <p:spPr>
          <a:xfrm>
            <a:off x="363891" y="238972"/>
            <a:ext cx="8229600" cy="576263"/>
          </a:xfrm>
        </p:spPr>
        <p:txBody>
          <a:bodyPr/>
          <a:lstStyle/>
          <a:p>
            <a:r>
              <a:rPr lang="en-US" altLang="en-US" dirty="0"/>
              <a:t>Cryptography</a:t>
            </a:r>
            <a:endParaRPr lang="en-US" altLang="en-US" dirty="0"/>
          </a:p>
        </p:txBody>
      </p:sp>
      <p:sp>
        <p:nvSpPr>
          <p:cNvPr id="4710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7392" y="1100914"/>
            <a:ext cx="7772753" cy="4530725"/>
          </a:xfrm>
        </p:spPr>
        <p:txBody>
          <a:bodyPr/>
          <a:lstStyle/>
          <a:p>
            <a:r>
              <a:rPr lang="en-US" altLang="en-US" dirty="0"/>
              <a:t>Means to constrain potential senders (</a:t>
            </a:r>
            <a:r>
              <a:rPr lang="en-US" altLang="en-US" i="1" dirty="0"/>
              <a:t>sources</a:t>
            </a:r>
            <a:r>
              <a:rPr lang="en-US" altLang="en-US" dirty="0"/>
              <a:t>) and / or receivers (</a:t>
            </a:r>
            <a:r>
              <a:rPr lang="en-US" altLang="en-US" i="1" dirty="0"/>
              <a:t>destinations</a:t>
            </a:r>
            <a:r>
              <a:rPr lang="en-US" altLang="en-US" dirty="0"/>
              <a:t>) of </a:t>
            </a:r>
            <a:r>
              <a:rPr lang="en-US" altLang="en-US" i="1" dirty="0"/>
              <a:t>messages</a:t>
            </a:r>
            <a:endParaRPr lang="en-US" altLang="en-US" i="1" dirty="0"/>
          </a:p>
          <a:p>
            <a:pPr lvl="1"/>
            <a:r>
              <a:rPr lang="en-US" altLang="en-US" dirty="0"/>
              <a:t>Based on secrets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Enables</a:t>
            </a:r>
            <a:endParaRPr lang="en-US" altLang="en-US" dirty="0"/>
          </a:p>
          <a:p>
            <a:pPr lvl="2"/>
            <a:r>
              <a:rPr lang="en-US" altLang="en-US" dirty="0"/>
              <a:t>Confirmation of source</a:t>
            </a:r>
            <a:endParaRPr lang="en-US" altLang="en-US" dirty="0"/>
          </a:p>
          <a:p>
            <a:pPr lvl="2"/>
            <a:r>
              <a:rPr lang="en-US" altLang="en-US" dirty="0"/>
              <a:t>Receipt only by certain destination</a:t>
            </a:r>
            <a:endParaRPr lang="en-US" altLang="en-US" dirty="0"/>
          </a:p>
          <a:p>
            <a:pPr lvl="2"/>
            <a:r>
              <a:rPr lang="en-US" altLang="en-US" dirty="0"/>
              <a:t>Trust relationship between sender and receiver</a:t>
            </a:r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373221" y="24392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127543"/>
            <a:ext cx="7735077" cy="5173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Constrains the set of possible receivers of a message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Encryption</a:t>
            </a:r>
            <a:r>
              <a:rPr lang="en-US" altLang="en-US" dirty="0"/>
              <a:t> algorithm consists of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K</a:t>
            </a:r>
            <a:r>
              <a:rPr lang="en-US" altLang="en-US" dirty="0"/>
              <a:t> of keys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M</a:t>
            </a:r>
            <a:r>
              <a:rPr lang="en-US" altLang="en-US" dirty="0"/>
              <a:t> of Messages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C</a:t>
            </a:r>
            <a:r>
              <a:rPr lang="en-US" altLang="en-US" dirty="0"/>
              <a:t> of ciphertexts (encrypted messages)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E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</a:t>
            </a:r>
            <a:r>
              <a:rPr lang="en-US" altLang="en-US" dirty="0"/>
              <a:t>→</a:t>
            </a:r>
            <a:r>
              <a:rPr lang="en-US" altLang="en-US" i="1" dirty="0"/>
              <a:t>C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is a function for generating ciphertexts from messages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E </a:t>
            </a:r>
            <a:r>
              <a:rPr lang="en-US" altLang="en-US" dirty="0"/>
              <a:t>and </a:t>
            </a:r>
            <a:r>
              <a:rPr lang="en-US" altLang="en-US" i="1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D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C </a:t>
            </a:r>
            <a:r>
              <a:rPr lang="en-US" altLang="en-US" dirty="0"/>
              <a:t>→ </a:t>
            </a:r>
            <a:r>
              <a:rPr lang="en-US" altLang="en-US" i="1" dirty="0"/>
              <a:t>M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i="1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generating messages from ciphertexts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D </a:t>
            </a:r>
            <a:r>
              <a:rPr lang="en-US" altLang="en-US" dirty="0"/>
              <a:t>and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 (Cont.)</a:t>
            </a:r>
            <a:endParaRPr lang="en-US" altLang="en-US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099556"/>
            <a:ext cx="7574448" cy="5173662"/>
          </a:xfrm>
        </p:spPr>
        <p:txBody>
          <a:bodyPr/>
          <a:lstStyle/>
          <a:p>
            <a:r>
              <a:rPr lang="en-US" altLang="en-US" dirty="0"/>
              <a:t>An encryption algorithm must provide this essential property: Given a ciphertext c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dirty="0"/>
              <a:t>C, a computer can compute m such that 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(m) = c only if it possesses </a:t>
            </a:r>
            <a:r>
              <a:rPr lang="en-US" altLang="en-US" i="1" dirty="0"/>
              <a:t>k</a:t>
            </a:r>
            <a:endParaRPr lang="en-US" altLang="en-US" i="1" dirty="0"/>
          </a:p>
          <a:p>
            <a:pPr lvl="1"/>
            <a:r>
              <a:rPr lang="en-US" altLang="en-US" dirty="0"/>
              <a:t>Thus, a computer holding </a:t>
            </a:r>
            <a:r>
              <a:rPr lang="en-US" altLang="en-US" i="1" dirty="0"/>
              <a:t>k </a:t>
            </a:r>
            <a:r>
              <a:rPr lang="en-US" altLang="en-US" dirty="0"/>
              <a:t>can decrypt ciphertexts to the plaintexts used to produce them, but a computer not holding </a:t>
            </a:r>
            <a:r>
              <a:rPr lang="en-US" altLang="en-US" i="1" dirty="0"/>
              <a:t>k </a:t>
            </a:r>
            <a:r>
              <a:rPr lang="en-US" altLang="en-US" dirty="0"/>
              <a:t>cannot decrypt ciphertexts</a:t>
            </a:r>
            <a:endParaRPr lang="en-US" altLang="en-US" dirty="0"/>
          </a:p>
          <a:p>
            <a:pPr lvl="1"/>
            <a:r>
              <a:rPr lang="en-US" altLang="en-US" dirty="0"/>
              <a:t>Since ciphertexts are generally exposed (for example, sent on the network), it is important that it be infeasible to derive </a:t>
            </a:r>
            <a:r>
              <a:rPr lang="en-US" altLang="en-US" i="1" dirty="0"/>
              <a:t>k</a:t>
            </a:r>
            <a:r>
              <a:rPr lang="en-US" altLang="en-US" dirty="0"/>
              <a:t> from the ciphertexts</a:t>
            </a: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9207" y="2345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Symmetric Encryption</a:t>
            </a:r>
            <a:endParaRPr lang="en-US" altLang="en-US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720" y="1042988"/>
            <a:ext cx="7696200" cy="4530725"/>
          </a:xfrm>
        </p:spPr>
        <p:txBody>
          <a:bodyPr/>
          <a:lstStyle/>
          <a:p>
            <a:r>
              <a:rPr lang="en-US" altLang="en-US" sz="1600" dirty="0"/>
              <a:t>Same key used to encrypt and decrypt</a:t>
            </a:r>
            <a:endParaRPr lang="en-US" altLang="en-US" sz="1600" dirty="0"/>
          </a:p>
          <a:p>
            <a:pPr lvl="1"/>
            <a:r>
              <a:rPr lang="en-US" altLang="en-US" sz="1600" dirty="0"/>
              <a:t>Therefore </a:t>
            </a:r>
            <a:r>
              <a:rPr lang="en-US" altLang="en-US" sz="1600" i="1" dirty="0"/>
              <a:t>k</a:t>
            </a:r>
            <a:r>
              <a:rPr lang="en-US" altLang="en-US" sz="1600" dirty="0"/>
              <a:t> must be kept secret</a:t>
            </a:r>
            <a:endParaRPr lang="en-US" altLang="en-US" sz="1600" dirty="0"/>
          </a:p>
          <a:p>
            <a:r>
              <a:rPr lang="en-US" altLang="en-US" sz="1600" dirty="0"/>
              <a:t>DES was most commonly used symmetric block-encryption algorithm (created by US Govt)</a:t>
            </a:r>
            <a:endParaRPr lang="en-US" altLang="en-US" sz="1600" dirty="0"/>
          </a:p>
          <a:p>
            <a:pPr lvl="1"/>
            <a:r>
              <a:rPr lang="en-US" altLang="en-US" sz="1600" dirty="0"/>
              <a:t>Encrypts a block of data at a time</a:t>
            </a:r>
            <a:endParaRPr lang="en-US" altLang="en-US" sz="1600" dirty="0"/>
          </a:p>
          <a:p>
            <a:pPr lvl="1"/>
            <a:r>
              <a:rPr lang="en-US" altLang="en-US" sz="1600" dirty="0"/>
              <a:t>Keys too short so now considered insecure</a:t>
            </a:r>
            <a:endParaRPr lang="en-US" altLang="en-US" sz="1600" dirty="0"/>
          </a:p>
          <a:p>
            <a:r>
              <a:rPr lang="en-US" altLang="en-US" sz="1600" dirty="0"/>
              <a:t>Triple-DES considered more secure</a:t>
            </a:r>
            <a:endParaRPr lang="en-US" altLang="en-US" sz="1600" dirty="0"/>
          </a:p>
          <a:p>
            <a:pPr lvl="1"/>
            <a:r>
              <a:rPr lang="en-US" altLang="en-US" sz="1600" dirty="0"/>
              <a:t>Algorithm used 3 times using 2 or 3 keys</a:t>
            </a:r>
            <a:endParaRPr lang="en-US" altLang="en-US" sz="1600" dirty="0"/>
          </a:p>
          <a:p>
            <a:pPr lvl="1"/>
            <a:r>
              <a:rPr lang="en-US" altLang="en-US" sz="1600" dirty="0"/>
              <a:t>For example </a:t>
            </a:r>
            <a:endParaRPr lang="en-US" altLang="en-US" sz="1600" dirty="0"/>
          </a:p>
          <a:p>
            <a:r>
              <a:rPr lang="en-US" altLang="en-US" sz="1600" dirty="0"/>
              <a:t>2001 NIST adopted new block cipher - Advanced Encryption Standard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AES</a:t>
            </a:r>
            <a:r>
              <a:rPr lang="en-US" altLang="en-US" sz="1600" dirty="0"/>
              <a:t>)</a:t>
            </a:r>
            <a:endParaRPr lang="en-US" altLang="en-US" sz="1600" dirty="0"/>
          </a:p>
          <a:p>
            <a:pPr lvl="1"/>
            <a:r>
              <a:rPr lang="en-US" altLang="en-US" sz="1600" dirty="0"/>
              <a:t>Keys of 128, 192, or 256 bits, works on 128 bit blocks</a:t>
            </a:r>
            <a:endParaRPr lang="en-US" altLang="en-US" sz="1600" dirty="0"/>
          </a:p>
          <a:p>
            <a:r>
              <a:rPr lang="en-US" altLang="en-US" sz="1600" dirty="0"/>
              <a:t>RC4 is most common symmetric stream cipher, but known to have vulnerabilities</a:t>
            </a:r>
            <a:endParaRPr lang="en-US" altLang="en-US" sz="1600" dirty="0"/>
          </a:p>
          <a:p>
            <a:pPr lvl="1"/>
            <a:r>
              <a:rPr lang="en-US" altLang="en-US" sz="1600" dirty="0"/>
              <a:t>Encrypts/decrypts a stream of bytes (i.e., wireless transmission)</a:t>
            </a:r>
            <a:endParaRPr lang="en-US" altLang="en-US" sz="1600" dirty="0"/>
          </a:p>
          <a:p>
            <a:pPr lvl="1"/>
            <a:r>
              <a:rPr lang="en-US" altLang="en-US" sz="1600" dirty="0"/>
              <a:t>Key is a input to pseudo-random-bit generator</a:t>
            </a:r>
            <a:endParaRPr lang="en-US" altLang="en-US" sz="1600" dirty="0"/>
          </a:p>
          <a:p>
            <a:pPr lvl="2"/>
            <a:r>
              <a:rPr lang="en-US" altLang="en-US" sz="1600" dirty="0"/>
              <a:t>Generates an infinite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keystream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52227" name="Picture 1" descr="Screen Shot 2013-02-18 at 5.34.27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3608388"/>
            <a:ext cx="155733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545306" y="429726"/>
            <a:ext cx="8053387" cy="449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Secure Communication over </a:t>
            </a:r>
            <a:br>
              <a:rPr lang="en-US" altLang="en-US" sz="2800" dirty="0"/>
            </a:br>
            <a:r>
              <a:rPr lang="en-US" altLang="en-US" sz="2800" dirty="0"/>
              <a:t>Insecure Medium</a:t>
            </a:r>
            <a:endParaRPr lang="en-US" altLang="en-US" sz="2800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203325"/>
            <a:ext cx="4684712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24888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</a:t>
            </a:r>
            <a:endParaRPr lang="en-US" alt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092" y="1082675"/>
            <a:ext cx="7713403" cy="453072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Public-key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encryption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based on each user having two keys: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published key used to encrypt data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key known only to individual user used to decrypt data</a:t>
            </a:r>
            <a:endParaRPr lang="en-US" altLang="en-US" dirty="0"/>
          </a:p>
          <a:p>
            <a:r>
              <a:rPr lang="en-US" altLang="en-US" dirty="0"/>
              <a:t>Must be an encryption scheme that can be made public without making it easy to figure out the decryption scheme</a:t>
            </a:r>
            <a:endParaRPr lang="en-US" altLang="en-US" dirty="0"/>
          </a:p>
          <a:p>
            <a:pPr lvl="1"/>
            <a:r>
              <a:rPr lang="en-US" altLang="en-US" dirty="0"/>
              <a:t>Most common is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RSA</a:t>
            </a:r>
            <a:r>
              <a:rPr lang="en-US" altLang="en-US" dirty="0"/>
              <a:t> block cipher</a:t>
            </a:r>
            <a:endParaRPr lang="en-US" altLang="en-US" dirty="0"/>
          </a:p>
          <a:p>
            <a:pPr lvl="1"/>
            <a:r>
              <a:rPr lang="en-US" altLang="en-US" dirty="0"/>
              <a:t>Efficient algorithm for testing whether or not a number is prime</a:t>
            </a:r>
            <a:endParaRPr lang="en-US" altLang="en-US" dirty="0"/>
          </a:p>
          <a:p>
            <a:pPr lvl="1"/>
            <a:r>
              <a:rPr lang="en-US" altLang="en-US" dirty="0"/>
              <a:t>No efficient algorithm is know for finding the prime factors of a number</a:t>
            </a: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889159" y="234597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 (Cont.)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669" y="1082675"/>
            <a:ext cx="7713662" cy="4530725"/>
          </a:xfrm>
        </p:spPr>
        <p:txBody>
          <a:bodyPr/>
          <a:lstStyle/>
          <a:p>
            <a:r>
              <a:rPr lang="en-US" altLang="en-US" dirty="0"/>
              <a:t>Formally, it is computationally infeasible to derive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d,N</a:t>
            </a:r>
            <a:r>
              <a:rPr lang="en-US" altLang="en-US" dirty="0"/>
              <a:t> from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e,N</a:t>
            </a:r>
            <a:r>
              <a:rPr lang="en-US" altLang="en-US" dirty="0"/>
              <a:t>, and so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baseline="-25000" dirty="0"/>
              <a:t> </a:t>
            </a:r>
            <a:r>
              <a:rPr lang="en-US" altLang="en-US" dirty="0"/>
              <a:t> need not be kept secret and can be widely disseminated</a:t>
            </a:r>
            <a:endParaRPr lang="en-US" altLang="en-US" dirty="0"/>
          </a:p>
          <a:p>
            <a:pPr lvl="1"/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dirty="0"/>
              <a:t> is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dirty="0"/>
              <a:t> is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i="1" dirty="0"/>
              <a:t>N </a:t>
            </a:r>
            <a:r>
              <a:rPr lang="en-US" altLang="en-US" dirty="0"/>
              <a:t>is the product of two large, randomly chosen prime numbers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 </a:t>
            </a:r>
            <a:r>
              <a:rPr lang="en-US" altLang="en-US" dirty="0"/>
              <a:t>(for example,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 </a:t>
            </a:r>
            <a:r>
              <a:rPr lang="en-US" altLang="en-US" dirty="0"/>
              <a:t>are 512 bits each)</a:t>
            </a:r>
            <a:endParaRPr lang="en-US" altLang="en-US" dirty="0"/>
          </a:p>
          <a:p>
            <a:pPr lvl="1"/>
            <a:r>
              <a:rPr lang="en-US" altLang="en-US" dirty="0"/>
              <a:t>Encryption algorithm is 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ke,N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 err="1"/>
              <a:t>m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r>
              <a:rPr lang="en-US" altLang="en-US" dirty="0"/>
              <a:t>, where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satisfies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baseline="-25000" dirty="0"/>
              <a:t> </a:t>
            </a:r>
            <a:r>
              <a:rPr lang="en-US" altLang="en-US" dirty="0"/>
              <a:t>mod (</a:t>
            </a:r>
            <a:r>
              <a:rPr lang="en-US" altLang="en-US" i="1" dirty="0"/>
              <a:t>p</a:t>
            </a:r>
            <a:r>
              <a:rPr lang="en-US" altLang="en-US" dirty="0"/>
              <a:t>−1)(</a:t>
            </a:r>
            <a:r>
              <a:rPr lang="en-US" altLang="en-US" i="1" dirty="0"/>
              <a:t>q </a:t>
            </a:r>
            <a:r>
              <a:rPr lang="en-US" altLang="en-US" dirty="0"/>
              <a:t>−1) = 1</a:t>
            </a:r>
            <a:endParaRPr lang="en-US" altLang="en-US" dirty="0"/>
          </a:p>
          <a:p>
            <a:pPr lvl="1"/>
            <a:r>
              <a:rPr lang="en-US" altLang="en-US" dirty="0"/>
              <a:t>The decryption algorithm is then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kd,N</a:t>
            </a:r>
            <a:r>
              <a:rPr lang="en-US" altLang="en-US" dirty="0"/>
              <a:t>(</a:t>
            </a:r>
            <a:r>
              <a:rPr lang="en-US" altLang="en-US" i="1" dirty="0"/>
              <a:t>c</a:t>
            </a:r>
            <a:r>
              <a:rPr lang="en-US" altLang="en-US" dirty="0"/>
              <a:t>) = </a:t>
            </a:r>
            <a:r>
              <a:rPr lang="en-US" altLang="en-US" i="1" dirty="0" err="1"/>
              <a:t>c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248882"/>
            <a:ext cx="744061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 Example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3038" y="1074544"/>
            <a:ext cx="7580313" cy="5427662"/>
          </a:xfrm>
        </p:spPr>
        <p:txBody>
          <a:bodyPr/>
          <a:lstStyle/>
          <a:p>
            <a:r>
              <a:rPr lang="en-US" altLang="en-US" dirty="0"/>
              <a:t>For example. make </a:t>
            </a:r>
            <a:r>
              <a:rPr lang="en-US" altLang="en-US" i="1" dirty="0"/>
              <a:t>p </a:t>
            </a:r>
            <a:r>
              <a:rPr lang="en-US" altLang="en-US" dirty="0"/>
              <a:t>= 7and </a:t>
            </a:r>
            <a:r>
              <a:rPr lang="en-US" altLang="en-US" i="1" dirty="0"/>
              <a:t>q </a:t>
            </a:r>
            <a:r>
              <a:rPr lang="en-US" altLang="en-US" dirty="0"/>
              <a:t>= 13</a:t>
            </a:r>
            <a:endParaRPr lang="en-US" altLang="en-US" sz="800" dirty="0"/>
          </a:p>
          <a:p>
            <a:r>
              <a:rPr lang="en-US" altLang="en-US" dirty="0"/>
              <a:t>We then calculate </a:t>
            </a:r>
            <a:r>
              <a:rPr lang="en-US" altLang="en-US" i="1" dirty="0"/>
              <a:t>N </a:t>
            </a:r>
            <a:r>
              <a:rPr lang="en-US" altLang="en-US" dirty="0"/>
              <a:t>= 7∗13 = 91 and (</a:t>
            </a:r>
            <a:r>
              <a:rPr lang="en-US" altLang="en-US" i="1" dirty="0"/>
              <a:t>p</a:t>
            </a:r>
            <a:r>
              <a:rPr lang="en-US" altLang="en-US" dirty="0"/>
              <a:t>−1)(</a:t>
            </a:r>
            <a:r>
              <a:rPr lang="en-US" altLang="en-US" i="1" dirty="0"/>
              <a:t>q</a:t>
            </a:r>
            <a:r>
              <a:rPr lang="en-US" altLang="en-US" dirty="0"/>
              <a:t>−1) = 72</a:t>
            </a:r>
            <a:endParaRPr lang="en-US" altLang="en-US" sz="800" dirty="0"/>
          </a:p>
          <a:p>
            <a:r>
              <a:rPr lang="en-US" altLang="en-US" dirty="0"/>
              <a:t>We next select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relatively prime to 72 and</a:t>
            </a:r>
            <a:r>
              <a:rPr lang="en-US" altLang="en-US" i="1" dirty="0"/>
              <a:t>&lt; </a:t>
            </a:r>
            <a:r>
              <a:rPr lang="en-US" altLang="en-US" dirty="0"/>
              <a:t>72, yielding 5</a:t>
            </a:r>
            <a:endParaRPr lang="en-US" altLang="en-US" sz="800" dirty="0"/>
          </a:p>
          <a:p>
            <a:r>
              <a:rPr lang="en-US" altLang="en-US" dirty="0"/>
              <a:t>Finally, we calculate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such that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mod 72 = 1, yielding 29</a:t>
            </a:r>
            <a:endParaRPr lang="en-US" altLang="en-US" sz="800" dirty="0"/>
          </a:p>
          <a:p>
            <a:r>
              <a:rPr lang="en-US" altLang="en-US" dirty="0"/>
              <a:t>We how have our keys</a:t>
            </a:r>
            <a:endParaRPr lang="en-US" altLang="en-US" dirty="0"/>
          </a:p>
          <a:p>
            <a:pPr lvl="1"/>
            <a:r>
              <a:rPr lang="en-US" altLang="en-US" dirty="0"/>
              <a:t>Public key,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e,N</a:t>
            </a:r>
            <a:r>
              <a:rPr lang="en-US" altLang="en-US" i="1" dirty="0"/>
              <a:t> </a:t>
            </a:r>
            <a:r>
              <a:rPr lang="en-US" altLang="en-US" dirty="0"/>
              <a:t>= 5</a:t>
            </a:r>
            <a:r>
              <a:rPr lang="en-US" altLang="en-US" i="1" dirty="0"/>
              <a:t>, </a:t>
            </a:r>
            <a:r>
              <a:rPr lang="en-US" altLang="en-US" dirty="0"/>
              <a:t>91</a:t>
            </a:r>
            <a:endParaRPr lang="en-US" altLang="en-US" dirty="0"/>
          </a:p>
          <a:p>
            <a:pPr lvl="1"/>
            <a:r>
              <a:rPr lang="en-US" altLang="en-US" dirty="0"/>
              <a:t>Private key,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d,N</a:t>
            </a:r>
            <a:r>
              <a:rPr lang="en-US" altLang="en-US" i="1" dirty="0"/>
              <a:t> </a:t>
            </a:r>
            <a:r>
              <a:rPr lang="en-US" altLang="en-US" dirty="0"/>
              <a:t>= 29</a:t>
            </a:r>
            <a:r>
              <a:rPr lang="en-US" altLang="en-US" i="1" dirty="0"/>
              <a:t>, </a:t>
            </a:r>
            <a:r>
              <a:rPr lang="en-US" altLang="en-US" dirty="0"/>
              <a:t>91</a:t>
            </a:r>
            <a:endParaRPr lang="en-US" altLang="en-US" sz="800" dirty="0"/>
          </a:p>
          <a:p>
            <a:r>
              <a:rPr lang="en-US" altLang="en-US" dirty="0"/>
              <a:t> Encrypting the message 69 with the public key results in the cyphertext 62</a:t>
            </a:r>
            <a:endParaRPr lang="en-US" altLang="en-US" sz="800" dirty="0"/>
          </a:p>
          <a:p>
            <a:r>
              <a:rPr lang="en-US" altLang="en-US" dirty="0"/>
              <a:t>Cyphertext can be decoded with the private key</a:t>
            </a:r>
            <a:endParaRPr lang="en-US" altLang="en-US" dirty="0"/>
          </a:p>
          <a:p>
            <a:pPr lvl="1"/>
            <a:r>
              <a:rPr lang="en-US" altLang="en-US" dirty="0"/>
              <a:t>Public key can be distributed in cleartext to anyone who wants to communicate with holder of public key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804895" y="286045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Encryption using </a:t>
            </a:r>
            <a:br>
              <a:rPr lang="en-US" altLang="en-US" sz="2800" dirty="0"/>
            </a:br>
            <a:r>
              <a:rPr lang="en-US" altLang="en-US" sz="2800" dirty="0"/>
              <a:t>RSA Asymmetric Cryptography</a:t>
            </a:r>
            <a:endParaRPr lang="en-US" altLang="en-US" sz="2800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13" y="1104900"/>
            <a:ext cx="24003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44933"/>
            <a:ext cx="7975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Cryptography (Cont.)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18" y="1127901"/>
            <a:ext cx="7671124" cy="4530725"/>
          </a:xfrm>
        </p:spPr>
        <p:txBody>
          <a:bodyPr/>
          <a:lstStyle/>
          <a:p>
            <a:r>
              <a:rPr lang="en-US" altLang="en-US" dirty="0"/>
              <a:t>Note symmetric cryptography based on transformations, asymmetric based on mathematical functions</a:t>
            </a:r>
            <a:endParaRPr lang="en-US" altLang="en-US" dirty="0"/>
          </a:p>
          <a:p>
            <a:pPr lvl="1"/>
            <a:r>
              <a:rPr lang="en-US" altLang="en-US" dirty="0"/>
              <a:t>Asymmetric much more compute intensive</a:t>
            </a:r>
            <a:endParaRPr lang="en-US" altLang="en-US" dirty="0"/>
          </a:p>
          <a:p>
            <a:pPr lvl="1"/>
            <a:r>
              <a:rPr lang="en-US" altLang="en-US" dirty="0"/>
              <a:t>Typically not used for bulk data encryption </a:t>
            </a: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23459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</a:t>
            </a:r>
            <a:endParaRPr lang="en-US" altLang="en-US" dirty="0"/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18" y="1146244"/>
            <a:ext cx="7723188" cy="52212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Constraining set of potential senders of a message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Complementary to encryption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Also can prove message unmodified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Algorithm components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K </a:t>
            </a:r>
            <a:r>
              <a:rPr lang="en-US" altLang="en-US" dirty="0"/>
              <a:t>of keys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M </a:t>
            </a:r>
            <a:r>
              <a:rPr lang="en-US" altLang="en-US" dirty="0"/>
              <a:t>of messages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A </a:t>
            </a:r>
            <a:r>
              <a:rPr lang="en-US" altLang="en-US" dirty="0"/>
              <a:t>of authenticators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S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</a:t>
            </a:r>
            <a:r>
              <a:rPr lang="en-US" altLang="en-US" dirty="0"/>
              <a:t>→ </a:t>
            </a:r>
            <a:r>
              <a:rPr lang="en-US" altLang="en-US" i="1" dirty="0"/>
              <a:t>A</a:t>
            </a:r>
            <a:r>
              <a:rPr lang="en-US" altLang="en-US" dirty="0"/>
              <a:t>)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generating authenticators from messages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S </a:t>
            </a:r>
            <a:r>
              <a:rPr lang="en-US" altLang="en-US" dirty="0"/>
              <a:t>and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V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 </a:t>
            </a:r>
            <a:r>
              <a:rPr lang="en-US" altLang="en-US" dirty="0"/>
              <a:t>× </a:t>
            </a:r>
            <a:r>
              <a:rPr lang="en-US" altLang="en-US" i="1" dirty="0"/>
              <a:t>A</a:t>
            </a:r>
            <a:r>
              <a:rPr lang="en-US" altLang="en-US" dirty="0"/>
              <a:t>→ {true, false}). 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verifying authenticators on messages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V </a:t>
            </a:r>
            <a:r>
              <a:rPr lang="en-US" altLang="en-US" dirty="0"/>
              <a:t>and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24493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(Cont.)</a:t>
            </a:r>
            <a:endParaRPr lang="en-US" altLang="en-US" dirty="0"/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0338" y="1121005"/>
            <a:ext cx="7592527" cy="4867275"/>
          </a:xfrm>
        </p:spPr>
        <p:txBody>
          <a:bodyPr/>
          <a:lstStyle/>
          <a:p>
            <a:r>
              <a:rPr lang="en-US" altLang="en-US" dirty="0"/>
              <a:t>For a message </a:t>
            </a:r>
            <a:r>
              <a:rPr lang="en-US" altLang="en-US" i="1" dirty="0"/>
              <a:t>m</a:t>
            </a:r>
            <a:r>
              <a:rPr lang="en-US" altLang="en-US" dirty="0"/>
              <a:t>, a computer can generate an authenticator </a:t>
            </a:r>
            <a:r>
              <a:rPr lang="en-US" altLang="en-US" i="1" dirty="0"/>
              <a:t>a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A </a:t>
            </a:r>
            <a:r>
              <a:rPr lang="en-US" altLang="en-US" dirty="0"/>
              <a:t>such that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(</a:t>
            </a:r>
            <a:r>
              <a:rPr lang="en-US" altLang="en-US" i="1" dirty="0"/>
              <a:t>m, a</a:t>
            </a:r>
            <a:r>
              <a:rPr lang="en-US" altLang="en-US" dirty="0"/>
              <a:t>) =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 only if it possesses </a:t>
            </a:r>
            <a:r>
              <a:rPr lang="en-US" altLang="en-US" i="1" dirty="0"/>
              <a:t>k</a:t>
            </a:r>
            <a:endParaRPr lang="en-US" altLang="en-US" sz="800" dirty="0"/>
          </a:p>
          <a:p>
            <a:r>
              <a:rPr lang="en-US" altLang="en-US" dirty="0"/>
              <a:t>Thus, computer holding </a:t>
            </a:r>
            <a:r>
              <a:rPr lang="en-US" altLang="en-US" i="1" dirty="0"/>
              <a:t>k</a:t>
            </a:r>
            <a:r>
              <a:rPr lang="en-US" altLang="en-US" dirty="0"/>
              <a:t> can generate authenticators on messages so that any other computer possessing </a:t>
            </a:r>
            <a:r>
              <a:rPr lang="en-US" altLang="en-US" i="1" dirty="0"/>
              <a:t>k</a:t>
            </a:r>
            <a:r>
              <a:rPr lang="en-US" altLang="en-US" dirty="0"/>
              <a:t> can verify them</a:t>
            </a:r>
            <a:endParaRPr lang="en-US" altLang="en-US" sz="800" dirty="0"/>
          </a:p>
          <a:p>
            <a:r>
              <a:rPr lang="en-US" altLang="en-US" dirty="0"/>
              <a:t>Computer not holding </a:t>
            </a:r>
            <a:r>
              <a:rPr lang="en-US" altLang="en-US" i="1" dirty="0"/>
              <a:t>k</a:t>
            </a:r>
            <a:r>
              <a:rPr lang="en-US" altLang="en-US" dirty="0"/>
              <a:t> cannot generate authenticators on messages that can be verified using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</a:t>
            </a:r>
            <a:endParaRPr lang="en-US" altLang="en-US" sz="800" dirty="0"/>
          </a:p>
          <a:p>
            <a:r>
              <a:rPr lang="en-US" altLang="en-US" dirty="0"/>
              <a:t>Since authenticators are generally exposed (for example, they are sent on the network with the messages themselves), it must not be feasible to derive </a:t>
            </a:r>
            <a:r>
              <a:rPr lang="en-US" altLang="en-US" i="1" dirty="0"/>
              <a:t>k</a:t>
            </a:r>
            <a:r>
              <a:rPr lang="en-US" altLang="en-US" dirty="0"/>
              <a:t> from the authenticators</a:t>
            </a:r>
            <a:endParaRPr lang="en-US" altLang="en-US" sz="800" dirty="0"/>
          </a:p>
          <a:p>
            <a:r>
              <a:rPr lang="en-US" altLang="en-US" dirty="0"/>
              <a:t>Practically, if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(</a:t>
            </a:r>
            <a:r>
              <a:rPr lang="en-US" altLang="en-US" i="1" dirty="0" err="1"/>
              <a:t>m,a</a:t>
            </a:r>
            <a:r>
              <a:rPr lang="en-US" altLang="en-US" i="1" dirty="0"/>
              <a:t>) </a:t>
            </a:r>
            <a:r>
              <a:rPr lang="en-US" altLang="en-US" dirty="0"/>
              <a:t>=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altLang="en-US" dirty="0"/>
              <a:t>then we know </a:t>
            </a:r>
            <a:r>
              <a:rPr lang="en-US" altLang="en-US" i="1" dirty="0"/>
              <a:t>m</a:t>
            </a:r>
            <a:r>
              <a:rPr lang="en-US" altLang="en-US" dirty="0"/>
              <a:t> has not been modified and that send of message has </a:t>
            </a:r>
            <a:r>
              <a:rPr lang="en-US" altLang="en-US" i="1" dirty="0"/>
              <a:t>k</a:t>
            </a:r>
            <a:endParaRPr lang="en-US" altLang="en-US" i="1" dirty="0"/>
          </a:p>
          <a:p>
            <a:pPr lvl="1"/>
            <a:r>
              <a:rPr lang="en-US" altLang="en-US" dirty="0"/>
              <a:t>If we share </a:t>
            </a:r>
            <a:r>
              <a:rPr lang="en-US" altLang="en-US" i="1" dirty="0"/>
              <a:t>k</a:t>
            </a:r>
            <a:r>
              <a:rPr lang="en-US" altLang="en-US" dirty="0"/>
              <a:t> with only one entity, know where the message originated 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982597" y="244930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– Hash Functions</a:t>
            </a:r>
            <a:endParaRPr lang="en-US" altLang="en-US" dirty="0"/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5" y="1121199"/>
            <a:ext cx="7667755" cy="5081587"/>
          </a:xfrm>
        </p:spPr>
        <p:txBody>
          <a:bodyPr/>
          <a:lstStyle/>
          <a:p>
            <a:r>
              <a:rPr lang="en-US" altLang="en-US" dirty="0"/>
              <a:t>Basis of authentication</a:t>
            </a:r>
            <a:endParaRPr lang="en-US" altLang="en-US" sz="800" dirty="0"/>
          </a:p>
          <a:p>
            <a:r>
              <a:rPr lang="en-US" altLang="en-US" dirty="0"/>
              <a:t>Creates small, fixed-size block of data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digest</a:t>
            </a:r>
            <a:r>
              <a:rPr lang="en-US" altLang="en-US" dirty="0"/>
              <a:t>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hash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value</a:t>
            </a:r>
            <a:r>
              <a:rPr lang="en-US" altLang="en-US" b="1" dirty="0">
                <a:solidFill>
                  <a:srgbClr val="3366FF"/>
                </a:solidFill>
              </a:rPr>
              <a:t>)</a:t>
            </a:r>
            <a:r>
              <a:rPr lang="en-US" altLang="en-US" dirty="0"/>
              <a:t> from </a:t>
            </a:r>
            <a:r>
              <a:rPr lang="en-US" altLang="en-US" i="1" dirty="0"/>
              <a:t>m</a:t>
            </a:r>
            <a:endParaRPr lang="en-US" altLang="en-US" sz="800" i="1" dirty="0"/>
          </a:p>
          <a:p>
            <a:r>
              <a:rPr lang="en-US" altLang="en-US" dirty="0"/>
              <a:t>Hash Function </a:t>
            </a:r>
            <a:r>
              <a:rPr lang="en-US" altLang="en-US" i="1" dirty="0"/>
              <a:t>H </a:t>
            </a:r>
            <a:r>
              <a:rPr lang="en-US" altLang="en-US" dirty="0"/>
              <a:t>must be collision resistant on </a:t>
            </a:r>
            <a:r>
              <a:rPr lang="en-US" altLang="en-US" i="1" dirty="0"/>
              <a:t>m</a:t>
            </a:r>
            <a:endParaRPr lang="en-US" altLang="en-US" dirty="0"/>
          </a:p>
          <a:p>
            <a:pPr lvl="1"/>
            <a:r>
              <a:rPr lang="en-US" altLang="en-US" sz="1600" dirty="0"/>
              <a:t>Must be infeasible to find an </a:t>
            </a:r>
            <a:r>
              <a:rPr lang="en-US" altLang="en-US" sz="1600" i="1" dirty="0"/>
              <a:t>m</a:t>
            </a:r>
            <a:r>
              <a:rPr lang="ja-JP" altLang="en-US" sz="1600" i="1" dirty="0"/>
              <a:t>’</a:t>
            </a:r>
            <a:r>
              <a:rPr lang="en-US" altLang="ja-JP" sz="1600" dirty="0"/>
              <a:t> ≠ </a:t>
            </a:r>
            <a:r>
              <a:rPr lang="en-US" altLang="ja-JP" sz="1600" i="1" dirty="0"/>
              <a:t>m </a:t>
            </a:r>
            <a:r>
              <a:rPr lang="en-US" altLang="ja-JP" sz="1600" dirty="0"/>
              <a:t>such that </a:t>
            </a:r>
            <a:r>
              <a:rPr lang="en-US" altLang="ja-JP" sz="1600" i="1" dirty="0"/>
              <a:t>H</a:t>
            </a:r>
            <a:r>
              <a:rPr lang="en-US" altLang="ja-JP" sz="1600" dirty="0"/>
              <a:t>(</a:t>
            </a:r>
            <a:r>
              <a:rPr lang="en-US" altLang="ja-JP" sz="1600" i="1" dirty="0"/>
              <a:t>m</a:t>
            </a:r>
            <a:r>
              <a:rPr lang="en-US" altLang="ja-JP" sz="1600" dirty="0"/>
              <a:t>) = </a:t>
            </a:r>
            <a:r>
              <a:rPr lang="en-US" altLang="ja-JP" sz="1600" i="1" dirty="0"/>
              <a:t>H</a:t>
            </a:r>
            <a:r>
              <a:rPr lang="en-US" altLang="ja-JP" sz="1600" dirty="0"/>
              <a:t>(</a:t>
            </a:r>
            <a:r>
              <a:rPr lang="en-US" altLang="ja-JP" sz="1600" i="1" dirty="0"/>
              <a:t>m</a:t>
            </a:r>
            <a:r>
              <a:rPr lang="ja-JP" altLang="en-US" sz="1600" i="1" dirty="0"/>
              <a:t>’</a:t>
            </a:r>
            <a:r>
              <a:rPr lang="en-US" altLang="ja-JP" sz="1600" dirty="0"/>
              <a:t>)</a:t>
            </a:r>
            <a:endParaRPr lang="en-US" altLang="en-US" sz="800" dirty="0"/>
          </a:p>
          <a:p>
            <a:r>
              <a:rPr lang="en-US" altLang="en-US" dirty="0"/>
              <a:t>If</a:t>
            </a:r>
            <a:r>
              <a:rPr lang="en-US" altLang="en-US" i="1" dirty="0"/>
              <a:t> 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ja-JP" altLang="en-US" i="1" dirty="0"/>
              <a:t>’</a:t>
            </a:r>
            <a:r>
              <a:rPr lang="en-US" altLang="ja-JP" dirty="0"/>
              <a:t>), then </a:t>
            </a:r>
            <a:r>
              <a:rPr lang="en-US" altLang="ja-JP" i="1" dirty="0"/>
              <a:t>m</a:t>
            </a:r>
            <a:r>
              <a:rPr lang="en-US" altLang="ja-JP" dirty="0"/>
              <a:t> = </a:t>
            </a:r>
            <a:r>
              <a:rPr lang="en-US" altLang="ja-JP" i="1" dirty="0"/>
              <a:t>m</a:t>
            </a:r>
            <a:r>
              <a:rPr lang="ja-JP" altLang="en-US" dirty="0"/>
              <a:t>’</a:t>
            </a:r>
            <a:endParaRPr lang="en-US" altLang="ja-JP" dirty="0"/>
          </a:p>
          <a:p>
            <a:pPr lvl="1"/>
            <a:r>
              <a:rPr lang="en-US" altLang="en-US" sz="1600" dirty="0"/>
              <a:t>The message has not been modified</a:t>
            </a:r>
            <a:endParaRPr lang="en-US" altLang="en-US" sz="800" dirty="0"/>
          </a:p>
          <a:p>
            <a:r>
              <a:rPr lang="en-US" altLang="en-US" dirty="0"/>
              <a:t>Common message-digest functions include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MD5</a:t>
            </a:r>
            <a:r>
              <a:rPr lang="en-US" altLang="en-US" dirty="0"/>
              <a:t>, which produces a 128-bit hash, and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SHA-1</a:t>
            </a:r>
            <a:r>
              <a:rPr lang="en-US" altLang="en-US" dirty="0"/>
              <a:t>, which outputs a 160-bit hash</a:t>
            </a:r>
            <a:endParaRPr lang="en-US" altLang="en-US" sz="800" dirty="0"/>
          </a:p>
          <a:p>
            <a:r>
              <a:rPr lang="en-US" altLang="en-US" dirty="0"/>
              <a:t>Not useful as authenticators</a:t>
            </a:r>
            <a:endParaRPr lang="en-US" altLang="en-US" dirty="0"/>
          </a:p>
          <a:p>
            <a:pPr lvl="1"/>
            <a:r>
              <a:rPr lang="en-US" altLang="en-US" dirty="0"/>
              <a:t>For example </a:t>
            </a:r>
            <a:r>
              <a:rPr lang="en-US" altLang="en-US" i="1" dirty="0"/>
              <a:t>H(m</a:t>
            </a:r>
            <a:r>
              <a:rPr lang="en-US" altLang="en-US" dirty="0"/>
              <a:t>) can be sent with a message</a:t>
            </a:r>
            <a:endParaRPr lang="en-US" altLang="en-US" dirty="0"/>
          </a:p>
          <a:p>
            <a:pPr lvl="2"/>
            <a:r>
              <a:rPr lang="en-US" altLang="en-US" sz="1600" dirty="0"/>
              <a:t>But if </a:t>
            </a:r>
            <a:r>
              <a:rPr lang="en-US" altLang="en-US" sz="1600" i="1" dirty="0"/>
              <a:t>H</a:t>
            </a:r>
            <a:r>
              <a:rPr lang="en-US" altLang="en-US" sz="1600" dirty="0"/>
              <a:t> is known someone could modify </a:t>
            </a:r>
            <a:r>
              <a:rPr lang="en-US" altLang="en-US" sz="1600" i="1" dirty="0"/>
              <a:t>m</a:t>
            </a:r>
            <a:r>
              <a:rPr lang="en-US" altLang="en-US" sz="1600" dirty="0"/>
              <a:t> to </a:t>
            </a:r>
            <a:r>
              <a:rPr lang="en-US" altLang="en-US" sz="1600" i="1" dirty="0"/>
              <a:t>m’</a:t>
            </a:r>
            <a:r>
              <a:rPr lang="en-US" altLang="ja-JP" sz="1600" dirty="0"/>
              <a:t> and recompute </a:t>
            </a:r>
            <a:r>
              <a:rPr lang="en-US" altLang="ja-JP" sz="1600" i="1" dirty="0"/>
              <a:t>H(m</a:t>
            </a:r>
            <a:r>
              <a:rPr lang="en-US" altLang="en-US" sz="1600" i="1" dirty="0"/>
              <a:t>’</a:t>
            </a:r>
            <a:r>
              <a:rPr lang="en-US" altLang="ja-JP" sz="1600" i="1" dirty="0"/>
              <a:t>)</a:t>
            </a:r>
            <a:r>
              <a:rPr lang="en-US" altLang="ja-JP" sz="1600" dirty="0"/>
              <a:t> and modification not detected</a:t>
            </a:r>
            <a:endParaRPr lang="en-US" altLang="ja-JP" sz="1600" dirty="0"/>
          </a:p>
          <a:p>
            <a:pPr lvl="2"/>
            <a:r>
              <a:rPr lang="en-US" altLang="en-US" sz="1600" dirty="0"/>
              <a:t>So must authenticate </a:t>
            </a:r>
            <a:r>
              <a:rPr lang="en-US" altLang="en-US" sz="1600" i="1" dirty="0"/>
              <a:t>H(m)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401214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- MAC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387" y="1118570"/>
            <a:ext cx="7661793" cy="4530725"/>
          </a:xfrm>
        </p:spPr>
        <p:txBody>
          <a:bodyPr/>
          <a:lstStyle/>
          <a:p>
            <a:r>
              <a:rPr lang="en-US" altLang="en-US" dirty="0"/>
              <a:t>Symmetric encryption used in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me</a:t>
            </a:r>
            <a:r>
              <a:rPr lang="en-US" altLang="en-US" b="1" dirty="0">
                <a:solidFill>
                  <a:srgbClr val="3366FF"/>
                </a:solidFill>
              </a:rPr>
              <a:t>ss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age-authentication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MAC</a:t>
            </a:r>
            <a:r>
              <a:rPr lang="en-US" altLang="en-US" dirty="0"/>
              <a:t>) authentication algorithm</a:t>
            </a:r>
            <a:endParaRPr lang="en-US" altLang="en-US" dirty="0"/>
          </a:p>
          <a:p>
            <a:r>
              <a:rPr lang="en-US" altLang="en-US" dirty="0"/>
              <a:t>Cryptographic checksum generated from message using secret key</a:t>
            </a:r>
            <a:endParaRPr lang="en-US" altLang="en-US" dirty="0"/>
          </a:p>
          <a:p>
            <a:pPr lvl="1"/>
            <a:r>
              <a:rPr lang="en-US" altLang="en-US" dirty="0"/>
              <a:t>Can securely authenticate short values </a:t>
            </a:r>
            <a:endParaRPr lang="en-US" altLang="en-US" dirty="0"/>
          </a:p>
          <a:p>
            <a:r>
              <a:rPr lang="en-US" altLang="en-US" dirty="0"/>
              <a:t>If used to authenticate </a:t>
            </a:r>
            <a:r>
              <a:rPr lang="en-US" altLang="en-US" i="1" dirty="0"/>
              <a:t>H(m)</a:t>
            </a:r>
            <a:r>
              <a:rPr lang="en-US" altLang="en-US" dirty="0"/>
              <a:t> for an </a:t>
            </a:r>
            <a:r>
              <a:rPr lang="en-US" altLang="en-US" i="1" dirty="0"/>
              <a:t>H</a:t>
            </a:r>
            <a:r>
              <a:rPr lang="en-US" altLang="en-US" dirty="0"/>
              <a:t> that is collision resistant, then obtain a way to securely authenticate long message by hashing them first</a:t>
            </a:r>
            <a:endParaRPr lang="en-US" altLang="en-US" dirty="0"/>
          </a:p>
          <a:p>
            <a:r>
              <a:rPr lang="en-US" altLang="en-US" dirty="0"/>
              <a:t>Note that </a:t>
            </a:r>
            <a:r>
              <a:rPr lang="en-US" altLang="en-US" i="1" dirty="0"/>
              <a:t>k </a:t>
            </a:r>
            <a:r>
              <a:rPr lang="en-US" altLang="en-US" dirty="0"/>
              <a:t>is needed to compute both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, so anyone able to compute one can compute the other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943523" y="24788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– Digital Signature</a:t>
            </a:r>
            <a:endParaRPr lang="en-US" altLang="en-US" dirty="0"/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0762" y="1112679"/>
            <a:ext cx="7767373" cy="5202238"/>
          </a:xfrm>
        </p:spPr>
        <p:txBody>
          <a:bodyPr/>
          <a:lstStyle/>
          <a:p>
            <a:r>
              <a:rPr lang="en-US" altLang="en-US" dirty="0"/>
              <a:t>Based on asymmetric keys and digital signature algorithm</a:t>
            </a:r>
            <a:endParaRPr lang="en-US" altLang="en-US" dirty="0"/>
          </a:p>
          <a:p>
            <a:r>
              <a:rPr lang="en-US" altLang="en-US" dirty="0"/>
              <a:t>Authenticators produced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digital signatures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Very useful – </a:t>
            </a:r>
            <a:r>
              <a:rPr lang="en-US" altLang="en-US" b="1" i="1" dirty="0"/>
              <a:t>anyone</a:t>
            </a:r>
            <a:r>
              <a:rPr lang="en-US" altLang="en-US" dirty="0"/>
              <a:t> can verify authenticity of a message</a:t>
            </a:r>
            <a:endParaRPr lang="en-US" altLang="en-US" dirty="0"/>
          </a:p>
          <a:p>
            <a:r>
              <a:rPr lang="en-US" altLang="en-US" dirty="0"/>
              <a:t>In a digital-signature algorithm, computationally infeasible to derive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 from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endParaRPr lang="en-US" altLang="en-US" dirty="0"/>
          </a:p>
          <a:p>
            <a:pPr lvl="1"/>
            <a:r>
              <a:rPr lang="en-US" altLang="en-US" i="1" dirty="0"/>
              <a:t>V </a:t>
            </a:r>
            <a:r>
              <a:rPr lang="en-US" altLang="en-US" dirty="0"/>
              <a:t>is a one-way function</a:t>
            </a:r>
            <a:endParaRPr lang="en-US" altLang="en-US" dirty="0"/>
          </a:p>
          <a:p>
            <a:pPr lvl="1"/>
            <a:r>
              <a:rPr lang="en-US" altLang="en-US" dirty="0"/>
              <a:t>Thus,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is the public key and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is the private key</a:t>
            </a:r>
            <a:endParaRPr lang="en-US" altLang="en-US" dirty="0"/>
          </a:p>
          <a:p>
            <a:r>
              <a:rPr lang="en-US" altLang="en-US" dirty="0"/>
              <a:t>Consider the RSA digital-signature algorithm</a:t>
            </a:r>
            <a:endParaRPr lang="en-US" altLang="en-US" dirty="0"/>
          </a:p>
          <a:p>
            <a:pPr lvl="1"/>
            <a:r>
              <a:rPr lang="en-US" altLang="en-US" dirty="0"/>
              <a:t>Similar to the RSA encryption algorithm, but the key use is reversed</a:t>
            </a:r>
            <a:endParaRPr lang="en-US" altLang="en-US" dirty="0"/>
          </a:p>
          <a:p>
            <a:pPr lvl="1"/>
            <a:r>
              <a:rPr lang="en-US" altLang="en-US" dirty="0"/>
              <a:t>Digital signature of message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ks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s</a:t>
            </a:r>
            <a:r>
              <a:rPr lang="en-US" altLang="en-US" i="1" baseline="12000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endParaRPr lang="en-US" altLang="en-US" dirty="0"/>
          </a:p>
          <a:p>
            <a:pPr lvl="1"/>
            <a:r>
              <a:rPr lang="en-US" altLang="en-US" dirty="0"/>
              <a:t>The key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again is a pair (</a:t>
            </a:r>
            <a:r>
              <a:rPr lang="en-US" altLang="en-US" i="1" dirty="0"/>
              <a:t>d, N</a:t>
            </a:r>
            <a:r>
              <a:rPr lang="en-US" altLang="en-US" dirty="0"/>
              <a:t>), where </a:t>
            </a:r>
            <a:r>
              <a:rPr lang="en-US" altLang="en-US" i="1" dirty="0"/>
              <a:t>N </a:t>
            </a:r>
            <a:r>
              <a:rPr lang="en-US" altLang="en-US" dirty="0"/>
              <a:t>is the product of two large, randomly chosen prime numbers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</a:t>
            </a:r>
            <a:endParaRPr lang="en-US" altLang="en-US" i="1" dirty="0"/>
          </a:p>
          <a:p>
            <a:pPr lvl="1"/>
            <a:r>
              <a:rPr lang="en-US" altLang="en-US" dirty="0"/>
              <a:t>Verification algorithm is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kv</a:t>
            </a:r>
            <a:r>
              <a:rPr lang="en-US" altLang="en-US" dirty="0"/>
              <a:t>(</a:t>
            </a:r>
            <a:r>
              <a:rPr lang="en-US" altLang="en-US" i="1" dirty="0"/>
              <a:t>m, a</a:t>
            </a:r>
            <a:r>
              <a:rPr lang="en-US" altLang="en-US" dirty="0"/>
              <a:t>)    (</a:t>
            </a:r>
            <a:r>
              <a:rPr lang="en-US" altLang="en-US" i="1" dirty="0" err="1"/>
              <a:t>a</a:t>
            </a:r>
            <a:r>
              <a:rPr lang="en-US" altLang="en-US" i="1" baseline="30000" dirty="0" err="1"/>
              <a:t>k</a:t>
            </a:r>
            <a:r>
              <a:rPr lang="en-US" altLang="en-US" i="1" baseline="10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 </a:t>
            </a:r>
            <a:r>
              <a:rPr lang="en-US" altLang="en-US" dirty="0"/>
              <a:t>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))</a:t>
            </a:r>
            <a:endParaRPr lang="en-US" altLang="en-US" dirty="0"/>
          </a:p>
          <a:p>
            <a:pPr lvl="2"/>
            <a:r>
              <a:rPr lang="en-US" altLang="en-US" dirty="0"/>
              <a:t>Where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satisfies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mod (</a:t>
            </a:r>
            <a:r>
              <a:rPr lang="en-US" altLang="en-US" i="1" dirty="0"/>
              <a:t>p </a:t>
            </a:r>
            <a:r>
              <a:rPr lang="en-US" altLang="en-US" dirty="0"/>
              <a:t>− 1)(</a:t>
            </a:r>
            <a:r>
              <a:rPr lang="en-US" altLang="en-US" i="1" dirty="0"/>
              <a:t>q </a:t>
            </a:r>
            <a:r>
              <a:rPr lang="en-US" altLang="en-US" dirty="0"/>
              <a:t>− 1) = 1</a:t>
            </a:r>
            <a:endParaRPr lang="en-US" altLang="en-US" dirty="0"/>
          </a:p>
        </p:txBody>
      </p:sp>
      <p:pic>
        <p:nvPicPr>
          <p:cNvPr id="74755" name="Picture 1" descr="Screen Shot 2013-02-18 at 6.47.48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5391150"/>
            <a:ext cx="127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879829" y="249308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(Cont.)</a:t>
            </a:r>
            <a:endParaRPr lang="en-US" altLang="en-US" dirty="0"/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110668"/>
            <a:ext cx="7713662" cy="4530725"/>
          </a:xfrm>
        </p:spPr>
        <p:txBody>
          <a:bodyPr/>
          <a:lstStyle/>
          <a:p>
            <a:r>
              <a:rPr lang="en-US" altLang="en-US" dirty="0"/>
              <a:t>Why authentication if a subset of encryption?</a:t>
            </a:r>
            <a:endParaRPr lang="en-US" altLang="en-US" dirty="0"/>
          </a:p>
          <a:p>
            <a:pPr lvl="1"/>
            <a:r>
              <a:rPr lang="en-US" altLang="en-US" dirty="0"/>
              <a:t>Fewer computations (except for RSA digital signatures)</a:t>
            </a:r>
            <a:endParaRPr lang="en-US" altLang="en-US" dirty="0"/>
          </a:p>
          <a:p>
            <a:pPr lvl="1"/>
            <a:r>
              <a:rPr lang="en-US" altLang="en-US" dirty="0"/>
              <a:t>Authenticator usually shorter than message</a:t>
            </a:r>
            <a:endParaRPr lang="en-US" altLang="en-US" dirty="0"/>
          </a:p>
          <a:p>
            <a:pPr lvl="1"/>
            <a:r>
              <a:rPr lang="en-US" altLang="en-US" dirty="0"/>
              <a:t>Sometimes want authentication but not confidentiality</a:t>
            </a:r>
            <a:endParaRPr lang="en-US" altLang="en-US" dirty="0"/>
          </a:p>
          <a:p>
            <a:pPr lvl="2"/>
            <a:r>
              <a:rPr lang="en-US" altLang="en-US" dirty="0"/>
              <a:t>Signed patches et al</a:t>
            </a:r>
            <a:endParaRPr lang="en-US" altLang="en-US" dirty="0"/>
          </a:p>
          <a:p>
            <a:pPr lvl="1"/>
            <a:r>
              <a:rPr lang="en-US" altLang="en-US" dirty="0"/>
              <a:t>Can be basis for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non-repudiation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493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Key Distribution</a:t>
            </a:r>
            <a:endParaRPr lang="en-US" altLang="en-US" dirty="0"/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109239"/>
            <a:ext cx="7677085" cy="4530725"/>
          </a:xfrm>
        </p:spPr>
        <p:txBody>
          <a:bodyPr/>
          <a:lstStyle/>
          <a:p>
            <a:r>
              <a:rPr lang="en-US" altLang="en-US" dirty="0"/>
              <a:t>Delivery of symmetric key is huge challenge</a:t>
            </a:r>
            <a:endParaRPr lang="en-US" altLang="en-US" dirty="0"/>
          </a:p>
          <a:p>
            <a:pPr lvl="1"/>
            <a:r>
              <a:rPr lang="en-US" altLang="en-US" dirty="0"/>
              <a:t>Sometimes done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out-of-band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Asymmetric keys can proliferate – stored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Even asymmetric key distribution needs care – man-in-the-middle attack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747678" y="247880"/>
            <a:ext cx="78787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Digital Certificates</a:t>
            </a:r>
            <a:endParaRPr lang="en-US" altLang="en-US" dirty="0"/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376" y="1111250"/>
            <a:ext cx="7645142" cy="4530725"/>
          </a:xfrm>
        </p:spPr>
        <p:txBody>
          <a:bodyPr/>
          <a:lstStyle/>
          <a:p>
            <a:r>
              <a:rPr lang="en-US" altLang="en-US" dirty="0"/>
              <a:t>Proof of who or what owns a public key</a:t>
            </a:r>
            <a:endParaRPr lang="en-US" altLang="en-US" dirty="0"/>
          </a:p>
          <a:p>
            <a:r>
              <a:rPr lang="en-US" altLang="en-US" dirty="0"/>
              <a:t>Public key digitally signed a trusted party</a:t>
            </a:r>
            <a:endParaRPr lang="en-US" altLang="en-US" dirty="0"/>
          </a:p>
          <a:p>
            <a:r>
              <a:rPr lang="en-US" altLang="en-US" dirty="0"/>
              <a:t>Trusted party receives proof of identification from entity and certifies that public key belongs to entity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Certificate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authority</a:t>
            </a:r>
            <a:r>
              <a:rPr lang="en-US" altLang="en-US" dirty="0"/>
              <a:t> are trusted party – their public keys included with web browser distributions</a:t>
            </a:r>
            <a:endParaRPr lang="en-US" altLang="en-US" dirty="0"/>
          </a:p>
          <a:p>
            <a:pPr lvl="1"/>
            <a:r>
              <a:rPr lang="en-US" altLang="en-US" dirty="0"/>
              <a:t>They vouch for other authorities via digitally signing their keys, and so on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781827" y="393411"/>
            <a:ext cx="7869238" cy="4857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Man-in-the-middle Attack on </a:t>
            </a:r>
            <a:br>
              <a:rPr lang="en-US" altLang="en-US" sz="2800" dirty="0"/>
            </a:br>
            <a:r>
              <a:rPr lang="en-US" altLang="en-US" sz="2800" dirty="0"/>
              <a:t>Asymmetric Cryptography</a:t>
            </a:r>
            <a:endParaRPr lang="en-US" altLang="en-US" sz="2800" dirty="0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8" y="1090613"/>
            <a:ext cx="4392612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 noChangeArrowheads="1"/>
          </p:cNvSpPr>
          <p:nvPr>
            <p:ph type="title"/>
          </p:nvPr>
        </p:nvSpPr>
        <p:spPr>
          <a:xfrm>
            <a:off x="860425" y="248885"/>
            <a:ext cx="7826375" cy="576263"/>
          </a:xfrm>
        </p:spPr>
        <p:txBody>
          <a:bodyPr/>
          <a:lstStyle/>
          <a:p>
            <a:r>
              <a:rPr lang="en-US" altLang="en-US" dirty="0"/>
              <a:t>Implementation of Cryptography</a:t>
            </a:r>
            <a:endParaRPr lang="en-US" altLang="en-US" dirty="0"/>
          </a:p>
        </p:txBody>
      </p:sp>
      <p:sp>
        <p:nvSpPr>
          <p:cNvPr id="8499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47108" y="1163637"/>
            <a:ext cx="3485374" cy="4530725"/>
          </a:xfrm>
        </p:spPr>
        <p:txBody>
          <a:bodyPr/>
          <a:lstStyle/>
          <a:p>
            <a:r>
              <a:rPr lang="en-US" altLang="en-US" dirty="0"/>
              <a:t>Can be done at various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layers</a:t>
            </a:r>
            <a:r>
              <a:rPr lang="en-US" altLang="en-US" dirty="0"/>
              <a:t> of ISO Reference Model</a:t>
            </a:r>
            <a:endParaRPr lang="en-US" altLang="en-US" dirty="0"/>
          </a:p>
          <a:p>
            <a:pPr lvl="1"/>
            <a:r>
              <a:rPr lang="en-US" altLang="en-US" dirty="0"/>
              <a:t>SSL at the Transport layer</a:t>
            </a:r>
            <a:endParaRPr lang="en-US" altLang="en-US" dirty="0"/>
          </a:p>
          <a:p>
            <a:pPr lvl="1"/>
            <a:r>
              <a:rPr lang="en-US" altLang="en-US" dirty="0"/>
              <a:t>Network layer is typically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IPSec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IKE</a:t>
            </a:r>
            <a:r>
              <a:rPr lang="en-US" altLang="en-US" sz="1600" dirty="0"/>
              <a:t> for key exchange</a:t>
            </a:r>
            <a:endParaRPr lang="en-US" altLang="en-US" sz="1600" dirty="0"/>
          </a:p>
          <a:p>
            <a:pPr lvl="2"/>
            <a:r>
              <a:rPr lang="en-US" altLang="en-US" sz="1600" dirty="0"/>
              <a:t>Basis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Networks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VPNs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Why not just at lowest level?</a:t>
            </a:r>
            <a:endParaRPr lang="en-US" altLang="en-US" dirty="0"/>
          </a:p>
          <a:p>
            <a:pPr lvl="1"/>
            <a:r>
              <a:rPr lang="en-US" altLang="en-US" dirty="0"/>
              <a:t>Sometimes need more knowledge than available at low levels</a:t>
            </a:r>
            <a:endParaRPr lang="en-US" altLang="en-US" dirty="0"/>
          </a:p>
          <a:p>
            <a:pPr lvl="2"/>
            <a:r>
              <a:rPr lang="en-US" altLang="en-US" sz="1600" dirty="0"/>
              <a:t>i.e., User authentication</a:t>
            </a:r>
            <a:endParaRPr lang="en-US" altLang="en-US" sz="1600" dirty="0"/>
          </a:p>
          <a:p>
            <a:pPr lvl="2"/>
            <a:r>
              <a:rPr lang="en-US" altLang="en-US" sz="1600" dirty="0"/>
              <a:t>i.e., e-mail delivery</a:t>
            </a:r>
            <a:endParaRPr lang="en-US" altLang="en-US" sz="1600" dirty="0"/>
          </a:p>
        </p:txBody>
      </p:sp>
      <p:pic>
        <p:nvPicPr>
          <p:cNvPr id="84995" name="Picture 3" descr="Screen shot 2011-04-30 at 8.45.55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37" y="906463"/>
            <a:ext cx="1978025" cy="587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Box 4"/>
          <p:cNvSpPr txBox="1">
            <a:spLocks noChangeArrowheads="1"/>
          </p:cNvSpPr>
          <p:nvPr/>
        </p:nvSpPr>
        <p:spPr bwMode="auto">
          <a:xfrm>
            <a:off x="6338888" y="4497388"/>
            <a:ext cx="20510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00">
                <a:latin typeface="Verdana" panose="020B0604030504040204" pitchFamily="34" charset="0"/>
              </a:rPr>
              <a:t>Source: http://en.wikipedia.org/wiki/OSI_model</a:t>
            </a:r>
            <a:endParaRPr kumimoji="0" lang="en-US" altLang="en-US" sz="800">
              <a:latin typeface="Verdana" panose="020B0604030504040204" pitchFamily="34" charset="0"/>
            </a:endParaRPr>
          </a:p>
        </p:txBody>
      </p:sp>
      <p:pic>
        <p:nvPicPr>
          <p:cNvPr id="84997" name="Picture 5" descr="Screen shot 2011-04-30 at 8.46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600" y="979488"/>
            <a:ext cx="2613025" cy="341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763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 Example - TLS</a:t>
            </a:r>
            <a:endParaRPr lang="en-US" altLang="en-US" dirty="0"/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994" y="1182529"/>
            <a:ext cx="7574871" cy="5221288"/>
          </a:xfrm>
        </p:spPr>
        <p:txBody>
          <a:bodyPr/>
          <a:lstStyle/>
          <a:p>
            <a:r>
              <a:rPr lang="en-US" altLang="en-US" dirty="0"/>
              <a:t>Insertion of cryptography at one layer of the ISO network model (the transport layer)</a:t>
            </a:r>
            <a:endParaRPr lang="en-US" altLang="en-US" dirty="0"/>
          </a:p>
          <a:p>
            <a:r>
              <a:rPr lang="en-US" altLang="en-US" dirty="0"/>
              <a:t>SSL – Secure Socket Layer (also called TLS)</a:t>
            </a:r>
            <a:endParaRPr lang="en-US" altLang="en-US" dirty="0"/>
          </a:p>
          <a:p>
            <a:r>
              <a:rPr lang="en-US" altLang="en-US" dirty="0"/>
              <a:t>Cryptographic protocol that limits two computers to only exchange messages with each other</a:t>
            </a:r>
            <a:endParaRPr lang="en-US" altLang="en-US" dirty="0"/>
          </a:p>
          <a:p>
            <a:pPr lvl="1"/>
            <a:r>
              <a:rPr lang="en-US" altLang="en-US" dirty="0"/>
              <a:t>Very complicated, with many variations</a:t>
            </a:r>
            <a:endParaRPr lang="en-US" altLang="en-US" dirty="0"/>
          </a:p>
          <a:p>
            <a:r>
              <a:rPr lang="en-US" altLang="en-US" dirty="0"/>
              <a:t>Used between web servers and browsers for secure communication (credit card numbers)</a:t>
            </a:r>
            <a:endParaRPr lang="en-US" altLang="en-US" dirty="0"/>
          </a:p>
          <a:p>
            <a:r>
              <a:rPr lang="en-US" altLang="en-US" dirty="0"/>
              <a:t>The server is verified with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certificate</a:t>
            </a:r>
            <a:r>
              <a:rPr lang="en-US" altLang="en-US" b="1" dirty="0"/>
              <a:t> </a:t>
            </a:r>
            <a:r>
              <a:rPr lang="en-US" altLang="en-US" dirty="0"/>
              <a:t>assuring client is talking to correct server</a:t>
            </a:r>
            <a:endParaRPr lang="en-US" altLang="en-US" dirty="0"/>
          </a:p>
          <a:p>
            <a:r>
              <a:rPr lang="en-US" altLang="en-US" dirty="0"/>
              <a:t>Asymmetric cryptography used to establish a secure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 key </a:t>
            </a:r>
            <a:r>
              <a:rPr lang="en-US" altLang="en-US" dirty="0"/>
              <a:t>(symmetric encryption) for bulk of communication during session</a:t>
            </a:r>
            <a:endParaRPr lang="en-US" altLang="en-US" dirty="0"/>
          </a:p>
          <a:p>
            <a:r>
              <a:rPr lang="en-US" altLang="en-US" dirty="0"/>
              <a:t>Communication between each computer then uses symmetric key cryptography</a:t>
            </a:r>
            <a:endParaRPr lang="en-US" altLang="en-US" dirty="0"/>
          </a:p>
          <a:p>
            <a:r>
              <a:rPr lang="en-US" altLang="en-US" dirty="0"/>
              <a:t>More details in textbook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292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User Authentication</a:t>
            </a:r>
            <a:endParaRPr lang="en-US" altLang="en-US" dirty="0"/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96963"/>
            <a:ext cx="78390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Crucial to identify user correctly, as protection systems depend on user ID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User identity most often established through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passwords</a:t>
            </a:r>
            <a:r>
              <a:rPr lang="en-US" altLang="en-US" dirty="0"/>
              <a:t>, can be considered a special case of either keys or capabilities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Passwords must be kept secret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Frequent change of passwords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History to avoid repeats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non-guessable</a:t>
            </a:r>
            <a:r>
              <a:rPr lang="ja-JP" altLang="en-US" dirty="0"/>
              <a:t>”</a:t>
            </a:r>
            <a:r>
              <a:rPr lang="en-US" altLang="ja-JP" dirty="0"/>
              <a:t> passwords</a:t>
            </a:r>
            <a:endParaRPr lang="en-US" altLang="ja-JP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 all invalid access attempts (but not the passwords themselves)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Unauthorized transfer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Passwords may also either be encrypted or allowed to be used only once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Does encrypting passwords solve the exposure problem?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Might solve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sniffing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shoulder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surfing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Trojan horse keystroke logger</a:t>
            </a:r>
            <a:endParaRPr lang="en-US" altLang="en-US" sz="1600" dirty="0"/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How are passwords stored at authenticating site?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 noChangeArrowheads="1"/>
          </p:cNvSpPr>
          <p:nvPr>
            <p:ph type="title"/>
          </p:nvPr>
        </p:nvSpPr>
        <p:spPr>
          <a:xfrm>
            <a:off x="242595" y="248303"/>
            <a:ext cx="8229600" cy="576263"/>
          </a:xfrm>
        </p:spPr>
        <p:txBody>
          <a:bodyPr/>
          <a:lstStyle/>
          <a:p>
            <a:r>
              <a:rPr lang="en-US" altLang="en-US" dirty="0"/>
              <a:t>Passwords </a:t>
            </a:r>
            <a:endParaRPr lang="en-US" altLang="en-US" dirty="0"/>
          </a:p>
        </p:txBody>
      </p:sp>
      <p:sp>
        <p:nvSpPr>
          <p:cNvPr id="911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06450" y="1077913"/>
            <a:ext cx="7859713" cy="5076825"/>
          </a:xfrm>
        </p:spPr>
        <p:txBody>
          <a:bodyPr/>
          <a:lstStyle/>
          <a:p>
            <a:r>
              <a:rPr lang="en-US" altLang="en-US" sz="1600" dirty="0"/>
              <a:t>Encrypt to avoid having to keep secret</a:t>
            </a:r>
            <a:endParaRPr lang="en-US" altLang="en-US" sz="1600" dirty="0"/>
          </a:p>
          <a:p>
            <a:pPr lvl="1"/>
            <a:r>
              <a:rPr lang="en-US" altLang="en-US" sz="1600" dirty="0"/>
              <a:t>But keep secret anyway (i.e. Unix uses superuser-only readably file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/shadow</a:t>
            </a:r>
            <a:r>
              <a:rPr lang="en-US" altLang="en-US" sz="1600" dirty="0"/>
              <a:t>)</a:t>
            </a:r>
            <a:endParaRPr lang="en-US" altLang="en-US" sz="1600" dirty="0"/>
          </a:p>
          <a:p>
            <a:pPr lvl="1"/>
            <a:r>
              <a:rPr lang="en-US" altLang="en-US" sz="1600" dirty="0"/>
              <a:t>Use algorithm easy to compute but difficult to invert</a:t>
            </a:r>
            <a:endParaRPr lang="en-US" altLang="en-US" sz="1600" dirty="0"/>
          </a:p>
          <a:p>
            <a:pPr lvl="1"/>
            <a:r>
              <a:rPr lang="en-US" altLang="en-US" sz="1600" dirty="0"/>
              <a:t>Only encrypted password stored, never decrypted</a:t>
            </a:r>
            <a:endParaRPr lang="en-US" altLang="en-US" sz="1600" dirty="0"/>
          </a:p>
          <a:p>
            <a:pPr lvl="1"/>
            <a:r>
              <a:rPr lang="en-US" altLang="en-US" sz="1600" dirty="0"/>
              <a:t>Add </a:t>
            </a:r>
            <a:r>
              <a:rPr lang="ja-JP" altLang="en-US" sz="1600" dirty="0"/>
              <a:t>“</a:t>
            </a:r>
            <a:r>
              <a:rPr lang="en-US" altLang="ja-JP" sz="1600" dirty="0"/>
              <a:t>salt</a:t>
            </a:r>
            <a:r>
              <a:rPr lang="ja-JP" altLang="en-US" sz="1600" dirty="0"/>
              <a:t>”</a:t>
            </a:r>
            <a:r>
              <a:rPr lang="en-US" altLang="ja-JP" sz="1600" dirty="0"/>
              <a:t> to avoid the same password being encrypted to the same value</a:t>
            </a:r>
            <a:endParaRPr lang="en-US" altLang="en-US" sz="1600" dirty="0"/>
          </a:p>
          <a:p>
            <a:r>
              <a:rPr lang="en-US" altLang="en-US" sz="1600" dirty="0"/>
              <a:t>One-time passwords</a:t>
            </a:r>
            <a:endParaRPr lang="en-US" altLang="en-US" sz="1600" dirty="0"/>
          </a:p>
          <a:p>
            <a:pPr lvl="1"/>
            <a:r>
              <a:rPr lang="en-US" altLang="en-US" sz="1600" dirty="0"/>
              <a:t>Use a function based on a seed to compute a password, both user and computer</a:t>
            </a:r>
            <a:endParaRPr lang="en-US" altLang="en-US" sz="1600" dirty="0"/>
          </a:p>
          <a:p>
            <a:pPr lvl="1"/>
            <a:r>
              <a:rPr lang="en-US" altLang="en-US" sz="1600" dirty="0"/>
              <a:t>Hardware device / calculator / key fob to generate the password</a:t>
            </a:r>
            <a:endParaRPr lang="en-US" altLang="en-US" sz="1600" dirty="0"/>
          </a:p>
          <a:p>
            <a:pPr lvl="2"/>
            <a:r>
              <a:rPr lang="en-US" altLang="en-US" sz="1600" dirty="0"/>
              <a:t>Changes very frequently</a:t>
            </a:r>
            <a:endParaRPr lang="en-US" altLang="en-US" sz="1600" dirty="0"/>
          </a:p>
          <a:p>
            <a:r>
              <a:rPr lang="en-US" altLang="en-US" sz="1600" dirty="0"/>
              <a:t>Biometrics</a:t>
            </a:r>
            <a:endParaRPr lang="en-US" altLang="en-US" sz="1600" dirty="0"/>
          </a:p>
          <a:p>
            <a:pPr lvl="1"/>
            <a:r>
              <a:rPr lang="en-US" altLang="en-US" sz="1600" dirty="0"/>
              <a:t>Some physical attribute (fingerprint, hand scan)</a:t>
            </a:r>
            <a:endParaRPr lang="en-US" altLang="en-US" sz="1600" dirty="0"/>
          </a:p>
          <a:p>
            <a:r>
              <a:rPr lang="en-US" altLang="en-US" sz="1600" dirty="0"/>
              <a:t>Multi-factor authentication</a:t>
            </a:r>
            <a:endParaRPr lang="en-US" altLang="en-US" sz="1600" dirty="0"/>
          </a:p>
          <a:p>
            <a:pPr lvl="1"/>
            <a:r>
              <a:rPr lang="en-US" altLang="en-US" sz="1600" dirty="0"/>
              <a:t>Need two or more factors for authentication</a:t>
            </a:r>
            <a:endParaRPr lang="en-US" altLang="en-US" sz="1600" dirty="0"/>
          </a:p>
          <a:p>
            <a:pPr lvl="2"/>
            <a:r>
              <a:rPr lang="en-US" altLang="en-US" sz="1600" dirty="0"/>
              <a:t>i.e., USB </a:t>
            </a:r>
            <a:r>
              <a:rPr lang="ja-JP" altLang="en-US" sz="1600" dirty="0"/>
              <a:t>“</a:t>
            </a:r>
            <a:r>
              <a:rPr lang="en-US" altLang="ja-JP" sz="1600" dirty="0"/>
              <a:t>dongle</a:t>
            </a:r>
            <a:r>
              <a:rPr lang="ja-JP" altLang="en-US" sz="1600" dirty="0"/>
              <a:t>”</a:t>
            </a:r>
            <a:r>
              <a:rPr lang="en-US" altLang="ja-JP" sz="1600" dirty="0"/>
              <a:t>, biometric measure, and password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 noChangeArrowheads="1"/>
          </p:cNvSpPr>
          <p:nvPr>
            <p:ph type="title"/>
          </p:nvPr>
        </p:nvSpPr>
        <p:spPr>
          <a:xfrm>
            <a:off x="429207" y="276291"/>
            <a:ext cx="8229600" cy="576263"/>
          </a:xfrm>
        </p:spPr>
        <p:txBody>
          <a:bodyPr/>
          <a:lstStyle/>
          <a:p>
            <a:r>
              <a:rPr lang="en-US" altLang="en-US" dirty="0"/>
              <a:t>Passwords (Cont.) </a:t>
            </a:r>
            <a:endParaRPr lang="en-US" altLang="en-US" dirty="0"/>
          </a:p>
        </p:txBody>
      </p:sp>
      <p:pic>
        <p:nvPicPr>
          <p:cNvPr id="92162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9163" y="1470025"/>
            <a:ext cx="7632700" cy="4292600"/>
          </a:xfr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47880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Implementing Security Defenses</a:t>
            </a:r>
            <a:endParaRPr lang="en-US" altLang="en-US" dirty="0"/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55688"/>
            <a:ext cx="7750175" cy="48260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depth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is most common security theory – multiple layers of security</a:t>
            </a:r>
            <a:endParaRPr lang="en-US" altLang="en-US" sz="16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policy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describes what is being secured</a:t>
            </a:r>
            <a:endParaRPr lang="en-US" altLang="en-US" sz="1600" dirty="0"/>
          </a:p>
          <a:p>
            <a:r>
              <a:rPr lang="en-US" altLang="en-US" sz="1600" dirty="0"/>
              <a:t>Vulnerability assessment compares real state of system / network compared to security policy</a:t>
            </a:r>
            <a:endParaRPr lang="en-US" altLang="en-US" sz="1600" dirty="0"/>
          </a:p>
          <a:p>
            <a:r>
              <a:rPr lang="en-US" altLang="en-US" sz="1600" dirty="0"/>
              <a:t>Intrusion detection endeavors to detect attempted or successful intrusions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Signature-based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detection spots known bad patterns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Anomaly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detection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spots differences from normal behavior</a:t>
            </a:r>
            <a:endParaRPr lang="en-US" altLang="en-US" sz="1600" dirty="0"/>
          </a:p>
          <a:p>
            <a:pPr lvl="2"/>
            <a:r>
              <a:rPr lang="en-US" altLang="en-US" sz="1600" dirty="0"/>
              <a:t>Can detect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zero-day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attacks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False-positives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false-negatives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 problem</a:t>
            </a:r>
            <a:endParaRPr lang="en-US" altLang="en-US" sz="1600" dirty="0"/>
          </a:p>
          <a:p>
            <a:r>
              <a:rPr lang="en-US" altLang="en-US" sz="1600" dirty="0"/>
              <a:t>Virus protection</a:t>
            </a:r>
            <a:endParaRPr lang="en-US" altLang="en-US" sz="1600" dirty="0"/>
          </a:p>
          <a:p>
            <a:pPr lvl="1"/>
            <a:r>
              <a:rPr lang="en-US" altLang="en-US" sz="1600" dirty="0"/>
              <a:t>Searching all programs or programs at execution for known virus patterns</a:t>
            </a:r>
            <a:endParaRPr lang="en-US" altLang="en-US" sz="1600" dirty="0"/>
          </a:p>
          <a:p>
            <a:pPr lvl="1"/>
            <a:r>
              <a:rPr lang="en-US" altLang="en-US" sz="1600" dirty="0"/>
              <a:t>Or run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sz="1600" dirty="0"/>
              <a:t> so can’t damage system</a:t>
            </a:r>
            <a:endParaRPr lang="en-US" altLang="en-US" sz="1600" dirty="0"/>
          </a:p>
          <a:p>
            <a:r>
              <a:rPr lang="en-US" altLang="en-US" sz="1600" dirty="0"/>
              <a:t>Auditing, accounting, and logging of all or specific system or network activities</a:t>
            </a:r>
            <a:endParaRPr lang="en-US" altLang="en-US" sz="1600" dirty="0"/>
          </a:p>
          <a:p>
            <a:r>
              <a:rPr lang="en-US" altLang="en-US" sz="1600" dirty="0"/>
              <a:t>Practice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computing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– avoid sources of infection, download from only “good” sites, </a:t>
            </a:r>
            <a:r>
              <a:rPr lang="en-US" altLang="en-US" sz="1600" dirty="0" err="1"/>
              <a:t>etc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758953" y="414439"/>
            <a:ext cx="7797218" cy="47783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Firewalling to Protect Systems</a:t>
            </a:r>
            <a:br>
              <a:rPr lang="en-US" altLang="en-US" sz="2800" dirty="0"/>
            </a:br>
            <a:r>
              <a:rPr lang="en-US" altLang="en-US" sz="2800" dirty="0"/>
              <a:t>and Networks</a:t>
            </a:r>
            <a:endParaRPr lang="en-US" altLang="en-US" sz="2800" dirty="0"/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8" y="1069975"/>
            <a:ext cx="7695746" cy="4910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network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/>
              <a:t> is placed between trusted and untrusted hosts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The firewall limits network access between these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Can be tunneled or spoofed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 allows disallowed protocol to travel within allowed protocol (i.e., telnet inside of HTTP)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Firewall rules typically based on host name or IP address which can be spoofed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Personal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software layer on given host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Can monitor / limit traffic to and from the host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proxy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application protocol and can control them (i.e., SMTP)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monitors all important system calls and apply rules to them (i.e., this program can execute that system call)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>
          <a:xfrm>
            <a:off x="949030" y="421984"/>
            <a:ext cx="7504501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Network Security Through</a:t>
            </a:r>
            <a:br>
              <a:rPr lang="en-US" altLang="en-US" sz="2800" dirty="0"/>
            </a:br>
            <a:r>
              <a:rPr lang="en-US" altLang="en-US" sz="2800" dirty="0"/>
              <a:t>Domain Separation Via Firewall</a:t>
            </a:r>
            <a:endParaRPr lang="en-US" altLang="en-US" sz="2800" dirty="0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609725"/>
            <a:ext cx="663416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>
          <a:xfrm>
            <a:off x="946344" y="244931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Security Classifications</a:t>
            </a:r>
            <a:endParaRPr lang="en-US" altLang="en-US" dirty="0"/>
          </a:p>
        </p:txBody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055688"/>
            <a:ext cx="7611188" cy="5137150"/>
          </a:xfrm>
        </p:spPr>
        <p:txBody>
          <a:bodyPr/>
          <a:lstStyle/>
          <a:p>
            <a:r>
              <a:rPr lang="en-US" altLang="en-US" dirty="0"/>
              <a:t>U.S. Department of Defense outlines four divisions of computer security: </a:t>
            </a:r>
            <a:r>
              <a:rPr lang="en-US" altLang="en-US" b="1" dirty="0"/>
              <a:t>A</a:t>
            </a:r>
            <a:r>
              <a:rPr lang="en-US" altLang="en-US" dirty="0"/>
              <a:t>, </a:t>
            </a:r>
            <a:r>
              <a:rPr lang="en-US" altLang="en-US" b="1" dirty="0"/>
              <a:t>B</a:t>
            </a:r>
            <a:r>
              <a:rPr lang="en-US" altLang="en-US" dirty="0"/>
              <a:t>, </a:t>
            </a:r>
            <a:r>
              <a:rPr lang="en-US" altLang="en-US" b="1" dirty="0"/>
              <a:t>C</a:t>
            </a:r>
            <a:r>
              <a:rPr lang="en-US" altLang="en-US" dirty="0"/>
              <a:t>, and </a:t>
            </a:r>
            <a:r>
              <a:rPr lang="en-US" altLang="en-US" b="1" dirty="0"/>
              <a:t>D</a:t>
            </a:r>
            <a:endParaRPr lang="en-US" altLang="en-US" sz="800" dirty="0">
              <a:solidFill>
                <a:srgbClr val="3366FF"/>
              </a:solidFill>
            </a:endParaRPr>
          </a:p>
          <a:p>
            <a:r>
              <a:rPr lang="en-US" altLang="en-US" b="1" dirty="0"/>
              <a:t>D</a:t>
            </a:r>
            <a:r>
              <a:rPr lang="en-US" altLang="en-US" dirty="0"/>
              <a:t> – Minimal security</a:t>
            </a:r>
            <a:endParaRPr lang="en-US" altLang="en-US" sz="800" dirty="0"/>
          </a:p>
          <a:p>
            <a:r>
              <a:rPr lang="en-US" altLang="en-US" b="1" dirty="0"/>
              <a:t>C</a:t>
            </a:r>
            <a:r>
              <a:rPr lang="en-US" altLang="en-US" dirty="0"/>
              <a:t> – Provides discretionary protection through auditing</a:t>
            </a:r>
            <a:endParaRPr lang="en-US" altLang="en-US" dirty="0"/>
          </a:p>
          <a:p>
            <a:pPr lvl="1"/>
            <a:r>
              <a:rPr lang="en-US" altLang="en-US" dirty="0"/>
              <a:t>Divided into </a:t>
            </a:r>
            <a:r>
              <a:rPr lang="en-US" altLang="en-US" b="1" dirty="0"/>
              <a:t>C1</a:t>
            </a:r>
            <a:r>
              <a:rPr lang="en-US" altLang="en-US" dirty="0"/>
              <a:t> and </a:t>
            </a:r>
            <a:r>
              <a:rPr lang="en-US" altLang="en-US" b="1" dirty="0"/>
              <a:t>C2</a:t>
            </a:r>
            <a:endParaRPr lang="en-US" altLang="en-US" dirty="0"/>
          </a:p>
          <a:p>
            <a:pPr lvl="2"/>
            <a:r>
              <a:rPr lang="en-US" altLang="en-US" b="1" dirty="0"/>
              <a:t>C1</a:t>
            </a:r>
            <a:r>
              <a:rPr lang="en-US" altLang="en-US" dirty="0"/>
              <a:t> identifies cooperating users with the same level of protection</a:t>
            </a:r>
            <a:endParaRPr lang="en-US" altLang="en-US" dirty="0"/>
          </a:p>
          <a:p>
            <a:pPr lvl="2"/>
            <a:r>
              <a:rPr lang="en-US" altLang="en-US" b="1" dirty="0"/>
              <a:t>C2</a:t>
            </a:r>
            <a:r>
              <a:rPr lang="en-US" altLang="en-US" dirty="0"/>
              <a:t> allows user-level access control</a:t>
            </a:r>
            <a:endParaRPr lang="en-US" altLang="en-US" sz="800" dirty="0"/>
          </a:p>
          <a:p>
            <a:r>
              <a:rPr lang="en-US" altLang="en-US" b="1" dirty="0"/>
              <a:t>B</a:t>
            </a:r>
            <a:r>
              <a:rPr lang="en-US" altLang="en-US" dirty="0"/>
              <a:t> – All the properties of </a:t>
            </a:r>
            <a:r>
              <a:rPr lang="en-US" altLang="en-US" b="1" dirty="0"/>
              <a:t>C</a:t>
            </a:r>
            <a:r>
              <a:rPr lang="en-US" altLang="en-US" dirty="0"/>
              <a:t>, however each object may have unique sensitivity labels</a:t>
            </a:r>
            <a:endParaRPr lang="en-US" altLang="en-US" dirty="0"/>
          </a:p>
          <a:p>
            <a:pPr lvl="1"/>
            <a:r>
              <a:rPr lang="en-US" altLang="en-US" dirty="0"/>
              <a:t>Divided into </a:t>
            </a:r>
            <a:r>
              <a:rPr lang="en-US" altLang="en-US" b="1" dirty="0"/>
              <a:t>B1</a:t>
            </a:r>
            <a:r>
              <a:rPr lang="en-US" altLang="en-US" dirty="0"/>
              <a:t>, </a:t>
            </a:r>
            <a:r>
              <a:rPr lang="en-US" altLang="en-US" b="1" dirty="0"/>
              <a:t>B2</a:t>
            </a:r>
            <a:r>
              <a:rPr lang="en-US" altLang="en-US" dirty="0"/>
              <a:t>, and </a:t>
            </a:r>
            <a:r>
              <a:rPr lang="en-US" altLang="en-US" b="1" dirty="0"/>
              <a:t>B3</a:t>
            </a:r>
            <a:endParaRPr lang="en-US" altLang="en-US" sz="800" b="1" dirty="0"/>
          </a:p>
          <a:p>
            <a:r>
              <a:rPr lang="en-US" altLang="en-US" b="1" dirty="0"/>
              <a:t>A</a:t>
            </a:r>
            <a:r>
              <a:rPr lang="en-US" altLang="en-US" dirty="0"/>
              <a:t> – Uses formal design and verification techniques to ensure security</a:t>
            </a: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 noChangeArrowheads="1"/>
          </p:cNvSpPr>
          <p:nvPr>
            <p:ph type="title"/>
          </p:nvPr>
        </p:nvSpPr>
        <p:spPr>
          <a:xfrm>
            <a:off x="931984" y="241567"/>
            <a:ext cx="7602415" cy="576262"/>
          </a:xfrm>
        </p:spPr>
        <p:txBody>
          <a:bodyPr/>
          <a:lstStyle/>
          <a:p>
            <a:r>
              <a:rPr lang="en-US" altLang="en-US" dirty="0"/>
              <a:t>Security Defenses Summarized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993" y="990892"/>
            <a:ext cx="7666406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By applying appropriate layers of defense, we can keep systems safe from all but the most persistent attackers. In summary, these layers may include the following:</a:t>
            </a:r>
            <a:endParaRPr lang="en-US" dirty="0"/>
          </a:p>
          <a:p>
            <a:pPr lvl="1">
              <a:defRPr/>
            </a:pPr>
            <a:r>
              <a:rPr lang="en-US" dirty="0"/>
              <a:t>Educate users about safe computing—don’t attach devices of unknown origin to the computer, don’t share passwords, use strong passwords, avoid falling for social engineering appeals, realize that an e-mail is not necessarily a private communication, and so on</a:t>
            </a:r>
            <a:endParaRPr lang="en-US" dirty="0"/>
          </a:p>
          <a:p>
            <a:pPr lvl="1">
              <a:defRPr/>
            </a:pPr>
            <a:r>
              <a:rPr lang="en-US" dirty="0"/>
              <a:t>Educate users about how to prevent phishing attacks—don’t click on email attachments or links from unknown (or even known) senders; authenticate (for example, via a phone call) that a request is legitimate</a:t>
            </a:r>
            <a:endParaRPr lang="en-US" dirty="0"/>
          </a:p>
          <a:p>
            <a:pPr lvl="1">
              <a:defRPr/>
            </a:pPr>
            <a:r>
              <a:rPr lang="en-US" dirty="0"/>
              <a:t>Use secure communication when possible</a:t>
            </a:r>
            <a:endParaRPr lang="en-US" dirty="0"/>
          </a:p>
          <a:p>
            <a:pPr lvl="1">
              <a:defRPr/>
            </a:pPr>
            <a:r>
              <a:rPr lang="en-US" dirty="0"/>
              <a:t>Physically protect computer hardware</a:t>
            </a:r>
            <a:endParaRPr lang="en-US" dirty="0"/>
          </a:p>
          <a:p>
            <a:pPr lvl="1">
              <a:defRPr/>
            </a:pPr>
            <a:r>
              <a:rPr lang="en-US" dirty="0"/>
              <a:t>Configure the operating system to minimize the attack surface; disable all unused services</a:t>
            </a:r>
            <a:endParaRPr lang="en-US" dirty="0"/>
          </a:p>
          <a:p>
            <a:pPr lvl="1">
              <a:defRPr/>
            </a:pPr>
            <a:r>
              <a:rPr lang="en-US" dirty="0"/>
              <a:t>Configure system daemons, privileges applications, and services to be as secure as possible</a:t>
            </a:r>
            <a:endParaRPr 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 noChangeArrowheads="1"/>
          </p:cNvSpPr>
          <p:nvPr>
            <p:ph type="title"/>
          </p:nvPr>
        </p:nvSpPr>
        <p:spPr>
          <a:xfrm>
            <a:off x="1007703" y="250898"/>
            <a:ext cx="7809722" cy="576262"/>
          </a:xfrm>
        </p:spPr>
        <p:txBody>
          <a:bodyPr/>
          <a:lstStyle/>
          <a:p>
            <a:r>
              <a:rPr lang="en-US" altLang="en-US" dirty="0"/>
              <a:t>Security Defenses Summarized (Cont.)</a:t>
            </a:r>
            <a:endParaRPr lang="en-US" altLang="en-US" dirty="0"/>
          </a:p>
        </p:txBody>
      </p:sp>
      <p:sp>
        <p:nvSpPr>
          <p:cNvPr id="102402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Use modern hardware and software, as they are likely to have up-to-date security features</a:t>
            </a:r>
            <a:endParaRPr lang="en-US" altLang="en-US" dirty="0"/>
          </a:p>
          <a:p>
            <a:pPr lvl="1"/>
            <a:r>
              <a:rPr lang="en-US" altLang="en-US" dirty="0"/>
              <a:t>Keep systems and applications up to date and patched</a:t>
            </a:r>
            <a:endParaRPr lang="en-US" altLang="en-US" dirty="0"/>
          </a:p>
          <a:p>
            <a:pPr lvl="1"/>
            <a:r>
              <a:rPr lang="en-US" altLang="en-US" dirty="0"/>
              <a:t>Only run applications from trusted sources (such as those that are code signed)</a:t>
            </a:r>
            <a:endParaRPr lang="en-US" altLang="en-US" dirty="0"/>
          </a:p>
          <a:p>
            <a:pPr lvl="1"/>
            <a:r>
              <a:rPr lang="en-US" altLang="en-US" dirty="0"/>
              <a:t>Enable logging and auditing; review the logs periodically, or automate alerts</a:t>
            </a:r>
            <a:endParaRPr lang="en-US" altLang="en-US" dirty="0"/>
          </a:p>
          <a:p>
            <a:pPr lvl="1"/>
            <a:r>
              <a:rPr lang="en-US" altLang="en-US" dirty="0"/>
              <a:t>Install and use antivirus software on systems susceptible to viruses, and keep the software up to date</a:t>
            </a:r>
            <a:endParaRPr lang="en-US" altLang="en-US" dirty="0"/>
          </a:p>
          <a:p>
            <a:pPr lvl="1"/>
            <a:r>
              <a:rPr lang="en-US" altLang="en-US" dirty="0"/>
              <a:t>Use strong passwords and passphrases, and don’t record them where they could be found</a:t>
            </a:r>
            <a:endParaRPr lang="en-US" altLang="en-US" dirty="0"/>
          </a:p>
          <a:p>
            <a:pPr lvl="1"/>
            <a:r>
              <a:rPr lang="en-US" altLang="en-US" dirty="0"/>
              <a:t>Use intrusion detection, firewalling, and other network-based protection systems as appropriate</a:t>
            </a:r>
            <a:endParaRPr lang="en-US" altLang="en-US" dirty="0"/>
          </a:p>
          <a:p>
            <a:pPr lvl="1"/>
            <a:r>
              <a:rPr lang="en-US" altLang="en-US" dirty="0"/>
              <a:t>For important facilities, use periodic vulnerability assessments and other testing methods to test security and response to incidents</a:t>
            </a:r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/>
          <p:cNvSpPr>
            <a:spLocks noGrp="1" noChangeArrowheads="1"/>
          </p:cNvSpPr>
          <p:nvPr>
            <p:ph type="title"/>
          </p:nvPr>
        </p:nvSpPr>
        <p:spPr>
          <a:xfrm>
            <a:off x="1071946" y="250898"/>
            <a:ext cx="7666406" cy="576262"/>
          </a:xfrm>
        </p:spPr>
        <p:txBody>
          <a:bodyPr/>
          <a:lstStyle/>
          <a:p>
            <a:r>
              <a:rPr lang="en-US" altLang="en-US" dirty="0"/>
              <a:t>Security Defenses Summarized (Cont.)</a:t>
            </a:r>
            <a:endParaRPr lang="en-US" altLang="en-US" dirty="0"/>
          </a:p>
        </p:txBody>
      </p:sp>
      <p:sp>
        <p:nvSpPr>
          <p:cNvPr id="103426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/>
              <a:t>Encrypt mass-storage devices, and consider encrypting important individual files as well</a:t>
            </a:r>
            <a:endParaRPr lang="en-US" altLang="en-US"/>
          </a:p>
          <a:p>
            <a:pPr lvl="1"/>
            <a:r>
              <a:rPr lang="en-US" altLang="en-US"/>
              <a:t>Have a security policy for important systems and facilities, and keep it up to date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Example: Windows 10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413" y="1065213"/>
            <a:ext cx="7663768" cy="5343525"/>
          </a:xfrm>
        </p:spPr>
        <p:txBody>
          <a:bodyPr/>
          <a:lstStyle/>
          <a:p>
            <a:r>
              <a:rPr lang="en-US" altLang="en-US" dirty="0"/>
              <a:t>Security is based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accounts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Each user has unique security ID</a:t>
            </a:r>
            <a:endParaRPr lang="en-US" altLang="en-US" dirty="0"/>
          </a:p>
          <a:p>
            <a:pPr lvl="1"/>
            <a:r>
              <a:rPr lang="en-US" altLang="en-US" dirty="0"/>
              <a:t>Login to ID creates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token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Includes security ID for user, for user</a:t>
            </a:r>
            <a:r>
              <a:rPr lang="ja-JP" altLang="en-US" dirty="0"/>
              <a:t>’</a:t>
            </a:r>
            <a:r>
              <a:rPr lang="en-US" altLang="ja-JP" dirty="0"/>
              <a:t>s groups, and special privileges</a:t>
            </a:r>
            <a:endParaRPr lang="en-US" altLang="ja-JP" dirty="0"/>
          </a:p>
          <a:p>
            <a:pPr lvl="2"/>
            <a:r>
              <a:rPr lang="en-US" altLang="en-US" dirty="0"/>
              <a:t>Every process gets copy of token</a:t>
            </a:r>
            <a:endParaRPr lang="en-US" altLang="en-US" dirty="0"/>
          </a:p>
          <a:p>
            <a:pPr lvl="2"/>
            <a:r>
              <a:rPr lang="en-US" altLang="en-US" dirty="0"/>
              <a:t>System checks token to determine if access allowed or denied</a:t>
            </a:r>
            <a:endParaRPr lang="en-US" altLang="en-US" dirty="0"/>
          </a:p>
          <a:p>
            <a:r>
              <a:rPr lang="en-US" altLang="en-US" dirty="0"/>
              <a:t>Uses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subject</a:t>
            </a:r>
            <a:r>
              <a:rPr lang="en-US" altLang="en-US" dirty="0"/>
              <a:t> model to ensure access security</a:t>
            </a:r>
            <a:endParaRPr lang="en-US" altLang="en-US" dirty="0"/>
          </a:p>
          <a:p>
            <a:pPr lvl="1"/>
            <a:r>
              <a:rPr lang="en-US" altLang="en-US" dirty="0"/>
              <a:t>A subject tracks and manages permissions for each program that a user runs</a:t>
            </a:r>
            <a:endParaRPr lang="en-US" altLang="en-US" dirty="0"/>
          </a:p>
          <a:p>
            <a:r>
              <a:rPr lang="en-US" altLang="en-US" dirty="0"/>
              <a:t>Each object in Windows has a security attribute defined by a security descriptor</a:t>
            </a:r>
            <a:endParaRPr lang="en-US" altLang="en-US" dirty="0"/>
          </a:p>
          <a:p>
            <a:pPr lvl="1"/>
            <a:r>
              <a:rPr lang="en-US" altLang="en-US" dirty="0"/>
              <a:t>For example, a file has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that indicates the access permissions for all users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>
          <a:xfrm>
            <a:off x="474857" y="24292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Example: Windows 10 (Cont.)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357" y="1065213"/>
            <a:ext cx="7642160" cy="5343525"/>
          </a:xfrm>
        </p:spPr>
        <p:txBody>
          <a:bodyPr/>
          <a:lstStyle/>
          <a:p>
            <a:r>
              <a:rPr lang="en-US" altLang="en-US" dirty="0"/>
              <a:t>Win added mandatory integrity controls – assigns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integrity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label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each securable object and subject</a:t>
            </a:r>
            <a:endParaRPr lang="en-US" altLang="en-US" dirty="0"/>
          </a:p>
          <a:p>
            <a:pPr lvl="1"/>
            <a:r>
              <a:rPr lang="en-US" altLang="en-US" dirty="0"/>
              <a:t>Subject must have access requested in discretionary access-control list to gain access to object</a:t>
            </a:r>
            <a:endParaRPr lang="en-US" altLang="en-US" dirty="0"/>
          </a:p>
          <a:p>
            <a:r>
              <a:rPr lang="en-US" altLang="en-US" dirty="0"/>
              <a:t>Security attributes described by security descriptor</a:t>
            </a:r>
            <a:endParaRPr lang="en-US" altLang="en-US" dirty="0"/>
          </a:p>
          <a:p>
            <a:pPr lvl="1"/>
            <a:r>
              <a:rPr lang="en-US" altLang="en-US" dirty="0"/>
              <a:t>Owner ID, group security ID, discretionary access-control list, system access-control list</a:t>
            </a:r>
            <a:endParaRPr lang="en-US" altLang="en-US" dirty="0"/>
          </a:p>
          <a:p>
            <a:r>
              <a:rPr lang="en-US" altLang="en-US" dirty="0"/>
              <a:t>Objects are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container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(containing other objects, for example a file system directory) or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noncontainer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By default an object created in a container inherits permissions from the parent object</a:t>
            </a:r>
            <a:endParaRPr lang="en-US" altLang="en-US" dirty="0"/>
          </a:p>
          <a:p>
            <a:r>
              <a:rPr lang="en-US" altLang="en-US" dirty="0"/>
              <a:t>Some Win 10 security challenges result from security settings being weak by default, the number of services included in a Win 10 system, and the number of applications typically installed on a Win 10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16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23647</Words>
  <Application>WPS 演示</Application>
  <PresentationFormat>On-screen Show (4:3)</PresentationFormat>
  <Paragraphs>625</Paragraphs>
  <Slides>58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7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微软雅黑</vt:lpstr>
      <vt:lpstr>Arial Unicode MS</vt:lpstr>
      <vt:lpstr>Wingdings</vt:lpstr>
      <vt:lpstr>Courier New</vt:lpstr>
      <vt:lpstr>Symbol</vt:lpstr>
      <vt:lpstr>黑体</vt:lpstr>
      <vt:lpstr>Comic Sans MS</vt:lpstr>
      <vt:lpstr>Consolas</vt:lpstr>
      <vt:lpstr>Calibri</vt:lpstr>
      <vt:lpstr>os-8</vt:lpstr>
      <vt:lpstr>PowerPoint 演示文稿</vt:lpstr>
      <vt:lpstr>Chapter 16:  Security</vt:lpstr>
      <vt:lpstr>Objectives</vt:lpstr>
      <vt:lpstr>The Security Problem</vt:lpstr>
      <vt:lpstr>Security Violation Categories</vt:lpstr>
      <vt:lpstr>Security Violation Methods</vt:lpstr>
      <vt:lpstr>Security Measure Levels</vt:lpstr>
      <vt:lpstr>Program Threats</vt:lpstr>
      <vt:lpstr>Four-layered Model of Security</vt:lpstr>
      <vt:lpstr>Program Threats (Cont.)</vt:lpstr>
      <vt:lpstr>C Program with Buffer-overflow Condition</vt:lpstr>
      <vt:lpstr>Code Injection</vt:lpstr>
      <vt:lpstr>Code Injection (Cont.)</vt:lpstr>
      <vt:lpstr>Great Programming Required?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System and Network Threats (Cont.)</vt:lpstr>
      <vt:lpstr>System and Network Threats (Cont.)</vt:lpstr>
      <vt:lpstr>Standard Security Attacks</vt:lpstr>
      <vt:lpstr>Cryptography as a Security Tool</vt:lpstr>
      <vt:lpstr>Cryptography</vt:lpstr>
      <vt:lpstr>Encryption</vt:lpstr>
      <vt:lpstr>Encryption (Cont.)</vt:lpstr>
      <vt:lpstr>Symmetric Encryption</vt:lpstr>
      <vt:lpstr>Secure Communication over  Insecure Medium</vt:lpstr>
      <vt:lpstr>Asymmetric Encryption</vt:lpstr>
      <vt:lpstr>Asymmetric Encryption (Cont.)</vt:lpstr>
      <vt:lpstr>Asymmetric Encryption Example</vt:lpstr>
      <vt:lpstr>Encryption using  RSA Asymmetric Cryptography</vt:lpstr>
      <vt:lpstr>Cryptography (Cont.)</vt:lpstr>
      <vt:lpstr>Authentication</vt:lpstr>
      <vt:lpstr>Authentication (Cont.)</vt:lpstr>
      <vt:lpstr>Authentication – Hash Functions</vt:lpstr>
      <vt:lpstr>Authentication - MAC</vt:lpstr>
      <vt:lpstr>Authentication – Digital Signature</vt:lpstr>
      <vt:lpstr>Authentication (Cont.)</vt:lpstr>
      <vt:lpstr>Key Distribution</vt:lpstr>
      <vt:lpstr>Digital Certificates</vt:lpstr>
      <vt:lpstr>Man-in-the-middle Attack on  Asymmetric Cryptography</vt:lpstr>
      <vt:lpstr>Implementation of Cryptography</vt:lpstr>
      <vt:lpstr>Encryption Example - TLS</vt:lpstr>
      <vt:lpstr>User Authentication</vt:lpstr>
      <vt:lpstr>Passwords </vt:lpstr>
      <vt:lpstr>Passwords (Cont.) </vt:lpstr>
      <vt:lpstr>Implementing Security Defenses</vt:lpstr>
      <vt:lpstr>Firewalling to Protect Systems and Networks</vt:lpstr>
      <vt:lpstr>Network Security Through Domain Separation Via Firewall</vt:lpstr>
      <vt:lpstr>Computer Security Classifications</vt:lpstr>
      <vt:lpstr>Security Defenses Summarized</vt:lpstr>
      <vt:lpstr>Security Defenses Summarized (Cont.)</vt:lpstr>
      <vt:lpstr>Security Defenses Summarized (Cont.)</vt:lpstr>
      <vt:lpstr>Example: Windows 10</vt:lpstr>
      <vt:lpstr>Example: Windows 7 (Cont.)</vt:lpstr>
      <vt:lpstr>End of Chapter 16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248</cp:revision>
  <cp:lastPrinted>2013-09-10T17:57:00Z</cp:lastPrinted>
  <dcterms:created xsi:type="dcterms:W3CDTF">2011-01-13T23:43:00Z</dcterms:created>
  <dcterms:modified xsi:type="dcterms:W3CDTF">2026-06-15T00:57:16Z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2458A3C00E534CC19F6EBBBAE1796203_12</vt:lpwstr>
  </property>
  <property fmtid="{D5CDD505-2E9C-101B-9397-08002B2CF9AE}" pid="3" name="KSOProductBuildVer">
    <vt:lpwstr>2052-12.1.0.23542</vt:lpwstr>
  </property>
</Properties>
</file>