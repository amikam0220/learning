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51"/>
  </p:handoutMasterIdLst>
  <p:sldIdLst>
    <p:sldId id="405" r:id="rId3"/>
    <p:sldId id="332" r:id="rId5"/>
    <p:sldId id="333" r:id="rId6"/>
    <p:sldId id="334" r:id="rId7"/>
    <p:sldId id="335" r:id="rId8"/>
    <p:sldId id="336" r:id="rId9"/>
    <p:sldId id="337" r:id="rId10"/>
    <p:sldId id="338" r:id="rId11"/>
    <p:sldId id="339" r:id="rId12"/>
    <p:sldId id="394" r:id="rId13"/>
    <p:sldId id="395" r:id="rId14"/>
    <p:sldId id="396" r:id="rId15"/>
    <p:sldId id="340" r:id="rId16"/>
    <p:sldId id="341" r:id="rId17"/>
    <p:sldId id="342" r:id="rId18"/>
    <p:sldId id="397" r:id="rId19"/>
    <p:sldId id="347" r:id="rId20"/>
    <p:sldId id="374" r:id="rId21"/>
    <p:sldId id="348" r:id="rId22"/>
    <p:sldId id="349" r:id="rId23"/>
    <p:sldId id="352" r:id="rId24"/>
    <p:sldId id="353" r:id="rId25"/>
    <p:sldId id="354" r:id="rId26"/>
    <p:sldId id="355" r:id="rId27"/>
    <p:sldId id="376" r:id="rId28"/>
    <p:sldId id="398" r:id="rId29"/>
    <p:sldId id="399" r:id="rId30"/>
    <p:sldId id="377" r:id="rId31"/>
    <p:sldId id="400" r:id="rId32"/>
    <p:sldId id="391" r:id="rId33"/>
    <p:sldId id="401" r:id="rId34"/>
    <p:sldId id="343" r:id="rId35"/>
    <p:sldId id="346" r:id="rId36"/>
    <p:sldId id="403" r:id="rId37"/>
    <p:sldId id="402" r:id="rId38"/>
    <p:sldId id="344" r:id="rId39"/>
    <p:sldId id="345" r:id="rId40"/>
    <p:sldId id="381" r:id="rId41"/>
    <p:sldId id="382" r:id="rId42"/>
    <p:sldId id="383" r:id="rId43"/>
    <p:sldId id="384" r:id="rId44"/>
    <p:sldId id="385" r:id="rId45"/>
    <p:sldId id="386" r:id="rId46"/>
    <p:sldId id="388" r:id="rId47"/>
    <p:sldId id="393" r:id="rId48"/>
    <p:sldId id="404" r:id="rId49"/>
    <p:sldId id="390" r:id="rId50"/>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9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31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3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5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7" autoAdjust="0"/>
    <p:restoredTop sz="97958" autoAdjust="0"/>
  </p:normalViewPr>
  <p:slideViewPr>
    <p:cSldViewPr snapToGrid="0" showGuides="1">
      <p:cViewPr varScale="1">
        <p:scale>
          <a:sx n="65" d="100"/>
          <a:sy n="65" d="100"/>
        </p:scale>
        <p:origin x="1210" y="3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73400" cy="442913"/>
          </a:xfrm>
          <a:prstGeom prst="rect">
            <a:avLst/>
          </a:prstGeom>
          <a:noFill/>
          <a:ln w="9525">
            <a:noFill/>
            <a:miter lim="800000"/>
          </a:ln>
        </p:spPr>
        <p:txBody>
          <a:bodyPr vert="horz" wrap="none" lIns="88261" tIns="44132" rIns="88261" bIns="44132" numCol="1" anchor="ctr" anchorCtr="0" compatLnSpc="1"/>
          <a:lstStyle>
            <a:lvl1pPr defTabSz="883285">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3" name="Rectangle 3"/>
          <p:cNvSpPr>
            <a:spLocks noGrp="1" noChangeArrowheads="1"/>
          </p:cNvSpPr>
          <p:nvPr>
            <p:ph type="dt" sz="quarter" idx="1"/>
          </p:nvPr>
        </p:nvSpPr>
        <p:spPr bwMode="auto">
          <a:xfrm>
            <a:off x="3951288" y="0"/>
            <a:ext cx="3071812" cy="442913"/>
          </a:xfrm>
          <a:prstGeom prst="rect">
            <a:avLst/>
          </a:prstGeom>
          <a:noFill/>
          <a:ln w="9525">
            <a:noFill/>
            <a:miter lim="800000"/>
          </a:ln>
        </p:spPr>
        <p:txBody>
          <a:bodyPr vert="horz" wrap="none" lIns="88261" tIns="44132" rIns="88261" bIns="44132" numCol="1" anchor="ctr" anchorCtr="0" compatLnSpc="1"/>
          <a:lstStyle>
            <a:lvl1pPr algn="r" defTabSz="883285">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73400" cy="442912"/>
          </a:xfrm>
          <a:prstGeom prst="rect">
            <a:avLst/>
          </a:prstGeom>
          <a:noFill/>
          <a:ln w="9525">
            <a:noFill/>
            <a:miter lim="800000"/>
          </a:ln>
        </p:spPr>
        <p:txBody>
          <a:bodyPr vert="horz" wrap="none" lIns="88261" tIns="44132" rIns="88261" bIns="44132" numCol="1" anchor="b" anchorCtr="0" compatLnSpc="1"/>
          <a:lstStyle>
            <a:lvl1pPr defTabSz="883285">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5" name="Rectangle 5"/>
          <p:cNvSpPr>
            <a:spLocks noGrp="1" noChangeArrowheads="1"/>
          </p:cNvSpPr>
          <p:nvPr>
            <p:ph type="sldNum" sz="quarter" idx="3"/>
          </p:nvPr>
        </p:nvSpPr>
        <p:spPr bwMode="auto">
          <a:xfrm>
            <a:off x="3951288" y="8866188"/>
            <a:ext cx="3071812" cy="442912"/>
          </a:xfrm>
          <a:prstGeom prst="rect">
            <a:avLst/>
          </a:prstGeom>
          <a:noFill/>
          <a:ln w="9525">
            <a:noFill/>
            <a:miter lim="800000"/>
          </a:ln>
        </p:spPr>
        <p:txBody>
          <a:bodyPr vert="horz" wrap="none" lIns="88261" tIns="44132" rIns="88261" bIns="44132" numCol="1" anchor="b" anchorCtr="0" compatLnSpc="1"/>
          <a:lstStyle>
            <a:lvl1pPr algn="r" defTabSz="882650">
              <a:defRPr sz="1100" smtClean="0">
                <a:latin typeface="Helvetica" pitchFamily="2" charset="0"/>
              </a:defRPr>
            </a:lvl1pPr>
          </a:lstStyle>
          <a:p>
            <a:pPr>
              <a:defRPr/>
            </a:pPr>
            <a:fld id="{03278AD2-5D28-4D80-B992-F3278BBAC652}"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6888" cy="463550"/>
          </a:xfrm>
          <a:prstGeom prst="rect">
            <a:avLst/>
          </a:prstGeom>
          <a:noFill/>
          <a:ln w="9525">
            <a:noFill/>
            <a:miter lim="800000"/>
          </a:ln>
        </p:spPr>
        <p:txBody>
          <a:bodyPr vert="horz" wrap="none" lIns="93160" tIns="46580" rIns="93160" bIns="46580" numCol="1" anchor="ctr" anchorCtr="0" compatLnSpc="1"/>
          <a:lstStyle>
            <a:lvl1pPr defTabSz="930910">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6147" name="Rectangle 3"/>
          <p:cNvSpPr>
            <a:spLocks noGrp="1" noChangeArrowheads="1"/>
          </p:cNvSpPr>
          <p:nvPr>
            <p:ph type="dt" idx="1"/>
          </p:nvPr>
        </p:nvSpPr>
        <p:spPr bwMode="auto">
          <a:xfrm>
            <a:off x="3973513" y="0"/>
            <a:ext cx="3036887" cy="463550"/>
          </a:xfrm>
          <a:prstGeom prst="rect">
            <a:avLst/>
          </a:prstGeom>
          <a:noFill/>
          <a:ln w="9525">
            <a:noFill/>
            <a:miter lim="800000"/>
          </a:ln>
        </p:spPr>
        <p:txBody>
          <a:bodyPr vert="horz" wrap="none" lIns="93160" tIns="46580" rIns="93160" bIns="46580" numCol="1" anchor="ctr" anchorCtr="0" compatLnSpc="1"/>
          <a:lstStyle>
            <a:lvl1pPr algn="r" defTabSz="930910">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5038" y="4416425"/>
            <a:ext cx="5140325" cy="4181475"/>
          </a:xfrm>
          <a:prstGeom prst="rect">
            <a:avLst/>
          </a:prstGeom>
          <a:noFill/>
          <a:ln w="9525">
            <a:noFill/>
            <a:miter lim="800000"/>
          </a:ln>
        </p:spPr>
        <p:txBody>
          <a:bodyPr vert="horz" wrap="none" lIns="93160" tIns="46580" rIns="93160" bIns="46580" numCol="1" anchor="ctr"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150" name="Rectangle 6"/>
          <p:cNvSpPr>
            <a:spLocks noGrp="1" noChangeArrowheads="1"/>
          </p:cNvSpPr>
          <p:nvPr>
            <p:ph type="ftr" sz="quarter" idx="4"/>
          </p:nvPr>
        </p:nvSpPr>
        <p:spPr bwMode="auto">
          <a:xfrm>
            <a:off x="0" y="8832850"/>
            <a:ext cx="3036888" cy="463550"/>
          </a:xfrm>
          <a:prstGeom prst="rect">
            <a:avLst/>
          </a:prstGeom>
          <a:noFill/>
          <a:ln w="9525">
            <a:noFill/>
            <a:miter lim="800000"/>
          </a:ln>
        </p:spPr>
        <p:txBody>
          <a:bodyPr vert="horz" wrap="none" lIns="93160" tIns="46580" rIns="93160" bIns="46580" numCol="1" anchor="b" anchorCtr="0" compatLnSpc="1"/>
          <a:lstStyle>
            <a:lvl1pPr defTabSz="930910">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6151" name="Rectangle 7"/>
          <p:cNvSpPr>
            <a:spLocks noGrp="1" noChangeArrowheads="1"/>
          </p:cNvSpPr>
          <p:nvPr>
            <p:ph type="sldNum" sz="quarter" idx="5"/>
          </p:nvPr>
        </p:nvSpPr>
        <p:spPr bwMode="auto">
          <a:xfrm>
            <a:off x="3973513" y="8832850"/>
            <a:ext cx="3036887" cy="463550"/>
          </a:xfrm>
          <a:prstGeom prst="rect">
            <a:avLst/>
          </a:prstGeom>
          <a:noFill/>
          <a:ln w="9525">
            <a:noFill/>
            <a:miter lim="800000"/>
          </a:ln>
        </p:spPr>
        <p:txBody>
          <a:bodyPr vert="horz" wrap="none" lIns="93160" tIns="46580" rIns="93160" bIns="46580" numCol="1" anchor="b" anchorCtr="0" compatLnSpc="1"/>
          <a:lstStyle>
            <a:lvl1pPr algn="r" defTabSz="930275">
              <a:defRPr sz="1200" smtClean="0">
                <a:latin typeface="Times New Roman" panose="02020603050405020304" pitchFamily="18" charset="0"/>
              </a:defRPr>
            </a:lvl1pPr>
          </a:lstStyle>
          <a:p>
            <a:pPr>
              <a:defRPr/>
            </a:pPr>
            <a:fld id="{63E79BAD-6463-4BA6-8F47-8F8D37326318}"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59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31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03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75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xfrm>
            <a:off x="974725" y="4560888"/>
            <a:ext cx="5365750" cy="4319587"/>
          </a:xfrm>
        </p:spPr>
        <p:txBody>
          <a:bodyPr wrap="square" lIns="96661" tIns="48331" rIns="96661" bIns="48331" anchor="t" anchorCtr="0"/>
          <a:p>
            <a:pPr lvl="0"/>
            <a:endParaRPr lang="zh-CN" altLang="en-US" dirty="0">
              <a:ea typeface="宋体" panose="02010600030101010101" pitchFamily="2" charset="-122"/>
            </a:endParaRPr>
          </a:p>
        </p:txBody>
      </p:sp>
      <p:sp>
        <p:nvSpPr>
          <p:cNvPr id="27652" name="灯片编号占位符 3"/>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eaLnBrk="1" hangingPunct="1"/>
            <a:fld id="{9A0DB2DC-4C9A-4742-B13C-FB6460FD3503}" type="slidenum">
              <a:rPr lang="en-US" altLang="zh-CN" sz="1300" b="0" dirty="0">
                <a:solidFill>
                  <a:schemeClr val="bg1"/>
                </a:solidFill>
              </a:rPr>
            </a:fld>
            <a:endParaRPr lang="en-US" altLang="zh-CN" sz="1300" b="0" dirty="0">
              <a:solidFill>
                <a:schemeClr val="bg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7A908A-20EC-4453-9C91-E30F56672999}"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520B3C4-A46F-4EA5-B3D7-9A0A0ECD1465}"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10242" name="Rectangle 2"/>
          <p:cNvSpPr>
            <a:spLocks noGrp="1" noRot="1" noChangeAspect="1" noChangeArrowheads="1" noTextEdit="1"/>
          </p:cNvSpPr>
          <p:nvPr>
            <p:ph type="sldImg"/>
          </p:nvPr>
        </p:nvSpPr>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269533-10DE-4191-9B6F-E1C82BE3228E}"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12290" name="Rectangle 2"/>
          <p:cNvSpPr>
            <a:spLocks noGrp="1" noRot="1" noChangeAspect="1" noChangeArrowheads="1" noTextEdit="1"/>
          </p:cNvSpPr>
          <p:nvPr>
            <p:ph type="sldImg"/>
          </p:nvPr>
        </p:nvSpPr>
        <p:spPr/>
      </p:sp>
      <p:sp>
        <p:nvSpPr>
          <p:cNvPr id="122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23A874-3E85-4A1A-86D1-8DDE5A0239A9}"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14338" name="Rectangle 2"/>
          <p:cNvSpPr>
            <a:spLocks noGrp="1" noRot="1" noChangeAspect="1" noChangeArrowheads="1" noTextEdit="1"/>
          </p:cNvSpPr>
          <p:nvPr>
            <p:ph type="sldImg"/>
          </p:nvPr>
        </p:nvSpPr>
        <p:spPr/>
      </p:sp>
      <p:sp>
        <p:nvSpPr>
          <p:cNvPr id="143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FDDD82F-B362-478A-8DD6-2522793FE0A7}"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21506" name="Rectangle 2"/>
          <p:cNvSpPr>
            <a:spLocks noGrp="1" noRot="1" noChangeAspect="1" noChangeArrowheads="1" noTextEdit="1"/>
          </p:cNvSpPr>
          <p:nvPr>
            <p:ph type="sldImg"/>
          </p:nvPr>
        </p:nvSpPr>
        <p:spPr/>
      </p:sp>
      <p:sp>
        <p:nvSpPr>
          <p:cNvPr id="215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7F3D51-18AE-4A2F-8B62-9AFC49B2D4D7}"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23554" name="Rectangle 2"/>
          <p:cNvSpPr>
            <a:spLocks noGrp="1" noRot="1" noChangeAspect="1" noChangeArrowheads="1" noTextEdit="1"/>
          </p:cNvSpPr>
          <p:nvPr>
            <p:ph type="sldImg"/>
          </p:nvPr>
        </p:nvSpPr>
        <p:spPr/>
      </p:sp>
      <p:sp>
        <p:nvSpPr>
          <p:cNvPr id="235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6AF8C-BABD-4627-8D38-DBDA3210958D}"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25602" name="Rectangle 2"/>
          <p:cNvSpPr>
            <a:spLocks noGrp="1" noRot="1" noChangeAspect="1" noChangeArrowheads="1" noTextEdit="1"/>
          </p:cNvSpPr>
          <p:nvPr>
            <p:ph type="sldImg"/>
          </p:nvPr>
        </p:nvSpPr>
        <p:spPr/>
      </p:sp>
      <p:sp>
        <p:nvSpPr>
          <p:cNvPr id="256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FE063B-491C-4469-86C9-23FF5A330F4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27650" name="Rectangle 2"/>
          <p:cNvSpPr>
            <a:spLocks noGrp="1" noRot="1" noChangeAspect="1" noChangeArrowheads="1" noTextEdit="1"/>
          </p:cNvSpPr>
          <p:nvPr>
            <p:ph type="sldImg"/>
          </p:nvPr>
        </p:nvSpPr>
        <p:spPr/>
      </p:sp>
      <p:sp>
        <p:nvSpPr>
          <p:cNvPr id="276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2CD9D6-ACA2-4B6E-9040-3CF1083AD728}"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29698" name="Rectangle 2"/>
          <p:cNvSpPr>
            <a:spLocks noGrp="1" noRot="1" noChangeAspect="1" noChangeArrowheads="1" noTextEdit="1"/>
          </p:cNvSpPr>
          <p:nvPr>
            <p:ph type="sldImg"/>
          </p:nvPr>
        </p:nvSpPr>
        <p:spPr/>
      </p:sp>
      <p:sp>
        <p:nvSpPr>
          <p:cNvPr id="296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2A0E12-BA07-4AE4-BC56-89A634C74B53}"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1746" name="Rectangle 2"/>
          <p:cNvSpPr>
            <a:spLocks noGrp="1" noRot="1" noChangeAspect="1" noChangeArrowheads="1" noTextEdit="1"/>
          </p:cNvSpPr>
          <p:nvPr>
            <p:ph type="sldImg"/>
          </p:nvPr>
        </p:nvSpPr>
        <p:spPr/>
      </p:sp>
      <p:sp>
        <p:nvSpPr>
          <p:cNvPr id="317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2CBF61-81F4-49C3-A8C5-806243625942}"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p:sp>
      <p:sp>
        <p:nvSpPr>
          <p:cNvPr id="337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216A99-73B8-44FB-ADBA-F740BED6F869}"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5842" name="Rectangle 2"/>
          <p:cNvSpPr>
            <a:spLocks noGrp="1" noRot="1" noChangeAspect="1" noChangeArrowheads="1" noTextEdit="1"/>
          </p:cNvSpPr>
          <p:nvPr>
            <p:ph type="sldImg"/>
          </p:nvPr>
        </p:nvSpPr>
        <p:spPr/>
      </p:sp>
      <p:sp>
        <p:nvSpPr>
          <p:cNvPr id="358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FB71D-5229-4BE0-8A74-727533DE33ED}"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7890" name="Rectangle 2"/>
          <p:cNvSpPr>
            <a:spLocks noGrp="1" noRot="1" noChangeAspect="1" noChangeArrowheads="1" noTextEdit="1"/>
          </p:cNvSpPr>
          <p:nvPr>
            <p:ph type="sldImg"/>
          </p:nvPr>
        </p:nvSpPr>
        <p:spPr/>
      </p:sp>
      <p:sp>
        <p:nvSpPr>
          <p:cNvPr id="37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659578-AC4A-42F7-8CE8-ACFC0A700707}"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9938" name="Rectangle 2"/>
          <p:cNvSpPr>
            <a:spLocks noGrp="1" noRot="1" noChangeAspect="1" noChangeArrowheads="1" noTextEdit="1"/>
          </p:cNvSpPr>
          <p:nvPr>
            <p:ph type="sldImg"/>
          </p:nvPr>
        </p:nvSpPr>
        <p:spPr/>
      </p:sp>
      <p:sp>
        <p:nvSpPr>
          <p:cNvPr id="399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1978F2-B24A-4A51-A36C-0B3BF47FB25A}"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1986" name="Rectangle 2"/>
          <p:cNvSpPr>
            <a:spLocks noGrp="1" noRot="1" noChangeAspect="1" noChangeArrowheads="1" noTextEdit="1"/>
          </p:cNvSpPr>
          <p:nvPr>
            <p:ph type="sldImg"/>
          </p:nvPr>
        </p:nvSpPr>
        <p:spPr/>
      </p:sp>
      <p:sp>
        <p:nvSpPr>
          <p:cNvPr id="419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5B3229-7CD9-4B81-8982-9CF4018EDF8B}"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4034" name="Rectangle 2"/>
          <p:cNvSpPr>
            <a:spLocks noGrp="1" noRot="1" noChangeAspect="1" noChangeArrowheads="1" noTextEdit="1"/>
          </p:cNvSpPr>
          <p:nvPr>
            <p:ph type="sldImg"/>
          </p:nvPr>
        </p:nvSpPr>
        <p:spPr/>
      </p:sp>
      <p:sp>
        <p:nvSpPr>
          <p:cNvPr id="440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07A2662-353F-4B55-AE39-6AD6104F420C}"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6082" name="Rectangle 2"/>
          <p:cNvSpPr>
            <a:spLocks noGrp="1" noRot="1" noChangeAspect="1" noChangeArrowheads="1" noTextEdit="1"/>
          </p:cNvSpPr>
          <p:nvPr>
            <p:ph type="sldImg"/>
          </p:nvPr>
        </p:nvSpPr>
        <p:spPr/>
      </p:sp>
      <p:sp>
        <p:nvSpPr>
          <p:cNvPr id="460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66302B-C706-46B2-A5B3-A04DD41ACE3B}"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8130" name="Rectangle 2"/>
          <p:cNvSpPr>
            <a:spLocks noGrp="1" noRot="1" noChangeAspect="1" noChangeArrowheads="1" noTextEdit="1"/>
          </p:cNvSpPr>
          <p:nvPr>
            <p:ph type="sldImg"/>
          </p:nvPr>
        </p:nvSpPr>
        <p:spPr/>
      </p:sp>
      <p:sp>
        <p:nvSpPr>
          <p:cNvPr id="481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91CA0C-F74B-45B5-932B-613A2987E322}"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36B623-83A9-4F97-AFF5-2166C3138464}"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52226" name="Rectangle 2"/>
          <p:cNvSpPr>
            <a:spLocks noGrp="1" noRot="1" noChangeAspect="1" noChangeArrowheads="1" noTextEdit="1"/>
          </p:cNvSpPr>
          <p:nvPr>
            <p:ph type="sldImg"/>
          </p:nvPr>
        </p:nvSpPr>
        <p:spPr/>
      </p:sp>
      <p:sp>
        <p:nvSpPr>
          <p:cNvPr id="522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80800A-4B65-4EA6-9B0B-BE58FA2CBB9D}"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54274" name="Rectangle 2"/>
          <p:cNvSpPr>
            <a:spLocks noGrp="1" noRot="1" noChangeAspect="1" noChangeArrowheads="1" noTextEdit="1"/>
          </p:cNvSpPr>
          <p:nvPr>
            <p:ph type="sldImg"/>
          </p:nvPr>
        </p:nvSpPr>
        <p:spPr/>
      </p:sp>
      <p:sp>
        <p:nvSpPr>
          <p:cNvPr id="542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F1BE197-D0F6-49C6-847C-AF54BDBCB1D6}"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57346" name="Rectangle 2"/>
          <p:cNvSpPr>
            <a:spLocks noGrp="1" noRot="1" noChangeAspect="1" noChangeArrowheads="1" noTextEdit="1"/>
          </p:cNvSpPr>
          <p:nvPr>
            <p:ph type="sldImg"/>
          </p:nvPr>
        </p:nvSpPr>
        <p:spPr/>
      </p:sp>
      <p:sp>
        <p:nvSpPr>
          <p:cNvPr id="573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665BC79-78FD-4A24-9792-CB687F1E0A06}"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61442" name="Rectangle 2"/>
          <p:cNvSpPr>
            <a:spLocks noGrp="1" noRot="1" noChangeAspect="1" noChangeArrowheads="1" noTextEdit="1"/>
          </p:cNvSpPr>
          <p:nvPr>
            <p:ph type="sldImg"/>
          </p:nvPr>
        </p:nvSpPr>
        <p:spPr/>
      </p:sp>
      <p:sp>
        <p:nvSpPr>
          <p:cNvPr id="614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141524-2B32-42DE-9328-5207EFB372DA}"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65538" name="Rectangle 2"/>
          <p:cNvSpPr>
            <a:spLocks noGrp="1" noRot="1" noChangeAspect="1" noChangeArrowheads="1" noTextEdit="1"/>
          </p:cNvSpPr>
          <p:nvPr>
            <p:ph type="sldImg"/>
          </p:nvPr>
        </p:nvSpPr>
        <p:spPr/>
      </p:sp>
      <p:sp>
        <p:nvSpPr>
          <p:cNvPr id="655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6F2FC7-CAD6-402D-8431-3BB0720F4AAA}"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68610" name="Rectangle 2"/>
          <p:cNvSpPr>
            <a:spLocks noGrp="1" noRot="1" noChangeAspect="1" noChangeArrowheads="1" noTextEdit="1"/>
          </p:cNvSpPr>
          <p:nvPr>
            <p:ph type="sldImg"/>
          </p:nvPr>
        </p:nvSpPr>
        <p:spPr/>
      </p:sp>
      <p:sp>
        <p:nvSpPr>
          <p:cNvPr id="686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025A05-8378-40E3-A3AC-80EFADA9AA09}"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D20D7-E692-4D7D-BC39-CE35900B7A78}"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72706" name="Rectangle 2"/>
          <p:cNvSpPr>
            <a:spLocks noGrp="1" noRot="1" noChangeAspect="1" noChangeArrowheads="1" noTextEdit="1"/>
          </p:cNvSpPr>
          <p:nvPr>
            <p:ph type="sldImg"/>
          </p:nvPr>
        </p:nvSpPr>
        <p:spPr/>
      </p:sp>
      <p:sp>
        <p:nvSpPr>
          <p:cNvPr id="727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EEC1AA5-B412-44B3-90F7-E5343240CD8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74754" name="Rectangle 2"/>
          <p:cNvSpPr>
            <a:spLocks noGrp="1" noRot="1" noChangeAspect="1" noChangeArrowheads="1" noTextEdit="1"/>
          </p:cNvSpPr>
          <p:nvPr>
            <p:ph type="sldImg"/>
          </p:nvPr>
        </p:nvSpPr>
        <p:spPr/>
      </p:sp>
      <p:sp>
        <p:nvSpPr>
          <p:cNvPr id="747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Rot="1" noChangeAspect="1" noChangeArrowheads="1" noTextEdit="1"/>
          </p:cNvSpPr>
          <p:nvPr>
            <p:ph type="sldImg"/>
          </p:nvPr>
        </p:nvSpPr>
        <p:spPr/>
      </p:sp>
      <p:sp>
        <p:nvSpPr>
          <p:cNvPr id="7680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Rot="1" noChangeAspect="1" noChangeArrowheads="1" noTextEdit="1"/>
          </p:cNvSpPr>
          <p:nvPr>
            <p:ph type="sldImg"/>
          </p:nvPr>
        </p:nvSpPr>
        <p:spPr/>
      </p:sp>
      <p:sp>
        <p:nvSpPr>
          <p:cNvPr id="7885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Rot="1" noChangeAspect="1" noChangeArrowheads="1" noTextEdit="1"/>
          </p:cNvSpPr>
          <p:nvPr>
            <p:ph type="sldImg"/>
          </p:nvPr>
        </p:nvSpPr>
        <p:spPr/>
      </p:sp>
      <p:sp>
        <p:nvSpPr>
          <p:cNvPr id="8089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2946" name="Rectangle 2"/>
          <p:cNvSpPr>
            <a:spLocks noGrp="1" noRot="1" noChangeAspect="1" noChangeArrowheads="1" noTextEdit="1"/>
          </p:cNvSpPr>
          <p:nvPr>
            <p:ph type="sldImg"/>
          </p:nvPr>
        </p:nvSpPr>
        <p:spPr/>
      </p:sp>
      <p:sp>
        <p:nvSpPr>
          <p:cNvPr id="829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2946" name="Rectangle 2"/>
          <p:cNvSpPr>
            <a:spLocks noGrp="1" noRot="1" noChangeAspect="1" noChangeArrowheads="1" noTextEdit="1"/>
          </p:cNvSpPr>
          <p:nvPr>
            <p:ph type="sldImg"/>
          </p:nvPr>
        </p:nvSpPr>
        <p:spPr/>
      </p:sp>
      <p:sp>
        <p:nvSpPr>
          <p:cNvPr id="829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484260-4C8C-470F-B15A-5C28602803B9}"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336699"/>
                </a:solidFill>
                <a:latin typeface="Helvetica" pitchFamily="2" charset="0"/>
              </a:rPr>
              <a:t>Silberschatz, Galvin and Gagne ©2018</a:t>
            </a:r>
            <a:endParaRPr lang="en-US" altLang="en-US" sz="1000" b="1" dirty="0">
              <a:solidFill>
                <a:srgbClr val="336699"/>
              </a:solidFill>
              <a:latin typeface="Helvetica" pitchFamily="2" charset="0"/>
            </a:endParaRPr>
          </a:p>
        </p:txBody>
      </p:sp>
      <p:sp>
        <p:nvSpPr>
          <p:cNvPr id="8" name="Text Box 8"/>
          <p:cNvSpPr txBox="1">
            <a:spLocks noChangeArrowheads="1"/>
          </p:cNvSpPr>
          <p:nvPr/>
        </p:nvSpPr>
        <p:spPr bwMode="auto">
          <a:xfrm>
            <a:off x="26988" y="6613525"/>
            <a:ext cx="2730500"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336699"/>
                </a:solidFill>
                <a:latin typeface="Helvetica" pitchFamily="2" charset="0"/>
              </a:rPr>
              <a:t>Operating System Concepts – 10</a:t>
            </a:r>
            <a:r>
              <a:rPr lang="en-US" altLang="en-US" sz="1000" b="1" baseline="30000" dirty="0">
                <a:solidFill>
                  <a:srgbClr val="336699"/>
                </a:solidFill>
                <a:latin typeface="Helvetica" pitchFamily="2" charset="0"/>
              </a:rPr>
              <a:t>th</a:t>
            </a:r>
            <a:r>
              <a:rPr lang="en-US" altLang="en-US" sz="1000" b="1" dirty="0">
                <a:solidFill>
                  <a:srgbClr val="336699"/>
                </a:solidFill>
                <a:latin typeface="Helvetica" pitchFamily="2" charset="0"/>
              </a:rPr>
              <a:t> Edition</a:t>
            </a:r>
            <a:endParaRPr lang="en-US" altLang="en-US" sz="1000" b="1" dirty="0">
              <a:solidFill>
                <a:srgbClr val="336699"/>
              </a:solidFill>
              <a:latin typeface="Helvetica" pitchFamily="2" charset="0"/>
            </a:endParaRP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905608" y="251437"/>
            <a:ext cx="762879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lstStyle/>
          <a:p>
            <a:pPr lvl="0"/>
            <a:r>
              <a:rPr lang="en-US" altLang="en-US"/>
              <a:t>Click to edit Master title style</a:t>
            </a:r>
            <a:endParaRPr lang="en-US" altLang="en-US"/>
          </a:p>
        </p:txBody>
      </p:sp>
      <p:sp>
        <p:nvSpPr>
          <p:cNvPr id="1028" name="Rectangle 4"/>
          <p:cNvSpPr>
            <a:spLocks noGrp="1" noChangeArrowheads="1"/>
          </p:cNvSpPr>
          <p:nvPr>
            <p:ph type="body" idx="1"/>
          </p:nvPr>
        </p:nvSpPr>
        <p:spPr bwMode="auto">
          <a:xfrm>
            <a:off x="85041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3" name="Text Box 9"/>
          <p:cNvSpPr txBox="1">
            <a:spLocks noChangeArrowheads="1"/>
          </p:cNvSpPr>
          <p:nvPr/>
        </p:nvSpPr>
        <p:spPr bwMode="auto">
          <a:xfrm>
            <a:off x="4221163" y="6613525"/>
            <a:ext cx="51752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11.</a:t>
            </a:r>
            <a:fld id="{3BF801EC-8CC2-409A-8699-9BA740EB02E6}" type="slidenum">
              <a:rPr lang="en-US" altLang="en-US" sz="1000" b="1" smtClean="0">
                <a:solidFill>
                  <a:srgbClr val="006699"/>
                </a:solidFill>
                <a:latin typeface="Helvetica" pitchFamily="2" charset="0"/>
              </a:rPr>
            </a:fld>
            <a:endParaRPr lang="en-US" altLang="en-US" sz="1000" b="1">
              <a:solidFill>
                <a:srgbClr val="006699"/>
              </a:solidFill>
              <a:latin typeface="Helvetica" pitchFamily="2" charset="0"/>
            </a:endParaRPr>
          </a:p>
        </p:txBody>
      </p:sp>
      <p:sp>
        <p:nvSpPr>
          <p:cNvPr id="1034" name="Text Box 10"/>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pitchFamily="2" charset="0"/>
              </a:rPr>
              <a:t>Silberschatz, Galvin and Gagne ©2018</a:t>
            </a:r>
            <a:endParaRPr lang="en-US" altLang="en-US" sz="1000" b="1" dirty="0">
              <a:solidFill>
                <a:srgbClr val="006699"/>
              </a:solidFill>
              <a:latin typeface="Helvetica" pitchFamily="2" charset="0"/>
            </a:endParaRPr>
          </a:p>
        </p:txBody>
      </p:sp>
      <p:sp>
        <p:nvSpPr>
          <p:cNvPr id="1035" name="Text Box 11"/>
          <p:cNvSpPr txBox="1">
            <a:spLocks noChangeArrowheads="1"/>
          </p:cNvSpPr>
          <p:nvPr/>
        </p:nvSpPr>
        <p:spPr bwMode="auto">
          <a:xfrm>
            <a:off x="185738" y="6621463"/>
            <a:ext cx="2730500" cy="246062"/>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006699"/>
                </a:solidFill>
                <a:latin typeface="Helvetica" pitchFamily="2" charset="0"/>
              </a:rPr>
              <a:t>Operating System Concepts – 10</a:t>
            </a:r>
            <a:r>
              <a:rPr lang="en-US" altLang="en-US" sz="1000" b="1" baseline="30000" dirty="0">
                <a:solidFill>
                  <a:srgbClr val="006699"/>
                </a:solidFill>
                <a:latin typeface="Helvetica" pitchFamily="2" charset="0"/>
              </a:rPr>
              <a:t>th</a:t>
            </a:r>
            <a:r>
              <a:rPr lang="en-US" altLang="en-US" sz="1000" b="1" dirty="0">
                <a:solidFill>
                  <a:srgbClr val="006699"/>
                </a:solidFill>
                <a:latin typeface="Helvetica" pitchFamily="2" charset="0"/>
              </a:rPr>
              <a:t> Edition</a:t>
            </a:r>
            <a:endParaRPr lang="en-US" altLang="en-US" sz="1000" b="1" dirty="0">
              <a:solidFill>
                <a:srgbClr val="006699"/>
              </a:solidFill>
              <a:latin typeface="Helvetica" pitchFamily="2" charset="0"/>
            </a:endParaRPr>
          </a:p>
        </p:txBody>
      </p:sp>
      <p:pic>
        <p:nvPicPr>
          <p:cNvPr id="1036" name="Picture 12" descr="dino_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1630" indent="-34163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1680" indent="-28448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defRPr>
      </a:lvl2pPr>
      <a:lvl3pPr marL="1084580" indent="-22733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7480" indent="-22733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0380" indent="-22733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18.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19.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矩形 1"/>
          <p:cNvSpPr/>
          <p:nvPr/>
        </p:nvSpPr>
        <p:spPr>
          <a:xfrm>
            <a:off x="378460" y="2508250"/>
            <a:ext cx="8587105" cy="3476625"/>
          </a:xfrm>
          <a:prstGeom prst="rect">
            <a:avLst/>
          </a:prstGeom>
          <a:noFill/>
          <a:ln w="9525">
            <a:noFill/>
          </a:ln>
        </p:spPr>
        <p:txBody>
          <a:bodyPr wrap="square">
            <a:spAutoFit/>
          </a:bodyPr>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Dr. </a:t>
            </a:r>
            <a:r>
              <a:rPr lang="zh-CN" altLang="en-US" sz="2000" b="0" dirty="0">
                <a:solidFill>
                  <a:srgbClr val="002060"/>
                </a:solidFill>
                <a:latin typeface="Verdana" panose="020B0604030504040204" pitchFamily="34" charset="0"/>
                <a:ea typeface="黑体" panose="02010609060101010101" pitchFamily="49" charset="-122"/>
              </a:rPr>
              <a:t>何明昕  </a:t>
            </a:r>
            <a:r>
              <a:rPr lang="en-US" altLang="zh-CN" sz="2000" b="0" dirty="0">
                <a:solidFill>
                  <a:srgbClr val="002060"/>
                </a:solidFill>
                <a:latin typeface="Comic Sans MS" panose="030F0702030302020204" pitchFamily="66" charset="0"/>
                <a:ea typeface="黑体" panose="02010609060101010101" pitchFamily="49" charset="-122"/>
              </a:rPr>
              <a:t>HE Mingxin, MX, Max</a:t>
            </a:r>
            <a:endParaRPr lang="en-US" altLang="zh-CN" sz="2000" b="0" dirty="0">
              <a:solidFill>
                <a:srgbClr val="002060"/>
              </a:solidFill>
              <a:latin typeface="Comic Sans MS" panose="030F0702030302020204" pitchFamily="66" charset="0"/>
              <a:ea typeface="黑体" panose="02010609060101010101" pitchFamily="49" charset="-122"/>
            </a:endParaRP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Send your email to </a:t>
            </a:r>
            <a:r>
              <a:rPr lang="en-US" altLang="zh-CN" sz="2000" b="0" dirty="0">
                <a:solidFill>
                  <a:srgbClr val="00B050"/>
                </a:solidFill>
                <a:latin typeface="Verdana" panose="020B0604030504040204" pitchFamily="34" charset="0"/>
                <a:ea typeface="黑体" panose="02010609060101010101" pitchFamily="49" charset="-122"/>
              </a:rPr>
              <a:t>c.max@yeah.net</a:t>
            </a:r>
            <a:r>
              <a:rPr lang="en-US" altLang="zh-CN" sz="2000" b="0" dirty="0">
                <a:solidFill>
                  <a:srgbClr val="002060"/>
                </a:solidFill>
                <a:latin typeface="Verdana" panose="020B0604030504040204" pitchFamily="34" charset="0"/>
                <a:ea typeface="黑体" panose="02010609060101010101" pitchFamily="49" charset="-122"/>
              </a:rPr>
              <a:t>  with</a:t>
            </a:r>
            <a:endParaRPr lang="en-US" altLang="zh-CN" sz="2000" b="0" dirty="0">
              <a:solidFill>
                <a:srgbClr val="00206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a subject like:  </a:t>
            </a:r>
            <a:r>
              <a:rPr lang="en-US" altLang="zh-CN" sz="2000" b="0" dirty="0">
                <a:solidFill>
                  <a:srgbClr val="00B0F0"/>
                </a:solidFill>
                <a:latin typeface="Comic Sans MS" panose="030F0702030302020204" pitchFamily="66" charset="0"/>
                <a:ea typeface="黑体" panose="02010609060101010101" pitchFamily="49" charset="-122"/>
              </a:rPr>
              <a:t>OS-id</a:t>
            </a:r>
            <a:r>
              <a:rPr lang="en-US" altLang="zh-CN" sz="2000" b="0" i="1" dirty="0">
                <a:solidFill>
                  <a:srgbClr val="00B0F0"/>
                </a:solidFill>
                <a:latin typeface="Comic Sans MS" panose="030F0702030302020204" pitchFamily="66" charset="0"/>
                <a:ea typeface="黑体" panose="02010609060101010101" pitchFamily="49" charset="-122"/>
              </a:rPr>
              <a:t>-Andy: On What </a:t>
            </a:r>
            <a:r>
              <a:rPr lang="en-US" altLang="zh-CN" sz="2000" b="0" i="1" dirty="0">
                <a:solidFill>
                  <a:srgbClr val="00B0F0"/>
                </a:solidFill>
                <a:latin typeface="Verdana" panose="020B0604030504040204" pitchFamily="34" charset="0"/>
                <a:ea typeface="黑体" panose="02010609060101010101" pitchFamily="49" charset="-122"/>
              </a:rPr>
              <a:t>…</a:t>
            </a:r>
            <a:endParaRPr lang="en-US" altLang="zh-CN" sz="2000" b="0" i="1" dirty="0">
              <a:solidFill>
                <a:srgbClr val="002060"/>
              </a:solidFill>
              <a:latin typeface="Verdana" panose="020B0604030504040204" pitchFamily="34" charset="0"/>
              <a:ea typeface="黑体" panose="02010609060101010101" pitchFamily="49" charset="-122"/>
            </a:endParaRPr>
          </a:p>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Download from </a:t>
            </a:r>
            <a:r>
              <a:rPr lang="en-US" altLang="zh-CN" sz="2000" b="0" dirty="0">
                <a:solidFill>
                  <a:srgbClr val="00B050"/>
                </a:solidFill>
                <a:latin typeface="Verdana" panose="020B0604030504040204" pitchFamily="34" charset="0"/>
                <a:ea typeface="黑体" panose="02010609060101010101" pitchFamily="49" charset="-122"/>
              </a:rPr>
              <a:t>c.program@yeah.net</a:t>
            </a:r>
            <a:endParaRPr lang="en-US" altLang="zh-CN" sz="2000" b="0" dirty="0">
              <a:solidFill>
                <a:srgbClr val="FF000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文件中心</a:t>
            </a: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网盘</a:t>
            </a:r>
            <a:r>
              <a:rPr lang="en-US" altLang="zh-CN" sz="2000" b="0" dirty="0">
                <a:solidFill>
                  <a:srgbClr val="00B0F0"/>
                </a:solidFill>
                <a:latin typeface="Verdana" panose="020B0604030504040204" pitchFamily="34" charset="0"/>
                <a:ea typeface="黑体" panose="02010609060101010101" pitchFamily="49" charset="-122"/>
              </a:rPr>
              <a:t>/OperatingSystems26S</a:t>
            </a:r>
            <a:endParaRPr lang="en-US" altLang="zh-CN" sz="2000" b="0" dirty="0">
              <a:solidFill>
                <a:srgbClr val="002060"/>
              </a:solidFill>
              <a:latin typeface="Verdana" panose="020B0604030504040204" pitchFamily="34" charset="0"/>
              <a:ea typeface="黑体" panose="02010609060101010101" pitchFamily="49" charset="-122"/>
            </a:endParaRPr>
          </a:p>
          <a:p>
            <a:pPr marL="0" indent="0" algn="ctr" latinLnBrk="0">
              <a:lnSpc>
                <a:spcPct val="200000"/>
              </a:lnSpc>
              <a:spcBef>
                <a:spcPts val="0"/>
              </a:spcBef>
              <a:buNone/>
            </a:pPr>
            <a:r>
              <a:rPr lang="en-US" altLang="zh-CN" sz="2000" b="0" dirty="0">
                <a:solidFill>
                  <a:srgbClr val="002060"/>
                </a:solidFill>
                <a:latin typeface="Verdana" panose="020B0604030504040204" pitchFamily="34" charset="0"/>
                <a:ea typeface="黑体" panose="02010609060101010101" pitchFamily="49" charset="-122"/>
              </a:rPr>
              <a:t>Book site: </a:t>
            </a:r>
            <a:r>
              <a:rPr lang="en-US" altLang="zh-CN" sz="1800" b="1" dirty="0">
                <a:solidFill>
                  <a:srgbClr val="00B0F0"/>
                </a:solidFill>
                <a:latin typeface="Consolas" panose="020B0609020204030204" charset="0"/>
                <a:ea typeface="黑体" panose="02010609060101010101" pitchFamily="49" charset="-122"/>
                <a:cs typeface="Consolas" panose="020B0609020204030204" charset="0"/>
              </a:rPr>
              <a:t>https://codex.cs.yale.edu/avi/os-book/OS10/index.html</a:t>
            </a:r>
            <a:endParaRPr lang="en-US" altLang="zh-CN" sz="1800" b="1" dirty="0">
              <a:solidFill>
                <a:srgbClr val="00B0F0"/>
              </a:solidFill>
              <a:latin typeface="Consolas" panose="020B0609020204030204" charset="0"/>
              <a:ea typeface="黑体" panose="02010609060101010101" pitchFamily="49" charset="-122"/>
              <a:cs typeface="Consolas" panose="020B0609020204030204" charset="0"/>
            </a:endParaRPr>
          </a:p>
        </p:txBody>
      </p:sp>
      <p:sp>
        <p:nvSpPr>
          <p:cNvPr id="2051" name="矩形 2"/>
          <p:cNvSpPr/>
          <p:nvPr/>
        </p:nvSpPr>
        <p:spPr>
          <a:xfrm>
            <a:off x="1041400" y="76835"/>
            <a:ext cx="7622540" cy="2061210"/>
          </a:xfrm>
          <a:prstGeom prst="rect">
            <a:avLst/>
          </a:prstGeom>
          <a:noFill/>
          <a:ln w="9525">
            <a:noFill/>
          </a:ln>
        </p:spPr>
        <p:txBody>
          <a:bodyPr wrap="square">
            <a:spAutoFit/>
          </a:bodyPr>
          <a:p>
            <a:pPr algn="ctr">
              <a:spcBef>
                <a:spcPct val="50000"/>
              </a:spcBef>
            </a:pPr>
            <a:r>
              <a:rPr lang="en-US" altLang="zh-CN" sz="4800" dirty="0">
                <a:solidFill>
                  <a:srgbClr val="002060"/>
                </a:solidFill>
                <a:latin typeface="Calibri" panose="020F0502020204030204" charset="0"/>
              </a:rPr>
              <a:t>Operating Systems</a:t>
            </a:r>
            <a:endParaRPr lang="en-US" altLang="zh-CN" sz="4800" dirty="0">
              <a:solidFill>
                <a:srgbClr val="002060"/>
              </a:solidFill>
              <a:latin typeface="Calibri" panose="020F0502020204030204" charset="0"/>
            </a:endParaRPr>
          </a:p>
          <a:p>
            <a:pPr marL="0" indent="0" algn="ctr" latinLnBrk="0">
              <a:lnSpc>
                <a:spcPct val="200000"/>
              </a:lnSpc>
            </a:pPr>
            <a:r>
              <a:rPr lang="en-US" altLang="zh-CN" sz="4000" dirty="0">
                <a:solidFill>
                  <a:srgbClr val="002060"/>
                </a:solidFill>
                <a:latin typeface="Calibri" panose="020F0502020204030204" charset="0"/>
                <a:sym typeface="+mn-ea"/>
              </a:rPr>
              <a:t>Ch 11:  </a:t>
            </a:r>
            <a:r>
              <a:rPr lang="en-US" altLang="zh-CN" sz="4000" dirty="0">
                <a:solidFill>
                  <a:srgbClr val="C00000"/>
                </a:solidFill>
                <a:latin typeface="Calibri" panose="020F0502020204030204" charset="0"/>
                <a:sym typeface="+mn-ea"/>
              </a:rPr>
              <a:t>Mass-Storage Systems</a:t>
            </a:r>
            <a:endParaRPr lang="en-US" altLang="zh-CN" sz="4000" dirty="0">
              <a:solidFill>
                <a:srgbClr val="C00000"/>
              </a:solidFill>
              <a:latin typeface="Calibri" panose="020F05020202040302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891721" y="231158"/>
            <a:ext cx="7664450" cy="576262"/>
          </a:xfrm>
        </p:spPr>
        <p:txBody>
          <a:bodyPr/>
          <a:lstStyle/>
          <a:p>
            <a:pPr eaLnBrk="1" hangingPunct="1"/>
            <a:r>
              <a:rPr lang="en-US" altLang="en-US" dirty="0"/>
              <a:t>Chapter 11:  Mass-Storage Systems</a:t>
            </a:r>
            <a:endParaRPr lang="en-US" altLang="en-US" dirty="0"/>
          </a:p>
        </p:txBody>
      </p:sp>
      <p:sp>
        <p:nvSpPr>
          <p:cNvPr id="7170" name="Rectangle 3"/>
          <p:cNvSpPr>
            <a:spLocks noGrp="1" noChangeArrowheads="1"/>
          </p:cNvSpPr>
          <p:nvPr>
            <p:ph type="body" idx="1"/>
          </p:nvPr>
        </p:nvSpPr>
        <p:spPr>
          <a:xfrm>
            <a:off x="878403" y="1233488"/>
            <a:ext cx="7727950" cy="4530725"/>
          </a:xfrm>
        </p:spPr>
        <p:txBody>
          <a:bodyPr/>
          <a:lstStyle/>
          <a:p>
            <a:r>
              <a:rPr lang="en-US" altLang="en-US" dirty="0"/>
              <a:t>Overview of Mass Storage Structure</a:t>
            </a:r>
            <a:endParaRPr lang="en-US" altLang="en-US" dirty="0"/>
          </a:p>
          <a:p>
            <a:r>
              <a:rPr lang="en-US" altLang="en-US" dirty="0"/>
              <a:t>HDD Scheduling</a:t>
            </a:r>
            <a:endParaRPr lang="en-US" altLang="en-US" dirty="0"/>
          </a:p>
          <a:p>
            <a:r>
              <a:rPr lang="en-US" altLang="en-US" dirty="0"/>
              <a:t>NVM Scheduling</a:t>
            </a:r>
            <a:endParaRPr lang="en-US" altLang="en-US" dirty="0"/>
          </a:p>
          <a:p>
            <a:r>
              <a:rPr lang="en-US" altLang="en-US" dirty="0"/>
              <a:t>Error Detection and Correction</a:t>
            </a:r>
            <a:endParaRPr lang="en-US" altLang="en-US" dirty="0"/>
          </a:p>
          <a:p>
            <a:r>
              <a:rPr lang="en-US" altLang="en-US" dirty="0"/>
              <a:t>Storage Device Management</a:t>
            </a:r>
            <a:endParaRPr lang="en-US" altLang="en-US" dirty="0"/>
          </a:p>
          <a:p>
            <a:r>
              <a:rPr lang="en-US" altLang="en-US" dirty="0"/>
              <a:t>Swap-Space Management</a:t>
            </a:r>
            <a:endParaRPr lang="en-US" altLang="en-US" dirty="0"/>
          </a:p>
          <a:p>
            <a:r>
              <a:rPr lang="en-US" altLang="en-US" dirty="0"/>
              <a:t>Storage Attachment</a:t>
            </a:r>
            <a:endParaRPr lang="en-US" altLang="en-US" dirty="0"/>
          </a:p>
          <a:p>
            <a:r>
              <a:rPr lang="en-US" altLang="en-US" dirty="0"/>
              <a:t>RAID Structure</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a:xfrm>
            <a:off x="335901" y="234598"/>
            <a:ext cx="8229600" cy="576262"/>
          </a:xfrm>
        </p:spPr>
        <p:txBody>
          <a:bodyPr/>
          <a:lstStyle/>
          <a:p>
            <a:pPr eaLnBrk="1" hangingPunct="1"/>
            <a:r>
              <a:rPr lang="en-US" altLang="en-US" dirty="0"/>
              <a:t>Objectives</a:t>
            </a:r>
            <a:endParaRPr lang="en-US" altLang="en-US" dirty="0"/>
          </a:p>
        </p:txBody>
      </p:sp>
      <p:sp>
        <p:nvSpPr>
          <p:cNvPr id="5123" name="Rectangle 3"/>
          <p:cNvSpPr>
            <a:spLocks noGrp="1" noChangeArrowheads="1"/>
          </p:cNvSpPr>
          <p:nvPr>
            <p:ph type="body" idx="1"/>
          </p:nvPr>
        </p:nvSpPr>
        <p:spPr>
          <a:xfrm>
            <a:off x="871766" y="1259539"/>
            <a:ext cx="7135813" cy="4530725"/>
          </a:xfrm>
        </p:spPr>
        <p:txBody>
          <a:bodyPr/>
          <a:lstStyle/>
          <a:p>
            <a:pPr>
              <a:defRPr/>
            </a:pPr>
            <a:r>
              <a:rPr lang="en-US" dirty="0">
                <a:ea typeface="MS PGothic" panose="020B0600070205080204" pitchFamily="34" charset="-128"/>
              </a:rPr>
              <a:t>Describe the physical structure of secondary storage devices and the effect of a device’s structure on its uses</a:t>
            </a:r>
            <a:endParaRPr lang="en-US" dirty="0">
              <a:ea typeface="MS PGothic" panose="020B0600070205080204" pitchFamily="34" charset="-128"/>
            </a:endParaRPr>
          </a:p>
          <a:p>
            <a:pPr>
              <a:defRPr/>
            </a:pPr>
            <a:r>
              <a:rPr lang="en-US" dirty="0">
                <a:ea typeface="MS PGothic" panose="020B0600070205080204" pitchFamily="34" charset="-128"/>
              </a:rPr>
              <a:t>Explain the performance characteristics of mass-storage devices</a:t>
            </a:r>
            <a:endParaRPr lang="en-US" dirty="0">
              <a:ea typeface="MS PGothic" panose="020B0600070205080204" pitchFamily="34" charset="-128"/>
            </a:endParaRPr>
          </a:p>
          <a:p>
            <a:pPr>
              <a:defRPr/>
            </a:pPr>
            <a:r>
              <a:rPr lang="en-US" dirty="0">
                <a:ea typeface="MS PGothic" panose="020B0600070205080204" pitchFamily="34" charset="-128"/>
              </a:rPr>
              <a:t>Evaluate I/O scheduling algorithms</a:t>
            </a:r>
            <a:endParaRPr lang="en-US" dirty="0">
              <a:ea typeface="MS PGothic" panose="020B0600070205080204" pitchFamily="34" charset="-128"/>
            </a:endParaRPr>
          </a:p>
          <a:p>
            <a:pPr>
              <a:defRPr/>
            </a:pPr>
            <a:r>
              <a:rPr lang="en-US" dirty="0">
                <a:ea typeface="MS PGothic" panose="020B0600070205080204" pitchFamily="34" charset="-128"/>
              </a:rPr>
              <a:t>Discuss operating-system services provided for mass storage, including RAID</a:t>
            </a:r>
            <a:endParaRPr lang="en-US" dirty="0">
              <a:ea typeface="MS PGothic" panose="020B0600070205080204" pitchFamily="34" charset="-128"/>
            </a:endParaRPr>
          </a:p>
          <a:p>
            <a:pPr marL="0" indent="0">
              <a:buFont typeface="Monotype Sorts" pitchFamily="-84" charset="2"/>
              <a:buNone/>
              <a:defRPr/>
            </a:pPr>
            <a:endParaRPr lang="en-US" dirty="0">
              <a:ea typeface="MS PGothic" panose="020B0600070205080204" pitchFamily="34" charset="-128"/>
              <a:cs typeface="MS PGothic" panose="020B0600070205080204" pitchFamily="34" charset="-128"/>
            </a:endParaRPr>
          </a:p>
          <a:p>
            <a:pPr marL="342900" indent="-342900">
              <a:buFont typeface="Monotype Sorts" charset="0"/>
              <a:buChar char="n"/>
              <a:defRPr/>
            </a:pPr>
            <a:endParaRPr lang="en-US" dirty="0">
              <a:ea typeface="MS PGothic" panose="020B0600070205080204" pitchFamily="34" charset="-128"/>
              <a:cs typeface="MS PGothic" panose="020B0600070205080204" pitchFamily="3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a:xfrm>
            <a:off x="1004821" y="233592"/>
            <a:ext cx="7683500" cy="576263"/>
          </a:xfrm>
        </p:spPr>
        <p:txBody>
          <a:bodyPr/>
          <a:lstStyle/>
          <a:p>
            <a:pPr eaLnBrk="1" hangingPunct="1"/>
            <a:r>
              <a:rPr lang="en-US" altLang="en-US" dirty="0"/>
              <a:t>Overview of Mass Storage Structure</a:t>
            </a:r>
            <a:endParaRPr lang="en-US" altLang="en-US" dirty="0"/>
          </a:p>
        </p:txBody>
      </p:sp>
      <p:sp>
        <p:nvSpPr>
          <p:cNvPr id="6147" name="Rectangle 3"/>
          <p:cNvSpPr>
            <a:spLocks noGrp="1" noChangeArrowheads="1"/>
          </p:cNvSpPr>
          <p:nvPr>
            <p:ph type="body" idx="1"/>
          </p:nvPr>
        </p:nvSpPr>
        <p:spPr>
          <a:xfrm>
            <a:off x="867749" y="1227595"/>
            <a:ext cx="7683501" cy="5270500"/>
          </a:xfrm>
        </p:spPr>
        <p:txBody>
          <a:bodyPr/>
          <a:lstStyle/>
          <a:p>
            <a:pPr>
              <a:defRPr/>
            </a:pPr>
            <a:r>
              <a:rPr lang="en-US" altLang="en-US" dirty="0"/>
              <a:t>Bulk of secondary storage for modern computers is </a:t>
            </a:r>
            <a:r>
              <a:rPr lang="en-US" altLang="en-US" b="1" dirty="0">
                <a:solidFill>
                  <a:srgbClr val="006699"/>
                </a:solidFill>
                <a:latin typeface="+mj-lt"/>
              </a:rPr>
              <a:t>hard</a:t>
            </a:r>
            <a:r>
              <a:rPr lang="en-US" altLang="en-US" b="1" dirty="0">
                <a:solidFill>
                  <a:srgbClr val="3366FF"/>
                </a:solidFill>
              </a:rPr>
              <a:t> </a:t>
            </a:r>
            <a:r>
              <a:rPr lang="en-US" altLang="en-US" b="1" dirty="0">
                <a:solidFill>
                  <a:srgbClr val="006699"/>
                </a:solidFill>
                <a:latin typeface="+mj-lt"/>
              </a:rPr>
              <a:t>disk</a:t>
            </a:r>
            <a:r>
              <a:rPr lang="en-US" altLang="en-US" b="1" dirty="0">
                <a:solidFill>
                  <a:srgbClr val="3366FF"/>
                </a:solidFill>
              </a:rPr>
              <a:t> </a:t>
            </a:r>
            <a:r>
              <a:rPr lang="en-US" altLang="en-US" b="1" dirty="0">
                <a:solidFill>
                  <a:srgbClr val="006699"/>
                </a:solidFill>
                <a:latin typeface="+mj-lt"/>
              </a:rPr>
              <a:t>drives</a:t>
            </a:r>
            <a:r>
              <a:rPr lang="en-US" altLang="en-US" b="1" dirty="0">
                <a:solidFill>
                  <a:srgbClr val="3366FF"/>
                </a:solidFill>
              </a:rPr>
              <a:t> </a:t>
            </a:r>
            <a:r>
              <a:rPr lang="en-US" altLang="en-US" dirty="0"/>
              <a:t>(</a:t>
            </a:r>
            <a:r>
              <a:rPr lang="en-US" altLang="en-US" b="1" dirty="0">
                <a:solidFill>
                  <a:srgbClr val="006699"/>
                </a:solidFill>
                <a:latin typeface="+mj-lt"/>
              </a:rPr>
              <a:t>HDDs</a:t>
            </a:r>
            <a:r>
              <a:rPr lang="en-US" altLang="en-US" dirty="0"/>
              <a:t>)</a:t>
            </a:r>
            <a:r>
              <a:rPr lang="en-US" altLang="en-US" b="1" dirty="0">
                <a:solidFill>
                  <a:srgbClr val="3366FF"/>
                </a:solidFill>
              </a:rPr>
              <a:t> </a:t>
            </a:r>
            <a:r>
              <a:rPr lang="en-US" altLang="en-US" dirty="0"/>
              <a:t>and</a:t>
            </a:r>
            <a:r>
              <a:rPr lang="en-US" altLang="en-US" b="1" dirty="0">
                <a:solidFill>
                  <a:srgbClr val="3366FF"/>
                </a:solidFill>
              </a:rPr>
              <a:t> </a:t>
            </a:r>
            <a:r>
              <a:rPr lang="en-US" altLang="en-US" b="1" dirty="0">
                <a:solidFill>
                  <a:srgbClr val="006699"/>
                </a:solidFill>
                <a:latin typeface="+mj-lt"/>
              </a:rPr>
              <a:t>nonvolatile</a:t>
            </a:r>
            <a:r>
              <a:rPr lang="en-US" altLang="en-US" b="1" dirty="0">
                <a:solidFill>
                  <a:srgbClr val="3366FF"/>
                </a:solidFill>
              </a:rPr>
              <a:t> </a:t>
            </a:r>
            <a:r>
              <a:rPr lang="en-US" altLang="en-US" b="1" dirty="0">
                <a:solidFill>
                  <a:srgbClr val="006699"/>
                </a:solidFill>
                <a:latin typeface="+mj-lt"/>
              </a:rPr>
              <a:t>memory</a:t>
            </a:r>
            <a:r>
              <a:rPr lang="en-US" altLang="en-US" b="1" dirty="0">
                <a:solidFill>
                  <a:srgbClr val="3366FF"/>
                </a:solidFill>
              </a:rPr>
              <a:t> </a:t>
            </a:r>
            <a:r>
              <a:rPr lang="en-US" altLang="en-US" dirty="0"/>
              <a:t>(</a:t>
            </a:r>
            <a:r>
              <a:rPr lang="en-US" altLang="en-US" b="1" dirty="0">
                <a:solidFill>
                  <a:srgbClr val="006699"/>
                </a:solidFill>
                <a:latin typeface="+mj-lt"/>
              </a:rPr>
              <a:t>NVM</a:t>
            </a:r>
            <a:r>
              <a:rPr lang="en-US" altLang="en-US" dirty="0"/>
              <a:t>)</a:t>
            </a:r>
            <a:r>
              <a:rPr lang="en-US" altLang="en-US" b="1" dirty="0">
                <a:solidFill>
                  <a:srgbClr val="3366FF"/>
                </a:solidFill>
              </a:rPr>
              <a:t> </a:t>
            </a:r>
            <a:r>
              <a:rPr lang="en-US" altLang="en-US" dirty="0"/>
              <a:t>devices</a:t>
            </a:r>
            <a:endParaRPr lang="en-US" altLang="en-US" dirty="0"/>
          </a:p>
          <a:p>
            <a:pPr>
              <a:defRPr/>
            </a:pPr>
            <a:r>
              <a:rPr lang="en-US" altLang="en-US" b="1" dirty="0">
                <a:solidFill>
                  <a:srgbClr val="006699"/>
                </a:solidFill>
                <a:latin typeface="+mj-lt"/>
              </a:rPr>
              <a:t>HDDs</a:t>
            </a:r>
            <a:r>
              <a:rPr lang="en-US" altLang="en-US" b="1" dirty="0">
                <a:solidFill>
                  <a:srgbClr val="3366FF"/>
                </a:solidFill>
              </a:rPr>
              <a:t> </a:t>
            </a:r>
            <a:r>
              <a:rPr lang="en-US" altLang="en-US" dirty="0"/>
              <a:t>spin platters of magnetically-coated material under moving read-write heads</a:t>
            </a:r>
            <a:endParaRPr lang="en-US" altLang="en-US" dirty="0"/>
          </a:p>
          <a:p>
            <a:pPr lvl="1">
              <a:defRPr/>
            </a:pPr>
            <a:r>
              <a:rPr lang="en-US" altLang="en-US" dirty="0"/>
              <a:t>Drives rotate at 60 to 250 times per second</a:t>
            </a:r>
            <a:endParaRPr lang="en-US" altLang="en-US" dirty="0"/>
          </a:p>
          <a:p>
            <a:pPr lvl="1">
              <a:defRPr/>
            </a:pPr>
            <a:r>
              <a:rPr lang="en-US" altLang="en-US" b="1" dirty="0">
                <a:solidFill>
                  <a:srgbClr val="006699"/>
                </a:solidFill>
                <a:latin typeface="+mj-lt"/>
              </a:rPr>
              <a:t>Transfer</a:t>
            </a:r>
            <a:r>
              <a:rPr lang="en-US" altLang="en-US" b="1" dirty="0">
                <a:solidFill>
                  <a:srgbClr val="3366FF"/>
                </a:solidFill>
              </a:rPr>
              <a:t> </a:t>
            </a:r>
            <a:r>
              <a:rPr lang="en-US" altLang="en-US" b="1" dirty="0">
                <a:solidFill>
                  <a:srgbClr val="006699"/>
                </a:solidFill>
                <a:latin typeface="+mj-lt"/>
              </a:rPr>
              <a:t>rate</a:t>
            </a:r>
            <a:r>
              <a:rPr lang="en-US" altLang="en-US" dirty="0">
                <a:solidFill>
                  <a:srgbClr val="3366FF"/>
                </a:solidFill>
              </a:rPr>
              <a:t> </a:t>
            </a:r>
            <a:r>
              <a:rPr lang="en-US" altLang="en-US" dirty="0"/>
              <a:t>is rate at which data flow between drive and computer</a:t>
            </a:r>
            <a:endParaRPr lang="en-US" altLang="en-US" dirty="0"/>
          </a:p>
          <a:p>
            <a:pPr lvl="1">
              <a:defRPr/>
            </a:pPr>
            <a:r>
              <a:rPr lang="en-US" altLang="en-US" b="1" dirty="0">
                <a:solidFill>
                  <a:srgbClr val="006699"/>
                </a:solidFill>
                <a:latin typeface="+mj-lt"/>
              </a:rPr>
              <a:t>Positioning</a:t>
            </a:r>
            <a:r>
              <a:rPr lang="en-US" altLang="en-US" b="1" dirty="0">
                <a:solidFill>
                  <a:srgbClr val="3366FF"/>
                </a:solidFill>
              </a:rPr>
              <a:t> </a:t>
            </a:r>
            <a:r>
              <a:rPr lang="en-US" altLang="en-US" b="1" dirty="0">
                <a:solidFill>
                  <a:srgbClr val="006699"/>
                </a:solidFill>
                <a:latin typeface="+mj-lt"/>
              </a:rPr>
              <a:t>time</a:t>
            </a:r>
            <a:r>
              <a:rPr lang="en-US" altLang="en-US" dirty="0">
                <a:solidFill>
                  <a:srgbClr val="3366FF"/>
                </a:solidFill>
              </a:rPr>
              <a:t> </a:t>
            </a:r>
            <a:r>
              <a:rPr lang="en-US" altLang="en-US" dirty="0"/>
              <a:t>(</a:t>
            </a:r>
            <a:r>
              <a:rPr lang="en-US" altLang="en-US" b="1" dirty="0">
                <a:solidFill>
                  <a:srgbClr val="006699"/>
                </a:solidFill>
                <a:latin typeface="+mj-lt"/>
              </a:rPr>
              <a:t>random-access</a:t>
            </a:r>
            <a:r>
              <a:rPr lang="en-US" altLang="en-US" b="1" dirty="0">
                <a:solidFill>
                  <a:srgbClr val="3366FF"/>
                </a:solidFill>
              </a:rPr>
              <a:t> </a:t>
            </a:r>
            <a:r>
              <a:rPr lang="en-US" altLang="en-US" b="1" dirty="0">
                <a:solidFill>
                  <a:srgbClr val="006699"/>
                </a:solidFill>
                <a:latin typeface="+mj-lt"/>
              </a:rPr>
              <a:t>time</a:t>
            </a:r>
            <a:r>
              <a:rPr lang="en-US" altLang="en-US" dirty="0"/>
              <a:t>) is time to move disk arm to desired cylinder (</a:t>
            </a:r>
            <a:r>
              <a:rPr lang="en-US" altLang="en-US" b="1" dirty="0">
                <a:solidFill>
                  <a:srgbClr val="006699"/>
                </a:solidFill>
                <a:latin typeface="+mj-lt"/>
              </a:rPr>
              <a:t>seek</a:t>
            </a:r>
            <a:r>
              <a:rPr lang="en-US" altLang="en-US" b="1" dirty="0">
                <a:solidFill>
                  <a:srgbClr val="3366FF"/>
                </a:solidFill>
              </a:rPr>
              <a:t> </a:t>
            </a:r>
            <a:r>
              <a:rPr lang="en-US" altLang="en-US" b="1" dirty="0">
                <a:solidFill>
                  <a:srgbClr val="006699"/>
                </a:solidFill>
                <a:latin typeface="+mj-lt"/>
              </a:rPr>
              <a:t>time</a:t>
            </a:r>
            <a:r>
              <a:rPr lang="en-US" altLang="en-US" dirty="0"/>
              <a:t>) and time for desired sector to rotate under the disk head (</a:t>
            </a:r>
            <a:r>
              <a:rPr lang="en-US" altLang="en-US" b="1" dirty="0">
                <a:solidFill>
                  <a:srgbClr val="006699"/>
                </a:solidFill>
                <a:latin typeface="+mj-lt"/>
              </a:rPr>
              <a:t>rotational</a:t>
            </a:r>
            <a:r>
              <a:rPr lang="en-US" altLang="en-US" b="1" dirty="0">
                <a:solidFill>
                  <a:srgbClr val="3366FF"/>
                </a:solidFill>
              </a:rPr>
              <a:t> </a:t>
            </a:r>
            <a:r>
              <a:rPr lang="en-US" altLang="en-US" b="1" dirty="0">
                <a:solidFill>
                  <a:srgbClr val="006699"/>
                </a:solidFill>
                <a:latin typeface="+mj-lt"/>
              </a:rPr>
              <a:t>latency</a:t>
            </a:r>
            <a:r>
              <a:rPr lang="en-US" altLang="en-US" dirty="0"/>
              <a:t>)</a:t>
            </a:r>
            <a:endParaRPr lang="en-US" altLang="en-US" dirty="0"/>
          </a:p>
          <a:p>
            <a:pPr lvl="1">
              <a:defRPr/>
            </a:pPr>
            <a:r>
              <a:rPr lang="en-US" altLang="en-US" b="1" dirty="0">
                <a:solidFill>
                  <a:srgbClr val="006699"/>
                </a:solidFill>
                <a:latin typeface="+mj-lt"/>
              </a:rPr>
              <a:t>Head</a:t>
            </a:r>
            <a:r>
              <a:rPr lang="en-US" altLang="en-US" b="1" dirty="0">
                <a:solidFill>
                  <a:srgbClr val="3366FF"/>
                </a:solidFill>
              </a:rPr>
              <a:t> </a:t>
            </a:r>
            <a:r>
              <a:rPr lang="en-US" altLang="en-US" b="1" dirty="0">
                <a:solidFill>
                  <a:srgbClr val="006699"/>
                </a:solidFill>
                <a:latin typeface="+mj-lt"/>
              </a:rPr>
              <a:t>crash</a:t>
            </a:r>
            <a:r>
              <a:rPr lang="en-US" altLang="en-US" dirty="0">
                <a:solidFill>
                  <a:srgbClr val="3366FF"/>
                </a:solidFill>
              </a:rPr>
              <a:t> </a:t>
            </a:r>
            <a:r>
              <a:rPr lang="en-US" altLang="en-US" dirty="0"/>
              <a:t>results from disk head making contact with the disk surface  -- That</a:t>
            </a:r>
            <a:r>
              <a:rPr lang="ja-JP" altLang="en-US" dirty="0"/>
              <a:t>’</a:t>
            </a:r>
            <a:r>
              <a:rPr lang="en-US" altLang="ja-JP" dirty="0"/>
              <a:t>s bad</a:t>
            </a:r>
            <a:endParaRPr lang="en-US" altLang="ja-JP" dirty="0"/>
          </a:p>
          <a:p>
            <a:pPr>
              <a:defRPr/>
            </a:pPr>
            <a:r>
              <a:rPr lang="en-US" altLang="en-US" dirty="0"/>
              <a:t>Disks can be removable</a:t>
            </a:r>
            <a:endParaRPr lang="en-US" altLang="en-US" dirty="0"/>
          </a:p>
          <a:p>
            <a:pPr marL="0" indent="0">
              <a:buFont typeface="Monotype Sorts" pitchFamily="-84" charset="2"/>
              <a:buNone/>
              <a:defRPr/>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4"/>
          <p:cNvSpPr>
            <a:spLocks noGrp="1" noChangeArrowheads="1"/>
          </p:cNvSpPr>
          <p:nvPr>
            <p:ph type="title"/>
          </p:nvPr>
        </p:nvSpPr>
        <p:spPr>
          <a:xfrm>
            <a:off x="1093562" y="238549"/>
            <a:ext cx="7527925" cy="576262"/>
          </a:xfrm>
        </p:spPr>
        <p:txBody>
          <a:bodyPr/>
          <a:lstStyle/>
          <a:p>
            <a:pPr eaLnBrk="1" hangingPunct="1"/>
            <a:r>
              <a:rPr lang="en-US" altLang="en-US" dirty="0"/>
              <a:t>Moving-head Disk Mechanism</a:t>
            </a:r>
            <a:endParaRPr lang="en-US" altLang="en-US" dirty="0"/>
          </a:p>
        </p:txBody>
      </p:sp>
      <p:pic>
        <p:nvPicPr>
          <p:cNvPr id="13314" name="Picture 1" descr="10_01.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52663" y="1200150"/>
            <a:ext cx="5157787"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noChangeArrowheads="1"/>
          </p:cNvSpPr>
          <p:nvPr>
            <p:ph type="title"/>
          </p:nvPr>
        </p:nvSpPr>
        <p:spPr>
          <a:xfrm>
            <a:off x="457200" y="248302"/>
            <a:ext cx="8229600" cy="576263"/>
          </a:xfrm>
        </p:spPr>
        <p:txBody>
          <a:bodyPr/>
          <a:lstStyle/>
          <a:p>
            <a:r>
              <a:rPr lang="en-US" altLang="en-US" dirty="0"/>
              <a:t>Hard Disk Drives</a:t>
            </a:r>
            <a:endParaRPr lang="en-US" altLang="en-US" dirty="0"/>
          </a:p>
        </p:txBody>
      </p:sp>
      <p:sp>
        <p:nvSpPr>
          <p:cNvPr id="15362" name="Content Placeholder 2"/>
          <p:cNvSpPr>
            <a:spLocks noGrp="1" noChangeArrowheads="1"/>
          </p:cNvSpPr>
          <p:nvPr>
            <p:ph idx="1"/>
          </p:nvPr>
        </p:nvSpPr>
        <p:spPr>
          <a:xfrm>
            <a:off x="821094" y="1301750"/>
            <a:ext cx="3946850" cy="4662488"/>
          </a:xfrm>
        </p:spPr>
        <p:txBody>
          <a:bodyPr/>
          <a:lstStyle/>
          <a:p>
            <a:r>
              <a:rPr lang="en-US" altLang="en-US" sz="1600" dirty="0"/>
              <a:t>Platters range from .85</a:t>
            </a:r>
            <a:r>
              <a:rPr lang="ja-JP" altLang="en-US" sz="1600" dirty="0"/>
              <a:t>”</a:t>
            </a:r>
            <a:r>
              <a:rPr lang="en-US" altLang="ja-JP" sz="1600" dirty="0"/>
              <a:t> to 14</a:t>
            </a:r>
            <a:r>
              <a:rPr lang="ja-JP" altLang="en-US" sz="1600" dirty="0"/>
              <a:t>”</a:t>
            </a:r>
            <a:r>
              <a:rPr lang="en-US" altLang="ja-JP" sz="1600" dirty="0"/>
              <a:t> (historically)</a:t>
            </a:r>
            <a:endParaRPr lang="en-US" altLang="ja-JP" sz="1600" dirty="0"/>
          </a:p>
          <a:p>
            <a:pPr lvl="1"/>
            <a:r>
              <a:rPr lang="en-US" altLang="en-US" sz="1600" dirty="0"/>
              <a:t>Commonly 3.5</a:t>
            </a:r>
            <a:r>
              <a:rPr lang="ja-JP" altLang="en-US" sz="1600" dirty="0"/>
              <a:t>”</a:t>
            </a:r>
            <a:r>
              <a:rPr lang="en-US" altLang="ja-JP" sz="1600" dirty="0"/>
              <a:t>, 2.5</a:t>
            </a:r>
            <a:r>
              <a:rPr lang="ja-JP" altLang="en-US" sz="1600" dirty="0"/>
              <a:t>”</a:t>
            </a:r>
            <a:r>
              <a:rPr lang="en-US" altLang="ja-JP" sz="1600" dirty="0"/>
              <a:t>, and 1.8</a:t>
            </a:r>
            <a:r>
              <a:rPr lang="ja-JP" altLang="en-US" sz="1600" dirty="0"/>
              <a:t>”</a:t>
            </a:r>
            <a:endParaRPr lang="en-US" altLang="ja-JP" sz="1600" dirty="0"/>
          </a:p>
          <a:p>
            <a:r>
              <a:rPr lang="en-US" altLang="en-US" sz="1600" dirty="0"/>
              <a:t>Range from 30GB to 3TB per drive</a:t>
            </a:r>
            <a:endParaRPr lang="en-US" altLang="en-US" sz="1600" dirty="0"/>
          </a:p>
          <a:p>
            <a:r>
              <a:rPr lang="en-US" altLang="en-US" sz="1600" dirty="0"/>
              <a:t>Performance </a:t>
            </a:r>
            <a:endParaRPr lang="en-US" altLang="en-US" sz="1600" dirty="0"/>
          </a:p>
          <a:p>
            <a:pPr lvl="1"/>
            <a:r>
              <a:rPr lang="en-US" altLang="en-US" sz="1600" dirty="0"/>
              <a:t>Transfer Rate – theoretical – 6 Gb/sec</a:t>
            </a:r>
            <a:endParaRPr lang="en-US" altLang="en-US" sz="1600" dirty="0"/>
          </a:p>
          <a:p>
            <a:pPr lvl="1"/>
            <a:r>
              <a:rPr lang="en-US" altLang="en-US" sz="1600" dirty="0"/>
              <a:t>Effective Transfer Rate – real – 1Gb/sec</a:t>
            </a:r>
            <a:endParaRPr lang="en-US" altLang="en-US" sz="1600" dirty="0"/>
          </a:p>
          <a:p>
            <a:pPr lvl="1"/>
            <a:r>
              <a:rPr lang="en-US" altLang="en-US" sz="1600" dirty="0"/>
              <a:t>Seek time from 3ms to 12ms – 9ms common for desktop drives</a:t>
            </a:r>
            <a:endParaRPr lang="en-US" altLang="en-US" sz="1600" dirty="0"/>
          </a:p>
          <a:p>
            <a:pPr lvl="1"/>
            <a:r>
              <a:rPr lang="en-US" altLang="en-US" sz="1600" dirty="0"/>
              <a:t>Average seek time measured or calculated based on 1/3 of tracks</a:t>
            </a:r>
            <a:endParaRPr lang="en-US" altLang="en-US" sz="1600" dirty="0"/>
          </a:p>
          <a:p>
            <a:pPr lvl="1"/>
            <a:r>
              <a:rPr lang="en-US" altLang="en-US" sz="1600" dirty="0"/>
              <a:t>Latency based on spindle speed</a:t>
            </a:r>
            <a:endParaRPr lang="en-US" altLang="en-US" sz="1600" dirty="0"/>
          </a:p>
          <a:p>
            <a:pPr lvl="2"/>
            <a:r>
              <a:rPr lang="en-US" altLang="en-US" sz="1600" dirty="0"/>
              <a:t>1 / (RPM / 60) = 60 / RPM</a:t>
            </a:r>
            <a:endParaRPr lang="en-US" altLang="en-US" sz="1600" dirty="0"/>
          </a:p>
          <a:p>
            <a:pPr lvl="1"/>
            <a:r>
              <a:rPr lang="en-US" altLang="en-US" sz="1600" dirty="0"/>
              <a:t>Average latency = ½ latency</a:t>
            </a:r>
            <a:endParaRPr lang="en-US" altLang="en-US" sz="1600" dirty="0"/>
          </a:p>
          <a:p>
            <a:pPr lvl="1"/>
            <a:endParaRPr lang="en-US" altLang="en-US" sz="1600" dirty="0"/>
          </a:p>
          <a:p>
            <a:endParaRPr lang="en-US" altLang="en-US" sz="1600" dirty="0"/>
          </a:p>
        </p:txBody>
      </p:sp>
      <p:pic>
        <p:nvPicPr>
          <p:cNvPr id="1536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43488" y="1301750"/>
            <a:ext cx="3792537"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noChangeArrowheads="1"/>
          </p:cNvSpPr>
          <p:nvPr>
            <p:ph type="title"/>
          </p:nvPr>
        </p:nvSpPr>
        <p:spPr>
          <a:xfrm>
            <a:off x="522517" y="241918"/>
            <a:ext cx="8229600" cy="576262"/>
          </a:xfrm>
        </p:spPr>
        <p:txBody>
          <a:bodyPr/>
          <a:lstStyle/>
          <a:p>
            <a:r>
              <a:rPr lang="en-US" altLang="en-US" dirty="0"/>
              <a:t>Hard Disk Performance</a:t>
            </a:r>
            <a:endParaRPr lang="en-US" altLang="en-US" dirty="0"/>
          </a:p>
        </p:txBody>
      </p:sp>
      <p:sp>
        <p:nvSpPr>
          <p:cNvPr id="16386" name="Content Placeholder 2"/>
          <p:cNvSpPr>
            <a:spLocks noGrp="1" noChangeArrowheads="1"/>
          </p:cNvSpPr>
          <p:nvPr>
            <p:ph idx="1"/>
          </p:nvPr>
        </p:nvSpPr>
        <p:spPr>
          <a:xfrm>
            <a:off x="885049" y="1231968"/>
            <a:ext cx="7699114" cy="5059363"/>
          </a:xfrm>
        </p:spPr>
        <p:txBody>
          <a:bodyPr/>
          <a:lstStyle/>
          <a:p>
            <a:r>
              <a:rPr lang="en-US" altLang="en-US" b="1" dirty="0">
                <a:solidFill>
                  <a:srgbClr val="006699"/>
                </a:solidFill>
                <a:latin typeface="+mj-lt"/>
              </a:rPr>
              <a:t>Access</a:t>
            </a:r>
            <a:r>
              <a:rPr lang="en-US" altLang="en-US" b="1" dirty="0">
                <a:solidFill>
                  <a:srgbClr val="3366FF"/>
                </a:solidFill>
              </a:rPr>
              <a:t> </a:t>
            </a:r>
            <a:r>
              <a:rPr lang="en-US" altLang="en-US" b="1" dirty="0">
                <a:solidFill>
                  <a:srgbClr val="006699"/>
                </a:solidFill>
                <a:latin typeface="+mj-lt"/>
              </a:rPr>
              <a:t>Latency</a:t>
            </a:r>
            <a:r>
              <a:rPr lang="en-US" altLang="en-US" b="1" dirty="0">
                <a:solidFill>
                  <a:srgbClr val="3366FF"/>
                </a:solidFill>
              </a:rPr>
              <a:t> </a:t>
            </a:r>
            <a:r>
              <a:rPr lang="en-US" altLang="en-US" dirty="0"/>
              <a:t>= </a:t>
            </a:r>
            <a:r>
              <a:rPr lang="en-US" altLang="en-US" b="1" dirty="0">
                <a:solidFill>
                  <a:srgbClr val="006699"/>
                </a:solidFill>
                <a:latin typeface="+mj-lt"/>
              </a:rPr>
              <a:t>Average</a:t>
            </a:r>
            <a:r>
              <a:rPr lang="en-US" altLang="en-US" b="1" dirty="0">
                <a:solidFill>
                  <a:srgbClr val="3366FF"/>
                </a:solidFill>
              </a:rPr>
              <a:t> </a:t>
            </a:r>
            <a:r>
              <a:rPr lang="en-US" altLang="en-US" b="1" dirty="0">
                <a:solidFill>
                  <a:srgbClr val="006699"/>
                </a:solidFill>
                <a:latin typeface="+mj-lt"/>
              </a:rPr>
              <a:t>access</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dirty="0"/>
              <a:t>= average seek time + average latency</a:t>
            </a:r>
            <a:endParaRPr lang="en-US" altLang="en-US" dirty="0"/>
          </a:p>
          <a:p>
            <a:pPr lvl="1"/>
            <a:r>
              <a:rPr lang="en-US" altLang="en-US" dirty="0"/>
              <a:t>For fastest disk 3ms + 2ms = 5ms</a:t>
            </a:r>
            <a:endParaRPr lang="en-US" altLang="en-US" dirty="0"/>
          </a:p>
          <a:p>
            <a:pPr lvl="1"/>
            <a:r>
              <a:rPr lang="en-US" altLang="en-US" dirty="0"/>
              <a:t>For slow disk 9ms + 5.56ms = 14.56ms</a:t>
            </a:r>
            <a:endParaRPr lang="en-US" altLang="en-US" dirty="0"/>
          </a:p>
          <a:p>
            <a:r>
              <a:rPr lang="en-US" altLang="en-US" dirty="0"/>
              <a:t>Average I/O time = average access time + (amount to transfer / transfer rate) + controller overhead</a:t>
            </a:r>
            <a:endParaRPr lang="en-US" altLang="en-US" dirty="0"/>
          </a:p>
          <a:p>
            <a:r>
              <a:rPr lang="en-US" altLang="en-US" dirty="0"/>
              <a:t>For example to transfer a 4KB block on a 7200 RPM disk with a 5ms average seek time, 1Gb/sec transfer rate with a .1ms controller overhead =</a:t>
            </a:r>
            <a:endParaRPr lang="en-US" altLang="en-US" dirty="0"/>
          </a:p>
          <a:p>
            <a:pPr lvl="1"/>
            <a:r>
              <a:rPr lang="en-US" altLang="en-US" dirty="0"/>
              <a:t>5ms + 4.17ms + 0.1ms + transfer time =</a:t>
            </a:r>
            <a:endParaRPr lang="en-US" altLang="en-US" dirty="0"/>
          </a:p>
          <a:p>
            <a:pPr lvl="1"/>
            <a:r>
              <a:rPr lang="en-US" altLang="en-US" dirty="0"/>
              <a:t>Transfer time = 4KB / 1Gb/s * 8Gb / GB * 1GB / 1024</a:t>
            </a:r>
            <a:r>
              <a:rPr lang="en-US" altLang="en-US" baseline="30000" dirty="0"/>
              <a:t>2</a:t>
            </a:r>
            <a:r>
              <a:rPr lang="en-US" altLang="en-US" dirty="0"/>
              <a:t>KB = 32 / (1024</a:t>
            </a:r>
            <a:r>
              <a:rPr lang="en-US" altLang="en-US" baseline="30000" dirty="0"/>
              <a:t>2</a:t>
            </a:r>
            <a:r>
              <a:rPr lang="en-US" altLang="en-US" dirty="0"/>
              <a:t>) = 0.031 </a:t>
            </a:r>
            <a:r>
              <a:rPr lang="en-US" altLang="en-US" dirty="0" err="1"/>
              <a:t>ms</a:t>
            </a:r>
            <a:r>
              <a:rPr lang="en-US" altLang="en-US" dirty="0"/>
              <a:t> </a:t>
            </a:r>
            <a:endParaRPr lang="en-US" altLang="en-US" dirty="0"/>
          </a:p>
          <a:p>
            <a:pPr lvl="1"/>
            <a:r>
              <a:rPr lang="en-US" altLang="en-US" dirty="0"/>
              <a:t>Average I/O time for 4KB block = 9.27ms + .031ms = 9.301ms</a:t>
            </a:r>
            <a:endParaRPr lang="en-US" altLang="en-US" dirty="0"/>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noChangeArrowheads="1"/>
          </p:cNvSpPr>
          <p:nvPr>
            <p:ph type="title"/>
          </p:nvPr>
        </p:nvSpPr>
        <p:spPr>
          <a:xfrm>
            <a:off x="747908" y="243929"/>
            <a:ext cx="8229600" cy="576262"/>
          </a:xfrm>
        </p:spPr>
        <p:txBody>
          <a:bodyPr/>
          <a:lstStyle/>
          <a:p>
            <a:r>
              <a:rPr lang="en-US" altLang="en-US" dirty="0"/>
              <a:t>The First Commercial Disk Drive</a:t>
            </a:r>
            <a:endParaRPr lang="en-US" altLang="en-US" dirty="0"/>
          </a:p>
        </p:txBody>
      </p:sp>
      <p:pic>
        <p:nvPicPr>
          <p:cNvPr id="17410"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81320" y="1235869"/>
            <a:ext cx="3481388"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3"/>
          <p:cNvSpPr txBox="1">
            <a:spLocks noChangeArrowheads="1"/>
          </p:cNvSpPr>
          <p:nvPr/>
        </p:nvSpPr>
        <p:spPr bwMode="auto">
          <a:xfrm>
            <a:off x="5141167" y="1698625"/>
            <a:ext cx="3481389"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dirty="0"/>
              <a:t>1956</a:t>
            </a:r>
            <a:endParaRPr lang="en-US" altLang="en-US" dirty="0"/>
          </a:p>
          <a:p>
            <a:r>
              <a:rPr lang="en-US" altLang="en-US" dirty="0"/>
              <a:t>IBM RAMDAC computer included the IBM Model 350 disk storage system</a:t>
            </a:r>
            <a:endParaRPr lang="en-US" altLang="en-US" dirty="0"/>
          </a:p>
          <a:p>
            <a:endParaRPr lang="en-US" altLang="en-US" dirty="0"/>
          </a:p>
          <a:p>
            <a:r>
              <a:rPr lang="en-US" altLang="en-US" dirty="0"/>
              <a:t>5M (7 bit) characters</a:t>
            </a:r>
            <a:endParaRPr lang="en-US" altLang="en-US" dirty="0"/>
          </a:p>
          <a:p>
            <a:r>
              <a:rPr lang="en-US" altLang="en-US" dirty="0"/>
              <a:t>50 x 24</a:t>
            </a:r>
            <a:r>
              <a:rPr lang="ja-JP" altLang="en-US" dirty="0"/>
              <a:t>”</a:t>
            </a:r>
            <a:r>
              <a:rPr lang="en-US" altLang="ja-JP" dirty="0"/>
              <a:t> platters</a:t>
            </a:r>
            <a:endParaRPr lang="en-US" altLang="ja-JP" dirty="0"/>
          </a:p>
          <a:p>
            <a:r>
              <a:rPr lang="en-US" altLang="en-US" dirty="0"/>
              <a:t>Access time = &lt; 1 second</a:t>
            </a:r>
            <a:endParaRPr lang="en-US" altLang="en-US" dirty="0"/>
          </a:p>
          <a:p>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noChangeArrowheads="1"/>
          </p:cNvSpPr>
          <p:nvPr>
            <p:ph type="title"/>
          </p:nvPr>
        </p:nvSpPr>
        <p:spPr>
          <a:xfrm>
            <a:off x="457200" y="241918"/>
            <a:ext cx="8229600" cy="576262"/>
          </a:xfrm>
        </p:spPr>
        <p:txBody>
          <a:bodyPr/>
          <a:lstStyle/>
          <a:p>
            <a:r>
              <a:rPr lang="en-US" altLang="en-US" dirty="0"/>
              <a:t>Nonvolatile Memory Devices</a:t>
            </a:r>
            <a:endParaRPr lang="en-US" altLang="en-US" dirty="0"/>
          </a:p>
        </p:txBody>
      </p:sp>
      <p:sp>
        <p:nvSpPr>
          <p:cNvPr id="18434" name="Content Placeholder 2"/>
          <p:cNvSpPr>
            <a:spLocks noGrp="1" noChangeArrowheads="1"/>
          </p:cNvSpPr>
          <p:nvPr>
            <p:ph idx="1"/>
          </p:nvPr>
        </p:nvSpPr>
        <p:spPr>
          <a:xfrm>
            <a:off x="897749" y="1231638"/>
            <a:ext cx="7714406" cy="4354351"/>
          </a:xfrm>
        </p:spPr>
        <p:txBody>
          <a:bodyPr/>
          <a:lstStyle/>
          <a:p>
            <a:r>
              <a:rPr lang="en-US" altLang="en-US" dirty="0"/>
              <a:t>If disk-drive like, then called </a:t>
            </a:r>
            <a:r>
              <a:rPr lang="en-US" altLang="en-US" b="1" dirty="0">
                <a:solidFill>
                  <a:srgbClr val="006699"/>
                </a:solidFill>
                <a:latin typeface="+mj-lt"/>
              </a:rPr>
              <a:t>solid-state</a:t>
            </a:r>
            <a:r>
              <a:rPr lang="en-US" altLang="en-US" b="1" dirty="0">
                <a:solidFill>
                  <a:srgbClr val="3366FF"/>
                </a:solidFill>
              </a:rPr>
              <a:t> </a:t>
            </a:r>
            <a:r>
              <a:rPr lang="en-US" altLang="en-US" b="1" dirty="0">
                <a:solidFill>
                  <a:srgbClr val="006699"/>
                </a:solidFill>
                <a:latin typeface="+mj-lt"/>
              </a:rPr>
              <a:t>disks</a:t>
            </a:r>
            <a:r>
              <a:rPr lang="en-US" altLang="en-US" b="1" dirty="0">
                <a:solidFill>
                  <a:srgbClr val="3366FF"/>
                </a:solidFill>
              </a:rPr>
              <a:t> </a:t>
            </a:r>
            <a:r>
              <a:rPr lang="en-US" altLang="en-US" dirty="0"/>
              <a:t>(</a:t>
            </a:r>
            <a:r>
              <a:rPr lang="en-US" altLang="en-US" b="1" dirty="0">
                <a:solidFill>
                  <a:srgbClr val="006699"/>
                </a:solidFill>
                <a:latin typeface="+mj-lt"/>
              </a:rPr>
              <a:t>SSDs</a:t>
            </a:r>
            <a:r>
              <a:rPr lang="en-US" altLang="en-US" dirty="0"/>
              <a:t>)</a:t>
            </a:r>
            <a:endParaRPr lang="en-US" altLang="en-US" dirty="0"/>
          </a:p>
          <a:p>
            <a:r>
              <a:rPr lang="en-US" altLang="en-US" dirty="0"/>
              <a:t>Other forms include </a:t>
            </a:r>
            <a:r>
              <a:rPr lang="en-US" altLang="en-US" b="1" dirty="0">
                <a:solidFill>
                  <a:srgbClr val="006699"/>
                </a:solidFill>
                <a:latin typeface="+mj-lt"/>
              </a:rPr>
              <a:t>USB</a:t>
            </a:r>
            <a:r>
              <a:rPr lang="en-US" altLang="en-US" b="1" dirty="0">
                <a:solidFill>
                  <a:srgbClr val="3366FF"/>
                </a:solidFill>
              </a:rPr>
              <a:t> </a:t>
            </a:r>
            <a:r>
              <a:rPr lang="en-US" altLang="en-US" b="1" dirty="0">
                <a:solidFill>
                  <a:srgbClr val="006699"/>
                </a:solidFill>
                <a:latin typeface="+mj-lt"/>
              </a:rPr>
              <a:t>drives</a:t>
            </a:r>
            <a:r>
              <a:rPr lang="en-US" altLang="en-US" dirty="0"/>
              <a:t> (thumb drive, flash drive), DRAM disk replacements, surface-mounted on motherboards, and main storage in devices like smartphones</a:t>
            </a:r>
            <a:endParaRPr lang="en-US" altLang="en-US" dirty="0"/>
          </a:p>
          <a:p>
            <a:r>
              <a:rPr lang="en-US" altLang="en-US" dirty="0"/>
              <a:t>Can be more reliable than HDDs</a:t>
            </a:r>
            <a:endParaRPr lang="en-US" altLang="en-US" dirty="0"/>
          </a:p>
          <a:p>
            <a:r>
              <a:rPr lang="en-US" altLang="en-US" dirty="0"/>
              <a:t>More expensive per MB</a:t>
            </a:r>
            <a:endParaRPr lang="en-US" altLang="en-US" dirty="0"/>
          </a:p>
          <a:p>
            <a:r>
              <a:rPr lang="en-US" altLang="en-US" dirty="0"/>
              <a:t>Maybe have shorter life span – need careful management</a:t>
            </a:r>
            <a:endParaRPr lang="en-US" altLang="en-US" dirty="0"/>
          </a:p>
          <a:p>
            <a:r>
              <a:rPr lang="en-US" altLang="en-US" dirty="0"/>
              <a:t>Less capacity</a:t>
            </a:r>
            <a:endParaRPr lang="en-US" altLang="en-US" dirty="0"/>
          </a:p>
          <a:p>
            <a:r>
              <a:rPr lang="en-US" altLang="en-US" dirty="0"/>
              <a:t>But much faster</a:t>
            </a:r>
            <a:endParaRPr lang="en-US" altLang="en-US" dirty="0"/>
          </a:p>
          <a:p>
            <a:r>
              <a:rPr lang="en-US" altLang="en-US" dirty="0"/>
              <a:t>Busses can be too slow -&gt; connect directly to PCI for example</a:t>
            </a:r>
            <a:endParaRPr lang="en-US" altLang="en-US" dirty="0"/>
          </a:p>
          <a:p>
            <a:r>
              <a:rPr lang="en-US" altLang="en-US" dirty="0"/>
              <a:t>No moving parts, so no seek time or rotational latency</a:t>
            </a: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noChangeArrowheads="1"/>
          </p:cNvSpPr>
          <p:nvPr>
            <p:ph type="title"/>
          </p:nvPr>
        </p:nvSpPr>
        <p:spPr>
          <a:xfrm>
            <a:off x="709127" y="241918"/>
            <a:ext cx="8229600" cy="576262"/>
          </a:xfrm>
        </p:spPr>
        <p:txBody>
          <a:bodyPr/>
          <a:lstStyle/>
          <a:p>
            <a:r>
              <a:rPr lang="en-US" altLang="en-US" dirty="0"/>
              <a:t>Nonvolatile Memory Devices</a:t>
            </a:r>
            <a:endParaRPr lang="en-US" altLang="en-US" dirty="0"/>
          </a:p>
        </p:txBody>
      </p:sp>
      <p:sp>
        <p:nvSpPr>
          <p:cNvPr id="19458" name="Content Placeholder 2"/>
          <p:cNvSpPr>
            <a:spLocks noGrp="1" noChangeArrowheads="1"/>
          </p:cNvSpPr>
          <p:nvPr>
            <p:ph idx="1"/>
          </p:nvPr>
        </p:nvSpPr>
        <p:spPr>
          <a:xfrm>
            <a:off x="888419" y="1111250"/>
            <a:ext cx="4448692" cy="5092700"/>
          </a:xfrm>
        </p:spPr>
        <p:txBody>
          <a:bodyPr/>
          <a:lstStyle/>
          <a:p>
            <a:r>
              <a:rPr lang="en-US" altLang="en-US" dirty="0"/>
              <a:t>Have characteristics that present challenges</a:t>
            </a:r>
            <a:endParaRPr lang="en-US" altLang="en-US" dirty="0"/>
          </a:p>
          <a:p>
            <a:r>
              <a:rPr lang="en-US" altLang="en-US" dirty="0"/>
              <a:t>Read and written in “page” increments (think sector) but can’t overwrite in place</a:t>
            </a:r>
            <a:endParaRPr lang="en-US" altLang="en-US" dirty="0"/>
          </a:p>
          <a:p>
            <a:pPr lvl="1"/>
            <a:r>
              <a:rPr lang="en-US" altLang="en-US" dirty="0"/>
              <a:t>Must first be erased, and erases happen in larger ”block” increments</a:t>
            </a:r>
            <a:endParaRPr lang="en-US" altLang="en-US" dirty="0"/>
          </a:p>
          <a:p>
            <a:pPr lvl="1"/>
            <a:r>
              <a:rPr lang="en-US" altLang="en-US" dirty="0"/>
              <a:t>Can only be erased a limited number of times before worn out – ~ 100,000</a:t>
            </a:r>
            <a:endParaRPr lang="en-US" altLang="en-US" dirty="0"/>
          </a:p>
          <a:p>
            <a:pPr lvl="1"/>
            <a:r>
              <a:rPr lang="en-US" altLang="en-US" dirty="0"/>
              <a:t>Life span measured in </a:t>
            </a:r>
            <a:r>
              <a:rPr lang="en-US" altLang="en-US" b="1" dirty="0">
                <a:solidFill>
                  <a:srgbClr val="006699"/>
                </a:solidFill>
                <a:latin typeface="+mj-lt"/>
              </a:rPr>
              <a:t>drive</a:t>
            </a:r>
            <a:r>
              <a:rPr lang="en-US" altLang="en-US" b="1" dirty="0">
                <a:solidFill>
                  <a:srgbClr val="3366FF"/>
                </a:solidFill>
              </a:rPr>
              <a:t> </a:t>
            </a:r>
            <a:r>
              <a:rPr lang="en-US" altLang="en-US" b="1" dirty="0">
                <a:solidFill>
                  <a:srgbClr val="006699"/>
                </a:solidFill>
                <a:latin typeface="+mj-lt"/>
              </a:rPr>
              <a:t>writes</a:t>
            </a:r>
            <a:r>
              <a:rPr lang="en-US" altLang="en-US" b="1" dirty="0">
                <a:solidFill>
                  <a:srgbClr val="3366FF"/>
                </a:solidFill>
              </a:rPr>
              <a:t> </a:t>
            </a:r>
            <a:r>
              <a:rPr lang="en-US" altLang="en-US" b="1" dirty="0">
                <a:solidFill>
                  <a:srgbClr val="006699"/>
                </a:solidFill>
                <a:latin typeface="+mj-lt"/>
              </a:rPr>
              <a:t>per</a:t>
            </a:r>
            <a:r>
              <a:rPr lang="en-US" altLang="en-US" b="1" dirty="0">
                <a:solidFill>
                  <a:srgbClr val="3366FF"/>
                </a:solidFill>
              </a:rPr>
              <a:t> </a:t>
            </a:r>
            <a:r>
              <a:rPr lang="en-US" altLang="en-US" b="1" dirty="0">
                <a:solidFill>
                  <a:srgbClr val="006699"/>
                </a:solidFill>
                <a:latin typeface="+mj-lt"/>
              </a:rPr>
              <a:t>day</a:t>
            </a:r>
            <a:r>
              <a:rPr lang="en-US" altLang="en-US" dirty="0"/>
              <a:t> (</a:t>
            </a:r>
            <a:r>
              <a:rPr lang="en-US" altLang="en-US" b="1" dirty="0">
                <a:solidFill>
                  <a:srgbClr val="006699"/>
                </a:solidFill>
                <a:latin typeface="+mj-lt"/>
              </a:rPr>
              <a:t>DWPD</a:t>
            </a:r>
            <a:r>
              <a:rPr lang="en-US" altLang="en-US" dirty="0"/>
              <a:t>)</a:t>
            </a:r>
            <a:endParaRPr lang="en-US" altLang="en-US" dirty="0"/>
          </a:p>
          <a:p>
            <a:pPr lvl="2"/>
            <a:r>
              <a:rPr lang="en-US" altLang="en-US" dirty="0"/>
              <a:t>A 1TB NAND drive with rating of 5DWPD is expected to have 5TB per day written within warrantee period without failing</a:t>
            </a:r>
            <a:endParaRPr lang="en-US" altLang="en-US" dirty="0"/>
          </a:p>
        </p:txBody>
      </p:sp>
      <p:pic>
        <p:nvPicPr>
          <p:cNvPr id="19459"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7111" y="2480468"/>
            <a:ext cx="3105150"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noChangeArrowheads="1"/>
          </p:cNvSpPr>
          <p:nvPr>
            <p:ph type="title"/>
          </p:nvPr>
        </p:nvSpPr>
        <p:spPr>
          <a:xfrm>
            <a:off x="942932" y="232775"/>
            <a:ext cx="7628792" cy="576262"/>
          </a:xfrm>
        </p:spPr>
        <p:txBody>
          <a:bodyPr/>
          <a:lstStyle/>
          <a:p>
            <a:r>
              <a:rPr lang="en-US" altLang="en-US" dirty="0"/>
              <a:t>NAND Flash Controller Algorithms</a:t>
            </a:r>
            <a:endParaRPr lang="en-US" altLang="en-US" dirty="0"/>
          </a:p>
        </p:txBody>
      </p:sp>
      <p:sp>
        <p:nvSpPr>
          <p:cNvPr id="87042" name="Content Placeholder 2"/>
          <p:cNvSpPr>
            <a:spLocks noGrp="1" noChangeArrowheads="1"/>
          </p:cNvSpPr>
          <p:nvPr>
            <p:ph idx="1"/>
          </p:nvPr>
        </p:nvSpPr>
        <p:spPr>
          <a:xfrm>
            <a:off x="897065" y="1233488"/>
            <a:ext cx="7628792" cy="4530725"/>
          </a:xfrm>
        </p:spPr>
        <p:txBody>
          <a:bodyPr/>
          <a:lstStyle/>
          <a:p>
            <a:r>
              <a:rPr lang="en-US" altLang="en-US" dirty="0"/>
              <a:t>With no overwrite, pages end up with mix of valid and invalid data</a:t>
            </a:r>
            <a:endParaRPr lang="en-US" altLang="en-US" dirty="0"/>
          </a:p>
          <a:p>
            <a:r>
              <a:rPr lang="en-US" altLang="en-US" dirty="0"/>
              <a:t>To track which logical blocks are valid, controller maintains </a:t>
            </a:r>
            <a:r>
              <a:rPr lang="en-US" altLang="en-US" b="1" dirty="0">
                <a:solidFill>
                  <a:srgbClr val="006699"/>
                </a:solidFill>
                <a:latin typeface="+mj-lt"/>
              </a:rPr>
              <a:t>flash</a:t>
            </a:r>
            <a:r>
              <a:rPr lang="en-US" altLang="en-US" b="1" dirty="0">
                <a:solidFill>
                  <a:srgbClr val="3366FF"/>
                </a:solidFill>
              </a:rPr>
              <a:t> </a:t>
            </a:r>
            <a:r>
              <a:rPr lang="en-US" altLang="en-US" b="1" dirty="0">
                <a:solidFill>
                  <a:srgbClr val="006699"/>
                </a:solidFill>
                <a:latin typeface="+mj-lt"/>
              </a:rPr>
              <a:t>translation</a:t>
            </a:r>
            <a:r>
              <a:rPr lang="en-US" altLang="en-US" b="1" dirty="0">
                <a:solidFill>
                  <a:srgbClr val="3366FF"/>
                </a:solidFill>
              </a:rPr>
              <a:t> </a:t>
            </a:r>
            <a:r>
              <a:rPr lang="en-US" altLang="en-US" b="1" dirty="0">
                <a:solidFill>
                  <a:srgbClr val="006699"/>
                </a:solidFill>
                <a:latin typeface="+mj-lt"/>
              </a:rPr>
              <a:t>layer</a:t>
            </a:r>
            <a:r>
              <a:rPr lang="en-US" altLang="en-US" dirty="0"/>
              <a:t> (</a:t>
            </a:r>
            <a:r>
              <a:rPr lang="en-US" altLang="en-US" b="1" dirty="0">
                <a:solidFill>
                  <a:srgbClr val="006699"/>
                </a:solidFill>
                <a:latin typeface="+mj-lt"/>
              </a:rPr>
              <a:t>FTL</a:t>
            </a:r>
            <a:r>
              <a:rPr lang="en-US" altLang="en-US" dirty="0"/>
              <a:t>) table</a:t>
            </a:r>
            <a:endParaRPr lang="en-US" altLang="en-US" dirty="0"/>
          </a:p>
          <a:p>
            <a:r>
              <a:rPr lang="en-US" altLang="en-US" dirty="0"/>
              <a:t>Also implements </a:t>
            </a:r>
            <a:r>
              <a:rPr lang="en-US" altLang="en-US" b="1" dirty="0">
                <a:solidFill>
                  <a:srgbClr val="006699"/>
                </a:solidFill>
                <a:latin typeface="+mj-lt"/>
              </a:rPr>
              <a:t>garbage</a:t>
            </a:r>
            <a:r>
              <a:rPr lang="en-US" altLang="en-US" b="1" dirty="0">
                <a:solidFill>
                  <a:srgbClr val="3366FF"/>
                </a:solidFill>
              </a:rPr>
              <a:t> </a:t>
            </a:r>
            <a:r>
              <a:rPr lang="en-US" altLang="en-US" b="1" dirty="0">
                <a:solidFill>
                  <a:srgbClr val="006699"/>
                </a:solidFill>
                <a:latin typeface="+mj-lt"/>
              </a:rPr>
              <a:t>collection</a:t>
            </a:r>
            <a:r>
              <a:rPr lang="en-US" altLang="en-US" b="1" dirty="0">
                <a:solidFill>
                  <a:srgbClr val="3366FF"/>
                </a:solidFill>
              </a:rPr>
              <a:t> </a:t>
            </a:r>
            <a:r>
              <a:rPr lang="en-US" altLang="en-US" dirty="0"/>
              <a:t>to free invalid page space</a:t>
            </a:r>
            <a:endParaRPr lang="en-US" altLang="en-US" dirty="0"/>
          </a:p>
          <a:p>
            <a:r>
              <a:rPr lang="en-US" altLang="en-US" dirty="0"/>
              <a:t>Allocates </a:t>
            </a:r>
            <a:r>
              <a:rPr lang="en-US" altLang="en-US" b="1" dirty="0">
                <a:solidFill>
                  <a:srgbClr val="006699"/>
                </a:solidFill>
                <a:latin typeface="+mj-lt"/>
              </a:rPr>
              <a:t>overprovisioning</a:t>
            </a:r>
            <a:r>
              <a:rPr lang="en-US" altLang="en-US" dirty="0"/>
              <a:t> to provide working space for GC</a:t>
            </a:r>
            <a:endParaRPr lang="en-US" altLang="en-US" dirty="0"/>
          </a:p>
          <a:p>
            <a:r>
              <a:rPr lang="en-US" altLang="en-US" dirty="0"/>
              <a:t>Each cell has lifespan, so </a:t>
            </a:r>
            <a:r>
              <a:rPr lang="en-US" altLang="en-US" b="1" dirty="0">
                <a:solidFill>
                  <a:srgbClr val="006699"/>
                </a:solidFill>
                <a:latin typeface="+mj-lt"/>
              </a:rPr>
              <a:t>wear</a:t>
            </a:r>
            <a:r>
              <a:rPr lang="en-US" altLang="en-US" b="1" dirty="0">
                <a:solidFill>
                  <a:srgbClr val="3366FF"/>
                </a:solidFill>
              </a:rPr>
              <a:t> </a:t>
            </a:r>
            <a:r>
              <a:rPr lang="en-US" altLang="en-US" b="1" dirty="0">
                <a:solidFill>
                  <a:srgbClr val="006699"/>
                </a:solidFill>
                <a:latin typeface="+mj-lt"/>
              </a:rPr>
              <a:t>leveling</a:t>
            </a:r>
            <a:r>
              <a:rPr lang="en-US" altLang="en-US" b="1" dirty="0">
                <a:solidFill>
                  <a:srgbClr val="3366FF"/>
                </a:solidFill>
              </a:rPr>
              <a:t> </a:t>
            </a:r>
            <a:r>
              <a:rPr lang="en-US" altLang="en-US" dirty="0"/>
              <a:t>needed to write equally to all cells</a:t>
            </a:r>
            <a:endParaRPr lang="en-US" altLang="en-US" dirty="0"/>
          </a:p>
        </p:txBody>
      </p:sp>
      <p:pic>
        <p:nvPicPr>
          <p:cNvPr id="8704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25763" y="3629025"/>
            <a:ext cx="3446462"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Box 5"/>
          <p:cNvSpPr txBox="1">
            <a:spLocks noChangeArrowheads="1"/>
          </p:cNvSpPr>
          <p:nvPr/>
        </p:nvSpPr>
        <p:spPr bwMode="auto">
          <a:xfrm>
            <a:off x="2406650" y="5376863"/>
            <a:ext cx="6159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NAND block with valid and invalid pages</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72053" y="248303"/>
            <a:ext cx="7404197" cy="576263"/>
          </a:xfrm>
        </p:spPr>
        <p:txBody>
          <a:bodyPr/>
          <a:lstStyle/>
          <a:p>
            <a:pPr eaLnBrk="1" hangingPunct="1"/>
            <a:r>
              <a:rPr lang="en-US" altLang="en-US" dirty="0"/>
              <a:t>Volatile Memory</a:t>
            </a:r>
            <a:endParaRPr lang="en-US" altLang="en-US" dirty="0"/>
          </a:p>
        </p:txBody>
      </p:sp>
      <p:sp>
        <p:nvSpPr>
          <p:cNvPr id="20482" name="Rectangle 3"/>
          <p:cNvSpPr>
            <a:spLocks noGrp="1" noChangeArrowheads="1"/>
          </p:cNvSpPr>
          <p:nvPr>
            <p:ph type="body" idx="1"/>
          </p:nvPr>
        </p:nvSpPr>
        <p:spPr>
          <a:xfrm>
            <a:off x="885049" y="1096963"/>
            <a:ext cx="7615139" cy="45307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DRAM frequently used as mass-storage device</a:t>
            </a:r>
            <a:endParaRPr lang="en-US" altLang="en-US" dirty="0"/>
          </a:p>
          <a:p>
            <a:pPr lvl="1"/>
            <a:r>
              <a:rPr lang="en-US" altLang="en-US" dirty="0"/>
              <a:t>Not technically secondary storage because volatile, but can have file systems, be used like very fast secondary storage</a:t>
            </a:r>
            <a:endParaRPr lang="en-US" altLang="en-US" dirty="0"/>
          </a:p>
          <a:p>
            <a:r>
              <a:rPr lang="en-US" altLang="en-US" b="1" dirty="0">
                <a:solidFill>
                  <a:srgbClr val="006699"/>
                </a:solidFill>
                <a:latin typeface="+mj-lt"/>
              </a:rPr>
              <a:t>RAM</a:t>
            </a:r>
            <a:r>
              <a:rPr lang="en-US" altLang="en-US" b="1" dirty="0">
                <a:solidFill>
                  <a:srgbClr val="3366FF"/>
                </a:solidFill>
              </a:rPr>
              <a:t> </a:t>
            </a:r>
            <a:r>
              <a:rPr lang="en-US" altLang="en-US" b="1" dirty="0">
                <a:solidFill>
                  <a:srgbClr val="006699"/>
                </a:solidFill>
                <a:latin typeface="+mj-lt"/>
              </a:rPr>
              <a:t>drives</a:t>
            </a:r>
            <a:r>
              <a:rPr lang="en-US" altLang="en-US" b="1" dirty="0">
                <a:solidFill>
                  <a:srgbClr val="3366FF"/>
                </a:solidFill>
              </a:rPr>
              <a:t> </a:t>
            </a:r>
            <a:r>
              <a:rPr lang="en-US" altLang="en-US" dirty="0"/>
              <a:t>(with many names, including RAM disks) present as raw block devices, commonly file system formatted</a:t>
            </a:r>
            <a:endParaRPr lang="en-US" altLang="en-US" dirty="0"/>
          </a:p>
          <a:p>
            <a:r>
              <a:rPr lang="en-US" altLang="en-US" dirty="0"/>
              <a:t>Computers have buffering, caching via RAM, so why RAM drives?</a:t>
            </a:r>
            <a:endParaRPr lang="en-US" altLang="en-US" dirty="0"/>
          </a:p>
          <a:p>
            <a:pPr lvl="1"/>
            <a:r>
              <a:rPr lang="en-US" altLang="en-US" dirty="0"/>
              <a:t>Caches / buffers allocated / managed by programmer, operating system, hardware</a:t>
            </a:r>
            <a:endParaRPr lang="en-US" altLang="en-US" dirty="0"/>
          </a:p>
          <a:p>
            <a:pPr lvl="1"/>
            <a:r>
              <a:rPr lang="en-US" altLang="en-US" dirty="0"/>
              <a:t>RAM drives under user control</a:t>
            </a:r>
            <a:endParaRPr lang="en-US" altLang="en-US" dirty="0"/>
          </a:p>
          <a:p>
            <a:pPr lvl="1"/>
            <a:r>
              <a:rPr lang="en-US" altLang="en-US" dirty="0"/>
              <a:t>Found in all major operating systems</a:t>
            </a:r>
            <a:endParaRPr lang="en-US" altLang="en-US" dirty="0"/>
          </a:p>
          <a:p>
            <a:pPr lvl="2"/>
            <a:r>
              <a:rPr lang="en-US" altLang="en-US" dirty="0"/>
              <a:t>Linux </a:t>
            </a:r>
            <a:r>
              <a:rPr lang="en-US" altLang="en-US" dirty="0">
                <a:latin typeface="Courier New" panose="02070309020205020404" pitchFamily="49" charset="0"/>
                <a:cs typeface="Courier New" panose="02070309020205020404" pitchFamily="49" charset="0"/>
              </a:rPr>
              <a:t>/dev/ram</a:t>
            </a:r>
            <a:r>
              <a:rPr lang="en-US" altLang="en-US" dirty="0"/>
              <a:t>, macOS </a:t>
            </a:r>
            <a:r>
              <a:rPr lang="en-US" altLang="en-US" dirty="0" err="1">
                <a:latin typeface="Courier New" panose="02070309020205020404" pitchFamily="49" charset="0"/>
                <a:cs typeface="Courier New" panose="02070309020205020404" pitchFamily="49" charset="0"/>
              </a:rPr>
              <a:t>diskutil</a:t>
            </a:r>
            <a:r>
              <a:rPr lang="en-US" altLang="en-US" dirty="0"/>
              <a:t> to create them, Linux </a:t>
            </a:r>
            <a:r>
              <a:rPr lang="en-US" alt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cs typeface="Courier New" panose="02070309020205020404" pitchFamily="49" charset="0"/>
              </a:rPr>
              <a:t>tmp</a:t>
            </a:r>
            <a:r>
              <a:rPr lang="en-US" altLang="en-US" dirty="0">
                <a:latin typeface="Courier New" panose="02070309020205020404" pitchFamily="49" charset="0"/>
                <a:cs typeface="Courier New" panose="02070309020205020404" pitchFamily="49" charset="0"/>
              </a:rPr>
              <a:t> </a:t>
            </a:r>
            <a:r>
              <a:rPr lang="en-US" altLang="en-US" dirty="0"/>
              <a:t>of file system type </a:t>
            </a:r>
            <a:r>
              <a:rPr lang="en-US" altLang="en-US" dirty="0" err="1">
                <a:latin typeface="Courier New" panose="02070309020205020404" pitchFamily="49" charset="0"/>
                <a:cs typeface="Courier New" panose="02070309020205020404" pitchFamily="49" charset="0"/>
              </a:rPr>
              <a:t>tmpfs</a:t>
            </a:r>
            <a:endParaRPr lang="en-US" altLang="en-US" dirty="0">
              <a:latin typeface="Courier New" panose="02070309020205020404" pitchFamily="49" charset="0"/>
              <a:cs typeface="Courier New" panose="02070309020205020404" pitchFamily="49" charset="0"/>
            </a:endParaRPr>
          </a:p>
          <a:p>
            <a:r>
              <a:rPr lang="en-US" altLang="en-US" dirty="0"/>
              <a:t>Used as high speed temporary storage</a:t>
            </a:r>
            <a:endParaRPr lang="en-US" altLang="en-US" dirty="0"/>
          </a:p>
          <a:p>
            <a:pPr lvl="1"/>
            <a:r>
              <a:rPr lang="en-US" altLang="en-US" dirty="0"/>
              <a:t>Programs could share bulk date, quickly, by reading/writing to RAM drive</a:t>
            </a:r>
            <a:endParaRPr lang="en-US" altLang="en-US" dirty="0"/>
          </a:p>
          <a:p>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844062" y="238972"/>
            <a:ext cx="7637462" cy="576263"/>
          </a:xfrm>
        </p:spPr>
        <p:txBody>
          <a:bodyPr/>
          <a:lstStyle/>
          <a:p>
            <a:pPr eaLnBrk="1" hangingPunct="1"/>
            <a:r>
              <a:rPr lang="en-US" altLang="en-US" dirty="0"/>
              <a:t>Magnetic Tape</a:t>
            </a:r>
            <a:endParaRPr lang="en-US" altLang="en-US" dirty="0"/>
          </a:p>
        </p:txBody>
      </p:sp>
      <p:pic>
        <p:nvPicPr>
          <p:cNvPr id="225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9300" y="1042988"/>
            <a:ext cx="5487988"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802237" y="248885"/>
            <a:ext cx="7781925" cy="576263"/>
          </a:xfrm>
        </p:spPr>
        <p:txBody>
          <a:bodyPr/>
          <a:lstStyle/>
          <a:p>
            <a:pPr eaLnBrk="1" hangingPunct="1"/>
            <a:r>
              <a:rPr lang="en-US" altLang="en-US" dirty="0"/>
              <a:t>Disk Structure</a:t>
            </a:r>
            <a:endParaRPr lang="en-US" altLang="en-US" dirty="0"/>
          </a:p>
        </p:txBody>
      </p:sp>
      <p:sp>
        <p:nvSpPr>
          <p:cNvPr id="24578" name="Rectangle 3"/>
          <p:cNvSpPr>
            <a:spLocks noGrp="1" noChangeArrowheads="1"/>
          </p:cNvSpPr>
          <p:nvPr>
            <p:ph type="body" idx="1"/>
          </p:nvPr>
        </p:nvSpPr>
        <p:spPr>
          <a:xfrm>
            <a:off x="880092" y="1203649"/>
            <a:ext cx="7704069" cy="4397051"/>
          </a:xfrm>
        </p:spPr>
        <p:txBody>
          <a:bodyPr/>
          <a:lstStyle/>
          <a:p>
            <a:r>
              <a:rPr lang="en-US" altLang="en-US" dirty="0"/>
              <a:t>Disk drives are addressed as large 1-dimensional arrays of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dirty="0"/>
              <a:t>, where the logical block is the smallest unit of transfer</a:t>
            </a:r>
            <a:endParaRPr lang="en-US" altLang="en-US" dirty="0"/>
          </a:p>
          <a:p>
            <a:pPr lvl="1"/>
            <a:r>
              <a:rPr lang="en-US" altLang="en-US" dirty="0"/>
              <a:t>Low-level formatting creates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b="1" dirty="0">
                <a:solidFill>
                  <a:srgbClr val="3366FF"/>
                </a:solidFill>
              </a:rPr>
              <a:t> </a:t>
            </a:r>
            <a:r>
              <a:rPr lang="en-US" altLang="en-US" dirty="0"/>
              <a:t>on physical media</a:t>
            </a:r>
            <a:endParaRPr lang="en-US" altLang="en-US" dirty="0"/>
          </a:p>
          <a:p>
            <a:r>
              <a:rPr lang="en-US" altLang="en-US" dirty="0"/>
              <a:t>The 1-dimensional array of logical blocks is mapped into the sectors of the disk sequentially</a:t>
            </a:r>
            <a:endParaRPr lang="en-US" altLang="en-US" dirty="0"/>
          </a:p>
          <a:p>
            <a:pPr lvl="1"/>
            <a:r>
              <a:rPr lang="en-US" altLang="en-US" dirty="0"/>
              <a:t>Sector 0 is the first sector of the first track on the outermost cylinder</a:t>
            </a:r>
            <a:endParaRPr lang="en-US" altLang="en-US" dirty="0"/>
          </a:p>
          <a:p>
            <a:pPr lvl="1"/>
            <a:r>
              <a:rPr lang="en-US" altLang="en-US" dirty="0"/>
              <a:t>Mapping proceeds in order through that track, then the rest of the tracks in that cylinder, and then through the rest of the cylinders from outermost to innermost</a:t>
            </a:r>
            <a:endParaRPr lang="en-US" altLang="en-US" dirty="0"/>
          </a:p>
          <a:p>
            <a:pPr lvl="1"/>
            <a:r>
              <a:rPr lang="en-US" altLang="en-US" dirty="0"/>
              <a:t>Logical to physical address should be easy</a:t>
            </a:r>
            <a:endParaRPr lang="en-US" altLang="en-US" dirty="0"/>
          </a:p>
          <a:p>
            <a:pPr lvl="2"/>
            <a:r>
              <a:rPr lang="en-US" altLang="en-US" dirty="0"/>
              <a:t>Except for bad sectors</a:t>
            </a:r>
            <a:endParaRPr lang="en-US" altLang="en-US" dirty="0"/>
          </a:p>
          <a:p>
            <a:pPr lvl="2"/>
            <a:r>
              <a:rPr lang="en-US" altLang="en-US" dirty="0"/>
              <a:t>Non-constant # of sectors per track via constant angular velocity</a:t>
            </a:r>
            <a:endParaRPr lang="en-US" altLang="en-US" dirty="0"/>
          </a:p>
          <a:p>
            <a:endParaRPr lang="en-US" altLang="en-US"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829839" y="239554"/>
            <a:ext cx="7800975" cy="576263"/>
          </a:xfrm>
        </p:spPr>
        <p:txBody>
          <a:bodyPr/>
          <a:lstStyle/>
          <a:p>
            <a:pPr eaLnBrk="1" hangingPunct="1"/>
            <a:r>
              <a:rPr lang="en-US" altLang="en-US" dirty="0"/>
              <a:t>Disk Attachment</a:t>
            </a:r>
            <a:endParaRPr lang="en-US" altLang="en-US" dirty="0"/>
          </a:p>
        </p:txBody>
      </p:sp>
      <p:sp>
        <p:nvSpPr>
          <p:cNvPr id="26626" name="Rectangle 3"/>
          <p:cNvSpPr>
            <a:spLocks noGrp="1" noChangeArrowheads="1"/>
          </p:cNvSpPr>
          <p:nvPr>
            <p:ph type="body" idx="1"/>
          </p:nvPr>
        </p:nvSpPr>
        <p:spPr>
          <a:xfrm>
            <a:off x="877079" y="1080118"/>
            <a:ext cx="7781727" cy="4800600"/>
          </a:xfrm>
        </p:spPr>
        <p:txBody>
          <a:bodyPr/>
          <a:lstStyle/>
          <a:p>
            <a:r>
              <a:rPr lang="en-US" altLang="en-US" dirty="0"/>
              <a:t>Host-attached storage accessed through I/O ports talking to </a:t>
            </a:r>
            <a:r>
              <a:rPr lang="en-US" altLang="en-US" b="1" dirty="0">
                <a:solidFill>
                  <a:srgbClr val="006699"/>
                </a:solidFill>
                <a:latin typeface="+mj-lt"/>
              </a:rPr>
              <a:t>I/O</a:t>
            </a:r>
            <a:r>
              <a:rPr lang="en-US" altLang="en-US" b="1" dirty="0">
                <a:solidFill>
                  <a:srgbClr val="3366FF"/>
                </a:solidFill>
              </a:rPr>
              <a:t> </a:t>
            </a:r>
            <a:r>
              <a:rPr lang="en-US" altLang="en-US" b="1" dirty="0">
                <a:solidFill>
                  <a:srgbClr val="006699"/>
                </a:solidFill>
                <a:latin typeface="+mj-lt"/>
              </a:rPr>
              <a:t>busses</a:t>
            </a:r>
            <a:endParaRPr lang="en-US" altLang="en-US" b="1" dirty="0">
              <a:solidFill>
                <a:srgbClr val="006699"/>
              </a:solidFill>
              <a:latin typeface="+mj-lt"/>
            </a:endParaRPr>
          </a:p>
          <a:p>
            <a:r>
              <a:rPr lang="en-US" altLang="en-US" dirty="0"/>
              <a:t>Several busses available, including </a:t>
            </a:r>
            <a:r>
              <a:rPr lang="en-US" altLang="en-US" b="1" dirty="0">
                <a:solidFill>
                  <a:srgbClr val="006699"/>
                </a:solidFill>
                <a:latin typeface="+mj-lt"/>
              </a:rPr>
              <a:t>advanced</a:t>
            </a:r>
            <a:r>
              <a:rPr lang="en-US" altLang="en-US" b="1" dirty="0">
                <a:solidFill>
                  <a:srgbClr val="3366FF"/>
                </a:solidFill>
              </a:rPr>
              <a:t> </a:t>
            </a:r>
            <a:r>
              <a:rPr lang="en-US" altLang="en-US" b="1" dirty="0">
                <a:solidFill>
                  <a:srgbClr val="006699"/>
                </a:solidFill>
                <a:latin typeface="+mj-lt"/>
              </a:rPr>
              <a:t>technology</a:t>
            </a:r>
            <a:r>
              <a:rPr lang="en-US" altLang="en-US" b="1" dirty="0">
                <a:solidFill>
                  <a:srgbClr val="3366FF"/>
                </a:solidFill>
              </a:rPr>
              <a:t> </a:t>
            </a:r>
            <a:r>
              <a:rPr lang="en-US" altLang="en-US" b="1" dirty="0">
                <a:solidFill>
                  <a:srgbClr val="006699"/>
                </a:solidFill>
                <a:latin typeface="+mj-lt"/>
              </a:rPr>
              <a:t>attachment</a:t>
            </a:r>
            <a:r>
              <a:rPr lang="en-US" altLang="en-US" dirty="0"/>
              <a:t> (</a:t>
            </a:r>
            <a:r>
              <a:rPr lang="en-US" altLang="en-US" b="1" dirty="0">
                <a:solidFill>
                  <a:srgbClr val="006699"/>
                </a:solidFill>
                <a:latin typeface="+mj-lt"/>
              </a:rPr>
              <a:t>ATA</a:t>
            </a:r>
            <a:r>
              <a:rPr lang="en-US" altLang="en-US" dirty="0"/>
              <a:t>), </a:t>
            </a:r>
            <a:r>
              <a:rPr lang="en-US" altLang="en-US" b="1" dirty="0">
                <a:solidFill>
                  <a:srgbClr val="006699"/>
                </a:solidFill>
                <a:latin typeface="+mj-lt"/>
              </a:rPr>
              <a:t>serial</a:t>
            </a:r>
            <a:r>
              <a:rPr lang="en-US" altLang="en-US" b="1" dirty="0">
                <a:solidFill>
                  <a:srgbClr val="3366FF"/>
                </a:solidFill>
              </a:rPr>
              <a:t> </a:t>
            </a:r>
            <a:r>
              <a:rPr lang="en-US" altLang="en-US" b="1" dirty="0">
                <a:solidFill>
                  <a:srgbClr val="006699"/>
                </a:solidFill>
                <a:latin typeface="+mj-lt"/>
              </a:rPr>
              <a:t>ATA</a:t>
            </a:r>
            <a:r>
              <a:rPr lang="en-US" altLang="en-US" b="1" dirty="0">
                <a:solidFill>
                  <a:srgbClr val="3366FF"/>
                </a:solidFill>
              </a:rPr>
              <a:t> </a:t>
            </a:r>
            <a:r>
              <a:rPr lang="en-US" altLang="en-US" dirty="0"/>
              <a:t>(</a:t>
            </a:r>
            <a:r>
              <a:rPr lang="en-US" altLang="en-US" b="1" dirty="0">
                <a:solidFill>
                  <a:srgbClr val="006699"/>
                </a:solidFill>
                <a:latin typeface="+mj-lt"/>
              </a:rPr>
              <a:t>SATA</a:t>
            </a:r>
            <a:r>
              <a:rPr lang="en-US" altLang="en-US" dirty="0"/>
              <a:t>), </a:t>
            </a:r>
            <a:r>
              <a:rPr lang="en-US" altLang="en-US" b="1" dirty="0" err="1">
                <a:solidFill>
                  <a:srgbClr val="006699"/>
                </a:solidFill>
                <a:latin typeface="+mj-lt"/>
              </a:rPr>
              <a:t>eSATA</a:t>
            </a:r>
            <a:r>
              <a:rPr lang="en-US" altLang="en-US" dirty="0"/>
              <a:t>, </a:t>
            </a:r>
            <a:r>
              <a:rPr lang="en-US" altLang="en-US" b="1" dirty="0">
                <a:solidFill>
                  <a:srgbClr val="006699"/>
                </a:solidFill>
                <a:latin typeface="+mj-lt"/>
              </a:rPr>
              <a:t>serial</a:t>
            </a:r>
            <a:r>
              <a:rPr lang="en-US" altLang="en-US" b="1" dirty="0">
                <a:solidFill>
                  <a:srgbClr val="3366FF"/>
                </a:solidFill>
              </a:rPr>
              <a:t> </a:t>
            </a:r>
            <a:r>
              <a:rPr lang="en-US" altLang="en-US" b="1" dirty="0">
                <a:solidFill>
                  <a:srgbClr val="006699"/>
                </a:solidFill>
                <a:latin typeface="+mj-lt"/>
              </a:rPr>
              <a:t>attached</a:t>
            </a:r>
            <a:r>
              <a:rPr lang="en-US" altLang="en-US" b="1" dirty="0">
                <a:solidFill>
                  <a:srgbClr val="3366FF"/>
                </a:solidFill>
              </a:rPr>
              <a:t> </a:t>
            </a:r>
            <a:r>
              <a:rPr lang="en-US" altLang="en-US" b="1" dirty="0">
                <a:solidFill>
                  <a:srgbClr val="006699"/>
                </a:solidFill>
                <a:latin typeface="+mj-lt"/>
              </a:rPr>
              <a:t>SCSI</a:t>
            </a:r>
            <a:r>
              <a:rPr lang="en-US" altLang="en-US" dirty="0"/>
              <a:t> (</a:t>
            </a:r>
            <a:r>
              <a:rPr lang="en-US" altLang="en-US" b="1" dirty="0">
                <a:solidFill>
                  <a:srgbClr val="006699"/>
                </a:solidFill>
                <a:latin typeface="+mj-lt"/>
              </a:rPr>
              <a:t>SAS</a:t>
            </a:r>
            <a:r>
              <a:rPr lang="en-US" altLang="en-US" dirty="0"/>
              <a:t>), </a:t>
            </a:r>
            <a:r>
              <a:rPr lang="en-US" altLang="en-US" b="1" dirty="0">
                <a:solidFill>
                  <a:srgbClr val="006699"/>
                </a:solidFill>
                <a:latin typeface="+mj-lt"/>
              </a:rPr>
              <a:t>universal</a:t>
            </a:r>
            <a:r>
              <a:rPr lang="en-US" altLang="en-US" b="1" dirty="0">
                <a:solidFill>
                  <a:srgbClr val="3366FF"/>
                </a:solidFill>
              </a:rPr>
              <a:t> </a:t>
            </a:r>
            <a:r>
              <a:rPr lang="en-US" altLang="en-US" b="1" dirty="0">
                <a:solidFill>
                  <a:srgbClr val="006699"/>
                </a:solidFill>
                <a:latin typeface="+mj-lt"/>
              </a:rPr>
              <a:t>serial</a:t>
            </a:r>
            <a:r>
              <a:rPr lang="en-US" altLang="en-US" b="1" dirty="0">
                <a:solidFill>
                  <a:srgbClr val="3366FF"/>
                </a:solidFill>
              </a:rPr>
              <a:t> </a:t>
            </a:r>
            <a:r>
              <a:rPr lang="en-US" altLang="en-US" b="1" dirty="0">
                <a:solidFill>
                  <a:srgbClr val="006699"/>
                </a:solidFill>
                <a:latin typeface="+mj-lt"/>
              </a:rPr>
              <a:t>bus</a:t>
            </a:r>
            <a:r>
              <a:rPr lang="en-US" altLang="en-US" b="1" dirty="0">
                <a:solidFill>
                  <a:srgbClr val="3366FF"/>
                </a:solidFill>
              </a:rPr>
              <a:t> </a:t>
            </a:r>
            <a:r>
              <a:rPr lang="en-US" altLang="en-US" dirty="0"/>
              <a:t>(</a:t>
            </a:r>
            <a:r>
              <a:rPr lang="en-US" altLang="en-US" b="1" dirty="0">
                <a:solidFill>
                  <a:srgbClr val="006699"/>
                </a:solidFill>
                <a:latin typeface="+mj-lt"/>
              </a:rPr>
              <a:t>USB</a:t>
            </a:r>
            <a:r>
              <a:rPr lang="en-US" altLang="en-US" dirty="0"/>
              <a:t>), and </a:t>
            </a:r>
            <a:r>
              <a:rPr lang="en-US" altLang="en-US" b="1" dirty="0">
                <a:solidFill>
                  <a:srgbClr val="006699"/>
                </a:solidFill>
                <a:latin typeface="+mj-lt"/>
              </a:rPr>
              <a:t>fibre</a:t>
            </a:r>
            <a:r>
              <a:rPr lang="en-US" altLang="en-US" b="1" dirty="0">
                <a:solidFill>
                  <a:srgbClr val="3366FF"/>
                </a:solidFill>
              </a:rPr>
              <a:t> </a:t>
            </a:r>
            <a:r>
              <a:rPr lang="en-US" altLang="en-US" b="1" dirty="0">
                <a:solidFill>
                  <a:srgbClr val="006699"/>
                </a:solidFill>
                <a:latin typeface="+mj-lt"/>
              </a:rPr>
              <a:t>channel</a:t>
            </a:r>
            <a:r>
              <a:rPr lang="en-US" altLang="en-US" b="1" dirty="0">
                <a:solidFill>
                  <a:srgbClr val="3366FF"/>
                </a:solidFill>
              </a:rPr>
              <a:t> </a:t>
            </a:r>
            <a:r>
              <a:rPr lang="en-US" altLang="en-US" dirty="0"/>
              <a:t>(</a:t>
            </a:r>
            <a:r>
              <a:rPr lang="en-US" altLang="en-US" b="1" dirty="0">
                <a:solidFill>
                  <a:srgbClr val="006699"/>
                </a:solidFill>
                <a:latin typeface="+mj-lt"/>
              </a:rPr>
              <a:t>FC</a:t>
            </a:r>
            <a:r>
              <a:rPr lang="en-US" altLang="en-US" dirty="0"/>
              <a:t>).</a:t>
            </a:r>
            <a:endParaRPr lang="en-US" altLang="en-US" dirty="0"/>
          </a:p>
          <a:p>
            <a:r>
              <a:rPr lang="en-US" altLang="en-US" dirty="0"/>
              <a:t>Most common is SATA</a:t>
            </a:r>
            <a:endParaRPr lang="en-US" altLang="en-US" dirty="0"/>
          </a:p>
          <a:p>
            <a:r>
              <a:rPr lang="en-US" altLang="en-US" dirty="0"/>
              <a:t>Because NVM much faster than HDD, new fast interface for NVM called </a:t>
            </a:r>
            <a:r>
              <a:rPr lang="en-US" altLang="en-US" b="1" dirty="0">
                <a:solidFill>
                  <a:srgbClr val="006699"/>
                </a:solidFill>
                <a:latin typeface="+mj-lt"/>
              </a:rPr>
              <a:t>NVM</a:t>
            </a:r>
            <a:r>
              <a:rPr lang="en-US" altLang="en-US" b="1" dirty="0">
                <a:solidFill>
                  <a:srgbClr val="3366FF"/>
                </a:solidFill>
              </a:rPr>
              <a:t> </a:t>
            </a:r>
            <a:r>
              <a:rPr lang="en-US" altLang="en-US" b="1" dirty="0">
                <a:solidFill>
                  <a:srgbClr val="006699"/>
                </a:solidFill>
                <a:latin typeface="+mj-lt"/>
              </a:rPr>
              <a:t>express</a:t>
            </a:r>
            <a:r>
              <a:rPr lang="en-US" altLang="en-US" b="1" dirty="0">
                <a:solidFill>
                  <a:srgbClr val="3366FF"/>
                </a:solidFill>
              </a:rPr>
              <a:t> </a:t>
            </a:r>
            <a:r>
              <a:rPr lang="en-US" altLang="en-US" dirty="0"/>
              <a:t>(</a:t>
            </a:r>
            <a:r>
              <a:rPr lang="en-US" altLang="en-US" b="1" dirty="0" err="1">
                <a:solidFill>
                  <a:srgbClr val="006699"/>
                </a:solidFill>
                <a:latin typeface="+mj-lt"/>
              </a:rPr>
              <a:t>NVMe</a:t>
            </a:r>
            <a:r>
              <a:rPr lang="en-US" altLang="en-US" dirty="0"/>
              <a:t>), connecting directly to PCI bus</a:t>
            </a:r>
            <a:endParaRPr lang="en-US" altLang="en-US" dirty="0"/>
          </a:p>
          <a:p>
            <a:r>
              <a:rPr lang="en-US" altLang="en-US" dirty="0"/>
              <a:t>Data transfers on a bus carried out by special electronic processors called </a:t>
            </a:r>
            <a:r>
              <a:rPr lang="en-US" altLang="en-US" b="1" dirty="0">
                <a:solidFill>
                  <a:srgbClr val="006699"/>
                </a:solidFill>
                <a:latin typeface="+mj-lt"/>
              </a:rPr>
              <a:t>controllers</a:t>
            </a:r>
            <a:r>
              <a:rPr lang="en-US" altLang="en-US" dirty="0"/>
              <a:t> (or </a:t>
            </a:r>
            <a:r>
              <a:rPr lang="en-US" altLang="en-US" b="1" dirty="0">
                <a:solidFill>
                  <a:srgbClr val="006699"/>
                </a:solidFill>
                <a:latin typeface="+mj-lt"/>
              </a:rPr>
              <a:t>host-bus</a:t>
            </a:r>
            <a:r>
              <a:rPr lang="en-US" altLang="en-US" b="1" dirty="0">
                <a:solidFill>
                  <a:srgbClr val="3366FF"/>
                </a:solidFill>
              </a:rPr>
              <a:t> </a:t>
            </a:r>
            <a:r>
              <a:rPr lang="en-US" altLang="en-US" b="1" dirty="0">
                <a:solidFill>
                  <a:srgbClr val="006699"/>
                </a:solidFill>
                <a:latin typeface="+mj-lt"/>
              </a:rPr>
              <a:t>adapters</a:t>
            </a:r>
            <a:r>
              <a:rPr lang="en-US" altLang="en-US" dirty="0"/>
              <a:t>, </a:t>
            </a:r>
            <a:r>
              <a:rPr lang="en-US" altLang="en-US" b="1" dirty="0">
                <a:solidFill>
                  <a:srgbClr val="006699"/>
                </a:solidFill>
                <a:latin typeface="+mj-lt"/>
              </a:rPr>
              <a:t>HBAs</a:t>
            </a:r>
            <a:r>
              <a:rPr lang="en-US" altLang="en-US" dirty="0"/>
              <a:t>)</a:t>
            </a:r>
            <a:endParaRPr lang="en-US" altLang="en-US" dirty="0"/>
          </a:p>
          <a:p>
            <a:pPr lvl="1"/>
            <a:r>
              <a:rPr lang="en-US" altLang="en-US" dirty="0"/>
              <a:t>Host controller on the computer end of the bus, device controller on device end</a:t>
            </a:r>
            <a:endParaRPr lang="en-US" altLang="en-US" dirty="0"/>
          </a:p>
          <a:p>
            <a:pPr lvl="1"/>
            <a:r>
              <a:rPr lang="en-US" altLang="en-US" dirty="0"/>
              <a:t>Computer places command on host controller, using memory-mapped I/O ports</a:t>
            </a:r>
            <a:endParaRPr lang="en-US" altLang="en-US" dirty="0"/>
          </a:p>
          <a:p>
            <a:pPr lvl="2"/>
            <a:r>
              <a:rPr lang="en-US" altLang="en-US" dirty="0"/>
              <a:t>Host controller sends messages to device controller</a:t>
            </a:r>
            <a:endParaRPr lang="en-US" altLang="en-US" dirty="0"/>
          </a:p>
          <a:p>
            <a:pPr lvl="2"/>
            <a:r>
              <a:rPr lang="en-US" altLang="en-US" dirty="0"/>
              <a:t>Data transferred via DMA between device and computer DRAM</a:t>
            </a:r>
            <a:endParaRPr lang="en-US" altLang="en-US" dirty="0"/>
          </a:p>
          <a:p>
            <a:pPr lvl="2"/>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774243" y="248885"/>
            <a:ext cx="7781925" cy="576263"/>
          </a:xfrm>
        </p:spPr>
        <p:txBody>
          <a:bodyPr/>
          <a:lstStyle/>
          <a:p>
            <a:pPr eaLnBrk="1" hangingPunct="1"/>
            <a:r>
              <a:rPr lang="en-US" altLang="en-US" dirty="0"/>
              <a:t>Address Mapping</a:t>
            </a:r>
            <a:endParaRPr lang="en-US" altLang="en-US" dirty="0"/>
          </a:p>
        </p:txBody>
      </p:sp>
      <p:sp>
        <p:nvSpPr>
          <p:cNvPr id="28674" name="Rectangle 3"/>
          <p:cNvSpPr>
            <a:spLocks noGrp="1" noChangeArrowheads="1"/>
          </p:cNvSpPr>
          <p:nvPr>
            <p:ph type="body" idx="1"/>
          </p:nvPr>
        </p:nvSpPr>
        <p:spPr>
          <a:xfrm>
            <a:off x="849876" y="1181940"/>
            <a:ext cx="7706291" cy="4530725"/>
          </a:xfrm>
        </p:spPr>
        <p:txBody>
          <a:bodyPr/>
          <a:lstStyle/>
          <a:p>
            <a:r>
              <a:rPr lang="en-US" altLang="en-US" dirty="0"/>
              <a:t>Disk drives are addressed as large 1-dimensional arrays of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dirty="0"/>
              <a:t>, where the logical block is the smallest unit of transfer</a:t>
            </a:r>
            <a:endParaRPr lang="en-US" altLang="en-US" dirty="0"/>
          </a:p>
          <a:p>
            <a:pPr lvl="1"/>
            <a:r>
              <a:rPr lang="en-US" altLang="en-US" dirty="0"/>
              <a:t>Low-level formatting creates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b="1" dirty="0">
                <a:solidFill>
                  <a:srgbClr val="3366FF"/>
                </a:solidFill>
              </a:rPr>
              <a:t> </a:t>
            </a:r>
            <a:r>
              <a:rPr lang="en-US" altLang="en-US" dirty="0"/>
              <a:t>on physical media</a:t>
            </a:r>
            <a:endParaRPr lang="en-US" altLang="en-US" dirty="0"/>
          </a:p>
          <a:p>
            <a:r>
              <a:rPr lang="en-US" altLang="en-US" dirty="0"/>
              <a:t>The 1-dimensional array of logical blocks is mapped into the sectors of the disk sequentially</a:t>
            </a:r>
            <a:endParaRPr lang="en-US" altLang="en-US" dirty="0"/>
          </a:p>
          <a:p>
            <a:pPr lvl="1"/>
            <a:r>
              <a:rPr lang="en-US" altLang="en-US" dirty="0"/>
              <a:t>Sector 0 is the first sector of the first track on the outermost cylinder</a:t>
            </a:r>
            <a:endParaRPr lang="en-US" altLang="en-US" dirty="0"/>
          </a:p>
          <a:p>
            <a:pPr lvl="1"/>
            <a:r>
              <a:rPr lang="en-US" altLang="en-US" dirty="0"/>
              <a:t>Mapping proceeds in order through that track, then the rest of the tracks in that cylinder, and then through the rest of the cylinders from outermost to innermost</a:t>
            </a:r>
            <a:endParaRPr lang="en-US" altLang="en-US" dirty="0"/>
          </a:p>
          <a:p>
            <a:pPr lvl="1"/>
            <a:r>
              <a:rPr lang="en-US" altLang="en-US" dirty="0"/>
              <a:t>Logical to physical address should be easy</a:t>
            </a:r>
            <a:endParaRPr lang="en-US" altLang="en-US" dirty="0"/>
          </a:p>
          <a:p>
            <a:pPr lvl="2"/>
            <a:r>
              <a:rPr lang="en-US" altLang="en-US" dirty="0"/>
              <a:t>Except for bad sectors</a:t>
            </a:r>
            <a:endParaRPr lang="en-US" altLang="en-US" dirty="0"/>
          </a:p>
          <a:p>
            <a:pPr lvl="2"/>
            <a:r>
              <a:rPr lang="en-US" altLang="en-US" dirty="0"/>
              <a:t>Non-constant # of sectors per track via constant angular velocity</a:t>
            </a:r>
            <a:endParaRPr lang="en-US" altLang="en-US" dirty="0"/>
          </a:p>
          <a:p>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541175" y="242923"/>
            <a:ext cx="8033655" cy="576263"/>
          </a:xfrm>
        </p:spPr>
        <p:txBody>
          <a:bodyPr/>
          <a:lstStyle/>
          <a:p>
            <a:pPr eaLnBrk="1" hangingPunct="1"/>
            <a:r>
              <a:rPr lang="en-US" altLang="en-US" dirty="0"/>
              <a:t>HDD Scheduling</a:t>
            </a:r>
            <a:endParaRPr lang="en-US" altLang="en-US" dirty="0"/>
          </a:p>
        </p:txBody>
      </p:sp>
      <p:sp>
        <p:nvSpPr>
          <p:cNvPr id="30722" name="Rectangle 3"/>
          <p:cNvSpPr>
            <a:spLocks noGrp="1" noChangeArrowheads="1"/>
          </p:cNvSpPr>
          <p:nvPr>
            <p:ph type="body" idx="1"/>
          </p:nvPr>
        </p:nvSpPr>
        <p:spPr>
          <a:xfrm>
            <a:off x="870338" y="1226588"/>
            <a:ext cx="7685831" cy="5146675"/>
          </a:xfrm>
        </p:spPr>
        <p:txBody>
          <a:bodyPr/>
          <a:lstStyle/>
          <a:p>
            <a:r>
              <a:rPr lang="en-US" altLang="en-US" dirty="0"/>
              <a:t>The operating system is responsible for using hardware efficiently — for the disk drives, this means having a fast access time and disk bandwidth</a:t>
            </a:r>
            <a:endParaRPr lang="en-US" altLang="en-US" sz="800" dirty="0"/>
          </a:p>
          <a:p>
            <a:r>
              <a:rPr lang="en-US" altLang="en-US" dirty="0"/>
              <a:t>Minimize seek time</a:t>
            </a:r>
            <a:endParaRPr lang="en-US" altLang="en-US" sz="800" dirty="0"/>
          </a:p>
          <a:p>
            <a:r>
              <a:rPr lang="en-US" altLang="en-US" dirty="0"/>
              <a:t>Seek time </a:t>
            </a:r>
            <a:r>
              <a:rPr lang="en-US" altLang="en-US" dirty="0">
                <a:sym typeface="Symbol" panose="05050102010706020507" pitchFamily="18" charset="2"/>
              </a:rPr>
              <a:t> seek distance</a:t>
            </a:r>
            <a:endParaRPr lang="en-US" altLang="en-US" sz="800" dirty="0">
              <a:sym typeface="Symbol" panose="05050102010706020507" pitchFamily="18" charset="2"/>
            </a:endParaRPr>
          </a:p>
          <a:p>
            <a:r>
              <a:rPr lang="en-US" altLang="en-US" dirty="0">
                <a:sym typeface="Symbol" panose="05050102010706020507" pitchFamily="18" charset="2"/>
              </a:rPr>
              <a:t>Disk </a:t>
            </a:r>
            <a:r>
              <a:rPr lang="en-US" altLang="en-US" b="1" dirty="0">
                <a:solidFill>
                  <a:srgbClr val="006699"/>
                </a:solidFill>
                <a:latin typeface="+mj-lt"/>
                <a:sym typeface="Symbol" panose="05050102010706020507" pitchFamily="18" charset="2"/>
              </a:rPr>
              <a:t>bandwidth</a:t>
            </a:r>
            <a:r>
              <a:rPr lang="en-US" altLang="en-US" dirty="0">
                <a:solidFill>
                  <a:srgbClr val="3366FF"/>
                </a:solidFill>
                <a:sym typeface="Symbol" panose="05050102010706020507" pitchFamily="18" charset="2"/>
              </a:rPr>
              <a:t> </a:t>
            </a:r>
            <a:r>
              <a:rPr lang="en-US" altLang="en-US" dirty="0">
                <a:sym typeface="Symbol" panose="05050102010706020507" pitchFamily="18" charset="2"/>
              </a:rPr>
              <a:t>is the total number of bytes transferred, divided by the total time between the first request for service and the completion of the last transfer</a:t>
            </a:r>
            <a:endParaRPr lang="en-US" altLang="en-US" dirty="0">
              <a:sym typeface="Symbol" panose="05050102010706020507" pitchFamily="18" charset="2"/>
            </a:endParaRPr>
          </a:p>
          <a:p>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711200" y="243927"/>
            <a:ext cx="7975600" cy="576262"/>
          </a:xfrm>
        </p:spPr>
        <p:txBody>
          <a:bodyPr/>
          <a:lstStyle/>
          <a:p>
            <a:pPr eaLnBrk="1" hangingPunct="1"/>
            <a:r>
              <a:rPr lang="en-US" altLang="en-US" dirty="0"/>
              <a:t>Disk Scheduling (Cont.)</a:t>
            </a:r>
            <a:endParaRPr lang="en-US" altLang="en-US" dirty="0"/>
          </a:p>
        </p:txBody>
      </p:sp>
      <p:sp>
        <p:nvSpPr>
          <p:cNvPr id="32770" name="Rectangle 3"/>
          <p:cNvSpPr>
            <a:spLocks noGrp="1" noChangeArrowheads="1"/>
          </p:cNvSpPr>
          <p:nvPr>
            <p:ph type="body" idx="1"/>
          </p:nvPr>
        </p:nvSpPr>
        <p:spPr>
          <a:xfrm>
            <a:off x="889000" y="1023938"/>
            <a:ext cx="7657841" cy="4781550"/>
          </a:xfrm>
        </p:spPr>
        <p:txBody>
          <a:bodyPr/>
          <a:lstStyle/>
          <a:p>
            <a:pPr>
              <a:tabLst>
                <a:tab pos="1708150" algn="l"/>
              </a:tabLst>
            </a:pPr>
            <a:r>
              <a:rPr lang="en-US" altLang="en-US" dirty="0"/>
              <a:t>There are many sources of disk I/O request</a:t>
            </a:r>
            <a:endParaRPr lang="en-US" altLang="en-US" dirty="0"/>
          </a:p>
          <a:p>
            <a:pPr lvl="1">
              <a:tabLst>
                <a:tab pos="1708150" algn="l"/>
              </a:tabLst>
            </a:pPr>
            <a:r>
              <a:rPr lang="en-US" altLang="en-US" dirty="0"/>
              <a:t>OS</a:t>
            </a:r>
            <a:endParaRPr lang="en-US" altLang="en-US" dirty="0"/>
          </a:p>
          <a:p>
            <a:pPr lvl="1">
              <a:tabLst>
                <a:tab pos="1708150" algn="l"/>
              </a:tabLst>
            </a:pPr>
            <a:r>
              <a:rPr lang="en-US" altLang="en-US" dirty="0"/>
              <a:t>System processes</a:t>
            </a:r>
            <a:endParaRPr lang="en-US" altLang="en-US" dirty="0"/>
          </a:p>
          <a:p>
            <a:pPr lvl="1">
              <a:tabLst>
                <a:tab pos="1708150" algn="l"/>
              </a:tabLst>
            </a:pPr>
            <a:r>
              <a:rPr lang="en-US" altLang="en-US" dirty="0"/>
              <a:t>Users processes</a:t>
            </a:r>
            <a:endParaRPr lang="en-US" altLang="en-US" dirty="0"/>
          </a:p>
          <a:p>
            <a:pPr>
              <a:tabLst>
                <a:tab pos="1708150" algn="l"/>
              </a:tabLst>
            </a:pPr>
            <a:r>
              <a:rPr lang="en-US" altLang="en-US" dirty="0"/>
              <a:t>I/O request includes input or output mode, disk address, memory address, number of sectors to transfer</a:t>
            </a:r>
            <a:endParaRPr lang="en-US" altLang="en-US" dirty="0"/>
          </a:p>
          <a:p>
            <a:pPr>
              <a:tabLst>
                <a:tab pos="1708150" algn="l"/>
              </a:tabLst>
            </a:pPr>
            <a:r>
              <a:rPr lang="en-US" altLang="en-US" dirty="0"/>
              <a:t>OS maintains queue of requests, per disk or device</a:t>
            </a:r>
            <a:endParaRPr lang="en-US" altLang="en-US" dirty="0"/>
          </a:p>
          <a:p>
            <a:pPr>
              <a:tabLst>
                <a:tab pos="1708150" algn="l"/>
              </a:tabLst>
            </a:pPr>
            <a:r>
              <a:rPr lang="en-US" altLang="en-US" dirty="0"/>
              <a:t>Idle disk can immediately work on I/O request, busy disk means work must queue</a:t>
            </a:r>
            <a:endParaRPr lang="en-US" altLang="en-US" dirty="0"/>
          </a:p>
          <a:p>
            <a:pPr lvl="1">
              <a:tabLst>
                <a:tab pos="1708150" algn="l"/>
              </a:tabLst>
            </a:pPr>
            <a:r>
              <a:rPr lang="en-US" altLang="en-US" dirty="0"/>
              <a:t>Optimization algorithms only make sense when a queue exists</a:t>
            </a:r>
            <a:endParaRPr lang="en-US" altLang="en-US" dirty="0"/>
          </a:p>
          <a:p>
            <a:pPr>
              <a:tabLst>
                <a:tab pos="1708150" algn="l"/>
              </a:tabLst>
            </a:pPr>
            <a:r>
              <a:rPr lang="en-US" altLang="en-US" dirty="0"/>
              <a:t>In the past, operating system responsible for queue management, disk drive head scheduling</a:t>
            </a:r>
            <a:endParaRPr lang="en-US" altLang="en-US" dirty="0"/>
          </a:p>
          <a:p>
            <a:pPr lvl="1">
              <a:tabLst>
                <a:tab pos="1708150" algn="l"/>
              </a:tabLst>
            </a:pPr>
            <a:r>
              <a:rPr lang="en-US" altLang="en-US" dirty="0"/>
              <a:t>Now, built into the storage devices, controllers</a:t>
            </a:r>
            <a:endParaRPr lang="en-US" altLang="en-US" dirty="0"/>
          </a:p>
          <a:p>
            <a:pPr lvl="1">
              <a:tabLst>
                <a:tab pos="1708150" algn="l"/>
              </a:tabLst>
            </a:pPr>
            <a:r>
              <a:rPr lang="en-US" altLang="en-US" dirty="0"/>
              <a:t>Just provide LBAs, handle sorting of requests</a:t>
            </a:r>
            <a:endParaRPr lang="en-US" altLang="en-US" dirty="0"/>
          </a:p>
          <a:p>
            <a:pPr lvl="2">
              <a:tabLst>
                <a:tab pos="1708150" algn="l"/>
              </a:tabLst>
            </a:pPr>
            <a:r>
              <a:rPr lang="en-US" altLang="en-US" dirty="0"/>
              <a:t>Some of the algorithms they use described next</a:t>
            </a: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711200" y="243926"/>
            <a:ext cx="7975600" cy="576262"/>
          </a:xfrm>
        </p:spPr>
        <p:txBody>
          <a:bodyPr/>
          <a:lstStyle/>
          <a:p>
            <a:pPr eaLnBrk="1" hangingPunct="1"/>
            <a:r>
              <a:rPr lang="en-US" altLang="en-US" dirty="0"/>
              <a:t>Disk Scheduling (Cont.)</a:t>
            </a:r>
            <a:endParaRPr lang="en-US" altLang="en-US" dirty="0"/>
          </a:p>
        </p:txBody>
      </p:sp>
      <p:sp>
        <p:nvSpPr>
          <p:cNvPr id="34818" name="Rectangle 3"/>
          <p:cNvSpPr>
            <a:spLocks noGrp="1" noChangeArrowheads="1"/>
          </p:cNvSpPr>
          <p:nvPr>
            <p:ph type="body" idx="1"/>
          </p:nvPr>
        </p:nvSpPr>
        <p:spPr>
          <a:xfrm>
            <a:off x="874713" y="1023938"/>
            <a:ext cx="7606814" cy="4781550"/>
          </a:xfrm>
        </p:spPr>
        <p:txBody>
          <a:bodyPr/>
          <a:lstStyle/>
          <a:p>
            <a:pPr>
              <a:tabLst>
                <a:tab pos="1708150" algn="l"/>
              </a:tabLst>
            </a:pPr>
            <a:r>
              <a:rPr lang="en-US" altLang="en-US" dirty="0"/>
              <a:t>Note that drive controllers have small buffers and can manage a queue of I/O requests (of varying </a:t>
            </a:r>
            <a:r>
              <a:rPr lang="ja-JP" altLang="en-US" dirty="0"/>
              <a:t>“</a:t>
            </a:r>
            <a:r>
              <a:rPr lang="en-US" altLang="ja-JP" dirty="0"/>
              <a:t>depth</a:t>
            </a:r>
            <a:r>
              <a:rPr lang="ja-JP" altLang="en-US" dirty="0"/>
              <a:t>”</a:t>
            </a:r>
            <a:r>
              <a:rPr lang="en-US" altLang="ja-JP" dirty="0"/>
              <a:t>)</a:t>
            </a:r>
            <a:endParaRPr lang="en-US" altLang="en-US" dirty="0"/>
          </a:p>
          <a:p>
            <a:pPr>
              <a:tabLst>
                <a:tab pos="1708150" algn="l"/>
              </a:tabLst>
            </a:pPr>
            <a:r>
              <a:rPr lang="en-US" altLang="en-US" dirty="0"/>
              <a:t>Several algorithms exist to schedule the servicing of disk I/O requests</a:t>
            </a:r>
            <a:endParaRPr lang="en-US" altLang="en-US" dirty="0"/>
          </a:p>
          <a:p>
            <a:pPr>
              <a:tabLst>
                <a:tab pos="1708150" algn="l"/>
              </a:tabLst>
            </a:pPr>
            <a:r>
              <a:rPr lang="en-US" altLang="en-US" dirty="0"/>
              <a:t>The analysis is true for one or many platters</a:t>
            </a:r>
            <a:endParaRPr lang="en-US" altLang="en-US" dirty="0"/>
          </a:p>
          <a:p>
            <a:pPr>
              <a:tabLst>
                <a:tab pos="1708150" algn="l"/>
              </a:tabLst>
            </a:pPr>
            <a:r>
              <a:rPr lang="en-US" altLang="en-US" dirty="0"/>
              <a:t>We illustrate scheduling algorithms with a request queue (0-199)</a:t>
            </a:r>
            <a:endParaRPr lang="en-US" altLang="en-US" sz="800" dirty="0"/>
          </a:p>
          <a:p>
            <a:pPr>
              <a:buFont typeface="Monotype Sorts" pitchFamily="-84" charset="2"/>
              <a:buNone/>
              <a:tabLst>
                <a:tab pos="1708150" algn="l"/>
              </a:tabLst>
            </a:pPr>
            <a:r>
              <a:rPr lang="en-US" altLang="en-US" sz="800" dirty="0"/>
              <a:t>	 	</a:t>
            </a:r>
            <a:br>
              <a:rPr lang="en-US" altLang="en-US" dirty="0"/>
            </a:br>
            <a:r>
              <a:rPr lang="en-US" altLang="en-US" dirty="0"/>
              <a:t>	98, 183, 37, 122, 14, 124, 65, 67</a:t>
            </a:r>
            <a:endParaRPr lang="en-US" altLang="en-US" dirty="0"/>
          </a:p>
          <a:p>
            <a:pPr>
              <a:buFont typeface="Monotype Sorts" pitchFamily="-84" charset="2"/>
              <a:buNone/>
              <a:tabLst>
                <a:tab pos="1708150" algn="l"/>
              </a:tabLst>
            </a:pPr>
            <a:r>
              <a:rPr lang="en-US" altLang="en-US" dirty="0"/>
              <a:t>	Head pointer 53</a:t>
            </a: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982663" y="239554"/>
            <a:ext cx="6950075" cy="576263"/>
          </a:xfrm>
        </p:spPr>
        <p:txBody>
          <a:bodyPr/>
          <a:lstStyle/>
          <a:p>
            <a:pPr eaLnBrk="1" hangingPunct="1"/>
            <a:r>
              <a:rPr lang="en-US" altLang="en-US" dirty="0"/>
              <a:t>FCFS</a:t>
            </a:r>
            <a:endParaRPr lang="en-US" altLang="en-US" dirty="0"/>
          </a:p>
        </p:txBody>
      </p:sp>
      <p:sp>
        <p:nvSpPr>
          <p:cNvPr id="36866" name="Text Box 4"/>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itchFamily="2" charset="0"/>
              </a:rPr>
              <a:t>Illustration shows total head movement of 640 cylinders</a:t>
            </a:r>
            <a:endParaRPr lang="en-US" altLang="en-US">
              <a:latin typeface="Helvetica" pitchFamily="2" charset="0"/>
            </a:endParaRPr>
          </a:p>
        </p:txBody>
      </p:sp>
      <p:pic>
        <p:nvPicPr>
          <p:cNvPr id="3686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a:xfrm>
            <a:off x="457200" y="239554"/>
            <a:ext cx="7840663" cy="576263"/>
          </a:xfrm>
        </p:spPr>
        <p:txBody>
          <a:bodyPr/>
          <a:lstStyle/>
          <a:p>
            <a:pPr eaLnBrk="1" hangingPunct="1"/>
            <a:r>
              <a:rPr lang="en-US" altLang="en-US" dirty="0"/>
              <a:t>SCAN</a:t>
            </a:r>
            <a:endParaRPr lang="en-US" altLang="en-US" dirty="0"/>
          </a:p>
        </p:txBody>
      </p:sp>
      <p:sp>
        <p:nvSpPr>
          <p:cNvPr id="38914" name="Rectangle 3"/>
          <p:cNvSpPr>
            <a:spLocks noGrp="1" noChangeArrowheads="1"/>
          </p:cNvSpPr>
          <p:nvPr>
            <p:ph type="body" idx="1"/>
          </p:nvPr>
        </p:nvSpPr>
        <p:spPr>
          <a:xfrm>
            <a:off x="897749" y="1150938"/>
            <a:ext cx="7658422" cy="4530725"/>
          </a:xfrm>
        </p:spPr>
        <p:txBody>
          <a:bodyPr/>
          <a:lstStyle/>
          <a:p>
            <a:r>
              <a:rPr lang="en-US" altLang="en-US" dirty="0"/>
              <a:t>The disk arm starts at one end of the disk, and moves toward the other end, servicing requests until it gets to the other end of the disk, where the head movement is reversed and servicing continues.</a:t>
            </a:r>
            <a:endParaRPr lang="en-US" altLang="en-US" dirty="0"/>
          </a:p>
          <a:p>
            <a:r>
              <a:rPr lang="en-US" altLang="en-US" b="1" dirty="0">
                <a:solidFill>
                  <a:srgbClr val="006699"/>
                </a:solidFill>
                <a:latin typeface="+mj-lt"/>
              </a:rPr>
              <a:t>SCAN</a:t>
            </a:r>
            <a:r>
              <a:rPr lang="en-US" altLang="en-US" b="1" dirty="0">
                <a:solidFill>
                  <a:srgbClr val="3366FF"/>
                </a:solidFill>
              </a:rPr>
              <a:t> </a:t>
            </a:r>
            <a:r>
              <a:rPr lang="en-US" altLang="en-US" b="1" dirty="0">
                <a:solidFill>
                  <a:srgbClr val="006699"/>
                </a:solidFill>
                <a:latin typeface="+mj-lt"/>
              </a:rPr>
              <a:t>algorithm</a:t>
            </a:r>
            <a:r>
              <a:rPr lang="en-US" altLang="en-US" dirty="0">
                <a:solidFill>
                  <a:srgbClr val="3366FF"/>
                </a:solidFill>
              </a:rPr>
              <a:t> </a:t>
            </a:r>
            <a:r>
              <a:rPr lang="en-US" altLang="en-US" dirty="0"/>
              <a:t>Sometimes called the </a:t>
            </a:r>
            <a:r>
              <a:rPr lang="en-US" altLang="en-US" b="1" dirty="0">
                <a:solidFill>
                  <a:srgbClr val="006699"/>
                </a:solidFill>
                <a:latin typeface="+mj-lt"/>
              </a:rPr>
              <a:t>elevator</a:t>
            </a:r>
            <a:r>
              <a:rPr lang="en-US" altLang="en-US" b="1" dirty="0">
                <a:solidFill>
                  <a:srgbClr val="3366FF"/>
                </a:solidFill>
              </a:rPr>
              <a:t> </a:t>
            </a:r>
            <a:r>
              <a:rPr lang="en-US" altLang="en-US" b="1" dirty="0">
                <a:solidFill>
                  <a:srgbClr val="006699"/>
                </a:solidFill>
                <a:latin typeface="+mj-lt"/>
              </a:rPr>
              <a:t>algorithm</a:t>
            </a:r>
            <a:endParaRPr lang="en-US" altLang="en-US" b="1" dirty="0">
              <a:solidFill>
                <a:srgbClr val="006699"/>
              </a:solidFill>
              <a:latin typeface="+mj-lt"/>
            </a:endParaRPr>
          </a:p>
          <a:p>
            <a:r>
              <a:rPr lang="en-US" altLang="en-US" dirty="0"/>
              <a:t>Illustration shows total head movement of 208 cylinders</a:t>
            </a:r>
            <a:endParaRPr lang="en-US" altLang="en-US" dirty="0"/>
          </a:p>
          <a:p>
            <a:r>
              <a:rPr lang="en-US" altLang="en-US" dirty="0"/>
              <a:t>But note that if requests are uniformly dense, largest density at other end of disk and those wait the longest</a:t>
            </a:r>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457200" y="251249"/>
            <a:ext cx="8229600" cy="576262"/>
          </a:xfrm>
        </p:spPr>
        <p:txBody>
          <a:bodyPr/>
          <a:lstStyle/>
          <a:p>
            <a:pPr eaLnBrk="1" hangingPunct="1"/>
            <a:r>
              <a:rPr lang="en-US" altLang="en-US" dirty="0"/>
              <a:t>SCAN (Cont.)</a:t>
            </a:r>
            <a:endParaRPr lang="en-US" altLang="en-US" dirty="0"/>
          </a:p>
        </p:txBody>
      </p:sp>
      <p:pic>
        <p:nvPicPr>
          <p:cNvPr id="40962"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46250" y="1236663"/>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a:xfrm>
            <a:off x="696264" y="239554"/>
            <a:ext cx="7869238" cy="576263"/>
          </a:xfrm>
        </p:spPr>
        <p:txBody>
          <a:bodyPr/>
          <a:lstStyle/>
          <a:p>
            <a:pPr eaLnBrk="1" hangingPunct="1"/>
            <a:r>
              <a:rPr lang="en-US" altLang="en-US" dirty="0"/>
              <a:t>C-SCAN</a:t>
            </a:r>
            <a:endParaRPr lang="en-US" altLang="en-US" dirty="0"/>
          </a:p>
        </p:txBody>
      </p:sp>
      <p:sp>
        <p:nvSpPr>
          <p:cNvPr id="43010" name="Rectangle 3"/>
          <p:cNvSpPr>
            <a:spLocks noGrp="1" noChangeArrowheads="1"/>
          </p:cNvSpPr>
          <p:nvPr>
            <p:ph type="body" idx="1"/>
          </p:nvPr>
        </p:nvSpPr>
        <p:spPr>
          <a:xfrm>
            <a:off x="889000" y="1138238"/>
            <a:ext cx="7676502" cy="4530725"/>
          </a:xfrm>
        </p:spPr>
        <p:txBody>
          <a:bodyPr/>
          <a:lstStyle/>
          <a:p>
            <a:r>
              <a:rPr lang="en-US" altLang="en-US" dirty="0"/>
              <a:t>Provides a more uniform wait time than SCAN</a:t>
            </a:r>
            <a:endParaRPr lang="en-US" altLang="en-US" dirty="0"/>
          </a:p>
          <a:p>
            <a:r>
              <a:rPr lang="en-US" altLang="en-US" dirty="0"/>
              <a:t>The head moves from one end of the disk to the other, servicing requests as it goes</a:t>
            </a:r>
            <a:endParaRPr lang="en-US" altLang="en-US" dirty="0"/>
          </a:p>
          <a:p>
            <a:pPr lvl="1"/>
            <a:r>
              <a:rPr lang="en-US" altLang="en-US" dirty="0"/>
              <a:t>When it reaches the other end, however, it immediately returns to the beginning of the disk, without servicing any requests on the return trip</a:t>
            </a:r>
            <a:endParaRPr lang="en-US" altLang="en-US" dirty="0"/>
          </a:p>
          <a:p>
            <a:r>
              <a:rPr lang="en-US" altLang="en-US" dirty="0"/>
              <a:t>Treats the cylinders as a circular list that wraps around from the last cylinder to the first one</a:t>
            </a:r>
            <a:endParaRPr lang="en-US" altLang="en-US" dirty="0"/>
          </a:p>
          <a:p>
            <a:r>
              <a:rPr lang="en-US" altLang="en-US" dirty="0"/>
              <a:t>Total number of cylinders?</a:t>
            </a: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457200" y="247880"/>
            <a:ext cx="8229600" cy="576262"/>
          </a:xfrm>
        </p:spPr>
        <p:txBody>
          <a:bodyPr/>
          <a:lstStyle/>
          <a:p>
            <a:pPr eaLnBrk="1" hangingPunct="1"/>
            <a:r>
              <a:rPr lang="en-US" altLang="en-US" dirty="0"/>
              <a:t>C-SCAN (Cont.)</a:t>
            </a:r>
            <a:endParaRPr lang="en-US" altLang="en-US" dirty="0"/>
          </a:p>
        </p:txBody>
      </p:sp>
      <p:pic>
        <p:nvPicPr>
          <p:cNvPr id="45058" name="Picture 4"/>
          <p:cNvPicPr>
            <a:picLocks noChangeAspect="1" noChangeArrowheads="1"/>
          </p:cNvPicPr>
          <p:nvPr/>
        </p:nvPicPr>
        <p:blipFill>
          <a:blip r:embed="rId1">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584200" y="244123"/>
            <a:ext cx="8404225" cy="576262"/>
          </a:xfrm>
        </p:spPr>
        <p:txBody>
          <a:bodyPr/>
          <a:lstStyle/>
          <a:p>
            <a:pPr eaLnBrk="1" hangingPunct="1"/>
            <a:r>
              <a:rPr lang="en-US" altLang="en-US" sz="3000" dirty="0"/>
              <a:t>Selecting a Disk-Scheduling Algorithm</a:t>
            </a:r>
            <a:endParaRPr lang="en-US" altLang="en-US" sz="3000" dirty="0"/>
          </a:p>
        </p:txBody>
      </p:sp>
      <p:sp>
        <p:nvSpPr>
          <p:cNvPr id="47106" name="Rectangle 3"/>
          <p:cNvSpPr>
            <a:spLocks noGrp="1" noChangeArrowheads="1"/>
          </p:cNvSpPr>
          <p:nvPr>
            <p:ph type="body" idx="1"/>
          </p:nvPr>
        </p:nvSpPr>
        <p:spPr>
          <a:xfrm>
            <a:off x="584200" y="1081088"/>
            <a:ext cx="7975600" cy="4530725"/>
          </a:xfrm>
        </p:spPr>
        <p:txBody>
          <a:bodyPr/>
          <a:lstStyle/>
          <a:p>
            <a:r>
              <a:rPr lang="en-US" altLang="en-US" sz="1600" dirty="0"/>
              <a:t>SSTF is common and has a natural appeal</a:t>
            </a:r>
            <a:endParaRPr lang="en-US" altLang="en-US" sz="1600" dirty="0"/>
          </a:p>
          <a:p>
            <a:r>
              <a:rPr lang="en-US" altLang="en-US" sz="1600" dirty="0"/>
              <a:t>SCAN and C-SCAN perform better for systems that place a heavy load on the disk</a:t>
            </a:r>
            <a:endParaRPr lang="en-US" altLang="en-US" sz="1600" dirty="0"/>
          </a:p>
          <a:p>
            <a:pPr lvl="1"/>
            <a:r>
              <a:rPr lang="en-US" altLang="en-US" sz="1600" dirty="0"/>
              <a:t>Less starvation, but still possible</a:t>
            </a:r>
            <a:endParaRPr lang="en-US" altLang="en-US" sz="1600" dirty="0"/>
          </a:p>
          <a:p>
            <a:r>
              <a:rPr lang="en-US" altLang="en-US" sz="1600" dirty="0"/>
              <a:t>To avoid starvation Linux implements </a:t>
            </a:r>
            <a:r>
              <a:rPr lang="en-US" altLang="en-US" b="1" dirty="0">
                <a:solidFill>
                  <a:srgbClr val="006699"/>
                </a:solidFill>
                <a:latin typeface="+mj-lt"/>
              </a:rPr>
              <a:t>deadline</a:t>
            </a:r>
            <a:r>
              <a:rPr lang="en-US" altLang="en-US" sz="1600" dirty="0"/>
              <a:t> scheduler</a:t>
            </a:r>
            <a:endParaRPr lang="en-US" altLang="en-US" sz="1600" dirty="0"/>
          </a:p>
          <a:p>
            <a:pPr lvl="1"/>
            <a:r>
              <a:rPr lang="en-US" altLang="en-US" sz="1600" dirty="0"/>
              <a:t>Maintains separate read and write queues, gives read priority</a:t>
            </a:r>
            <a:endParaRPr lang="en-US" altLang="en-US" sz="1600" dirty="0"/>
          </a:p>
          <a:p>
            <a:pPr lvl="2"/>
            <a:r>
              <a:rPr lang="en-US" altLang="en-US" sz="1600" dirty="0"/>
              <a:t>Because processes more likely to block on read than write</a:t>
            </a:r>
            <a:endParaRPr lang="en-US" altLang="en-US" sz="1600" dirty="0"/>
          </a:p>
          <a:p>
            <a:pPr lvl="1"/>
            <a:r>
              <a:rPr lang="en-US" altLang="en-US" sz="1600" dirty="0"/>
              <a:t>Implements four queues: 2 x read and 2 x write</a:t>
            </a:r>
            <a:endParaRPr lang="en-US" altLang="en-US" sz="1600" dirty="0"/>
          </a:p>
          <a:p>
            <a:pPr lvl="2"/>
            <a:r>
              <a:rPr lang="en-US" altLang="en-US" sz="1600" dirty="0"/>
              <a:t> 1 read and 1 write queue sorted in LBA order, essentially implementing C-SCAN</a:t>
            </a:r>
            <a:endParaRPr lang="en-US" altLang="en-US" sz="1600" dirty="0"/>
          </a:p>
          <a:p>
            <a:pPr lvl="2"/>
            <a:r>
              <a:rPr lang="en-US" altLang="en-US" sz="1600" dirty="0"/>
              <a:t>1 read and 1 write queue sorted in FCFS order</a:t>
            </a:r>
            <a:endParaRPr lang="en-US" altLang="en-US" sz="1600" dirty="0"/>
          </a:p>
          <a:p>
            <a:pPr lvl="2"/>
            <a:r>
              <a:rPr lang="en-US" altLang="en-US" sz="1600" dirty="0"/>
              <a:t>All I/O requests sent in batch sorted in that queue’s order</a:t>
            </a:r>
            <a:endParaRPr lang="en-US" altLang="en-US" sz="1600" dirty="0"/>
          </a:p>
          <a:p>
            <a:pPr lvl="2"/>
            <a:r>
              <a:rPr lang="en-US" altLang="en-US" sz="1600" dirty="0"/>
              <a:t>After each batch, checks if any requests in FCFS older than configured age (default 500ms)</a:t>
            </a:r>
            <a:endParaRPr lang="en-US" altLang="en-US" sz="1600" dirty="0"/>
          </a:p>
          <a:p>
            <a:pPr lvl="3"/>
            <a:r>
              <a:rPr lang="en-US" altLang="en-US" sz="1600" dirty="0"/>
              <a:t>If so, LBA queue containing that request is selected for next batch of I/O</a:t>
            </a:r>
            <a:endParaRPr lang="en-US" altLang="en-US" sz="1600" dirty="0"/>
          </a:p>
          <a:p>
            <a:r>
              <a:rPr lang="en-US" altLang="en-US" sz="1600" dirty="0"/>
              <a:t>In RHEL 7 also </a:t>
            </a:r>
            <a:r>
              <a:rPr lang="en-US" altLang="en-US" b="1" dirty="0">
                <a:solidFill>
                  <a:srgbClr val="006699"/>
                </a:solidFill>
                <a:latin typeface="+mj-lt"/>
              </a:rPr>
              <a:t>NOOP</a:t>
            </a:r>
            <a:r>
              <a:rPr lang="en-US" altLang="en-US" sz="1600" dirty="0"/>
              <a:t> and </a:t>
            </a:r>
            <a:r>
              <a:rPr lang="en-US" altLang="en-US" b="1" dirty="0">
                <a:solidFill>
                  <a:srgbClr val="006699"/>
                </a:solidFill>
                <a:latin typeface="+mj-lt"/>
              </a:rPr>
              <a:t>completely</a:t>
            </a:r>
            <a:r>
              <a:rPr lang="en-US" altLang="en-US" b="1" dirty="0">
                <a:solidFill>
                  <a:srgbClr val="3366FF"/>
                </a:solidFill>
              </a:rPr>
              <a:t> </a:t>
            </a:r>
            <a:r>
              <a:rPr lang="en-US" altLang="en-US" b="1" dirty="0">
                <a:solidFill>
                  <a:srgbClr val="006699"/>
                </a:solidFill>
                <a:latin typeface="+mj-lt"/>
              </a:rPr>
              <a:t>fair</a:t>
            </a:r>
            <a:r>
              <a:rPr lang="en-US" altLang="en-US" b="1" dirty="0">
                <a:solidFill>
                  <a:srgbClr val="3366FF"/>
                </a:solidFill>
              </a:rPr>
              <a:t> </a:t>
            </a:r>
            <a:r>
              <a:rPr lang="en-US" altLang="en-US" b="1" dirty="0">
                <a:solidFill>
                  <a:srgbClr val="006699"/>
                </a:solidFill>
                <a:latin typeface="+mj-lt"/>
              </a:rPr>
              <a:t>queueing</a:t>
            </a:r>
            <a:r>
              <a:rPr lang="en-US" altLang="en-US" sz="1600" dirty="0"/>
              <a:t> scheduler (</a:t>
            </a:r>
            <a:r>
              <a:rPr lang="en-US" altLang="en-US" b="1" dirty="0">
                <a:solidFill>
                  <a:srgbClr val="006699"/>
                </a:solidFill>
                <a:latin typeface="+mj-lt"/>
              </a:rPr>
              <a:t>CFQ</a:t>
            </a:r>
            <a:r>
              <a:rPr lang="en-US" altLang="en-US" sz="1600" dirty="0"/>
              <a:t>) also available, defaults vary by storage device</a:t>
            </a:r>
            <a:endParaRPr lang="en-US" altLang="en-US" sz="1600" dirty="0"/>
          </a:p>
          <a:p>
            <a:pPr lvl="2"/>
            <a:endParaRPr lang="en-US" altLang="en-US" sz="1600" dirty="0"/>
          </a:p>
          <a:p>
            <a:endParaRPr lang="en-US" altLang="en-US" sz="1600" dirty="0"/>
          </a:p>
          <a:p>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893795" y="234792"/>
            <a:ext cx="7712075" cy="576262"/>
          </a:xfrm>
        </p:spPr>
        <p:txBody>
          <a:bodyPr/>
          <a:lstStyle/>
          <a:p>
            <a:pPr eaLnBrk="1" hangingPunct="1"/>
            <a:r>
              <a:rPr lang="en-US" altLang="en-US" dirty="0"/>
              <a:t>NVM Scheduling</a:t>
            </a:r>
            <a:endParaRPr lang="en-US" altLang="en-US" dirty="0"/>
          </a:p>
        </p:txBody>
      </p:sp>
      <p:sp>
        <p:nvSpPr>
          <p:cNvPr id="49154" name="Rectangle 3"/>
          <p:cNvSpPr>
            <a:spLocks noGrp="1" noChangeArrowheads="1"/>
          </p:cNvSpPr>
          <p:nvPr>
            <p:ph type="body" idx="1"/>
          </p:nvPr>
        </p:nvSpPr>
        <p:spPr>
          <a:xfrm>
            <a:off x="866386" y="1081088"/>
            <a:ext cx="7712076" cy="4530725"/>
          </a:xfrm>
        </p:spPr>
        <p:txBody>
          <a:bodyPr/>
          <a:lstStyle/>
          <a:p>
            <a:r>
              <a:rPr lang="en-US" altLang="en-US" dirty="0"/>
              <a:t>No disk heads or rotational latency but still room for optimization</a:t>
            </a:r>
            <a:endParaRPr lang="en-US" altLang="en-US" dirty="0"/>
          </a:p>
          <a:p>
            <a:r>
              <a:rPr lang="en-US" altLang="en-US" dirty="0"/>
              <a:t>In RHEL 7 </a:t>
            </a:r>
            <a:r>
              <a:rPr lang="en-US" altLang="en-US" b="1" dirty="0">
                <a:solidFill>
                  <a:srgbClr val="006699"/>
                </a:solidFill>
                <a:latin typeface="+mj-lt"/>
              </a:rPr>
              <a:t>NOOP</a:t>
            </a:r>
            <a:r>
              <a:rPr lang="en-US" altLang="en-US" dirty="0"/>
              <a:t> (no scheduling) is used but adjacent LBA requests are combined</a:t>
            </a:r>
            <a:endParaRPr lang="en-US" altLang="en-US" dirty="0"/>
          </a:p>
          <a:p>
            <a:pPr lvl="1"/>
            <a:r>
              <a:rPr lang="en-US" altLang="en-US" dirty="0"/>
              <a:t>NVM best at random I/O, HDD at sequential</a:t>
            </a:r>
            <a:endParaRPr lang="en-US" altLang="en-US" dirty="0"/>
          </a:p>
          <a:p>
            <a:pPr lvl="1"/>
            <a:r>
              <a:rPr lang="en-US" altLang="en-US" dirty="0"/>
              <a:t>Throughput can be similar</a:t>
            </a:r>
            <a:endParaRPr lang="en-US" altLang="en-US" dirty="0"/>
          </a:p>
          <a:p>
            <a:pPr lvl="1"/>
            <a:r>
              <a:rPr lang="en-US" altLang="en-US" b="1" dirty="0" err="1">
                <a:solidFill>
                  <a:srgbClr val="006699"/>
                </a:solidFill>
                <a:latin typeface="+mj-lt"/>
              </a:rPr>
              <a:t>Input/Output</a:t>
            </a:r>
            <a:r>
              <a:rPr lang="en-US" altLang="en-US" b="1" dirty="0">
                <a:solidFill>
                  <a:srgbClr val="006699"/>
                </a:solidFill>
                <a:latin typeface="+mj-lt"/>
              </a:rPr>
              <a:t> operations per second </a:t>
            </a:r>
            <a:r>
              <a:rPr lang="en-US" altLang="en-US" dirty="0"/>
              <a:t>(</a:t>
            </a:r>
            <a:r>
              <a:rPr lang="en-US" altLang="en-US" b="1" dirty="0">
                <a:solidFill>
                  <a:srgbClr val="006699"/>
                </a:solidFill>
                <a:latin typeface="+mj-lt"/>
              </a:rPr>
              <a:t>IOPS</a:t>
            </a:r>
            <a:r>
              <a:rPr lang="en-US" altLang="en-US" dirty="0"/>
              <a:t>) much higher with NVM (hundreds of thousands vs hundreds)</a:t>
            </a:r>
            <a:endParaRPr lang="en-US" altLang="en-US" dirty="0"/>
          </a:p>
          <a:p>
            <a:pPr lvl="1"/>
            <a:r>
              <a:rPr lang="en-US" altLang="en-US" dirty="0"/>
              <a:t>But </a:t>
            </a:r>
            <a:r>
              <a:rPr lang="en-US" altLang="en-US" b="1" dirty="0">
                <a:solidFill>
                  <a:srgbClr val="006699"/>
                </a:solidFill>
                <a:latin typeface="+mj-lt"/>
              </a:rPr>
              <a:t>write</a:t>
            </a:r>
            <a:r>
              <a:rPr lang="en-US" altLang="en-US" b="1" dirty="0">
                <a:solidFill>
                  <a:srgbClr val="3366FF"/>
                </a:solidFill>
              </a:rPr>
              <a:t> </a:t>
            </a:r>
            <a:r>
              <a:rPr lang="en-US" altLang="en-US" b="1" dirty="0">
                <a:solidFill>
                  <a:srgbClr val="006699"/>
                </a:solidFill>
                <a:latin typeface="+mj-lt"/>
              </a:rPr>
              <a:t>amplification</a:t>
            </a:r>
            <a:r>
              <a:rPr lang="en-US" altLang="en-US" b="1" dirty="0">
                <a:solidFill>
                  <a:srgbClr val="3366FF"/>
                </a:solidFill>
              </a:rPr>
              <a:t> </a:t>
            </a:r>
            <a:r>
              <a:rPr lang="en-US" altLang="en-US" dirty="0"/>
              <a:t>(one write, causing garbage collection and many read/writes) can decrease the performance advantage</a:t>
            </a:r>
            <a:endParaRPr lang="en-US" altLang="en-US" dirty="0"/>
          </a:p>
          <a:p>
            <a:pPr lvl="2"/>
            <a:endParaRPr lang="en-US" altLang="en-US" dirty="0"/>
          </a:p>
          <a:p>
            <a:endParaRPr lang="en-US" altLang="en-US" dirty="0"/>
          </a:p>
          <a:p>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1052414" y="244122"/>
            <a:ext cx="7712075" cy="576262"/>
          </a:xfrm>
        </p:spPr>
        <p:txBody>
          <a:bodyPr/>
          <a:lstStyle/>
          <a:p>
            <a:pPr eaLnBrk="1" hangingPunct="1"/>
            <a:r>
              <a:rPr lang="en-US" altLang="en-US" dirty="0"/>
              <a:t>Error Detection and Correction</a:t>
            </a:r>
            <a:endParaRPr lang="en-US" altLang="en-US" dirty="0"/>
          </a:p>
        </p:txBody>
      </p:sp>
      <p:sp>
        <p:nvSpPr>
          <p:cNvPr id="51202" name="Rectangle 3"/>
          <p:cNvSpPr>
            <a:spLocks noGrp="1" noChangeArrowheads="1"/>
          </p:cNvSpPr>
          <p:nvPr>
            <p:ph type="body" idx="1"/>
          </p:nvPr>
        </p:nvSpPr>
        <p:spPr>
          <a:xfrm>
            <a:off x="847724" y="1081088"/>
            <a:ext cx="7712075" cy="4530725"/>
          </a:xfrm>
        </p:spPr>
        <p:txBody>
          <a:bodyPr/>
          <a:lstStyle/>
          <a:p>
            <a:r>
              <a:rPr lang="en-US" altLang="en-US" dirty="0"/>
              <a:t>Fundamental aspect of many parts of computing (memory, networking, storage)</a:t>
            </a:r>
            <a:endParaRPr lang="en-US" altLang="en-US" dirty="0"/>
          </a:p>
          <a:p>
            <a:r>
              <a:rPr lang="en-US" altLang="en-US" b="1" dirty="0">
                <a:solidFill>
                  <a:srgbClr val="006699"/>
                </a:solidFill>
                <a:latin typeface="+mj-lt"/>
              </a:rPr>
              <a:t>Error</a:t>
            </a:r>
            <a:r>
              <a:rPr lang="en-US" altLang="en-US" b="1" dirty="0">
                <a:solidFill>
                  <a:srgbClr val="3366FF"/>
                </a:solidFill>
              </a:rPr>
              <a:t> </a:t>
            </a:r>
            <a:r>
              <a:rPr lang="en-US" altLang="en-US" b="1" dirty="0">
                <a:solidFill>
                  <a:srgbClr val="006699"/>
                </a:solidFill>
                <a:latin typeface="+mj-lt"/>
              </a:rPr>
              <a:t>detection</a:t>
            </a:r>
            <a:r>
              <a:rPr lang="en-US" altLang="en-US" b="1" dirty="0">
                <a:solidFill>
                  <a:srgbClr val="3366FF"/>
                </a:solidFill>
              </a:rPr>
              <a:t> </a:t>
            </a:r>
            <a:r>
              <a:rPr lang="en-US" altLang="en-US" dirty="0"/>
              <a:t>determines if there a problem has occurred (for example a bit flipping)</a:t>
            </a:r>
            <a:endParaRPr lang="en-US" altLang="en-US" dirty="0"/>
          </a:p>
          <a:p>
            <a:pPr lvl="1"/>
            <a:r>
              <a:rPr lang="en-US" altLang="en-US" dirty="0"/>
              <a:t>If detected, can halt the operation</a:t>
            </a:r>
            <a:endParaRPr lang="en-US" altLang="en-US" dirty="0"/>
          </a:p>
          <a:p>
            <a:pPr lvl="1"/>
            <a:r>
              <a:rPr lang="en-US" altLang="en-US" dirty="0"/>
              <a:t>Detection frequently done via parity bit</a:t>
            </a:r>
            <a:endParaRPr lang="en-US" altLang="en-US" dirty="0"/>
          </a:p>
          <a:p>
            <a:r>
              <a:rPr lang="en-US" altLang="en-US" dirty="0"/>
              <a:t>Parity one form of </a:t>
            </a:r>
            <a:r>
              <a:rPr lang="en-US" altLang="en-US" b="1" dirty="0">
                <a:solidFill>
                  <a:srgbClr val="006699"/>
                </a:solidFill>
                <a:latin typeface="+mj-lt"/>
              </a:rPr>
              <a:t>checksum</a:t>
            </a:r>
            <a:r>
              <a:rPr lang="en-US" altLang="en-US" dirty="0"/>
              <a:t> – uses modular arithmetic to compute, store, compare values of fixed-length words</a:t>
            </a:r>
            <a:endParaRPr lang="en-US" altLang="en-US" dirty="0"/>
          </a:p>
          <a:p>
            <a:pPr lvl="1"/>
            <a:r>
              <a:rPr lang="en-US" altLang="en-US" dirty="0"/>
              <a:t>Another error-detection method common in networking is </a:t>
            </a:r>
            <a:r>
              <a:rPr lang="en-US" altLang="en-US" b="1" dirty="0">
                <a:solidFill>
                  <a:srgbClr val="006699"/>
                </a:solidFill>
                <a:latin typeface="+mj-lt"/>
              </a:rPr>
              <a:t>cyclic</a:t>
            </a:r>
            <a:r>
              <a:rPr lang="en-US" altLang="en-US" b="1" dirty="0">
                <a:solidFill>
                  <a:srgbClr val="3366FF"/>
                </a:solidFill>
              </a:rPr>
              <a:t> </a:t>
            </a:r>
            <a:r>
              <a:rPr lang="en-US" altLang="en-US" b="1" dirty="0">
                <a:solidFill>
                  <a:srgbClr val="006699"/>
                </a:solidFill>
                <a:latin typeface="+mj-lt"/>
              </a:rPr>
              <a:t>redundancy</a:t>
            </a:r>
            <a:r>
              <a:rPr lang="en-US" altLang="en-US" b="1" dirty="0">
                <a:solidFill>
                  <a:srgbClr val="3366FF"/>
                </a:solidFill>
              </a:rPr>
              <a:t> </a:t>
            </a:r>
            <a:r>
              <a:rPr lang="en-US" altLang="en-US" b="1" dirty="0">
                <a:solidFill>
                  <a:srgbClr val="006699"/>
                </a:solidFill>
                <a:latin typeface="+mj-lt"/>
              </a:rPr>
              <a:t>check</a:t>
            </a:r>
            <a:r>
              <a:rPr lang="en-US" altLang="en-US" dirty="0"/>
              <a:t> (</a:t>
            </a:r>
            <a:r>
              <a:rPr lang="en-US" altLang="en-US" b="1" dirty="0">
                <a:solidFill>
                  <a:srgbClr val="006699"/>
                </a:solidFill>
                <a:latin typeface="+mj-lt"/>
              </a:rPr>
              <a:t>CRC</a:t>
            </a:r>
            <a:r>
              <a:rPr lang="en-US" altLang="en-US" dirty="0"/>
              <a:t>) which uses hash function to detect multiple-bit errors</a:t>
            </a:r>
            <a:endParaRPr lang="en-US" altLang="en-US" dirty="0"/>
          </a:p>
          <a:p>
            <a:r>
              <a:rPr lang="en-US" altLang="en-US" b="1" dirty="0">
                <a:solidFill>
                  <a:srgbClr val="006699"/>
                </a:solidFill>
                <a:latin typeface="+mj-lt"/>
              </a:rPr>
              <a:t>Error-correction</a:t>
            </a:r>
            <a:r>
              <a:rPr lang="en-US" altLang="en-US" b="1" dirty="0">
                <a:solidFill>
                  <a:srgbClr val="3366FF"/>
                </a:solidFill>
              </a:rPr>
              <a:t> </a:t>
            </a:r>
            <a:r>
              <a:rPr lang="en-US" altLang="en-US" b="1" dirty="0">
                <a:solidFill>
                  <a:srgbClr val="006699"/>
                </a:solidFill>
                <a:latin typeface="+mj-lt"/>
              </a:rPr>
              <a:t>code</a:t>
            </a:r>
            <a:r>
              <a:rPr lang="en-US" altLang="en-US" b="1" dirty="0">
                <a:solidFill>
                  <a:srgbClr val="3366FF"/>
                </a:solidFill>
              </a:rPr>
              <a:t> </a:t>
            </a:r>
            <a:r>
              <a:rPr lang="en-US" altLang="en-US" dirty="0"/>
              <a:t>(</a:t>
            </a:r>
            <a:r>
              <a:rPr lang="en-US" altLang="en-US" b="1" dirty="0">
                <a:solidFill>
                  <a:srgbClr val="006699"/>
                </a:solidFill>
                <a:latin typeface="+mj-lt"/>
              </a:rPr>
              <a:t>ECC</a:t>
            </a:r>
            <a:r>
              <a:rPr lang="en-US" altLang="en-US" dirty="0"/>
              <a:t>) not only detects, but can correct some errors</a:t>
            </a:r>
            <a:endParaRPr lang="en-US" altLang="en-US" dirty="0"/>
          </a:p>
          <a:p>
            <a:pPr lvl="1"/>
            <a:r>
              <a:rPr lang="en-US" altLang="en-US" dirty="0"/>
              <a:t>Soft errors correctable, hard errors detected but not corrected</a:t>
            </a:r>
            <a:endParaRPr lang="en-US" altLang="en-US" dirty="0"/>
          </a:p>
          <a:p>
            <a:pPr lvl="1"/>
            <a:endParaRPr lang="en-US" altLang="en-US" dirty="0"/>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690563" y="242306"/>
            <a:ext cx="7996237" cy="576262"/>
          </a:xfrm>
        </p:spPr>
        <p:txBody>
          <a:bodyPr/>
          <a:lstStyle/>
          <a:p>
            <a:pPr eaLnBrk="1" hangingPunct="1"/>
            <a:r>
              <a:rPr lang="en-US" altLang="en-US" dirty="0"/>
              <a:t>Storage Device Management</a:t>
            </a:r>
            <a:endParaRPr lang="en-US" altLang="en-US" dirty="0"/>
          </a:p>
        </p:txBody>
      </p:sp>
      <p:sp>
        <p:nvSpPr>
          <p:cNvPr id="53250" name="Rectangle 3"/>
          <p:cNvSpPr>
            <a:spLocks noGrp="1" noChangeArrowheads="1"/>
          </p:cNvSpPr>
          <p:nvPr>
            <p:ph type="body" idx="1"/>
          </p:nvPr>
        </p:nvSpPr>
        <p:spPr>
          <a:xfrm>
            <a:off x="844550" y="1157288"/>
            <a:ext cx="7692960" cy="4530725"/>
          </a:xfrm>
        </p:spPr>
        <p:txBody>
          <a:bodyPr/>
          <a:lstStyle/>
          <a:p>
            <a:r>
              <a:rPr lang="en-US" altLang="en-US" b="1" dirty="0">
                <a:solidFill>
                  <a:srgbClr val="006699"/>
                </a:solidFill>
                <a:latin typeface="+mj-lt"/>
              </a:rPr>
              <a:t>Low-level</a:t>
            </a:r>
            <a:r>
              <a:rPr lang="en-US" altLang="en-US" b="1" dirty="0">
                <a:solidFill>
                  <a:srgbClr val="3366FF"/>
                </a:solidFill>
              </a:rPr>
              <a:t> </a:t>
            </a:r>
            <a:r>
              <a:rPr lang="en-US" altLang="en-US" b="1" dirty="0">
                <a:solidFill>
                  <a:srgbClr val="006699"/>
                </a:solidFill>
                <a:latin typeface="+mj-lt"/>
              </a:rPr>
              <a:t>formatting</a:t>
            </a:r>
            <a:r>
              <a:rPr lang="en-US" altLang="en-US" dirty="0"/>
              <a:t>, or </a:t>
            </a:r>
            <a:r>
              <a:rPr lang="en-US" altLang="en-US" b="1" dirty="0">
                <a:solidFill>
                  <a:srgbClr val="006699"/>
                </a:solidFill>
                <a:latin typeface="+mj-lt"/>
              </a:rPr>
              <a:t>physical</a:t>
            </a:r>
            <a:r>
              <a:rPr lang="en-US" altLang="en-US" b="1" dirty="0">
                <a:solidFill>
                  <a:srgbClr val="3366FF"/>
                </a:solidFill>
              </a:rPr>
              <a:t> </a:t>
            </a:r>
            <a:r>
              <a:rPr lang="en-US" altLang="en-US" b="1" dirty="0">
                <a:solidFill>
                  <a:srgbClr val="006699"/>
                </a:solidFill>
                <a:latin typeface="+mj-lt"/>
              </a:rPr>
              <a:t>formatting</a:t>
            </a:r>
            <a:r>
              <a:rPr lang="en-US" altLang="en-US" dirty="0">
                <a:solidFill>
                  <a:srgbClr val="3366FF"/>
                </a:solidFill>
              </a:rPr>
              <a:t> </a:t>
            </a:r>
            <a:r>
              <a:rPr lang="en-US" altLang="en-US" dirty="0"/>
              <a:t>— Dividing a disk into sectors that the disk controller can read and write</a:t>
            </a:r>
            <a:endParaRPr lang="en-US" altLang="en-US" dirty="0"/>
          </a:p>
          <a:p>
            <a:pPr lvl="1"/>
            <a:r>
              <a:rPr lang="en-US" altLang="en-US" dirty="0"/>
              <a:t>Each sector can hold header information, plus data, plus error correction code (</a:t>
            </a:r>
            <a:r>
              <a:rPr lang="en-US" altLang="en-US" b="1" dirty="0">
                <a:solidFill>
                  <a:srgbClr val="006699"/>
                </a:solidFill>
                <a:latin typeface="+mj-lt"/>
              </a:rPr>
              <a:t>ECC</a:t>
            </a:r>
            <a:r>
              <a:rPr lang="en-US" altLang="en-US" dirty="0"/>
              <a:t>)</a:t>
            </a:r>
            <a:endParaRPr lang="en-US" altLang="en-US" dirty="0"/>
          </a:p>
          <a:p>
            <a:pPr lvl="1"/>
            <a:r>
              <a:rPr lang="en-US" altLang="en-US" dirty="0"/>
              <a:t>Usually 512 bytes of data but can be selectable</a:t>
            </a:r>
            <a:endParaRPr lang="en-US" altLang="en-US" dirty="0"/>
          </a:p>
          <a:p>
            <a:r>
              <a:rPr lang="en-US" altLang="en-US" dirty="0"/>
              <a:t>To use a disk to hold files, the operating system still needs to record its own data structures on the disk</a:t>
            </a:r>
            <a:endParaRPr lang="en-US" altLang="en-US" dirty="0"/>
          </a:p>
          <a:p>
            <a:pPr lvl="1"/>
            <a:r>
              <a:rPr lang="en-US" altLang="en-US" b="1" dirty="0">
                <a:solidFill>
                  <a:srgbClr val="006699"/>
                </a:solidFill>
                <a:latin typeface="+mj-lt"/>
              </a:rPr>
              <a:t>Partition</a:t>
            </a:r>
            <a:r>
              <a:rPr lang="en-US" altLang="en-US" dirty="0"/>
              <a:t> the disk into one or more groups of cylinders, each treated as a logical disk</a:t>
            </a:r>
            <a:endParaRPr lang="en-US" altLang="en-US" dirty="0"/>
          </a:p>
          <a:p>
            <a:pPr lvl="1"/>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formatting</a:t>
            </a:r>
            <a:r>
              <a:rPr lang="en-US" altLang="en-US" dirty="0">
                <a:solidFill>
                  <a:srgbClr val="3366FF"/>
                </a:solidFill>
              </a:rPr>
              <a:t> </a:t>
            </a:r>
            <a:r>
              <a:rPr lang="en-US" altLang="en-US" dirty="0"/>
              <a:t>or </a:t>
            </a:r>
            <a:r>
              <a:rPr lang="ja-JP" altLang="en-US" dirty="0"/>
              <a:t>“</a:t>
            </a:r>
            <a:r>
              <a:rPr lang="en-US" altLang="ja-JP" dirty="0"/>
              <a:t>making a file system</a:t>
            </a:r>
            <a:r>
              <a:rPr lang="ja-JP" altLang="en-US" dirty="0"/>
              <a:t>”</a:t>
            </a:r>
            <a:endParaRPr lang="en-US" altLang="ja-JP" dirty="0"/>
          </a:p>
          <a:p>
            <a:pPr lvl="1"/>
            <a:r>
              <a:rPr lang="en-US" altLang="en-US" dirty="0"/>
              <a:t>To increase efficiency most file systems group blocks into </a:t>
            </a:r>
            <a:r>
              <a:rPr lang="en-US" altLang="en-US" b="1" dirty="0">
                <a:solidFill>
                  <a:srgbClr val="006699"/>
                </a:solidFill>
                <a:latin typeface="+mj-lt"/>
              </a:rPr>
              <a:t>clusters</a:t>
            </a:r>
            <a:endParaRPr lang="en-US" altLang="en-US" b="1" dirty="0">
              <a:solidFill>
                <a:srgbClr val="006699"/>
              </a:solidFill>
              <a:latin typeface="+mj-lt"/>
            </a:endParaRPr>
          </a:p>
          <a:p>
            <a:pPr lvl="2"/>
            <a:r>
              <a:rPr lang="en-US" altLang="en-US" dirty="0"/>
              <a:t>Disk I/O done in blocks</a:t>
            </a:r>
            <a:endParaRPr lang="en-US" altLang="en-US" dirty="0"/>
          </a:p>
          <a:p>
            <a:pPr lvl="2"/>
            <a:r>
              <a:rPr lang="en-US" altLang="en-US" dirty="0"/>
              <a:t>File I/O done in clusters</a:t>
            </a:r>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noChangeArrowheads="1"/>
          </p:cNvSpPr>
          <p:nvPr>
            <p:ph type="title"/>
          </p:nvPr>
        </p:nvSpPr>
        <p:spPr>
          <a:xfrm>
            <a:off x="690469" y="241334"/>
            <a:ext cx="8229600" cy="576262"/>
          </a:xfrm>
        </p:spPr>
        <p:txBody>
          <a:bodyPr/>
          <a:lstStyle/>
          <a:p>
            <a:r>
              <a:rPr lang="en-US" altLang="en-US" dirty="0"/>
              <a:t>Storage Device Management (cont.)</a:t>
            </a:r>
            <a:endParaRPr lang="en-US" altLang="en-US" dirty="0"/>
          </a:p>
        </p:txBody>
      </p:sp>
      <p:sp>
        <p:nvSpPr>
          <p:cNvPr id="12291" name="Content Placeholder 2"/>
          <p:cNvSpPr>
            <a:spLocks noGrp="1"/>
          </p:cNvSpPr>
          <p:nvPr>
            <p:ph idx="1"/>
          </p:nvPr>
        </p:nvSpPr>
        <p:spPr>
          <a:xfrm>
            <a:off x="867163" y="1154730"/>
            <a:ext cx="7423150" cy="4867275"/>
          </a:xfrm>
        </p:spPr>
        <p:txBody>
          <a:bodyPr/>
          <a:lstStyle/>
          <a:p>
            <a:pPr>
              <a:defRPr/>
            </a:pPr>
            <a:r>
              <a:rPr lang="en-US" altLang="en-US" b="1" dirty="0">
                <a:solidFill>
                  <a:srgbClr val="006699"/>
                </a:solidFill>
                <a:latin typeface="+mj-lt"/>
              </a:rPr>
              <a:t>Root</a:t>
            </a:r>
            <a:r>
              <a:rPr lang="en-US" altLang="en-US" b="1" dirty="0">
                <a:solidFill>
                  <a:srgbClr val="3366FF"/>
                </a:solidFill>
              </a:rPr>
              <a:t> </a:t>
            </a:r>
            <a:r>
              <a:rPr lang="en-US" altLang="en-US" b="1" dirty="0">
                <a:solidFill>
                  <a:srgbClr val="006699"/>
                </a:solidFill>
                <a:latin typeface="+mj-lt"/>
              </a:rPr>
              <a:t>partition</a:t>
            </a:r>
            <a:r>
              <a:rPr lang="en-US" altLang="en-US" b="1" dirty="0">
                <a:solidFill>
                  <a:srgbClr val="3366FF"/>
                </a:solidFill>
              </a:rPr>
              <a:t> </a:t>
            </a:r>
            <a:r>
              <a:rPr lang="en-US" altLang="en-US" dirty="0"/>
              <a:t>contains the OS, other partitions can hold other </a:t>
            </a:r>
            <a:r>
              <a:rPr lang="en-US" altLang="en-US" dirty="0" err="1"/>
              <a:t>Oses</a:t>
            </a:r>
            <a:r>
              <a:rPr lang="en-US" altLang="en-US" dirty="0"/>
              <a:t>, other file systems, or be raw</a:t>
            </a:r>
            <a:endParaRPr lang="en-US" altLang="en-US" dirty="0"/>
          </a:p>
          <a:p>
            <a:pPr lvl="1">
              <a:defRPr/>
            </a:pPr>
            <a:r>
              <a:rPr lang="en-US" altLang="en-US" b="1" dirty="0">
                <a:solidFill>
                  <a:srgbClr val="006699"/>
                </a:solidFill>
                <a:latin typeface="+mj-lt"/>
              </a:rPr>
              <a:t>Mounted</a:t>
            </a:r>
            <a:r>
              <a:rPr lang="en-US" altLang="en-US" dirty="0"/>
              <a:t> at boot time</a:t>
            </a:r>
            <a:endParaRPr lang="en-US" altLang="en-US" dirty="0"/>
          </a:p>
          <a:p>
            <a:pPr lvl="1">
              <a:defRPr/>
            </a:pPr>
            <a:r>
              <a:rPr lang="en-US" altLang="en-US" dirty="0"/>
              <a:t>Other partitions can mount automatically or manually</a:t>
            </a:r>
            <a:endParaRPr lang="en-US" altLang="en-US" dirty="0"/>
          </a:p>
          <a:p>
            <a:pPr>
              <a:defRPr/>
            </a:pPr>
            <a:r>
              <a:rPr lang="en-US" altLang="en-US" dirty="0"/>
              <a:t>At mount time, file system consistency checked</a:t>
            </a:r>
            <a:endParaRPr lang="en-US" altLang="en-US" dirty="0"/>
          </a:p>
          <a:p>
            <a:pPr lvl="1">
              <a:defRPr/>
            </a:pPr>
            <a:r>
              <a:rPr lang="en-US" altLang="en-US" dirty="0"/>
              <a:t>Is all metadata correct?</a:t>
            </a:r>
            <a:endParaRPr lang="en-US" altLang="en-US" dirty="0"/>
          </a:p>
          <a:p>
            <a:pPr lvl="2">
              <a:buFont typeface="Webdings" panose="05030102010509060703" pitchFamily="18" charset="2"/>
              <a:buChar char="4"/>
              <a:defRPr/>
            </a:pPr>
            <a:r>
              <a:rPr lang="en-US" altLang="en-US" dirty="0"/>
              <a:t>If not, fix it, try again</a:t>
            </a:r>
            <a:endParaRPr lang="en-US" altLang="en-US" dirty="0"/>
          </a:p>
          <a:p>
            <a:pPr lvl="2">
              <a:buFont typeface="Webdings" panose="05030102010509060703" pitchFamily="18" charset="2"/>
              <a:buChar char="4"/>
              <a:defRPr/>
            </a:pPr>
            <a:r>
              <a:rPr lang="en-US" altLang="en-US" dirty="0"/>
              <a:t>If yes, add to mount table, allow access</a:t>
            </a:r>
            <a:endParaRPr lang="en-US" altLang="en-US" dirty="0"/>
          </a:p>
          <a:p>
            <a:pPr>
              <a:defRPr/>
            </a:pPr>
            <a:r>
              <a:rPr lang="en-US" altLang="en-US" dirty="0"/>
              <a:t>Boot block can point to boot volume or boot loader set of blocks that contain enough code to know how to load the kernel from the file system</a:t>
            </a:r>
            <a:endParaRPr lang="en-US" altLang="en-US" dirty="0"/>
          </a:p>
          <a:p>
            <a:pPr lvl="1">
              <a:defRPr/>
            </a:pPr>
            <a:r>
              <a:rPr lang="en-US" altLang="en-US" dirty="0"/>
              <a:t>Or a boot management program for multi-</a:t>
            </a:r>
            <a:r>
              <a:rPr lang="en-US" altLang="en-US" dirty="0" err="1"/>
              <a:t>os</a:t>
            </a:r>
            <a:r>
              <a:rPr lang="en-US" altLang="en-US" dirty="0"/>
              <a:t> booting</a:t>
            </a:r>
            <a:endParaRPr lang="en-US" altLang="en-US" dirty="0"/>
          </a:p>
          <a:p>
            <a:pPr marL="0" indent="0">
              <a:buFont typeface="Monotype Sorts" pitchFamily="-84" charset="2"/>
              <a:buNone/>
              <a:defRPr/>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849190" y="242306"/>
            <a:ext cx="7996237" cy="576262"/>
          </a:xfrm>
        </p:spPr>
        <p:txBody>
          <a:bodyPr/>
          <a:lstStyle/>
          <a:p>
            <a:pPr eaLnBrk="1" hangingPunct="1"/>
            <a:r>
              <a:rPr lang="en-US" altLang="en-US" dirty="0"/>
              <a:t>Device Storage Management (Cont.)</a:t>
            </a:r>
            <a:endParaRPr lang="en-US" altLang="en-US" dirty="0"/>
          </a:p>
        </p:txBody>
      </p:sp>
      <p:sp>
        <p:nvSpPr>
          <p:cNvPr id="56322" name="Rectangle 3"/>
          <p:cNvSpPr>
            <a:spLocks noGrp="1" noChangeArrowheads="1"/>
          </p:cNvSpPr>
          <p:nvPr>
            <p:ph type="body" idx="1"/>
          </p:nvPr>
        </p:nvSpPr>
        <p:spPr>
          <a:xfrm>
            <a:off x="869174" y="1143293"/>
            <a:ext cx="3998913" cy="4692650"/>
          </a:xfrm>
        </p:spPr>
        <p:txBody>
          <a:bodyPr/>
          <a:lstStyle/>
          <a:p>
            <a:endParaRPr lang="en-US" altLang="en-US" sz="1400" dirty="0"/>
          </a:p>
          <a:p>
            <a:r>
              <a:rPr lang="en-US" altLang="en-US" dirty="0"/>
              <a:t>Raw disk access for apps that want to do their own block management, keep OS out of the way (databases for example)</a:t>
            </a:r>
            <a:endParaRPr lang="en-US" altLang="en-US" dirty="0"/>
          </a:p>
          <a:p>
            <a:r>
              <a:rPr lang="en-US" altLang="en-US" dirty="0"/>
              <a:t>Boot block initializes system</a:t>
            </a:r>
            <a:endParaRPr lang="en-US" altLang="en-US" dirty="0"/>
          </a:p>
          <a:p>
            <a:pPr lvl="1"/>
            <a:r>
              <a:rPr lang="en-US" altLang="en-US" dirty="0"/>
              <a:t>The bootstrap is stored in ROM, firmware</a:t>
            </a:r>
            <a:endParaRPr lang="en-US" altLang="en-US" dirty="0"/>
          </a:p>
          <a:p>
            <a:pPr lvl="1"/>
            <a:r>
              <a:rPr lang="en-US" altLang="en-US" b="1" dirty="0">
                <a:solidFill>
                  <a:srgbClr val="006699"/>
                </a:solidFill>
                <a:latin typeface="+mj-lt"/>
              </a:rPr>
              <a:t>Bootstrap</a:t>
            </a:r>
            <a:r>
              <a:rPr lang="en-US" altLang="en-US" b="1" dirty="0">
                <a:solidFill>
                  <a:srgbClr val="3366FF"/>
                </a:solidFill>
              </a:rPr>
              <a:t> </a:t>
            </a:r>
            <a:r>
              <a:rPr lang="en-US" altLang="en-US" b="1" dirty="0">
                <a:solidFill>
                  <a:srgbClr val="006699"/>
                </a:solidFill>
                <a:latin typeface="+mj-lt"/>
              </a:rPr>
              <a:t>loader</a:t>
            </a:r>
            <a:r>
              <a:rPr lang="en-US" altLang="en-US" dirty="0">
                <a:solidFill>
                  <a:srgbClr val="3366FF"/>
                </a:solidFill>
              </a:rPr>
              <a:t> </a:t>
            </a:r>
            <a:r>
              <a:rPr lang="en-US" altLang="en-US" dirty="0"/>
              <a:t>program stored in boot blocks of boot partition</a:t>
            </a:r>
            <a:endParaRPr lang="en-US" altLang="en-US" dirty="0"/>
          </a:p>
          <a:p>
            <a:r>
              <a:rPr lang="en-US" altLang="en-US" dirty="0"/>
              <a:t>Methods such as </a:t>
            </a:r>
            <a:r>
              <a:rPr lang="en-US" altLang="en-US" b="1" dirty="0">
                <a:solidFill>
                  <a:srgbClr val="006699"/>
                </a:solidFill>
                <a:latin typeface="+mj-lt"/>
              </a:rPr>
              <a:t>sector</a:t>
            </a:r>
            <a:r>
              <a:rPr lang="en-US" altLang="en-US" b="1" dirty="0">
                <a:solidFill>
                  <a:srgbClr val="3366FF"/>
                </a:solidFill>
              </a:rPr>
              <a:t> </a:t>
            </a:r>
            <a:r>
              <a:rPr lang="en-US" altLang="en-US" b="1" dirty="0">
                <a:solidFill>
                  <a:srgbClr val="006699"/>
                </a:solidFill>
                <a:latin typeface="+mj-lt"/>
              </a:rPr>
              <a:t>sparing</a:t>
            </a:r>
            <a:r>
              <a:rPr lang="en-US" altLang="en-US" dirty="0">
                <a:solidFill>
                  <a:srgbClr val="3366FF"/>
                </a:solidFill>
              </a:rPr>
              <a:t> </a:t>
            </a:r>
            <a:r>
              <a:rPr lang="en-US" altLang="en-US" dirty="0"/>
              <a:t>used to handle bad blocks</a:t>
            </a:r>
            <a:endParaRPr lang="en-US" altLang="en-US" dirty="0"/>
          </a:p>
        </p:txBody>
      </p:sp>
      <p:pic>
        <p:nvPicPr>
          <p:cNvPr id="5632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21300" y="2109788"/>
            <a:ext cx="3138488"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1"/>
          <p:cNvSpPr txBox="1">
            <a:spLocks noChangeArrowheads="1"/>
          </p:cNvSpPr>
          <p:nvPr/>
        </p:nvSpPr>
        <p:spPr bwMode="auto">
          <a:xfrm>
            <a:off x="5462588" y="4583113"/>
            <a:ext cx="3363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Booting from secondary storage in Windows</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noChangeArrowheads="1"/>
          </p:cNvSpPr>
          <p:nvPr>
            <p:ph type="title"/>
          </p:nvPr>
        </p:nvSpPr>
        <p:spPr>
          <a:xfrm>
            <a:off x="457200" y="241336"/>
            <a:ext cx="8229600" cy="576262"/>
          </a:xfrm>
        </p:spPr>
        <p:txBody>
          <a:bodyPr/>
          <a:lstStyle/>
          <a:p>
            <a:r>
              <a:rPr lang="en-US" altLang="en-US" dirty="0"/>
              <a:t>Swap-Space Management</a:t>
            </a:r>
            <a:endParaRPr lang="en-US" altLang="en-US" dirty="0"/>
          </a:p>
        </p:txBody>
      </p:sp>
      <p:sp>
        <p:nvSpPr>
          <p:cNvPr id="58370" name="Content Placeholder 2"/>
          <p:cNvSpPr>
            <a:spLocks noGrp="1" noChangeArrowheads="1"/>
          </p:cNvSpPr>
          <p:nvPr>
            <p:ph idx="1"/>
          </p:nvPr>
        </p:nvSpPr>
        <p:spPr>
          <a:xfrm>
            <a:off x="877079" y="1041400"/>
            <a:ext cx="7595117" cy="4867275"/>
          </a:xfrm>
        </p:spPr>
        <p:txBody>
          <a:bodyPr/>
          <a:lstStyle/>
          <a:p>
            <a:r>
              <a:rPr lang="en-US" altLang="en-US" dirty="0"/>
              <a:t>Used for moving entire processes (swapping), or pages (paging), from DRAM to secondary storage when DRAM not large enough for all processes</a:t>
            </a:r>
            <a:endParaRPr lang="en-US" altLang="en-US" dirty="0"/>
          </a:p>
          <a:p>
            <a:r>
              <a:rPr lang="en-US" altLang="en-US" dirty="0"/>
              <a:t>Operating system provides </a:t>
            </a:r>
            <a:r>
              <a:rPr lang="en-US" altLang="en-US" b="1" dirty="0">
                <a:solidFill>
                  <a:srgbClr val="006699"/>
                </a:solidFill>
                <a:latin typeface="+mj-lt"/>
              </a:rPr>
              <a:t>swap</a:t>
            </a:r>
            <a:r>
              <a:rPr lang="en-US" altLang="en-US" b="1" dirty="0">
                <a:solidFill>
                  <a:srgbClr val="3366FF"/>
                </a:solidFill>
              </a:rPr>
              <a:t> </a:t>
            </a:r>
            <a:r>
              <a:rPr lang="en-US" altLang="en-US" b="1" dirty="0">
                <a:solidFill>
                  <a:srgbClr val="006699"/>
                </a:solidFill>
                <a:latin typeface="+mj-lt"/>
              </a:rPr>
              <a:t>space</a:t>
            </a:r>
            <a:r>
              <a:rPr lang="en-US" altLang="en-US" b="1" dirty="0">
                <a:solidFill>
                  <a:srgbClr val="3366FF"/>
                </a:solidFill>
              </a:rPr>
              <a:t> </a:t>
            </a:r>
            <a:r>
              <a:rPr lang="en-US" altLang="en-US" b="1" dirty="0">
                <a:solidFill>
                  <a:srgbClr val="006699"/>
                </a:solidFill>
                <a:latin typeface="+mj-lt"/>
              </a:rPr>
              <a:t>management</a:t>
            </a:r>
            <a:endParaRPr lang="en-US" altLang="en-US" b="1" dirty="0">
              <a:solidFill>
                <a:srgbClr val="006699"/>
              </a:solidFill>
              <a:latin typeface="+mj-lt"/>
            </a:endParaRPr>
          </a:p>
          <a:p>
            <a:pPr lvl="1"/>
            <a:r>
              <a:rPr lang="en-US" altLang="en-US" dirty="0"/>
              <a:t>Secondary storage slower than DRAM, so important to optimize performance</a:t>
            </a:r>
            <a:endParaRPr lang="en-US" altLang="en-US" dirty="0"/>
          </a:p>
          <a:p>
            <a:pPr lvl="1"/>
            <a:r>
              <a:rPr lang="en-US" altLang="en-US" dirty="0"/>
              <a:t>Usually multiple swap spaces possible – decreasing I/O load on any given device</a:t>
            </a:r>
            <a:endParaRPr lang="en-US" altLang="en-US" dirty="0"/>
          </a:p>
          <a:p>
            <a:pPr lvl="1"/>
            <a:r>
              <a:rPr lang="en-US" altLang="en-US" dirty="0"/>
              <a:t>Best to have dedicated devices</a:t>
            </a:r>
            <a:endParaRPr lang="en-US" altLang="en-US" dirty="0"/>
          </a:p>
          <a:p>
            <a:pPr lvl="1"/>
            <a:r>
              <a:rPr lang="en-US" altLang="en-US" dirty="0"/>
              <a:t>Can be in raw partition or a file within a file system (for convenience of adding)</a:t>
            </a:r>
            <a:endParaRPr lang="en-US" altLang="en-US" dirty="0"/>
          </a:p>
          <a:p>
            <a:pPr lvl="1"/>
            <a:r>
              <a:rPr lang="en-US" altLang="en-US" dirty="0"/>
              <a:t>Data structures for swapping on Linux systems:</a:t>
            </a:r>
            <a:endParaRPr lang="en-US" altLang="en-US" dirty="0"/>
          </a:p>
        </p:txBody>
      </p:sp>
      <p:pic>
        <p:nvPicPr>
          <p:cNvPr id="5837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50873" y="5011907"/>
            <a:ext cx="3856620" cy="140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noChangeArrowheads="1"/>
          </p:cNvSpPr>
          <p:nvPr>
            <p:ph type="title"/>
          </p:nvPr>
        </p:nvSpPr>
        <p:spPr>
          <a:xfrm>
            <a:off x="457200" y="243929"/>
            <a:ext cx="8229600" cy="576262"/>
          </a:xfrm>
        </p:spPr>
        <p:txBody>
          <a:bodyPr/>
          <a:lstStyle/>
          <a:p>
            <a:r>
              <a:rPr lang="en-US" altLang="en-US" dirty="0"/>
              <a:t>Storage Attachment</a:t>
            </a:r>
            <a:endParaRPr lang="en-US" altLang="en-US" dirty="0"/>
          </a:p>
        </p:txBody>
      </p:sp>
      <p:sp>
        <p:nvSpPr>
          <p:cNvPr id="59394" name="Content Placeholder 2"/>
          <p:cNvSpPr>
            <a:spLocks noGrp="1" noChangeArrowheads="1"/>
          </p:cNvSpPr>
          <p:nvPr>
            <p:ph idx="1"/>
          </p:nvPr>
        </p:nvSpPr>
        <p:spPr>
          <a:xfrm>
            <a:off x="889423" y="1198598"/>
            <a:ext cx="7778717" cy="4530725"/>
          </a:xfrm>
        </p:spPr>
        <p:txBody>
          <a:bodyPr/>
          <a:lstStyle/>
          <a:p>
            <a:r>
              <a:rPr lang="en-US" altLang="en-US" dirty="0"/>
              <a:t>Computers access storage in three ways</a:t>
            </a:r>
            <a:endParaRPr lang="en-US" altLang="en-US" dirty="0"/>
          </a:p>
          <a:p>
            <a:pPr lvl="1"/>
            <a:r>
              <a:rPr lang="en-US" altLang="en-US" dirty="0"/>
              <a:t>host-attached</a:t>
            </a:r>
            <a:endParaRPr lang="en-US" altLang="en-US" dirty="0"/>
          </a:p>
          <a:p>
            <a:pPr lvl="1"/>
            <a:r>
              <a:rPr lang="en-US" altLang="en-US" dirty="0"/>
              <a:t>network-attached</a:t>
            </a:r>
            <a:endParaRPr lang="en-US" altLang="en-US" dirty="0"/>
          </a:p>
          <a:p>
            <a:pPr lvl="1"/>
            <a:r>
              <a:rPr lang="en-US" altLang="en-US" dirty="0"/>
              <a:t>cloud</a:t>
            </a:r>
            <a:endParaRPr lang="en-US" altLang="en-US" dirty="0"/>
          </a:p>
          <a:p>
            <a:r>
              <a:rPr lang="en-US" altLang="en-US" dirty="0"/>
              <a:t>Host attached access through local I/O ports, using one of several technologies</a:t>
            </a:r>
            <a:endParaRPr lang="en-US" altLang="en-US" dirty="0"/>
          </a:p>
          <a:p>
            <a:pPr lvl="1"/>
            <a:r>
              <a:rPr lang="en-US" altLang="en-US" dirty="0"/>
              <a:t>To attach many devices, use storage busses such as USB, firewire, thunderbolt</a:t>
            </a:r>
            <a:endParaRPr lang="en-US" altLang="en-US" dirty="0"/>
          </a:p>
          <a:p>
            <a:pPr lvl="1"/>
            <a:r>
              <a:rPr lang="en-US" altLang="en-US" dirty="0"/>
              <a:t>High-end systems use </a:t>
            </a:r>
            <a:r>
              <a:rPr lang="en-US" altLang="en-US" b="1" dirty="0">
                <a:solidFill>
                  <a:srgbClr val="006699"/>
                </a:solidFill>
                <a:latin typeface="+mj-lt"/>
              </a:rPr>
              <a:t>fibre</a:t>
            </a:r>
            <a:r>
              <a:rPr lang="en-US" altLang="en-US" b="1" dirty="0">
                <a:solidFill>
                  <a:srgbClr val="3366FF"/>
                </a:solidFill>
              </a:rPr>
              <a:t> </a:t>
            </a:r>
            <a:r>
              <a:rPr lang="en-US" altLang="en-US" b="1" dirty="0">
                <a:solidFill>
                  <a:srgbClr val="006699"/>
                </a:solidFill>
                <a:latin typeface="+mj-lt"/>
              </a:rPr>
              <a:t>channel</a:t>
            </a:r>
            <a:r>
              <a:rPr lang="en-US" altLang="en-US" b="1" dirty="0">
                <a:solidFill>
                  <a:srgbClr val="3366FF"/>
                </a:solidFill>
              </a:rPr>
              <a:t> </a:t>
            </a:r>
            <a:r>
              <a:rPr lang="en-US" altLang="en-US" dirty="0"/>
              <a:t>(</a:t>
            </a:r>
            <a:r>
              <a:rPr lang="en-US" altLang="en-US" b="1" dirty="0">
                <a:solidFill>
                  <a:srgbClr val="006699"/>
                </a:solidFill>
                <a:latin typeface="+mj-lt"/>
              </a:rPr>
              <a:t>FC</a:t>
            </a:r>
            <a:r>
              <a:rPr lang="en-US" altLang="en-US" dirty="0"/>
              <a:t>)</a:t>
            </a:r>
            <a:endParaRPr lang="en-US" altLang="en-US" dirty="0"/>
          </a:p>
          <a:p>
            <a:pPr lvl="2"/>
            <a:r>
              <a:rPr lang="en-US" altLang="en-US" dirty="0"/>
              <a:t>High-speed serial architecture using fibre or copper cables</a:t>
            </a:r>
            <a:endParaRPr lang="en-US" altLang="en-US" dirty="0"/>
          </a:p>
          <a:p>
            <a:pPr lvl="2"/>
            <a:r>
              <a:rPr lang="en-US" altLang="en-US" dirty="0"/>
              <a:t>Multiple hosts and storage devices can connect to the FC fabric</a:t>
            </a:r>
            <a:endParaRPr lang="en-US" altLang="en-US" dirty="0"/>
          </a:p>
          <a:p>
            <a:pPr lvl="1"/>
            <a:endParaRPr lang="en-US" altLang="en-US" dirty="0"/>
          </a:p>
          <a:p>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908015" y="243929"/>
            <a:ext cx="7704137" cy="576262"/>
          </a:xfrm>
        </p:spPr>
        <p:txBody>
          <a:bodyPr/>
          <a:lstStyle/>
          <a:p>
            <a:pPr eaLnBrk="1" hangingPunct="1"/>
            <a:r>
              <a:rPr lang="en-US" altLang="en-US" dirty="0"/>
              <a:t>Network-Attached Storage</a:t>
            </a:r>
            <a:endParaRPr lang="en-US" altLang="en-US" dirty="0"/>
          </a:p>
        </p:txBody>
      </p:sp>
      <p:sp>
        <p:nvSpPr>
          <p:cNvPr id="60418" name="Rectangle 3"/>
          <p:cNvSpPr>
            <a:spLocks noGrp="1" noChangeArrowheads="1"/>
          </p:cNvSpPr>
          <p:nvPr>
            <p:ph type="body" idx="1"/>
          </p:nvPr>
        </p:nvSpPr>
        <p:spPr>
          <a:xfrm>
            <a:off x="874713" y="1055688"/>
            <a:ext cx="7704136" cy="4530725"/>
          </a:xfrm>
        </p:spPr>
        <p:txBody>
          <a:bodyPr/>
          <a:lstStyle/>
          <a:p>
            <a:r>
              <a:rPr lang="en-US" altLang="en-US" dirty="0"/>
              <a:t>Network-attached storage (</a:t>
            </a:r>
            <a:r>
              <a:rPr lang="en-US" altLang="en-US" b="1" dirty="0">
                <a:solidFill>
                  <a:srgbClr val="006699"/>
                </a:solidFill>
                <a:latin typeface="+mj-lt"/>
              </a:rPr>
              <a:t>NAS</a:t>
            </a:r>
            <a:r>
              <a:rPr lang="en-US" altLang="en-US" dirty="0"/>
              <a:t>) is storage made available over a network rather than over a local connection (such as a bus)</a:t>
            </a:r>
            <a:endParaRPr lang="en-US" altLang="en-US" dirty="0"/>
          </a:p>
          <a:p>
            <a:pPr lvl="1"/>
            <a:r>
              <a:rPr lang="en-US" altLang="en-US" dirty="0"/>
              <a:t>Remotely attaching to file systems</a:t>
            </a:r>
            <a:endParaRPr lang="en-US" altLang="en-US" dirty="0"/>
          </a:p>
          <a:p>
            <a:r>
              <a:rPr lang="en-US" altLang="en-US" dirty="0"/>
              <a:t>NFS and CIFS are common protocols</a:t>
            </a:r>
            <a:endParaRPr lang="en-US" altLang="en-US" dirty="0"/>
          </a:p>
          <a:p>
            <a:r>
              <a:rPr lang="en-US" altLang="en-US" dirty="0"/>
              <a:t>Implemented via remote procedure calls (RPCs) between host and storage over typically TCP or UDP on IP network</a:t>
            </a:r>
            <a:endParaRPr lang="en-US" altLang="en-US" dirty="0"/>
          </a:p>
          <a:p>
            <a:r>
              <a:rPr lang="en-US" altLang="en-US" b="1" dirty="0">
                <a:solidFill>
                  <a:srgbClr val="006699"/>
                </a:solidFill>
                <a:latin typeface="+mj-lt"/>
              </a:rPr>
              <a:t>iSCSI</a:t>
            </a:r>
            <a:r>
              <a:rPr lang="en-US" altLang="en-US" dirty="0"/>
              <a:t> protocol uses IP network to carry the SCSI protocol</a:t>
            </a:r>
            <a:endParaRPr lang="en-US" altLang="en-US" dirty="0"/>
          </a:p>
          <a:p>
            <a:pPr lvl="1"/>
            <a:r>
              <a:rPr lang="en-US" altLang="en-US" dirty="0"/>
              <a:t>Remotely attaching to devices (blocks)</a:t>
            </a:r>
            <a:endParaRPr lang="en-US" altLang="en-US" dirty="0"/>
          </a:p>
        </p:txBody>
      </p:sp>
      <p:pic>
        <p:nvPicPr>
          <p:cNvPr id="60419"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01813" y="3986213"/>
            <a:ext cx="4805362"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noChangeArrowheads="1"/>
          </p:cNvSpPr>
          <p:nvPr>
            <p:ph type="title"/>
          </p:nvPr>
        </p:nvSpPr>
        <p:spPr>
          <a:xfrm>
            <a:off x="345230" y="234598"/>
            <a:ext cx="8229600" cy="576262"/>
          </a:xfrm>
        </p:spPr>
        <p:txBody>
          <a:bodyPr/>
          <a:lstStyle/>
          <a:p>
            <a:r>
              <a:rPr lang="en-US" altLang="en-US" dirty="0"/>
              <a:t>Cloud Storage</a:t>
            </a:r>
            <a:endParaRPr lang="en-US" altLang="en-US" dirty="0"/>
          </a:p>
        </p:txBody>
      </p:sp>
      <p:sp>
        <p:nvSpPr>
          <p:cNvPr id="62466" name="Content Placeholder 2"/>
          <p:cNvSpPr>
            <a:spLocks noGrp="1" noChangeArrowheads="1"/>
          </p:cNvSpPr>
          <p:nvPr>
            <p:ph idx="1"/>
          </p:nvPr>
        </p:nvSpPr>
        <p:spPr>
          <a:xfrm>
            <a:off x="870762" y="1245253"/>
            <a:ext cx="7150100" cy="4530725"/>
          </a:xfrm>
        </p:spPr>
        <p:txBody>
          <a:bodyPr/>
          <a:lstStyle/>
          <a:p>
            <a:r>
              <a:rPr lang="en-US" altLang="en-US" dirty="0"/>
              <a:t>Similar to NAS, provides access to storage across a network</a:t>
            </a:r>
            <a:endParaRPr lang="en-US" altLang="en-US" dirty="0"/>
          </a:p>
          <a:p>
            <a:pPr lvl="1"/>
            <a:r>
              <a:rPr lang="en-US" altLang="en-US" dirty="0"/>
              <a:t>Unlike NAS, accessed over the Internet or a WAN to remote data center</a:t>
            </a:r>
            <a:endParaRPr lang="en-US" altLang="en-US" dirty="0"/>
          </a:p>
          <a:p>
            <a:r>
              <a:rPr lang="en-US" altLang="en-US" dirty="0"/>
              <a:t>NAS presented as just another file system, while cloud storage is API based, with programs using the APIs to provide access</a:t>
            </a:r>
            <a:endParaRPr lang="en-US" altLang="en-US" dirty="0"/>
          </a:p>
          <a:p>
            <a:pPr lvl="1"/>
            <a:r>
              <a:rPr lang="en-US" altLang="en-US" dirty="0"/>
              <a:t>Examples include Dropbox, Amazon S3, Microsoft OneDrive, Apple iCloud</a:t>
            </a:r>
            <a:endParaRPr lang="en-US" altLang="en-US" dirty="0"/>
          </a:p>
          <a:p>
            <a:pPr lvl="1"/>
            <a:r>
              <a:rPr lang="en-US" altLang="en-US" dirty="0"/>
              <a:t>Use APIs because of latency and failure scenarios (NAS protocols wouldn’t work well)</a:t>
            </a:r>
            <a:endParaRPr lang="en-US" altLang="en-US" dirty="0"/>
          </a:p>
          <a:p>
            <a:pPr lvl="1"/>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noChangeArrowheads="1"/>
          </p:cNvSpPr>
          <p:nvPr>
            <p:ph type="title"/>
          </p:nvPr>
        </p:nvSpPr>
        <p:spPr>
          <a:xfrm>
            <a:off x="401214" y="234598"/>
            <a:ext cx="8229600" cy="576262"/>
          </a:xfrm>
        </p:spPr>
        <p:txBody>
          <a:bodyPr/>
          <a:lstStyle/>
          <a:p>
            <a:r>
              <a:rPr lang="en-US" altLang="en-US" dirty="0"/>
              <a:t>Storage Array</a:t>
            </a:r>
            <a:endParaRPr lang="en-US" altLang="en-US" dirty="0"/>
          </a:p>
        </p:txBody>
      </p:sp>
      <p:sp>
        <p:nvSpPr>
          <p:cNvPr id="63490" name="Content Placeholder 2"/>
          <p:cNvSpPr>
            <a:spLocks noGrp="1" noChangeArrowheads="1"/>
          </p:cNvSpPr>
          <p:nvPr>
            <p:ph idx="1"/>
          </p:nvPr>
        </p:nvSpPr>
        <p:spPr>
          <a:xfrm>
            <a:off x="880092" y="1207929"/>
            <a:ext cx="7610763" cy="4530725"/>
          </a:xfrm>
        </p:spPr>
        <p:txBody>
          <a:bodyPr/>
          <a:lstStyle/>
          <a:p>
            <a:r>
              <a:rPr lang="en-US" altLang="en-US" dirty="0"/>
              <a:t>Can just attach disks, or arrays of disks</a:t>
            </a:r>
            <a:endParaRPr lang="en-US" altLang="en-US" dirty="0"/>
          </a:p>
          <a:p>
            <a:r>
              <a:rPr lang="en-US" altLang="en-US" dirty="0"/>
              <a:t>Avoids the NAS drawback of using network bandwidth</a:t>
            </a:r>
            <a:endParaRPr lang="en-US" altLang="en-US" dirty="0"/>
          </a:p>
          <a:p>
            <a:r>
              <a:rPr lang="en-US" altLang="en-US" dirty="0"/>
              <a:t>Storage Array has controller(s), provides features to attached host(s)</a:t>
            </a:r>
            <a:endParaRPr lang="en-US" altLang="en-US" dirty="0"/>
          </a:p>
          <a:p>
            <a:pPr lvl="1"/>
            <a:r>
              <a:rPr lang="en-US" altLang="en-US" dirty="0"/>
              <a:t>Ports to connect hosts to array</a:t>
            </a:r>
            <a:endParaRPr lang="en-US" altLang="en-US" dirty="0"/>
          </a:p>
          <a:p>
            <a:pPr lvl="1"/>
            <a:r>
              <a:rPr lang="en-US" altLang="en-US" dirty="0"/>
              <a:t>Memory, controlling software (sometimes NVRAM, </a:t>
            </a:r>
            <a:r>
              <a:rPr lang="en-US" altLang="en-US" dirty="0" err="1"/>
              <a:t>etc</a:t>
            </a:r>
            <a:r>
              <a:rPr lang="en-US" altLang="en-US" dirty="0"/>
              <a:t>)</a:t>
            </a:r>
            <a:endParaRPr lang="en-US" altLang="en-US" dirty="0"/>
          </a:p>
          <a:p>
            <a:pPr lvl="1"/>
            <a:r>
              <a:rPr lang="en-US" altLang="en-US" dirty="0"/>
              <a:t>A few to thousands of disks</a:t>
            </a:r>
            <a:endParaRPr lang="en-US" altLang="en-US" dirty="0"/>
          </a:p>
          <a:p>
            <a:pPr lvl="1"/>
            <a:r>
              <a:rPr lang="en-US" altLang="en-US" dirty="0"/>
              <a:t>RAID, hot spares, hot swap (discussed later)</a:t>
            </a:r>
            <a:endParaRPr lang="en-US" altLang="en-US" dirty="0"/>
          </a:p>
          <a:p>
            <a:pPr lvl="1"/>
            <a:r>
              <a:rPr lang="en-US" altLang="en-US" dirty="0"/>
              <a:t>Shared storage -&gt; more efficiency</a:t>
            </a:r>
            <a:endParaRPr lang="en-US" altLang="en-US" dirty="0"/>
          </a:p>
          <a:p>
            <a:pPr lvl="1"/>
            <a:r>
              <a:rPr lang="en-US" altLang="en-US" dirty="0"/>
              <a:t>Features found in some file systems</a:t>
            </a:r>
            <a:endParaRPr lang="en-US" altLang="en-US" dirty="0"/>
          </a:p>
          <a:p>
            <a:pPr lvl="2"/>
            <a:r>
              <a:rPr lang="en-US" altLang="en-US" dirty="0" err="1"/>
              <a:t>Snaphots</a:t>
            </a:r>
            <a:r>
              <a:rPr lang="en-US" altLang="en-US" dirty="0"/>
              <a:t>, clones, thin provisioning, replication, deduplication, </a:t>
            </a:r>
            <a:r>
              <a:rPr lang="en-US" altLang="en-US" dirty="0" err="1"/>
              <a:t>etc</a:t>
            </a:r>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738188" y="248885"/>
            <a:ext cx="7948612" cy="576263"/>
          </a:xfrm>
        </p:spPr>
        <p:txBody>
          <a:bodyPr/>
          <a:lstStyle/>
          <a:p>
            <a:pPr eaLnBrk="1" hangingPunct="1"/>
            <a:r>
              <a:rPr lang="en-US" altLang="en-US" dirty="0"/>
              <a:t>Storage Area Network</a:t>
            </a:r>
            <a:endParaRPr lang="en-US" altLang="en-US" dirty="0"/>
          </a:p>
        </p:txBody>
      </p:sp>
      <p:sp>
        <p:nvSpPr>
          <p:cNvPr id="64514" name="Rectangle 3"/>
          <p:cNvSpPr>
            <a:spLocks noGrp="1" noChangeArrowheads="1"/>
          </p:cNvSpPr>
          <p:nvPr>
            <p:ph type="body" idx="1"/>
          </p:nvPr>
        </p:nvSpPr>
        <p:spPr>
          <a:xfrm>
            <a:off x="867748" y="1233488"/>
            <a:ext cx="7708739" cy="4530725"/>
          </a:xfrm>
        </p:spPr>
        <p:txBody>
          <a:bodyPr/>
          <a:lstStyle/>
          <a:p>
            <a:r>
              <a:rPr lang="en-US" altLang="en-US" dirty="0"/>
              <a:t>Common in large storage environments</a:t>
            </a:r>
            <a:endParaRPr lang="en-US" altLang="en-US" sz="800" dirty="0"/>
          </a:p>
          <a:p>
            <a:r>
              <a:rPr lang="en-US" altLang="en-US" dirty="0"/>
              <a:t>Multiple hosts attached to multiple storage arrays – flexible</a:t>
            </a:r>
            <a:endParaRPr lang="en-US" altLang="en-US" dirty="0"/>
          </a:p>
          <a:p>
            <a:endParaRPr lang="en-US" altLang="en-US" dirty="0"/>
          </a:p>
        </p:txBody>
      </p:sp>
      <p:pic>
        <p:nvPicPr>
          <p:cNvPr id="64515" name="Picture 1" descr="10_03.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74800" y="2292350"/>
            <a:ext cx="5614988"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noChangeArrowheads="1"/>
          </p:cNvSpPr>
          <p:nvPr>
            <p:ph type="title"/>
          </p:nvPr>
        </p:nvSpPr>
        <p:spPr>
          <a:xfrm>
            <a:off x="881098" y="247880"/>
            <a:ext cx="7805701" cy="576262"/>
          </a:xfrm>
        </p:spPr>
        <p:txBody>
          <a:bodyPr/>
          <a:lstStyle/>
          <a:p>
            <a:r>
              <a:rPr lang="en-US" altLang="en-US" dirty="0"/>
              <a:t>Storage Area Network (Cont.)</a:t>
            </a:r>
            <a:endParaRPr lang="en-US" altLang="en-US" dirty="0"/>
          </a:p>
        </p:txBody>
      </p:sp>
      <p:sp>
        <p:nvSpPr>
          <p:cNvPr id="66562" name="Content Placeholder 2"/>
          <p:cNvSpPr>
            <a:spLocks noGrp="1" noChangeArrowheads="1"/>
          </p:cNvSpPr>
          <p:nvPr>
            <p:ph idx="1"/>
          </p:nvPr>
        </p:nvSpPr>
        <p:spPr>
          <a:xfrm>
            <a:off x="881099" y="1233488"/>
            <a:ext cx="3905506" cy="5005387"/>
          </a:xfrm>
        </p:spPr>
        <p:txBody>
          <a:bodyPr/>
          <a:lstStyle/>
          <a:p>
            <a:r>
              <a:rPr lang="en-US" altLang="en-US" dirty="0"/>
              <a:t>SAN is one or more storage arrays</a:t>
            </a:r>
            <a:endParaRPr lang="en-US" altLang="en-US" dirty="0"/>
          </a:p>
          <a:p>
            <a:pPr lvl="1"/>
            <a:r>
              <a:rPr lang="en-US" altLang="en-US" dirty="0"/>
              <a:t>Connected to one or more Fibre Channel switches or </a:t>
            </a:r>
            <a:r>
              <a:rPr lang="en-US" altLang="en-US" b="1" dirty="0">
                <a:solidFill>
                  <a:srgbClr val="006699"/>
                </a:solidFill>
                <a:latin typeface="+mj-lt"/>
              </a:rPr>
              <a:t>InfiniBand</a:t>
            </a:r>
            <a:r>
              <a:rPr lang="en-US" altLang="en-US" dirty="0"/>
              <a:t> (</a:t>
            </a:r>
            <a:r>
              <a:rPr lang="en-US" altLang="en-US" b="1" dirty="0">
                <a:solidFill>
                  <a:srgbClr val="006699"/>
                </a:solidFill>
                <a:latin typeface="+mj-lt"/>
              </a:rPr>
              <a:t>IB</a:t>
            </a:r>
            <a:r>
              <a:rPr lang="en-US" altLang="en-US" dirty="0"/>
              <a:t>) network</a:t>
            </a:r>
            <a:endParaRPr lang="en-US" altLang="en-US" dirty="0"/>
          </a:p>
          <a:p>
            <a:r>
              <a:rPr lang="en-US" altLang="en-US" dirty="0"/>
              <a:t>Hosts also attach to the switches</a:t>
            </a:r>
            <a:endParaRPr lang="en-US" altLang="en-US" dirty="0"/>
          </a:p>
          <a:p>
            <a:r>
              <a:rPr lang="en-US" altLang="en-US" dirty="0"/>
              <a:t>Storage made available via </a:t>
            </a:r>
            <a:r>
              <a:rPr lang="en-US" altLang="en-US" b="1" dirty="0">
                <a:solidFill>
                  <a:srgbClr val="006699"/>
                </a:solidFill>
                <a:latin typeface="+mj-lt"/>
              </a:rPr>
              <a:t>LUN</a:t>
            </a:r>
            <a:r>
              <a:rPr lang="en-US" altLang="en-US" b="1" dirty="0">
                <a:solidFill>
                  <a:srgbClr val="3366FF"/>
                </a:solidFill>
              </a:rPr>
              <a:t> </a:t>
            </a:r>
            <a:r>
              <a:rPr lang="en-US" altLang="en-US" b="1" dirty="0">
                <a:solidFill>
                  <a:srgbClr val="006699"/>
                </a:solidFill>
                <a:latin typeface="+mj-lt"/>
              </a:rPr>
              <a:t>Masking</a:t>
            </a:r>
            <a:r>
              <a:rPr lang="en-US" altLang="en-US" b="1" dirty="0">
                <a:solidFill>
                  <a:srgbClr val="3366FF"/>
                </a:solidFill>
              </a:rPr>
              <a:t> </a:t>
            </a:r>
            <a:r>
              <a:rPr lang="en-US" altLang="en-US" dirty="0"/>
              <a:t>from specific arrays to specific servers</a:t>
            </a:r>
            <a:endParaRPr lang="en-US" altLang="en-US" dirty="0"/>
          </a:p>
          <a:p>
            <a:r>
              <a:rPr lang="en-US" altLang="en-US" dirty="0"/>
              <a:t>Easy to add or remove storage, add new host and allocate it storage</a:t>
            </a:r>
            <a:endParaRPr lang="en-US" altLang="en-US" dirty="0"/>
          </a:p>
          <a:p>
            <a:r>
              <a:rPr lang="en-US" altLang="en-US" dirty="0"/>
              <a:t>Why have separate storage networks and communications networks?</a:t>
            </a:r>
            <a:endParaRPr lang="en-US" altLang="en-US" dirty="0"/>
          </a:p>
          <a:p>
            <a:pPr lvl="1"/>
            <a:r>
              <a:rPr lang="en-US" altLang="en-US" dirty="0"/>
              <a:t>Consider iSCSI, FCOE</a:t>
            </a:r>
            <a:endParaRPr lang="en-US" altLang="en-US" dirty="0"/>
          </a:p>
          <a:p>
            <a:endParaRPr lang="en-US" altLang="en-US" dirty="0"/>
          </a:p>
          <a:p>
            <a:pPr lvl="1"/>
            <a:endParaRPr lang="en-US" altLang="en-US" dirty="0"/>
          </a:p>
        </p:txBody>
      </p:sp>
      <p:pic>
        <p:nvPicPr>
          <p:cNvPr id="6656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26038" y="2457450"/>
            <a:ext cx="345281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Box 3"/>
          <p:cNvSpPr txBox="1">
            <a:spLocks noChangeArrowheads="1"/>
          </p:cNvSpPr>
          <p:nvPr/>
        </p:nvSpPr>
        <p:spPr bwMode="auto">
          <a:xfrm>
            <a:off x="5705475" y="4818063"/>
            <a:ext cx="2579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A Storage Array</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701675" y="239713"/>
            <a:ext cx="7761288" cy="576262"/>
          </a:xfrm>
        </p:spPr>
        <p:txBody>
          <a:bodyPr/>
          <a:lstStyle/>
          <a:p>
            <a:pPr eaLnBrk="1" hangingPunct="1"/>
            <a:r>
              <a:rPr lang="en-US" altLang="en-US"/>
              <a:t>RAID Structure</a:t>
            </a:r>
            <a:endParaRPr lang="en-US" altLang="en-US"/>
          </a:p>
        </p:txBody>
      </p:sp>
      <p:sp>
        <p:nvSpPr>
          <p:cNvPr id="67586" name="Rectangle 3"/>
          <p:cNvSpPr>
            <a:spLocks noGrp="1" noChangeArrowheads="1"/>
          </p:cNvSpPr>
          <p:nvPr>
            <p:ph type="body" idx="1"/>
          </p:nvPr>
        </p:nvSpPr>
        <p:spPr>
          <a:xfrm>
            <a:off x="806450" y="1233488"/>
            <a:ext cx="7486650" cy="4530725"/>
          </a:xfrm>
        </p:spPr>
        <p:txBody>
          <a:bodyPr/>
          <a:lstStyle/>
          <a:p>
            <a:r>
              <a:rPr lang="en-US" altLang="en-US" b="1" dirty="0">
                <a:solidFill>
                  <a:srgbClr val="006699"/>
                </a:solidFill>
                <a:latin typeface="+mj-lt"/>
              </a:rPr>
              <a:t>RAID</a:t>
            </a:r>
            <a:r>
              <a:rPr lang="en-US" altLang="en-US" dirty="0"/>
              <a:t> – </a:t>
            </a:r>
            <a:r>
              <a:rPr lang="en-US" altLang="en-US" b="1" dirty="0">
                <a:solidFill>
                  <a:srgbClr val="006699"/>
                </a:solidFill>
                <a:latin typeface="+mj-lt"/>
              </a:rPr>
              <a:t>redundant</a:t>
            </a:r>
            <a:r>
              <a:rPr lang="en-US" altLang="en-US" b="1" dirty="0">
                <a:solidFill>
                  <a:srgbClr val="3366FF"/>
                </a:solidFill>
              </a:rPr>
              <a:t> </a:t>
            </a:r>
            <a:r>
              <a:rPr lang="en-US" altLang="en-US" b="1" dirty="0">
                <a:solidFill>
                  <a:srgbClr val="006699"/>
                </a:solidFill>
                <a:latin typeface="+mj-lt"/>
              </a:rPr>
              <a:t>array</a:t>
            </a:r>
            <a:r>
              <a:rPr lang="en-US" altLang="en-US" b="1" dirty="0">
                <a:solidFill>
                  <a:srgbClr val="3366FF"/>
                </a:solidFill>
              </a:rPr>
              <a:t> </a:t>
            </a:r>
            <a:r>
              <a:rPr lang="en-US" altLang="en-US" b="1" dirty="0">
                <a:solidFill>
                  <a:srgbClr val="006699"/>
                </a:solidFill>
                <a:latin typeface="+mj-lt"/>
              </a:rPr>
              <a:t>of</a:t>
            </a:r>
            <a:r>
              <a:rPr lang="en-US" altLang="en-US" b="1" dirty="0">
                <a:solidFill>
                  <a:srgbClr val="3366FF"/>
                </a:solidFill>
              </a:rPr>
              <a:t> </a:t>
            </a:r>
            <a:r>
              <a:rPr lang="en-US" altLang="en-US" b="1" dirty="0">
                <a:solidFill>
                  <a:srgbClr val="006699"/>
                </a:solidFill>
                <a:latin typeface="+mj-lt"/>
              </a:rPr>
              <a:t>inexpensive</a:t>
            </a:r>
            <a:r>
              <a:rPr lang="en-US" altLang="en-US" b="1" dirty="0">
                <a:solidFill>
                  <a:srgbClr val="3366FF"/>
                </a:solidFill>
              </a:rPr>
              <a:t> </a:t>
            </a:r>
            <a:r>
              <a:rPr lang="en-US" altLang="en-US" b="1" dirty="0">
                <a:solidFill>
                  <a:srgbClr val="006699"/>
                </a:solidFill>
                <a:latin typeface="+mj-lt"/>
              </a:rPr>
              <a:t>disks</a:t>
            </a:r>
            <a:endParaRPr lang="en-US" altLang="en-US" b="1" dirty="0">
              <a:solidFill>
                <a:srgbClr val="006699"/>
              </a:solidFill>
              <a:latin typeface="+mj-lt"/>
            </a:endParaRPr>
          </a:p>
          <a:p>
            <a:pPr lvl="1"/>
            <a:r>
              <a:rPr lang="en-US" altLang="en-US" dirty="0"/>
              <a:t>multiple disk drives provides reliability via </a:t>
            </a:r>
            <a:r>
              <a:rPr lang="en-US" altLang="en-US" b="1" dirty="0">
                <a:solidFill>
                  <a:srgbClr val="006699"/>
                </a:solidFill>
                <a:latin typeface="+mj-lt"/>
              </a:rPr>
              <a:t>redundancy</a:t>
            </a:r>
            <a:endParaRPr lang="en-US" altLang="en-US" b="1" dirty="0">
              <a:solidFill>
                <a:srgbClr val="006699"/>
              </a:solidFill>
              <a:latin typeface="+mj-lt"/>
            </a:endParaRPr>
          </a:p>
          <a:p>
            <a:r>
              <a:rPr lang="en-US" altLang="en-US" dirty="0"/>
              <a:t>Increases the </a:t>
            </a:r>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failure</a:t>
            </a:r>
            <a:endParaRPr lang="en-US" altLang="en-US" b="1" dirty="0">
              <a:solidFill>
                <a:srgbClr val="006699"/>
              </a:solidFill>
              <a:latin typeface="+mj-lt"/>
            </a:endParaRPr>
          </a:p>
          <a:p>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repair</a:t>
            </a:r>
            <a:r>
              <a:rPr lang="en-US" altLang="en-US" b="1" dirty="0">
                <a:solidFill>
                  <a:srgbClr val="3366FF"/>
                </a:solidFill>
              </a:rPr>
              <a:t> – </a:t>
            </a:r>
            <a:r>
              <a:rPr lang="en-US" altLang="en-US" dirty="0"/>
              <a:t>exposure time when another failure could cause data loss</a:t>
            </a:r>
            <a:endParaRPr lang="en-US" altLang="en-US" dirty="0"/>
          </a:p>
          <a:p>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 to data loss </a:t>
            </a:r>
            <a:r>
              <a:rPr lang="en-US" altLang="en-US" dirty="0"/>
              <a:t>based on above factors</a:t>
            </a:r>
            <a:endParaRPr lang="en-US" altLang="en-US" dirty="0"/>
          </a:p>
          <a:p>
            <a:r>
              <a:rPr lang="en-US" altLang="en-US" dirty="0"/>
              <a:t>If mirrored disks fail independently, consider disk with 1300,000 </a:t>
            </a:r>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failure</a:t>
            </a:r>
            <a:r>
              <a:rPr lang="en-US" altLang="en-US" b="1" dirty="0">
                <a:solidFill>
                  <a:srgbClr val="3366FF"/>
                </a:solidFill>
              </a:rPr>
              <a:t> </a:t>
            </a:r>
            <a:r>
              <a:rPr lang="en-US" altLang="en-US" dirty="0"/>
              <a:t>and 10 hour mean time to repair</a:t>
            </a:r>
            <a:endParaRPr lang="en-US" altLang="en-US" dirty="0"/>
          </a:p>
          <a:p>
            <a:pPr lvl="1"/>
            <a:r>
              <a:rPr lang="en-US" altLang="en-US" dirty="0"/>
              <a:t>Mean time to data loss is 100, 000</a:t>
            </a:r>
            <a:r>
              <a:rPr lang="en-US" altLang="en-US" baseline="30000" dirty="0"/>
              <a:t>2</a:t>
            </a:r>
            <a:r>
              <a:rPr lang="en-US" altLang="en-US" dirty="0"/>
              <a:t> / (2 ∗ 10) = 500 ∗ 10</a:t>
            </a:r>
            <a:r>
              <a:rPr lang="en-US" altLang="en-US" baseline="30000" dirty="0"/>
              <a:t>6</a:t>
            </a:r>
            <a:r>
              <a:rPr lang="en-US" altLang="en-US" dirty="0"/>
              <a:t> hours, or 57,000 years! </a:t>
            </a:r>
            <a:endParaRPr lang="en-US" altLang="en-US" dirty="0"/>
          </a:p>
          <a:p>
            <a:r>
              <a:rPr lang="en-US" altLang="en-US" dirty="0"/>
              <a:t>Frequently combined with </a:t>
            </a:r>
            <a:r>
              <a:rPr lang="en-US" altLang="en-US" b="1" dirty="0">
                <a:solidFill>
                  <a:srgbClr val="006699"/>
                </a:solidFill>
                <a:latin typeface="+mj-lt"/>
              </a:rPr>
              <a:t>NVRAM</a:t>
            </a:r>
            <a:r>
              <a:rPr lang="en-US" altLang="en-US" dirty="0">
                <a:solidFill>
                  <a:srgbClr val="3366FF"/>
                </a:solidFill>
              </a:rPr>
              <a:t> </a:t>
            </a:r>
            <a:r>
              <a:rPr lang="en-US" altLang="en-US" dirty="0"/>
              <a:t>to improve write performance</a:t>
            </a:r>
            <a:endParaRPr lang="en-US" altLang="en-US" dirty="0"/>
          </a:p>
          <a:p>
            <a:r>
              <a:rPr lang="en-US" altLang="en-US" dirty="0"/>
              <a:t>Several improvements in disk-use techniques involve the use of multiple disks working cooperatively</a:t>
            </a:r>
            <a:endParaRPr lang="en-US" alt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457200" y="235568"/>
            <a:ext cx="8229600" cy="576262"/>
          </a:xfrm>
        </p:spPr>
        <p:txBody>
          <a:bodyPr/>
          <a:lstStyle/>
          <a:p>
            <a:pPr eaLnBrk="1" hangingPunct="1"/>
            <a:r>
              <a:rPr lang="en-US" altLang="en-US" dirty="0"/>
              <a:t>RAID (Cont.)</a:t>
            </a:r>
            <a:endParaRPr lang="en-US" altLang="en-US" dirty="0"/>
          </a:p>
        </p:txBody>
      </p:sp>
      <p:sp>
        <p:nvSpPr>
          <p:cNvPr id="69634" name="Rectangle 3"/>
          <p:cNvSpPr>
            <a:spLocks noGrp="1" noChangeArrowheads="1"/>
          </p:cNvSpPr>
          <p:nvPr>
            <p:ph type="body" idx="1"/>
          </p:nvPr>
        </p:nvSpPr>
        <p:spPr>
          <a:xfrm>
            <a:off x="811765" y="986490"/>
            <a:ext cx="7226559" cy="5075237"/>
          </a:xfrm>
        </p:spPr>
        <p:txBody>
          <a:bodyPr/>
          <a:lstStyle/>
          <a:p>
            <a:pPr>
              <a:buFont typeface="Monotype Sorts" pitchFamily="-84" charset="2"/>
              <a:buNone/>
            </a:pPr>
            <a:endParaRPr lang="en-US" altLang="en-US" sz="800" dirty="0"/>
          </a:p>
          <a:p>
            <a:r>
              <a:rPr lang="en-US" altLang="en-US" dirty="0"/>
              <a:t>Disk </a:t>
            </a:r>
            <a:r>
              <a:rPr lang="en-US" altLang="en-US" b="1" dirty="0">
                <a:solidFill>
                  <a:srgbClr val="006699"/>
                </a:solidFill>
                <a:latin typeface="+mj-lt"/>
              </a:rPr>
              <a:t>striping</a:t>
            </a:r>
            <a:r>
              <a:rPr lang="en-US" altLang="en-US" dirty="0">
                <a:solidFill>
                  <a:srgbClr val="3366FF"/>
                </a:solidFill>
              </a:rPr>
              <a:t> </a:t>
            </a:r>
            <a:r>
              <a:rPr lang="en-US" altLang="en-US" dirty="0"/>
              <a:t>uses a group of disks as one storage unit</a:t>
            </a:r>
            <a:endParaRPr lang="en-US" altLang="en-US" dirty="0"/>
          </a:p>
          <a:p>
            <a:r>
              <a:rPr lang="en-US" altLang="en-US" dirty="0"/>
              <a:t>RAID is arranged into six different levels</a:t>
            </a:r>
            <a:endParaRPr lang="en-US" altLang="en-US" sz="800" dirty="0"/>
          </a:p>
          <a:p>
            <a:r>
              <a:rPr lang="en-US" altLang="en-US" dirty="0"/>
              <a:t>RAID schemes improve performance and improve the reliability of the storage system by storing redundant data</a:t>
            </a:r>
            <a:endParaRPr lang="en-US" altLang="en-US" dirty="0"/>
          </a:p>
          <a:p>
            <a:pPr lvl="1"/>
            <a:r>
              <a:rPr lang="en-US" altLang="en-US" b="1" dirty="0">
                <a:solidFill>
                  <a:srgbClr val="006699"/>
                </a:solidFill>
                <a:latin typeface="+mj-lt"/>
              </a:rPr>
              <a:t>Mirroring</a:t>
            </a:r>
            <a:r>
              <a:rPr lang="en-US" altLang="en-US" b="1" dirty="0">
                <a:solidFill>
                  <a:srgbClr val="3366FF"/>
                </a:solidFill>
              </a:rPr>
              <a:t> </a:t>
            </a:r>
            <a:r>
              <a:rPr lang="en-US" altLang="en-US" dirty="0"/>
              <a:t>or </a:t>
            </a:r>
            <a:r>
              <a:rPr lang="en-US" altLang="en-US" b="1" dirty="0">
                <a:solidFill>
                  <a:srgbClr val="006699"/>
                </a:solidFill>
                <a:latin typeface="+mj-lt"/>
              </a:rPr>
              <a:t>shadowing</a:t>
            </a:r>
            <a:r>
              <a:rPr lang="en-US" altLang="en-US" dirty="0">
                <a:solidFill>
                  <a:srgbClr val="3366FF"/>
                </a:solidFill>
              </a:rPr>
              <a:t> </a:t>
            </a:r>
            <a:r>
              <a:rPr lang="en-US" altLang="en-US" dirty="0"/>
              <a:t>(</a:t>
            </a:r>
            <a:r>
              <a:rPr lang="en-US" altLang="en-US" b="1" dirty="0">
                <a:solidFill>
                  <a:srgbClr val="006699"/>
                </a:solidFill>
                <a:latin typeface="+mj-lt"/>
              </a:rPr>
              <a:t>RAID 1</a:t>
            </a:r>
            <a:r>
              <a:rPr lang="en-US" altLang="en-US" dirty="0">
                <a:solidFill>
                  <a:srgbClr val="000000"/>
                </a:solidFill>
              </a:rPr>
              <a:t>)</a:t>
            </a:r>
            <a:r>
              <a:rPr lang="en-US" altLang="en-US" dirty="0">
                <a:solidFill>
                  <a:srgbClr val="3366FF"/>
                </a:solidFill>
              </a:rPr>
              <a:t> </a:t>
            </a:r>
            <a:r>
              <a:rPr lang="en-US" altLang="en-US" dirty="0"/>
              <a:t>keeps duplicate of each disk</a:t>
            </a:r>
            <a:endParaRPr lang="en-US" altLang="en-US" dirty="0"/>
          </a:p>
          <a:p>
            <a:pPr lvl="1"/>
            <a:r>
              <a:rPr lang="en-US" altLang="en-US" dirty="0"/>
              <a:t>Striped mirrors (</a:t>
            </a:r>
            <a:r>
              <a:rPr lang="en-US" altLang="en-US" b="1" dirty="0">
                <a:solidFill>
                  <a:srgbClr val="006699"/>
                </a:solidFill>
                <a:latin typeface="+mj-lt"/>
              </a:rPr>
              <a:t>RAID 1+0</a:t>
            </a:r>
            <a:r>
              <a:rPr lang="en-US" altLang="en-US" dirty="0"/>
              <a:t>) or mirrored stripes (</a:t>
            </a:r>
            <a:r>
              <a:rPr lang="en-US" altLang="en-US" b="1" dirty="0">
                <a:solidFill>
                  <a:srgbClr val="006699"/>
                </a:solidFill>
                <a:latin typeface="+mj-lt"/>
              </a:rPr>
              <a:t>RAID 0+1</a:t>
            </a:r>
            <a:r>
              <a:rPr lang="en-US" altLang="en-US" dirty="0"/>
              <a:t>) provides high performance and high reliability</a:t>
            </a:r>
            <a:endParaRPr lang="en-US" altLang="en-US" dirty="0"/>
          </a:p>
          <a:p>
            <a:pPr lvl="1"/>
            <a:r>
              <a:rPr lang="en-US" altLang="en-US" b="1" dirty="0">
                <a:solidFill>
                  <a:srgbClr val="006699"/>
                </a:solidFill>
                <a:latin typeface="+mj-lt"/>
              </a:rPr>
              <a:t>Block interleaved parity </a:t>
            </a:r>
            <a:r>
              <a:rPr lang="en-US" altLang="en-US" dirty="0"/>
              <a:t>(</a:t>
            </a:r>
            <a:r>
              <a:rPr lang="en-US" altLang="en-US" b="1" dirty="0">
                <a:solidFill>
                  <a:srgbClr val="006699"/>
                </a:solidFill>
                <a:latin typeface="+mj-lt"/>
              </a:rPr>
              <a:t>RAID 4, 5, 6</a:t>
            </a:r>
            <a:r>
              <a:rPr lang="en-US" altLang="en-US" dirty="0">
                <a:solidFill>
                  <a:srgbClr val="000000"/>
                </a:solidFill>
              </a:rPr>
              <a:t>)</a:t>
            </a:r>
            <a:r>
              <a:rPr lang="en-US" altLang="en-US" dirty="0">
                <a:solidFill>
                  <a:srgbClr val="3366FF"/>
                </a:solidFill>
              </a:rPr>
              <a:t> </a:t>
            </a:r>
            <a:r>
              <a:rPr lang="en-US" altLang="en-US" dirty="0"/>
              <a:t>uses much less redundancy</a:t>
            </a:r>
            <a:endParaRPr lang="en-US" altLang="en-US" dirty="0"/>
          </a:p>
          <a:p>
            <a:r>
              <a:rPr lang="en-US" altLang="en-US" dirty="0"/>
              <a:t>RAID within a storage array can still fail if the array fails, so automatic </a:t>
            </a:r>
            <a:r>
              <a:rPr lang="en-US" altLang="en-US" b="1" dirty="0">
                <a:solidFill>
                  <a:srgbClr val="006699"/>
                </a:solidFill>
                <a:latin typeface="+mj-lt"/>
              </a:rPr>
              <a:t>replication</a:t>
            </a:r>
            <a:r>
              <a:rPr lang="en-US" altLang="en-US" dirty="0">
                <a:solidFill>
                  <a:srgbClr val="3366FF"/>
                </a:solidFill>
              </a:rPr>
              <a:t> </a:t>
            </a:r>
            <a:r>
              <a:rPr lang="en-US" altLang="en-US" dirty="0"/>
              <a:t>of the data between arrays is common</a:t>
            </a:r>
            <a:endParaRPr lang="en-US" altLang="en-US" dirty="0"/>
          </a:p>
          <a:p>
            <a:r>
              <a:rPr lang="en-US" altLang="en-US" dirty="0"/>
              <a:t>Frequently, a small number of </a:t>
            </a:r>
            <a:r>
              <a:rPr lang="en-US" altLang="en-US" b="1" dirty="0">
                <a:solidFill>
                  <a:srgbClr val="006699"/>
                </a:solidFill>
                <a:latin typeface="+mj-lt"/>
              </a:rPr>
              <a:t>hot-spare</a:t>
            </a:r>
            <a:r>
              <a:rPr lang="en-US" altLang="en-US" dirty="0">
                <a:solidFill>
                  <a:srgbClr val="3366FF"/>
                </a:solidFill>
              </a:rPr>
              <a:t> </a:t>
            </a:r>
            <a:r>
              <a:rPr lang="en-US" altLang="en-US" dirty="0"/>
              <a:t>disks are left unallocated, automatically replacing a failed disk and having data rebuilt onto them</a:t>
            </a:r>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pPr eaLnBrk="1" hangingPunct="1"/>
            <a:r>
              <a:rPr lang="en-US" altLang="en-US"/>
              <a:t>RAID Levels</a:t>
            </a:r>
            <a:endParaRPr lang="en-US" altLang="en-US" sz="2400"/>
          </a:p>
        </p:txBody>
      </p:sp>
      <p:pic>
        <p:nvPicPr>
          <p:cNvPr id="716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00375" y="1127125"/>
            <a:ext cx="3482975"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p:txBody>
          <a:bodyPr/>
          <a:lstStyle/>
          <a:p>
            <a:pPr eaLnBrk="1" hangingPunct="1"/>
            <a:r>
              <a:rPr lang="en-US" altLang="en-US"/>
              <a:t>RAID (0 + 1) and (1 + 0)</a:t>
            </a:r>
            <a:endParaRPr lang="en-US" altLang="en-US" sz="2400"/>
          </a:p>
        </p:txBody>
      </p:sp>
      <p:pic>
        <p:nvPicPr>
          <p:cNvPr id="737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27338" y="1503363"/>
            <a:ext cx="3627437" cy="412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noChangeArrowheads="1"/>
          </p:cNvSpPr>
          <p:nvPr>
            <p:ph type="title"/>
          </p:nvPr>
        </p:nvSpPr>
        <p:spPr>
          <a:xfrm>
            <a:off x="457200" y="235568"/>
            <a:ext cx="8229600" cy="576262"/>
          </a:xfrm>
        </p:spPr>
        <p:txBody>
          <a:bodyPr/>
          <a:lstStyle/>
          <a:p>
            <a:pPr eaLnBrk="1" hangingPunct="1"/>
            <a:r>
              <a:rPr lang="en-US" altLang="en-US" dirty="0"/>
              <a:t>Other Features</a:t>
            </a:r>
            <a:endParaRPr lang="en-US" altLang="en-US" dirty="0"/>
          </a:p>
        </p:txBody>
      </p:sp>
      <p:sp>
        <p:nvSpPr>
          <p:cNvPr id="75778" name="Content Placeholder 2"/>
          <p:cNvSpPr>
            <a:spLocks noGrp="1" noChangeArrowheads="1"/>
          </p:cNvSpPr>
          <p:nvPr>
            <p:ph idx="1"/>
          </p:nvPr>
        </p:nvSpPr>
        <p:spPr>
          <a:xfrm>
            <a:off x="844549" y="1209905"/>
            <a:ext cx="7702291" cy="4530725"/>
          </a:xfrm>
        </p:spPr>
        <p:txBody>
          <a:bodyPr/>
          <a:lstStyle/>
          <a:p>
            <a:r>
              <a:rPr lang="en-US" altLang="en-US" dirty="0"/>
              <a:t>Regardless of where RAID implemented, other useful features can be added</a:t>
            </a:r>
            <a:endParaRPr lang="en-US" altLang="en-US" dirty="0"/>
          </a:p>
          <a:p>
            <a:r>
              <a:rPr lang="en-US" altLang="en-US" b="1" dirty="0">
                <a:solidFill>
                  <a:srgbClr val="006699"/>
                </a:solidFill>
                <a:latin typeface="+mj-lt"/>
              </a:rPr>
              <a:t>Snapshot</a:t>
            </a:r>
            <a:r>
              <a:rPr lang="en-US" altLang="en-US" dirty="0"/>
              <a:t> is a view of file system before a set of changes take place (i.e. at a point in time)</a:t>
            </a:r>
            <a:endParaRPr lang="en-US" altLang="en-US" dirty="0"/>
          </a:p>
          <a:p>
            <a:pPr lvl="1"/>
            <a:r>
              <a:rPr lang="en-US" altLang="en-US" dirty="0"/>
              <a:t>More in Ch 12</a:t>
            </a:r>
            <a:endParaRPr lang="en-US" altLang="en-US" dirty="0"/>
          </a:p>
          <a:p>
            <a:r>
              <a:rPr lang="en-US" altLang="en-US" dirty="0"/>
              <a:t>Replication is automatic duplication of writes between separate sites</a:t>
            </a:r>
            <a:endParaRPr lang="en-US" altLang="en-US" dirty="0"/>
          </a:p>
          <a:p>
            <a:pPr lvl="1"/>
            <a:r>
              <a:rPr lang="en-US" altLang="en-US" dirty="0"/>
              <a:t>For redundancy and disaster recovery</a:t>
            </a:r>
            <a:endParaRPr lang="en-US" altLang="en-US" dirty="0"/>
          </a:p>
          <a:p>
            <a:pPr lvl="1"/>
            <a:r>
              <a:rPr lang="en-US" altLang="en-US" dirty="0"/>
              <a:t>Can be synchronous or asynchronous</a:t>
            </a:r>
            <a:endParaRPr lang="en-US" altLang="en-US" dirty="0"/>
          </a:p>
          <a:p>
            <a:r>
              <a:rPr lang="en-US" altLang="en-US" dirty="0"/>
              <a:t>Hot spare disk is unused, automatically used by RAID production if a disk fails to replace the failed disk and rebuild the RAID set if possible</a:t>
            </a:r>
            <a:endParaRPr lang="en-US" altLang="en-US" dirty="0"/>
          </a:p>
          <a:p>
            <a:pPr lvl="1"/>
            <a:r>
              <a:rPr lang="en-US" altLang="en-US" dirty="0"/>
              <a:t>Decreases mean time to repair</a:t>
            </a:r>
            <a:endParaRPr lang="en-US" altLang="en-US" dirty="0"/>
          </a:p>
          <a:p>
            <a:endParaRPr lang="en-US" altLang="en-US" dirty="0"/>
          </a:p>
          <a:p>
            <a:pPr>
              <a:buFont typeface="Monotype Sorts" pitchFamily="-84" charset="2"/>
              <a:buNone/>
            </a:pPr>
            <a:endParaRPr lang="en-US"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noChangeArrowheads="1"/>
          </p:cNvSpPr>
          <p:nvPr>
            <p:ph type="title"/>
          </p:nvPr>
        </p:nvSpPr>
        <p:spPr>
          <a:xfrm>
            <a:off x="457200" y="232199"/>
            <a:ext cx="8229600" cy="576262"/>
          </a:xfrm>
        </p:spPr>
        <p:txBody>
          <a:bodyPr/>
          <a:lstStyle/>
          <a:p>
            <a:pPr eaLnBrk="1" hangingPunct="1"/>
            <a:r>
              <a:rPr lang="en-US" altLang="en-US" dirty="0"/>
              <a:t>Extensions</a:t>
            </a:r>
            <a:endParaRPr lang="en-US" altLang="en-US" dirty="0"/>
          </a:p>
        </p:txBody>
      </p:sp>
      <p:sp>
        <p:nvSpPr>
          <p:cNvPr id="77826" name="Content Placeholder 2"/>
          <p:cNvSpPr>
            <a:spLocks noGrp="1" noChangeArrowheads="1"/>
          </p:cNvSpPr>
          <p:nvPr>
            <p:ph idx="1"/>
          </p:nvPr>
        </p:nvSpPr>
        <p:spPr>
          <a:xfrm>
            <a:off x="881098" y="1157288"/>
            <a:ext cx="4808538" cy="5153025"/>
          </a:xfrm>
        </p:spPr>
        <p:txBody>
          <a:bodyPr/>
          <a:lstStyle/>
          <a:p>
            <a:r>
              <a:rPr lang="en-US" altLang="en-US" dirty="0"/>
              <a:t>RAID alone does not prevent or detect data corruption or other errors, just disk failures</a:t>
            </a:r>
            <a:endParaRPr lang="en-US" altLang="en-US" dirty="0"/>
          </a:p>
          <a:p>
            <a:r>
              <a:rPr lang="en-US" altLang="en-US" dirty="0"/>
              <a:t>Solaris ZFS adds </a:t>
            </a:r>
            <a:r>
              <a:rPr lang="en-US" altLang="en-US" b="1" dirty="0">
                <a:solidFill>
                  <a:srgbClr val="006699"/>
                </a:solidFill>
                <a:latin typeface="+mj-lt"/>
              </a:rPr>
              <a:t>checksums</a:t>
            </a:r>
            <a:r>
              <a:rPr lang="en-US" altLang="en-US" dirty="0">
                <a:solidFill>
                  <a:srgbClr val="3366FF"/>
                </a:solidFill>
              </a:rPr>
              <a:t> </a:t>
            </a:r>
            <a:r>
              <a:rPr lang="en-US" altLang="en-US" dirty="0"/>
              <a:t>of all data and metadata</a:t>
            </a:r>
            <a:endParaRPr lang="en-US" altLang="en-US" dirty="0"/>
          </a:p>
          <a:p>
            <a:r>
              <a:rPr lang="en-US" altLang="en-US" dirty="0"/>
              <a:t>Checksums kept with pointer to object, to detect if object is the right one and whether it changed</a:t>
            </a:r>
            <a:endParaRPr lang="en-US" altLang="en-US" dirty="0"/>
          </a:p>
          <a:p>
            <a:r>
              <a:rPr lang="en-US" altLang="en-US" dirty="0"/>
              <a:t>Can detect and correct data and metadata corruption</a:t>
            </a:r>
            <a:endParaRPr lang="en-US" altLang="en-US" dirty="0"/>
          </a:p>
          <a:p>
            <a:r>
              <a:rPr lang="en-US" altLang="en-US" dirty="0"/>
              <a:t>ZFS also removes volumes, partitions</a:t>
            </a:r>
            <a:endParaRPr lang="en-US" altLang="en-US" dirty="0"/>
          </a:p>
          <a:p>
            <a:pPr lvl="1"/>
            <a:r>
              <a:rPr lang="en-US" altLang="en-US" dirty="0"/>
              <a:t>Disks allocated in </a:t>
            </a:r>
            <a:r>
              <a:rPr lang="en-US" altLang="en-US" b="1" dirty="0">
                <a:solidFill>
                  <a:srgbClr val="006699"/>
                </a:solidFill>
                <a:latin typeface="+mj-lt"/>
              </a:rPr>
              <a:t>pools</a:t>
            </a:r>
            <a:endParaRPr lang="en-US" altLang="en-US" b="1" dirty="0">
              <a:solidFill>
                <a:srgbClr val="006699"/>
              </a:solidFill>
              <a:latin typeface="+mj-lt"/>
            </a:endParaRPr>
          </a:p>
          <a:p>
            <a:pPr lvl="1"/>
            <a:r>
              <a:rPr lang="en-US" altLang="en-US" dirty="0"/>
              <a:t>Filesystems with a pool share that pool, use and release space like </a:t>
            </a:r>
            <a:r>
              <a:rPr lang="en-US" altLang="ja-JP" b="1" dirty="0">
                <a:latin typeface="Courier New" panose="02070309020205020404" pitchFamily="49" charset="0"/>
                <a:cs typeface="Courier New" panose="02070309020205020404" pitchFamily="49" charset="0"/>
              </a:rPr>
              <a:t>malloc()</a:t>
            </a:r>
            <a:r>
              <a:rPr lang="en-US" altLang="ja-JP" dirty="0"/>
              <a:t> and </a:t>
            </a:r>
            <a:r>
              <a:rPr lang="en-US" altLang="ja-JP" b="1" dirty="0">
                <a:latin typeface="Courier New" panose="02070309020205020404" pitchFamily="49" charset="0"/>
                <a:cs typeface="Courier New" panose="02070309020205020404" pitchFamily="49" charset="0"/>
              </a:rPr>
              <a:t>free()</a:t>
            </a:r>
            <a:r>
              <a:rPr lang="en-US" altLang="ja-JP" dirty="0"/>
              <a:t> memory allocate / release calls</a:t>
            </a:r>
            <a:endParaRPr lang="en-US" altLang="ja-JP" dirty="0"/>
          </a:p>
          <a:p>
            <a:pPr lvl="1">
              <a:buFont typeface="Monotype Sorts" pitchFamily="-84" charset="2"/>
              <a:buNone/>
            </a:pPr>
            <a:endParaRPr lang="en-US" altLang="en-US" dirty="0"/>
          </a:p>
          <a:p>
            <a:pPr>
              <a:buFont typeface="Monotype Sorts" pitchFamily="-84" charset="2"/>
              <a:buNone/>
            </a:pPr>
            <a:endParaRPr lang="en-US" altLang="en-US" dirty="0"/>
          </a:p>
        </p:txBody>
      </p:sp>
      <p:pic>
        <p:nvPicPr>
          <p:cNvPr id="77827" name="Picture 1" descr="10_13.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783263" y="2346325"/>
            <a:ext cx="2816225"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extBox 1"/>
          <p:cNvSpPr txBox="1">
            <a:spLocks noChangeArrowheads="1"/>
          </p:cNvSpPr>
          <p:nvPr/>
        </p:nvSpPr>
        <p:spPr bwMode="auto">
          <a:xfrm>
            <a:off x="6338888" y="5021263"/>
            <a:ext cx="3079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ZFS checksums all metadata and data</a:t>
            </a:r>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p:cNvSpPr>
            <a:spLocks noGrp="1" noChangeArrowheads="1"/>
          </p:cNvSpPr>
          <p:nvPr>
            <p:ph type="title"/>
          </p:nvPr>
        </p:nvSpPr>
        <p:spPr>
          <a:xfrm>
            <a:off x="796925" y="238161"/>
            <a:ext cx="7889875" cy="576262"/>
          </a:xfrm>
        </p:spPr>
        <p:txBody>
          <a:bodyPr/>
          <a:lstStyle/>
          <a:p>
            <a:pPr eaLnBrk="1" hangingPunct="1"/>
            <a:r>
              <a:rPr lang="en-US" altLang="en-US" dirty="0"/>
              <a:t>Traditional and Pooled Storage</a:t>
            </a:r>
            <a:endParaRPr lang="en-US" altLang="en-US" dirty="0"/>
          </a:p>
        </p:txBody>
      </p:sp>
      <p:pic>
        <p:nvPicPr>
          <p:cNvPr id="79874" name="Picture 1" descr="10_14.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08313" y="1244600"/>
            <a:ext cx="299085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a:xfrm>
            <a:off x="954088" y="201613"/>
            <a:ext cx="7732712" cy="576262"/>
          </a:xfrm>
        </p:spPr>
        <p:txBody>
          <a:bodyPr/>
          <a:lstStyle/>
          <a:p>
            <a:pPr eaLnBrk="1" hangingPunct="1"/>
            <a:r>
              <a:rPr lang="en-US" altLang="en-US" dirty="0"/>
              <a:t>Object Storage</a:t>
            </a:r>
            <a:endParaRPr lang="en-US" altLang="en-US" dirty="0"/>
          </a:p>
        </p:txBody>
      </p:sp>
      <p:sp>
        <p:nvSpPr>
          <p:cNvPr id="81922" name="Rectangle 3"/>
          <p:cNvSpPr>
            <a:spLocks noGrp="1" noChangeArrowheads="1"/>
          </p:cNvSpPr>
          <p:nvPr>
            <p:ph type="body" idx="1"/>
          </p:nvPr>
        </p:nvSpPr>
        <p:spPr>
          <a:xfrm>
            <a:off x="886795" y="1157289"/>
            <a:ext cx="6932498" cy="4434620"/>
          </a:xfrm>
        </p:spPr>
        <p:txBody>
          <a:bodyPr/>
          <a:lstStyle/>
          <a:p>
            <a:r>
              <a:rPr lang="en-US" altLang="en-US" dirty="0"/>
              <a:t>General-purpose computing, file systems not sufficient for very large scale</a:t>
            </a:r>
            <a:endParaRPr lang="en-US" altLang="en-US" dirty="0"/>
          </a:p>
          <a:p>
            <a:r>
              <a:rPr lang="en-US" altLang="en-US" dirty="0"/>
              <a:t>Another approach – start with a storage pool and place objects in it</a:t>
            </a:r>
            <a:endParaRPr lang="en-US" altLang="en-US" dirty="0"/>
          </a:p>
          <a:p>
            <a:pPr lvl="1"/>
            <a:r>
              <a:rPr lang="en-US" altLang="en-US" dirty="0"/>
              <a:t>Object just a container of </a:t>
            </a:r>
            <a:r>
              <a:rPr lang="en-US" altLang="en-US" b="1" dirty="0">
                <a:solidFill>
                  <a:srgbClr val="006699"/>
                </a:solidFill>
                <a:latin typeface="+mj-lt"/>
              </a:rPr>
              <a:t>data</a:t>
            </a:r>
            <a:endParaRPr lang="en-US" altLang="en-US" b="1" dirty="0">
              <a:solidFill>
                <a:srgbClr val="006699"/>
              </a:solidFill>
              <a:latin typeface="+mj-lt"/>
            </a:endParaRPr>
          </a:p>
          <a:p>
            <a:pPr lvl="1"/>
            <a:r>
              <a:rPr lang="en-US" altLang="en-US" dirty="0"/>
              <a:t>No way to navigate the pool to find objects (no directory structures, few services</a:t>
            </a:r>
            <a:endParaRPr lang="en-US" altLang="en-US" dirty="0"/>
          </a:p>
          <a:p>
            <a:pPr lvl="1"/>
            <a:r>
              <a:rPr lang="en-US" altLang="en-US" dirty="0"/>
              <a:t>Computer-oriented, not user-oriented</a:t>
            </a:r>
            <a:endParaRPr lang="en-US" altLang="en-US" dirty="0"/>
          </a:p>
          <a:p>
            <a:r>
              <a:rPr lang="en-US" altLang="en-US" dirty="0"/>
              <a:t>Typical sequence</a:t>
            </a:r>
            <a:endParaRPr lang="en-US" altLang="en-US" dirty="0"/>
          </a:p>
          <a:p>
            <a:pPr lvl="1"/>
            <a:r>
              <a:rPr lang="en-US" altLang="en-US" dirty="0"/>
              <a:t>Create an object within the pool, receive an object ID</a:t>
            </a:r>
            <a:endParaRPr lang="en-US" altLang="en-US" dirty="0"/>
          </a:p>
          <a:p>
            <a:pPr lvl="1"/>
            <a:r>
              <a:rPr lang="en-US" altLang="en-US" dirty="0"/>
              <a:t>Access object via that ID</a:t>
            </a:r>
            <a:endParaRPr lang="en-US" altLang="en-US" dirty="0"/>
          </a:p>
          <a:p>
            <a:pPr lvl="1"/>
            <a:r>
              <a:rPr lang="en-US" altLang="en-US" dirty="0"/>
              <a:t>Delete object via that ID</a:t>
            </a: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a:xfrm>
            <a:off x="954088" y="142998"/>
            <a:ext cx="7732712" cy="576262"/>
          </a:xfrm>
        </p:spPr>
        <p:txBody>
          <a:bodyPr/>
          <a:lstStyle/>
          <a:p>
            <a:pPr eaLnBrk="1" hangingPunct="1"/>
            <a:r>
              <a:rPr lang="en-US" altLang="en-US" dirty="0"/>
              <a:t>Object Storage (Cont.)</a:t>
            </a:r>
            <a:endParaRPr lang="en-US" altLang="en-US" dirty="0"/>
          </a:p>
        </p:txBody>
      </p:sp>
      <p:sp>
        <p:nvSpPr>
          <p:cNvPr id="81922" name="Rectangle 3"/>
          <p:cNvSpPr>
            <a:spLocks noGrp="1" noChangeArrowheads="1"/>
          </p:cNvSpPr>
          <p:nvPr>
            <p:ph type="body" idx="1"/>
          </p:nvPr>
        </p:nvSpPr>
        <p:spPr>
          <a:xfrm>
            <a:off x="886794" y="1157288"/>
            <a:ext cx="7622723" cy="4530725"/>
          </a:xfrm>
        </p:spPr>
        <p:txBody>
          <a:bodyPr/>
          <a:lstStyle/>
          <a:p>
            <a:r>
              <a:rPr lang="en-US" altLang="en-US" dirty="0"/>
              <a:t>Object storage management software like </a:t>
            </a:r>
            <a:r>
              <a:rPr lang="en-US" altLang="en-US" b="1" dirty="0">
                <a:solidFill>
                  <a:srgbClr val="006699"/>
                </a:solidFill>
                <a:latin typeface="+mj-lt"/>
              </a:rPr>
              <a:t>Hadoop</a:t>
            </a:r>
            <a:r>
              <a:rPr lang="en-US" altLang="en-US" b="1" dirty="0">
                <a:solidFill>
                  <a:srgbClr val="3366FF"/>
                </a:solidFill>
              </a:rPr>
              <a:t> </a:t>
            </a:r>
            <a:r>
              <a:rPr lang="en-US" altLang="en-US" b="1" dirty="0">
                <a:solidFill>
                  <a:srgbClr val="006699"/>
                </a:solidFill>
                <a:latin typeface="+mj-lt"/>
              </a:rPr>
              <a:t>file</a:t>
            </a:r>
            <a:r>
              <a:rPr lang="en-US" altLang="en-US" b="1" dirty="0">
                <a:solidFill>
                  <a:srgbClr val="3366FF"/>
                </a:solidFill>
              </a:rPr>
              <a:t> </a:t>
            </a:r>
            <a:r>
              <a:rPr lang="en-US" altLang="en-US" b="1" dirty="0">
                <a:solidFill>
                  <a:srgbClr val="006699"/>
                </a:solidFill>
                <a:latin typeface="+mj-lt"/>
              </a:rPr>
              <a:t>system</a:t>
            </a:r>
            <a:r>
              <a:rPr lang="en-US" altLang="en-US" b="1" dirty="0">
                <a:solidFill>
                  <a:srgbClr val="3366FF"/>
                </a:solidFill>
              </a:rPr>
              <a:t> </a:t>
            </a:r>
            <a:r>
              <a:rPr lang="en-US" altLang="en-US" dirty="0"/>
              <a:t>(</a:t>
            </a:r>
            <a:r>
              <a:rPr lang="en-US" altLang="en-US" b="1" dirty="0">
                <a:solidFill>
                  <a:srgbClr val="006699"/>
                </a:solidFill>
                <a:latin typeface="+mj-lt"/>
              </a:rPr>
              <a:t>HDFS</a:t>
            </a:r>
            <a:r>
              <a:rPr lang="en-US" altLang="en-US" dirty="0"/>
              <a:t>) and </a:t>
            </a:r>
            <a:r>
              <a:rPr lang="en-US" altLang="en-US" b="1" dirty="0" err="1">
                <a:solidFill>
                  <a:srgbClr val="006699"/>
                </a:solidFill>
                <a:latin typeface="+mj-lt"/>
              </a:rPr>
              <a:t>Ceph</a:t>
            </a:r>
            <a:r>
              <a:rPr lang="en-US" altLang="en-US" dirty="0"/>
              <a:t> determine where to store objects, manages protection</a:t>
            </a:r>
            <a:endParaRPr lang="en-US" altLang="en-US" dirty="0"/>
          </a:p>
          <a:p>
            <a:pPr lvl="1"/>
            <a:r>
              <a:rPr lang="en-US" altLang="en-US" dirty="0"/>
              <a:t>Typically by storing N copies, across N systems, in the object storage cluster</a:t>
            </a:r>
            <a:endParaRPr lang="en-US" altLang="en-US" dirty="0"/>
          </a:p>
          <a:p>
            <a:pPr lvl="1"/>
            <a:r>
              <a:rPr lang="en-US" altLang="en-US" b="1" dirty="0">
                <a:solidFill>
                  <a:srgbClr val="006699"/>
                </a:solidFill>
                <a:latin typeface="+mj-lt"/>
              </a:rPr>
              <a:t>Horizontally</a:t>
            </a:r>
            <a:r>
              <a:rPr lang="en-US" altLang="en-US" b="1" dirty="0">
                <a:solidFill>
                  <a:srgbClr val="3366FF"/>
                </a:solidFill>
              </a:rPr>
              <a:t> </a:t>
            </a:r>
            <a:r>
              <a:rPr lang="en-US" altLang="en-US" b="1" dirty="0">
                <a:solidFill>
                  <a:srgbClr val="006699"/>
                </a:solidFill>
                <a:latin typeface="+mj-lt"/>
              </a:rPr>
              <a:t>scalable</a:t>
            </a:r>
            <a:endParaRPr lang="en-US" altLang="en-US" b="1" dirty="0">
              <a:solidFill>
                <a:srgbClr val="006699"/>
              </a:solidFill>
              <a:latin typeface="+mj-lt"/>
            </a:endParaRPr>
          </a:p>
          <a:p>
            <a:pPr lvl="1"/>
            <a:r>
              <a:rPr lang="en-US" altLang="en-US" b="1" dirty="0">
                <a:solidFill>
                  <a:srgbClr val="006699"/>
                </a:solidFill>
                <a:latin typeface="+mj-lt"/>
              </a:rPr>
              <a:t>Content</a:t>
            </a:r>
            <a:r>
              <a:rPr lang="en-US" altLang="en-US" b="1" dirty="0">
                <a:solidFill>
                  <a:srgbClr val="3366FF"/>
                </a:solidFill>
              </a:rPr>
              <a:t> </a:t>
            </a:r>
            <a:r>
              <a:rPr lang="en-US" altLang="en-US" b="1" dirty="0">
                <a:solidFill>
                  <a:srgbClr val="006699"/>
                </a:solidFill>
                <a:latin typeface="+mj-lt"/>
              </a:rPr>
              <a:t>addressable</a:t>
            </a:r>
            <a:r>
              <a:rPr lang="en-US" altLang="en-US" dirty="0"/>
              <a:t>, </a:t>
            </a:r>
            <a:r>
              <a:rPr lang="en-US" altLang="en-US" b="1" dirty="0">
                <a:solidFill>
                  <a:srgbClr val="006699"/>
                </a:solidFill>
                <a:latin typeface="+mj-lt"/>
              </a:rPr>
              <a:t>unstructured</a:t>
            </a:r>
            <a:endParaRPr lang="en-US" altLang="en-US" b="1" dirty="0">
              <a:solidFill>
                <a:srgbClr val="006699"/>
              </a:solidFill>
              <a:latin typeface="+mj-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ctrTitle"/>
          </p:nvPr>
        </p:nvSpPr>
        <p:spPr/>
        <p:txBody>
          <a:bodyPr/>
          <a:lstStyle/>
          <a:p>
            <a:pPr eaLnBrk="1" hangingPunct="1"/>
            <a:r>
              <a:rPr lang="en-US" altLang="en-US"/>
              <a:t>End of Chapter 11</a:t>
            </a:r>
            <a:endParaRPr lang="en-US" altLang="en-US"/>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0</TotalTime>
  <Words>18383</Words>
  <Application>WPS 演示</Application>
  <PresentationFormat>On-screen Show (4:3)</PresentationFormat>
  <Paragraphs>460</Paragraphs>
  <Slides>47</Slides>
  <Notes>35</Notes>
  <HiddenSlides>1</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47</vt:i4>
      </vt:variant>
    </vt:vector>
  </HeadingPairs>
  <TitlesOfParts>
    <vt:vector size="67" baseType="lpstr">
      <vt:lpstr>Arial</vt:lpstr>
      <vt:lpstr>宋体</vt:lpstr>
      <vt:lpstr>Wingdings</vt:lpstr>
      <vt:lpstr>Verdana</vt:lpstr>
      <vt:lpstr>MS PGothic</vt:lpstr>
      <vt:lpstr>Times New Roman</vt:lpstr>
      <vt:lpstr>Helvetica</vt:lpstr>
      <vt:lpstr>Webdings</vt:lpstr>
      <vt:lpstr>黑体</vt:lpstr>
      <vt:lpstr>Comic Sans MS</vt:lpstr>
      <vt:lpstr>Consolas</vt:lpstr>
      <vt:lpstr>Calibri</vt:lpstr>
      <vt:lpstr>Monotype Sorts</vt:lpstr>
      <vt:lpstr>Monotype Sorts</vt:lpstr>
      <vt:lpstr>微软雅黑</vt:lpstr>
      <vt:lpstr>Arial Unicode MS</vt:lpstr>
      <vt:lpstr>Courier New</vt:lpstr>
      <vt:lpstr>Symbol</vt:lpstr>
      <vt:lpstr>Wingdings</vt:lpstr>
      <vt:lpstr>os-8</vt:lpstr>
      <vt:lpstr>PowerPoint 演示文稿</vt:lpstr>
      <vt:lpstr>Chapter 11:  Mass-Storage Systems</vt:lpstr>
      <vt:lpstr>Objectives</vt:lpstr>
      <vt:lpstr>Overview of Mass Storage Structure</vt:lpstr>
      <vt:lpstr>Moving-head Disk Mechanism</vt:lpstr>
      <vt:lpstr>Hard Disk Drives</vt:lpstr>
      <vt:lpstr>Hard Disk Performance</vt:lpstr>
      <vt:lpstr>The First Commercial Disk Drive</vt:lpstr>
      <vt:lpstr>Nonvolatile Memory Devices</vt:lpstr>
      <vt:lpstr>Nonvolatile Memory Devices</vt:lpstr>
      <vt:lpstr>NAND Flash Controller Algorithms</vt:lpstr>
      <vt:lpstr>Volatile Memory</vt:lpstr>
      <vt:lpstr>Magnetic Tape</vt:lpstr>
      <vt:lpstr>Disk Structure</vt:lpstr>
      <vt:lpstr>Disk Attachment</vt:lpstr>
      <vt:lpstr>Address Mapping</vt:lpstr>
      <vt:lpstr>HDD Scheduling</vt:lpstr>
      <vt:lpstr>Disk Scheduling (Cont.)</vt:lpstr>
      <vt:lpstr>Disk Scheduling (Cont.)</vt:lpstr>
      <vt:lpstr>FCFS</vt:lpstr>
      <vt:lpstr>SCAN</vt:lpstr>
      <vt:lpstr>SCAN (Cont.)</vt:lpstr>
      <vt:lpstr>C-SCAN</vt:lpstr>
      <vt:lpstr>C-SCAN (Cont.)</vt:lpstr>
      <vt:lpstr>Selecting a Disk-Scheduling Algorithm</vt:lpstr>
      <vt:lpstr>NVM Scheduling</vt:lpstr>
      <vt:lpstr>Error Detection and Correction</vt:lpstr>
      <vt:lpstr>Storage Device Management</vt:lpstr>
      <vt:lpstr>Storage Device Management (cont.)</vt:lpstr>
      <vt:lpstr>Device Storage Management (Cont.)</vt:lpstr>
      <vt:lpstr>Swap-Space Management</vt:lpstr>
      <vt:lpstr>Storage Attachment</vt:lpstr>
      <vt:lpstr>Network-Attached Storage</vt:lpstr>
      <vt:lpstr>Cloud Storage</vt:lpstr>
      <vt:lpstr>Storage Array</vt:lpstr>
      <vt:lpstr>Storage Area Network</vt:lpstr>
      <vt:lpstr>Storage Area Network (Cont.)</vt:lpstr>
      <vt:lpstr>RAID Structure</vt:lpstr>
      <vt:lpstr>RAID (Cont.)</vt:lpstr>
      <vt:lpstr>RAID Levels</vt:lpstr>
      <vt:lpstr>RAID (0 + 1) and (1 + 0)</vt:lpstr>
      <vt:lpstr>Other Features</vt:lpstr>
      <vt:lpstr>Extensions</vt:lpstr>
      <vt:lpstr>Traditional and Pooled Storage</vt:lpstr>
      <vt:lpstr>Object Storage</vt:lpstr>
      <vt:lpstr>Object Storage (Cont.)</vt:lpstr>
      <vt:lpstr>End of Chapter 11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MX</cp:lastModifiedBy>
  <cp:revision>216</cp:revision>
  <cp:lastPrinted>2013-09-10T17:57:00Z</cp:lastPrinted>
  <dcterms:created xsi:type="dcterms:W3CDTF">2011-01-13T23:43:00Z</dcterms:created>
  <dcterms:modified xsi:type="dcterms:W3CDTF">2026-05-10T09:11:43Z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9E28711C39B84A6DA754E1C2560F47C1_13</vt:lpwstr>
  </property>
  <property fmtid="{D5CDD505-2E9C-101B-9397-08002B2CF9AE}" pid="3" name="KSOProductBuildVer">
    <vt:lpwstr>2052-12.1.0.23542</vt:lpwstr>
  </property>
</Properties>
</file>