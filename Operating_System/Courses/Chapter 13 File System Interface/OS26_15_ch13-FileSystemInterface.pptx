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44"/>
  </p:handoutMasterIdLst>
  <p:sldIdLst>
    <p:sldId id="489" r:id="rId3"/>
    <p:sldId id="257" r:id="rId5"/>
    <p:sldId id="258" r:id="rId6"/>
    <p:sldId id="259" r:id="rId7"/>
    <p:sldId id="261" r:id="rId8"/>
    <p:sldId id="316" r:id="rId9"/>
    <p:sldId id="319" r:id="rId10"/>
    <p:sldId id="262" r:id="rId11"/>
    <p:sldId id="263" r:id="rId12"/>
    <p:sldId id="264" r:id="rId13"/>
    <p:sldId id="265" r:id="rId14"/>
    <p:sldId id="266" r:id="rId15"/>
    <p:sldId id="485" r:id="rId16"/>
    <p:sldId id="260" r:id="rId17"/>
    <p:sldId id="268" r:id="rId18"/>
    <p:sldId id="321" r:id="rId19"/>
    <p:sldId id="320" r:id="rId20"/>
    <p:sldId id="484" r:id="rId21"/>
    <p:sldId id="317" r:id="rId22"/>
    <p:sldId id="486" r:id="rId23"/>
    <p:sldId id="315" r:id="rId24"/>
    <p:sldId id="487" r:id="rId25"/>
    <p:sldId id="318" r:id="rId26"/>
    <p:sldId id="328" r:id="rId27"/>
    <p:sldId id="275" r:id="rId28"/>
    <p:sldId id="276" r:id="rId29"/>
    <p:sldId id="277" r:id="rId30"/>
    <p:sldId id="278" r:id="rId31"/>
    <p:sldId id="279" r:id="rId32"/>
    <p:sldId id="282" r:id="rId33"/>
    <p:sldId id="283" r:id="rId34"/>
    <p:sldId id="284" r:id="rId35"/>
    <p:sldId id="285" r:id="rId36"/>
    <p:sldId id="488" r:id="rId37"/>
    <p:sldId id="294" r:id="rId38"/>
    <p:sldId id="295" r:id="rId39"/>
    <p:sldId id="298" r:id="rId40"/>
    <p:sldId id="297" r:id="rId41"/>
    <p:sldId id="436" r:id="rId42"/>
    <p:sldId id="314" r:id="rId43"/>
  </p:sldIdLst>
  <p:sldSz cx="9144000" cy="6858000" type="screen4x3"/>
  <p:notesSz cx="6881495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80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37" autoAdjust="0"/>
    <p:restoredTop sz="86449" autoAdjust="0"/>
  </p:normalViewPr>
  <p:slideViewPr>
    <p:cSldViewPr snapToGrid="0" showGuides="1">
      <p:cViewPr varScale="1">
        <p:scale>
          <a:sx n="76" d="100"/>
          <a:sy n="76" d="100"/>
        </p:scale>
        <p:origin x="989" y="43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-915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8" Type="http://schemas.openxmlformats.org/officeDocument/2006/relationships/commentAuthors" Target="commentAuthors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handoutMaster" Target="handoutMasters/handoutMaster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ctr" anchorCtr="0" compatLnSpc="1"/>
          <a:lstStyle>
            <a:lvl1pPr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ctr" anchorCtr="0" compatLnSpc="1"/>
          <a:lstStyle>
            <a:lvl1pPr algn="r"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b" anchorCtr="0" compatLnSpc="1"/>
          <a:lstStyle>
            <a:lvl1pPr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b" anchorCtr="0" compatLnSpc="1"/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>
            <a:lvl1pPr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>
            <a:lvl1pPr algn="r"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b" anchorCtr="0" compatLnSpc="1"/>
          <a:lstStyle>
            <a:lvl1pPr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b" anchorCtr="0" compatLnSpc="1"/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274C7E9-F040-43A5-A02B-7B3564DE1EB4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A6D2EA7-7198-42DD-A325-6CC321E9025E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908165-D958-4DDB-9065-BCEC095E6272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1C65E7B-61F4-475C-84B4-05AD95DE5E9F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3692990-6E56-4D35-BD90-190416A81C7B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0614397-364B-4882-8C56-416B97B7CD7D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55418E6-809C-4662-89DF-BEF89E899F00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24DE445-2236-4A35-B82B-A5220EEE4671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363F8E3-1A48-4BB3-A5CF-D0A947C89F04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EBAD754-A430-4DF9-B4D1-B279BDF873B9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0B5695F-AA39-45C2-B506-17528805D557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05" indent="-288925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70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798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26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54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482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10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30015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05CEC3-A068-4B76-B054-2088C316CEBC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6E7FED8-4114-426E-AFA1-DD1BFBB9DE89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6E7FED8-4114-426E-AFA1-DD1BFBB9DE89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6E7FED8-4114-426E-AFA1-DD1BFBB9DE89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05" indent="-288925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70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798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26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54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482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10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30015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16A1499-5760-4D5F-9D28-0D4A9225FA87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05" indent="-288925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70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798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26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54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482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10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30015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2D633A0-AF10-46AA-AA57-D16228C66F20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05" indent="-288925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70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798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26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54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482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10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30015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40DA0DA-B95D-4575-B714-06F259E39FF6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0614397-364B-4882-8C56-416B97B7CD7D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833D637-BCE5-4E5D-9874-9EFBFE9D9D08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E89A6CA-A27A-48DC-A193-6688F0032372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D4F0040-1B98-4F0E-BD49-DF658C3D7C95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02A2EC-CEA9-4304-B5CE-E4AECC768278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0EE775A-D9F7-4A95-B333-F891C5D4DA5D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0ED4EAF-AB70-4F97-88AE-0E564E534DC9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9C88994-3A7F-4528-A778-185C8514683A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979595F-FC7F-49B8-8036-A16B10273444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524D4E-20DC-4D93-8DCD-E293153F4EFF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1BC784-645F-4333-A257-6F0A6CD37719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FA784DC-949B-4BF3-B1F2-10FEF9DEDAD0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63C6E41-7C41-477A-A042-BB5743EEB66C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A89EB48-38D6-412A-A9D2-02EC89F1D3FB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2347DC2-786D-435A-BEA1-8D182729303C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fld id="{343EEFE5-6DA2-40BF-A0EC-25CFBBE7FBB4}" type="slidenum">
              <a:rPr lang="en-US" altLang="en-US" sz="1200"/>
            </a:fld>
            <a:endParaRPr lang="en-US" altLang="en-US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382236F-6024-461D-95C0-A8C6844DD1F5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>
              <a:solidFill>
                <a:srgbClr val="336699"/>
              </a:solidFill>
              <a:latin typeface="Helvetica" pitchFamily="2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019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2" charset="0"/>
              </a:rPr>
              <a:t>h</a:t>
            </a: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 Edition</a:t>
            </a:r>
            <a:endParaRPr lang="en-US" altLang="en-US" sz="1000" b="1">
              <a:solidFill>
                <a:srgbClr val="336699"/>
              </a:solidFill>
              <a:latin typeface="Helvetica" pitchFamily="2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81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/>
          <p:nvPr userDrawn="1"/>
        </p:nvSpPr>
        <p:spPr bwMode="auto">
          <a:xfrm>
            <a:off x="403932" y="843367"/>
            <a:ext cx="8313938" cy="38174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 marL="742950" indent="-285750">
              <a:buFont typeface="Wingdings" panose="05000000000000000000" pitchFamily="2" charset="2"/>
              <a:buChar char="§"/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15900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1561" name="Text Box 9"/>
          <p:cNvSpPr txBox="1">
            <a:spLocks noChangeArrowheads="1"/>
          </p:cNvSpPr>
          <p:nvPr/>
        </p:nvSpPr>
        <p:spPr bwMode="auto">
          <a:xfrm>
            <a:off x="4220880" y="6613525"/>
            <a:ext cx="518091" cy="246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13.</a:t>
            </a:r>
            <a:fld id="{47DE681D-3D41-4CB0-83AA-B406652BB5CF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</a:fld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itchFamily="2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 Edition</a:t>
            </a:r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2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矩形 1"/>
          <p:cNvSpPr/>
          <p:nvPr/>
        </p:nvSpPr>
        <p:spPr>
          <a:xfrm>
            <a:off x="378460" y="2508250"/>
            <a:ext cx="8587105" cy="34766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Dr. </a:t>
            </a:r>
            <a:r>
              <a:rPr lang="zh-CN" altLang="en-US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sz="2000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MX, Max</a:t>
            </a:r>
            <a:endParaRPr lang="en-US" altLang="zh-CN" sz="2000" b="0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sz="2000" b="0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OS-id</a:t>
            </a:r>
            <a:r>
              <a:rPr lang="en-US" altLang="zh-CN" sz="2000" b="0" i="1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-Andy: On What </a:t>
            </a:r>
            <a:r>
              <a:rPr lang="en-US" altLang="zh-CN" sz="2000" b="0" i="1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sz="2000" b="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sz="2000" b="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/OperatingSystems26S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marL="0" indent="0" algn="ctr" latinLnBrk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Book site: 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https://codex.cs.yale.edu/avi/os-book/OS10/index.html</a:t>
            </a:r>
            <a:endParaRPr lang="en-US" altLang="zh-CN" sz="1800" b="1" dirty="0">
              <a:solidFill>
                <a:srgbClr val="00B0F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  <p:sp>
        <p:nvSpPr>
          <p:cNvPr id="2051" name="矩形 2"/>
          <p:cNvSpPr/>
          <p:nvPr/>
        </p:nvSpPr>
        <p:spPr>
          <a:xfrm>
            <a:off x="1041400" y="76835"/>
            <a:ext cx="7622540" cy="20612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4800" dirty="0">
                <a:solidFill>
                  <a:srgbClr val="002060"/>
                </a:solidFill>
                <a:latin typeface="Calibri" panose="020F0502020204030204" charset="0"/>
              </a:rPr>
              <a:t>Operating Systems</a:t>
            </a:r>
            <a:endParaRPr lang="en-US" altLang="zh-CN" sz="4800" dirty="0">
              <a:solidFill>
                <a:srgbClr val="002060"/>
              </a:solidFill>
              <a:latin typeface="Calibri" panose="020F0502020204030204" charset="0"/>
            </a:endParaRPr>
          </a:p>
          <a:p>
            <a:pPr marL="0" indent="0" algn="ctr" latinLnBrk="0">
              <a:lnSpc>
                <a:spcPct val="200000"/>
              </a:lnSpc>
            </a:pPr>
            <a:r>
              <a:rPr lang="en-US" altLang="zh-CN" sz="4000" dirty="0">
                <a:solidFill>
                  <a:srgbClr val="002060"/>
                </a:solidFill>
                <a:latin typeface="Calibri" panose="020F0502020204030204" charset="0"/>
                <a:sym typeface="+mn-ea"/>
              </a:rPr>
              <a:t>Ch 13:  </a:t>
            </a:r>
            <a:r>
              <a:rPr lang="en-US" altLang="zh-CN" sz="4000" dirty="0">
                <a:solidFill>
                  <a:srgbClr val="002060"/>
                </a:solidFill>
                <a:latin typeface="Calibri" panose="020F0502020204030204" charset="0"/>
                <a:sym typeface="+mn-ea"/>
              </a:rPr>
              <a:t>File-System Interface</a:t>
            </a:r>
            <a:endParaRPr lang="en-US" altLang="zh-CN" sz="4000" dirty="0">
              <a:solidFill>
                <a:srgbClr val="C00000"/>
              </a:solidFill>
              <a:latin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03061" y="139850"/>
            <a:ext cx="7929563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  <a:endParaRPr lang="en-US" alt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060" y="942090"/>
            <a:ext cx="7718425" cy="3494087"/>
          </a:xfrm>
        </p:spPr>
        <p:txBody>
          <a:bodyPr/>
          <a:lstStyle/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File Concept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Access Methods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Disk and Directory Structure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Protection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Memory-Mapped Files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07909" y="12922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  <a:endParaRPr lang="en-US" alt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71" y="942090"/>
            <a:ext cx="6560854" cy="4504118"/>
          </a:xfrm>
        </p:spPr>
        <p:txBody>
          <a:bodyPr/>
          <a:lstStyle/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To explain the function of file systems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To describe the interfaces to file systems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To discuss file-system design tradeoffs, including access methods, file sharing, file locking, and directory structures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To explore file-system protection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54559" y="14989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File Concept</a:t>
            </a:r>
            <a:endParaRPr lang="en-US" alt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591" y="930580"/>
            <a:ext cx="7648575" cy="4530725"/>
          </a:xfrm>
        </p:spPr>
        <p:txBody>
          <a:bodyPr/>
          <a:lstStyle/>
          <a:p>
            <a:r>
              <a:rPr lang="en-US" altLang="en-US" dirty="0"/>
              <a:t>Contiguous logical address space</a:t>
            </a:r>
            <a:endParaRPr lang="en-US" altLang="en-US" dirty="0"/>
          </a:p>
          <a:p>
            <a:r>
              <a:rPr lang="en-US" altLang="en-US" dirty="0"/>
              <a:t>Types: </a:t>
            </a:r>
            <a:endParaRPr lang="en-US" altLang="en-US" dirty="0"/>
          </a:p>
          <a:p>
            <a:pPr lvl="1"/>
            <a:r>
              <a:rPr lang="en-US" altLang="en-US" dirty="0"/>
              <a:t>Data</a:t>
            </a:r>
            <a:endParaRPr lang="en-US" altLang="en-US" dirty="0"/>
          </a:p>
          <a:p>
            <a:pPr lvl="2"/>
            <a:r>
              <a:rPr lang="en-US" altLang="en-US" dirty="0"/>
              <a:t>Numeric</a:t>
            </a:r>
            <a:endParaRPr lang="en-US" altLang="en-US" dirty="0"/>
          </a:p>
          <a:p>
            <a:pPr lvl="2"/>
            <a:r>
              <a:rPr lang="en-US" altLang="en-US" dirty="0"/>
              <a:t>Character</a:t>
            </a:r>
            <a:endParaRPr lang="en-US" altLang="en-US" dirty="0"/>
          </a:p>
          <a:p>
            <a:pPr lvl="2"/>
            <a:r>
              <a:rPr lang="en-US" altLang="en-US" dirty="0"/>
              <a:t>Binary</a:t>
            </a:r>
            <a:endParaRPr lang="en-US" altLang="en-US" dirty="0"/>
          </a:p>
          <a:p>
            <a:pPr lvl="1"/>
            <a:r>
              <a:rPr lang="en-US" altLang="en-US" dirty="0"/>
              <a:t>Program</a:t>
            </a:r>
            <a:endParaRPr lang="en-US" altLang="en-US" dirty="0"/>
          </a:p>
          <a:p>
            <a:r>
              <a:rPr lang="en-US" altLang="en-US" dirty="0"/>
              <a:t>Contents defined by file’s creator</a:t>
            </a:r>
            <a:endParaRPr lang="en-US" altLang="en-US" dirty="0"/>
          </a:p>
          <a:p>
            <a:pPr lvl="1"/>
            <a:r>
              <a:rPr lang="en-US" altLang="en-US" dirty="0"/>
              <a:t>Many types</a:t>
            </a:r>
            <a:endParaRPr lang="en-US" altLang="en-US" dirty="0"/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endParaRPr lang="en-US" altLang="en-US" b="1" dirty="0">
              <a:solidFill>
                <a:srgbClr val="3366FF"/>
              </a:solidFill>
            </a:endParaRPr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source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endParaRPr lang="en-US" altLang="en-US" b="1" dirty="0">
              <a:solidFill>
                <a:srgbClr val="3366FF"/>
              </a:solidFill>
            </a:endParaRPr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executable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63893" y="155946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File Attributes</a:t>
            </a:r>
            <a:endParaRPr lang="en-US" alt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67" y="944549"/>
            <a:ext cx="7493389" cy="4379835"/>
          </a:xfrm>
        </p:spPr>
        <p:txBody>
          <a:bodyPr/>
          <a:lstStyle/>
          <a:p>
            <a:r>
              <a:rPr lang="en-US" altLang="en-US" b="1" dirty="0"/>
              <a:t>Name</a:t>
            </a:r>
            <a:r>
              <a:rPr lang="en-US" altLang="en-US" dirty="0"/>
              <a:t> – only information kept in human-readable form</a:t>
            </a:r>
            <a:endParaRPr lang="en-US" altLang="en-US" dirty="0"/>
          </a:p>
          <a:p>
            <a:r>
              <a:rPr lang="en-US" altLang="en-US" b="1" dirty="0"/>
              <a:t>Identifier</a:t>
            </a:r>
            <a:r>
              <a:rPr lang="en-US" altLang="en-US" dirty="0"/>
              <a:t> – unique tag (number) identifies file within file system</a:t>
            </a:r>
            <a:endParaRPr lang="en-US" altLang="en-US" dirty="0"/>
          </a:p>
          <a:p>
            <a:r>
              <a:rPr lang="en-US" altLang="en-US" b="1" dirty="0"/>
              <a:t>Type</a:t>
            </a:r>
            <a:r>
              <a:rPr lang="en-US" altLang="en-US" dirty="0"/>
              <a:t> – needed for systems that support different types</a:t>
            </a:r>
            <a:endParaRPr lang="en-US" altLang="en-US" dirty="0"/>
          </a:p>
          <a:p>
            <a:r>
              <a:rPr lang="en-US" altLang="en-US" b="1" dirty="0"/>
              <a:t>Location</a:t>
            </a:r>
            <a:r>
              <a:rPr lang="en-US" altLang="en-US" dirty="0"/>
              <a:t> – pointer to file location on device</a:t>
            </a:r>
            <a:endParaRPr lang="en-US" altLang="en-US" dirty="0"/>
          </a:p>
          <a:p>
            <a:r>
              <a:rPr lang="en-US" altLang="en-US" b="1" dirty="0"/>
              <a:t>Size</a:t>
            </a:r>
            <a:r>
              <a:rPr lang="en-US" altLang="en-US" dirty="0"/>
              <a:t> – current file size</a:t>
            </a:r>
            <a:endParaRPr lang="en-US" altLang="en-US" dirty="0"/>
          </a:p>
          <a:p>
            <a:r>
              <a:rPr lang="en-US" altLang="en-US" b="1" dirty="0"/>
              <a:t>Protection</a:t>
            </a:r>
            <a:r>
              <a:rPr lang="en-US" altLang="en-US" dirty="0"/>
              <a:t> – controls who can do reading, writing, executing</a:t>
            </a:r>
            <a:endParaRPr lang="en-US" altLang="en-US" dirty="0"/>
          </a:p>
          <a:p>
            <a:r>
              <a:rPr lang="en-US" altLang="en-US" b="1" dirty="0"/>
              <a:t>Time, date, and user identification</a:t>
            </a:r>
            <a:r>
              <a:rPr lang="en-US" altLang="en-US" dirty="0"/>
              <a:t> – data for protection, security, and usage monitoring</a:t>
            </a:r>
            <a:endParaRPr lang="en-US" altLang="en-US" dirty="0"/>
          </a:p>
          <a:p>
            <a:r>
              <a:rPr lang="en-US" altLang="en-US" dirty="0"/>
              <a:t>Information about files are kept in the directory structure, which is maintained on the disk</a:t>
            </a:r>
            <a:endParaRPr lang="en-US" altLang="en-US" dirty="0"/>
          </a:p>
          <a:p>
            <a:r>
              <a:rPr lang="en-US" altLang="en-US" dirty="0"/>
              <a:t>Many variations, including extended file attributes such as file checksum</a:t>
            </a:r>
            <a:endParaRPr lang="en-US" altLang="en-US" dirty="0"/>
          </a:p>
          <a:p>
            <a:r>
              <a:rPr lang="en-US" altLang="en-US" dirty="0"/>
              <a:t>Information kept in the directory structure</a:t>
            </a: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50545" y="142240"/>
            <a:ext cx="2811780" cy="3197860"/>
          </a:xfrm>
        </p:spPr>
        <p:txBody>
          <a:bodyPr/>
          <a:lstStyle/>
          <a:p>
            <a:pPr eaLnBrk="1" hangingPunct="1"/>
            <a:r>
              <a:rPr lang="en-US" altLang="en-US" dirty="0"/>
              <a:t>File info Window on Mac OS X</a:t>
            </a:r>
            <a:endParaRPr lang="en-US" altLang="en-US" dirty="0"/>
          </a:p>
        </p:txBody>
      </p:sp>
      <p:pic>
        <p:nvPicPr>
          <p:cNvPr id="8195" name="Picture 4" descr="11_01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7825" y="53975"/>
            <a:ext cx="3056255" cy="6802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19876" y="9007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Directory Structure</a:t>
            </a:r>
            <a:endParaRPr lang="en-US" alt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739" y="942451"/>
            <a:ext cx="7862181" cy="514540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collection of nodes containing information about all files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>
                <a:latin typeface="Helvetica" pitchFamily="2" charset="0"/>
              </a:rPr>
              <a:t>Both the directory structure and the files reside on disk</a:t>
            </a:r>
            <a:endParaRPr lang="en-US" altLang="en-US" dirty="0">
              <a:latin typeface="Helvetica" pitchFamily="2" charset="0"/>
            </a:endParaRP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2566700" y="1405433"/>
          <a:ext cx="3309590" cy="2865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Acrobat Document" r:id="rId1" imgW="1841500" imgH="1590675" progId="Acrobat.Document.DC">
                  <p:embed/>
                </p:oleObj>
              </mc:Choice>
              <mc:Fallback>
                <p:oleObj name="Acrobat Document" r:id="rId1" imgW="1841500" imgH="1590675" progId="Acrobat.Document.DC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66700" y="1405433"/>
                        <a:ext cx="3309590" cy="28651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7909" y="12544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File Operations</a:t>
            </a:r>
            <a:endParaRPr lang="en-US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737" y="934499"/>
            <a:ext cx="7093834" cy="4483952"/>
          </a:xfrm>
        </p:spPr>
        <p:txBody>
          <a:bodyPr/>
          <a:lstStyle/>
          <a:p>
            <a:r>
              <a:rPr lang="en-US" altLang="en-US" b="1" dirty="0"/>
              <a:t>Create</a:t>
            </a:r>
            <a:endParaRPr lang="en-US" altLang="en-US" b="1" dirty="0"/>
          </a:p>
          <a:p>
            <a:r>
              <a:rPr lang="en-US" altLang="en-US" b="1" dirty="0"/>
              <a:t>Write – </a:t>
            </a:r>
            <a:r>
              <a:rPr lang="en-US" altLang="en-US" dirty="0"/>
              <a:t>at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write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pointer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location</a:t>
            </a:r>
            <a:endParaRPr lang="en-US" altLang="en-US" dirty="0"/>
          </a:p>
          <a:p>
            <a:r>
              <a:rPr lang="en-US" altLang="en-US" b="1" dirty="0"/>
              <a:t>Read – </a:t>
            </a:r>
            <a:r>
              <a:rPr lang="en-US" altLang="en-US" dirty="0"/>
              <a:t>at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pointer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location</a:t>
            </a:r>
            <a:endParaRPr lang="en-US" altLang="en-US" dirty="0"/>
          </a:p>
          <a:p>
            <a:r>
              <a:rPr lang="en-US" altLang="en-US" b="1" dirty="0"/>
              <a:t>Reposition within file -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seek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b="1" dirty="0"/>
              <a:t>Delete</a:t>
            </a:r>
            <a:endParaRPr lang="en-US" altLang="en-US" b="1" dirty="0"/>
          </a:p>
          <a:p>
            <a:r>
              <a:rPr lang="en-US" altLang="en-US" b="1" dirty="0"/>
              <a:t>Truncate</a:t>
            </a:r>
            <a:endParaRPr lang="en-US" altLang="en-US" b="1" dirty="0"/>
          </a:p>
          <a:p>
            <a:r>
              <a:rPr lang="en-US" altLang="en-US" b="1" i="1" dirty="0"/>
              <a:t>Open </a:t>
            </a:r>
            <a:r>
              <a:rPr lang="en-US" altLang="en-US" b="1" dirty="0"/>
              <a:t>(</a:t>
            </a:r>
            <a:r>
              <a:rPr lang="en-US" altLang="en-US" b="1" i="1" dirty="0"/>
              <a:t>F</a:t>
            </a:r>
            <a:r>
              <a:rPr lang="en-US" altLang="en-US" b="1" i="1" baseline="-25000" dirty="0"/>
              <a:t>i</a:t>
            </a:r>
            <a:r>
              <a:rPr lang="en-US" altLang="en-US" b="1" dirty="0"/>
              <a:t>) </a:t>
            </a:r>
            <a:r>
              <a:rPr lang="en-US" altLang="en-US" dirty="0"/>
              <a:t>– search the directory structure on disk for entry </a:t>
            </a:r>
            <a:r>
              <a:rPr lang="en-US" altLang="en-US" b="1" i="1" dirty="0"/>
              <a:t>F</a:t>
            </a:r>
            <a:r>
              <a:rPr lang="en-US" altLang="en-US" b="1" i="1" baseline="-25000" dirty="0"/>
              <a:t>i</a:t>
            </a:r>
            <a:r>
              <a:rPr lang="en-US" altLang="en-US" dirty="0"/>
              <a:t>, and move the content of entry to memory</a:t>
            </a:r>
            <a:endParaRPr lang="en-US" altLang="en-US" dirty="0"/>
          </a:p>
          <a:p>
            <a:r>
              <a:rPr lang="en-US" altLang="en-US" b="1" i="1" dirty="0"/>
              <a:t>Close </a:t>
            </a:r>
            <a:r>
              <a:rPr lang="en-US" altLang="en-US" b="1" dirty="0"/>
              <a:t>(</a:t>
            </a:r>
            <a:r>
              <a:rPr lang="en-US" altLang="en-US" b="1" i="1" dirty="0"/>
              <a:t>F</a:t>
            </a:r>
            <a:r>
              <a:rPr lang="en-US" altLang="en-US" b="1" i="1" baseline="-25000" dirty="0"/>
              <a:t>i</a:t>
            </a:r>
            <a:r>
              <a:rPr lang="en-US" altLang="en-US" b="1" dirty="0"/>
              <a:t>) </a:t>
            </a:r>
            <a:r>
              <a:rPr lang="en-US" altLang="en-US" dirty="0"/>
              <a:t>– move the content of entry</a:t>
            </a:r>
            <a:r>
              <a:rPr lang="en-US" altLang="en-US" b="1" dirty="0"/>
              <a:t> </a:t>
            </a:r>
            <a:r>
              <a:rPr lang="en-US" altLang="en-US" b="1" i="1" dirty="0"/>
              <a:t>F</a:t>
            </a:r>
            <a:r>
              <a:rPr lang="en-US" altLang="en-US" b="1" i="1" baseline="-25000" dirty="0"/>
              <a:t>i</a:t>
            </a:r>
            <a:r>
              <a:rPr lang="en-US" altLang="en-US" b="1" dirty="0"/>
              <a:t> </a:t>
            </a:r>
            <a:r>
              <a:rPr lang="en-US" altLang="en-US" dirty="0"/>
              <a:t>in memory to directory structure on disk</a:t>
            </a: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07909" y="13250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Open Files</a:t>
            </a:r>
            <a:endParaRPr lang="en-US" altLang="en-US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1011" y="951829"/>
            <a:ext cx="7218009" cy="4604909"/>
          </a:xfrm>
        </p:spPr>
        <p:txBody>
          <a:bodyPr/>
          <a:lstStyle/>
          <a:p>
            <a:r>
              <a:rPr lang="en-US" altLang="en-US" dirty="0"/>
              <a:t>Several pieces of data are needed to manage open files: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Open-file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dirty="0"/>
              <a:t>: tracks open files</a:t>
            </a:r>
            <a:endParaRPr lang="en-US" altLang="en-US" dirty="0"/>
          </a:p>
          <a:p>
            <a:pPr lvl="1"/>
            <a:r>
              <a:rPr lang="en-US" altLang="en-US" dirty="0"/>
              <a:t>File pointer:  pointer to last read/write location, per process that has the file open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File-open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count</a:t>
            </a:r>
            <a:r>
              <a:rPr lang="en-US" altLang="en-US" dirty="0"/>
              <a:t>: counter of number of times a file is open – to allow removal of data from open-file table when last processes closes it</a:t>
            </a:r>
            <a:endParaRPr lang="en-US" altLang="en-US" dirty="0"/>
          </a:p>
          <a:p>
            <a:pPr lvl="1"/>
            <a:r>
              <a:rPr lang="en-US" altLang="en-US" dirty="0"/>
              <a:t>Disk location of the file: cache of data access information</a:t>
            </a:r>
            <a:endParaRPr lang="en-US" altLang="en-US" dirty="0"/>
          </a:p>
          <a:p>
            <a:pPr lvl="1"/>
            <a:r>
              <a:rPr lang="en-US" altLang="en-US" dirty="0"/>
              <a:t>Access rights: per-process access mode information</a:t>
            </a: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07909" y="13250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 File Locking</a:t>
            </a:r>
            <a:endParaRPr lang="en-US" altLang="en-US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1099" y="944547"/>
            <a:ext cx="7272302" cy="4584993"/>
          </a:xfrm>
        </p:spPr>
        <p:txBody>
          <a:bodyPr/>
          <a:lstStyle/>
          <a:p>
            <a:r>
              <a:rPr lang="en-US" altLang="en-US" dirty="0"/>
              <a:t>Provided by some operating systems and file systems</a:t>
            </a:r>
            <a:endParaRPr lang="en-US" altLang="en-US" dirty="0"/>
          </a:p>
          <a:p>
            <a:pPr lvl="1"/>
            <a:r>
              <a:rPr lang="en-US" altLang="en-US" dirty="0"/>
              <a:t>Similar to reader-writer locks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lock</a:t>
            </a:r>
            <a:r>
              <a:rPr lang="en-US" altLang="en-US" dirty="0"/>
              <a:t> similar to reader lock – several processes can acquire concurrently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Exclusive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lock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similar to writer lock</a:t>
            </a:r>
            <a:endParaRPr lang="en-US" altLang="en-US" dirty="0"/>
          </a:p>
          <a:p>
            <a:r>
              <a:rPr lang="en-US" altLang="en-US" dirty="0"/>
              <a:t>Mediates access to a file</a:t>
            </a:r>
            <a:endParaRPr lang="en-US" altLang="en-US" dirty="0"/>
          </a:p>
          <a:p>
            <a:r>
              <a:rPr lang="en-US" altLang="en-US" dirty="0"/>
              <a:t>Mandatory or advisory: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Mandatory</a:t>
            </a:r>
            <a:r>
              <a:rPr lang="en-US" altLang="en-US" dirty="0"/>
              <a:t> – access is denied depending on locks held and requested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Advisory</a:t>
            </a:r>
            <a:r>
              <a:rPr lang="en-US" altLang="en-US" dirty="0"/>
              <a:t> – processes can find status of locks and decide what to do</a:t>
            </a: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81715" y="143934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File Locking Example – Java API</a:t>
            </a:r>
            <a:endParaRPr lang="en-US" altLang="en-US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3240" y="1119505"/>
            <a:ext cx="8468360" cy="5063490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import java.io.*;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en-US" sz="1600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java.nio.channels</a:t>
            </a: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.*;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public class </a:t>
            </a:r>
            <a:r>
              <a:rPr lang="en-US" altLang="en-US" sz="1600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LockingExample</a:t>
            </a: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{ 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i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</a:t>
            </a: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public static final </a:t>
            </a:r>
            <a:r>
              <a:rPr lang="en-US" altLang="en-US" sz="1600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boolean</a:t>
            </a: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EXCLUSIVE = false;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public static final </a:t>
            </a:r>
            <a:r>
              <a:rPr lang="en-US" altLang="en-US" sz="1600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boolean</a:t>
            </a: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SHARED = true;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public static void main(String </a:t>
            </a:r>
            <a:r>
              <a:rPr lang="en-US" altLang="en-US" sz="1600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arsg</a:t>
            </a: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[]) throws </a:t>
            </a:r>
            <a:r>
              <a:rPr lang="en-US" altLang="en-US" sz="1600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IOException</a:t>
            </a: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1600" i="1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{ </a:t>
            </a:r>
            <a:endParaRPr lang="en-US" altLang="en-US" sz="1600" i="1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   </a:t>
            </a:r>
            <a:r>
              <a:rPr lang="en-US" altLang="en-US" sz="1600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FileLock</a:t>
            </a: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1600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sharedLock</a:t>
            </a: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= null;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   </a:t>
            </a:r>
            <a:r>
              <a:rPr lang="en-US" altLang="en-US" sz="1600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FileLock</a:t>
            </a: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1600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exclusiveLock</a:t>
            </a: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= null;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   try { 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	 </a:t>
            </a:r>
            <a:r>
              <a:rPr lang="en-US" altLang="en-US" sz="1600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RandomAccessFile</a:t>
            </a: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1600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raf</a:t>
            </a: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= new </a:t>
            </a:r>
            <a:r>
              <a:rPr lang="en-US" altLang="en-US" sz="1600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RandomAccessFile</a:t>
            </a: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("file.txt", "</a:t>
            </a:r>
            <a:r>
              <a:rPr lang="en-US" altLang="en-US" sz="1600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rw</a:t>
            </a: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");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	 // get the channel for the file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	 </a:t>
            </a:r>
            <a:r>
              <a:rPr lang="en-US" altLang="en-US" sz="1600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FileChannel</a:t>
            </a: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1600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ch</a:t>
            </a: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en-US" sz="1600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raf.getChannel</a:t>
            </a: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();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	 // this locks the first half of the file - exclusive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	 </a:t>
            </a:r>
            <a:r>
              <a:rPr lang="en-US" altLang="en-US" sz="1600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exclusiveLock</a:t>
            </a: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en-US" sz="1600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ch.lock</a:t>
            </a: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(0, </a:t>
            </a:r>
            <a:r>
              <a:rPr lang="en-US" altLang="en-US" sz="1600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raf.length</a:t>
            </a: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()/2, EXCLUSIVE);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	 /** Now modify the data . . . */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	 // release the lock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	 </a:t>
            </a:r>
            <a:r>
              <a:rPr lang="en-US" altLang="en-US" sz="1600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exclusiveLock.release</a:t>
            </a: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();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89036" y="68580"/>
            <a:ext cx="7996238" cy="622899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File Locking Example – Java API (Cont.)</a:t>
            </a:r>
            <a:endParaRPr lang="en-US" altLang="en-US" sz="3000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3560" y="1250950"/>
            <a:ext cx="8397875" cy="5267325"/>
          </a:xfrm>
        </p:spPr>
        <p:txBody>
          <a:bodyPr/>
          <a:lstStyle/>
          <a:p>
            <a:pPr algn="l"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	 // this locks the second half of the file - shared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	 sharedLock = ch.lock(raf.length()/2+1, raf.length(), SHARED);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	 /** Now read the data . . . */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	 // release the lock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	 sharedLock.release();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   } catch (java.io.IOException ioe) { 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	 System.err.println(ioe);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   } finally { 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	 if (exclusiveLock != null)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	    exclusiveLock.release();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	 if (sharedLock != null)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	    sharedLock.release();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   }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	}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endParaRPr lang="en-US" altLang="en-US" sz="1600" dirty="0">
              <a:solidFill>
                <a:srgbClr val="0070C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80000"/>
              </a:lnSpc>
            </a:pPr>
            <a:endParaRPr lang="en-US" altLang="en-US" sz="1600" dirty="0">
              <a:solidFill>
                <a:srgbClr val="0033CC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68211" y="10473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File Types – Name, Extension</a:t>
            </a:r>
            <a:endParaRPr lang="en-US" altLang="en-US" dirty="0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15" t="1186" r="15715" b="1186"/>
          <a:stretch>
            <a:fillRect/>
          </a:stretch>
        </p:blipFill>
        <p:spPr bwMode="auto">
          <a:xfrm>
            <a:off x="1885950" y="948055"/>
            <a:ext cx="5194935" cy="554863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788339" y="154782"/>
            <a:ext cx="77771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File Structure</a:t>
            </a:r>
            <a:endParaRPr lang="en-US" alt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313" y="954420"/>
            <a:ext cx="6774497" cy="431996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None - sequence of words, bytes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Simple record structure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Lines 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Fixed length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Variable length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Complex Structures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Formatted document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Relocatable load file	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Can simulate last two with first method by inserting appropriate control characters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Who decides: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Operating system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Program</a:t>
            </a:r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731520" y="128345"/>
            <a:ext cx="7848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Access Methods</a:t>
            </a:r>
            <a:endParaRPr lang="en-US" alt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2365" y="990206"/>
            <a:ext cx="7848599" cy="4529137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A</a:t>
            </a:r>
            <a:r>
              <a:rPr lang="en-US" altLang="en-US" b="1" dirty="0">
                <a:solidFill>
                  <a:srgbClr val="000000"/>
                </a:solidFill>
              </a:rPr>
              <a:t> </a:t>
            </a:r>
            <a:r>
              <a:rPr lang="en-US" altLang="en-US" dirty="0">
                <a:solidFill>
                  <a:srgbClr val="000000"/>
                </a:solidFill>
              </a:rPr>
              <a:t>file is fixed length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dirty="0">
                <a:solidFill>
                  <a:srgbClr val="0033CC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records</a:t>
            </a:r>
            <a:endParaRPr lang="en-US" altLang="en-US" b="1" dirty="0"/>
          </a:p>
          <a:p>
            <a:pPr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b="1" dirty="0"/>
              <a:t>Sequential Access</a:t>
            </a:r>
            <a:endParaRPr lang="en-US" altLang="en-US" b="1" dirty="0"/>
          </a:p>
          <a:p>
            <a:pPr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b="1" dirty="0">
                <a:solidFill>
                  <a:srgbClr val="000000"/>
                </a:solidFill>
              </a:rPr>
              <a:t>Direct Access</a:t>
            </a:r>
            <a:endParaRPr lang="en-US" altLang="en-US" b="1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b="1" dirty="0">
                <a:solidFill>
                  <a:srgbClr val="000000"/>
                </a:solidFill>
              </a:rPr>
              <a:t>Other Access Methods</a:t>
            </a:r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05840" y="75192"/>
            <a:ext cx="7848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Sequential Access</a:t>
            </a:r>
            <a:endParaRPr lang="en-US" alt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2365" y="980156"/>
            <a:ext cx="7848599" cy="4529137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Operations</a:t>
            </a:r>
            <a:endParaRPr lang="en-US" altLang="en-US" dirty="0">
              <a:solidFill>
                <a:srgbClr val="000000"/>
              </a:solidFill>
            </a:endParaRPr>
          </a:p>
          <a:p>
            <a:pPr lvl="1"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 next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 next 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Reset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no read after last write  (rewrite)</a:t>
            </a:r>
            <a:endParaRPr lang="en-US" altLang="en-US" dirty="0">
              <a:solidFill>
                <a:srgbClr val="000000"/>
              </a:solidFill>
            </a:endParaRPr>
          </a:p>
          <a:p>
            <a:pPr marL="457200" lvl="1" indent="0">
              <a:lnSpc>
                <a:spcPct val="90000"/>
              </a:lnSpc>
              <a:buNone/>
              <a:tabLst>
                <a:tab pos="3203575" algn="l"/>
                <a:tab pos="4055745" algn="l"/>
              </a:tabLst>
            </a:pPr>
            <a:endParaRPr lang="en-US" altLang="en-US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tabLst>
                <a:tab pos="3203575" algn="l"/>
                <a:tab pos="4055745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Figure</a:t>
            </a:r>
            <a:endParaRPr lang="en-US" altLang="en-US" dirty="0">
              <a:solidFill>
                <a:srgbClr val="000000"/>
              </a:solidFill>
            </a:endParaRP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0" y="3550920"/>
            <a:ext cx="6149975" cy="1754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731520" y="128345"/>
            <a:ext cx="7848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Direct Access</a:t>
            </a:r>
            <a:endParaRPr lang="en-US" alt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2365" y="964643"/>
            <a:ext cx="5595585" cy="449676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Operations</a:t>
            </a:r>
            <a:endParaRPr lang="en-US" altLang="en-US" dirty="0">
              <a:solidFill>
                <a:srgbClr val="000000"/>
              </a:solidFill>
            </a:endParaRPr>
          </a:p>
          <a:p>
            <a:pPr lvl="1"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 </a:t>
            </a:r>
            <a:r>
              <a:rPr lang="en-US" altLang="en-US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endParaRPr lang="en-US" altLang="en-US" b="1" i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 </a:t>
            </a:r>
            <a:r>
              <a:rPr lang="en-US" altLang="en-US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endParaRPr lang="en-US" altLang="en-US" b="1" i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position to </a:t>
            </a:r>
            <a:r>
              <a:rPr lang="en-US" altLang="en-US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endParaRPr lang="en-US" altLang="en-US" b="1" i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 next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 next 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rewrite </a:t>
            </a:r>
            <a:r>
              <a:rPr lang="en-US" altLang="en-US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endParaRPr lang="en-US" altLang="en-US" b="1" i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203575" algn="l"/>
                <a:tab pos="4055745" algn="l"/>
              </a:tabLst>
            </a:pPr>
            <a:r>
              <a:rPr lang="en-US" altLang="en-US" dirty="0"/>
              <a:t>	     </a:t>
            </a:r>
            <a:r>
              <a:rPr lang="en-US" altLang="en-US" i="1" dirty="0"/>
              <a:t>n</a:t>
            </a:r>
            <a:r>
              <a:rPr lang="en-US" altLang="en-US" dirty="0"/>
              <a:t> =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relative</a:t>
            </a:r>
            <a:r>
              <a:rPr lang="en-US" altLang="en-US" dirty="0">
                <a:solidFill>
                  <a:srgbClr val="0033CC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dirty="0">
                <a:solidFill>
                  <a:srgbClr val="0033CC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number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203575" algn="l"/>
                <a:tab pos="4055745" algn="l"/>
              </a:tabLst>
            </a:pPr>
            <a:r>
              <a:rPr lang="en-US" altLang="en-US" sz="800" dirty="0">
                <a:solidFill>
                  <a:srgbClr val="0033CC"/>
                </a:solidFill>
              </a:rPr>
              <a:t> </a:t>
            </a:r>
            <a:endParaRPr lang="en-US" altLang="en-US" sz="800" dirty="0"/>
          </a:p>
          <a:p>
            <a:pPr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dirty="0"/>
              <a:t>Relative block numbers allow OS to decide where file should be placed</a:t>
            </a:r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99805" y="7459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2200" dirty="0"/>
              <a:t>Simulation of Sequential Access on Direct-access File</a:t>
            </a:r>
            <a:endParaRPr lang="en-US" altLang="en-US" sz="2200" dirty="0"/>
          </a:p>
        </p:txBody>
      </p:sp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175" y="1514475"/>
            <a:ext cx="690753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713324" y="124864"/>
            <a:ext cx="7903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Other Access Methods</a:t>
            </a:r>
            <a:endParaRPr lang="en-US" altLang="en-US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996013"/>
            <a:ext cx="6323648" cy="4163695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Can be other access methods built on top of base methods</a:t>
            </a:r>
            <a:endParaRPr lang="en-US" altLang="en-US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General involve creation of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index</a:t>
            </a:r>
            <a:r>
              <a:rPr lang="en-US" altLang="en-US" dirty="0">
                <a:solidFill>
                  <a:srgbClr val="000000"/>
                </a:solidFill>
              </a:rPr>
              <a:t> for the file</a:t>
            </a:r>
            <a:endParaRPr lang="en-US" altLang="en-US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Keep index in memory for fast determination of location of data to be operated on (consider Universal Produce Code (UPC code) plus record of data about that item)</a:t>
            </a:r>
            <a:endParaRPr lang="en-US" altLang="en-US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If the index is too large, create an in-memory index, which an index of a disk index</a:t>
            </a:r>
            <a:endParaRPr lang="en-US" altLang="en-US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IBM indexed sequential-access method (ISAM)</a:t>
            </a:r>
            <a:endParaRPr lang="en-US" altLang="en-US" dirty="0">
              <a:solidFill>
                <a:srgbClr val="000000"/>
              </a:solidFill>
            </a:endParaRPr>
          </a:p>
          <a:p>
            <a:pPr lvl="1"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Small master index, points to disk blocks of secondary index</a:t>
            </a:r>
            <a:endParaRPr lang="en-US" altLang="en-US" dirty="0">
              <a:solidFill>
                <a:srgbClr val="000000"/>
              </a:solidFill>
            </a:endParaRPr>
          </a:p>
          <a:p>
            <a:pPr lvl="1"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File kept sorted on a defined key</a:t>
            </a:r>
            <a:endParaRPr lang="en-US" altLang="en-US" dirty="0">
              <a:solidFill>
                <a:srgbClr val="000000"/>
              </a:solidFill>
            </a:endParaRPr>
          </a:p>
          <a:p>
            <a:pPr lvl="1"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All done by the OS</a:t>
            </a:r>
            <a:endParaRPr lang="en-US" altLang="en-US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VMS operating system provides index and relative files as another example (see next slide)</a:t>
            </a:r>
            <a:endParaRPr lang="en-US" alt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20392" y="10473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of Index and Relative Files</a:t>
            </a:r>
            <a:endParaRPr lang="en-US" altLang="en-US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060" y="1109980"/>
            <a:ext cx="7419975" cy="4725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 idx="4294967295"/>
          </p:nvPr>
        </p:nvSpPr>
        <p:spPr>
          <a:xfrm>
            <a:off x="354562" y="127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Disk Structure</a:t>
            </a:r>
            <a:endParaRPr lang="en-US" altLang="en-US" dirty="0"/>
          </a:p>
        </p:txBody>
      </p:sp>
      <p:sp>
        <p:nvSpPr>
          <p:cNvPr id="22531" name="Content Placeholder 3"/>
          <p:cNvSpPr>
            <a:spLocks noGrp="1"/>
          </p:cNvSpPr>
          <p:nvPr>
            <p:ph idx="4294967295"/>
          </p:nvPr>
        </p:nvSpPr>
        <p:spPr>
          <a:xfrm>
            <a:off x="867747" y="992456"/>
            <a:ext cx="7121823" cy="4358796"/>
          </a:xfrm>
        </p:spPr>
        <p:txBody>
          <a:bodyPr/>
          <a:lstStyle/>
          <a:p>
            <a:r>
              <a:rPr lang="en-US" altLang="en-US" dirty="0"/>
              <a:t>Disk can be subdivided into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partitions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Disks or partitions can be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RAID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protected against failure</a:t>
            </a:r>
            <a:endParaRPr lang="en-US" altLang="en-US" dirty="0"/>
          </a:p>
          <a:p>
            <a:r>
              <a:rPr lang="en-US" altLang="en-US" dirty="0"/>
              <a:t>Disk or partition can be used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raw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without a file system,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formatted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with a file system</a:t>
            </a:r>
            <a:endParaRPr lang="en-US" altLang="en-US" dirty="0"/>
          </a:p>
          <a:p>
            <a:r>
              <a:rPr lang="en-US" altLang="en-US" dirty="0"/>
              <a:t>Partitions also known as minidisks, slices</a:t>
            </a:r>
            <a:endParaRPr lang="en-US" altLang="en-US" dirty="0"/>
          </a:p>
          <a:p>
            <a:r>
              <a:rPr lang="en-US" altLang="en-US" dirty="0"/>
              <a:t>Entity containing file system is known as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volume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Each volume containing a file system also tracks that file system’</a:t>
            </a:r>
            <a:r>
              <a:rPr lang="en-US" altLang="ja-JP" dirty="0"/>
              <a:t>s info in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device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directory</a:t>
            </a:r>
            <a:r>
              <a:rPr lang="en-US" altLang="ja-JP" dirty="0">
                <a:solidFill>
                  <a:srgbClr val="3366FF"/>
                </a:solidFill>
              </a:rPr>
              <a:t> </a:t>
            </a:r>
            <a:r>
              <a:rPr lang="en-US" altLang="ja-JP" dirty="0"/>
              <a:t>or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volume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of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contents</a:t>
            </a:r>
            <a:endParaRPr lang="en-US" altLang="ja-JP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In addition to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general-purpose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there are many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special-purpose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systems</a:t>
            </a:r>
            <a:r>
              <a:rPr lang="en-US" altLang="en-US" dirty="0"/>
              <a:t>, frequently all within the same operating system or computer</a:t>
            </a:r>
            <a:endParaRPr lang="en-US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828984" y="10473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A Typical File-system Organization</a:t>
            </a:r>
            <a:endParaRPr lang="en-US" altLang="en-US" sz="3000" dirty="0"/>
          </a:p>
        </p:txBody>
      </p:sp>
      <p:pic>
        <p:nvPicPr>
          <p:cNvPr id="3" name="Picture 6" descr="1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690" y="1129665"/>
            <a:ext cx="7677150" cy="4081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2"/>
          <p:cNvSpPr>
            <a:spLocks noGrp="1"/>
          </p:cNvSpPr>
          <p:nvPr>
            <p:ph type="title" idx="4294967295"/>
          </p:nvPr>
        </p:nvSpPr>
        <p:spPr>
          <a:xfrm>
            <a:off x="457200" y="18340"/>
            <a:ext cx="8229600" cy="663046"/>
          </a:xfrm>
        </p:spPr>
        <p:txBody>
          <a:bodyPr/>
          <a:lstStyle/>
          <a:p>
            <a:pPr eaLnBrk="1" hangingPunct="1"/>
            <a:r>
              <a:rPr lang="en-US" altLang="en-US" dirty="0"/>
              <a:t>Types of File Systems</a:t>
            </a:r>
            <a:endParaRPr lang="en-US" altLang="en-US" dirty="0"/>
          </a:p>
        </p:txBody>
      </p:sp>
      <p:sp>
        <p:nvSpPr>
          <p:cNvPr id="24579" name="Content Placeholder 3"/>
          <p:cNvSpPr>
            <a:spLocks noGrp="1"/>
          </p:cNvSpPr>
          <p:nvPr>
            <p:ph idx="4294967295"/>
          </p:nvPr>
        </p:nvSpPr>
        <p:spPr>
          <a:xfrm>
            <a:off x="886410" y="1024935"/>
            <a:ext cx="7688423" cy="4541073"/>
          </a:xfrm>
        </p:spPr>
        <p:txBody>
          <a:bodyPr/>
          <a:lstStyle/>
          <a:p>
            <a:r>
              <a:rPr lang="en-US" altLang="en-US" dirty="0"/>
              <a:t>We mostly talk of general-purpose file systems</a:t>
            </a:r>
            <a:endParaRPr lang="en-US" altLang="en-US" dirty="0"/>
          </a:p>
          <a:p>
            <a:r>
              <a:rPr lang="en-US" altLang="en-US" dirty="0"/>
              <a:t>But systems frequently have may file systems, some general- and some special- purpose</a:t>
            </a:r>
            <a:endParaRPr lang="en-US" altLang="en-US" dirty="0"/>
          </a:p>
          <a:p>
            <a:r>
              <a:rPr lang="en-US" altLang="en-US" dirty="0"/>
              <a:t>Consider Solaris has</a:t>
            </a:r>
            <a:endParaRPr lang="en-US" altLang="en-US" dirty="0"/>
          </a:p>
          <a:p>
            <a:pPr lvl="1"/>
            <a:r>
              <a:rPr lang="en-US" altLang="en-US" dirty="0" err="1"/>
              <a:t>tmpfs</a:t>
            </a:r>
            <a:r>
              <a:rPr lang="en-US" altLang="en-US" dirty="0"/>
              <a:t> – memory-based volatile FS for fast, temporary I/O</a:t>
            </a:r>
            <a:endParaRPr lang="en-US" altLang="en-US" dirty="0"/>
          </a:p>
          <a:p>
            <a:pPr lvl="1"/>
            <a:r>
              <a:rPr lang="en-US" altLang="en-US" dirty="0" err="1"/>
              <a:t>objfs</a:t>
            </a:r>
            <a:r>
              <a:rPr lang="en-US" altLang="en-US" dirty="0"/>
              <a:t> – interface into kernel memory to get kernel symbols for debugging</a:t>
            </a:r>
            <a:endParaRPr lang="en-US" altLang="en-US" dirty="0"/>
          </a:p>
          <a:p>
            <a:pPr lvl="1"/>
            <a:r>
              <a:rPr lang="en-US" altLang="en-US" dirty="0" err="1"/>
              <a:t>ctfs</a:t>
            </a:r>
            <a:r>
              <a:rPr lang="en-US" altLang="en-US" dirty="0"/>
              <a:t> – contract file system for managing daemons </a:t>
            </a:r>
            <a:endParaRPr lang="en-US" altLang="en-US" dirty="0"/>
          </a:p>
          <a:p>
            <a:pPr lvl="1"/>
            <a:r>
              <a:rPr lang="en-US" altLang="en-US" dirty="0" err="1"/>
              <a:t>lofs</a:t>
            </a:r>
            <a:r>
              <a:rPr lang="en-US" altLang="en-US" dirty="0"/>
              <a:t> – loopback file system allows one FS to be accessed in place of another</a:t>
            </a:r>
            <a:endParaRPr lang="en-US" altLang="en-US" dirty="0"/>
          </a:p>
          <a:p>
            <a:pPr lvl="1"/>
            <a:r>
              <a:rPr lang="en-US" altLang="en-US" dirty="0" err="1"/>
              <a:t>procfs</a:t>
            </a:r>
            <a:r>
              <a:rPr lang="en-US" altLang="en-US" dirty="0"/>
              <a:t> – kernel interface to process structures</a:t>
            </a:r>
            <a:endParaRPr lang="en-US" altLang="en-US" dirty="0"/>
          </a:p>
          <a:p>
            <a:pPr lvl="1"/>
            <a:r>
              <a:rPr lang="en-US" altLang="en-US" dirty="0" err="1"/>
              <a:t>ufs</a:t>
            </a:r>
            <a:r>
              <a:rPr lang="en-US" altLang="en-US" dirty="0"/>
              <a:t>, </a:t>
            </a:r>
            <a:r>
              <a:rPr lang="en-US" altLang="en-US" dirty="0" err="1"/>
              <a:t>zfs</a:t>
            </a:r>
            <a:r>
              <a:rPr lang="en-US" altLang="en-US" dirty="0"/>
              <a:t> – general purpose file systems</a:t>
            </a:r>
            <a:endParaRPr lang="en-US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19876" y="130630"/>
            <a:ext cx="8229600" cy="555806"/>
          </a:xfrm>
        </p:spPr>
        <p:txBody>
          <a:bodyPr/>
          <a:lstStyle/>
          <a:p>
            <a:pPr eaLnBrk="1" hangingPunct="1"/>
            <a:r>
              <a:rPr lang="en-US" altLang="en-US" dirty="0"/>
              <a:t>Directory Structure</a:t>
            </a:r>
            <a:endParaRPr lang="en-US" alt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739" y="944547"/>
            <a:ext cx="7862181" cy="512320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collection of nodes containing information about all files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>
                <a:latin typeface="Helvetica" pitchFamily="2" charset="0"/>
              </a:rPr>
              <a:t>Both the directory structure and the files reside on disk</a:t>
            </a:r>
            <a:endParaRPr lang="en-US" altLang="en-US" dirty="0">
              <a:latin typeface="Helvetica" pitchFamily="2" charset="0"/>
            </a:endParaRP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2835212" y="1507255"/>
          <a:ext cx="3041077" cy="264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Acrobat Document" r:id="rId1" imgW="1841500" imgH="1590675" progId="AcroExch.Document.DC">
                  <p:embed/>
                </p:oleObj>
              </mc:Choice>
              <mc:Fallback>
                <p:oleObj name="Acrobat Document" r:id="rId1" imgW="1841500" imgH="1590675" progId="AcroExch.Document.DC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35212" y="1507255"/>
                        <a:ext cx="3041077" cy="26427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959613" y="1298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Operations Performed on Directory</a:t>
            </a:r>
            <a:endParaRPr lang="en-US" altLang="en-US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6603" y="1017551"/>
            <a:ext cx="7678899" cy="4530725"/>
          </a:xfrm>
        </p:spPr>
        <p:txBody>
          <a:bodyPr/>
          <a:lstStyle/>
          <a:p>
            <a:r>
              <a:rPr lang="en-US" altLang="en-US" sz="2000" b="1" dirty="0">
                <a:latin typeface="Calibri" panose="020F0502020204030204" charset="0"/>
                <a:cs typeface="Calibri" panose="020F0502020204030204" charset="0"/>
              </a:rPr>
              <a:t>Search for a file</a:t>
            </a:r>
            <a:endParaRPr lang="en-US" altLang="en-US" sz="2000" b="1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b="1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Create a file</a:t>
            </a:r>
            <a:endParaRPr lang="en-US" altLang="en-US" sz="2000" b="1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b="1" dirty="0">
                <a:latin typeface="Calibri" panose="020F0502020204030204" charset="0"/>
                <a:cs typeface="Calibri" panose="020F0502020204030204" charset="0"/>
              </a:rPr>
              <a:t>Delete a file</a:t>
            </a:r>
            <a:endParaRPr lang="en-US" altLang="en-US" sz="2000" b="1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b="1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List a directory</a:t>
            </a:r>
            <a:endParaRPr lang="en-US" altLang="en-US" sz="2000" b="1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b="1" dirty="0">
                <a:latin typeface="Calibri" panose="020F0502020204030204" charset="0"/>
                <a:cs typeface="Calibri" panose="020F0502020204030204" charset="0"/>
              </a:rPr>
              <a:t>Rename a file</a:t>
            </a:r>
            <a:endParaRPr lang="en-US" altLang="en-US" sz="2000" b="1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b="1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Traverse the file system</a:t>
            </a:r>
            <a:endParaRPr lang="en-US" altLang="en-US" sz="2000" b="1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778295" y="221066"/>
            <a:ext cx="7743825" cy="428346"/>
          </a:xfrm>
        </p:spPr>
        <p:txBody>
          <a:bodyPr/>
          <a:lstStyle/>
          <a:p>
            <a:pPr eaLnBrk="1" hangingPunct="1"/>
            <a:r>
              <a:rPr lang="en-US" altLang="en-US" dirty="0"/>
              <a:t>Directory Organization</a:t>
            </a:r>
            <a:endParaRPr lang="en-US" altLang="en-US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0150" y="1296242"/>
            <a:ext cx="6386356" cy="4491609"/>
          </a:xfrm>
        </p:spPr>
        <p:txBody>
          <a:bodyPr/>
          <a:lstStyle/>
          <a:p>
            <a:r>
              <a:rPr lang="en-US" altLang="en-US" dirty="0"/>
              <a:t>Efficiency – locating a file quickly</a:t>
            </a:r>
            <a:endParaRPr lang="en-US" altLang="en-US" dirty="0"/>
          </a:p>
          <a:p>
            <a:r>
              <a:rPr lang="en-US" altLang="en-US" dirty="0"/>
              <a:t>Naming – convenient to users</a:t>
            </a:r>
            <a:endParaRPr lang="en-US" altLang="en-US" dirty="0"/>
          </a:p>
          <a:p>
            <a:pPr lvl="1"/>
            <a:r>
              <a:rPr lang="en-US" altLang="en-US" dirty="0"/>
              <a:t>Two users can have same name for different files</a:t>
            </a:r>
            <a:endParaRPr lang="en-US" altLang="en-US" dirty="0"/>
          </a:p>
          <a:p>
            <a:pPr lvl="1"/>
            <a:r>
              <a:rPr lang="en-US" altLang="en-US" dirty="0"/>
              <a:t>The same file can have several different names</a:t>
            </a:r>
            <a:endParaRPr lang="en-US" altLang="en-US" dirty="0"/>
          </a:p>
          <a:p>
            <a:r>
              <a:rPr lang="en-US" altLang="en-US" dirty="0"/>
              <a:t>Grouping – logical grouping of files by properties, (e.g., all Java programs, all games, …)</a:t>
            </a:r>
            <a:endParaRPr lang="en-US" altLang="en-US" dirty="0"/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900113" y="933228"/>
            <a:ext cx="7188200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dirty="0">
                <a:latin typeface="Helvetica" pitchFamily="2" charset="0"/>
              </a:rPr>
              <a:t>The directory is organized logically to obtain </a:t>
            </a:r>
            <a:endParaRPr lang="en-US" altLang="en-US" sz="170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921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Single-Level Directory</a:t>
            </a:r>
            <a:endParaRPr lang="en-US" altLang="en-US" sz="2400" dirty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5663" y="981273"/>
            <a:ext cx="7275512" cy="4130675"/>
          </a:xfrm>
        </p:spPr>
        <p:txBody>
          <a:bodyPr/>
          <a:lstStyle/>
          <a:p>
            <a:r>
              <a:rPr lang="en-US" altLang="en-US" dirty="0"/>
              <a:t>A single directory for all users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Naming problem</a:t>
            </a:r>
            <a:endParaRPr lang="en-US" altLang="en-US" dirty="0"/>
          </a:p>
          <a:p>
            <a:r>
              <a:rPr lang="en-US" altLang="en-US" dirty="0"/>
              <a:t>Grouping problem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27652" name="Rectangle 5"/>
          <p:cNvSpPr>
            <a:spLocks noChangeArrowheads="1"/>
          </p:cNvSpPr>
          <p:nvPr/>
        </p:nvSpPr>
        <p:spPr bwMode="auto">
          <a:xfrm>
            <a:off x="1050925" y="3746500"/>
            <a:ext cx="4406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2000">
              <a:latin typeface="Helvetica" pitchFamily="2" charset="0"/>
            </a:endParaRPr>
          </a:p>
        </p:txBody>
      </p:sp>
      <p:pic>
        <p:nvPicPr>
          <p:cNvPr id="27653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475" y="1517015"/>
            <a:ext cx="6804660" cy="1344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29207" y="1140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Directory</a:t>
            </a:r>
            <a:endParaRPr lang="en-US" altLang="en-US" sz="2400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313" y="939910"/>
            <a:ext cx="7869237" cy="555625"/>
          </a:xfrm>
        </p:spPr>
        <p:txBody>
          <a:bodyPr/>
          <a:lstStyle/>
          <a:p>
            <a:r>
              <a:rPr lang="en-US" altLang="en-US" dirty="0"/>
              <a:t>Separate directory for each user</a:t>
            </a:r>
            <a:endParaRPr lang="en-US" altLang="en-US" dirty="0"/>
          </a:p>
        </p:txBody>
      </p:sp>
      <p:sp>
        <p:nvSpPr>
          <p:cNvPr id="28676" name="Rectangle 5"/>
          <p:cNvSpPr>
            <a:spLocks noChangeArrowheads="1"/>
          </p:cNvSpPr>
          <p:nvPr/>
        </p:nvSpPr>
        <p:spPr bwMode="auto">
          <a:xfrm>
            <a:off x="854075" y="3739838"/>
            <a:ext cx="7002463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>
                <a:latin typeface="Helvetica" pitchFamily="2" charset="0"/>
              </a:rPr>
              <a:t>Path name</a:t>
            </a:r>
            <a:endParaRPr kumimoji="1" lang="en-US" altLang="en-US" sz="1700" dirty="0">
              <a:latin typeface="Helvetica" pitchFamily="2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>
                <a:latin typeface="Helvetica" pitchFamily="2" charset="0"/>
              </a:rPr>
              <a:t>Can have the same file name for different user</a:t>
            </a:r>
            <a:endParaRPr kumimoji="1" lang="en-US" altLang="en-US" sz="1700" dirty="0">
              <a:latin typeface="Helvetica" pitchFamily="2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>
                <a:latin typeface="Helvetica" pitchFamily="2" charset="0"/>
              </a:rPr>
              <a:t>Efficient searching</a:t>
            </a:r>
            <a:endParaRPr kumimoji="1" lang="en-US" altLang="en-US" sz="1700" dirty="0">
              <a:latin typeface="Helvetica" pitchFamily="2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>
                <a:latin typeface="Helvetica" pitchFamily="2" charset="0"/>
              </a:rPr>
              <a:t>No grouping capability</a:t>
            </a:r>
            <a:endParaRPr kumimoji="1" lang="en-US" altLang="en-US" sz="1700" dirty="0">
              <a:latin typeface="Helvetica" pitchFamily="2" charset="0"/>
            </a:endParaRPr>
          </a:p>
        </p:txBody>
      </p:sp>
      <p:pic>
        <p:nvPicPr>
          <p:cNvPr id="28677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265" y="1466850"/>
            <a:ext cx="6846570" cy="2037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85193" y="14422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Tree-Structured Directories</a:t>
            </a:r>
            <a:endParaRPr lang="en-US" altLang="en-US" dirty="0"/>
          </a:p>
        </p:txBody>
      </p:sp>
      <p:pic>
        <p:nvPicPr>
          <p:cNvPr id="29699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740" y="1135380"/>
            <a:ext cx="7342505" cy="4436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513186" y="14125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Acyclic-Graph Directories</a:t>
            </a:r>
            <a:endParaRPr lang="en-US" altLang="en-US" sz="2400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867" y="1093788"/>
            <a:ext cx="7029450" cy="522287"/>
          </a:xfrm>
        </p:spPr>
        <p:txBody>
          <a:bodyPr/>
          <a:lstStyle/>
          <a:p>
            <a:r>
              <a:rPr lang="en-US" altLang="en-US" dirty="0"/>
              <a:t>Have shared subdirectories and files</a:t>
            </a:r>
            <a:endParaRPr lang="en-US" altLang="en-US" dirty="0"/>
          </a:p>
          <a:p>
            <a:r>
              <a:rPr lang="en-US" altLang="en-US" dirty="0"/>
              <a:t>Example</a:t>
            </a:r>
            <a:endParaRPr lang="en-US" altLang="en-US" dirty="0"/>
          </a:p>
        </p:txBody>
      </p:sp>
      <p:pic>
        <p:nvPicPr>
          <p:cNvPr id="32772" name="Picture 7" descr="1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910" y="1992630"/>
            <a:ext cx="5021580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11238" y="189247"/>
            <a:ext cx="77184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Acyclic-Graph Directories (Cont.)</a:t>
            </a:r>
            <a:endParaRPr lang="en-US" altLang="en-US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3264" y="1120775"/>
            <a:ext cx="7564437" cy="4530725"/>
          </a:xfrm>
        </p:spPr>
        <p:txBody>
          <a:bodyPr/>
          <a:lstStyle/>
          <a:p>
            <a:r>
              <a:rPr lang="en-US" altLang="en-US" dirty="0"/>
              <a:t>Two different names (aliasing)</a:t>
            </a:r>
            <a:endParaRPr lang="en-US" altLang="en-US" dirty="0"/>
          </a:p>
          <a:p>
            <a:r>
              <a:rPr lang="en-US" altLang="en-US" dirty="0"/>
              <a:t>If </a:t>
            </a:r>
            <a:r>
              <a:rPr lang="en-US" altLang="en-US" b="1" i="1" dirty="0" err="1"/>
              <a:t>dict</a:t>
            </a:r>
            <a:r>
              <a:rPr lang="en-US" altLang="en-US" dirty="0"/>
              <a:t> deletes </a:t>
            </a:r>
            <a:r>
              <a:rPr lang="en-US" altLang="en-US" b="1" dirty="0"/>
              <a:t>w</a:t>
            </a:r>
            <a:r>
              <a:rPr lang="en-US" altLang="en-US" dirty="0"/>
              <a:t>/</a:t>
            </a:r>
            <a:r>
              <a:rPr lang="en-US" altLang="en-US" b="1" i="1" dirty="0"/>
              <a:t>list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 dangling pointer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	Solutions:</a:t>
            </a:r>
            <a:endParaRPr lang="en-US" altLang="en-US" dirty="0"/>
          </a:p>
          <a:p>
            <a:pPr lvl="1"/>
            <a:r>
              <a:rPr lang="en-US" altLang="en-US" dirty="0" err="1"/>
              <a:t>Backpointers</a:t>
            </a:r>
            <a:r>
              <a:rPr lang="en-US" altLang="en-US" dirty="0"/>
              <a:t>, so we can delete all pointers.</a:t>
            </a:r>
            <a:endParaRPr lang="en-US" altLang="en-US" dirty="0"/>
          </a:p>
          <a:p>
            <a:pPr lvl="2"/>
            <a:r>
              <a:rPr lang="en-US" altLang="en-US" dirty="0"/>
              <a:t>Variable size records a problem</a:t>
            </a:r>
            <a:endParaRPr lang="en-US" altLang="en-US" dirty="0"/>
          </a:p>
          <a:p>
            <a:pPr lvl="1"/>
            <a:r>
              <a:rPr lang="en-US" altLang="en-US" dirty="0" err="1"/>
              <a:t>Backpointers</a:t>
            </a:r>
            <a:r>
              <a:rPr lang="en-US" altLang="en-US" dirty="0"/>
              <a:t> using a daisy chain organization</a:t>
            </a:r>
            <a:endParaRPr lang="en-US" altLang="en-US" dirty="0"/>
          </a:p>
          <a:p>
            <a:pPr lvl="1"/>
            <a:r>
              <a:rPr lang="en-US" altLang="en-US" dirty="0"/>
              <a:t>Entry-hold-count solution</a:t>
            </a:r>
            <a:endParaRPr lang="en-US" altLang="en-US" dirty="0"/>
          </a:p>
          <a:p>
            <a:r>
              <a:rPr lang="en-US" altLang="en-US" dirty="0"/>
              <a:t>New directory entry type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Link</a:t>
            </a:r>
            <a:r>
              <a:rPr lang="en-US" altLang="en-US" dirty="0"/>
              <a:t> – another name (pointer) to an existing file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Resolve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the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link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follow pointer to locate the file</a:t>
            </a:r>
            <a:endParaRPr lang="en-US" altLang="en-US" b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974302" y="83937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General Graph Directory</a:t>
            </a:r>
            <a:endParaRPr lang="en-US" altLang="en-US" sz="2400" dirty="0"/>
          </a:p>
        </p:txBody>
      </p:sp>
      <p:pic>
        <p:nvPicPr>
          <p:cNvPr id="34819" name="Picture 6" descr="1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350" y="1226185"/>
            <a:ext cx="7128510" cy="422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989401" y="144225"/>
            <a:ext cx="77073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General Graph Directory (Cont.)</a:t>
            </a:r>
            <a:endParaRPr lang="en-US" altLang="en-US" dirty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0675" y="1022086"/>
            <a:ext cx="7707312" cy="4530725"/>
          </a:xfrm>
        </p:spPr>
        <p:txBody>
          <a:bodyPr/>
          <a:lstStyle/>
          <a:p>
            <a:r>
              <a:rPr lang="en-US" altLang="en-US" dirty="0"/>
              <a:t>How do we guarantee no cycles?</a:t>
            </a:r>
            <a:endParaRPr lang="en-US" altLang="en-US" dirty="0"/>
          </a:p>
          <a:p>
            <a:pPr lvl="1"/>
            <a:r>
              <a:rPr lang="en-US" altLang="en-US" dirty="0"/>
              <a:t>Allow only links to files not subdirectories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Garbage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collection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Every time a new link is added use a cycle detection algorithm to determine whether it is OK</a:t>
            </a:r>
            <a:endParaRPr lang="en-US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952877" y="9377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Current Directory</a:t>
            </a:r>
            <a:endParaRPr lang="en-US" altLang="en-US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5737" y="944595"/>
            <a:ext cx="7560310" cy="4978400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 dirty="0"/>
              <a:t>Can designate one of the directories as the current (working) directory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/spell/mail/prog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 list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 dirty="0"/>
              <a:t>Creating and deleting a file is done in current directory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 dirty="0"/>
              <a:t>Example of creating a new file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 dirty="0"/>
              <a:t>If in current directory  is  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/mail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 dirty="0"/>
              <a:t>The command </a:t>
            </a:r>
            <a:endParaRPr lang="en-US" altLang="en-US" dirty="0"/>
          </a:p>
          <a:p>
            <a:pPr marL="0" indent="0">
              <a:lnSpc>
                <a:spcPct val="90000"/>
              </a:lnSpc>
              <a:buNone/>
              <a:tabLst>
                <a:tab pos="2857500" algn="ctr"/>
              </a:tabLst>
            </a:pPr>
            <a:r>
              <a:rPr lang="en-US" altLang="en-US" dirty="0"/>
              <a:t>                  </a:t>
            </a:r>
            <a:r>
              <a:rPr lang="en-US" altLang="en-US" b="1" dirty="0" err="1"/>
              <a:t>mkdir</a:t>
            </a:r>
            <a:r>
              <a:rPr lang="en-US" altLang="en-US" b="1" dirty="0"/>
              <a:t> &lt;</a:t>
            </a:r>
            <a:r>
              <a:rPr lang="en-US" altLang="en-US" b="1" dirty="0" err="1"/>
              <a:t>dir</a:t>
            </a:r>
            <a:r>
              <a:rPr lang="en-US" altLang="en-US" b="1" dirty="0"/>
              <a:t>-name&gt;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 dirty="0"/>
              <a:t>Results in: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2857500" algn="ctr"/>
              </a:tabLst>
            </a:pPr>
            <a:endParaRPr lang="en-US" altLang="en-US" dirty="0"/>
          </a:p>
          <a:p>
            <a:pPr lvl="1">
              <a:lnSpc>
                <a:spcPct val="90000"/>
              </a:lnSpc>
              <a:tabLst>
                <a:tab pos="2857500" algn="ctr"/>
              </a:tabLst>
            </a:pPr>
            <a:endParaRPr lang="en-US" altLang="en-US" dirty="0"/>
          </a:p>
          <a:p>
            <a:pPr lvl="1">
              <a:lnSpc>
                <a:spcPct val="90000"/>
              </a:lnSpc>
              <a:tabLst>
                <a:tab pos="2857500" algn="ctr"/>
              </a:tabLst>
            </a:pPr>
            <a:endParaRPr lang="en-US" altLang="en-US" dirty="0"/>
          </a:p>
          <a:p>
            <a:pPr lvl="1">
              <a:lnSpc>
                <a:spcPct val="90000"/>
              </a:lnSpc>
              <a:tabLst>
                <a:tab pos="2857500" algn="ctr"/>
              </a:tabLst>
            </a:pPr>
            <a:endParaRPr lang="en-US" altLang="en-US" dirty="0"/>
          </a:p>
          <a:p>
            <a:pPr lvl="1"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 dirty="0">
                <a:latin typeface="Helvetica" pitchFamily="2" charset="0"/>
              </a:rPr>
              <a:t>Deleting </a:t>
            </a:r>
            <a:r>
              <a:rPr lang="ja-JP" altLang="en-US" dirty="0">
                <a:latin typeface="Helvetica" pitchFamily="2" charset="0"/>
              </a:rPr>
              <a:t>“</a:t>
            </a:r>
            <a:r>
              <a:rPr lang="en-US" altLang="ja-JP" dirty="0">
                <a:latin typeface="Helvetica" pitchFamily="2" charset="0"/>
              </a:rPr>
              <a:t>mail</a:t>
            </a:r>
            <a:r>
              <a:rPr lang="ja-JP" altLang="en-US" dirty="0">
                <a:latin typeface="Helvetica" pitchFamily="2" charset="0"/>
              </a:rPr>
              <a:t>”</a:t>
            </a:r>
            <a:r>
              <a:rPr lang="en-US" altLang="ja-JP" dirty="0">
                <a:latin typeface="Helvetica" pitchFamily="2" charset="0"/>
              </a:rPr>
              <a:t> </a:t>
            </a:r>
            <a:r>
              <a:rPr lang="en-US" altLang="ja-JP" dirty="0">
                <a:latin typeface="Helvetica" pitchFamily="2" charset="0"/>
                <a:sym typeface="Symbol" panose="05050102010706020507" pitchFamily="18" charset="2"/>
              </a:rPr>
              <a:t> deleting the entire subtree rooted by </a:t>
            </a:r>
            <a:r>
              <a:rPr lang="ja-JP" altLang="en-US" dirty="0">
                <a:latin typeface="Helvetica" pitchFamily="2" charset="0"/>
                <a:sym typeface="Symbol" panose="05050102010706020507" pitchFamily="18" charset="2"/>
              </a:rPr>
              <a:t>“</a:t>
            </a:r>
            <a:r>
              <a:rPr lang="en-US" altLang="ja-JP" dirty="0">
                <a:latin typeface="Helvetica" pitchFamily="2" charset="0"/>
                <a:sym typeface="Symbol" panose="05050102010706020507" pitchFamily="18" charset="2"/>
              </a:rPr>
              <a:t>mail</a:t>
            </a:r>
            <a:r>
              <a:rPr lang="ja-JP" altLang="en-US" dirty="0">
                <a:latin typeface="Helvetica" pitchFamily="2" charset="0"/>
                <a:sym typeface="Symbol" panose="05050102010706020507" pitchFamily="18" charset="2"/>
              </a:rPr>
              <a:t>”</a:t>
            </a:r>
            <a:endParaRPr lang="en-US" altLang="en-US" dirty="0">
              <a:latin typeface="Helvetica" pitchFamily="2" charset="0"/>
            </a:endParaRPr>
          </a:p>
          <a:p>
            <a:pPr>
              <a:lnSpc>
                <a:spcPct val="90000"/>
              </a:lnSpc>
              <a:tabLst>
                <a:tab pos="2857500" algn="ctr"/>
              </a:tabLst>
            </a:pPr>
            <a:endParaRPr lang="en-US" altLang="en-US" dirty="0"/>
          </a:p>
          <a:p>
            <a:pPr marL="342900" lvl="1" indent="-342900">
              <a:lnSpc>
                <a:spcPct val="90000"/>
              </a:lnSpc>
              <a:buClr>
                <a:srgbClr val="993300"/>
              </a:buClr>
              <a:buSzPct val="90000"/>
              <a:buFont typeface="Monotype Sorts" pitchFamily="-84" charset="2"/>
              <a:buNone/>
              <a:tabLst>
                <a:tab pos="2857500" algn="ctr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748" name="Rectangle 11"/>
          <p:cNvSpPr>
            <a:spLocks noChangeArrowheads="1"/>
          </p:cNvSpPr>
          <p:nvPr/>
        </p:nvSpPr>
        <p:spPr bwMode="auto">
          <a:xfrm>
            <a:off x="852488" y="5109210"/>
            <a:ext cx="7423150" cy="786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2000" dirty="0">
              <a:latin typeface="Helvetica" pitchFamily="2" charset="0"/>
            </a:endParaRPr>
          </a:p>
        </p:txBody>
      </p:sp>
      <p:pic>
        <p:nvPicPr>
          <p:cNvPr id="31749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122" y="4016957"/>
            <a:ext cx="2384809" cy="87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373221" y="1347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</a:t>
            </a:r>
            <a:endParaRPr lang="en-US" alt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6300" y="951528"/>
            <a:ext cx="7451725" cy="4530725"/>
          </a:xfrm>
        </p:spPr>
        <p:txBody>
          <a:bodyPr/>
          <a:lstStyle/>
          <a:p>
            <a:r>
              <a:rPr lang="en-US" altLang="en-US" dirty="0"/>
              <a:t>File owner/creator should be able to control:</a:t>
            </a:r>
            <a:endParaRPr lang="en-US" altLang="en-US" dirty="0"/>
          </a:p>
          <a:p>
            <a:pPr lvl="1"/>
            <a:r>
              <a:rPr lang="en-US" altLang="en-US" dirty="0"/>
              <a:t>What can be done</a:t>
            </a:r>
            <a:endParaRPr lang="en-US" altLang="en-US" dirty="0"/>
          </a:p>
          <a:p>
            <a:pPr lvl="1"/>
            <a:r>
              <a:rPr lang="en-US" altLang="en-US" dirty="0"/>
              <a:t>By whom</a:t>
            </a:r>
            <a:endParaRPr lang="en-US" altLang="en-US" dirty="0"/>
          </a:p>
          <a:p>
            <a:r>
              <a:rPr lang="en-US" altLang="en-US" dirty="0"/>
              <a:t>Types of access</a:t>
            </a:r>
            <a:endParaRPr lang="en-US" altLang="en-US" dirty="0"/>
          </a:p>
          <a:p>
            <a:pPr lvl="1"/>
            <a:r>
              <a:rPr lang="en-US" altLang="en-US" b="1" dirty="0"/>
              <a:t>Read</a:t>
            </a:r>
            <a:endParaRPr lang="en-US" altLang="en-US" b="1" dirty="0"/>
          </a:p>
          <a:p>
            <a:pPr lvl="1"/>
            <a:r>
              <a:rPr lang="en-US" altLang="en-US" b="1" dirty="0"/>
              <a:t>Write</a:t>
            </a:r>
            <a:endParaRPr lang="en-US" altLang="en-US" b="1" dirty="0"/>
          </a:p>
          <a:p>
            <a:pPr lvl="1"/>
            <a:r>
              <a:rPr lang="en-US" altLang="en-US" b="1" dirty="0"/>
              <a:t>Execute</a:t>
            </a:r>
            <a:endParaRPr lang="en-US" altLang="en-US" b="1" dirty="0"/>
          </a:p>
          <a:p>
            <a:pPr lvl="1"/>
            <a:r>
              <a:rPr lang="en-US" altLang="en-US" b="1" dirty="0"/>
              <a:t>Append</a:t>
            </a:r>
            <a:endParaRPr lang="en-US" altLang="en-US" b="1" dirty="0"/>
          </a:p>
          <a:p>
            <a:pPr lvl="1"/>
            <a:r>
              <a:rPr lang="en-US" altLang="en-US" b="1" dirty="0"/>
              <a:t>Delete</a:t>
            </a:r>
            <a:endParaRPr lang="en-US" altLang="en-US" b="1" dirty="0"/>
          </a:p>
          <a:p>
            <a:pPr lvl="1"/>
            <a:r>
              <a:rPr lang="en-US" altLang="en-US" b="1" dirty="0"/>
              <a:t>List</a:t>
            </a:r>
            <a:endParaRPr lang="en-US" altLang="en-US" b="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7264" y="146872"/>
            <a:ext cx="7642549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Access Lists and Groups in Unix</a:t>
            </a:r>
            <a:endParaRPr lang="en-US" altLang="en-US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6300" y="941480"/>
            <a:ext cx="7342188" cy="3575050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833245" algn="l"/>
                <a:tab pos="4458970" algn="l"/>
                <a:tab pos="5195570" algn="l"/>
                <a:tab pos="5887720" algn="l"/>
              </a:tabLst>
            </a:pPr>
            <a:r>
              <a:rPr lang="en-US" altLang="en-US" dirty="0"/>
              <a:t>Mode of access:  read, write, execute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1833245" algn="l"/>
                <a:tab pos="4458970" algn="l"/>
                <a:tab pos="5195570" algn="l"/>
                <a:tab pos="5887720" algn="l"/>
              </a:tabLst>
            </a:pPr>
            <a:r>
              <a:rPr lang="en-US" altLang="en-US" dirty="0"/>
              <a:t>Three classes of users on Unix / Linux</a:t>
            </a:r>
            <a:endParaRPr lang="en-US" altLang="en-US" dirty="0"/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1833245" algn="l"/>
                <a:tab pos="4458970" algn="l"/>
                <a:tab pos="5195570" algn="l"/>
                <a:tab pos="5887720" algn="l"/>
              </a:tabLst>
            </a:pPr>
            <a:r>
              <a:rPr lang="en-US" altLang="en-US" sz="1600" dirty="0"/>
              <a:t>	</a:t>
            </a:r>
            <a:r>
              <a:rPr lang="en-US" altLang="en-US" sz="800" dirty="0"/>
              <a:t>	</a:t>
            </a:r>
            <a:r>
              <a:rPr lang="en-US" altLang="en-US" sz="1600" dirty="0"/>
              <a:t>			RWX</a:t>
            </a:r>
            <a:endParaRPr lang="en-US" altLang="en-US" sz="1600" dirty="0"/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1833245" algn="l"/>
                <a:tab pos="4458970" algn="l"/>
                <a:tab pos="5195570" algn="l"/>
                <a:tab pos="5887720" algn="l"/>
              </a:tabLst>
            </a:pPr>
            <a:r>
              <a:rPr lang="en-US" altLang="en-US" sz="1600" dirty="0"/>
              <a:t>		a) </a:t>
            </a:r>
            <a:r>
              <a:rPr lang="en-US" altLang="en-US" sz="1600" b="1" dirty="0"/>
              <a:t>owner access</a:t>
            </a:r>
            <a:r>
              <a:rPr lang="en-US" altLang="en-US" sz="1600" dirty="0"/>
              <a:t> 	7	</a:t>
            </a:r>
            <a:r>
              <a:rPr lang="en-US" altLang="en-US" sz="1600" dirty="0">
                <a:sym typeface="Symbol" panose="05050102010706020507" pitchFamily="18" charset="2"/>
              </a:rPr>
              <a:t>	1 1 1</a:t>
            </a:r>
            <a:br>
              <a:rPr lang="en-US" altLang="en-US" sz="1600" dirty="0">
                <a:sym typeface="Symbol" panose="05050102010706020507" pitchFamily="18" charset="2"/>
              </a:rPr>
            </a:br>
            <a:r>
              <a:rPr lang="en-US" altLang="en-US" sz="1600" dirty="0">
                <a:sym typeface="Symbol" panose="05050102010706020507" pitchFamily="18" charset="2"/>
              </a:rPr>
              <a:t>				RWX</a:t>
            </a:r>
            <a:endParaRPr lang="en-US" altLang="en-US" sz="16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1833245" algn="l"/>
                <a:tab pos="4458970" algn="l"/>
                <a:tab pos="5195570" algn="l"/>
                <a:tab pos="5887720" algn="l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		b) </a:t>
            </a:r>
            <a:r>
              <a:rPr lang="en-US" altLang="en-US" sz="1600" b="1" dirty="0">
                <a:sym typeface="Symbol" panose="05050102010706020507" pitchFamily="18" charset="2"/>
              </a:rPr>
              <a:t>group access</a:t>
            </a:r>
            <a:r>
              <a:rPr lang="en-US" altLang="en-US" sz="1600" dirty="0">
                <a:sym typeface="Symbol" panose="05050102010706020507" pitchFamily="18" charset="2"/>
              </a:rPr>
              <a:t> 	6	 	1 1 0</a:t>
            </a:r>
            <a:endParaRPr lang="en-US" altLang="en-US" sz="16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1833245" algn="l"/>
                <a:tab pos="4458970" algn="l"/>
                <a:tab pos="5195570" algn="l"/>
                <a:tab pos="5887720" algn="l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					RWX</a:t>
            </a:r>
            <a:endParaRPr lang="en-US" altLang="en-US" sz="16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1833245" algn="l"/>
                <a:tab pos="4458970" algn="l"/>
                <a:tab pos="5195570" algn="l"/>
                <a:tab pos="5887720" algn="l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		c) </a:t>
            </a:r>
            <a:r>
              <a:rPr lang="en-US" altLang="en-US" sz="1600" b="1" dirty="0">
                <a:sym typeface="Symbol" panose="05050102010706020507" pitchFamily="18" charset="2"/>
              </a:rPr>
              <a:t>public access</a:t>
            </a:r>
            <a:r>
              <a:rPr lang="en-US" altLang="en-US" sz="1600" dirty="0">
                <a:sym typeface="Symbol" panose="05050102010706020507" pitchFamily="18" charset="2"/>
              </a:rPr>
              <a:t>	1	 	0 0 1</a:t>
            </a:r>
            <a:endParaRPr lang="en-US" altLang="en-US" sz="16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833245" algn="l"/>
                <a:tab pos="4458970" algn="l"/>
                <a:tab pos="5195570" algn="l"/>
                <a:tab pos="5887720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Ask manager to create a group (unique name), say G, and add some users to the group.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833245" algn="l"/>
                <a:tab pos="4458970" algn="l"/>
                <a:tab pos="5195570" algn="l"/>
                <a:tab pos="5887720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For a file (say </a:t>
            </a:r>
            <a:r>
              <a:rPr lang="en-US" altLang="en-US" i="1" dirty="0">
                <a:sym typeface="Symbol" panose="05050102010706020507" pitchFamily="18" charset="2"/>
              </a:rPr>
              <a:t>game</a:t>
            </a:r>
            <a:r>
              <a:rPr lang="en-US" altLang="en-US" dirty="0">
                <a:sym typeface="Symbol" panose="05050102010706020507" pitchFamily="18" charset="2"/>
              </a:rPr>
              <a:t>) or subdirectory, define an appropriate access.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833245" algn="l"/>
                <a:tab pos="4458970" algn="l"/>
                <a:tab pos="5195570" algn="l"/>
                <a:tab pos="5887720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833245" algn="l"/>
                <a:tab pos="4458970" algn="l"/>
                <a:tab pos="5195570" algn="l"/>
                <a:tab pos="5887720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833245" algn="l"/>
                <a:tab pos="4458970" algn="l"/>
                <a:tab pos="5195570" algn="l"/>
                <a:tab pos="5887720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833245" algn="l"/>
                <a:tab pos="4458970" algn="l"/>
                <a:tab pos="5195570" algn="l"/>
                <a:tab pos="5887720" algn="l"/>
              </a:tabLst>
            </a:pPr>
            <a:r>
              <a:rPr kumimoji="1" lang="en-US" altLang="en-US" dirty="0">
                <a:latin typeface="Arial" panose="020B0604020202020204" pitchFamily="34" charset="0"/>
                <a:sym typeface="Symbol" panose="05050102010706020507" pitchFamily="18" charset="2"/>
              </a:rPr>
              <a:t>Attach a group to a file</a:t>
            </a: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44036" name="Rectangle 13"/>
          <p:cNvSpPr>
            <a:spLocks noChangeArrowheads="1"/>
          </p:cNvSpPr>
          <p:nvPr/>
        </p:nvSpPr>
        <p:spPr bwMode="auto">
          <a:xfrm>
            <a:off x="-291397" y="4923697"/>
            <a:ext cx="5536642" cy="834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1833245" algn="l"/>
                <a:tab pos="4458970" algn="l"/>
                <a:tab pos="5195570" algn="l"/>
                <a:tab pos="588772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1833245" algn="l"/>
                <a:tab pos="4458970" algn="l"/>
                <a:tab pos="5195570" algn="l"/>
                <a:tab pos="588772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1833245" algn="l"/>
                <a:tab pos="4458970" algn="l"/>
                <a:tab pos="5195570" algn="l"/>
                <a:tab pos="588772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1833245" algn="l"/>
                <a:tab pos="4458970" algn="l"/>
                <a:tab pos="5195570" algn="l"/>
                <a:tab pos="588772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1833245" algn="l"/>
                <a:tab pos="4458970" algn="l"/>
                <a:tab pos="5195570" algn="l"/>
                <a:tab pos="588772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245" algn="l"/>
                <a:tab pos="4458970" algn="l"/>
                <a:tab pos="5195570" algn="l"/>
                <a:tab pos="588772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245" algn="l"/>
                <a:tab pos="4458970" algn="l"/>
                <a:tab pos="5195570" algn="l"/>
                <a:tab pos="588772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245" algn="l"/>
                <a:tab pos="4458970" algn="l"/>
                <a:tab pos="5195570" algn="l"/>
                <a:tab pos="588772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245" algn="l"/>
                <a:tab pos="4458970" algn="l"/>
                <a:tab pos="5195570" algn="l"/>
                <a:tab pos="588772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Font typeface="Monotype Sorts" pitchFamily="-84" charset="2"/>
              <a:buNone/>
            </a:pPr>
            <a:br>
              <a:rPr kumimoji="1" lang="en-US" altLang="en-US" dirty="0">
                <a:latin typeface="Arial" panose="020B0604020202020204" pitchFamily="34" charset="0"/>
                <a:sym typeface="Symbol" panose="05050102010706020507" pitchFamily="18" charset="2"/>
              </a:rPr>
            </a:br>
            <a:r>
              <a:rPr kumimoji="1" lang="en-US" altLang="en-US" dirty="0">
                <a:latin typeface="Arial" panose="020B0604020202020204" pitchFamily="34" charset="0"/>
                <a:sym typeface="Symbol" panose="05050102010706020507" pitchFamily="18" charset="2"/>
              </a:rPr>
              <a:t>	         </a:t>
            </a:r>
            <a:r>
              <a:rPr kumimoji="1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chgrp</a:t>
            </a:r>
            <a:r>
              <a:rPr kumimoji="1"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    G    game</a:t>
            </a:r>
            <a:endParaRPr kumimoji="1" lang="en-US" altLang="en-US" b="1" dirty="0">
              <a:latin typeface="Courier New" panose="02070309020205020404" pitchFamily="49" charset="0"/>
              <a:cs typeface="Courier New" panose="02070309020205020404" pitchFamily="49" charset="0"/>
              <a:sym typeface="Symbol" panose="05050102010706020507" pitchFamily="18" charset="2"/>
            </a:endParaRPr>
          </a:p>
        </p:txBody>
      </p:sp>
      <p:pic>
        <p:nvPicPr>
          <p:cNvPr id="44037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712" y="3989199"/>
            <a:ext cx="2034886" cy="758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949325" y="118391"/>
            <a:ext cx="77374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 Sample UNIX Directory Listing</a:t>
            </a:r>
            <a:endParaRPr lang="en-US" altLang="en-US" dirty="0"/>
          </a:p>
        </p:txBody>
      </p:sp>
      <p:pic>
        <p:nvPicPr>
          <p:cNvPr id="46083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" t="27065" r="722" b="27065"/>
          <a:stretch>
            <a:fillRect/>
          </a:stretch>
        </p:blipFill>
        <p:spPr>
          <a:xfrm>
            <a:off x="660400" y="1452880"/>
            <a:ext cx="7964170" cy="2567940"/>
          </a:xfr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166203" y="99588"/>
            <a:ext cx="7864475" cy="609600"/>
          </a:xfrm>
        </p:spPr>
        <p:txBody>
          <a:bodyPr/>
          <a:lstStyle/>
          <a:p>
            <a:pPr eaLnBrk="1" hangingPunct="1"/>
            <a:r>
              <a:rPr lang="en-US" altLang="en-US" sz="2700" dirty="0"/>
              <a:t>Windows 7 Access-Control List Management</a:t>
            </a:r>
            <a:endParaRPr lang="en-US" altLang="en-US" sz="2700" dirty="0"/>
          </a:p>
        </p:txBody>
      </p:sp>
      <p:pic>
        <p:nvPicPr>
          <p:cNvPr id="45059" name="Picture 2" descr="11_16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8595" y="965200"/>
            <a:ext cx="4039870" cy="5560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2736850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Memory-Mapped Files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1422400" y="2851150"/>
            <a:ext cx="6845300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81438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End of Chapter 13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8817</Words>
  <Application>WPS 演示</Application>
  <PresentationFormat>On-screen Show (4:3)</PresentationFormat>
  <Paragraphs>375</Paragraphs>
  <Slides>40</Slides>
  <Notes>40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63" baseType="lpstr">
      <vt:lpstr>Arial</vt:lpstr>
      <vt:lpstr>宋体</vt:lpstr>
      <vt:lpstr>Wingdings</vt:lpstr>
      <vt:lpstr>Verdana</vt:lpstr>
      <vt:lpstr>MS PGothic</vt:lpstr>
      <vt:lpstr>Times New Roman</vt:lpstr>
      <vt:lpstr>Helvetica</vt:lpstr>
      <vt:lpstr>Webdings</vt:lpstr>
      <vt:lpstr>黑体</vt:lpstr>
      <vt:lpstr>Comic Sans MS</vt:lpstr>
      <vt:lpstr>Consolas</vt:lpstr>
      <vt:lpstr>Calibri</vt:lpstr>
      <vt:lpstr>微软雅黑</vt:lpstr>
      <vt:lpstr>Arial Unicode MS</vt:lpstr>
      <vt:lpstr>Monotype Sorts</vt:lpstr>
      <vt:lpstr>Wingdings</vt:lpstr>
      <vt:lpstr>Courier New</vt:lpstr>
      <vt:lpstr>Symbol</vt:lpstr>
      <vt:lpstr>Helvetica LT Pro</vt:lpstr>
      <vt:lpstr>Toots Regular</vt:lpstr>
      <vt:lpstr>os-8</vt:lpstr>
      <vt:lpstr>Acrobat.Document.DC</vt:lpstr>
      <vt:lpstr>AcroExch.Document.DC</vt:lpstr>
      <vt:lpstr>PowerPoint 演示文稿</vt:lpstr>
      <vt:lpstr>Outline</vt:lpstr>
      <vt:lpstr>Objectives</vt:lpstr>
      <vt:lpstr>File Concept</vt:lpstr>
      <vt:lpstr>File Attributes</vt:lpstr>
      <vt:lpstr>File info Window on Mac OS X</vt:lpstr>
      <vt:lpstr>Directory Structure</vt:lpstr>
      <vt:lpstr>File Operations</vt:lpstr>
      <vt:lpstr>Open Files</vt:lpstr>
      <vt:lpstr> File Locking</vt:lpstr>
      <vt:lpstr>File Locking Example – Java API</vt:lpstr>
      <vt:lpstr>File Locking Example – Java API (Cont.)</vt:lpstr>
      <vt:lpstr>File Types – Name, Extension</vt:lpstr>
      <vt:lpstr>File Structure</vt:lpstr>
      <vt:lpstr>Access Methods</vt:lpstr>
      <vt:lpstr>Sequential Access</vt:lpstr>
      <vt:lpstr>Direct Access</vt:lpstr>
      <vt:lpstr>Simulation of Sequential Access on Direct-access File</vt:lpstr>
      <vt:lpstr>Other Access Methods</vt:lpstr>
      <vt:lpstr>Example of Index and Relative Files</vt:lpstr>
      <vt:lpstr>Disk Structure</vt:lpstr>
      <vt:lpstr>A Typical File-system Organization</vt:lpstr>
      <vt:lpstr>Types of File Systems</vt:lpstr>
      <vt:lpstr>Directory Structure</vt:lpstr>
      <vt:lpstr>Operations Performed on Directory</vt:lpstr>
      <vt:lpstr>Directory Organization</vt:lpstr>
      <vt:lpstr>Single-Level Directory</vt:lpstr>
      <vt:lpstr>Two-Level Directory</vt:lpstr>
      <vt:lpstr>Tree-Structured Directories</vt:lpstr>
      <vt:lpstr>Acyclic-Graph Directories</vt:lpstr>
      <vt:lpstr>Acyclic-Graph Directories (Cont.)</vt:lpstr>
      <vt:lpstr>General Graph Directory</vt:lpstr>
      <vt:lpstr>General Graph Directory (Cont.)</vt:lpstr>
      <vt:lpstr>Current Directory</vt:lpstr>
      <vt:lpstr>Protection</vt:lpstr>
      <vt:lpstr>Access Lists and Groups in Unix</vt:lpstr>
      <vt:lpstr>A Sample UNIX Directory Listing</vt:lpstr>
      <vt:lpstr>Windows 7 Access-Control List Management</vt:lpstr>
      <vt:lpstr>Memory-Mapped Files</vt:lpstr>
      <vt:lpstr>End of Chapter 13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MX</cp:lastModifiedBy>
  <cp:revision>307</cp:revision>
  <cp:lastPrinted>2001-06-14T13:58:00Z</cp:lastPrinted>
  <dcterms:created xsi:type="dcterms:W3CDTF">2011-01-13T23:43:00Z</dcterms:created>
  <dcterms:modified xsi:type="dcterms:W3CDTF">2026-05-31T06:48:49Z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AABA38640C6548DE98B11F36AD7D8D3C_13</vt:lpwstr>
  </property>
  <property fmtid="{D5CDD505-2E9C-101B-9397-08002B2CF9AE}" pid="3" name="KSOProductBuildVer">
    <vt:lpwstr>2052-12.1.0.23542</vt:lpwstr>
  </property>
</Properties>
</file>