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56"/>
  </p:handoutMasterIdLst>
  <p:sldIdLst>
    <p:sldId id="331" r:id="rId3"/>
    <p:sldId id="382" r:id="rId5"/>
    <p:sldId id="332" r:id="rId6"/>
    <p:sldId id="333" r:id="rId7"/>
    <p:sldId id="334" r:id="rId8"/>
    <p:sldId id="379" r:id="rId9"/>
    <p:sldId id="335" r:id="rId10"/>
    <p:sldId id="336" r:id="rId11"/>
    <p:sldId id="380" r:id="rId12"/>
    <p:sldId id="337" r:id="rId13"/>
    <p:sldId id="338" r:id="rId14"/>
    <p:sldId id="339" r:id="rId15"/>
    <p:sldId id="340" r:id="rId16"/>
    <p:sldId id="341" r:id="rId17"/>
    <p:sldId id="343" r:id="rId18"/>
    <p:sldId id="376" r:id="rId19"/>
    <p:sldId id="342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64" r:id="rId41"/>
    <p:sldId id="365" r:id="rId42"/>
    <p:sldId id="381" r:id="rId43"/>
    <p:sldId id="375" r:id="rId44"/>
    <p:sldId id="377" r:id="rId45"/>
    <p:sldId id="366" r:id="rId46"/>
    <p:sldId id="367" r:id="rId47"/>
    <p:sldId id="368" r:id="rId48"/>
    <p:sldId id="369" r:id="rId49"/>
    <p:sldId id="370" r:id="rId50"/>
    <p:sldId id="371" r:id="rId51"/>
    <p:sldId id="372" r:id="rId52"/>
    <p:sldId id="373" r:id="rId53"/>
    <p:sldId id="378" r:id="rId54"/>
    <p:sldId id="374" r:id="rId55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3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7" autoAdjust="0"/>
    <p:restoredTop sz="94667"/>
  </p:normalViewPr>
  <p:slideViewPr>
    <p:cSldViewPr snapToGrid="0" showGuides="1">
      <p:cViewPr varScale="1">
        <p:scale>
          <a:sx n="60" d="100"/>
          <a:sy n="60" d="100"/>
        </p:scale>
        <p:origin x="1354" y="58"/>
      </p:cViewPr>
      <p:guideLst>
        <p:guide orient="horz" pos="843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commentAuthors" Target="commentAuthors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.xml"/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 smtClean="0">
                <a:latin typeface="Helvetica" pitchFamily="2" charset="0"/>
              </a:defRPr>
            </a:lvl1pPr>
          </a:lstStyle>
          <a:p>
            <a:pPr>
              <a:defRPr/>
            </a:pPr>
            <a:fld id="{DCE52A29-8E57-49A1-9BFB-0759D880379C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071EC2-0A01-48F9-9CAF-891C8FE56E4E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65E47C-C10F-4992-A271-A5F071BCBF1A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725604-1549-4CCD-8DE5-6FBC0325300D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2BEAA6-E846-4C23-94DC-EA1A7582E535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0980B9-8DA3-429E-B4D6-A8D5F7D522F8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0980B9-8DA3-429E-B4D6-A8D5F7D522F8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6E4A82-2BAA-4814-8D2B-C6FF14C7D755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6367FF-A034-4672-A7A6-EF40FC3647DF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3F45B-459A-489E-BA28-0EAF59E9B988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78F827-A544-4C0F-92F0-46CB0B074831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9C8348-6C41-4D82-8AC3-A58BA10F0B06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1138CC-EDF6-46AC-A83B-23C5A28A0334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F1907E-B10C-4080-801B-933AA1D89504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290DC83-F086-481C-9E2C-49E2EACF66CA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EACE59-2C78-426B-B74D-EEE77C3827E5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FC8B47-27CD-405D-AE07-B238863F1680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FEA45-C62C-4E3D-A1EE-3055F953E8F9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2CE50E-AF65-4F18-91D5-11B5737A8B37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22C2676-A184-4096-970E-352CE78E0C65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97F478-FA7C-43C2-BA40-605438C589DB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6B53B5-87EA-4F1C-8FD3-193D73FE3DB0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355F83-7499-4479-9269-1D792E538D9B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13BD92-EDC9-41D7-A81C-B46DFA5193B2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C91E2A-C3D2-44C0-90B4-6B3DF1745F84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49F411-DD66-41DA-B435-EAEF73B264E1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9F5CF6-25F7-407F-BAB1-1B339958C2C0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79C0CB-7B4C-4BBA-9922-407BDEABF73F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CA17359-27A5-45E5-88A7-ECA8EFB8E133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165ABB-9538-4EAF-A29C-CCB06AA58169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78FC82-3721-4D0D-87B6-C9F4691F7E8F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8BFF21-4A7D-4642-8BC3-A2414822520F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4EB126-06FF-4AB7-B9AE-04E98BFC51EA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D9E2EB-D4D1-4BA3-B56C-6A9927A5166A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3E9513-EBE0-43F1-A70F-602C7C9F595E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310CA9-C82A-4765-A5CD-30E8520E6451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310CA9-C82A-4765-A5CD-30E8520E6451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F6191B-DF42-425E-9AA2-A12BEB4AAC1A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750DDC-AD40-4FDB-A5E3-8037842ED359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54FA8A8-67E3-45F0-B56D-77126B37727B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3E97AD-8B84-44A0-AD54-A928EC7C0CC6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3C1BDE-EA32-4B63-81B3-7DEBC02CD3A1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03ADE5-550D-43EB-852F-E33F981D89AD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B62748-E105-4DF5-A01E-3D117AC1F369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0B6C58-8CEF-4701-90F0-F1E1E6DA2B77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E1F13B-B930-43DE-82B6-A1287E4C1980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8C94CB-3A5B-4E3C-937E-176733C9E57A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D44878-1913-46D9-A963-FCD6845EA189}" type="slidenum">
              <a:rPr lang="en-US" altLang="en-US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229"/>
            <a:ext cx="80772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1618" y="1233488"/>
            <a:ext cx="7692782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12.</a:t>
            </a:r>
            <a:fld id="{CD029894-D5C5-4969-9FFF-8BF12CEA934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/>
              <a:t>Chapter 12:  I/O Systems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62254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12:  </a:t>
            </a: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I/O Systems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903288" y="239554"/>
            <a:ext cx="7783512" cy="576263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latin typeface="Calibri" panose="020F0502020204030204" charset="0"/>
                <a:cs typeface="Calibri" panose="020F0502020204030204" charset="0"/>
              </a:rPr>
              <a:t>Chapter 12:  I/O Systems</a:t>
            </a:r>
            <a:endParaRPr lang="en-US" altLang="en-US" sz="36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82675"/>
            <a:ext cx="7783512" cy="453072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Overview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I/O Hardware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Application I/O Interface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Kernel I/O Subsystem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Transforming I/O Requests to Hardware Operations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STREAMS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Performance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150938"/>
            <a:ext cx="7736438" cy="453072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Explore the structure of an operating system’</a:t>
            </a:r>
            <a:r>
              <a:rPr lang="en-US" altLang="ja-JP" sz="2400" dirty="0">
                <a:latin typeface="Calibri" panose="020F0502020204030204" charset="0"/>
                <a:cs typeface="Calibri" panose="020F0502020204030204" charset="0"/>
              </a:rPr>
              <a:t>s I/O subsystem</a:t>
            </a:r>
            <a:endParaRPr lang="en-US" altLang="ja-JP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Discuss the principles and complexities of I/O hardware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Explain the performance aspects of I/O hardware and software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38972"/>
            <a:ext cx="8229600" cy="576263"/>
          </a:xfrm>
        </p:spPr>
        <p:txBody>
          <a:bodyPr/>
          <a:lstStyle/>
          <a:p>
            <a:r>
              <a:rPr lang="en-US" altLang="en-US" dirty="0"/>
              <a:t>Overview</a:t>
            </a:r>
            <a:endParaRPr lang="en-US" altLang="en-US" dirty="0"/>
          </a:p>
        </p:txBody>
      </p:sp>
      <p:sp>
        <p:nvSpPr>
          <p:cNvPr id="1126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20737" y="1165225"/>
            <a:ext cx="7754095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I/O management is a major component of operating system design and operation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Important aspect of computer operation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I/O devices vary greatly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Various methods to control them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Performance management 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New types of devices frequent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Ports, busses, device controllers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connect to various devices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Device drivers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encapsulate device details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Present</a:t>
            </a:r>
            <a:r>
              <a:rPr lang="en-US" altLang="en-US" sz="2000" b="1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 uniform device-access interface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to I/O subsystem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235603"/>
            <a:ext cx="7985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Hardware</a:t>
            </a:r>
            <a:endParaRPr lang="en-US" altLang="en-US" dirty="0"/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055689"/>
            <a:ext cx="6529388" cy="4760912"/>
          </a:xfrm>
        </p:spPr>
        <p:txBody>
          <a:bodyPr/>
          <a:lstStyle/>
          <a:p>
            <a:r>
              <a:rPr lang="en-US" altLang="en-US" dirty="0"/>
              <a:t>Incredible variety of I/O devices</a:t>
            </a:r>
            <a:endParaRPr lang="en-US" altLang="en-US" dirty="0"/>
          </a:p>
          <a:p>
            <a:pPr lvl="1"/>
            <a:r>
              <a:rPr lang="en-US" altLang="en-US" dirty="0"/>
              <a:t>Storage</a:t>
            </a:r>
            <a:endParaRPr lang="en-US" altLang="en-US" dirty="0"/>
          </a:p>
          <a:p>
            <a:pPr lvl="1"/>
            <a:r>
              <a:rPr lang="en-US" altLang="en-US" dirty="0"/>
              <a:t>Transmission</a:t>
            </a:r>
            <a:endParaRPr lang="en-US" altLang="en-US" dirty="0"/>
          </a:p>
          <a:p>
            <a:pPr lvl="1"/>
            <a:r>
              <a:rPr lang="en-US" altLang="en-US" dirty="0"/>
              <a:t>Human-interface</a:t>
            </a:r>
            <a:endParaRPr lang="en-US" altLang="en-US" dirty="0"/>
          </a:p>
          <a:p>
            <a:r>
              <a:rPr lang="en-US" altLang="en-US" dirty="0"/>
              <a:t>Common concepts – signals from I/O devices interface with computer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connection point for device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Bus</a:t>
            </a:r>
            <a:r>
              <a:rPr lang="en-US" altLang="en-US" dirty="0"/>
              <a:t> -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daisy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chain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shared direct access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PCI</a:t>
            </a:r>
            <a:r>
              <a:rPr lang="en-US" altLang="en-US" dirty="0"/>
              <a:t> bus common in PCs and servers, PCI Express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PCIe</a:t>
            </a:r>
            <a:r>
              <a:rPr lang="en-US" altLang="en-US" dirty="0"/>
              <a:t>) 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expansion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bus</a:t>
            </a:r>
            <a:r>
              <a:rPr lang="en-US" altLang="en-US" dirty="0"/>
              <a:t> connects relatively slow devices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Serial-attached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SCSI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SAS</a:t>
            </a:r>
            <a:r>
              <a:rPr lang="en-US" altLang="en-US" dirty="0"/>
              <a:t>) common disk interface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172103"/>
            <a:ext cx="7985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Hardware (Cont.)</a:t>
            </a:r>
            <a:endParaRPr lang="en-US" altLang="en-US" dirty="0"/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055689"/>
            <a:ext cx="7088188" cy="4938712"/>
          </a:xfrm>
        </p:spPr>
        <p:txBody>
          <a:bodyPr/>
          <a:lstStyle/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Controller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adapter</a:t>
            </a:r>
            <a:r>
              <a:rPr lang="en-US" altLang="en-US" dirty="0"/>
              <a:t>) – electronics that operate port, bus, device</a:t>
            </a:r>
            <a:endParaRPr lang="en-US" altLang="en-US" dirty="0"/>
          </a:p>
          <a:p>
            <a:pPr lvl="2"/>
            <a:r>
              <a:rPr lang="en-US" altLang="en-US" dirty="0"/>
              <a:t>Sometimes integrated</a:t>
            </a:r>
            <a:endParaRPr lang="en-US" altLang="en-US" dirty="0"/>
          </a:p>
          <a:p>
            <a:pPr lvl="2"/>
            <a:r>
              <a:rPr lang="en-US" altLang="en-US" dirty="0"/>
              <a:t>Sometimes separate circuit board (host adapter)</a:t>
            </a:r>
            <a:endParaRPr lang="en-US" altLang="en-US" dirty="0"/>
          </a:p>
          <a:p>
            <a:pPr lvl="2"/>
            <a:r>
              <a:rPr lang="en-US" altLang="en-US" dirty="0"/>
              <a:t>Contains processor, microcode, private memory, bus controller, etc.</a:t>
            </a:r>
            <a:endParaRPr lang="en-US" altLang="en-US" dirty="0"/>
          </a:p>
          <a:p>
            <a:pPr lvl="3"/>
            <a:r>
              <a:rPr lang="en-US" altLang="en-US" dirty="0"/>
              <a:t>Some talk to per-device controller with bus controller, microcode, memory, etc.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58825" y="111972"/>
            <a:ext cx="79279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 Typical PC Bus Structure</a:t>
            </a:r>
            <a:endParaRPr lang="en-US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85" y="1344295"/>
            <a:ext cx="7402195" cy="4620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39554"/>
            <a:ext cx="8229600" cy="576263"/>
          </a:xfrm>
        </p:spPr>
        <p:txBody>
          <a:bodyPr/>
          <a:lstStyle/>
          <a:p>
            <a:r>
              <a:rPr lang="en-US" altLang="en-US" dirty="0"/>
              <a:t>I/O Hardware (Cont.)</a:t>
            </a:r>
            <a:endParaRPr lang="en-US" altLang="en-US" dirty="0"/>
          </a:p>
        </p:txBody>
      </p:sp>
      <p:sp>
        <p:nvSpPr>
          <p:cNvPr id="1638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20738" y="1069975"/>
            <a:ext cx="7026275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Fibre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channel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FC</a:t>
            </a:r>
            <a:r>
              <a:rPr lang="en-US" altLang="en-US" dirty="0"/>
              <a:t>) is complex controller, usually separate circuit board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host-bus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adapter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HBA</a:t>
            </a:r>
            <a:r>
              <a:rPr lang="en-US" altLang="en-US" dirty="0"/>
              <a:t>) plugging into bus</a:t>
            </a:r>
            <a:endParaRPr lang="en-US" altLang="en-US" dirty="0"/>
          </a:p>
          <a:p>
            <a:r>
              <a:rPr lang="en-US" altLang="en-US" dirty="0"/>
              <a:t>I/O instructions control devices</a:t>
            </a:r>
            <a:endParaRPr lang="en-US" altLang="en-US" dirty="0"/>
          </a:p>
          <a:p>
            <a:r>
              <a:rPr lang="en-US" altLang="en-US" dirty="0"/>
              <a:t>Devices usually have registers where device driver places commands, addresses, and data to write, or read data from registers after command execution</a:t>
            </a:r>
            <a:endParaRPr lang="en-US" altLang="en-US" dirty="0"/>
          </a:p>
          <a:p>
            <a:pPr lvl="1"/>
            <a:r>
              <a:rPr lang="en-US" altLang="en-US" dirty="0"/>
              <a:t>Data-in register, data-out register, status register, control register</a:t>
            </a:r>
            <a:endParaRPr lang="en-US" altLang="en-US" dirty="0"/>
          </a:p>
          <a:p>
            <a:pPr lvl="1"/>
            <a:r>
              <a:rPr lang="en-US" altLang="en-US" dirty="0"/>
              <a:t>Typically 1-4 bytes, or FIFO buffer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39554"/>
            <a:ext cx="8229600" cy="576263"/>
          </a:xfrm>
        </p:spPr>
        <p:txBody>
          <a:bodyPr/>
          <a:lstStyle/>
          <a:p>
            <a:r>
              <a:rPr lang="en-US" altLang="en-US" dirty="0"/>
              <a:t>I/O Hardware (Cont.)</a:t>
            </a:r>
            <a:endParaRPr lang="en-US" altLang="en-US" dirty="0"/>
          </a:p>
        </p:txBody>
      </p:sp>
      <p:sp>
        <p:nvSpPr>
          <p:cNvPr id="1638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20738" y="1069975"/>
            <a:ext cx="7026275" cy="4530725"/>
          </a:xfrm>
        </p:spPr>
        <p:txBody>
          <a:bodyPr/>
          <a:lstStyle/>
          <a:p>
            <a:r>
              <a:rPr lang="en-US" altLang="en-US" dirty="0"/>
              <a:t>Devices have addresses, used by </a:t>
            </a:r>
            <a:endParaRPr lang="en-US" altLang="en-US" dirty="0"/>
          </a:p>
          <a:p>
            <a:pPr lvl="1"/>
            <a:r>
              <a:rPr lang="en-US" altLang="en-US" dirty="0"/>
              <a:t>Direct I/O instructions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Device data and command registers mapped to processor address space</a:t>
            </a:r>
            <a:endParaRPr lang="en-US" altLang="en-US" dirty="0">
              <a:solidFill>
                <a:srgbClr val="000000"/>
              </a:solidFill>
            </a:endParaRP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Especially for large address spaces (graphics)</a:t>
            </a:r>
            <a:endParaRPr lang="en-US" altLang="en-US" dirty="0">
              <a:solidFill>
                <a:srgbClr val="000000"/>
              </a:solidFill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9326" y="248303"/>
            <a:ext cx="7620000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Device I/O Port Locations on PCs (partial)</a:t>
            </a:r>
            <a:endParaRPr lang="en-US" altLang="en-US" sz="28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" y="1393825"/>
            <a:ext cx="7909560" cy="4526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Polling</a:t>
            </a:r>
            <a:r>
              <a:rPr lang="en-US" altLang="en-US" dirty="0"/>
              <a:t> </a:t>
            </a:r>
            <a:r>
              <a:rPr lang="en-US" altLang="en-US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(</a:t>
            </a:r>
            <a:r>
              <a:rPr lang="zh-CN" altLang="en-US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轮询</a:t>
            </a:r>
            <a:r>
              <a:rPr lang="en-US" altLang="zh-CN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)</a:t>
            </a:r>
            <a:endParaRPr lang="zh-CN" altLang="en-US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014413"/>
            <a:ext cx="7735888" cy="5127625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MS PGothic" panose="020B0600070205080204" pitchFamily="34" charset="-128"/>
              </a:rPr>
              <a:t>For each byte of I/O</a:t>
            </a:r>
            <a:endParaRPr lang="en-US" dirty="0">
              <a:ea typeface="MS PGothic" panose="020B0600070205080204" pitchFamily="34" charset="-128"/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Read busy bit from status register until 0</a:t>
            </a:r>
            <a:endParaRPr lang="en-US" dirty="0">
              <a:ea typeface="MS PGothic" panose="020B0600070205080204" pitchFamily="34" charset="-128"/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Host sets read or write bit and if write copies data into data-out register</a:t>
            </a:r>
            <a:endParaRPr lang="en-US" dirty="0">
              <a:ea typeface="MS PGothic" panose="020B0600070205080204" pitchFamily="34" charset="-128"/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Host sets command-ready bit</a:t>
            </a:r>
            <a:endParaRPr lang="en-US" dirty="0">
              <a:ea typeface="MS PGothic" panose="020B0600070205080204" pitchFamily="34" charset="-128"/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Controller sets busy bit, executes transfer</a:t>
            </a:r>
            <a:endParaRPr lang="en-US" dirty="0">
              <a:ea typeface="MS PGothic" panose="020B0600070205080204" pitchFamily="34" charset="-128"/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Controller clears busy bit, error bit, command-ready bit when transfer done</a:t>
            </a:r>
            <a:endParaRPr lang="en-US" dirty="0">
              <a:ea typeface="MS PGothic" panose="020B0600070205080204" pitchFamily="34" charset="-128"/>
            </a:endParaRPr>
          </a:p>
          <a:p>
            <a:pPr marL="400050" indent="-342900">
              <a:defRPr/>
            </a:pPr>
            <a:r>
              <a:rPr lang="en-US" dirty="0">
                <a:ea typeface="MS PGothic" panose="020B0600070205080204" pitchFamily="34" charset="-128"/>
              </a:rPr>
              <a:t>Step 1 is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busy-wait</a:t>
            </a:r>
            <a:r>
              <a:rPr lang="en-US" b="1" dirty="0">
                <a:ea typeface="MS PGothic" panose="020B0600070205080204" pitchFamily="34" charset="-128"/>
              </a:rPr>
              <a:t> </a:t>
            </a:r>
            <a:r>
              <a:rPr lang="en-US" dirty="0">
                <a:ea typeface="MS PGothic" panose="020B0600070205080204" pitchFamily="34" charset="-128"/>
              </a:rPr>
              <a:t>cycle to wait for I/O from device</a:t>
            </a:r>
            <a:endParaRPr lang="en-US" dirty="0">
              <a:ea typeface="MS PGothic" panose="020B0600070205080204" pitchFamily="34" charset="-128"/>
            </a:endParaRPr>
          </a:p>
          <a:p>
            <a:pPr marL="800100" lvl="1" indent="-342900">
              <a:defRPr/>
            </a:pPr>
            <a:r>
              <a:rPr lang="en-US" dirty="0">
                <a:ea typeface="MS PGothic" panose="020B0600070205080204" pitchFamily="34" charset="-128"/>
              </a:rPr>
              <a:t>Reasonable if device is fast</a:t>
            </a:r>
            <a:endParaRPr lang="en-US" dirty="0">
              <a:ea typeface="MS PGothic" panose="020B0600070205080204" pitchFamily="34" charset="-128"/>
            </a:endParaRPr>
          </a:p>
          <a:p>
            <a:pPr marL="800100" lvl="1" indent="-342900">
              <a:defRPr/>
            </a:pPr>
            <a:r>
              <a:rPr lang="en-US" dirty="0">
                <a:ea typeface="MS PGothic" panose="020B0600070205080204" pitchFamily="34" charset="-128"/>
              </a:rPr>
              <a:t>But inefficient if device slow</a:t>
            </a:r>
            <a:endParaRPr lang="en-US" dirty="0">
              <a:ea typeface="MS PGothic" panose="020B0600070205080204" pitchFamily="34" charset="-128"/>
            </a:endParaRPr>
          </a:p>
          <a:p>
            <a:pPr marL="800100" lvl="1" indent="-342900">
              <a:defRPr/>
            </a:pPr>
            <a:r>
              <a:rPr lang="en-US" dirty="0">
                <a:ea typeface="MS PGothic" panose="020B0600070205080204" pitchFamily="34" charset="-128"/>
              </a:rPr>
              <a:t>CPU switches to other tasks?</a:t>
            </a:r>
            <a:endParaRPr lang="en-US" dirty="0">
              <a:ea typeface="MS PGothic" panose="020B0600070205080204" pitchFamily="34" charset="-128"/>
            </a:endParaRPr>
          </a:p>
          <a:p>
            <a:pPr marL="1143000" lvl="2" indent="-342900">
              <a:defRPr/>
            </a:pPr>
            <a:r>
              <a:rPr lang="en-US" dirty="0">
                <a:ea typeface="MS PGothic" panose="020B0600070205080204" pitchFamily="34" charset="-128"/>
              </a:rPr>
              <a:t>But if miss a cycle data overwritten / lost</a:t>
            </a:r>
            <a:endParaRPr 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Interrupts (</a:t>
            </a:r>
            <a:r>
              <a:rPr lang="zh-CN" altLang="en-US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中断</a:t>
            </a:r>
            <a:r>
              <a:rPr lang="en-US" altLang="en-US" dirty="0"/>
              <a:t>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1069975"/>
            <a:ext cx="7654925" cy="4948238"/>
          </a:xfrm>
        </p:spPr>
        <p:txBody>
          <a:bodyPr/>
          <a:lstStyle/>
          <a:p>
            <a:r>
              <a:rPr lang="en-US" altLang="en-US" dirty="0"/>
              <a:t>Polling can happen in 3 instruction cycles</a:t>
            </a:r>
            <a:endParaRPr lang="en-US" altLang="en-US" dirty="0"/>
          </a:p>
          <a:p>
            <a:pPr lvl="1"/>
            <a:r>
              <a:rPr lang="en-US" altLang="en-US" dirty="0"/>
              <a:t>Read status, logical-and to extract status bit, branch if not zero</a:t>
            </a:r>
            <a:endParaRPr lang="en-US" altLang="en-US" dirty="0"/>
          </a:p>
          <a:p>
            <a:pPr lvl="1"/>
            <a:r>
              <a:rPr lang="en-US" altLang="en-US" dirty="0"/>
              <a:t>How to be more efficient if non-zero infrequently?</a:t>
            </a:r>
            <a:endParaRPr lang="en-US" altLang="en-US" dirty="0"/>
          </a:p>
          <a:p>
            <a:r>
              <a:rPr lang="en-US" altLang="en-US" dirty="0"/>
              <a:t>CPU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Interrupt-request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line</a:t>
            </a:r>
            <a:r>
              <a:rPr lang="en-US" altLang="en-US" dirty="0"/>
              <a:t> triggered by I/O device</a:t>
            </a:r>
            <a:endParaRPr lang="en-US" altLang="en-US" dirty="0"/>
          </a:p>
          <a:p>
            <a:pPr lvl="1"/>
            <a:r>
              <a:rPr lang="en-US" altLang="en-US" dirty="0"/>
              <a:t>Checked by processor after each instruction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Interrupt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receives interrupts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Maskable</a:t>
            </a:r>
            <a:r>
              <a:rPr lang="en-US" altLang="en-US" dirty="0"/>
              <a:t> to ignore or delay some interrupts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Interrupt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vector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dispatch interrupt to correct handler</a:t>
            </a:r>
            <a:endParaRPr lang="en-US" altLang="en-US" dirty="0"/>
          </a:p>
          <a:p>
            <a:pPr lvl="1"/>
            <a:r>
              <a:rPr lang="en-US" altLang="en-US" dirty="0"/>
              <a:t>Context switch at start and end</a:t>
            </a:r>
            <a:endParaRPr lang="en-US" altLang="en-US" dirty="0"/>
          </a:p>
          <a:p>
            <a:pPr lvl="1"/>
            <a:r>
              <a:rPr lang="en-US" altLang="en-US" dirty="0"/>
              <a:t>Based on priority</a:t>
            </a:r>
            <a:endParaRPr lang="en-US" altLang="en-US" dirty="0"/>
          </a:p>
          <a:p>
            <a:pPr lvl="1"/>
            <a:r>
              <a:rPr lang="en-US" altLang="en-US" dirty="0"/>
              <a:t>Some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nonmaskable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Interrupt chaining if more than one device at same interrupt number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788988" y="233592"/>
            <a:ext cx="78978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Interrupt-Driven I/O Cycle</a:t>
            </a:r>
            <a:endParaRPr lang="en-US" altLang="en-US" sz="24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280" y="1018540"/>
            <a:ext cx="5593715" cy="5513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20892"/>
            <a:ext cx="8229600" cy="576263"/>
          </a:xfrm>
        </p:spPr>
        <p:txBody>
          <a:bodyPr/>
          <a:lstStyle/>
          <a:p>
            <a:r>
              <a:rPr lang="en-US" altLang="en-US" dirty="0"/>
              <a:t>Interrupts (Cont.)</a:t>
            </a:r>
            <a:endParaRPr lang="en-US" altLang="en-US" dirty="0"/>
          </a:p>
        </p:txBody>
      </p:sp>
      <p:sp>
        <p:nvSpPr>
          <p:cNvPr id="2560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0425" y="1165225"/>
            <a:ext cx="6864350" cy="4530725"/>
          </a:xfrm>
        </p:spPr>
        <p:txBody>
          <a:bodyPr/>
          <a:lstStyle/>
          <a:p>
            <a:r>
              <a:rPr lang="en-US" altLang="en-US" dirty="0"/>
              <a:t>Interrupt mechanism also used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exceptions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Terminate process, crash system due to hardware error</a:t>
            </a:r>
            <a:endParaRPr lang="en-US" altLang="en-US" dirty="0"/>
          </a:p>
          <a:p>
            <a:r>
              <a:rPr lang="en-US" altLang="en-US" dirty="0"/>
              <a:t>Page fault executes when memory access error</a:t>
            </a:r>
            <a:endParaRPr lang="en-US" altLang="en-US" dirty="0"/>
          </a:p>
          <a:p>
            <a:r>
              <a:rPr lang="en-US" altLang="en-US" dirty="0"/>
              <a:t>System call executes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trap</a:t>
            </a:r>
            <a:r>
              <a:rPr lang="en-US" altLang="en-US" dirty="0"/>
              <a:t> to trigger kernel to execute request</a:t>
            </a:r>
            <a:endParaRPr lang="en-US" altLang="en-US" dirty="0"/>
          </a:p>
          <a:p>
            <a:r>
              <a:rPr lang="en-US" altLang="en-US" dirty="0"/>
              <a:t>Multi-CPU systems can process interrupts concurrently</a:t>
            </a:r>
            <a:endParaRPr lang="en-US" altLang="en-US" dirty="0"/>
          </a:p>
          <a:p>
            <a:pPr lvl="1"/>
            <a:r>
              <a:rPr lang="en-US" altLang="en-US" dirty="0"/>
              <a:t>If operating system designed to handle it</a:t>
            </a:r>
            <a:endParaRPr lang="en-US" altLang="en-US" dirty="0"/>
          </a:p>
          <a:p>
            <a:r>
              <a:rPr lang="en-US" altLang="en-US" dirty="0"/>
              <a:t>Used for time-sensitive processing, frequent, must be fast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Latency</a:t>
            </a:r>
            <a:endParaRPr lang="en-US" altLang="en-US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1069975"/>
            <a:ext cx="7654925" cy="4948238"/>
          </a:xfrm>
        </p:spPr>
        <p:txBody>
          <a:bodyPr/>
          <a:lstStyle/>
          <a:p>
            <a:r>
              <a:rPr lang="en-US" altLang="en-US"/>
              <a:t>Stressing interrupt management because even single-user systems manage hundreds or interrupts per second and servers hundreds of thousands</a:t>
            </a:r>
            <a:endParaRPr lang="en-US" altLang="en-US"/>
          </a:p>
          <a:p>
            <a:r>
              <a:rPr lang="en-US" altLang="en-US">
                <a:solidFill>
                  <a:srgbClr val="000000"/>
                </a:solidFill>
              </a:rPr>
              <a:t>For example, a quiet macOS desktop generated 23,000 interrupts over 10 seconds</a:t>
            </a:r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2816225"/>
            <a:ext cx="5105400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1096602" y="253454"/>
            <a:ext cx="7661275" cy="56038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Intel Pentium Processor Event-Vector Table</a:t>
            </a:r>
            <a:endParaRPr lang="en-US" altLang="en-US" sz="2800" dirty="0"/>
          </a:p>
        </p:txBody>
      </p:sp>
      <p:pic>
        <p:nvPicPr>
          <p:cNvPr id="2867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" y="941705"/>
            <a:ext cx="6989445" cy="5610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700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Direct Memory Access</a:t>
            </a:r>
            <a:r>
              <a:rPr lang="en-US" altLang="en-US" dirty="0"/>
              <a:t> 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直接内存访问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9610" y="990600"/>
            <a:ext cx="7881620" cy="5095875"/>
          </a:xfrm>
        </p:spPr>
        <p:txBody>
          <a:bodyPr/>
          <a:lstStyle/>
          <a:p>
            <a:r>
              <a:rPr lang="en-US" altLang="en-US" dirty="0"/>
              <a:t>Used to avoid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programmed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</a:t>
            </a:r>
            <a:r>
              <a:rPr lang="en-US" altLang="en-US" dirty="0"/>
              <a:t> (one byte at a time) for large data movement </a:t>
            </a:r>
            <a:endParaRPr lang="en-US" altLang="en-US" dirty="0"/>
          </a:p>
          <a:p>
            <a:r>
              <a:rPr lang="en-US" altLang="en-US" dirty="0"/>
              <a:t>Requires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DMA</a:t>
            </a:r>
            <a:r>
              <a:rPr lang="en-US" altLang="en-US" dirty="0"/>
              <a:t> controller</a:t>
            </a:r>
            <a:endParaRPr lang="en-US" altLang="en-US" dirty="0"/>
          </a:p>
          <a:p>
            <a:r>
              <a:rPr lang="en-US" altLang="en-US" dirty="0"/>
              <a:t>Bypasses CPU to transfer data directly between I/O device and memory </a:t>
            </a:r>
            <a:endParaRPr lang="en-US" altLang="en-US" sz="800" dirty="0"/>
          </a:p>
          <a:p>
            <a:r>
              <a:rPr lang="en-US" altLang="en-US" dirty="0"/>
              <a:t>OS writes DMA command block into memory </a:t>
            </a:r>
            <a:endParaRPr lang="en-US" altLang="en-US" dirty="0"/>
          </a:p>
          <a:p>
            <a:pPr lvl="1"/>
            <a:r>
              <a:rPr lang="en-US" altLang="en-US" sz="1600" dirty="0"/>
              <a:t>Source and destination addresses</a:t>
            </a:r>
            <a:endParaRPr lang="en-US" altLang="en-US" sz="1600" dirty="0"/>
          </a:p>
          <a:p>
            <a:pPr lvl="1"/>
            <a:r>
              <a:rPr lang="en-US" altLang="en-US" sz="1600" dirty="0"/>
              <a:t>Read or write mode</a:t>
            </a:r>
            <a:endParaRPr lang="en-US" altLang="en-US" sz="1600" dirty="0"/>
          </a:p>
          <a:p>
            <a:pPr lvl="1"/>
            <a:r>
              <a:rPr lang="en-US" altLang="en-US" sz="1600" dirty="0"/>
              <a:t>Count of bytes</a:t>
            </a:r>
            <a:endParaRPr lang="en-US" altLang="en-US" sz="1600" dirty="0"/>
          </a:p>
          <a:p>
            <a:pPr lvl="1"/>
            <a:r>
              <a:rPr lang="en-US" altLang="en-US" sz="1600" dirty="0"/>
              <a:t>Writes location of command block to DMA controller</a:t>
            </a:r>
            <a:endParaRPr lang="en-US" altLang="en-US" sz="1600" dirty="0"/>
          </a:p>
          <a:p>
            <a:pPr lvl="1"/>
            <a:r>
              <a:rPr lang="en-US" altLang="en-US" sz="1600" dirty="0"/>
              <a:t>Bus mastering of DMA controller – grabs bus from CPU</a:t>
            </a:r>
            <a:endParaRPr lang="en-US" altLang="en-US" sz="1600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Cycle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stealing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from CPU but still much more efficient</a:t>
            </a:r>
            <a:endParaRPr lang="en-US" altLang="en-US" sz="1600" dirty="0"/>
          </a:p>
          <a:p>
            <a:pPr lvl="1"/>
            <a:r>
              <a:rPr lang="en-US" altLang="en-US" sz="1600" dirty="0"/>
              <a:t>When done, interrupts to signal completion</a:t>
            </a:r>
            <a:endParaRPr lang="en-US" altLang="en-US" dirty="0"/>
          </a:p>
          <a:p>
            <a:r>
              <a:rPr lang="en-US" altLang="en-US" dirty="0"/>
              <a:t>Version that is aware of virtual addresses can be even more efficient -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DVMA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" y="635"/>
            <a:ext cx="8462645" cy="6857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5042535" y="5767705"/>
            <a:ext cx="3684270" cy="856615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atin typeface="Calibri" panose="020F0502020204030204" charset="0"/>
                <a:cs typeface="Calibri" panose="020F0502020204030204" charset="0"/>
              </a:rPr>
              <a:t>Six Step Process to Perform DMA Transfer</a:t>
            </a:r>
            <a:endParaRPr lang="en-US" altLang="en-US" sz="28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229641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Application I/O Interface</a:t>
            </a:r>
            <a:endParaRPr lang="en-US" altLang="en-US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028700"/>
            <a:ext cx="7737475" cy="4530725"/>
          </a:xfrm>
        </p:spPr>
        <p:txBody>
          <a:bodyPr/>
          <a:lstStyle/>
          <a:p>
            <a:r>
              <a:rPr lang="en-US" altLang="en-US" dirty="0"/>
              <a:t>I/O system calls encapsulate device behaviors in generic classes</a:t>
            </a:r>
            <a:endParaRPr lang="en-US" altLang="en-US" dirty="0"/>
          </a:p>
          <a:p>
            <a:r>
              <a:rPr lang="en-US" altLang="en-US" dirty="0"/>
              <a:t>Device-driver layer hides differences among I/O controllers from kernel</a:t>
            </a:r>
            <a:endParaRPr lang="en-US" altLang="en-US" dirty="0"/>
          </a:p>
          <a:p>
            <a:r>
              <a:rPr lang="en-US" altLang="en-US" dirty="0"/>
              <a:t>New devices talking already-implemented protocols need no extra work</a:t>
            </a:r>
            <a:endParaRPr lang="en-US" altLang="en-US" dirty="0"/>
          </a:p>
          <a:p>
            <a:r>
              <a:rPr lang="en-US" altLang="en-US" dirty="0"/>
              <a:t>Each OS has its own I/O subsystem structures and device driver frameworks</a:t>
            </a:r>
            <a:endParaRPr lang="en-US" altLang="en-US" dirty="0"/>
          </a:p>
          <a:p>
            <a:r>
              <a:rPr lang="en-US" altLang="en-US" dirty="0"/>
              <a:t>Devices vary in many dimensions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Character-stream</a:t>
            </a:r>
            <a:r>
              <a:rPr lang="en-US" altLang="en-US" b="1" dirty="0"/>
              <a:t>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Sequential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random-access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Synchronous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(or both)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Sharable</a:t>
            </a:r>
            <a:r>
              <a:rPr lang="en-US" altLang="en-US" b="1" dirty="0"/>
              <a:t>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dedicated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Speed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 operation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read-write</a:t>
            </a:r>
            <a:r>
              <a:rPr lang="en-US" altLang="en-US" b="1" dirty="0"/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 only</a:t>
            </a:r>
            <a:r>
              <a:rPr lang="en-US" altLang="en-US" b="1" dirty="0"/>
              <a:t>,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only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 Kernel I/O Structure</a:t>
            </a:r>
            <a:endParaRPr lang="en-US" altLang="en-US" sz="2400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55675"/>
            <a:ext cx="7658100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325" y="219499"/>
            <a:ext cx="7772400" cy="598487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Characteristics of I/O Devices</a:t>
            </a:r>
            <a:endParaRPr lang="en-US" altLang="en-US" sz="2400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40" y="1094740"/>
            <a:ext cx="7719695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 noChangeArrowheads="1"/>
          </p:cNvSpPr>
          <p:nvPr>
            <p:ph type="title"/>
          </p:nvPr>
        </p:nvSpPr>
        <p:spPr>
          <a:xfrm>
            <a:off x="1028408" y="233592"/>
            <a:ext cx="7689850" cy="576263"/>
          </a:xfrm>
        </p:spPr>
        <p:txBody>
          <a:bodyPr/>
          <a:lstStyle/>
          <a:p>
            <a:r>
              <a:rPr lang="en-US" altLang="en-US" dirty="0"/>
              <a:t>Characteristics of I/O Devices (Cont.)</a:t>
            </a:r>
            <a:endParaRPr lang="en-US" altLang="en-US" dirty="0"/>
          </a:p>
        </p:txBody>
      </p:sp>
      <p:sp>
        <p:nvSpPr>
          <p:cNvPr id="4096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85775" y="982663"/>
            <a:ext cx="8447088" cy="5075237"/>
          </a:xfrm>
        </p:spPr>
        <p:txBody>
          <a:bodyPr/>
          <a:lstStyle/>
          <a:p>
            <a:r>
              <a:rPr lang="en-US" altLang="en-US"/>
              <a:t>Subtleties of devices handled by device drivers</a:t>
            </a:r>
            <a:endParaRPr lang="en-US" altLang="en-US"/>
          </a:p>
          <a:p>
            <a:r>
              <a:rPr lang="en-US" altLang="en-US"/>
              <a:t>Broadly I/O devices can be grouped by the OS into</a:t>
            </a:r>
            <a:endParaRPr lang="en-US" altLang="en-US"/>
          </a:p>
          <a:p>
            <a:pPr lvl="1"/>
            <a:r>
              <a:rPr lang="en-US" altLang="en-US"/>
              <a:t>Block I/O</a:t>
            </a:r>
            <a:endParaRPr lang="en-US" altLang="en-US"/>
          </a:p>
          <a:p>
            <a:pPr lvl="1"/>
            <a:r>
              <a:rPr lang="en-US" altLang="en-US"/>
              <a:t>Character I/O (Stream)</a:t>
            </a:r>
            <a:endParaRPr lang="en-US" altLang="en-US"/>
          </a:p>
          <a:p>
            <a:pPr lvl="1"/>
            <a:r>
              <a:rPr lang="en-US" altLang="en-US"/>
              <a:t>Memory-mapped file access</a:t>
            </a:r>
            <a:endParaRPr lang="en-US" altLang="en-US"/>
          </a:p>
          <a:p>
            <a:pPr lvl="1"/>
            <a:r>
              <a:rPr lang="en-US" altLang="en-US"/>
              <a:t>Network sockets</a:t>
            </a:r>
            <a:endParaRPr lang="en-US" altLang="en-US"/>
          </a:p>
          <a:p>
            <a:r>
              <a:rPr lang="en-US" altLang="en-US"/>
              <a:t>For direct manipulation of I/O device specific characteristics, usually an escape / back door</a:t>
            </a:r>
            <a:endParaRPr lang="en-US" altLang="en-US"/>
          </a:p>
          <a:p>
            <a:pPr lvl="1"/>
            <a:r>
              <a:rPr lang="en-US" altLang="en-US"/>
              <a:t>Unix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ioctl()</a:t>
            </a:r>
            <a:r>
              <a:rPr lang="en-US" altLang="en-US" b="1"/>
              <a:t> </a:t>
            </a:r>
            <a:r>
              <a:rPr lang="en-US" altLang="en-US"/>
              <a:t>call to send arbitrary bits to a device control register and data to device data register</a:t>
            </a:r>
            <a:endParaRPr lang="en-US" altLang="en-US"/>
          </a:p>
          <a:p>
            <a:r>
              <a:rPr lang="en-US" altLang="en-US"/>
              <a:t>UNIX and Linux use tuple of “major” and “minor” device numbers to identify type and instance of devices (here major 8 and minors 0-4)</a:t>
            </a:r>
            <a:br>
              <a:rPr lang="en-US" altLang="en-US"/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% ls –l /dev/sda*</a:t>
            </a: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5356225"/>
            <a:ext cx="52451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846138" y="239554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Block and Character Devices</a:t>
            </a:r>
            <a:endParaRPr lang="en-US" altLang="en-US" dirty="0"/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150938"/>
            <a:ext cx="6864350" cy="4530725"/>
          </a:xfrm>
        </p:spPr>
        <p:txBody>
          <a:bodyPr/>
          <a:lstStyle/>
          <a:p>
            <a:r>
              <a:rPr lang="en-US" altLang="en-US" dirty="0"/>
              <a:t>Block devices include disk drives</a:t>
            </a:r>
            <a:endParaRPr lang="en-US" altLang="en-US" dirty="0"/>
          </a:p>
          <a:p>
            <a:pPr lvl="1"/>
            <a:r>
              <a:rPr lang="en-US" altLang="en-US" dirty="0"/>
              <a:t>Commands include read, write, seek 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direct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file-system access</a:t>
            </a:r>
            <a:endParaRPr lang="en-US" altLang="en-US" dirty="0"/>
          </a:p>
          <a:p>
            <a:pPr lvl="1"/>
            <a:r>
              <a:rPr lang="en-US" altLang="en-US" dirty="0"/>
              <a:t>Memory-mapped file access possible</a:t>
            </a:r>
            <a:endParaRPr lang="en-US" altLang="en-US" dirty="0"/>
          </a:p>
          <a:p>
            <a:pPr lvl="2"/>
            <a:r>
              <a:rPr lang="en-US" altLang="en-US" dirty="0"/>
              <a:t>File mapped to virtual memory and clusters brought via demand paging</a:t>
            </a:r>
            <a:endParaRPr lang="en-US" altLang="en-US" dirty="0"/>
          </a:p>
          <a:p>
            <a:pPr lvl="1"/>
            <a:r>
              <a:rPr lang="en-US" altLang="en-US" dirty="0"/>
              <a:t>DMA</a:t>
            </a:r>
            <a:endParaRPr lang="en-US" altLang="en-US" dirty="0"/>
          </a:p>
          <a:p>
            <a:r>
              <a:rPr lang="en-US" altLang="en-US" dirty="0"/>
              <a:t>Character devices include keyboards, mice, serial ports</a:t>
            </a:r>
            <a:endParaRPr lang="en-US" altLang="en-US" dirty="0"/>
          </a:p>
          <a:p>
            <a:pPr lvl="1"/>
            <a:r>
              <a:rPr lang="en-US" altLang="en-US" dirty="0"/>
              <a:t>Commands include </a:t>
            </a:r>
            <a:r>
              <a:rPr lang="en-US" altLang="en-US" sz="2000" b="1" dirty="0">
                <a:latin typeface="Courier New" panose="02070309020205020404" pitchFamily="49" charset="0"/>
              </a:rPr>
              <a:t>get()</a:t>
            </a:r>
            <a:r>
              <a:rPr lang="en-US" altLang="en-US" sz="2000" dirty="0">
                <a:latin typeface="Courier New" panose="02070309020205020404" pitchFamily="49" charset="0"/>
              </a:rPr>
              <a:t>, </a:t>
            </a:r>
            <a:r>
              <a:rPr lang="en-US" altLang="en-US" sz="2000" b="1" dirty="0">
                <a:latin typeface="Courier New" panose="02070309020205020404" pitchFamily="49" charset="0"/>
              </a:rPr>
              <a:t>put()</a:t>
            </a:r>
            <a:endParaRPr lang="en-US" altLang="en-US" sz="2000" b="1" dirty="0"/>
          </a:p>
          <a:p>
            <a:pPr lvl="1"/>
            <a:r>
              <a:rPr lang="en-US" altLang="en-US" dirty="0"/>
              <a:t>Libraries layered on top allow line editing</a:t>
            </a: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Network Devices</a:t>
            </a:r>
            <a:endParaRPr lang="en-US" altLang="en-US" dirty="0"/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2175" y="1290955"/>
            <a:ext cx="7672705" cy="402653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Varying enough from block and character to have own interface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Linux, Unix, Windows and many others include </a:t>
            </a:r>
            <a:r>
              <a:rPr lang="en-US" altLang="en-US" sz="24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socket</a:t>
            </a:r>
            <a:r>
              <a:rPr lang="en-US" altLang="en-US" sz="24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interface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Separates network protocol from network operation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Includes </a:t>
            </a:r>
            <a:r>
              <a:rPr lang="en-US" altLang="en-US" sz="2400" b="1" dirty="0">
                <a:latin typeface="Calibri" panose="020F0502020204030204" charset="0"/>
                <a:cs typeface="Calibri" panose="020F0502020204030204" charset="0"/>
              </a:rPr>
              <a:t>select()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 functionality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Approaches vary widely (pipes, FIFOs, streams, queues, mailboxes)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Clocks and Timers</a:t>
            </a:r>
            <a:endParaRPr lang="en-US" altLang="en-US" dirty="0"/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738" y="1150938"/>
            <a:ext cx="6548437" cy="4530725"/>
          </a:xfrm>
        </p:spPr>
        <p:txBody>
          <a:bodyPr/>
          <a:lstStyle/>
          <a:p>
            <a:r>
              <a:rPr lang="en-US" altLang="en-US" dirty="0"/>
              <a:t>Provide current time, elapsed time, timer</a:t>
            </a:r>
            <a:endParaRPr lang="en-US" altLang="en-US" dirty="0"/>
          </a:p>
          <a:p>
            <a:r>
              <a:rPr lang="en-US" altLang="en-US" dirty="0"/>
              <a:t>Normal resolution about 1/60 second</a:t>
            </a:r>
            <a:endParaRPr lang="en-US" altLang="en-US" dirty="0"/>
          </a:p>
          <a:p>
            <a:r>
              <a:rPr lang="en-US" altLang="en-US" dirty="0"/>
              <a:t>Some systems provide higher-resolution timers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Programmable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interval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timer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used for timings, periodic interrupts</a:t>
            </a:r>
            <a:endParaRPr lang="en-US" altLang="en-US" dirty="0"/>
          </a:p>
          <a:p>
            <a:r>
              <a:rPr lang="en-US" altLang="en-US" sz="2000" b="1" dirty="0" err="1">
                <a:latin typeface="Courier New" panose="02070309020205020404" pitchFamily="49" charset="0"/>
              </a:rPr>
              <a:t>ioctl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  <a:r>
              <a:rPr lang="en-US" altLang="en-US" b="1" dirty="0"/>
              <a:t> </a:t>
            </a:r>
            <a:r>
              <a:rPr lang="en-US" altLang="en-US" dirty="0"/>
              <a:t>(on UNIX) covers odd aspects of I/O such as clocks and timers</a:t>
            </a: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579" y="247880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Nonblocking and Asynchronous I/O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738" y="1150938"/>
            <a:ext cx="6877050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altLang="en-US" b="1" dirty="0"/>
              <a:t> </a:t>
            </a:r>
            <a:r>
              <a:rPr lang="en-US" altLang="en-US" dirty="0"/>
              <a:t>- process suspended until I/O completed</a:t>
            </a:r>
            <a:endParaRPr lang="en-US" altLang="en-US" dirty="0"/>
          </a:p>
          <a:p>
            <a:pPr lvl="1"/>
            <a:r>
              <a:rPr lang="en-US" altLang="en-US" dirty="0"/>
              <a:t>Easy to use and understand</a:t>
            </a:r>
            <a:endParaRPr lang="en-US" altLang="en-US" dirty="0"/>
          </a:p>
          <a:p>
            <a:pPr lvl="1"/>
            <a:r>
              <a:rPr lang="en-US" altLang="en-US" dirty="0"/>
              <a:t>Insufficient for some needs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Nonblocking</a:t>
            </a:r>
            <a:r>
              <a:rPr lang="en-US" altLang="en-US" dirty="0"/>
              <a:t> - I/O call returns as much as available</a:t>
            </a:r>
            <a:endParaRPr lang="en-US" altLang="en-US" dirty="0"/>
          </a:p>
          <a:p>
            <a:pPr lvl="1"/>
            <a:r>
              <a:rPr lang="en-US" altLang="en-US" dirty="0"/>
              <a:t>User interface, data copy (buffered I/O)</a:t>
            </a:r>
            <a:endParaRPr lang="en-US" altLang="en-US" dirty="0"/>
          </a:p>
          <a:p>
            <a:pPr lvl="1"/>
            <a:r>
              <a:rPr lang="en-US" altLang="en-US" dirty="0"/>
              <a:t>Implemented via multi-threading</a:t>
            </a:r>
            <a:endParaRPr lang="en-US" altLang="en-US" dirty="0"/>
          </a:p>
          <a:p>
            <a:pPr lvl="1"/>
            <a:r>
              <a:rPr lang="en-US" altLang="en-US" dirty="0"/>
              <a:t>Returns quickly with count of bytes read or written</a:t>
            </a:r>
            <a:endParaRPr lang="en-US" altLang="en-US" dirty="0"/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select() </a:t>
            </a:r>
            <a:r>
              <a:rPr lang="en-US" altLang="en-US" dirty="0"/>
              <a:t>to find if data ready then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lang="en-US" altLang="en-US" sz="2000" b="1" dirty="0"/>
              <a:t> </a:t>
            </a:r>
            <a:r>
              <a:rPr lang="en-US" altLang="en-US" dirty="0"/>
              <a:t>or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altLang="en-US" sz="2000" b="1" dirty="0"/>
              <a:t> </a:t>
            </a:r>
            <a:r>
              <a:rPr lang="en-US" altLang="en-US" dirty="0"/>
              <a:t>to transfer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dirty="0"/>
              <a:t> - process runs while I/O executes</a:t>
            </a:r>
            <a:endParaRPr lang="en-US" altLang="en-US" dirty="0"/>
          </a:p>
          <a:p>
            <a:pPr lvl="1"/>
            <a:r>
              <a:rPr lang="en-US" altLang="en-US" dirty="0"/>
              <a:t>Difficult to use</a:t>
            </a:r>
            <a:endParaRPr lang="en-US" altLang="en-US" dirty="0"/>
          </a:p>
          <a:p>
            <a:pPr lvl="1"/>
            <a:r>
              <a:rPr lang="en-US" altLang="en-US" dirty="0"/>
              <a:t>I/O subsystem signals process when I/O completed</a:t>
            </a: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426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 I/O Methods</a:t>
            </a:r>
            <a:endParaRPr lang="en-US" altLang="en-US" dirty="0"/>
          </a:p>
        </p:txBody>
      </p:sp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2716213" y="4981575"/>
            <a:ext cx="1735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Synchronous</a:t>
            </a:r>
            <a:endParaRPr kumimoji="0" lang="en-US" altLang="en-US"/>
          </a:p>
        </p:txBody>
      </p:sp>
      <p:sp>
        <p:nvSpPr>
          <p:cNvPr id="50179" name="Text Box 5"/>
          <p:cNvSpPr txBox="1">
            <a:spLocks noChangeArrowheads="1"/>
          </p:cNvSpPr>
          <p:nvPr/>
        </p:nvSpPr>
        <p:spPr bwMode="auto">
          <a:xfrm>
            <a:off x="5429250" y="5000625"/>
            <a:ext cx="308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Asynchronous</a:t>
            </a:r>
            <a:endParaRPr kumimoji="0" lang="en-US" altLang="en-US"/>
          </a:p>
        </p:txBody>
      </p:sp>
      <p:pic>
        <p:nvPicPr>
          <p:cNvPr id="5018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40765"/>
            <a:ext cx="8378190" cy="4585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671219" y="224261"/>
            <a:ext cx="78009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Vectored I/O</a:t>
            </a:r>
            <a:endParaRPr lang="en-US" altLang="en-US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138238"/>
            <a:ext cx="6877050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Vectored I/O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allows one system call to perform multiple I/O operations</a:t>
            </a:r>
            <a:endParaRPr lang="en-US" altLang="en-US" dirty="0"/>
          </a:p>
          <a:p>
            <a:r>
              <a:rPr lang="en-US" altLang="en-US" dirty="0"/>
              <a:t>For example, Unix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readve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accepts a vector of multiple buffers to read into or write from</a:t>
            </a:r>
            <a:endParaRPr lang="en-US" altLang="en-US" dirty="0"/>
          </a:p>
          <a:p>
            <a:r>
              <a:rPr lang="en-US" altLang="en-US" dirty="0"/>
              <a:t>This scatter-gather method better than multiple individual I/O calls</a:t>
            </a:r>
            <a:endParaRPr lang="en-US" altLang="en-US" dirty="0"/>
          </a:p>
          <a:p>
            <a:pPr lvl="1"/>
            <a:r>
              <a:rPr lang="en-US" altLang="en-US" dirty="0"/>
              <a:t>Decreases context switching and system call overhead</a:t>
            </a:r>
            <a:endParaRPr lang="en-US" altLang="en-US" dirty="0"/>
          </a:p>
          <a:p>
            <a:pPr lvl="1"/>
            <a:r>
              <a:rPr lang="en-US" altLang="en-US" dirty="0"/>
              <a:t>Some versions provide atomicity</a:t>
            </a:r>
            <a:endParaRPr lang="en-US" altLang="en-US" dirty="0"/>
          </a:p>
          <a:p>
            <a:pPr lvl="2"/>
            <a:r>
              <a:rPr lang="en-US" altLang="en-US" dirty="0"/>
              <a:t>Avoid for example worry about multiple threads changing data as reads / writes occurring </a:t>
            </a: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735951" y="238549"/>
            <a:ext cx="782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Kernel I/O Subsystem</a:t>
            </a:r>
            <a:endParaRPr lang="en-US" altLang="en-US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01713"/>
            <a:ext cx="7627938" cy="4826000"/>
          </a:xfrm>
        </p:spPr>
        <p:txBody>
          <a:bodyPr/>
          <a:lstStyle/>
          <a:p>
            <a:r>
              <a:rPr lang="en-US" altLang="en-US" dirty="0"/>
              <a:t>Scheduling</a:t>
            </a:r>
            <a:endParaRPr lang="en-US" altLang="en-US" dirty="0"/>
          </a:p>
          <a:p>
            <a:pPr lvl="1"/>
            <a:r>
              <a:rPr lang="en-US" altLang="en-US" dirty="0"/>
              <a:t>Some I/O request ordering via per-device queue</a:t>
            </a:r>
            <a:endParaRPr lang="en-US" altLang="en-US" dirty="0"/>
          </a:p>
          <a:p>
            <a:pPr lvl="1"/>
            <a:r>
              <a:rPr lang="en-US" altLang="en-US" dirty="0"/>
              <a:t>Some OSs try fairness</a:t>
            </a:r>
            <a:endParaRPr lang="en-US" altLang="en-US" dirty="0"/>
          </a:p>
          <a:p>
            <a:pPr lvl="1"/>
            <a:r>
              <a:rPr lang="en-US" altLang="en-US" dirty="0"/>
              <a:t>Some implement Quality Of Service (i.e. IPQOS)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 - store data in memory while transferring between devices</a:t>
            </a:r>
            <a:endParaRPr lang="en-US" altLang="en-US" dirty="0"/>
          </a:p>
          <a:p>
            <a:pPr lvl="1"/>
            <a:r>
              <a:rPr lang="en-US" altLang="en-US" dirty="0"/>
              <a:t>To cope with device speed mismatch</a:t>
            </a:r>
            <a:endParaRPr lang="en-US" altLang="en-US" dirty="0"/>
          </a:p>
          <a:p>
            <a:pPr lvl="1"/>
            <a:r>
              <a:rPr lang="en-US" altLang="en-US" dirty="0"/>
              <a:t>To cope with device transfer size mismatch</a:t>
            </a:r>
            <a:endParaRPr lang="en-US" altLang="en-US" dirty="0"/>
          </a:p>
          <a:p>
            <a:pPr lvl="1"/>
            <a:r>
              <a:rPr lang="en-US" altLang="en-US" dirty="0"/>
              <a:t>To maintain </a:t>
            </a:r>
            <a:r>
              <a:rPr lang="ja-JP" altLang="en-US" dirty="0"/>
              <a:t>“</a:t>
            </a:r>
            <a:r>
              <a:rPr lang="en-US" altLang="ja-JP" dirty="0"/>
              <a:t>copy semantics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two copies of the data</a:t>
            </a:r>
            <a:endParaRPr lang="en-US" altLang="en-US" dirty="0"/>
          </a:p>
          <a:p>
            <a:pPr lvl="2"/>
            <a:r>
              <a:rPr lang="en-US" altLang="en-US" dirty="0"/>
              <a:t>Kernel and user</a:t>
            </a:r>
            <a:endParaRPr lang="en-US" altLang="en-US" dirty="0"/>
          </a:p>
          <a:p>
            <a:pPr lvl="2"/>
            <a:r>
              <a:rPr lang="en-US" altLang="en-US" dirty="0"/>
              <a:t>Varying sizes</a:t>
            </a:r>
            <a:endParaRPr lang="en-US" altLang="en-US" dirty="0"/>
          </a:p>
          <a:p>
            <a:pPr lvl="2"/>
            <a:r>
              <a:rPr lang="en-US" altLang="en-US" dirty="0"/>
              <a:t>Full  / being processed and not-full / being used</a:t>
            </a:r>
            <a:endParaRPr lang="en-US" altLang="en-US" dirty="0"/>
          </a:p>
          <a:p>
            <a:pPr lvl="2"/>
            <a:r>
              <a:rPr lang="en-US" altLang="en-US" dirty="0"/>
              <a:t>Copy-on-write can be used for efficiency in some cases</a:t>
            </a: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783964" y="234598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Device-status Table</a:t>
            </a:r>
            <a:endParaRPr lang="en-US" altLang="en-US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35" y="1259205"/>
            <a:ext cx="7947025" cy="4370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886922" y="235991"/>
            <a:ext cx="8018463" cy="576263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Common PC and Data-center I/O devices and Interface Speeds</a:t>
            </a:r>
            <a:endParaRPr lang="en-US" altLang="en-US" sz="2000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022350"/>
            <a:ext cx="7924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568" y="233592"/>
            <a:ext cx="79089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I/O Subsystem</a:t>
            </a:r>
            <a:endParaRPr lang="en-US" altLang="en-US" dirty="0"/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165225"/>
            <a:ext cx="7600950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faster device holding copy of data</a:t>
            </a:r>
            <a:endParaRPr lang="en-US" altLang="en-US" dirty="0"/>
          </a:p>
          <a:p>
            <a:pPr lvl="1"/>
            <a:r>
              <a:rPr lang="en-US" altLang="en-US" dirty="0"/>
              <a:t>Always just a copy</a:t>
            </a:r>
            <a:endParaRPr lang="en-US" altLang="en-US" dirty="0"/>
          </a:p>
          <a:p>
            <a:pPr lvl="1"/>
            <a:r>
              <a:rPr lang="en-US" altLang="en-US" dirty="0"/>
              <a:t>Key to performance</a:t>
            </a:r>
            <a:endParaRPr lang="en-US" altLang="en-US" dirty="0"/>
          </a:p>
          <a:p>
            <a:pPr lvl="1"/>
            <a:r>
              <a:rPr lang="en-US" altLang="en-US" dirty="0"/>
              <a:t>Sometimes combined with buffering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Spooling</a:t>
            </a:r>
            <a:r>
              <a:rPr lang="en-US" altLang="en-US" dirty="0"/>
              <a:t> - hold output for a device</a:t>
            </a:r>
            <a:endParaRPr lang="en-US" altLang="en-US" dirty="0"/>
          </a:p>
          <a:p>
            <a:pPr lvl="1"/>
            <a:r>
              <a:rPr lang="en-US" altLang="en-US" dirty="0"/>
              <a:t>If device can serve only one request at a time </a:t>
            </a:r>
            <a:endParaRPr lang="en-US" altLang="en-US" dirty="0"/>
          </a:p>
          <a:p>
            <a:pPr lvl="1"/>
            <a:r>
              <a:rPr lang="en-US" altLang="en-US" dirty="0"/>
              <a:t>i.e., Printing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reservation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provides exclusive access to a device</a:t>
            </a:r>
            <a:endParaRPr lang="en-US" altLang="en-US" dirty="0"/>
          </a:p>
          <a:p>
            <a:pPr lvl="1"/>
            <a:r>
              <a:rPr lang="en-US" altLang="en-US" dirty="0"/>
              <a:t>System calls for allocation and de-allocation</a:t>
            </a:r>
            <a:endParaRPr lang="en-US" altLang="en-US" dirty="0"/>
          </a:p>
          <a:p>
            <a:pPr lvl="1"/>
            <a:r>
              <a:rPr lang="en-US" altLang="en-US" dirty="0"/>
              <a:t>Watch out for deadlock</a:t>
            </a: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373221" y="239554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Error Handling</a:t>
            </a:r>
            <a:endParaRPr lang="en-US" altLang="en-US" dirty="0"/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6959600" cy="4530725"/>
          </a:xfrm>
        </p:spPr>
        <p:txBody>
          <a:bodyPr/>
          <a:lstStyle/>
          <a:p>
            <a:r>
              <a:rPr lang="en-US" altLang="en-US"/>
              <a:t>OS can recover from disk read, device unavailable, transient write failures</a:t>
            </a:r>
            <a:endParaRPr lang="en-US" altLang="en-US"/>
          </a:p>
          <a:p>
            <a:pPr lvl="1"/>
            <a:r>
              <a:rPr lang="en-US" altLang="en-US"/>
              <a:t>Retry a read or write, for example</a:t>
            </a:r>
            <a:endParaRPr lang="en-US" altLang="en-US"/>
          </a:p>
          <a:p>
            <a:pPr lvl="1"/>
            <a:r>
              <a:rPr lang="en-US" altLang="en-US"/>
              <a:t>Some systems more advanced – Solaris FMA, AIX </a:t>
            </a:r>
            <a:endParaRPr lang="en-US" altLang="en-US"/>
          </a:p>
          <a:p>
            <a:pPr lvl="2"/>
            <a:r>
              <a:rPr lang="en-US" altLang="en-US"/>
              <a:t>Track error frequencies, stop using device with increasing frequency of retry-able errors</a:t>
            </a:r>
            <a:endParaRPr lang="en-US" altLang="en-US"/>
          </a:p>
          <a:p>
            <a:r>
              <a:rPr lang="en-US" altLang="en-US"/>
              <a:t>Most return an error number or code when I/O request fails </a:t>
            </a:r>
            <a:endParaRPr lang="en-US" altLang="en-US"/>
          </a:p>
          <a:p>
            <a:r>
              <a:rPr lang="en-US" altLang="en-US"/>
              <a:t>System error logs hold problem reports</a:t>
            </a:r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>
          <a:xfrm>
            <a:off x="354559" y="2292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Protection</a:t>
            </a:r>
            <a:endParaRPr lang="en-US" altLang="en-US" dirty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43013"/>
            <a:ext cx="6835775" cy="4530725"/>
          </a:xfrm>
        </p:spPr>
        <p:txBody>
          <a:bodyPr/>
          <a:lstStyle/>
          <a:p>
            <a:r>
              <a:rPr lang="en-US" altLang="en-US"/>
              <a:t>User process may accidentally or purposefully attempt to disrupt normal operation via illegal I/O instructions</a:t>
            </a:r>
            <a:endParaRPr lang="en-US" altLang="en-US"/>
          </a:p>
          <a:p>
            <a:pPr lvl="1"/>
            <a:r>
              <a:rPr lang="en-US" altLang="en-US"/>
              <a:t>All I/O instructions defined to be privileged</a:t>
            </a:r>
            <a:endParaRPr lang="en-US" altLang="en-US"/>
          </a:p>
          <a:p>
            <a:pPr lvl="1"/>
            <a:r>
              <a:rPr lang="en-US" altLang="en-US"/>
              <a:t>I/O must be performed via system calls</a:t>
            </a:r>
            <a:endParaRPr lang="en-US" altLang="en-US"/>
          </a:p>
          <a:p>
            <a:pPr lvl="2"/>
            <a:r>
              <a:rPr lang="en-US" altLang="en-US"/>
              <a:t>Memory-mapped and I/O port memory locations must be protected too</a:t>
            </a: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xfrm>
            <a:off x="940480" y="242923"/>
            <a:ext cx="7704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 of a System Call to Perform I/O</a:t>
            </a:r>
            <a:endParaRPr lang="en-US" altLang="en-US" dirty="0"/>
          </a:p>
        </p:txBody>
      </p:sp>
      <p:pic>
        <p:nvPicPr>
          <p:cNvPr id="6656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955675"/>
            <a:ext cx="5626100" cy="547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811762" y="238549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Kernel Data Structures</a:t>
            </a:r>
            <a:endParaRPr lang="en-US" altLang="en-US" dirty="0"/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738" y="1150938"/>
            <a:ext cx="7026275" cy="4530725"/>
          </a:xfrm>
        </p:spPr>
        <p:txBody>
          <a:bodyPr/>
          <a:lstStyle/>
          <a:p>
            <a:r>
              <a:rPr lang="en-US" altLang="en-US"/>
              <a:t>Kernel keeps state info for I/O components, including open file tables, network connections, character device state</a:t>
            </a:r>
            <a:endParaRPr lang="en-US" altLang="en-US"/>
          </a:p>
          <a:p>
            <a:r>
              <a:rPr lang="en-US" altLang="en-US"/>
              <a:t>Many, many complex data structures to track buffers, memory allocation, </a:t>
            </a:r>
            <a:r>
              <a:rPr lang="ja-JP" altLang="en-US"/>
              <a:t>“</a:t>
            </a:r>
            <a:r>
              <a:rPr lang="en-US" altLang="ja-JP"/>
              <a:t>dirty</a:t>
            </a:r>
            <a:r>
              <a:rPr lang="ja-JP" altLang="en-US"/>
              <a:t>”</a:t>
            </a:r>
            <a:r>
              <a:rPr lang="en-US" altLang="ja-JP"/>
              <a:t> blocks</a:t>
            </a:r>
            <a:endParaRPr lang="en-US" altLang="ja-JP"/>
          </a:p>
          <a:p>
            <a:r>
              <a:rPr lang="en-US" altLang="en-US"/>
              <a:t>Some use object-oriented methods and message passing to implement I/O</a:t>
            </a:r>
            <a:endParaRPr lang="en-US" altLang="en-US"/>
          </a:p>
          <a:p>
            <a:pPr lvl="1"/>
            <a:r>
              <a:rPr lang="en-US" altLang="en-US"/>
              <a:t>Windows uses message passing</a:t>
            </a:r>
            <a:endParaRPr lang="en-US" altLang="en-US"/>
          </a:p>
          <a:p>
            <a:pPr lvl="2"/>
            <a:r>
              <a:rPr lang="en-US" altLang="en-US"/>
              <a:t>Message with I/O information passed from user mode into kernel</a:t>
            </a:r>
            <a:endParaRPr lang="en-US" altLang="en-US"/>
          </a:p>
          <a:p>
            <a:pPr lvl="2"/>
            <a:r>
              <a:rPr lang="en-US" altLang="en-US"/>
              <a:t>Message modified as it flows through to device driver and back to process</a:t>
            </a:r>
            <a:endParaRPr lang="en-US" altLang="en-US"/>
          </a:p>
          <a:p>
            <a:pPr lvl="2"/>
            <a:r>
              <a:rPr lang="en-US" altLang="en-US"/>
              <a:t>Pros / cons?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>
          <a:xfrm>
            <a:off x="677408" y="233592"/>
            <a:ext cx="7878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UNIX I/O Kernel Structure</a:t>
            </a:r>
            <a:endParaRPr lang="en-US" altLang="en-US" sz="2400" dirty="0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638" y="1344613"/>
            <a:ext cx="604996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>
          <a:xfrm>
            <a:off x="675236" y="247880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Power Management</a:t>
            </a:r>
            <a:endParaRPr lang="en-US" altLang="en-US" dirty="0"/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425" y="1042988"/>
            <a:ext cx="7110413" cy="4530725"/>
          </a:xfrm>
        </p:spPr>
        <p:txBody>
          <a:bodyPr/>
          <a:lstStyle/>
          <a:p>
            <a:r>
              <a:rPr lang="en-US" altLang="en-US"/>
              <a:t>Not strictly domain of I/O, but much is I/O related</a:t>
            </a:r>
            <a:endParaRPr lang="en-US" altLang="en-US"/>
          </a:p>
          <a:p>
            <a:r>
              <a:rPr lang="en-US" altLang="en-US"/>
              <a:t>Computers and devices use electricity, generate heat, frequently require cooling</a:t>
            </a:r>
            <a:endParaRPr lang="en-US" altLang="en-US"/>
          </a:p>
          <a:p>
            <a:r>
              <a:rPr lang="en-US" altLang="en-US"/>
              <a:t>OSes can help manage and improve use</a:t>
            </a:r>
            <a:endParaRPr lang="en-US" altLang="en-US"/>
          </a:p>
          <a:p>
            <a:pPr lvl="1"/>
            <a:r>
              <a:rPr lang="en-US" altLang="en-US"/>
              <a:t>Cloud computing environments move virtual machines between servers</a:t>
            </a:r>
            <a:endParaRPr lang="en-US" altLang="en-US"/>
          </a:p>
          <a:p>
            <a:pPr lvl="2"/>
            <a:r>
              <a:rPr lang="en-US" altLang="en-US"/>
              <a:t>Can end up evacuating whole systems and shutting them down</a:t>
            </a:r>
            <a:endParaRPr lang="en-US" altLang="en-US"/>
          </a:p>
          <a:p>
            <a:r>
              <a:rPr lang="en-US" altLang="en-US"/>
              <a:t>Mobile computing has power management as first class OS aspect</a:t>
            </a:r>
            <a:endParaRPr lang="en-US" altLang="en-US"/>
          </a:p>
          <a:p>
            <a:pPr lvl="2"/>
            <a:endParaRPr lang="en-US" altLang="en-US" sz="1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>
          <a:xfrm>
            <a:off x="656576" y="247880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Power Management (Cont.)</a:t>
            </a:r>
            <a:endParaRPr lang="en-US" altLang="en-US" dirty="0"/>
          </a:p>
        </p:txBody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850" y="1065213"/>
            <a:ext cx="7694613" cy="4530725"/>
          </a:xfrm>
        </p:spPr>
        <p:txBody>
          <a:bodyPr/>
          <a:lstStyle/>
          <a:p>
            <a:r>
              <a:rPr lang="en-US" altLang="en-US" dirty="0"/>
              <a:t>For example, Android implements</a:t>
            </a:r>
            <a:endParaRPr lang="en-US" altLang="en-US" dirty="0"/>
          </a:p>
          <a:p>
            <a:pPr lvl="1"/>
            <a:r>
              <a:rPr lang="en-US" altLang="en-US" dirty="0"/>
              <a:t>Component-level power management</a:t>
            </a:r>
            <a:endParaRPr lang="en-US" altLang="en-US" dirty="0"/>
          </a:p>
          <a:p>
            <a:pPr lvl="2"/>
            <a:r>
              <a:rPr lang="en-US" altLang="en-US" dirty="0"/>
              <a:t>Understands relationship between components</a:t>
            </a:r>
            <a:endParaRPr lang="en-US" altLang="en-US" dirty="0"/>
          </a:p>
          <a:p>
            <a:pPr lvl="2"/>
            <a:r>
              <a:rPr lang="en-US" altLang="en-US" dirty="0"/>
              <a:t>Build device tree representing physical device topology</a:t>
            </a:r>
            <a:endParaRPr lang="en-US" altLang="en-US" dirty="0"/>
          </a:p>
          <a:p>
            <a:pPr lvl="2"/>
            <a:r>
              <a:rPr lang="en-US" altLang="en-US" dirty="0"/>
              <a:t>System bus -&gt; I/O subsystem -&gt; {flash, USB storage}</a:t>
            </a:r>
            <a:endParaRPr lang="en-US" altLang="en-US" dirty="0"/>
          </a:p>
          <a:p>
            <a:pPr lvl="2"/>
            <a:r>
              <a:rPr lang="en-US" altLang="en-US" dirty="0"/>
              <a:t>Device driver tracks state of device, whether in use</a:t>
            </a:r>
            <a:endParaRPr lang="en-US" altLang="en-US" dirty="0"/>
          </a:p>
          <a:p>
            <a:pPr lvl="2"/>
            <a:r>
              <a:rPr lang="en-US" altLang="en-US" dirty="0"/>
              <a:t>Unused component – turn it off</a:t>
            </a:r>
            <a:endParaRPr lang="en-US" altLang="en-US" dirty="0"/>
          </a:p>
          <a:p>
            <a:pPr lvl="2"/>
            <a:r>
              <a:rPr lang="en-US" altLang="en-US" dirty="0"/>
              <a:t>All devices in tree branch unused – turn off branch</a:t>
            </a:r>
            <a:endParaRPr lang="en-US" altLang="en-US" dirty="0"/>
          </a:p>
          <a:p>
            <a:pPr marL="857250" lvl="2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>
          <a:xfrm>
            <a:off x="656576" y="247880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Power Management (Cont.)</a:t>
            </a:r>
            <a:endParaRPr lang="en-US" altLang="en-US" dirty="0"/>
          </a:p>
        </p:txBody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850" y="1065213"/>
            <a:ext cx="7694613" cy="4530725"/>
          </a:xfrm>
        </p:spPr>
        <p:txBody>
          <a:bodyPr/>
          <a:lstStyle/>
          <a:p>
            <a:r>
              <a:rPr lang="en-US" altLang="en-US" sz="2000" dirty="0"/>
              <a:t>For example, Android implements (Cont.)</a:t>
            </a:r>
            <a:endParaRPr lang="en-US" altLang="en-US" sz="2000" dirty="0"/>
          </a:p>
          <a:p>
            <a:pPr lvl="1"/>
            <a:r>
              <a:rPr lang="en-US" altLang="en-US" sz="2000" dirty="0"/>
              <a:t>Wake locks – like other locks but prevent sleep of device when lock is held</a:t>
            </a:r>
            <a:endParaRPr lang="en-US" altLang="en-US" sz="2000" dirty="0"/>
          </a:p>
          <a:p>
            <a:pPr lvl="1"/>
            <a:r>
              <a:rPr lang="en-US" altLang="en-US" sz="2000" dirty="0"/>
              <a:t>Power collapse – put a device into very deep sleep</a:t>
            </a:r>
            <a:endParaRPr lang="en-US" altLang="en-US" sz="2000" dirty="0"/>
          </a:p>
          <a:p>
            <a:pPr lvl="2"/>
            <a:r>
              <a:rPr lang="en-US" altLang="en-US" sz="2000" dirty="0"/>
              <a:t>Marginal power use</a:t>
            </a:r>
            <a:endParaRPr lang="en-US" altLang="en-US" sz="2000" dirty="0"/>
          </a:p>
          <a:p>
            <a:pPr lvl="2"/>
            <a:r>
              <a:rPr lang="en-US" altLang="en-US" sz="2000" dirty="0"/>
              <a:t>Only awake enough to respond to external stimuli (button press, incoming call)</a:t>
            </a:r>
            <a:endParaRPr lang="en-US" altLang="en-US" sz="2000" dirty="0"/>
          </a:p>
          <a:p>
            <a:r>
              <a:rPr lang="en-US" altLang="en-US" sz="2000" dirty="0"/>
              <a:t>Modern systems use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configuration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power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ACPI</a:t>
            </a:r>
            <a:r>
              <a:rPr lang="en-US" altLang="en-US" sz="2000" dirty="0"/>
              <a:t>) firmware providing code that runs as routines called by kernel for device discovery, management, error and power management </a:t>
            </a:r>
            <a:endParaRPr lang="en-US" altLang="en-US" sz="2000" dirty="0"/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568" y="238549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Kernel I/O Subsystem Summary</a:t>
            </a:r>
            <a:endParaRPr lang="en-US" altLang="en-US" dirty="0"/>
          </a:p>
        </p:txBody>
      </p:sp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850" y="1065213"/>
            <a:ext cx="7694613" cy="4530725"/>
          </a:xfrm>
        </p:spPr>
        <p:txBody>
          <a:bodyPr/>
          <a:lstStyle/>
          <a:p>
            <a:r>
              <a:rPr lang="en-US" altLang="en-US" dirty="0"/>
              <a:t>In summary, the I/O subsystem coordinates an extensive collection of services that are available to applications and to other parts of the kernel</a:t>
            </a:r>
            <a:endParaRPr lang="en-US" altLang="en-US" dirty="0"/>
          </a:p>
          <a:p>
            <a:pPr lvl="1"/>
            <a:r>
              <a:rPr lang="en-US" altLang="en-US" dirty="0"/>
              <a:t>Management of the name space for files and devices</a:t>
            </a:r>
            <a:endParaRPr lang="en-US" altLang="en-US" dirty="0"/>
          </a:p>
          <a:p>
            <a:pPr lvl="1"/>
            <a:r>
              <a:rPr lang="en-US" altLang="en-US" dirty="0"/>
              <a:t>Access control to files and devices</a:t>
            </a:r>
            <a:endParaRPr lang="en-US" altLang="en-US" dirty="0"/>
          </a:p>
          <a:p>
            <a:pPr lvl="1"/>
            <a:r>
              <a:rPr lang="en-US" altLang="en-US" dirty="0"/>
              <a:t>Operation control (for example, a modem cannot seek())</a:t>
            </a:r>
            <a:endParaRPr lang="en-US" altLang="en-US" dirty="0"/>
          </a:p>
          <a:p>
            <a:pPr lvl="1"/>
            <a:r>
              <a:rPr lang="en-US" altLang="en-US" dirty="0"/>
              <a:t>File-system space allocation</a:t>
            </a:r>
            <a:endParaRPr lang="en-US" altLang="en-US" dirty="0"/>
          </a:p>
          <a:p>
            <a:pPr lvl="1"/>
            <a:r>
              <a:rPr lang="en-US" altLang="en-US" dirty="0"/>
              <a:t>Device allocation</a:t>
            </a:r>
            <a:endParaRPr lang="en-US" altLang="en-US" dirty="0"/>
          </a:p>
          <a:p>
            <a:pPr lvl="1"/>
            <a:r>
              <a:rPr lang="en-US" altLang="en-US" dirty="0"/>
              <a:t>Buffering, caching, and spooling</a:t>
            </a:r>
            <a:endParaRPr lang="en-US" altLang="en-US" dirty="0"/>
          </a:p>
          <a:p>
            <a:pPr lvl="1"/>
            <a:r>
              <a:rPr lang="en-US" altLang="en-US" dirty="0"/>
              <a:t>I/O scheduling</a:t>
            </a:r>
            <a:endParaRPr lang="en-US" altLang="en-US" dirty="0"/>
          </a:p>
          <a:p>
            <a:pPr lvl="1"/>
            <a:r>
              <a:rPr lang="en-US" altLang="en-US" dirty="0"/>
              <a:t>Device-status monitoring, error handling, and failure recovery</a:t>
            </a:r>
            <a:endParaRPr lang="en-US" altLang="en-US" dirty="0"/>
          </a:p>
          <a:p>
            <a:pPr lvl="1"/>
            <a:r>
              <a:rPr lang="en-US" altLang="en-US" dirty="0"/>
              <a:t>Device-driver configuration and initialization</a:t>
            </a:r>
            <a:endParaRPr lang="en-US" altLang="en-US" dirty="0"/>
          </a:p>
          <a:p>
            <a:pPr lvl="1"/>
            <a:r>
              <a:rPr lang="en-US" altLang="en-US" dirty="0"/>
              <a:t>Power management of I/O devices</a:t>
            </a:r>
            <a:endParaRPr lang="en-US" altLang="en-US" dirty="0"/>
          </a:p>
          <a:p>
            <a:r>
              <a:rPr lang="en-US" altLang="en-US" dirty="0"/>
              <a:t>The upper levels of the I/O subsystem access devices via the uniform interface provided by the device drivers</a:t>
            </a:r>
            <a:endParaRPr lang="en-US" altLang="en-US" dirty="0"/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1398234" y="98849"/>
            <a:ext cx="7662863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Transforming I/O Requests to Hardware Operations</a:t>
            </a:r>
            <a:endParaRPr lang="en-US" altLang="en-US" sz="2400" dirty="0"/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138238"/>
            <a:ext cx="6945313" cy="4530725"/>
          </a:xfrm>
        </p:spPr>
        <p:txBody>
          <a:bodyPr/>
          <a:lstStyle/>
          <a:p>
            <a:r>
              <a:rPr lang="en-US" altLang="en-US"/>
              <a:t>Consider reading a file from disk for a process:</a:t>
            </a:r>
            <a:endParaRPr lang="en-US" altLang="en-US"/>
          </a:p>
          <a:p>
            <a:pPr lvl="1"/>
            <a:r>
              <a:rPr lang="en-US" altLang="en-US"/>
              <a:t>Determine device holding file </a:t>
            </a:r>
            <a:endParaRPr lang="en-US" altLang="en-US"/>
          </a:p>
          <a:p>
            <a:pPr lvl="1"/>
            <a:r>
              <a:rPr lang="en-US" altLang="en-US"/>
              <a:t>Translate name to device representation</a:t>
            </a:r>
            <a:endParaRPr lang="en-US" altLang="en-US"/>
          </a:p>
          <a:p>
            <a:pPr lvl="1"/>
            <a:r>
              <a:rPr lang="en-US" altLang="en-US"/>
              <a:t>Physically read data from disk into buffer</a:t>
            </a:r>
            <a:endParaRPr lang="en-US" altLang="en-US"/>
          </a:p>
          <a:p>
            <a:pPr lvl="1"/>
            <a:r>
              <a:rPr lang="en-US" altLang="en-US"/>
              <a:t>Make data available to requesting process</a:t>
            </a:r>
            <a:endParaRPr lang="en-US" altLang="en-US"/>
          </a:p>
          <a:p>
            <a:pPr lvl="1"/>
            <a:r>
              <a:rPr lang="en-US" altLang="en-US"/>
              <a:t>Return control to process</a:t>
            </a:r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xfrm>
            <a:off x="776222" y="230223"/>
            <a:ext cx="77612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Life Cycle of An I/O Request</a:t>
            </a:r>
            <a:endParaRPr lang="en-US" altLang="en-US" sz="2400" dirty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50" y="1106488"/>
            <a:ext cx="6362700" cy="502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>
          <a:xfrm>
            <a:off x="621230" y="235603"/>
            <a:ext cx="78882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STREAMS</a:t>
            </a:r>
            <a:endParaRPr lang="en-US" altLang="en-US" dirty="0"/>
          </a:p>
        </p:txBody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425" y="1150938"/>
            <a:ext cx="6864350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STREAM</a:t>
            </a:r>
            <a:r>
              <a:rPr lang="en-US" altLang="en-US" dirty="0"/>
              <a:t> – a full-duplex communication channel between a user-level process and a device in Unix System V and beyond</a:t>
            </a:r>
            <a:endParaRPr lang="en-US" altLang="en-US" sz="800" dirty="0"/>
          </a:p>
          <a:p>
            <a:r>
              <a:rPr lang="en-US" altLang="en-US" dirty="0"/>
              <a:t>A STREAM consists of:</a:t>
            </a:r>
            <a:endParaRPr lang="en-US" altLang="en-US" dirty="0"/>
          </a:p>
          <a:p>
            <a:pPr lvl="1"/>
            <a:r>
              <a:rPr lang="en-US" altLang="en-US" dirty="0"/>
              <a:t>STREAM head interfaces with the user process</a:t>
            </a:r>
            <a:endParaRPr lang="en-US" altLang="en-US" dirty="0"/>
          </a:p>
          <a:p>
            <a:pPr lvl="1"/>
            <a:r>
              <a:rPr lang="en-US" altLang="en-US" dirty="0"/>
              <a:t>driver end interfaces with the device</a:t>
            </a:r>
            <a:endParaRPr lang="en-US" altLang="en-US" dirty="0"/>
          </a:p>
          <a:p>
            <a:pPr lvl="1"/>
            <a:r>
              <a:rPr lang="en-US" altLang="en-US" dirty="0"/>
              <a:t>zero or more STREAM modules between them</a:t>
            </a:r>
            <a:endParaRPr lang="en-US" altLang="en-US" sz="800" dirty="0"/>
          </a:p>
          <a:p>
            <a:r>
              <a:rPr lang="en-US" altLang="en-US" dirty="0"/>
              <a:t>Each module contains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/>
              <a:t> and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endParaRPr lang="en-US" altLang="en-US" sz="800" dirty="0"/>
          </a:p>
          <a:p>
            <a:r>
              <a:rPr lang="en-US" altLang="en-US" dirty="0"/>
              <a:t>Message passing is used to communicate between queues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Flow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option to indicate available or busy</a:t>
            </a:r>
            <a:endParaRPr lang="en-US" altLang="en-US" sz="800" dirty="0"/>
          </a:p>
          <a:p>
            <a:r>
              <a:rPr lang="en-US" altLang="en-US" dirty="0"/>
              <a:t>Asynchronous internally, synchronous where user process communicates with stream head</a:t>
            </a: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>
          <a:xfrm>
            <a:off x="856534" y="261777"/>
            <a:ext cx="7772400" cy="544513"/>
          </a:xfrm>
        </p:spPr>
        <p:txBody>
          <a:bodyPr/>
          <a:lstStyle/>
          <a:p>
            <a:pPr eaLnBrk="1" hangingPunct="1"/>
            <a:r>
              <a:rPr lang="en-US" altLang="en-US" dirty="0"/>
              <a:t>The STREAMS Structure</a:t>
            </a:r>
            <a:endParaRPr lang="en-US" altLang="en-US" dirty="0"/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1181100"/>
            <a:ext cx="4548188" cy="472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09" y="23359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</a:t>
            </a:r>
            <a:endParaRPr lang="en-US" altLang="en-US" dirty="0"/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6289675" cy="4530725"/>
          </a:xfrm>
        </p:spPr>
        <p:txBody>
          <a:bodyPr/>
          <a:lstStyle/>
          <a:p>
            <a:r>
              <a:rPr lang="en-US" altLang="en-US"/>
              <a:t>I/O a major factor in system performance:</a:t>
            </a:r>
            <a:endParaRPr lang="en-US" altLang="en-US"/>
          </a:p>
          <a:p>
            <a:pPr lvl="1"/>
            <a:r>
              <a:rPr lang="en-US" altLang="en-US"/>
              <a:t>Demands CPU to execute device driver, kernel I/O code</a:t>
            </a:r>
            <a:endParaRPr lang="en-US" altLang="en-US"/>
          </a:p>
          <a:p>
            <a:pPr lvl="1"/>
            <a:r>
              <a:rPr lang="en-US" altLang="en-US"/>
              <a:t>Context switches due to interrupts</a:t>
            </a:r>
            <a:endParaRPr lang="en-US" altLang="en-US"/>
          </a:p>
          <a:p>
            <a:pPr lvl="1"/>
            <a:r>
              <a:rPr lang="en-US" altLang="en-US"/>
              <a:t>Data copying</a:t>
            </a:r>
            <a:endParaRPr lang="en-US" altLang="en-US"/>
          </a:p>
          <a:p>
            <a:pPr lvl="1"/>
            <a:r>
              <a:rPr lang="en-US" altLang="en-US"/>
              <a:t>Network traffic especially stressful</a:t>
            </a:r>
            <a:endParaRPr lang="en-US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858804" y="239552"/>
            <a:ext cx="77533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Intercomputer Communications</a:t>
            </a:r>
            <a:endParaRPr lang="en-US" altLang="en-US" sz="2400" dirty="0"/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431925"/>
            <a:ext cx="8561387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>
          <a:xfrm>
            <a:off x="841924" y="225267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Improving Performance</a:t>
            </a:r>
            <a:endParaRPr lang="en-US" altLang="en-US" dirty="0"/>
          </a:p>
        </p:txBody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111250"/>
            <a:ext cx="7069137" cy="4530725"/>
          </a:xfrm>
        </p:spPr>
        <p:txBody>
          <a:bodyPr/>
          <a:lstStyle/>
          <a:p>
            <a:r>
              <a:rPr lang="en-US" altLang="en-US" dirty="0"/>
              <a:t>Reduce number of context switches</a:t>
            </a:r>
            <a:endParaRPr lang="en-US" altLang="en-US" sz="800" dirty="0"/>
          </a:p>
          <a:p>
            <a:r>
              <a:rPr lang="en-US" altLang="en-US" dirty="0"/>
              <a:t>Reduce data copying</a:t>
            </a:r>
            <a:endParaRPr lang="en-US" altLang="en-US" sz="800" dirty="0"/>
          </a:p>
          <a:p>
            <a:r>
              <a:rPr lang="en-US" altLang="en-US" dirty="0"/>
              <a:t>Reduce interrupts by using large transfers, smart controllers, polling</a:t>
            </a:r>
            <a:endParaRPr lang="en-US" altLang="en-US" sz="800" dirty="0"/>
          </a:p>
          <a:p>
            <a:r>
              <a:rPr lang="en-US" altLang="en-US" dirty="0"/>
              <a:t>Use DMA</a:t>
            </a:r>
            <a:endParaRPr lang="en-US" altLang="en-US" sz="800" dirty="0"/>
          </a:p>
          <a:p>
            <a:r>
              <a:rPr lang="en-US" altLang="en-US" dirty="0"/>
              <a:t>Use smarter hardware devices</a:t>
            </a:r>
            <a:endParaRPr lang="en-US" altLang="en-US" sz="800" dirty="0"/>
          </a:p>
          <a:p>
            <a:r>
              <a:rPr lang="en-US" altLang="en-US" dirty="0"/>
              <a:t>Balance CPU, memory, bus, and I/O performance for highest throughput</a:t>
            </a:r>
            <a:endParaRPr lang="en-US" altLang="en-US" sz="800" dirty="0"/>
          </a:p>
          <a:p>
            <a:r>
              <a:rPr lang="en-US" altLang="en-US" dirty="0"/>
              <a:t>Move user-mode processes / daemons to kernel threads</a:t>
            </a: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>
          <a:xfrm>
            <a:off x="847074" y="233592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Device-Functionality Progression</a:t>
            </a:r>
            <a:endParaRPr lang="en-US" altLang="en-US" sz="2400" dirty="0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00000">
            <a:off x="2632075" y="-34925"/>
            <a:ext cx="4267200" cy="714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>
          <a:xfrm>
            <a:off x="968375" y="233592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I/O Performance of Storage (and Network Latency)</a:t>
            </a:r>
            <a:endParaRPr lang="en-US" altLang="en-US" sz="1800" dirty="0"/>
          </a:p>
        </p:txBody>
      </p:sp>
      <p:pic>
        <p:nvPicPr>
          <p:cNvPr id="9523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" y="1625600"/>
            <a:ext cx="8686800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12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12992</Words>
  <Application>WPS 演示</Application>
  <PresentationFormat>On-screen Show (4:3)</PresentationFormat>
  <Paragraphs>405</Paragraphs>
  <Slides>52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73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微软雅黑</vt:lpstr>
      <vt:lpstr>Arial Unicode MS</vt:lpstr>
      <vt:lpstr>Courier New</vt:lpstr>
      <vt:lpstr>Wingdings</vt:lpstr>
      <vt:lpstr>Helvetica LT Pro</vt:lpstr>
      <vt:lpstr>Toots Regular</vt:lpstr>
      <vt:lpstr>黑体</vt:lpstr>
      <vt:lpstr>Comic Sans MS</vt:lpstr>
      <vt:lpstr>Consolas</vt:lpstr>
      <vt:lpstr>Calibri</vt:lpstr>
      <vt:lpstr>Leelawadee UI</vt:lpstr>
      <vt:lpstr>os-8</vt:lpstr>
      <vt:lpstr>Chapter 12:  I/O Systems</vt:lpstr>
      <vt:lpstr>PowerPoint 演示文稿</vt:lpstr>
      <vt:lpstr>Chapter 12:  I/O Systems</vt:lpstr>
      <vt:lpstr>Objectives</vt:lpstr>
      <vt:lpstr>Overview</vt:lpstr>
      <vt:lpstr>I/O Hardware</vt:lpstr>
      <vt:lpstr>I/O Hardware (Cont.)</vt:lpstr>
      <vt:lpstr>A Typical PC Bus Structure</vt:lpstr>
      <vt:lpstr>I/O Hardware (Cont.)</vt:lpstr>
      <vt:lpstr>I/O Hardware (Cont.)</vt:lpstr>
      <vt:lpstr>Device I/O Port Locations on PCs (partial)</vt:lpstr>
      <vt:lpstr>Polling</vt:lpstr>
      <vt:lpstr>Interrupts</vt:lpstr>
      <vt:lpstr>Interrupt-Driven I/O Cycle</vt:lpstr>
      <vt:lpstr>Interrupts (Cont.)</vt:lpstr>
      <vt:lpstr>Latency</vt:lpstr>
      <vt:lpstr>Intel Pentium Processor Event-Vector Table</vt:lpstr>
      <vt:lpstr>Direct Memory Access</vt:lpstr>
      <vt:lpstr>Six Step Process to Perform DMA Transfer</vt:lpstr>
      <vt:lpstr>Application I/O Interface</vt:lpstr>
      <vt:lpstr>A Kernel I/O Structure</vt:lpstr>
      <vt:lpstr>Characteristics of I/O Devices</vt:lpstr>
      <vt:lpstr>Characteristics of I/O Devices (Cont.)</vt:lpstr>
      <vt:lpstr>Block and Character Devices</vt:lpstr>
      <vt:lpstr>Network Devices</vt:lpstr>
      <vt:lpstr>Clocks and Timers</vt:lpstr>
      <vt:lpstr>Nonblocking and Asynchronous I/O</vt:lpstr>
      <vt:lpstr>Two I/O Methods</vt:lpstr>
      <vt:lpstr>Vectored I/O</vt:lpstr>
      <vt:lpstr>Kernel I/O Subsystem</vt:lpstr>
      <vt:lpstr>Device-status Table</vt:lpstr>
      <vt:lpstr>Common PC and Data-center I/O devices and Interface Speeds</vt:lpstr>
      <vt:lpstr>Kernel I/O Subsystem</vt:lpstr>
      <vt:lpstr>Error Handling</vt:lpstr>
      <vt:lpstr>I/O Protection</vt:lpstr>
      <vt:lpstr>Use of a System Call to Perform I/O</vt:lpstr>
      <vt:lpstr>Kernel Data Structures</vt:lpstr>
      <vt:lpstr>UNIX I/O Kernel Structure</vt:lpstr>
      <vt:lpstr>Power Management</vt:lpstr>
      <vt:lpstr>Power Management (Cont.)</vt:lpstr>
      <vt:lpstr>Power Management (Cont.)</vt:lpstr>
      <vt:lpstr>Kernel I/O Subsystem Summary</vt:lpstr>
      <vt:lpstr>Transforming I/O Requests to Hardware Operations</vt:lpstr>
      <vt:lpstr>Life Cycle of An I/O Request</vt:lpstr>
      <vt:lpstr>STREAMS</vt:lpstr>
      <vt:lpstr>The STREAMS Structure</vt:lpstr>
      <vt:lpstr>Performance</vt:lpstr>
      <vt:lpstr>Intercomputer Communications</vt:lpstr>
      <vt:lpstr>Improving Performance</vt:lpstr>
      <vt:lpstr>Device-Functionality Progression</vt:lpstr>
      <vt:lpstr>I/O Performance of Storage (and Network Latency)</vt:lpstr>
      <vt:lpstr>End of Chapter 12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199</cp:revision>
  <cp:lastPrinted>2013-09-10T17:57:00Z</cp:lastPrinted>
  <dcterms:created xsi:type="dcterms:W3CDTF">2011-01-13T23:43:00Z</dcterms:created>
  <dcterms:modified xsi:type="dcterms:W3CDTF">2026-05-24T08:24:55Z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1B1C3DED90454413B474955A818AB106_13</vt:lpwstr>
  </property>
  <property fmtid="{D5CDD505-2E9C-101B-9397-08002B2CF9AE}" pid="3" name="KSOProductBuildVer">
    <vt:lpwstr>2052-12.1.0.23542</vt:lpwstr>
  </property>
</Properties>
</file>