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handoutMasterIdLst>
    <p:handoutMasterId r:id="rId90"/>
  </p:handoutMasterIdLst>
  <p:sldIdLst>
    <p:sldId id="430" r:id="rId3"/>
    <p:sldId id="332" r:id="rId5"/>
    <p:sldId id="333" r:id="rId6"/>
    <p:sldId id="334" r:id="rId7"/>
    <p:sldId id="335" r:id="rId8"/>
    <p:sldId id="407" r:id="rId9"/>
    <p:sldId id="336" r:id="rId10"/>
    <p:sldId id="337" r:id="rId11"/>
    <p:sldId id="338" r:id="rId12"/>
    <p:sldId id="339" r:id="rId13"/>
    <p:sldId id="409" r:id="rId14"/>
    <p:sldId id="340" r:id="rId15"/>
    <p:sldId id="341" r:id="rId16"/>
    <p:sldId id="410" r:id="rId17"/>
    <p:sldId id="343" r:id="rId18"/>
    <p:sldId id="344" r:id="rId19"/>
    <p:sldId id="345" r:id="rId20"/>
    <p:sldId id="346" r:id="rId21"/>
    <p:sldId id="411" r:id="rId22"/>
    <p:sldId id="347" r:id="rId23"/>
    <p:sldId id="412" r:id="rId24"/>
    <p:sldId id="348" r:id="rId25"/>
    <p:sldId id="349" r:id="rId26"/>
    <p:sldId id="350" r:id="rId27"/>
    <p:sldId id="351" r:id="rId28"/>
    <p:sldId id="352" r:id="rId29"/>
    <p:sldId id="353" r:id="rId30"/>
    <p:sldId id="354" r:id="rId31"/>
    <p:sldId id="355" r:id="rId32"/>
    <p:sldId id="356" r:id="rId33"/>
    <p:sldId id="357" r:id="rId34"/>
    <p:sldId id="358" r:id="rId35"/>
    <p:sldId id="359" r:id="rId36"/>
    <p:sldId id="360" r:id="rId37"/>
    <p:sldId id="361" r:id="rId38"/>
    <p:sldId id="362" r:id="rId39"/>
    <p:sldId id="363" r:id="rId40"/>
    <p:sldId id="364" r:id="rId41"/>
    <p:sldId id="365" r:id="rId42"/>
    <p:sldId id="428" r:id="rId43"/>
    <p:sldId id="429" r:id="rId44"/>
    <p:sldId id="367" r:id="rId45"/>
    <p:sldId id="368" r:id="rId46"/>
    <p:sldId id="415" r:id="rId47"/>
    <p:sldId id="370" r:id="rId48"/>
    <p:sldId id="371" r:id="rId49"/>
    <p:sldId id="372" r:id="rId50"/>
    <p:sldId id="373" r:id="rId51"/>
    <p:sldId id="416" r:id="rId52"/>
    <p:sldId id="376" r:id="rId53"/>
    <p:sldId id="418" r:id="rId54"/>
    <p:sldId id="419" r:id="rId55"/>
    <p:sldId id="420" r:id="rId56"/>
    <p:sldId id="421" r:id="rId57"/>
    <p:sldId id="378" r:id="rId58"/>
    <p:sldId id="422" r:id="rId59"/>
    <p:sldId id="380" r:id="rId60"/>
    <p:sldId id="381" r:id="rId61"/>
    <p:sldId id="382" r:id="rId62"/>
    <p:sldId id="423" r:id="rId63"/>
    <p:sldId id="383" r:id="rId64"/>
    <p:sldId id="384" r:id="rId65"/>
    <p:sldId id="385" r:id="rId66"/>
    <p:sldId id="424" r:id="rId67"/>
    <p:sldId id="392" r:id="rId68"/>
    <p:sldId id="393" r:id="rId69"/>
    <p:sldId id="394" r:id="rId70"/>
    <p:sldId id="395" r:id="rId71"/>
    <p:sldId id="396" r:id="rId72"/>
    <p:sldId id="408" r:id="rId73"/>
    <p:sldId id="397" r:id="rId74"/>
    <p:sldId id="427" r:id="rId75"/>
    <p:sldId id="398" r:id="rId76"/>
    <p:sldId id="399" r:id="rId77"/>
    <p:sldId id="400" r:id="rId78"/>
    <p:sldId id="401" r:id="rId79"/>
    <p:sldId id="402" r:id="rId80"/>
    <p:sldId id="403" r:id="rId81"/>
    <p:sldId id="404" r:id="rId82"/>
    <p:sldId id="405" r:id="rId83"/>
    <p:sldId id="406" r:id="rId84"/>
    <p:sldId id="413" r:id="rId85"/>
    <p:sldId id="414" r:id="rId86"/>
    <p:sldId id="417" r:id="rId87"/>
    <p:sldId id="425" r:id="rId88"/>
    <p:sldId id="426" r:id="rId89"/>
  </p:sldIdLst>
  <p:sldSz cx="9144000" cy="6858000" type="screen4x3"/>
  <p:notesSz cx="7086600" cy="93726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 userDrawn="1">
          <p15:clr>
            <a:srgbClr val="A4A3A4"/>
          </p15:clr>
        </p15:guide>
        <p15:guide id="2" pos="4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ilberschatz, Avi" initials="SA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CECFF"/>
    <a:srgbClr val="66CCFF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90" autoAdjust="0"/>
    <p:restoredTop sz="94660"/>
  </p:normalViewPr>
  <p:slideViewPr>
    <p:cSldViewPr snapToGrid="0" showGuides="1">
      <p:cViewPr varScale="1">
        <p:scale>
          <a:sx n="64" d="100"/>
          <a:sy n="64" d="100"/>
        </p:scale>
        <p:origin x="1166" y="72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208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4" Type="http://schemas.openxmlformats.org/officeDocument/2006/relationships/commentAuthors" Target="commentAuthors.xml"/><Relationship Id="rId93" Type="http://schemas.openxmlformats.org/officeDocument/2006/relationships/tableStyles" Target="tableStyles.xml"/><Relationship Id="rId92" Type="http://schemas.openxmlformats.org/officeDocument/2006/relationships/viewProps" Target="viewProps.xml"/><Relationship Id="rId91" Type="http://schemas.openxmlformats.org/officeDocument/2006/relationships/presProps" Target="presProps.xml"/><Relationship Id="rId90" Type="http://schemas.openxmlformats.org/officeDocument/2006/relationships/handoutMaster" Target="handoutMasters/handoutMaster1.xml"/><Relationship Id="rId9" Type="http://schemas.openxmlformats.org/officeDocument/2006/relationships/slide" Target="slides/slide6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8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image" Target="../media/image2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06738" cy="4460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9090" tIns="44546" rIns="89090" bIns="44546" numCol="1" anchor="ctr" anchorCtr="0" compatLnSpc="1"/>
          <a:lstStyle>
            <a:lvl1pPr defTabSz="891540">
              <a:defRPr sz="1100"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94150" y="0"/>
            <a:ext cx="3105150" cy="4460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9090" tIns="44546" rIns="89090" bIns="44546" numCol="1" anchor="ctr" anchorCtr="0" compatLnSpc="1"/>
          <a:lstStyle>
            <a:lvl1pPr algn="r" defTabSz="891540">
              <a:defRPr sz="1100"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39213"/>
            <a:ext cx="3106738" cy="4460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9090" tIns="44546" rIns="89090" bIns="44546" numCol="1" anchor="b" anchorCtr="0" compatLnSpc="1"/>
          <a:lstStyle>
            <a:lvl1pPr defTabSz="891540">
              <a:defRPr sz="1100"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94150" y="8939213"/>
            <a:ext cx="3105150" cy="4460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9090" tIns="44546" rIns="89090" bIns="44546" numCol="1" anchor="b" anchorCtr="0" compatLnSpc="1"/>
          <a:lstStyle>
            <a:lvl1pPr algn="r" defTabSz="890905">
              <a:defRPr sz="1100">
                <a:latin typeface="Helvetica" panose="020B0604020202020204" pitchFamily="34" charset="0"/>
              </a:defRPr>
            </a:lvl1pPr>
          </a:lstStyle>
          <a:p>
            <a:fld id="{82C72706-C095-41BF-ABD3-54ADB8CE3108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0225" cy="466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4035" tIns="47017" rIns="94035" bIns="47017" numCol="1" anchor="ctr" anchorCtr="0" compatLnSpc="1"/>
          <a:lstStyle>
            <a:lvl1pPr defTabSz="939800">
              <a:defRPr sz="1200"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16375" y="0"/>
            <a:ext cx="3070225" cy="466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4035" tIns="47017" rIns="94035" bIns="47017" numCol="1" anchor="ctr" anchorCtr="0" compatLnSpc="1"/>
          <a:lstStyle>
            <a:lvl1pPr algn="r" defTabSz="939800">
              <a:defRPr sz="1200"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01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00150" y="704850"/>
            <a:ext cx="4687888" cy="3514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4563" y="4452938"/>
            <a:ext cx="5197475" cy="42148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4035" tIns="47017" rIns="94035" bIns="47017" numCol="1" anchor="ctr" anchorCtr="0" compatLnSpc="1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05875"/>
            <a:ext cx="3070225" cy="466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4035" tIns="47017" rIns="94035" bIns="47017" numCol="1" anchor="b" anchorCtr="0" compatLnSpc="1"/>
          <a:lstStyle>
            <a:lvl1pPr defTabSz="939800">
              <a:defRPr sz="1200"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4035" tIns="47017" rIns="94035" bIns="47017" numCol="1" anchor="b" anchorCtr="0" compatLnSpc="1"/>
          <a:lstStyle>
            <a:lvl1pPr algn="r" defTabSz="939800">
              <a:defRPr sz="1200">
                <a:latin typeface="Times New Roman" panose="02020603050405020304" pitchFamily="18" charset="0"/>
              </a:defRPr>
            </a:lvl1pPr>
          </a:lstStyle>
          <a:p>
            <a:fld id="{FFC2CB2C-F279-41F0-AC48-D923156805A3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MS PGothic" panose="020B0600070205080204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2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3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4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5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7651" name="备注占位符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</p:spPr>
        <p:txBody>
          <a:bodyPr wrap="square" lIns="96661" tIns="48331" rIns="96661" bIns="48331"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2765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 eaLnBrk="1" hangingPunct="1"/>
            <a:fld id="{9A0DB2DC-4C9A-4742-B13C-FB6460FD3503}" type="slidenum">
              <a:rPr lang="en-US" altLang="zh-CN" sz="1300" b="0" dirty="0">
                <a:solidFill>
                  <a:schemeClr val="bg1"/>
                </a:solidFill>
              </a:rPr>
            </a:fld>
            <a:endParaRPr lang="en-US" altLang="zh-CN" sz="1300" b="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0C0BC62-2152-49E6-8AF5-50FF44F1E1D3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870FF08-90E6-43CF-AED6-E70CDB6B1112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F365149-E38C-4DAC-84B8-8F4AFF2A5D63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8A3B3F0-AAF5-4CFC-A7B5-497CCE8C3F5E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AEBF62B-A5D8-4ED3-B7C7-E5B4C8E4833B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47D0DB0-2893-40A2-A92B-B204CAA7AA0A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8553D4C-F3A2-40EC-A353-CAF60F6FAB16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898E264-0F87-448A-8621-D998F18CE072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955654F-329B-48DD-8FA1-1D00BD4AA2CD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48E5558-88DF-40FE-90FF-9EB1FEE63A86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8B80A18-0C17-4A8A-A28E-1B3AD0E8B888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86C72E5-BDBA-4628-BBAF-85FBB5CCE3BE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3AA9686-8C45-4B6B-B192-53184893EC9B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44D4E91-7487-49F0-9D91-43B839F06F41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FB8A3B8-FFC6-4EAE-BC20-3413272D7E23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754A397-8FAE-4C30-A05F-CF91331CD813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E009F0B-5F82-4126-923B-E013C3AAF972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3B546AF-CFB6-4A26-A155-B7AC52B1171E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018407F-AAA5-4963-A6A5-D6FE6F7F8BA8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5802788-C8C7-415D-889B-42AFD28A494F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2B255F6-0496-42D9-A50C-21BEA778293C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D8C993A-8BC4-4561-A588-A2EFC571D9A6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896695E-9013-4825-AE74-B375198EC2BE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0FA2C5A-08D3-4CEE-94AC-EFFD301638E0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BCE3FF5-CEA2-48B8-900D-389C7BA3E78B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1FD1554-F607-4188-A668-41EC0D745C1C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9C2251A-E27D-4976-912A-372946474BDD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08CBD02-7938-4655-89C2-245E2DD80BF2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9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DE4C9D0-7D0A-45DF-B0CE-6AB3AEE439B1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6D5DB69-22AD-4E1E-A59B-E2B46FD50CA7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9EFB345-C37B-41EB-99D5-09E432045D94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82A2CBD-2239-4BE7-9133-34E34F8619C7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A720897-7524-49C1-AB7E-87D63B342608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665F5A3-B020-4290-AD98-D5279638C08E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59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59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BE5443D-CFE2-4772-BFAF-AEDA3BB82639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BE5443D-CFE2-4772-BFAF-AEDA3BB82639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D0AF29B-E1F3-4565-9FEC-4E13442F52B7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9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90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D0AF29B-E1F3-4565-9FEC-4E13442F52B7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9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90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14756FE-28C0-4689-86B3-AA8D861AF58F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E872443-CB56-4F1E-A9D0-0CA6A3CCD69F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1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10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9E28EDC-8892-4BD4-9B03-820979DFF076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2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2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F00E586-48D7-4940-A2DF-E461BD85B025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3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3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A5281E3-0C39-498B-AF39-48565B4544FA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4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4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D877D31-AB4E-4210-B2DB-080238C5EE9B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5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5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1B98D01-049E-4171-943F-B5ABC66237D0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6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6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ED7419C-205B-4822-9762-6573B1EDC7C6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7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7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FC82682-D545-467D-8124-18513B1E9CEB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8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8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7D4C080-24BF-412B-8F06-E36EDFECF8DD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9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9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2676500-2F49-4FEE-A5A8-EF61C8B87081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0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0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C81BFE0-00FB-494F-8EAE-0AA4F1450B8A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1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1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E6397F0-D1D0-4685-84E3-808C672B4567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2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2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EAAEF08-9DD4-482D-90BC-07DC57F8A327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3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3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E3A684B-4A3B-43F3-9569-2AE451F94590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4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4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3DACEB9-9E2C-4066-B0B4-6F4B7E0755DC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5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5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643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38AE1AD-3F56-4889-BDA2-43C04193A71C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7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7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87D0B8B-BAFD-4A3D-B391-FA971194D587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8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8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70A1341-C92E-4F22-99B6-43D85D252F2A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9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9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96D20E2-6F0E-4310-B85C-56C40751DFA6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0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0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B346C7A-1455-4A31-B80D-17977E7A4EF8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1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1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F514684-2866-4F4C-BBA1-FDD60510CA6C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2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2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D7FEAF7-4BEB-42B5-B76A-25A683C8B678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3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3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3E10020-71C2-454F-B242-56666943DF34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4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4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819EF8C-4231-4782-B39A-7B2E0F77F2B4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5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5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8CCE5AD-C314-4DFB-97F8-C64B9C4C8E4F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6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6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B090860-9AF5-424D-A333-7DC8522BDD90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7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7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75CAD1E-1E22-4637-B2E6-50F21264D3FA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8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8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6658769-8F6C-489F-90D1-9CC8B1660090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9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9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BBE8513-7EE7-473B-AF73-11B00E2FA16E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0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0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09FEF30-9510-4C58-8BDC-945E5163F881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1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1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23FEAB0-D0B8-4413-8091-47B30D592B6D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2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2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DA1AAD5-B1CB-4150-8FBD-59C5EEEBE590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3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3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4FA84A1-1FEE-4467-9D36-F04EF63A92D2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4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4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2644C32-2110-4DA3-B36E-B20BD12B7688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5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5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3C3FC6E-E384-4B81-AA25-F632E1589562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DFFE3F1-2A37-4DDB-9015-6B1A489622A6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7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7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85EF551-EF8F-46DA-A89F-7791386C4B4D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8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8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D3CA6C3-4E4A-4280-9B61-3AC42C0B926C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9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9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anose="020B0604020202020204" pitchFamily="34" charset="0"/>
              </a:rPr>
              <a:t>Silberschatz, Galvin and Gagne ©2018</a:t>
            </a:r>
            <a:endParaRPr lang="en-US" altLang="en-US" sz="1000" b="1" dirty="0">
              <a:solidFill>
                <a:srgbClr val="336699"/>
              </a:solidFill>
              <a:latin typeface="Helvetica" panose="020B0604020202020204" pitchFamily="34" charset="0"/>
            </a:endParaRP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26988" y="6613525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anose="020B0604020202020204" pitchFamily="3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336699"/>
                </a:solidFill>
                <a:latin typeface="Helvetica" panose="020B0604020202020204" pitchFamily="34" charset="0"/>
              </a:rPr>
              <a:t>th</a:t>
            </a:r>
            <a:r>
              <a:rPr lang="en-US" altLang="en-US" sz="1000" b="1" dirty="0">
                <a:solidFill>
                  <a:srgbClr val="336699"/>
                </a:solidFill>
                <a:latin typeface="Helvetica" panose="020B0604020202020204" pitchFamily="34" charset="0"/>
              </a:rPr>
              <a:t> Edition</a:t>
            </a:r>
            <a:endParaRPr lang="en-US" altLang="en-US" sz="1000" b="1" dirty="0">
              <a:solidFill>
                <a:srgbClr val="336699"/>
              </a:solidFill>
              <a:latin typeface="Helvetica" panose="020B0604020202020204" pitchFamily="34" charset="0"/>
            </a:endParaRPr>
          </a:p>
        </p:txBody>
      </p:sp>
      <p:pic>
        <p:nvPicPr>
          <p:cNvPr id="9" name="Picture 9" descr="dino_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3.jpeg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ino_3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42645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en-US" dirty="0"/>
              <a:t>Click to edit Master title style</a:t>
            </a:r>
            <a:endParaRPr lang="en-US" altLang="en-US" dirty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772795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 dirty="0"/>
              <a:t>Click to edit Master text styles</a:t>
            </a:r>
            <a:endParaRPr lang="en-US" altLang="en-US" dirty="0"/>
          </a:p>
          <a:p>
            <a:pPr lvl="1"/>
            <a:r>
              <a:rPr lang="en-US" altLang="en-US" dirty="0"/>
              <a:t>Second level</a:t>
            </a:r>
            <a:endParaRPr lang="en-US" altLang="en-US" dirty="0"/>
          </a:p>
          <a:p>
            <a:pPr lvl="2"/>
            <a:r>
              <a:rPr lang="en-US" altLang="en-US" dirty="0"/>
              <a:t>Third level</a:t>
            </a:r>
            <a:endParaRPr lang="en-US" altLang="en-US" dirty="0"/>
          </a:p>
          <a:p>
            <a:pPr lvl="3"/>
            <a:r>
              <a:rPr lang="en-US" altLang="en-US" dirty="0"/>
              <a:t>Fourth level</a:t>
            </a:r>
            <a:endParaRPr lang="en-US" altLang="en-US" dirty="0"/>
          </a:p>
          <a:p>
            <a:pPr lvl="4"/>
            <a:r>
              <a:rPr lang="en-US" altLang="en-US" dirty="0"/>
              <a:t>Fifth level</a:t>
            </a:r>
            <a:endParaRPr lang="en-US" altLang="en-US" dirty="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0" name="Line 6"/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3" name="Text Box 9"/>
          <p:cNvSpPr txBox="1">
            <a:spLocks noChangeArrowheads="1"/>
          </p:cNvSpPr>
          <p:nvPr/>
        </p:nvSpPr>
        <p:spPr bwMode="auto">
          <a:xfrm>
            <a:off x="4221163" y="6613525"/>
            <a:ext cx="51752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t>10.</a:t>
            </a:r>
            <a:fld id="{ECA12CDF-10CC-4639-A492-60524225D2DA}" type="slidenum"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</a:fld>
            <a:endParaRPr lang="en-US" altLang="en-US" sz="1000" b="1">
              <a:solidFill>
                <a:srgbClr val="006699"/>
              </a:solidFill>
              <a:latin typeface="Helvetica" panose="020B0604020202020204" pitchFamily="34" charset="0"/>
            </a:endParaRPr>
          </a:p>
        </p:txBody>
      </p:sp>
      <p:sp>
        <p:nvSpPr>
          <p:cNvPr id="1034" name="Text Box 10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anose="020B0604020202020204" pitchFamily="34" charset="0"/>
              </a:rPr>
              <a:t>Silberschatz, Galvin and Gagne ©2018</a:t>
            </a:r>
            <a:endParaRPr lang="en-US" altLang="en-US" sz="1000" b="1" dirty="0">
              <a:solidFill>
                <a:srgbClr val="006699"/>
              </a:solidFill>
              <a:latin typeface="Helvetica" panose="020B0604020202020204" pitchFamily="34" charset="0"/>
            </a:endParaRPr>
          </a:p>
        </p:txBody>
      </p:sp>
      <p:sp>
        <p:nvSpPr>
          <p:cNvPr id="1035" name="Text Box 11"/>
          <p:cNvSpPr txBox="1">
            <a:spLocks noChangeArrowheads="1"/>
          </p:cNvSpPr>
          <p:nvPr/>
        </p:nvSpPr>
        <p:spPr bwMode="auto">
          <a:xfrm>
            <a:off x="185738" y="6621463"/>
            <a:ext cx="2730500" cy="24606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anose="020B0604020202020204" pitchFamily="3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006699"/>
                </a:solidFill>
                <a:latin typeface="Helvetica" panose="020B0604020202020204" pitchFamily="34" charset="0"/>
              </a:rPr>
              <a:t>th</a:t>
            </a:r>
            <a:r>
              <a:rPr lang="en-US" altLang="en-US" sz="1000" b="1" dirty="0">
                <a:solidFill>
                  <a:srgbClr val="006699"/>
                </a:solidFill>
                <a:latin typeface="Helvetica" panose="020B0604020202020204" pitchFamily="34" charset="0"/>
              </a:rPr>
              <a:t> Edition</a:t>
            </a:r>
            <a:endParaRPr lang="en-US" altLang="en-US" sz="1000" b="1" dirty="0">
              <a:solidFill>
                <a:srgbClr val="006699"/>
              </a:solidFill>
              <a:latin typeface="Helvetica" panose="020B0604020202020204" pitchFamily="34" charset="0"/>
            </a:endParaRPr>
          </a:p>
        </p:txBody>
      </p:sp>
      <p:pic>
        <p:nvPicPr>
          <p:cNvPr id="2060" name="Picture 12" descr="dino_6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anose="020B0600070205080204" pitchFamily="34" charset="-128"/>
          <a:cs typeface="MS PGothic" panose="020B0600070205080204" pitchFamily="3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9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0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5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6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9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jpe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emf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3.emf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4.xml"/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5.e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24.wmf"/><Relationship Id="rId1" Type="http://schemas.openxmlformats.org/officeDocument/2006/relationships/oleObject" Target="../embeddings/oleObject1.bin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jpe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jpe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jpe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9.emf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emf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jpe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emf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emf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6.emf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6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7.jpeg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8.jpe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50" name="矩形 1"/>
          <p:cNvSpPr/>
          <p:nvPr/>
        </p:nvSpPr>
        <p:spPr>
          <a:xfrm>
            <a:off x="378460" y="2508250"/>
            <a:ext cx="8587105" cy="34766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ctr">
              <a:lnSpc>
                <a:spcPct val="200000"/>
              </a:lnSpc>
              <a:spcBef>
                <a:spcPct val="50000"/>
              </a:spcBef>
              <a:buNone/>
            </a:pP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Dr. </a:t>
            </a:r>
            <a:r>
              <a:rPr lang="zh-CN" altLang="en-US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何明昕  </a:t>
            </a:r>
            <a:r>
              <a:rPr lang="en-US" altLang="zh-CN" sz="2000" b="0" dirty="0">
                <a:solidFill>
                  <a:srgbClr val="00206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HE Mingxin, MX, Max</a:t>
            </a:r>
            <a:endParaRPr lang="en-US" altLang="zh-CN" sz="2000" b="0" dirty="0">
              <a:solidFill>
                <a:srgbClr val="002060"/>
              </a:solidFill>
              <a:latin typeface="Comic Sans MS" panose="030F0702030302020204" pitchFamily="66" charset="0"/>
              <a:ea typeface="黑体" panose="02010609060101010101" pitchFamily="49" charset="-122"/>
            </a:endParaRPr>
          </a:p>
          <a:p>
            <a:pPr algn="ctr">
              <a:spcBef>
                <a:spcPct val="50000"/>
              </a:spcBef>
              <a:buNone/>
            </a:pP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Send your email to </a:t>
            </a:r>
            <a:r>
              <a:rPr lang="en-US" altLang="zh-CN" sz="2000" b="0" dirty="0">
                <a:solidFill>
                  <a:srgbClr val="00B05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c.max@yeah.net</a:t>
            </a: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  with</a:t>
            </a:r>
            <a:endParaRPr lang="en-US" altLang="zh-CN" sz="2000" b="0" dirty="0">
              <a:solidFill>
                <a:srgbClr val="00206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 algn="ctr">
              <a:spcBef>
                <a:spcPct val="50000"/>
              </a:spcBef>
              <a:buNone/>
            </a:pP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a subject like:  </a:t>
            </a:r>
            <a:r>
              <a:rPr lang="en-US" altLang="zh-CN" sz="2000" b="0" dirty="0">
                <a:solidFill>
                  <a:srgbClr val="00B0F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OS-id</a:t>
            </a:r>
            <a:r>
              <a:rPr lang="en-US" altLang="zh-CN" sz="2000" b="0" i="1" dirty="0">
                <a:solidFill>
                  <a:srgbClr val="00B0F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-Andy: On What </a:t>
            </a:r>
            <a:r>
              <a:rPr lang="en-US" altLang="zh-CN" sz="2000" b="0" i="1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…</a:t>
            </a:r>
            <a:endParaRPr lang="en-US" altLang="zh-CN" sz="2000" b="0" i="1" dirty="0">
              <a:solidFill>
                <a:srgbClr val="00206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 algn="ctr">
              <a:lnSpc>
                <a:spcPct val="200000"/>
              </a:lnSpc>
              <a:spcBef>
                <a:spcPct val="50000"/>
              </a:spcBef>
              <a:buNone/>
            </a:pP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Download from </a:t>
            </a:r>
            <a:r>
              <a:rPr lang="en-US" altLang="zh-CN" sz="2000" b="0" dirty="0">
                <a:solidFill>
                  <a:srgbClr val="00B05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c.program@yeah.net</a:t>
            </a:r>
            <a:endParaRPr lang="en-US" altLang="zh-CN" sz="2000" b="0" dirty="0">
              <a:solidFill>
                <a:srgbClr val="FF000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 algn="ctr">
              <a:spcBef>
                <a:spcPct val="50000"/>
              </a:spcBef>
              <a:buNone/>
            </a:pPr>
            <a:r>
              <a:rPr lang="en-US" altLang="zh-CN" sz="2000" b="0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/</a:t>
            </a:r>
            <a:r>
              <a:rPr lang="zh-CN" altLang="en-US" sz="2000" b="0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文件中心</a:t>
            </a:r>
            <a:r>
              <a:rPr lang="en-US" altLang="zh-CN" sz="2000" b="0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/</a:t>
            </a:r>
            <a:r>
              <a:rPr lang="zh-CN" altLang="en-US" sz="2000" b="0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网盘</a:t>
            </a:r>
            <a:r>
              <a:rPr lang="en-US" altLang="zh-CN" sz="2000" b="0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/OperatingSystems26S</a:t>
            </a:r>
            <a:endParaRPr lang="en-US" altLang="zh-CN" sz="2000" b="0" dirty="0">
              <a:solidFill>
                <a:srgbClr val="00206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 marL="0" indent="0" algn="ctr" latinLnBrk="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Book site: </a:t>
            </a:r>
            <a:r>
              <a:rPr lang="en-US" altLang="zh-CN" sz="1800" b="1" dirty="0">
                <a:solidFill>
                  <a:srgbClr val="00B0F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https://codex.cs.yale.edu/avi/os-book/OS10/index.html</a:t>
            </a:r>
            <a:endParaRPr lang="en-US" altLang="zh-CN" sz="1800" b="1" dirty="0">
              <a:solidFill>
                <a:srgbClr val="00B0F0"/>
              </a:solidFill>
              <a:latin typeface="Consolas" panose="020B0609020204030204" charset="0"/>
              <a:ea typeface="黑体" panose="02010609060101010101" pitchFamily="49" charset="-122"/>
              <a:cs typeface="Consolas" panose="020B0609020204030204" charset="0"/>
            </a:endParaRPr>
          </a:p>
        </p:txBody>
      </p:sp>
      <p:sp>
        <p:nvSpPr>
          <p:cNvPr id="2051" name="矩形 2"/>
          <p:cNvSpPr/>
          <p:nvPr/>
        </p:nvSpPr>
        <p:spPr>
          <a:xfrm>
            <a:off x="1041400" y="76835"/>
            <a:ext cx="7622540" cy="20612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4800" dirty="0">
                <a:solidFill>
                  <a:srgbClr val="002060"/>
                </a:solidFill>
                <a:latin typeface="Calibri" panose="020F0502020204030204" charset="0"/>
              </a:rPr>
              <a:t>Operating Systems</a:t>
            </a:r>
            <a:endParaRPr lang="en-US" altLang="zh-CN" sz="4800" dirty="0">
              <a:solidFill>
                <a:srgbClr val="002060"/>
              </a:solidFill>
              <a:latin typeface="Calibri" panose="020F0502020204030204" charset="0"/>
            </a:endParaRPr>
          </a:p>
          <a:p>
            <a:pPr marL="0" indent="0" algn="ctr" latinLnBrk="0">
              <a:lnSpc>
                <a:spcPct val="200000"/>
              </a:lnSpc>
            </a:pPr>
            <a:r>
              <a:rPr lang="en-US" altLang="zh-CN" sz="4000" dirty="0">
                <a:solidFill>
                  <a:srgbClr val="002060"/>
                </a:solidFill>
                <a:latin typeface="Calibri" panose="020F0502020204030204" charset="0"/>
                <a:sym typeface="+mn-ea"/>
              </a:rPr>
              <a:t>Ch 10:  </a:t>
            </a:r>
            <a:r>
              <a:rPr lang="en-US" altLang="zh-CN" sz="4000" dirty="0">
                <a:solidFill>
                  <a:srgbClr val="002060"/>
                </a:solidFill>
                <a:latin typeface="Calibri" panose="020F0502020204030204" charset="0"/>
                <a:sym typeface="+mn-ea"/>
              </a:rPr>
              <a:t>Virtual Memory</a:t>
            </a:r>
            <a:endParaRPr lang="en-US" altLang="zh-CN" sz="4000" dirty="0">
              <a:solidFill>
                <a:srgbClr val="002060"/>
              </a:solidFill>
              <a:latin typeface="Calibri" panose="020F0502020204030204" charset="0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982663" y="232587"/>
            <a:ext cx="77041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Chapter 10:  Virtual Memory</a:t>
            </a:r>
            <a:endParaRPr lang="en-US" altLang="en-US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123950"/>
            <a:ext cx="7704137" cy="4530725"/>
          </a:xfrm>
        </p:spPr>
        <p:txBody>
          <a:bodyPr/>
          <a:lstStyle/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Background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dirty="0">
                <a:solidFill>
                  <a:srgbClr val="00B0F0"/>
                </a:solidFill>
                <a:latin typeface="Calibri" panose="020F0502020204030204" charset="0"/>
                <a:cs typeface="Calibri" panose="020F0502020204030204" charset="0"/>
              </a:rPr>
              <a:t>Demand Paging</a:t>
            </a:r>
            <a:endParaRPr lang="en-US" altLang="en-US" sz="2000" dirty="0">
              <a:solidFill>
                <a:srgbClr val="00B0F0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Copy-on-Write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dirty="0">
                <a:solidFill>
                  <a:srgbClr val="00B0F0"/>
                </a:solidFill>
                <a:latin typeface="Calibri" panose="020F0502020204030204" charset="0"/>
                <a:cs typeface="Calibri" panose="020F0502020204030204" charset="0"/>
              </a:rPr>
              <a:t>Page Replacement</a:t>
            </a:r>
            <a:endParaRPr lang="en-US" altLang="en-US" sz="2000" dirty="0">
              <a:solidFill>
                <a:srgbClr val="00B0F0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Allocation of Frames 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dirty="0">
                <a:solidFill>
                  <a:srgbClr val="00B0F0"/>
                </a:solidFill>
                <a:latin typeface="Calibri" panose="020F0502020204030204" charset="0"/>
                <a:cs typeface="Calibri" panose="020F0502020204030204" charset="0"/>
              </a:rPr>
              <a:t>Thrashing</a:t>
            </a:r>
            <a:endParaRPr lang="en-US" altLang="en-US" sz="2000" dirty="0">
              <a:solidFill>
                <a:srgbClr val="00B0F0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Memory-Mapped Files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dirty="0">
                <a:solidFill>
                  <a:srgbClr val="00B0F0"/>
                </a:solidFill>
                <a:latin typeface="Calibri" panose="020F0502020204030204" charset="0"/>
                <a:cs typeface="Calibri" panose="020F0502020204030204" charset="0"/>
              </a:rPr>
              <a:t>Allocating Kernel Memory</a:t>
            </a:r>
            <a:endParaRPr lang="en-US" altLang="en-US" sz="2000" dirty="0">
              <a:solidFill>
                <a:srgbClr val="00B0F0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Other Considerations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dirty="0">
                <a:solidFill>
                  <a:srgbClr val="00B0F0"/>
                </a:solidFill>
                <a:latin typeface="Calibri" panose="020F0502020204030204" charset="0"/>
                <a:cs typeface="Calibri" panose="020F0502020204030204" charset="0"/>
              </a:rPr>
              <a:t>Operating-System Examples</a:t>
            </a:r>
            <a:endParaRPr lang="en-US" altLang="en-US" sz="2000" dirty="0">
              <a:solidFill>
                <a:srgbClr val="00B0F0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33592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Objectives</a:t>
            </a:r>
            <a:endParaRPr lang="en-US" altLang="en-US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9085" y="1233488"/>
            <a:ext cx="7781731" cy="4530725"/>
          </a:xfrm>
        </p:spPr>
        <p:txBody>
          <a:bodyPr/>
          <a:lstStyle/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Define virtual memory and describe its benefits.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dirty="0">
                <a:solidFill>
                  <a:srgbClr val="00B0F0"/>
                </a:solidFill>
                <a:latin typeface="Calibri" panose="020F0502020204030204" charset="0"/>
                <a:cs typeface="Calibri" panose="020F0502020204030204" charset="0"/>
              </a:rPr>
              <a:t>Illustrate how pages are loaded into memory using demand paging.</a:t>
            </a:r>
            <a:endParaRPr lang="en-US" altLang="en-US" sz="2000" dirty="0">
              <a:solidFill>
                <a:srgbClr val="00B0F0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Apply the FIFO, optimal, and  LRU page-replacement algorithms.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dirty="0">
                <a:solidFill>
                  <a:srgbClr val="00B0F0"/>
                </a:solidFill>
                <a:latin typeface="Calibri" panose="020F0502020204030204" charset="0"/>
                <a:cs typeface="Calibri" panose="020F0502020204030204" charset="0"/>
              </a:rPr>
              <a:t>Describe the working set of a process, and explain how it is related to program locality.</a:t>
            </a:r>
            <a:endParaRPr lang="en-US" altLang="en-US" sz="2000" dirty="0">
              <a:solidFill>
                <a:srgbClr val="00B0F0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Describe how Linux, Windows 10, and Solaris manage virtual memory.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dirty="0">
                <a:solidFill>
                  <a:srgbClr val="00B0F0"/>
                </a:solidFill>
                <a:latin typeface="Calibri" panose="020F0502020204030204" charset="0"/>
                <a:cs typeface="Calibri" panose="020F0502020204030204" charset="0"/>
              </a:rPr>
              <a:t>Design a virtual memory manager simulation in the C programming language.</a:t>
            </a:r>
            <a:endParaRPr lang="en-US" altLang="en-US" sz="2000" dirty="0">
              <a:solidFill>
                <a:srgbClr val="00B0F0"/>
              </a:solidFill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en-US" sz="2000" dirty="0">
              <a:solidFill>
                <a:srgbClr val="00B0F0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5267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Background</a:t>
            </a:r>
            <a:endParaRPr lang="en-US" altLang="en-US" dirty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9087" y="1195229"/>
            <a:ext cx="7744408" cy="4530725"/>
          </a:xfrm>
        </p:spPr>
        <p:txBody>
          <a:bodyPr/>
          <a:lstStyle/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Code needs to be in memory to execute, but entire program rarely used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Error code, unusual routines, large data structures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dirty="0">
                <a:solidFill>
                  <a:srgbClr val="00B0F0"/>
                </a:solidFill>
                <a:latin typeface="Calibri" panose="020F0502020204030204" charset="0"/>
                <a:cs typeface="Calibri" panose="020F0502020204030204" charset="0"/>
              </a:rPr>
              <a:t>Entire program code not needed at same time</a:t>
            </a:r>
            <a:endParaRPr lang="en-US" altLang="en-US" sz="2000" dirty="0">
              <a:solidFill>
                <a:srgbClr val="00B0F0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Consider ability to execute partially-loaded program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Program no longer constrained by limits of physical memory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Each program takes less memory while running -&gt; more programs run at the same time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2"/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Increased CPU utilization and throughput with no increase in response time or turnaround time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Less I/O needed to load or swap programs into memory -&gt; each user program runs faster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1"/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34792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Virtual memory </a:t>
            </a:r>
            <a:endParaRPr lang="en-US" altLang="en-US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8417" y="1231579"/>
            <a:ext cx="7679094" cy="4529138"/>
          </a:xfrm>
        </p:spPr>
        <p:txBody>
          <a:bodyPr/>
          <a:lstStyle/>
          <a:p>
            <a:r>
              <a:rPr lang="en-US" altLang="en-US" sz="2000" b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</a:rPr>
              <a:t>Virtual memory </a:t>
            </a: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– separation of user logical memory from physical memory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Only part of the program needs to be in memory for execution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dirty="0">
                <a:solidFill>
                  <a:srgbClr val="00B0F0"/>
                </a:solidFill>
                <a:latin typeface="Calibri" panose="020F0502020204030204" charset="0"/>
                <a:cs typeface="Calibri" panose="020F0502020204030204" charset="0"/>
              </a:rPr>
              <a:t>Logical address space can therefore be much larger than physical address space</a:t>
            </a:r>
            <a:endParaRPr lang="en-US" altLang="en-US" sz="2000" dirty="0">
              <a:solidFill>
                <a:srgbClr val="00B0F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Allows address spaces to be shared by several processes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dirty="0">
                <a:solidFill>
                  <a:srgbClr val="00B0F0"/>
                </a:solidFill>
                <a:latin typeface="Calibri" panose="020F0502020204030204" charset="0"/>
                <a:cs typeface="Calibri" panose="020F0502020204030204" charset="0"/>
              </a:rPr>
              <a:t>Allows for more efficient process creation</a:t>
            </a:r>
            <a:endParaRPr lang="en-US" altLang="en-US" sz="2000" dirty="0">
              <a:solidFill>
                <a:srgbClr val="00B0F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More programs running concurrently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dirty="0">
                <a:solidFill>
                  <a:srgbClr val="00B0F0"/>
                </a:solidFill>
                <a:latin typeface="Calibri" panose="020F0502020204030204" charset="0"/>
                <a:cs typeface="Calibri" panose="020F0502020204030204" charset="0"/>
              </a:rPr>
              <a:t>Less I/O needed to load or swap processes</a:t>
            </a:r>
            <a:endParaRPr lang="en-US" altLang="en-US" sz="2000" dirty="0">
              <a:solidFill>
                <a:srgbClr val="00B0F0"/>
              </a:solidFill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en-US" sz="2000" dirty="0">
              <a:solidFill>
                <a:srgbClr val="00B0F0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34792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Virtual memory  (Cont.)</a:t>
            </a:r>
            <a:endParaRPr lang="en-US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8417" y="1244666"/>
            <a:ext cx="7688424" cy="4529138"/>
          </a:xfrm>
        </p:spPr>
        <p:txBody>
          <a:bodyPr/>
          <a:lstStyle/>
          <a:p>
            <a:r>
              <a:rPr lang="en-US" altLang="en-US" sz="2000" b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</a:rPr>
              <a:t>Virtual address space</a:t>
            </a: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 – logical view of how process is stored in memory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Usually start at address 0, contiguous addresses until end of space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Meanwhile, physical memory organized in page frames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MMU must map logical to physical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dirty="0">
                <a:solidFill>
                  <a:srgbClr val="00B0F0"/>
                </a:solidFill>
                <a:latin typeface="Calibri" panose="020F0502020204030204" charset="0"/>
                <a:cs typeface="Calibri" panose="020F0502020204030204" charset="0"/>
              </a:rPr>
              <a:t>Virtual memory can be implemented via:</a:t>
            </a:r>
            <a:endParaRPr lang="en-US" altLang="en-US" sz="2000" dirty="0">
              <a:solidFill>
                <a:srgbClr val="00B0F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dirty="0">
                <a:solidFill>
                  <a:srgbClr val="00B0F0"/>
                </a:solidFill>
                <a:latin typeface="Calibri" panose="020F0502020204030204" charset="0"/>
                <a:cs typeface="Calibri" panose="020F0502020204030204" charset="0"/>
              </a:rPr>
              <a:t>Demand paging </a:t>
            </a:r>
            <a:endParaRPr lang="en-US" altLang="en-US" sz="2000" dirty="0">
              <a:solidFill>
                <a:srgbClr val="00B0F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dirty="0">
                <a:solidFill>
                  <a:srgbClr val="00B0F0"/>
                </a:solidFill>
                <a:latin typeface="Calibri" panose="020F0502020204030204" charset="0"/>
                <a:cs typeface="Calibri" panose="020F0502020204030204" charset="0"/>
              </a:rPr>
              <a:t>Demand segmentation</a:t>
            </a:r>
            <a:endParaRPr lang="en-US" altLang="en-US" sz="2000" dirty="0">
              <a:solidFill>
                <a:srgbClr val="00B0F0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965713" y="216162"/>
            <a:ext cx="8080375" cy="608013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Virtual Memory That is Larger Than Physical Memory</a:t>
            </a:r>
            <a:endParaRPr lang="en-US" altLang="en-US" sz="2400" dirty="0"/>
          </a:p>
        </p:txBody>
      </p:sp>
      <p:pic>
        <p:nvPicPr>
          <p:cNvPr id="10243" name="Picture 4" descr="B:\os-book\os10-dir\Slides-WORK-area\Figures-dir\ch10\JPG-dir\10_01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0700" y="1457325"/>
            <a:ext cx="5896610" cy="4676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942975" y="232199"/>
            <a:ext cx="77438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Virtual-address Space</a:t>
            </a:r>
            <a:endParaRPr lang="en-US" altLang="en-US" dirty="0"/>
          </a:p>
        </p:txBody>
      </p:sp>
      <p:pic>
        <p:nvPicPr>
          <p:cNvPr id="11267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6600" y="1019175"/>
            <a:ext cx="2304415" cy="5102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8" name="Rectangle 3"/>
          <p:cNvSpPr txBox="1">
            <a:spLocks noChangeArrowheads="1"/>
          </p:cNvSpPr>
          <p:nvPr/>
        </p:nvSpPr>
        <p:spPr bwMode="auto">
          <a:xfrm>
            <a:off x="811213" y="1119188"/>
            <a:ext cx="4404599" cy="5002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1060450" indent="-40830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551305" indent="-32575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Usually design logical address space for stack to start at Max logical address and grow “down” while heap grows “up”</a:t>
            </a:r>
            <a:endParaRPr kumimoji="1" lang="en-US" altLang="en-US" sz="1600" dirty="0">
              <a:latin typeface="Helvetica" panose="020B0604020202020204" pitchFamily="34" charset="0"/>
            </a:endParaRP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1600" dirty="0">
                <a:latin typeface="Helvetica" panose="020B0604020202020204" pitchFamily="34" charset="0"/>
              </a:rPr>
              <a:t>Maximizes address space use</a:t>
            </a:r>
            <a:endParaRPr kumimoji="1" lang="en-US" altLang="en-US" sz="1600" dirty="0">
              <a:latin typeface="Helvetica" panose="020B0604020202020204" pitchFamily="34" charset="0"/>
            </a:endParaRP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1600" dirty="0">
                <a:latin typeface="Helvetica" panose="020B0604020202020204" pitchFamily="34" charset="0"/>
              </a:rPr>
              <a:t>Unused address space between the two is hole</a:t>
            </a:r>
            <a:endParaRPr kumimoji="1" lang="en-US" altLang="en-US" sz="1600" dirty="0">
              <a:latin typeface="Helvetica" panose="020B0604020202020204" pitchFamily="34" charset="0"/>
            </a:endParaRPr>
          </a:p>
          <a:p>
            <a:pPr lvl="2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</a:pPr>
            <a:r>
              <a:rPr kumimoji="1" lang="en-US" altLang="en-US" sz="1600" dirty="0">
                <a:latin typeface="Helvetica" panose="020B0604020202020204" pitchFamily="34" charset="0"/>
              </a:rPr>
              <a:t>No physical memory needed until heap or stack grows to a given new page</a:t>
            </a:r>
            <a:endParaRPr kumimoji="1" lang="en-US" altLang="en-US" sz="1600" dirty="0">
              <a:latin typeface="Helvetica" panose="020B0604020202020204" pitchFamily="3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Enables </a:t>
            </a:r>
            <a:r>
              <a:rPr kumimoji="1" lang="en-US" altLang="en-US" sz="1600" b="1" dirty="0">
                <a:solidFill>
                  <a:srgbClr val="006699"/>
                </a:solidFill>
                <a:latin typeface="+mj-lt"/>
              </a:rPr>
              <a:t>sparse</a:t>
            </a:r>
            <a:r>
              <a:rPr kumimoji="1" lang="en-US" altLang="en-US" sz="1600" b="1" dirty="0">
                <a:solidFill>
                  <a:srgbClr val="3366FF"/>
                </a:solidFill>
                <a:latin typeface="Helvetica" panose="020B0604020202020204" pitchFamily="34" charset="0"/>
              </a:rPr>
              <a:t> </a:t>
            </a:r>
            <a:r>
              <a:rPr kumimoji="1" lang="en-US" altLang="en-US" sz="1600" dirty="0">
                <a:latin typeface="Helvetica" panose="020B0604020202020204" pitchFamily="34" charset="0"/>
              </a:rPr>
              <a:t>address spaces with holes left for growth, dynamically linked libraries, etc.</a:t>
            </a:r>
            <a:endParaRPr kumimoji="1" lang="en-US" altLang="en-US" sz="1600" dirty="0">
              <a:latin typeface="Helvetica" panose="020B0604020202020204" pitchFamily="3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System libraries shared via mapping into virtual address space</a:t>
            </a:r>
            <a:endParaRPr kumimoji="1" lang="en-US" altLang="en-US" sz="1600" dirty="0">
              <a:latin typeface="Helvetica" panose="020B0604020202020204" pitchFamily="3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Shared memory by mapping pages read-write into virtual address space</a:t>
            </a:r>
            <a:endParaRPr kumimoji="1" lang="en-US" altLang="en-US" sz="1600" dirty="0">
              <a:latin typeface="Helvetica" panose="020B0604020202020204" pitchFamily="3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Pages can be shared during </a:t>
            </a:r>
            <a:r>
              <a:rPr kumimoji="1"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fork()</a:t>
            </a:r>
            <a:r>
              <a:rPr kumimoji="1" lang="en-US" altLang="en-US" sz="1600" dirty="0">
                <a:latin typeface="Helvetica" panose="020B0604020202020204" pitchFamily="34" charset="0"/>
                <a:cs typeface="Courier New" panose="02070309020205020404" pitchFamily="49" charset="0"/>
              </a:rPr>
              <a:t>, speeding process creation</a:t>
            </a:r>
            <a:endParaRPr kumimoji="1" lang="en-US" altLang="en-US" sz="1600" dirty="0">
              <a:latin typeface="Helvetica" panose="020B0604020202020204" pitchFamily="34" charset="0"/>
              <a:cs typeface="Courier New" panose="02070309020205020404" pitchFamily="49" charset="0"/>
            </a:endParaRPr>
          </a:p>
          <a:p>
            <a:pPr lvl="1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None/>
            </a:pPr>
            <a:r>
              <a:rPr kumimoji="1" lang="en-US" altLang="en-US" sz="1600" dirty="0">
                <a:latin typeface="Helvetica" panose="020B0604020202020204" pitchFamily="34" charset="0"/>
              </a:rPr>
              <a:t> </a:t>
            </a:r>
            <a:endParaRPr kumimoji="1" lang="en-US" altLang="en-US" sz="1600" dirty="0">
              <a:latin typeface="Helvetica" panose="020B0604020202020204" pitchFamily="34" charset="0"/>
            </a:endParaRPr>
          </a:p>
          <a:p>
            <a:pPr lvl="1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None/>
            </a:pPr>
            <a:endParaRPr kumimoji="1" lang="en-US" altLang="en-US" dirty="0">
              <a:latin typeface="Helvetica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093656" y="235568"/>
            <a:ext cx="75612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Shared Library Using Virtual Memory</a:t>
            </a:r>
            <a:endParaRPr lang="en-US" altLang="en-US" dirty="0"/>
          </a:p>
        </p:txBody>
      </p:sp>
      <p:pic>
        <p:nvPicPr>
          <p:cNvPr id="12291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3015" y="1405255"/>
            <a:ext cx="6607810" cy="4363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37382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Demand Paging</a:t>
            </a:r>
            <a:endParaRPr lang="en-US" altLang="en-US" dirty="0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9756" y="1261355"/>
            <a:ext cx="7604158" cy="509746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Could bring entire process into memory at load time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Or bring a page into memory only when it is needed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Less I/O needed, no unnecessary I/O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Less memory needed 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Faster response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More users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Similar to paging system with swapping (diagram on right)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Page is needed </a:t>
            </a:r>
            <a:r>
              <a:rPr lang="en-US" altLang="en-US" sz="2000" dirty="0"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  <a:t> reference to it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invalid reference </a:t>
            </a:r>
            <a:r>
              <a:rPr lang="en-US" altLang="en-US" sz="2000" dirty="0"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  <a:t> abort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  <a:t>not-in-memory  bring to memory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</a:pPr>
            <a:r>
              <a:rPr lang="en-US" altLang="en-US" sz="2000" b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  <a:t>Lazy swapper </a:t>
            </a:r>
            <a:r>
              <a:rPr lang="en-US" altLang="en-US" sz="2000" dirty="0"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  <a:t>– never swaps a page into memory unless page will be needed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  <a:t>Swapper that deals with pages is a </a:t>
            </a:r>
            <a:r>
              <a:rPr lang="en-US" altLang="en-US" sz="2000" b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  <a:t>pager</a:t>
            </a:r>
            <a:endParaRPr lang="en-US" altLang="en-US" sz="2000" b="1" dirty="0">
              <a:solidFill>
                <a:srgbClr val="006699"/>
              </a:solidFill>
              <a:latin typeface="Calibri" panose="020F0502020204030204" charset="0"/>
              <a:cs typeface="Calibri" panose="020F0502020204030204" charset="0"/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2000" b="1" dirty="0">
              <a:solidFill>
                <a:srgbClr val="006699"/>
              </a:solidFill>
              <a:latin typeface="Calibri" panose="020F0502020204030204" charset="0"/>
              <a:cs typeface="Calibri" panose="020F0502020204030204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37382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Demand Paging</a:t>
            </a:r>
            <a:endParaRPr lang="en-US" altLang="en-US" dirty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3539" y="1232218"/>
            <a:ext cx="4049745" cy="535146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Could bring entire process into memory at load time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000" dirty="0">
                <a:solidFill>
                  <a:srgbClr val="00B0F0"/>
                </a:solidFill>
                <a:latin typeface="Calibri" panose="020F0502020204030204" charset="0"/>
                <a:cs typeface="Calibri" panose="020F0502020204030204" charset="0"/>
              </a:rPr>
              <a:t>Or bring a page into memory only when it is needed</a:t>
            </a:r>
            <a:endParaRPr lang="en-US" altLang="en-US" sz="2000" dirty="0">
              <a:solidFill>
                <a:srgbClr val="00B0F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solidFill>
                  <a:srgbClr val="00B0F0"/>
                </a:solidFill>
                <a:latin typeface="Calibri" panose="020F0502020204030204" charset="0"/>
                <a:cs typeface="Calibri" panose="020F0502020204030204" charset="0"/>
              </a:rPr>
              <a:t>Less I/O needed, no unnecessary I/O</a:t>
            </a:r>
            <a:endParaRPr lang="en-US" altLang="en-US" sz="2000" dirty="0">
              <a:solidFill>
                <a:srgbClr val="00B0F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solidFill>
                  <a:srgbClr val="00B0F0"/>
                </a:solidFill>
                <a:latin typeface="Calibri" panose="020F0502020204030204" charset="0"/>
                <a:cs typeface="Calibri" panose="020F0502020204030204" charset="0"/>
              </a:rPr>
              <a:t>Less memory needed </a:t>
            </a:r>
            <a:endParaRPr lang="en-US" altLang="en-US" sz="2000" dirty="0">
              <a:solidFill>
                <a:srgbClr val="00B0F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solidFill>
                  <a:srgbClr val="00B0F0"/>
                </a:solidFill>
                <a:latin typeface="Calibri" panose="020F0502020204030204" charset="0"/>
                <a:cs typeface="Calibri" panose="020F0502020204030204" charset="0"/>
              </a:rPr>
              <a:t>Faster response</a:t>
            </a:r>
            <a:endParaRPr lang="en-US" altLang="en-US" sz="2000" dirty="0">
              <a:solidFill>
                <a:srgbClr val="00B0F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solidFill>
                  <a:srgbClr val="00B0F0"/>
                </a:solidFill>
                <a:latin typeface="Calibri" panose="020F0502020204030204" charset="0"/>
                <a:cs typeface="Calibri" panose="020F0502020204030204" charset="0"/>
              </a:rPr>
              <a:t>More users</a:t>
            </a:r>
            <a:endParaRPr lang="en-US" altLang="en-US" sz="2000" dirty="0">
              <a:solidFill>
                <a:srgbClr val="00B0F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Similar to paging system with swapping (diagram on right)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sz="2000" dirty="0">
              <a:latin typeface="Calibri" panose="020F0502020204030204" charset="0"/>
              <a:cs typeface="Calibri" panose="020F0502020204030204" charset="0"/>
              <a:sym typeface="Symbol" panose="05050102010706020507" pitchFamily="18" charset="2"/>
            </a:endParaRPr>
          </a:p>
        </p:txBody>
      </p:sp>
      <p:pic>
        <p:nvPicPr>
          <p:cNvPr id="14340" name="Picture 4" descr="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1070" y="1657350"/>
            <a:ext cx="4204335" cy="38500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>
          <a:xfrm>
            <a:off x="457200" y="238937"/>
            <a:ext cx="8229600" cy="576262"/>
          </a:xfrm>
        </p:spPr>
        <p:txBody>
          <a:bodyPr/>
          <a:lstStyle/>
          <a:p>
            <a:r>
              <a:rPr lang="en-US" altLang="en-US" dirty="0"/>
              <a:t>Basic Concepts</a:t>
            </a:r>
            <a:endParaRPr lang="en-US" altLang="en-US" dirty="0"/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>
          <a:xfrm>
            <a:off x="830426" y="1191243"/>
            <a:ext cx="7697755" cy="4530725"/>
          </a:xfrm>
        </p:spPr>
        <p:txBody>
          <a:bodyPr/>
          <a:lstStyle/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With swapping, pager guesses which pages will be used before swapping out again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Instead, pager brings in only those pages into memory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How to determine that set of pages?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Need new MMU functionality to implement demand paging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If pages needed are already </a:t>
            </a:r>
            <a:r>
              <a:rPr lang="en-US" altLang="en-US" sz="2000" b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</a:rPr>
              <a:t>memory</a:t>
            </a:r>
            <a:r>
              <a:rPr lang="en-US" altLang="en-US" sz="2000" b="1" dirty="0">
                <a:solidFill>
                  <a:srgbClr val="3366F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</a:rPr>
              <a:t>resident</a:t>
            </a:r>
            <a:endParaRPr lang="en-US" altLang="en-US" sz="2000" b="1" dirty="0">
              <a:solidFill>
                <a:srgbClr val="006699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No difference from non demand-paging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If page needed and not memory resident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Need to detect and load the page into memory from storage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2"/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Without changing program behavior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2"/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Without programmer needing to change code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3219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Valid-Invalid Bit</a:t>
            </a:r>
            <a:endParaRPr lang="en-US" altLang="en-US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9086" y="1046163"/>
            <a:ext cx="7688424" cy="5472112"/>
          </a:xfrm>
        </p:spPr>
        <p:txBody>
          <a:bodyPr/>
          <a:lstStyle/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With each page table entry a valid–invalid bit is associated</a:t>
            </a:r>
            <a:b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</a:b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(</a:t>
            </a:r>
            <a:r>
              <a:rPr lang="en-US" altLang="en-US" sz="2000" b="1" dirty="0">
                <a:solidFill>
                  <a:srgbClr val="FF0000"/>
                </a:solidFill>
                <a:latin typeface="Calibri" panose="020F0502020204030204" charset="0"/>
                <a:cs typeface="Calibri" panose="020F0502020204030204" charset="0"/>
              </a:rPr>
              <a:t>v</a:t>
            </a: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000" dirty="0"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  <a:t> in-memory – </a:t>
            </a:r>
            <a:r>
              <a:rPr lang="en-US" altLang="en-US" sz="2000" b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  <a:t>memory</a:t>
            </a:r>
            <a:r>
              <a:rPr lang="en-US" altLang="en-US" sz="2000" b="1" dirty="0">
                <a:solidFill>
                  <a:srgbClr val="3366FF"/>
                </a:solidFill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  <a:t>resident</a:t>
            </a:r>
            <a:r>
              <a:rPr lang="en-US" altLang="en-US" sz="2000" dirty="0"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  <a:t>,</a:t>
            </a:r>
            <a:r>
              <a:rPr lang="en-US" altLang="en-US" sz="2000" dirty="0">
                <a:solidFill>
                  <a:srgbClr val="FF0000"/>
                </a:solidFill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  <a:t> </a:t>
            </a:r>
            <a:r>
              <a:rPr lang="en-US" altLang="en-US" sz="2000" b="1" dirty="0">
                <a:solidFill>
                  <a:srgbClr val="FF0000"/>
                </a:solidFill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  <a:t>i</a:t>
            </a:r>
            <a:r>
              <a:rPr lang="en-US" altLang="en-US" sz="2000" dirty="0"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  <a:t>  not-in-memory)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  <a:sym typeface="Symbol" panose="05050102010706020507" pitchFamily="18" charset="2"/>
            </a:endParaRPr>
          </a:p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  <a:t>Initially valid–invalid bit is set to</a:t>
            </a:r>
            <a:r>
              <a:rPr lang="en-US" altLang="en-US" sz="2000" b="1" dirty="0">
                <a:solidFill>
                  <a:srgbClr val="FF0000"/>
                </a:solidFill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  <a:t> i </a:t>
            </a:r>
            <a:r>
              <a:rPr lang="en-US" altLang="en-US" sz="2000" dirty="0"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  <a:t>on all entries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  <a:sym typeface="Symbol" panose="05050102010706020507" pitchFamily="18" charset="2"/>
            </a:endParaRPr>
          </a:p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  <a:t>Example of a page table snapshot:</a:t>
            </a:r>
            <a:br>
              <a:rPr lang="en-US" altLang="en-US" sz="2000" dirty="0"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</a:br>
            <a:br>
              <a:rPr lang="en-US" altLang="en-US" sz="2000" dirty="0"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</a:br>
            <a:br>
              <a:rPr lang="en-US" altLang="en-US" sz="2000" dirty="0"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</a:br>
            <a:br>
              <a:rPr lang="en-US" altLang="en-US" sz="2000" dirty="0"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</a:br>
            <a:br>
              <a:rPr lang="en-US" altLang="en-US" sz="2000" dirty="0"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</a:br>
            <a:br>
              <a:rPr lang="en-US" altLang="en-US" sz="2000" dirty="0"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</a:br>
            <a:br>
              <a:rPr lang="en-US" altLang="en-US" sz="2000" dirty="0"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</a:br>
            <a:br>
              <a:rPr lang="en-US" altLang="en-US" sz="2000" dirty="0"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</a:br>
            <a:br>
              <a:rPr lang="en-US" altLang="en-US" sz="2000" dirty="0"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</a:br>
            <a:br>
              <a:rPr lang="en-US" altLang="en-US" sz="2000" dirty="0"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</a:br>
            <a:endParaRPr lang="en-US" altLang="en-US" sz="2000" dirty="0">
              <a:latin typeface="Calibri" panose="020F0502020204030204" charset="0"/>
              <a:cs typeface="Calibri" panose="020F0502020204030204" charset="0"/>
              <a:sym typeface="Symbol" panose="05050102010706020507" pitchFamily="18" charset="2"/>
            </a:endParaRPr>
          </a:p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  <a:t>During MMU address translation, if valid–invalid bit in page table entry is</a:t>
            </a:r>
            <a:r>
              <a:rPr lang="en-US" altLang="en-US" sz="2000" b="1" dirty="0">
                <a:solidFill>
                  <a:srgbClr val="FF0000"/>
                </a:solidFill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  <a:t> i</a:t>
            </a:r>
            <a:r>
              <a:rPr lang="en-US" altLang="en-US" sz="2000" dirty="0"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  <a:t>  page fault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  <a:sym typeface="Symbol" panose="05050102010706020507" pitchFamily="18" charset="2"/>
            </a:endParaRPr>
          </a:p>
        </p:txBody>
      </p:sp>
      <p:pic>
        <p:nvPicPr>
          <p:cNvPr id="16388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8630" y="2133600"/>
            <a:ext cx="2988945" cy="3449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653143" y="344979"/>
            <a:ext cx="7884368" cy="50165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Page Table When Some Pages Are Not</a:t>
            </a:r>
            <a:br>
              <a:rPr lang="en-US" altLang="en-US" sz="2400" dirty="0"/>
            </a:br>
            <a:r>
              <a:rPr lang="en-US" altLang="en-US" sz="2400" dirty="0"/>
              <a:t>in Main Memory</a:t>
            </a:r>
            <a:endParaRPr lang="en-US" altLang="en-US" sz="2400" dirty="0"/>
          </a:p>
        </p:txBody>
      </p:sp>
      <p:pic>
        <p:nvPicPr>
          <p:cNvPr id="17411" name="Picture 2" descr="B:\os-book\os10-dir\Slides-WORK-area\Figures-dir\ch10\JPG-dir\10_04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8490" y="1086485"/>
            <a:ext cx="5405755" cy="524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4826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Steps in Handling Page Fault</a:t>
            </a:r>
            <a:endParaRPr lang="en-US" altLang="en-US" dirty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9755" y="1390261"/>
            <a:ext cx="7707086" cy="4010414"/>
          </a:xfrm>
        </p:spPr>
        <p:txBody>
          <a:bodyPr/>
          <a:lstStyle/>
          <a:p>
            <a:pPr>
              <a:lnSpc>
                <a:spcPct val="90000"/>
              </a:lnSpc>
              <a:buFont typeface="+mj-lt"/>
              <a:buAutoNum type="arabicPeriod"/>
              <a:defRPr/>
            </a:pP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If there is a reference to a page, first reference to that page will trap to operating system 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1">
              <a:lnSpc>
                <a:spcPct val="90000"/>
              </a:lnSpc>
              <a:defRPr/>
            </a:pPr>
            <a:r>
              <a:rPr lang="en-US" altLang="en-US" sz="2000" dirty="0"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  <a:t>Page fault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 typeface="Monotype Sorts" pitchFamily="-84" charset="2"/>
              <a:buAutoNum type="arabicPeriod"/>
              <a:defRPr/>
            </a:pPr>
            <a:r>
              <a:rPr lang="en-US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  <a:t>Operating system looks at another table to decide:</a:t>
            </a:r>
            <a:endParaRPr lang="en-US" altLang="en-US" sz="20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  <a:sym typeface="Symbol" panose="05050102010706020507" pitchFamily="18" charset="2"/>
            </a:endParaRPr>
          </a:p>
          <a:p>
            <a:pPr marL="798830" lvl="1" indent="-341630">
              <a:lnSpc>
                <a:spcPct val="90000"/>
              </a:lnSpc>
              <a:defRPr/>
            </a:pPr>
            <a:r>
              <a:rPr lang="en-US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Invalid reference </a:t>
            </a:r>
            <a:r>
              <a:rPr lang="en-US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  <a:t> abort</a:t>
            </a:r>
            <a:endParaRPr lang="en-US" altLang="en-US" sz="20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  <a:sym typeface="Symbol" panose="05050102010706020507" pitchFamily="18" charset="2"/>
            </a:endParaRPr>
          </a:p>
          <a:p>
            <a:pPr marL="798830" lvl="1" indent="-341630">
              <a:lnSpc>
                <a:spcPct val="90000"/>
              </a:lnSpc>
              <a:defRPr/>
            </a:pPr>
            <a:r>
              <a:rPr lang="en-US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  <a:t>Just not in memory</a:t>
            </a:r>
            <a:endParaRPr lang="en-US" altLang="en-US" sz="20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 typeface="Monotype Sorts" pitchFamily="-84" charset="2"/>
              <a:buAutoNum type="arabicPeriod"/>
              <a:defRPr/>
            </a:pPr>
            <a:r>
              <a:rPr lang="en-US" altLang="en-US" sz="2000" dirty="0"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  <a:t>Find free frame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 typeface="Monotype Sorts" pitchFamily="-84" charset="2"/>
              <a:buAutoNum type="arabicPeriod"/>
              <a:defRPr/>
            </a:pPr>
            <a:r>
              <a:rPr lang="en-US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  <a:t>Swap page into frame via scheduled disk operation</a:t>
            </a:r>
            <a:endParaRPr lang="en-US" altLang="en-US" sz="20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 typeface="Monotype Sorts" pitchFamily="-84" charset="2"/>
              <a:buAutoNum type="arabicPeriod"/>
              <a:defRPr/>
            </a:pPr>
            <a:r>
              <a:rPr lang="en-US" altLang="en-US" sz="2000" dirty="0"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  <a:t>Reset tables to indicate page now in memory</a:t>
            </a:r>
            <a:br>
              <a:rPr lang="en-US" altLang="en-US" sz="2000" dirty="0"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</a:br>
            <a:r>
              <a:rPr lang="en-US" altLang="en-US" sz="2000" dirty="0"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  <a:t>Set validation bit = </a:t>
            </a:r>
            <a:r>
              <a:rPr lang="en-US" altLang="en-US" sz="2000" b="1" dirty="0">
                <a:solidFill>
                  <a:srgbClr val="FF0000"/>
                </a:solidFill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  <a:t>v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 typeface="Monotype Sorts" pitchFamily="-84" charset="2"/>
              <a:buAutoNum type="arabicPeriod"/>
              <a:defRPr/>
            </a:pPr>
            <a:r>
              <a:rPr lang="en-US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  <a:t>Restart the instruction that caused the page fault</a:t>
            </a:r>
            <a:endParaRPr lang="en-US" altLang="en-US" sz="20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  <a:defRPr/>
            </a:pPr>
            <a:endParaRPr lang="en-US" altLang="en-US" sz="20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671804" y="244899"/>
            <a:ext cx="8515059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Steps in Handling a Page Fault (Cont.)</a:t>
            </a:r>
            <a:endParaRPr lang="en-US" altLang="en-US" dirty="0"/>
          </a:p>
        </p:txBody>
      </p:sp>
      <p:pic>
        <p:nvPicPr>
          <p:cNvPr id="19459" name="Picture 4" descr="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5885" y="1217930"/>
            <a:ext cx="6174740" cy="5151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457200" y="238937"/>
            <a:ext cx="8229600" cy="576262"/>
          </a:xfrm>
        </p:spPr>
        <p:txBody>
          <a:bodyPr/>
          <a:lstStyle/>
          <a:p>
            <a:r>
              <a:rPr lang="en-US" altLang="en-US" dirty="0"/>
              <a:t>Aspects of Demand Paging</a:t>
            </a:r>
            <a:endParaRPr lang="en-US" altLang="en-US" dirty="0"/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858416" y="1239708"/>
            <a:ext cx="7651102" cy="4887912"/>
          </a:xfrm>
        </p:spPr>
        <p:txBody>
          <a:bodyPr/>
          <a:lstStyle/>
          <a:p>
            <a:r>
              <a:rPr lang="en-US" altLang="en-US" dirty="0"/>
              <a:t>Extreme case – start process with </a:t>
            </a:r>
            <a:r>
              <a:rPr lang="en-US" altLang="en-US" i="1" dirty="0"/>
              <a:t>no</a:t>
            </a:r>
            <a:r>
              <a:rPr lang="en-US" altLang="en-US" dirty="0"/>
              <a:t> pages in memory</a:t>
            </a:r>
            <a:endParaRPr lang="en-US" altLang="en-US" dirty="0"/>
          </a:p>
          <a:p>
            <a:pPr lvl="1"/>
            <a:r>
              <a:rPr lang="en-US" altLang="en-US" dirty="0"/>
              <a:t>OS sets instruction pointer to first instruction of process, non-memory-resident -&gt; page fault</a:t>
            </a:r>
            <a:endParaRPr lang="en-US" altLang="en-US" dirty="0"/>
          </a:p>
          <a:p>
            <a:pPr lvl="1"/>
            <a:r>
              <a:rPr lang="en-US" altLang="en-US" dirty="0"/>
              <a:t>And for every other process pages on first access</a:t>
            </a:r>
            <a:endParaRPr lang="en-US" altLang="en-US" dirty="0"/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Pure demand paging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r>
              <a:rPr lang="en-US" altLang="en-US" dirty="0"/>
              <a:t>Actually, a given instruction could access multiple pages -&gt; multiple page faults</a:t>
            </a:r>
            <a:endParaRPr lang="en-US" altLang="en-US" dirty="0"/>
          </a:p>
          <a:p>
            <a:pPr lvl="1"/>
            <a:r>
              <a:rPr lang="en-US" altLang="en-US" dirty="0"/>
              <a:t>Consider fetch and decode of instruction which adds 2 numbers from memory and stores result back to memory</a:t>
            </a:r>
            <a:endParaRPr lang="en-US" altLang="en-US" dirty="0"/>
          </a:p>
          <a:p>
            <a:pPr lvl="1"/>
            <a:r>
              <a:rPr lang="en-US" altLang="en-US" dirty="0"/>
              <a:t>Pain decreased because of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locality of reference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r>
              <a:rPr lang="en-US" altLang="en-US" dirty="0"/>
              <a:t>Hardware support needed for demand paging</a:t>
            </a:r>
            <a:endParaRPr lang="en-US" altLang="en-US" dirty="0"/>
          </a:p>
          <a:p>
            <a:pPr lvl="1"/>
            <a:r>
              <a:rPr lang="en-US" altLang="en-US" dirty="0"/>
              <a:t>Page table with valid / invalid bit</a:t>
            </a:r>
            <a:endParaRPr lang="en-US" altLang="en-US" dirty="0"/>
          </a:p>
          <a:p>
            <a:pPr lvl="1"/>
            <a:r>
              <a:rPr lang="en-US" altLang="en-US" dirty="0"/>
              <a:t>Secondary memory (swap device with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swap space</a:t>
            </a:r>
            <a:r>
              <a:rPr lang="en-US" altLang="en-US" dirty="0"/>
              <a:t>)</a:t>
            </a:r>
            <a:endParaRPr lang="en-US" altLang="en-US" dirty="0"/>
          </a:p>
          <a:p>
            <a:pPr lvl="1"/>
            <a:r>
              <a:rPr lang="en-US" altLang="en-US" dirty="0"/>
              <a:t>Instruction restart</a:t>
            </a: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4826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Instruction Restart</a:t>
            </a:r>
            <a:endParaRPr lang="en-US" altLang="en-US" dirty="0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9538" y="1088106"/>
            <a:ext cx="7432708" cy="4114800"/>
          </a:xfrm>
        </p:spPr>
        <p:txBody>
          <a:bodyPr/>
          <a:lstStyle/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Consider an instruction that could access several different locations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  <a:t>Block move</a:t>
            </a:r>
            <a:br>
              <a:rPr lang="en-US" altLang="en-US" sz="2000" dirty="0"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</a:br>
            <a:br>
              <a:rPr lang="en-US" altLang="en-US" sz="2000" dirty="0"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</a:br>
            <a:br>
              <a:rPr lang="en-US" altLang="en-US" sz="2000" dirty="0"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</a:br>
            <a:br>
              <a:rPr lang="en-US" altLang="en-US" sz="2000" dirty="0"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</a:br>
            <a:br>
              <a:rPr lang="en-US" altLang="en-US" sz="2000" dirty="0"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</a:br>
            <a:endParaRPr lang="en-US" altLang="en-US" sz="2000" dirty="0">
              <a:latin typeface="Calibri" panose="020F0502020204030204" charset="0"/>
              <a:cs typeface="Calibri" panose="020F0502020204030204" charset="0"/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2000" dirty="0">
              <a:latin typeface="Calibri" panose="020F0502020204030204" charset="0"/>
              <a:cs typeface="Calibri" panose="020F0502020204030204" charset="0"/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2000" dirty="0">
              <a:latin typeface="Calibri" panose="020F0502020204030204" charset="0"/>
              <a:cs typeface="Calibri" panose="020F0502020204030204" charset="0"/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  <a:t>Auto increment/decrement location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  <a:t>Restart the whole operation?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  <a:sym typeface="Symbol" panose="05050102010706020507" pitchFamily="18" charset="2"/>
            </a:endParaRPr>
          </a:p>
          <a:p>
            <a:pPr lvl="2">
              <a:lnSpc>
                <a:spcPct val="90000"/>
              </a:lnSpc>
            </a:pPr>
            <a:r>
              <a:rPr lang="en-US" altLang="en-US" sz="2000" dirty="0"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  <a:t>What if source and destination overlap?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  <a:sym typeface="Symbol" panose="05050102010706020507" pitchFamily="18" charset="2"/>
            </a:endParaRPr>
          </a:p>
        </p:txBody>
      </p:sp>
      <p:pic>
        <p:nvPicPr>
          <p:cNvPr id="21508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7560" y="2137410"/>
            <a:ext cx="1908175" cy="20040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38937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Free-Frame List</a:t>
            </a:r>
            <a:endParaRPr lang="en-US" altLang="en-US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9754" y="1343903"/>
            <a:ext cx="7669764" cy="4114800"/>
          </a:xfrm>
        </p:spPr>
        <p:txBody>
          <a:bodyPr/>
          <a:lstStyle/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When a page fault occurs, the operating system must bring the desired page from secondary storage into main memory. 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Most operating systems maintain a  </a:t>
            </a:r>
            <a:r>
              <a:rPr lang="en-US" altLang="en-US" sz="2000" b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</a:rPr>
              <a:t>free-frame</a:t>
            </a:r>
            <a:r>
              <a:rPr lang="en-US" altLang="en-US" sz="2000" b="1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list</a:t>
            </a: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 -- a pool of free frames for satisfying such requests.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Operating system typically allocate free frames using a technique known as </a:t>
            </a:r>
            <a:r>
              <a:rPr lang="en-US" altLang="en-US" sz="2000" b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</a:rPr>
              <a:t>zero-fill-on-demand</a:t>
            </a: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 --  the content of the frames zeroed-out before being allocated.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When a system starts up, all available memory is placed on the free-frame list. 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en-US" dirty="0"/>
          </a:p>
          <a:p>
            <a:endParaRPr lang="en-US" altLang="en-US" dirty="0"/>
          </a:p>
        </p:txBody>
      </p:sp>
      <p:pic>
        <p:nvPicPr>
          <p:cNvPr id="22532" name="Picture 2" descr="B:\os-book\os10-dir\Slides-WORK-area\Figures-dir\ch10\JPG-dir\10_06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5180" y="2952750"/>
            <a:ext cx="5415915" cy="383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898621" y="242727"/>
            <a:ext cx="7869237" cy="576263"/>
          </a:xfrm>
        </p:spPr>
        <p:txBody>
          <a:bodyPr/>
          <a:lstStyle/>
          <a:p>
            <a:pPr eaLnBrk="1" hangingPunct="1"/>
            <a:br>
              <a:rPr lang="en-US" altLang="en-US" sz="3000" dirty="0"/>
            </a:br>
            <a:r>
              <a:rPr lang="en-US" altLang="en-US" sz="3000" dirty="0"/>
              <a:t>Stages in Demand Paging – Worse Case</a:t>
            </a:r>
            <a:endParaRPr lang="en-US" altLang="en-US" sz="3000" dirty="0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11763" y="1324271"/>
            <a:ext cx="7651101" cy="4849812"/>
          </a:xfrm>
        </p:spPr>
        <p:txBody>
          <a:bodyPr/>
          <a:lstStyle/>
          <a:p>
            <a:pPr>
              <a:buFont typeface="Arial" panose="020B0604020202020204" pitchFamily="34" charset="0"/>
              <a:buAutoNum type="arabicPeriod"/>
              <a:tabLst>
                <a:tab pos="2163445" algn="l"/>
                <a:tab pos="2855595" algn="l"/>
              </a:tabLst>
            </a:pP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Trap to the operating system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>
              <a:buFont typeface="Arial" panose="020B0604020202020204" pitchFamily="34" charset="0"/>
              <a:buAutoNum type="arabicPeriod"/>
              <a:tabLst>
                <a:tab pos="2163445" algn="l"/>
                <a:tab pos="2855595" algn="l"/>
              </a:tabLst>
            </a:pPr>
            <a:r>
              <a:rPr lang="en-US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Save the user registers and process state</a:t>
            </a:r>
            <a:endParaRPr lang="en-US" altLang="en-US" sz="20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>
              <a:buFont typeface="Arial" panose="020B0604020202020204" pitchFamily="34" charset="0"/>
              <a:buAutoNum type="arabicPeriod"/>
              <a:tabLst>
                <a:tab pos="2163445" algn="l"/>
                <a:tab pos="2855595" algn="l"/>
              </a:tabLst>
            </a:pP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Determine that the interrupt was a page fault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>
              <a:buFont typeface="Arial" panose="020B0604020202020204" pitchFamily="34" charset="0"/>
              <a:buAutoNum type="arabicPeriod"/>
              <a:tabLst>
                <a:tab pos="2163445" algn="l"/>
                <a:tab pos="2855595" algn="l"/>
              </a:tabLst>
            </a:pPr>
            <a:r>
              <a:rPr lang="en-US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Check that the page reference was legal and determine the location of the page on the disk</a:t>
            </a:r>
            <a:endParaRPr lang="en-US" altLang="en-US" sz="20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>
              <a:buFont typeface="Arial" panose="020B0604020202020204" pitchFamily="34" charset="0"/>
              <a:buAutoNum type="arabicPeriod"/>
              <a:tabLst>
                <a:tab pos="2163445" algn="l"/>
                <a:tab pos="2855595" algn="l"/>
              </a:tabLst>
            </a:pP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Issue a read from the disk to a free frame: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marL="800100" lvl="1" indent="-342900">
              <a:buFont typeface="+mj-lt"/>
              <a:buAutoNum type="alphaLcParenR"/>
              <a:tabLst>
                <a:tab pos="2163445" algn="l"/>
                <a:tab pos="2855595" algn="l"/>
              </a:tabLst>
            </a:pP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Wait in a queue for this device until the read request is serviced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marL="798830" lvl="1" indent="-341630">
              <a:buFont typeface="Arial" panose="020B0604020202020204" pitchFamily="34" charset="0"/>
              <a:buAutoNum type="alphaLcParenR"/>
              <a:tabLst>
                <a:tab pos="2163445" algn="l"/>
                <a:tab pos="2855595" algn="l"/>
              </a:tabLst>
            </a:pP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Wait for the device seek and/or latency time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marL="798830" lvl="1" indent="-341630">
              <a:buFont typeface="Arial" panose="020B0604020202020204" pitchFamily="34" charset="0"/>
              <a:buAutoNum type="alphaLcParenR"/>
              <a:tabLst>
                <a:tab pos="2163445" algn="l"/>
                <a:tab pos="2855595" algn="l"/>
              </a:tabLst>
            </a:pP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Begin the transfer of the page to a free frame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>
              <a:tabLst>
                <a:tab pos="2163445" algn="l"/>
                <a:tab pos="2855595" algn="l"/>
              </a:tabLst>
            </a:pPr>
            <a:endParaRPr lang="en-US" altLang="en-US" sz="2000" dirty="0">
              <a:latin typeface="Calibri" panose="020F0502020204030204" charset="0"/>
              <a:cs typeface="Calibri" panose="020F0502020204030204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1133961" y="238937"/>
            <a:ext cx="7315200" cy="569912"/>
          </a:xfrm>
        </p:spPr>
        <p:txBody>
          <a:bodyPr/>
          <a:lstStyle/>
          <a:p>
            <a:pPr eaLnBrk="1" hangingPunct="1"/>
            <a:r>
              <a:rPr lang="en-US" altLang="en-US" dirty="0"/>
              <a:t>Stages in Demand Paging  (Cont.)</a:t>
            </a:r>
            <a:endParaRPr lang="en-US" altLang="en-US" dirty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6201" y="1377046"/>
            <a:ext cx="8036541" cy="4849813"/>
          </a:xfrm>
        </p:spPr>
        <p:txBody>
          <a:bodyPr/>
          <a:lstStyle/>
          <a:p>
            <a:pPr>
              <a:buFont typeface="Monotype Sorts" pitchFamily="-84" charset="2"/>
              <a:buAutoNum type="arabicPeriod" startAt="6"/>
              <a:tabLst>
                <a:tab pos="2163445" algn="l"/>
                <a:tab pos="2855595" algn="l"/>
              </a:tabLst>
            </a:pPr>
            <a:r>
              <a:rPr lang="en-US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 While waiting, allocate the CPU to some other user</a:t>
            </a:r>
            <a:endParaRPr lang="en-US" altLang="en-US" sz="20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>
              <a:buFont typeface="Monotype Sorts" pitchFamily="-84" charset="2"/>
              <a:buAutoNum type="arabicPeriod" startAt="6"/>
              <a:tabLst>
                <a:tab pos="2163445" algn="l"/>
                <a:tab pos="2855595" algn="l"/>
              </a:tabLst>
            </a:pP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  Receive an interrupt from the disk I/O subsystem (I/O   completed)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>
              <a:buFont typeface="Monotype Sorts" pitchFamily="-84" charset="2"/>
              <a:buAutoNum type="arabicPeriod" startAt="6"/>
              <a:tabLst>
                <a:tab pos="2163445" algn="l"/>
                <a:tab pos="2855595" algn="l"/>
              </a:tabLst>
            </a:pPr>
            <a:r>
              <a:rPr lang="en-US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 Save the registers and process state for the other user</a:t>
            </a:r>
            <a:endParaRPr lang="en-US" altLang="en-US" sz="20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>
              <a:buFont typeface="Monotype Sorts" pitchFamily="-84" charset="2"/>
              <a:buAutoNum type="arabicPeriod" startAt="6"/>
              <a:tabLst>
                <a:tab pos="2163445" algn="l"/>
                <a:tab pos="2855595" algn="l"/>
              </a:tabLst>
            </a:pP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  Determine that the interrupt was from the disk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>
              <a:buFont typeface="Monotype Sorts" pitchFamily="-84" charset="2"/>
              <a:buAutoNum type="arabicPeriod" startAt="6"/>
              <a:tabLst>
                <a:tab pos="2163445" algn="l"/>
                <a:tab pos="2855595" algn="l"/>
              </a:tabLst>
            </a:pP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Correct the page table and other tables to show page is now in memory</a:t>
            </a:r>
            <a:endParaRPr lang="en-US" altLang="en-US" sz="20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>
              <a:buFont typeface="Monotype Sorts" pitchFamily="-84" charset="2"/>
              <a:buAutoNum type="arabicPeriod" startAt="6"/>
              <a:tabLst>
                <a:tab pos="2163445" algn="l"/>
                <a:tab pos="2855595" algn="l"/>
              </a:tabLst>
            </a:pP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  Wait for the CPU to be allocated to this process again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>
              <a:buFont typeface="Monotype Sorts" pitchFamily="-84" charset="2"/>
              <a:buAutoNum type="arabicPeriod" startAt="6"/>
              <a:tabLst>
                <a:tab pos="2163445" algn="l"/>
                <a:tab pos="2855595" algn="l"/>
              </a:tabLst>
            </a:pP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  </a:t>
            </a:r>
            <a:r>
              <a:rPr lang="en-US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Restore the user registers, process state, and new page table, and then  </a:t>
            </a:r>
            <a:endParaRPr lang="en-US" altLang="en-US" sz="20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spcBef>
                <a:spcPts val="0"/>
              </a:spcBef>
              <a:buNone/>
              <a:tabLst>
                <a:tab pos="2163445" algn="l"/>
                <a:tab pos="2855595" algn="l"/>
              </a:tabLst>
            </a:pPr>
            <a:r>
              <a:rPr lang="en-US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       resume the interrupted instruction</a:t>
            </a:r>
            <a:endParaRPr lang="en-US" altLang="en-US" sz="20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>
              <a:tabLst>
                <a:tab pos="2163445" algn="l"/>
                <a:tab pos="2855595" algn="l"/>
              </a:tabLst>
            </a:pPr>
            <a:endParaRPr lang="en-US" altLang="en-US" sz="20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224060" y="202036"/>
            <a:ext cx="7272338" cy="611188"/>
          </a:xfrm>
        </p:spPr>
        <p:txBody>
          <a:bodyPr/>
          <a:lstStyle/>
          <a:p>
            <a:pPr eaLnBrk="1" hangingPunct="1"/>
            <a:r>
              <a:rPr lang="en-US" altLang="en-US" dirty="0"/>
              <a:t>Performance of Demand Paging</a:t>
            </a:r>
            <a:endParaRPr lang="en-US" altLang="en-US" dirty="0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8995" y="1119505"/>
            <a:ext cx="7716520" cy="5349240"/>
          </a:xfrm>
        </p:spPr>
        <p:txBody>
          <a:bodyPr/>
          <a:lstStyle/>
          <a:p>
            <a:pPr>
              <a:tabLst>
                <a:tab pos="2163445" algn="l"/>
                <a:tab pos="2855595" algn="l"/>
              </a:tabLst>
            </a:pP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Three major activities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1">
              <a:tabLst>
                <a:tab pos="2163445" algn="l"/>
                <a:tab pos="2855595" algn="l"/>
              </a:tabLst>
            </a:pP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Service the interrupt – careful coding means just several hundred instructions needed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1">
              <a:tabLst>
                <a:tab pos="2163445" algn="l"/>
                <a:tab pos="2855595" algn="l"/>
              </a:tabLst>
            </a:pP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Read the page – lots of time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1">
              <a:tabLst>
                <a:tab pos="2163445" algn="l"/>
                <a:tab pos="2855595" algn="l"/>
              </a:tabLst>
            </a:pP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Restart the process – again just a small amount of time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>
              <a:tabLst>
                <a:tab pos="2163445" algn="l"/>
                <a:tab pos="2855595" algn="l"/>
              </a:tabLst>
            </a:pPr>
            <a:r>
              <a:rPr lang="en-US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Page Fault Rate 0 </a:t>
            </a:r>
            <a:r>
              <a:rPr lang="en-US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  <a:t> </a:t>
            </a:r>
            <a:r>
              <a:rPr lang="en-US" altLang="en-US" sz="2000" i="1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  <a:t>p</a:t>
            </a:r>
            <a:r>
              <a:rPr lang="en-US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  <a:t>  1</a:t>
            </a:r>
            <a:endParaRPr lang="en-US" altLang="en-US" sz="20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  <a:sym typeface="Symbol" panose="05050102010706020507" pitchFamily="18" charset="2"/>
            </a:endParaRPr>
          </a:p>
          <a:p>
            <a:pPr lvl="1">
              <a:tabLst>
                <a:tab pos="2163445" algn="l"/>
                <a:tab pos="2855595" algn="l"/>
              </a:tabLst>
            </a:pPr>
            <a:r>
              <a:rPr lang="en-US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  <a:t>if </a:t>
            </a:r>
            <a:r>
              <a:rPr lang="en-US" altLang="en-US" sz="2000" i="1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  <a:t>p</a:t>
            </a:r>
            <a:r>
              <a:rPr lang="en-US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  <a:t> = 0 no page faults </a:t>
            </a:r>
            <a:endParaRPr lang="en-US" altLang="en-US" sz="20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  <a:sym typeface="Symbol" panose="05050102010706020507" pitchFamily="18" charset="2"/>
            </a:endParaRPr>
          </a:p>
          <a:p>
            <a:pPr lvl="1">
              <a:tabLst>
                <a:tab pos="2163445" algn="l"/>
                <a:tab pos="2855595" algn="l"/>
              </a:tabLst>
            </a:pPr>
            <a:r>
              <a:rPr lang="en-US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  <a:t>if </a:t>
            </a:r>
            <a:r>
              <a:rPr lang="en-US" altLang="en-US" sz="2000" i="1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  <a:t>p</a:t>
            </a:r>
            <a:r>
              <a:rPr lang="en-US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  <a:t> = 1, every reference is a fault</a:t>
            </a:r>
            <a:endParaRPr lang="en-US" altLang="en-US" sz="20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  <a:sym typeface="Symbol" panose="05050102010706020507" pitchFamily="18" charset="2"/>
            </a:endParaRPr>
          </a:p>
          <a:p>
            <a:pPr>
              <a:tabLst>
                <a:tab pos="2163445" algn="l"/>
                <a:tab pos="2855595" algn="l"/>
              </a:tabLst>
            </a:pPr>
            <a:r>
              <a:rPr lang="en-US" altLang="en-US" sz="2000" dirty="0"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  <a:t>Effective Access Time (EAT)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  <a:sym typeface="Symbol" panose="05050102010706020507" pitchFamily="18" charset="2"/>
            </a:endParaRPr>
          </a:p>
          <a:p>
            <a:pPr>
              <a:buFont typeface="Monotype Sorts" pitchFamily="-84" charset="2"/>
              <a:buNone/>
              <a:tabLst>
                <a:tab pos="2163445" algn="l"/>
                <a:tab pos="2855595" algn="l"/>
              </a:tabLst>
            </a:pPr>
            <a:r>
              <a:rPr lang="en-US" altLang="en-US" sz="2000" dirty="0"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  <a:t>	      EAT = (1 – </a:t>
            </a:r>
            <a:r>
              <a:rPr lang="en-US" altLang="en-US" sz="2000" i="1" dirty="0"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  <a:t>p</a:t>
            </a:r>
            <a:r>
              <a:rPr lang="en-US" altLang="en-US" sz="2000" dirty="0"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  <a:t>) x memory access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  <a:sym typeface="Symbol" panose="05050102010706020507" pitchFamily="18" charset="2"/>
            </a:endParaRPr>
          </a:p>
          <a:p>
            <a:pPr>
              <a:buFont typeface="Monotype Sorts" pitchFamily="-84" charset="2"/>
              <a:buNone/>
              <a:tabLst>
                <a:tab pos="2163445" algn="l"/>
                <a:tab pos="2855595" algn="l"/>
              </a:tabLst>
            </a:pPr>
            <a:r>
              <a:rPr lang="en-US" altLang="en-US" sz="2000" dirty="0"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  <a:t>                       + </a:t>
            </a:r>
            <a:r>
              <a:rPr lang="en-US" altLang="en-US" sz="2000" i="1" dirty="0"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  <a:t>p</a:t>
            </a:r>
            <a:r>
              <a:rPr lang="en-US" altLang="en-US" sz="2000" dirty="0"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  <a:t> (page fault overhead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  <a:sym typeface="Symbol" panose="05050102010706020507" pitchFamily="18" charset="2"/>
            </a:endParaRPr>
          </a:p>
          <a:p>
            <a:pPr>
              <a:buFont typeface="Monotype Sorts" pitchFamily="-84" charset="2"/>
              <a:buNone/>
              <a:tabLst>
                <a:tab pos="2163445" algn="l"/>
                <a:tab pos="2855595" algn="l"/>
              </a:tabLst>
            </a:pPr>
            <a:r>
              <a:rPr lang="en-US" altLang="en-US" sz="2000" dirty="0"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  <a:t>	                 + swap page out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  <a:sym typeface="Symbol" panose="05050102010706020507" pitchFamily="18" charset="2"/>
            </a:endParaRPr>
          </a:p>
          <a:p>
            <a:pPr>
              <a:buFont typeface="Monotype Sorts" pitchFamily="-84" charset="2"/>
              <a:buNone/>
              <a:tabLst>
                <a:tab pos="2163445" algn="l"/>
                <a:tab pos="2855595" algn="l"/>
              </a:tabLst>
            </a:pPr>
            <a:r>
              <a:rPr lang="en-US" altLang="en-US" sz="2000" dirty="0"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  <a:t>	                 + swap page in )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  <a:sym typeface="Symbol" panose="05050102010706020507" pitchFamily="18" charset="2"/>
            </a:endParaRPr>
          </a:p>
          <a:p>
            <a:pPr>
              <a:buFont typeface="Monotype Sorts" pitchFamily="-84" charset="2"/>
              <a:buNone/>
              <a:tabLst>
                <a:tab pos="2163445" algn="l"/>
                <a:tab pos="2855595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				</a:t>
            </a:r>
            <a:endParaRPr lang="en-US" alt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767085" y="223644"/>
            <a:ext cx="77517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Demand Paging Example</a:t>
            </a:r>
            <a:endParaRPr lang="en-US" altLang="en-US" dirty="0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9470" y="1068705"/>
            <a:ext cx="7669530" cy="5561330"/>
          </a:xfrm>
        </p:spPr>
        <p:txBody>
          <a:bodyPr/>
          <a:lstStyle/>
          <a:p>
            <a:pPr>
              <a:tabLst>
                <a:tab pos="1772920" algn="l"/>
                <a:tab pos="2277745" algn="l"/>
              </a:tabLst>
            </a:pP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Memory access time = 200 nanoseconds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>
              <a:tabLst>
                <a:tab pos="1772920" algn="l"/>
                <a:tab pos="2277745" algn="l"/>
              </a:tabLst>
            </a:pP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Average page-fault service time = 8 milliseconds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>
              <a:tabLst>
                <a:tab pos="1772920" algn="l"/>
                <a:tab pos="2277745" algn="l"/>
              </a:tabLst>
            </a:pPr>
            <a:r>
              <a:rPr lang="en-US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EAT = (1 – p) x 200 + p (8 milliseconds) </a:t>
            </a:r>
            <a:endParaRPr lang="en-US" altLang="en-US" sz="20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>
              <a:buFont typeface="Monotype Sorts" pitchFamily="-84" charset="2"/>
              <a:buNone/>
              <a:tabLst>
                <a:tab pos="1772920" algn="l"/>
                <a:tab pos="2277745" algn="l"/>
              </a:tabLst>
            </a:pPr>
            <a:r>
              <a:rPr lang="en-US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	        = (1 – p  x 200 + p x 8,000,000 </a:t>
            </a:r>
            <a:endParaRPr lang="en-US" altLang="en-US" sz="20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>
              <a:buFont typeface="Monotype Sorts" pitchFamily="-84" charset="2"/>
              <a:buNone/>
              <a:tabLst>
                <a:tab pos="1772920" algn="l"/>
                <a:tab pos="2277745" algn="l"/>
              </a:tabLst>
            </a:pPr>
            <a:r>
              <a:rPr lang="en-US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             = 200 + p x 7,999,800</a:t>
            </a:r>
            <a:endParaRPr lang="en-US" altLang="en-US" sz="20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>
              <a:tabLst>
                <a:tab pos="1772920" algn="l"/>
                <a:tab pos="2277745" algn="l"/>
              </a:tabLst>
            </a:pP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If one access out of 1,000 causes a page fault, then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>
              <a:buFont typeface="Monotype Sorts" pitchFamily="-84" charset="2"/>
              <a:buNone/>
              <a:tabLst>
                <a:tab pos="1772920" algn="l"/>
                <a:tab pos="2277745" algn="l"/>
              </a:tabLst>
            </a:pP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         EAT = 8.2 microseconds. 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>
              <a:buFont typeface="Monotype Sorts" pitchFamily="-84" charset="2"/>
              <a:buNone/>
              <a:tabLst>
                <a:tab pos="1772920" algn="l"/>
                <a:tab pos="2277745" algn="l"/>
              </a:tabLst>
            </a:pP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      This is a slowdown by a factor of 40!!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>
              <a:tabLst>
                <a:tab pos="1772920" algn="l"/>
                <a:tab pos="2277745" algn="l"/>
              </a:tabLst>
            </a:pPr>
            <a:r>
              <a:rPr lang="en-US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If want performance degradation &lt; 10 percent</a:t>
            </a:r>
            <a:endParaRPr lang="en-US" altLang="en-US" sz="20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lvl="1">
              <a:tabLst>
                <a:tab pos="1772920" algn="l"/>
                <a:tab pos="2277745" algn="l"/>
              </a:tabLst>
            </a:pPr>
            <a:r>
              <a:rPr lang="en-US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220 &gt; 200 + 7,999,800 x p</a:t>
            </a:r>
            <a:br>
              <a:rPr lang="en-US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</a:br>
            <a:r>
              <a:rPr lang="en-US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20 &gt; 7,999,800 x p</a:t>
            </a:r>
            <a:endParaRPr lang="en-US" altLang="en-US" sz="20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lvl="1">
              <a:tabLst>
                <a:tab pos="1772920" algn="l"/>
                <a:tab pos="2277745" algn="l"/>
              </a:tabLst>
            </a:pPr>
            <a:r>
              <a:rPr lang="en-US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p &lt; .0000025</a:t>
            </a:r>
            <a:endParaRPr lang="en-US" altLang="en-US" sz="20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lvl="1">
              <a:tabLst>
                <a:tab pos="1772920" algn="l"/>
                <a:tab pos="2277745" algn="l"/>
              </a:tabLst>
            </a:pPr>
            <a:r>
              <a:rPr lang="en-US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&lt; one page fault in every 400,000 memory accesses</a:t>
            </a:r>
            <a:endParaRPr lang="en-US" altLang="en-US" sz="20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>
              <a:buFont typeface="Monotype Sorts" pitchFamily="-84" charset="2"/>
              <a:buNone/>
              <a:tabLst>
                <a:tab pos="1772920" algn="l"/>
                <a:tab pos="2277745" algn="l"/>
              </a:tabLst>
            </a:pPr>
            <a:r>
              <a:rPr lang="en-US" altLang="en-US" dirty="0"/>
              <a:t>	</a:t>
            </a:r>
            <a:endParaRPr lang="en-US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614005" y="238159"/>
            <a:ext cx="8229600" cy="576262"/>
          </a:xfrm>
        </p:spPr>
        <p:txBody>
          <a:bodyPr/>
          <a:lstStyle/>
          <a:p>
            <a:r>
              <a:rPr lang="en-US" altLang="en-US" dirty="0"/>
              <a:t>Demand Paging Optimizations</a:t>
            </a:r>
            <a:endParaRPr lang="en-US" altLang="en-US" dirty="0"/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417195" y="1028700"/>
            <a:ext cx="8353425" cy="5232400"/>
          </a:xfrm>
        </p:spPr>
        <p:txBody>
          <a:bodyPr/>
          <a:lstStyle/>
          <a:p>
            <a:r>
              <a:rPr lang="en-US" altLang="en-US" sz="1800" dirty="0">
                <a:latin typeface="Calibri" panose="020F0502020204030204" charset="0"/>
                <a:cs typeface="Calibri" panose="020F0502020204030204" charset="0"/>
              </a:rPr>
              <a:t>Swap space I/O faster than file system I/O even if on the same device</a:t>
            </a:r>
            <a:endParaRPr lang="en-US" altLang="en-US" sz="1800" dirty="0"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1800" dirty="0">
                <a:latin typeface="Calibri" panose="020F0502020204030204" charset="0"/>
                <a:cs typeface="Calibri" panose="020F0502020204030204" charset="0"/>
              </a:rPr>
              <a:t>Swap allocated in larger chunks, less management needed than file system</a:t>
            </a:r>
            <a:endParaRPr lang="en-US" altLang="en-US" sz="18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18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Copy entire process image to swap space at process load time</a:t>
            </a:r>
            <a:endParaRPr lang="en-US" altLang="en-US" sz="18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18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Then page in and out of swap space</a:t>
            </a:r>
            <a:endParaRPr lang="en-US" altLang="en-US" sz="18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18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Used in older BSD Unix</a:t>
            </a:r>
            <a:endParaRPr lang="en-US" altLang="en-US" sz="18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1800" dirty="0">
                <a:latin typeface="Calibri" panose="020F0502020204030204" charset="0"/>
                <a:cs typeface="Calibri" panose="020F0502020204030204" charset="0"/>
              </a:rPr>
              <a:t>Demand page in from program binary on disk, but discard rather than paging out when freeing frame</a:t>
            </a:r>
            <a:endParaRPr lang="en-US" altLang="en-US" sz="1800" dirty="0"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1800" dirty="0">
                <a:latin typeface="Calibri" panose="020F0502020204030204" charset="0"/>
                <a:cs typeface="Calibri" panose="020F0502020204030204" charset="0"/>
              </a:rPr>
              <a:t>Used in Solaris and current BSD</a:t>
            </a:r>
            <a:endParaRPr lang="en-US" altLang="en-US" sz="1800" dirty="0"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1800" dirty="0">
                <a:latin typeface="Calibri" panose="020F0502020204030204" charset="0"/>
                <a:cs typeface="Calibri" panose="020F0502020204030204" charset="0"/>
              </a:rPr>
              <a:t>Still need to write to swap space</a:t>
            </a:r>
            <a:endParaRPr lang="en-US" altLang="en-US" sz="1800" dirty="0">
              <a:latin typeface="Calibri" panose="020F0502020204030204" charset="0"/>
              <a:cs typeface="Calibri" panose="020F0502020204030204" charset="0"/>
            </a:endParaRPr>
          </a:p>
          <a:p>
            <a:pPr lvl="2"/>
            <a:r>
              <a:rPr lang="en-US" altLang="en-US" sz="1800" dirty="0">
                <a:latin typeface="Calibri" panose="020F0502020204030204" charset="0"/>
                <a:cs typeface="Calibri" panose="020F0502020204030204" charset="0"/>
              </a:rPr>
              <a:t>Pages not associated with a file (like stack and heap) – </a:t>
            </a:r>
            <a:r>
              <a:rPr lang="en-US" altLang="en-US" sz="1800" b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</a:rPr>
              <a:t>anonymous</a:t>
            </a:r>
            <a:r>
              <a:rPr lang="en-US" altLang="en-US" sz="18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800" b="1" dirty="0">
                <a:solidFill>
                  <a:srgbClr val="3366FF"/>
                </a:solidFill>
                <a:latin typeface="Calibri" panose="020F0502020204030204" charset="0"/>
                <a:cs typeface="Calibri" panose="020F0502020204030204" charset="0"/>
              </a:rPr>
              <a:t>memory</a:t>
            </a:r>
            <a:endParaRPr lang="en-US" altLang="en-US" sz="1800" b="1" dirty="0">
              <a:solidFill>
                <a:srgbClr val="3366FF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lvl="2"/>
            <a:r>
              <a:rPr lang="en-US" altLang="en-US" sz="1800" dirty="0">
                <a:latin typeface="Calibri" panose="020F0502020204030204" charset="0"/>
                <a:cs typeface="Calibri" panose="020F0502020204030204" charset="0"/>
              </a:rPr>
              <a:t>Pages modified in memory but not yet written back to the file system</a:t>
            </a:r>
            <a:endParaRPr lang="en-US" altLang="en-US" sz="18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18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Mobile systems</a:t>
            </a:r>
            <a:endParaRPr lang="en-US" altLang="en-US" sz="18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18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Typically don’t support swapping</a:t>
            </a:r>
            <a:endParaRPr lang="en-US" altLang="en-US" sz="18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18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Instead, demand page from file system and reclaim read-only pages (such as code)</a:t>
            </a:r>
            <a:endParaRPr lang="en-US" altLang="en-US" sz="18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335901" y="23738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Copy-on-Write</a:t>
            </a:r>
            <a:endParaRPr lang="en-US" altLang="en-US" dirty="0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9470" y="1106805"/>
            <a:ext cx="7726045" cy="5206365"/>
          </a:xfrm>
        </p:spPr>
        <p:txBody>
          <a:bodyPr/>
          <a:lstStyle/>
          <a:p>
            <a:r>
              <a:rPr lang="en-US" altLang="en-US" sz="1800" b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</a:rPr>
              <a:t>Copy-on-Write</a:t>
            </a:r>
            <a:r>
              <a:rPr lang="en-US" altLang="en-US" sz="1800" b="1" dirty="0">
                <a:solidFill>
                  <a:srgbClr val="3366F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800" dirty="0">
                <a:latin typeface="Calibri" panose="020F0502020204030204" charset="0"/>
                <a:cs typeface="Calibri" panose="020F0502020204030204" charset="0"/>
              </a:rPr>
              <a:t>(COW) allows both parent and child processes to initially </a:t>
            </a:r>
            <a:r>
              <a:rPr lang="en-US" altLang="en-US" sz="1800" b="1" i="1" dirty="0">
                <a:latin typeface="Calibri" panose="020F0502020204030204" charset="0"/>
                <a:cs typeface="Calibri" panose="020F0502020204030204" charset="0"/>
              </a:rPr>
              <a:t>share</a:t>
            </a:r>
            <a:r>
              <a:rPr lang="en-US" altLang="en-US" sz="1800" dirty="0">
                <a:latin typeface="Calibri" panose="020F0502020204030204" charset="0"/>
                <a:cs typeface="Calibri" panose="020F0502020204030204" charset="0"/>
              </a:rPr>
              <a:t> the same pages in memory</a:t>
            </a:r>
            <a:endParaRPr lang="en-US" altLang="en-US" sz="1800" dirty="0"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1800" dirty="0">
                <a:latin typeface="Calibri" panose="020F0502020204030204" charset="0"/>
                <a:cs typeface="Calibri" panose="020F0502020204030204" charset="0"/>
              </a:rPr>
              <a:t>If either process modifies a shared page, only then is the page copied</a:t>
            </a:r>
            <a:endParaRPr lang="en-US" altLang="en-US" sz="18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1800" dirty="0">
                <a:latin typeface="Calibri" panose="020F0502020204030204" charset="0"/>
                <a:cs typeface="Calibri" panose="020F0502020204030204" charset="0"/>
              </a:rPr>
              <a:t>COW allows more efficient process creation as only modified pages are copied</a:t>
            </a:r>
            <a:endParaRPr lang="en-US" altLang="en-US" sz="18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1800" dirty="0">
                <a:latin typeface="Calibri" panose="020F0502020204030204" charset="0"/>
                <a:cs typeface="Calibri" panose="020F0502020204030204" charset="0"/>
              </a:rPr>
              <a:t>In general, free pages are allocated from a </a:t>
            </a:r>
            <a:r>
              <a:rPr lang="en-US" altLang="en-US" sz="1800" b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</a:rPr>
              <a:t>pool</a:t>
            </a:r>
            <a:r>
              <a:rPr lang="en-US" altLang="en-US" sz="1800" dirty="0">
                <a:solidFill>
                  <a:srgbClr val="3366F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800" dirty="0">
                <a:latin typeface="Calibri" panose="020F0502020204030204" charset="0"/>
                <a:cs typeface="Calibri" panose="020F0502020204030204" charset="0"/>
              </a:rPr>
              <a:t>of </a:t>
            </a:r>
            <a:r>
              <a:rPr lang="en-US" altLang="en-US" sz="1800" b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</a:rPr>
              <a:t>zero-fill-on-demand</a:t>
            </a:r>
            <a:r>
              <a:rPr lang="en-US" altLang="en-US" sz="1800" b="1" dirty="0">
                <a:solidFill>
                  <a:srgbClr val="3366F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800" dirty="0">
                <a:latin typeface="Calibri" panose="020F0502020204030204" charset="0"/>
                <a:cs typeface="Calibri" panose="020F0502020204030204" charset="0"/>
              </a:rPr>
              <a:t>pages</a:t>
            </a:r>
            <a:endParaRPr lang="en-US" altLang="en-US" sz="1800" dirty="0"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1800" dirty="0">
                <a:latin typeface="Calibri" panose="020F0502020204030204" charset="0"/>
                <a:cs typeface="Calibri" panose="020F0502020204030204" charset="0"/>
              </a:rPr>
              <a:t>Pool should always have free frames for fast demand page execution</a:t>
            </a:r>
            <a:endParaRPr lang="en-US" altLang="en-US" sz="1800" dirty="0">
              <a:latin typeface="Calibri" panose="020F0502020204030204" charset="0"/>
              <a:cs typeface="Calibri" panose="020F0502020204030204" charset="0"/>
            </a:endParaRPr>
          </a:p>
          <a:p>
            <a:pPr lvl="2"/>
            <a:r>
              <a:rPr lang="en-US" altLang="en-US" sz="1800" dirty="0">
                <a:latin typeface="Calibri" panose="020F0502020204030204" charset="0"/>
                <a:cs typeface="Calibri" panose="020F0502020204030204" charset="0"/>
              </a:rPr>
              <a:t>Don’t want to have to free a frame as well as other processing on page fault</a:t>
            </a:r>
            <a:endParaRPr lang="en-US" altLang="en-US" sz="1800" dirty="0"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1800" dirty="0">
                <a:latin typeface="Calibri" panose="020F0502020204030204" charset="0"/>
                <a:cs typeface="Calibri" panose="020F0502020204030204" charset="0"/>
              </a:rPr>
              <a:t>Why zero-out a page before allocating it?</a:t>
            </a:r>
            <a:endParaRPr lang="en-US" altLang="en-US" sz="18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vfork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altLang="en-US" sz="1800" dirty="0"/>
              <a:t> variation on 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fork() </a:t>
            </a:r>
            <a:r>
              <a:rPr lang="en-US" altLang="en-US" sz="1800" dirty="0"/>
              <a:t>system call has parent suspend and child using copy-on-write address space of parent</a:t>
            </a:r>
            <a:endParaRPr lang="en-US" altLang="en-US" sz="1800" dirty="0"/>
          </a:p>
          <a:p>
            <a:pPr lvl="1"/>
            <a:r>
              <a:rPr lang="en-US" altLang="en-US" sz="1800" dirty="0"/>
              <a:t>Designed to have child call 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exec()</a:t>
            </a:r>
            <a:endParaRPr lang="en-US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altLang="en-US" sz="1800" dirty="0"/>
              <a:t>Very efficient</a:t>
            </a:r>
            <a:endParaRPr lang="en-US" alt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806965" y="236344"/>
            <a:ext cx="77914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Before Process 1 Modifies Page C</a:t>
            </a:r>
            <a:endParaRPr lang="en-US" altLang="en-US" dirty="0"/>
          </a:p>
        </p:txBody>
      </p:sp>
      <p:pic>
        <p:nvPicPr>
          <p:cNvPr id="29699" name="Picture 4" descr="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025" y="1354455"/>
            <a:ext cx="7660005" cy="3081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777030" y="231420"/>
            <a:ext cx="78105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After Process 1 Modifies Page C</a:t>
            </a:r>
            <a:endParaRPr lang="en-US" altLang="en-US" dirty="0"/>
          </a:p>
        </p:txBody>
      </p:sp>
      <p:pic>
        <p:nvPicPr>
          <p:cNvPr id="30723" name="Picture 4" descr="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365" y="1319530"/>
            <a:ext cx="7026910" cy="3246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1047909" y="237771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What Happens if There is no Free Frame?</a:t>
            </a:r>
            <a:endParaRPr lang="en-US" altLang="en-US" sz="3000" dirty="0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8417" y="1133475"/>
            <a:ext cx="7679093" cy="4511675"/>
          </a:xfrm>
        </p:spPr>
        <p:txBody>
          <a:bodyPr/>
          <a:lstStyle/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Used up by process pages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Also in demand from the kernel, I/O buffers, </a:t>
            </a:r>
            <a:r>
              <a:rPr lang="en-US" altLang="en-US" sz="2000" dirty="0" err="1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etc</a:t>
            </a:r>
            <a:endParaRPr lang="en-US" altLang="en-US" sz="20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How much to allocate to each?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Page replacement – find some page in memory, but not really in use, page it out</a:t>
            </a:r>
            <a:endParaRPr lang="en-US" altLang="en-US" sz="20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Algorithm – terminate? swap out? replace the page?</a:t>
            </a:r>
            <a:endParaRPr lang="en-US" altLang="en-US" sz="20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Performance – want an algorithm which will result in minimum number of page faults</a:t>
            </a:r>
            <a:endParaRPr lang="en-US" altLang="en-US" sz="20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Same page may be brought into memory several times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>
              <a:buFont typeface="Monotype Sorts" pitchFamily="-84" charset="2"/>
              <a:buNone/>
            </a:pP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831394" y="235568"/>
            <a:ext cx="77247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Page Replacement</a:t>
            </a:r>
            <a:endParaRPr lang="en-US" altLang="en-US" dirty="0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1394" y="1190625"/>
            <a:ext cx="7724775" cy="4530725"/>
          </a:xfrm>
        </p:spPr>
        <p:txBody>
          <a:bodyPr/>
          <a:lstStyle/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Prevent </a:t>
            </a:r>
            <a:r>
              <a:rPr lang="en-US" altLang="en-US" sz="2000" b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</a:rPr>
              <a:t>over-allocation</a:t>
            </a: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 of memory by modifying page-fault service routine to include page replacement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Use </a:t>
            </a:r>
            <a:r>
              <a:rPr lang="en-US" altLang="en-US" sz="2000" b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</a:rPr>
              <a:t>modify</a:t>
            </a:r>
            <a:r>
              <a:rPr lang="en-US" altLang="en-US" sz="2000" b="1" dirty="0">
                <a:solidFill>
                  <a:srgbClr val="3366F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(</a:t>
            </a:r>
            <a:r>
              <a:rPr lang="en-US" altLang="en-US" sz="2000" b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</a:rPr>
              <a:t>dirty</a:t>
            </a: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)</a:t>
            </a:r>
            <a:r>
              <a:rPr lang="en-US" altLang="en-US" sz="2000" b="1" dirty="0">
                <a:solidFill>
                  <a:srgbClr val="3366F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</a:rPr>
              <a:t>bit</a:t>
            </a:r>
            <a:r>
              <a:rPr lang="en-US" altLang="en-US" sz="2000" b="1" dirty="0">
                <a:solidFill>
                  <a:srgbClr val="3366F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to reduce overhead of page transfers – only modified pages are written to disk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Page replacement completes separation between logical memory and physical memory – large virtual memory can be provided on a smaller physical memory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993775" y="235568"/>
            <a:ext cx="76930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Need For Page Replacement</a:t>
            </a:r>
            <a:endParaRPr lang="en-US" altLang="en-US" dirty="0"/>
          </a:p>
        </p:txBody>
      </p:sp>
      <p:pic>
        <p:nvPicPr>
          <p:cNvPr id="33795" name="Picture 4" descr="B:\os-book\os10-dir\Slides-WORK-area\Figures-dir\ch10\JPG-dir\10_09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985" y="1126490"/>
            <a:ext cx="7301230" cy="4751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976860" y="238161"/>
            <a:ext cx="76073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Basic Page Replacement</a:t>
            </a:r>
            <a:endParaRPr lang="en-US" altLang="en-US" dirty="0"/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8416" y="1122363"/>
            <a:ext cx="7607299" cy="4457700"/>
          </a:xfrm>
        </p:spPr>
        <p:txBody>
          <a:bodyPr/>
          <a:lstStyle/>
          <a:p>
            <a:pPr marL="379730" indent="-379730">
              <a:buFont typeface="Monotype Sorts" pitchFamily="-84" charset="2"/>
              <a:buAutoNum type="arabicPeriod"/>
            </a:pPr>
            <a:r>
              <a:rPr lang="en-US" altLang="en-US" sz="2000" dirty="0">
                <a:solidFill>
                  <a:srgbClr val="00B0F0"/>
                </a:solidFill>
                <a:latin typeface="Calibri" panose="020F0502020204030204" charset="0"/>
                <a:cs typeface="Calibri" panose="020F0502020204030204" charset="0"/>
              </a:rPr>
              <a:t>Find the location of the desired page on disk</a:t>
            </a:r>
            <a:endParaRPr lang="en-US" altLang="en-US" sz="2000" dirty="0">
              <a:solidFill>
                <a:srgbClr val="00B0F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379730" indent="-379730">
              <a:buFont typeface="Monotype Sorts" pitchFamily="-84" charset="2"/>
              <a:buAutoNum type="arabicPeriod"/>
            </a:pP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Find a free frame:</a:t>
            </a:r>
            <a:b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</a:b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   -  If there is a free frame, use it</a:t>
            </a:r>
            <a:b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</a:b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   -  If there is no free frame, use a page replacement algorithm to select a </a:t>
            </a:r>
            <a:r>
              <a:rPr lang="en-US" altLang="en-US" sz="2000" b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</a:rPr>
              <a:t>victim</a:t>
            </a:r>
            <a:r>
              <a:rPr lang="en-US" altLang="en-US" sz="2000" dirty="0">
                <a:solidFill>
                  <a:srgbClr val="3366F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</a:rPr>
              <a:t>frame</a:t>
            </a:r>
            <a:br>
              <a:rPr lang="en-US" altLang="en-US" sz="2000" b="1" dirty="0">
                <a:solidFill>
                  <a:srgbClr val="3366FF"/>
                </a:solidFill>
                <a:latin typeface="Calibri" panose="020F0502020204030204" charset="0"/>
                <a:cs typeface="Calibri" panose="020F0502020204030204" charset="0"/>
              </a:rPr>
            </a:br>
            <a:r>
              <a:rPr lang="en-US" altLang="en-US" sz="2000" b="1" dirty="0">
                <a:solidFill>
                  <a:srgbClr val="3366FF"/>
                </a:solidFill>
                <a:latin typeface="Calibri" panose="020F0502020204030204" charset="0"/>
                <a:cs typeface="Calibri" panose="020F0502020204030204" charset="0"/>
              </a:rPr>
              <a:t>   </a:t>
            </a: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-</a:t>
            </a:r>
            <a:r>
              <a:rPr lang="en-US" altLang="en-US" sz="2000" b="1" dirty="0">
                <a:latin typeface="Calibri" panose="020F0502020204030204" charset="0"/>
                <a:cs typeface="Calibri" panose="020F0502020204030204" charset="0"/>
              </a:rPr>
              <a:t>  </a:t>
            </a: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Write victim frame to disk if dirty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marL="379730" indent="-379730">
              <a:buFont typeface="Monotype Sorts" pitchFamily="-84" charset="2"/>
              <a:buAutoNum type="arabicPeriod"/>
            </a:pPr>
            <a:r>
              <a:rPr lang="en-US" altLang="en-US" sz="2000" dirty="0">
                <a:solidFill>
                  <a:srgbClr val="00B0F0"/>
                </a:solidFill>
                <a:latin typeface="Calibri" panose="020F0502020204030204" charset="0"/>
                <a:cs typeface="Calibri" panose="020F0502020204030204" charset="0"/>
              </a:rPr>
              <a:t>Bring  the desired page into the (newly) free frame; update the page and frame tables</a:t>
            </a:r>
            <a:endParaRPr lang="en-US" altLang="en-US" sz="2000" dirty="0">
              <a:solidFill>
                <a:srgbClr val="00B0F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379730" indent="-379730">
              <a:buFont typeface="Monotype Sorts" pitchFamily="-84" charset="2"/>
              <a:buAutoNum type="arabicPeriod"/>
            </a:pP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Continue the process by restarting the instruction that caused the trap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marL="379730" indent="-379730">
              <a:buFont typeface="Monotype Sorts" pitchFamily="-84" charset="2"/>
              <a:buNone/>
            </a:pP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 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marL="379730" indent="-379730">
              <a:buFont typeface="Monotype Sorts" pitchFamily="-84" charset="2"/>
              <a:buNone/>
            </a:pP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Note now potentially 2 page transfers for page fault – increasing EAT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882389" y="222868"/>
            <a:ext cx="76644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Page Replacement</a:t>
            </a:r>
            <a:endParaRPr lang="en-US" altLang="en-US" dirty="0"/>
          </a:p>
        </p:txBody>
      </p:sp>
      <p:pic>
        <p:nvPicPr>
          <p:cNvPr id="35843" name="Picture 4" descr="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375" y="1135380"/>
            <a:ext cx="6952615" cy="512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1214945" y="175298"/>
            <a:ext cx="7861041" cy="576262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Page and Frame Replacement Algorithms</a:t>
            </a:r>
            <a:endParaRPr lang="en-US" altLang="en-US" sz="2800" dirty="0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9450" y="1133475"/>
            <a:ext cx="8042910" cy="5219700"/>
          </a:xfrm>
        </p:spPr>
        <p:txBody>
          <a:bodyPr/>
          <a:lstStyle/>
          <a:p>
            <a:pPr>
              <a:tabLst>
                <a:tab pos="3144520" algn="ctr"/>
              </a:tabLst>
            </a:pPr>
            <a:r>
              <a:rPr lang="en-US" altLang="en-US" sz="2000" b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</a:rPr>
              <a:t>Frame-allocation algorithm </a:t>
            </a: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determines 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1">
              <a:tabLst>
                <a:tab pos="3144520" algn="ctr"/>
              </a:tabLst>
            </a:pP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How many frames to give each process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1">
              <a:tabLst>
                <a:tab pos="3144520" algn="ctr"/>
              </a:tabLst>
            </a:pP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Which frames to replace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>
              <a:tabLst>
                <a:tab pos="3144520" algn="ctr"/>
              </a:tabLst>
            </a:pPr>
            <a:r>
              <a:rPr lang="en-US" altLang="en-US" sz="2000" b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</a:rPr>
              <a:t>Page-replacement algorithm</a:t>
            </a:r>
            <a:endParaRPr lang="en-US" altLang="en-US" sz="2000" b="1" dirty="0">
              <a:solidFill>
                <a:srgbClr val="006699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lvl="1">
              <a:tabLst>
                <a:tab pos="3144520" algn="ctr"/>
              </a:tabLst>
            </a:pP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Want lowest page-fault rate on both first access and re-access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>
              <a:tabLst>
                <a:tab pos="3144520" algn="ctr"/>
              </a:tabLst>
            </a:pP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Evaluate algorithm by running it on a particular string of memory references (reference string) and computing the number of page faults on that string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1">
              <a:tabLst>
                <a:tab pos="3144520" algn="ctr"/>
              </a:tabLst>
            </a:pP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String is just page numbers, not full addresses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1">
              <a:tabLst>
                <a:tab pos="3144520" algn="ctr"/>
              </a:tabLst>
            </a:pP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Repeated access to the same page does not cause a page fault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1">
              <a:tabLst>
                <a:tab pos="3144520" algn="ctr"/>
              </a:tabLst>
            </a:pP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Results depend on number of frames available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>
              <a:tabLst>
                <a:tab pos="3144520" algn="ctr"/>
              </a:tabLst>
            </a:pP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In all our examples, the </a:t>
            </a:r>
            <a:r>
              <a:rPr lang="en-US" altLang="en-US" sz="2000" b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</a:rPr>
              <a:t>reference</a:t>
            </a:r>
            <a:r>
              <a:rPr lang="en-US" altLang="en-US" sz="2000" b="1" dirty="0">
                <a:solidFill>
                  <a:srgbClr val="3366F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</a:rPr>
              <a:t>string</a:t>
            </a:r>
            <a:r>
              <a:rPr lang="en-US" altLang="en-US" sz="2000" b="1" dirty="0">
                <a:solidFill>
                  <a:srgbClr val="3366F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of referenced page numbers is 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>
              <a:buFont typeface="Monotype Sorts" pitchFamily="-84" charset="2"/>
              <a:buNone/>
              <a:tabLst>
                <a:tab pos="3144520" algn="ctr"/>
              </a:tabLst>
            </a:pP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	               </a:t>
            </a:r>
            <a:r>
              <a:rPr lang="en-US" altLang="en-US" sz="2000" b="1" dirty="0">
                <a:solidFill>
                  <a:srgbClr val="FF0000"/>
                </a:solidFill>
                <a:latin typeface="Calibri" panose="020F0502020204030204" charset="0"/>
                <a:cs typeface="Calibri" panose="020F0502020204030204" charset="0"/>
              </a:rPr>
              <a:t>7,0,1,2,0,3,0,4,2,3,0,3,0,3,2,1,2,0,1,7,0,1</a:t>
            </a:r>
            <a:endParaRPr lang="en-US" altLang="en-US" sz="2000" b="1" dirty="0">
              <a:solidFill>
                <a:srgbClr val="FF0000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804155" y="60152"/>
            <a:ext cx="8662696" cy="58998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Graph of Page Faults Versus the Number of Frames</a:t>
            </a:r>
            <a:endParaRPr lang="en-US" altLang="en-US" sz="2400" dirty="0"/>
          </a:p>
        </p:txBody>
      </p:sp>
      <p:pic>
        <p:nvPicPr>
          <p:cNvPr id="37891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235" y="1353820"/>
            <a:ext cx="6859270" cy="4037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894735" y="241529"/>
            <a:ext cx="7821612" cy="576262"/>
          </a:xfrm>
        </p:spPr>
        <p:txBody>
          <a:bodyPr/>
          <a:lstStyle/>
          <a:p>
            <a:pPr eaLnBrk="1" hangingPunct="1"/>
            <a:r>
              <a:rPr lang="en-US" altLang="en-US"/>
              <a:t>First-In-First-Out (FIFO) Algorithm</a:t>
            </a:r>
            <a:endParaRPr lang="en-US" altLang="en-US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4735" y="1052513"/>
            <a:ext cx="7582515" cy="5762625"/>
          </a:xfrm>
        </p:spPr>
        <p:txBody>
          <a:bodyPr/>
          <a:lstStyle/>
          <a:p>
            <a:r>
              <a:rPr lang="en-US" altLang="en-US" dirty="0"/>
              <a:t>Reference string: </a:t>
            </a:r>
            <a:r>
              <a:rPr lang="en-US" altLang="en-US" b="1" dirty="0">
                <a:solidFill>
                  <a:srgbClr val="FF0000"/>
                </a:solidFill>
              </a:rPr>
              <a:t>7,0,1,2,0,3,0,4,2,3,0,3,0,3,2,1,2,0,1,7,0,1</a:t>
            </a:r>
            <a:endParaRPr lang="en-US" altLang="en-US" dirty="0"/>
          </a:p>
          <a:p>
            <a:r>
              <a:rPr lang="en-US" altLang="en-US" dirty="0"/>
              <a:t>3 frames (3 pages can be in memory at a time per process)</a:t>
            </a:r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pPr>
              <a:buFont typeface="Monotype Sorts" pitchFamily="-84" charset="2"/>
              <a:buNone/>
            </a:pPr>
            <a:br>
              <a:rPr lang="en-US" altLang="en-US" dirty="0"/>
            </a:br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sz="800" dirty="0"/>
          </a:p>
          <a:p>
            <a:pPr>
              <a:buFont typeface="Monotype Sorts" pitchFamily="-84" charset="2"/>
              <a:buNone/>
            </a:pPr>
            <a:endParaRPr lang="en-US" altLang="en-US" sz="800" dirty="0"/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r>
              <a:rPr lang="en-US" altLang="en-US" dirty="0"/>
              <a:t>Can vary by reference string: consider 1,2,3,4,1,2,5,1,2,3,4,5</a:t>
            </a:r>
            <a:endParaRPr lang="en-US" altLang="en-US" dirty="0"/>
          </a:p>
          <a:p>
            <a:pPr lvl="1"/>
            <a:r>
              <a:rPr lang="en-US" altLang="en-US" dirty="0"/>
              <a:t>Adding more frames can cause more page faults!</a:t>
            </a:r>
            <a:endParaRPr lang="en-US" altLang="en-US" dirty="0"/>
          </a:p>
          <a:p>
            <a:pPr lvl="2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Belady</a:t>
            </a:r>
            <a:r>
              <a:rPr lang="en-US" altLang="ja-JP" b="1" dirty="0">
                <a:solidFill>
                  <a:srgbClr val="006699"/>
                </a:solidFill>
                <a:latin typeface="+mj-lt"/>
              </a:rPr>
              <a:t>’</a:t>
            </a:r>
            <a:r>
              <a:rPr lang="en-US" altLang="ja-JP" b="1" dirty="0">
                <a:solidFill>
                  <a:srgbClr val="006699"/>
                </a:solidFill>
                <a:latin typeface="+mj-lt"/>
              </a:rPr>
              <a:t>s Anomaly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r>
              <a:rPr lang="en-US" altLang="en-US" dirty="0"/>
              <a:t>How to track ages of pages? </a:t>
            </a:r>
            <a:endParaRPr lang="en-US" altLang="en-US" dirty="0"/>
          </a:p>
          <a:p>
            <a:pPr lvl="1"/>
            <a:r>
              <a:rPr lang="en-US" altLang="en-US" dirty="0"/>
              <a:t>Just use a FIFO queue</a:t>
            </a:r>
            <a:endParaRPr lang="en-US" altLang="en-US" dirty="0"/>
          </a:p>
        </p:txBody>
      </p:sp>
      <p:sp>
        <p:nvSpPr>
          <p:cNvPr id="38916" name="Text Box 16"/>
          <p:cNvSpPr txBox="1">
            <a:spLocks noChangeArrowheads="1"/>
          </p:cNvSpPr>
          <p:nvPr/>
        </p:nvSpPr>
        <p:spPr bwMode="auto">
          <a:xfrm>
            <a:off x="1558925" y="3546475"/>
            <a:ext cx="16970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dirty="0">
                <a:latin typeface="Helvetica" panose="020B0604020202020204" pitchFamily="34" charset="0"/>
              </a:rPr>
              <a:t>15 page faults</a:t>
            </a:r>
            <a:endParaRPr lang="en-US" altLang="en-US" dirty="0">
              <a:latin typeface="Helvetica" panose="020B0604020202020204" pitchFamily="34" charset="0"/>
            </a:endParaRPr>
          </a:p>
        </p:txBody>
      </p:sp>
      <p:pic>
        <p:nvPicPr>
          <p:cNvPr id="38917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4375" y="1854200"/>
            <a:ext cx="5327650" cy="169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1037769" y="232975"/>
            <a:ext cx="77343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FIFO Illustrating Belady</a:t>
            </a:r>
            <a:r>
              <a:rPr lang="ja-JP" altLang="en-US" dirty="0"/>
              <a:t>’</a:t>
            </a:r>
            <a:r>
              <a:rPr lang="en-US" altLang="ja-JP" dirty="0"/>
              <a:t>s Anomaly</a:t>
            </a:r>
            <a:endParaRPr lang="en-US" altLang="en-US" dirty="0"/>
          </a:p>
        </p:txBody>
      </p:sp>
      <p:pic>
        <p:nvPicPr>
          <p:cNvPr id="39939" name="Picture 1" descr="9_13.pdf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3340" y="1303655"/>
            <a:ext cx="5987415" cy="4284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749300" y="231422"/>
            <a:ext cx="79375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Optimal Algorithm</a:t>
            </a:r>
            <a:endParaRPr lang="en-US" altLang="en-US" dirty="0"/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9754" y="1119188"/>
            <a:ext cx="7495397" cy="2052637"/>
          </a:xfrm>
        </p:spPr>
        <p:txBody>
          <a:bodyPr/>
          <a:lstStyle/>
          <a:p>
            <a:pPr>
              <a:tabLst>
                <a:tab pos="1889125" algn="l"/>
              </a:tabLst>
            </a:pPr>
            <a:r>
              <a:rPr lang="en-US" altLang="en-US" dirty="0"/>
              <a:t>Replace page that will not be used for longest period of time</a:t>
            </a:r>
            <a:endParaRPr lang="en-US" altLang="en-US" dirty="0"/>
          </a:p>
          <a:p>
            <a:pPr lvl="1">
              <a:tabLst>
                <a:tab pos="1889125" algn="l"/>
              </a:tabLst>
            </a:pPr>
            <a:r>
              <a:rPr lang="en-US" altLang="en-US" dirty="0"/>
              <a:t>9 is optimal for the example</a:t>
            </a:r>
            <a:endParaRPr lang="en-US" altLang="en-US" dirty="0"/>
          </a:p>
          <a:p>
            <a:pPr>
              <a:tabLst>
                <a:tab pos="1889125" algn="l"/>
              </a:tabLst>
            </a:pPr>
            <a:r>
              <a:rPr lang="en-US" altLang="en-US" dirty="0"/>
              <a:t>How do you know this?</a:t>
            </a:r>
            <a:endParaRPr lang="en-US" altLang="en-US" dirty="0"/>
          </a:p>
          <a:p>
            <a:pPr lvl="1">
              <a:tabLst>
                <a:tab pos="1889125" algn="l"/>
              </a:tabLst>
            </a:pPr>
            <a:r>
              <a:rPr lang="en-US" altLang="en-US" dirty="0"/>
              <a:t>Can</a:t>
            </a:r>
            <a:r>
              <a:rPr lang="ja-JP" altLang="en-US" dirty="0"/>
              <a:t>’</a:t>
            </a:r>
            <a:r>
              <a:rPr lang="en-US" altLang="ja-JP" dirty="0"/>
              <a:t>t read the future</a:t>
            </a:r>
            <a:endParaRPr lang="en-US" altLang="en-US" dirty="0"/>
          </a:p>
          <a:p>
            <a:pPr>
              <a:tabLst>
                <a:tab pos="1889125" algn="l"/>
              </a:tabLst>
            </a:pPr>
            <a:r>
              <a:rPr lang="en-US" altLang="en-US" dirty="0"/>
              <a:t>Used for measuring how well your algorithm performs</a:t>
            </a:r>
            <a:endParaRPr lang="en-US" altLang="en-US" dirty="0"/>
          </a:p>
        </p:txBody>
      </p:sp>
      <p:pic>
        <p:nvPicPr>
          <p:cNvPr id="4096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2900" y="3159125"/>
            <a:ext cx="6259513" cy="210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1128773" y="185249"/>
            <a:ext cx="7673975" cy="576262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Least Recently Used (LRU) Algorithm</a:t>
            </a:r>
            <a:endParaRPr lang="en-US" altLang="en-US" sz="2800" dirty="0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7079" y="1260964"/>
            <a:ext cx="7751989" cy="4835525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Use past knowledge rather than future</a:t>
            </a:r>
            <a:endParaRPr lang="en-US" altLang="en-US" dirty="0"/>
          </a:p>
          <a:p>
            <a:pPr>
              <a:defRPr/>
            </a:pPr>
            <a:r>
              <a:rPr lang="en-US" altLang="en-US" dirty="0"/>
              <a:t>Replace page that has not been used in the most amount of time</a:t>
            </a:r>
            <a:endParaRPr lang="en-US" altLang="en-US" dirty="0"/>
          </a:p>
          <a:p>
            <a:pPr>
              <a:defRPr/>
            </a:pPr>
            <a:r>
              <a:rPr lang="en-US" altLang="en-US" dirty="0"/>
              <a:t>Associate time of last use with each page</a:t>
            </a:r>
            <a:endParaRPr lang="en-US" altLang="en-US" dirty="0"/>
          </a:p>
          <a:p>
            <a:pPr>
              <a:buFont typeface="Monotype Sorts" pitchFamily="-84" charset="2"/>
              <a:buNone/>
              <a:defRPr/>
            </a:pPr>
            <a:endParaRPr lang="en-US" altLang="en-US" dirty="0"/>
          </a:p>
          <a:p>
            <a:pPr>
              <a:buFont typeface="Monotype Sorts" pitchFamily="-84" charset="2"/>
              <a:buNone/>
              <a:defRPr/>
            </a:pPr>
            <a:endParaRPr lang="en-US" altLang="en-US" dirty="0"/>
          </a:p>
          <a:p>
            <a:pPr>
              <a:defRPr/>
            </a:pPr>
            <a:endParaRPr lang="en-US" altLang="en-US" dirty="0"/>
          </a:p>
          <a:p>
            <a:pPr>
              <a:defRPr/>
            </a:pPr>
            <a:endParaRPr lang="en-US" altLang="en-US" dirty="0"/>
          </a:p>
          <a:p>
            <a:pPr marL="0" indent="0">
              <a:buFont typeface="Monotype Sorts" pitchFamily="-84" charset="2"/>
              <a:buNone/>
              <a:defRPr/>
            </a:pPr>
            <a:endParaRPr lang="en-US" altLang="en-US" dirty="0"/>
          </a:p>
          <a:p>
            <a:pPr>
              <a:defRPr/>
            </a:pPr>
            <a:endParaRPr lang="en-US" altLang="en-US" dirty="0"/>
          </a:p>
          <a:p>
            <a:pPr>
              <a:defRPr/>
            </a:pPr>
            <a:r>
              <a:rPr lang="en-US" altLang="en-US" dirty="0"/>
              <a:t>12 faults – better than FIFO but worse than OPT</a:t>
            </a:r>
            <a:endParaRPr lang="en-US" altLang="en-US" dirty="0"/>
          </a:p>
          <a:p>
            <a:pPr>
              <a:defRPr/>
            </a:pPr>
            <a:r>
              <a:rPr lang="en-US" altLang="en-US" dirty="0"/>
              <a:t>Generally good algorithm and frequently used</a:t>
            </a:r>
            <a:endParaRPr lang="en-US" altLang="en-US" dirty="0"/>
          </a:p>
          <a:p>
            <a:pPr>
              <a:defRPr/>
            </a:pPr>
            <a:r>
              <a:rPr lang="en-US" altLang="en-US" dirty="0"/>
              <a:t>But how to implement?</a:t>
            </a:r>
            <a:endParaRPr lang="en-US" altLang="en-US" dirty="0"/>
          </a:p>
          <a:p>
            <a:pPr>
              <a:buFont typeface="Monotype Sorts" pitchFamily="-84" charset="2"/>
              <a:buNone/>
              <a:defRPr/>
            </a:pPr>
            <a:endParaRPr lang="en-US" altLang="en-US" dirty="0"/>
          </a:p>
        </p:txBody>
      </p:sp>
      <p:pic>
        <p:nvPicPr>
          <p:cNvPr id="41988" name="Picture 4" descr="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7363" y="2635545"/>
            <a:ext cx="6170612" cy="168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466531" y="23219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LRU Algorithm (Cont.)</a:t>
            </a:r>
            <a:endParaRPr lang="en-US" altLang="en-US" dirty="0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9086" y="950913"/>
            <a:ext cx="7728177" cy="5246687"/>
          </a:xfrm>
        </p:spPr>
        <p:txBody>
          <a:bodyPr/>
          <a:lstStyle/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Counter implementation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Every page entry has a counter; every time page is referenced through this entry, copy the clock into the counter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When a page needs to be changed, look at the counters to find smallest value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2"/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Search through table needed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Stack implementation</a:t>
            </a:r>
            <a:endParaRPr lang="en-US" altLang="en-US" sz="20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Keep a stack of page numbers in a double link form:</a:t>
            </a:r>
            <a:endParaRPr lang="en-US" altLang="en-US" sz="20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Page referenced:</a:t>
            </a:r>
            <a:endParaRPr lang="en-US" altLang="en-US" sz="20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lvl="2"/>
            <a:r>
              <a:rPr lang="en-US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move it to the top</a:t>
            </a:r>
            <a:endParaRPr lang="en-US" altLang="en-US" sz="20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lvl="2"/>
            <a:r>
              <a:rPr lang="en-US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requires 6 pointers to be changed</a:t>
            </a:r>
            <a:endParaRPr lang="en-US" altLang="en-US" sz="20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But each update more expensive</a:t>
            </a:r>
            <a:endParaRPr lang="en-US" altLang="en-US" sz="20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No search for replacement</a:t>
            </a:r>
            <a:endParaRPr lang="en-US" altLang="en-US" sz="20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466531" y="23219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LRU Algorithm (Cont.)</a:t>
            </a:r>
            <a:endParaRPr lang="en-US" altLang="en-US" dirty="0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9086" y="950913"/>
            <a:ext cx="7728177" cy="5246687"/>
          </a:xfrm>
        </p:spPr>
        <p:txBody>
          <a:bodyPr/>
          <a:lstStyle/>
          <a:p>
            <a:r>
              <a:rPr lang="en-US" altLang="en-US" dirty="0"/>
              <a:t>LRU and OPT are cases of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stack algorithms </a:t>
            </a:r>
            <a:r>
              <a:rPr lang="en-US" altLang="en-US" dirty="0"/>
              <a:t>that don</a:t>
            </a:r>
            <a:r>
              <a:rPr lang="ja-JP" altLang="en-US" dirty="0"/>
              <a:t>’</a:t>
            </a:r>
            <a:r>
              <a:rPr lang="en-US" altLang="ja-JP" dirty="0"/>
              <a:t>t have Belady</a:t>
            </a:r>
            <a:r>
              <a:rPr lang="ja-JP" altLang="en-US" dirty="0"/>
              <a:t>’</a:t>
            </a:r>
            <a:r>
              <a:rPr lang="en-US" altLang="ja-JP" dirty="0"/>
              <a:t>s Anomaly</a:t>
            </a:r>
            <a:endParaRPr lang="en-US" altLang="ja-JP" dirty="0"/>
          </a:p>
          <a:p>
            <a:r>
              <a:rPr lang="en-US" altLang="en-US" dirty="0"/>
              <a:t>Use Of A Stack to Record Most Recent Page References</a:t>
            </a:r>
            <a:endParaRPr lang="en-US" dirty="0"/>
          </a:p>
          <a:p>
            <a:endParaRPr lang="en-US" altLang="en-US" dirty="0"/>
          </a:p>
        </p:txBody>
      </p:sp>
      <p:pic>
        <p:nvPicPr>
          <p:cNvPr id="4" name="Picture 1" descr="9_16.pdf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8038" y="2260350"/>
            <a:ext cx="4702175" cy="367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839754" y="234791"/>
            <a:ext cx="77724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LRU Approximation Algorithms</a:t>
            </a:r>
            <a:endParaRPr lang="en-US" altLang="en-US" dirty="0"/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9755" y="1159949"/>
            <a:ext cx="7664484" cy="5146675"/>
          </a:xfrm>
        </p:spPr>
        <p:txBody>
          <a:bodyPr/>
          <a:lstStyle/>
          <a:p>
            <a:r>
              <a:rPr lang="en-US" altLang="en-US" dirty="0"/>
              <a:t>LRU needs special hardware and still slow</a:t>
            </a:r>
            <a:endParaRPr lang="en-US" altLang="en-US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Reference bit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dirty="0"/>
              <a:t>With each page associate a bit, initially = 0</a:t>
            </a:r>
            <a:endParaRPr lang="en-US" altLang="en-US" dirty="0"/>
          </a:p>
          <a:p>
            <a:pPr lvl="1"/>
            <a:r>
              <a:rPr lang="en-US" altLang="en-US" dirty="0"/>
              <a:t>When page is referenced bit set to 1</a:t>
            </a:r>
            <a:endParaRPr lang="en-US" altLang="en-US" dirty="0"/>
          </a:p>
          <a:p>
            <a:pPr lvl="1"/>
            <a:r>
              <a:rPr lang="en-US" altLang="en-US" dirty="0"/>
              <a:t>Replace any with reference bit = 0 (if one exists)</a:t>
            </a:r>
            <a:endParaRPr lang="en-US" altLang="en-US" dirty="0"/>
          </a:p>
          <a:p>
            <a:pPr lvl="2"/>
            <a:r>
              <a:rPr lang="en-US" altLang="en-US" dirty="0"/>
              <a:t>We do not know the order, however</a:t>
            </a:r>
            <a:endParaRPr lang="en-US" altLang="en-US" sz="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1236801" y="179021"/>
            <a:ext cx="7772400" cy="576262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LRU Approximation Algorithms (cont.)</a:t>
            </a:r>
            <a:endParaRPr lang="en-US" altLang="en-US" sz="2800" dirty="0"/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9755" y="1159949"/>
            <a:ext cx="7664484" cy="5146675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Second-chance algorithm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dirty="0"/>
              <a:t>Generally FIFO, plus hardware-provided reference bit</a:t>
            </a:r>
            <a:endParaRPr lang="en-US" altLang="en-US" dirty="0"/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Clock </a:t>
            </a:r>
            <a:r>
              <a:rPr lang="en-US" altLang="en-US" dirty="0"/>
              <a:t>replacement</a:t>
            </a:r>
            <a:endParaRPr lang="en-US" altLang="en-US" dirty="0"/>
          </a:p>
          <a:p>
            <a:pPr lvl="1"/>
            <a:r>
              <a:rPr lang="en-US" altLang="en-US" dirty="0"/>
              <a:t>If page to be replaced has </a:t>
            </a:r>
            <a:endParaRPr lang="en-US" altLang="en-US" dirty="0"/>
          </a:p>
          <a:p>
            <a:pPr lvl="2"/>
            <a:r>
              <a:rPr lang="en-US" altLang="en-US" dirty="0"/>
              <a:t>Reference bit = 0 -&gt; replace it</a:t>
            </a:r>
            <a:endParaRPr lang="en-US" altLang="en-US" dirty="0"/>
          </a:p>
          <a:p>
            <a:pPr lvl="2"/>
            <a:r>
              <a:rPr lang="en-US" altLang="en-US" dirty="0"/>
              <a:t>reference bit = 1 then:</a:t>
            </a:r>
            <a:endParaRPr lang="en-US" altLang="en-US" dirty="0"/>
          </a:p>
          <a:p>
            <a:pPr lvl="3"/>
            <a:r>
              <a:rPr lang="en-US" altLang="en-US" dirty="0"/>
              <a:t>set reference bit 0, leave page in memory</a:t>
            </a:r>
            <a:endParaRPr lang="en-US" altLang="en-US" dirty="0"/>
          </a:p>
          <a:p>
            <a:pPr lvl="3"/>
            <a:r>
              <a:rPr lang="en-US" altLang="en-US" dirty="0"/>
              <a:t>replace next page, subject to same rules</a:t>
            </a:r>
            <a:endParaRPr lang="en-US" altLang="en-U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497892" y="290747"/>
            <a:ext cx="8010525" cy="463550"/>
          </a:xfrm>
        </p:spPr>
        <p:txBody>
          <a:bodyPr/>
          <a:lstStyle/>
          <a:p>
            <a:pPr eaLnBrk="1" hangingPunct="1"/>
            <a:br>
              <a:rPr lang="en-US" altLang="en-US" sz="2800" dirty="0"/>
            </a:br>
            <a:r>
              <a:rPr lang="en-US" altLang="en-US" dirty="0"/>
              <a:t>Second-chance Algorithm</a:t>
            </a:r>
            <a:endParaRPr lang="en-US" altLang="en-US" dirty="0"/>
          </a:p>
        </p:txBody>
      </p:sp>
      <p:pic>
        <p:nvPicPr>
          <p:cNvPr id="46083" name="Picture 1" descr="9_17.pdf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1785" y="956945"/>
            <a:ext cx="5487035" cy="5538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1157926" y="240752"/>
            <a:ext cx="77724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Enhanced Second-Chance Algorithm</a:t>
            </a:r>
            <a:endParaRPr lang="en-US" altLang="en-US" dirty="0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7749" y="1250302"/>
            <a:ext cx="7609925" cy="4967936"/>
          </a:xfrm>
        </p:spPr>
        <p:txBody>
          <a:bodyPr/>
          <a:lstStyle/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Improve algorithm by using reference bit and modify bit (if available) in concert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Take ordered pair (reference, modify):</a:t>
            </a:r>
            <a:endParaRPr lang="en-US" altLang="en-US" sz="20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(0, 0) neither recently used not modified – best page to replace</a:t>
            </a:r>
            <a:endParaRPr lang="en-US" altLang="en-US" sz="20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(0, 1) not recently used but modified – not quite as good, must write out before replacement</a:t>
            </a:r>
            <a:endParaRPr lang="en-US" altLang="en-US" sz="20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(1, 0) recently used but clean – probably will be used again soon</a:t>
            </a:r>
            <a:endParaRPr lang="en-US" altLang="en-US" sz="20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(1, 1) recently used and modified – probably will be used again soon and need to write out before replacement</a:t>
            </a:r>
            <a:endParaRPr lang="en-US" altLang="en-US" sz="20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When page replacement called for, use the clock scheme  but use the four classes replace page in lowest non-empty class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Might need to search circular queue several times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38161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Counting Algorithms</a:t>
            </a:r>
            <a:endParaRPr lang="en-US" altLang="en-US" dirty="0"/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8419" y="1230348"/>
            <a:ext cx="7311024" cy="4556841"/>
          </a:xfrm>
        </p:spPr>
        <p:txBody>
          <a:bodyPr/>
          <a:lstStyle/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Keep a counter of the number of references that have been made to each page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Not common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b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</a:rPr>
              <a:t>Lease Frequently Used </a:t>
            </a: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(</a:t>
            </a:r>
            <a:r>
              <a:rPr lang="en-US" altLang="en-US" sz="2000" b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</a:rPr>
              <a:t>LFU</a:t>
            </a: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)</a:t>
            </a:r>
            <a:r>
              <a:rPr lang="en-US" altLang="en-US" sz="2000" b="1" dirty="0">
                <a:solidFill>
                  <a:srgbClr val="3366F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</a:rPr>
              <a:t>Algorithm</a:t>
            </a: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: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  Replaces page with smallest count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b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</a:rPr>
              <a:t>Most Frequently Used </a:t>
            </a: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(</a:t>
            </a:r>
            <a:r>
              <a:rPr lang="en-US" altLang="en-US" sz="2000" b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</a:rPr>
              <a:t>MFU</a:t>
            </a: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)</a:t>
            </a:r>
            <a:r>
              <a:rPr lang="en-US" altLang="en-US" sz="2000" b="1" dirty="0">
                <a:solidFill>
                  <a:srgbClr val="3366F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</a:rPr>
              <a:t>Algorithm</a:t>
            </a: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: 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Based on the argument that the page with the smallest count was probably just brought in and has yet to be used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>
          <a:xfrm>
            <a:off x="457200" y="238937"/>
            <a:ext cx="8229600" cy="576262"/>
          </a:xfrm>
        </p:spPr>
        <p:txBody>
          <a:bodyPr/>
          <a:lstStyle/>
          <a:p>
            <a:r>
              <a:rPr lang="en-US" altLang="en-US" dirty="0"/>
              <a:t>Page-Buffering Algorithms</a:t>
            </a:r>
            <a:endParaRPr lang="en-US" altLang="en-US" dirty="0"/>
          </a:p>
        </p:txBody>
      </p:sp>
      <p:sp>
        <p:nvSpPr>
          <p:cNvPr id="49155" name="Content Placeholder 2"/>
          <p:cNvSpPr>
            <a:spLocks noGrp="1"/>
          </p:cNvSpPr>
          <p:nvPr>
            <p:ph idx="1"/>
          </p:nvPr>
        </p:nvSpPr>
        <p:spPr>
          <a:xfrm>
            <a:off x="862661" y="1159105"/>
            <a:ext cx="7665519" cy="5078412"/>
          </a:xfrm>
        </p:spPr>
        <p:txBody>
          <a:bodyPr/>
          <a:lstStyle/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Keep a pool of free frames, always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Then frame available when needed, not found at fault time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Read page into free frame and select victim to evict and add to free pool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When convenient, evict victim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Possibly, keep list of modified pages</a:t>
            </a:r>
            <a:endParaRPr lang="en-US" altLang="en-US" sz="20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When backing store otherwise idle, write pages there and set to non-dirty</a:t>
            </a:r>
            <a:endParaRPr lang="en-US" altLang="en-US" sz="20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Possibly, keep free frame contents intact and note what is in them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If referenced again before reused, no need to load contents again from disk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Generally useful to reduce penalty if wrong victim frame selected </a:t>
            </a:r>
            <a:r>
              <a:rPr lang="en-US" altLang="en-US" dirty="0"/>
              <a:t> </a:t>
            </a:r>
            <a:endParaRPr lang="en-US" altLang="en-US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/>
          <p:cNvSpPr>
            <a:spLocks noGrp="1"/>
          </p:cNvSpPr>
          <p:nvPr>
            <p:ph type="title"/>
          </p:nvPr>
        </p:nvSpPr>
        <p:spPr>
          <a:xfrm>
            <a:off x="831850" y="231422"/>
            <a:ext cx="7867650" cy="576262"/>
          </a:xfrm>
        </p:spPr>
        <p:txBody>
          <a:bodyPr/>
          <a:lstStyle/>
          <a:p>
            <a:r>
              <a:rPr lang="en-US" altLang="en-US" dirty="0"/>
              <a:t>Applications and Page Replacement</a:t>
            </a:r>
            <a:endParaRPr lang="en-US" altLang="en-US" dirty="0"/>
          </a:p>
        </p:txBody>
      </p:sp>
      <p:sp>
        <p:nvSpPr>
          <p:cNvPr id="50179" name="Content Placeholder 2"/>
          <p:cNvSpPr>
            <a:spLocks noGrp="1"/>
          </p:cNvSpPr>
          <p:nvPr>
            <p:ph idx="1"/>
          </p:nvPr>
        </p:nvSpPr>
        <p:spPr>
          <a:xfrm>
            <a:off x="859843" y="1131888"/>
            <a:ext cx="7612353" cy="4530725"/>
          </a:xfrm>
        </p:spPr>
        <p:txBody>
          <a:bodyPr/>
          <a:lstStyle/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All of these algorithms have OS guessing about future page access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Some applications have better knowledge – i.e. databases</a:t>
            </a:r>
            <a:endParaRPr lang="en-US" altLang="en-US" sz="20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Memory intensive applications can cause double buffering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OS keeps copy of page in memory as I/O buffer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Application keeps page in memory for its own work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Operating system can given direct access to the disk, getting out of the way of the applications</a:t>
            </a:r>
            <a:endParaRPr lang="en-US" altLang="en-US" sz="20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b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</a:rPr>
              <a:t>Raw</a:t>
            </a:r>
            <a:r>
              <a:rPr lang="en-US" altLang="en-US" sz="2000" b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</a:rPr>
              <a:t>disk</a:t>
            </a:r>
            <a:r>
              <a:rPr lang="en-US" altLang="en-US" sz="2000" b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mode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Bypasses buffering, locking, etc.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808038" y="238158"/>
            <a:ext cx="78787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Allocation of Frames</a:t>
            </a:r>
            <a:endParaRPr lang="en-US" altLang="en-US" dirty="0"/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7746" y="1120775"/>
            <a:ext cx="7735078" cy="4483100"/>
          </a:xfrm>
        </p:spPr>
        <p:txBody>
          <a:bodyPr/>
          <a:lstStyle/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Each process needs </a:t>
            </a:r>
            <a:r>
              <a:rPr lang="en-US" altLang="en-US" sz="2000" b="1" i="1" dirty="0">
                <a:latin typeface="Calibri" panose="020F0502020204030204" charset="0"/>
                <a:cs typeface="Calibri" panose="020F0502020204030204" charset="0"/>
              </a:rPr>
              <a:t>minimum</a:t>
            </a: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 number of frames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Example:  IBM 370 – 6 pages to handle SS MOVE instruction:</a:t>
            </a:r>
            <a:endParaRPr lang="en-US" altLang="en-US" sz="20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instruction is 6 bytes, might span 2 pages</a:t>
            </a:r>
            <a:endParaRPr lang="en-US" altLang="en-US" sz="20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2 pages to handle </a:t>
            </a:r>
            <a:r>
              <a:rPr lang="en-US" altLang="en-US" sz="2000" i="1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from</a:t>
            </a:r>
            <a:endParaRPr lang="en-US" altLang="en-US" sz="2000" i="1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2 pages to handle </a:t>
            </a:r>
            <a:r>
              <a:rPr lang="en-US" altLang="en-US" sz="2000" i="1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to</a:t>
            </a:r>
            <a:endParaRPr lang="en-US" altLang="en-US" sz="2000" i="1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b="1" i="1" dirty="0">
                <a:latin typeface="Calibri" panose="020F0502020204030204" charset="0"/>
                <a:cs typeface="Calibri" panose="020F0502020204030204" charset="0"/>
              </a:rPr>
              <a:t>Maximum</a:t>
            </a:r>
            <a:r>
              <a:rPr lang="en-US" altLang="en-US" sz="2000" i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of course is total frames in the system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Two major allocation schemes</a:t>
            </a:r>
            <a:endParaRPr lang="en-US" altLang="en-US" sz="20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fixed allocation</a:t>
            </a:r>
            <a:endParaRPr lang="en-US" altLang="en-US" sz="20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priority allocation</a:t>
            </a:r>
            <a:endParaRPr lang="en-US" altLang="en-US" sz="20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Many variations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>
          <a:xfrm>
            <a:off x="738188" y="235568"/>
            <a:ext cx="79486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Fixed Allocation</a:t>
            </a:r>
            <a:endParaRPr lang="en-US" altLang="en-US" dirty="0"/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5045" y="1119999"/>
            <a:ext cx="7691796" cy="4645025"/>
          </a:xfrm>
        </p:spPr>
        <p:txBody>
          <a:bodyPr/>
          <a:lstStyle/>
          <a:p>
            <a:r>
              <a:rPr lang="en-US" altLang="en-US" sz="1800" dirty="0">
                <a:latin typeface="Calibri" panose="020F0502020204030204" charset="0"/>
                <a:cs typeface="Calibri" panose="020F0502020204030204" charset="0"/>
              </a:rPr>
              <a:t>Equal allocation – For example, if there are 100 frames (after allocating frames for the OS) and 5 processes, give each process 20 frames</a:t>
            </a:r>
            <a:endParaRPr lang="en-US" altLang="en-US" sz="1800" dirty="0"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1800" dirty="0">
                <a:latin typeface="Calibri" panose="020F0502020204030204" charset="0"/>
                <a:cs typeface="Calibri" panose="020F0502020204030204" charset="0"/>
              </a:rPr>
              <a:t>Keep some as free frame buffer pool</a:t>
            </a:r>
            <a:endParaRPr lang="en-US" altLang="en-US" sz="1800" dirty="0"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en-US" sz="18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1800" dirty="0">
                <a:latin typeface="Calibri" panose="020F0502020204030204" charset="0"/>
                <a:cs typeface="Calibri" panose="020F0502020204030204" charset="0"/>
              </a:rPr>
              <a:t>Proportional allocation – Allocate according to the size of process</a:t>
            </a:r>
            <a:endParaRPr lang="en-US" altLang="en-US" sz="1800" dirty="0"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1800" dirty="0">
                <a:latin typeface="Calibri" panose="020F0502020204030204" charset="0"/>
                <a:cs typeface="Calibri" panose="020F0502020204030204" charset="0"/>
              </a:rPr>
              <a:t>Dynamic as degree of multiprogramming, process sizes change</a:t>
            </a:r>
            <a:endParaRPr lang="en-US" altLang="en-US" sz="1800" dirty="0">
              <a:latin typeface="Calibri" panose="020F0502020204030204" charset="0"/>
              <a:cs typeface="Calibri" panose="020F0502020204030204" charset="0"/>
            </a:endParaRPr>
          </a:p>
          <a:p>
            <a:pPr lvl="1">
              <a:buFont typeface="Monotype Sorts" pitchFamily="-84" charset="2"/>
              <a:buNone/>
            </a:pPr>
            <a:endParaRPr lang="en-US" altLang="en-US" dirty="0"/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1976438" y="3630613"/>
          <a:ext cx="2857500" cy="161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6" name="Equation" r:id="rId1" imgW="2857500" imgH="1612900" progId="Equation.3">
                  <p:embed/>
                </p:oleObj>
              </mc:Choice>
              <mc:Fallback>
                <p:oleObj name="Equation" r:id="rId1" imgW="2857500" imgH="16129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6438" y="3630613"/>
                        <a:ext cx="2857500" cy="1611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Line 5"/>
          <p:cNvSpPr>
            <a:spLocks noChangeShapeType="1"/>
          </p:cNvSpPr>
          <p:nvPr/>
        </p:nvSpPr>
        <p:spPr bwMode="auto">
          <a:xfrm>
            <a:off x="1782763" y="3792538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35" tIns="45718" rIns="91435" bIns="45718" anchor="ctr"/>
          <a:lstStyle/>
          <a:p>
            <a:endParaRPr lang="en-US"/>
          </a:p>
        </p:txBody>
      </p:sp>
      <p:sp>
        <p:nvSpPr>
          <p:cNvPr id="1031" name="Line 6"/>
          <p:cNvSpPr>
            <a:spLocks noChangeShapeType="1"/>
          </p:cNvSpPr>
          <p:nvPr/>
        </p:nvSpPr>
        <p:spPr bwMode="auto">
          <a:xfrm>
            <a:off x="1782763" y="4129088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35" tIns="45718" rIns="91435" bIns="45718" anchor="ctr"/>
          <a:lstStyle/>
          <a:p>
            <a:endParaRPr lang="en-US"/>
          </a:p>
        </p:txBody>
      </p:sp>
      <p:sp>
        <p:nvSpPr>
          <p:cNvPr id="1032" name="Line 7"/>
          <p:cNvSpPr>
            <a:spLocks noChangeShapeType="1"/>
          </p:cNvSpPr>
          <p:nvPr/>
        </p:nvSpPr>
        <p:spPr bwMode="auto">
          <a:xfrm>
            <a:off x="1782763" y="4989513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35" tIns="45718" rIns="91435" bIns="45718" anchor="ctr"/>
          <a:lstStyle/>
          <a:p>
            <a:endParaRPr lang="en-US"/>
          </a:p>
        </p:txBody>
      </p:sp>
      <p:sp>
        <p:nvSpPr>
          <p:cNvPr id="1033" name="Line 8"/>
          <p:cNvSpPr>
            <a:spLocks noChangeShapeType="1"/>
          </p:cNvSpPr>
          <p:nvPr/>
        </p:nvSpPr>
        <p:spPr bwMode="auto">
          <a:xfrm>
            <a:off x="1776413" y="4456113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35" tIns="45718" rIns="91435" bIns="45718" anchor="ctr"/>
          <a:lstStyle/>
          <a:p>
            <a:endParaRPr lang="en-US"/>
          </a:p>
        </p:txBody>
      </p:sp>
      <p:graphicFrame>
        <p:nvGraphicFramePr>
          <p:cNvPr id="1027" name="Object 3"/>
          <p:cNvGraphicFramePr>
            <a:graphicFrameLocks noChangeAspect="1"/>
          </p:cNvGraphicFramePr>
          <p:nvPr/>
        </p:nvGraphicFramePr>
        <p:xfrm>
          <a:off x="5945188" y="3425825"/>
          <a:ext cx="1506537" cy="192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7" name="Equation" r:id="rId3" imgW="1143000" imgH="1454150" progId="Equation.3">
                  <p:embed/>
                </p:oleObj>
              </mc:Choice>
              <mc:Fallback>
                <p:oleObj name="Equation" r:id="rId3" imgW="1143000" imgH="145415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5188" y="3425825"/>
                        <a:ext cx="1506537" cy="192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1030288" y="235568"/>
            <a:ext cx="76565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Global vs. Local Allocation</a:t>
            </a:r>
            <a:endParaRPr lang="en-US" altLang="en-US" dirty="0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8416" y="1116013"/>
            <a:ext cx="7656512" cy="4470400"/>
          </a:xfrm>
        </p:spPr>
        <p:txBody>
          <a:bodyPr/>
          <a:lstStyle/>
          <a:p>
            <a:r>
              <a:rPr lang="en-US" altLang="en-US" sz="2000" b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</a:rPr>
              <a:t>Global</a:t>
            </a:r>
            <a:r>
              <a:rPr lang="en-US" altLang="en-US" sz="2000" b="1" dirty="0">
                <a:solidFill>
                  <a:srgbClr val="3366F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</a:rPr>
              <a:t>replacement</a:t>
            </a:r>
            <a:r>
              <a:rPr lang="en-US" altLang="en-US" sz="2000" dirty="0">
                <a:solidFill>
                  <a:srgbClr val="3366F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– process selects a replacement frame from the set of all frames; one process can take a frame from another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But then process execution time can vary greatly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But greater throughput so more common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b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</a:rPr>
              <a:t>Local</a:t>
            </a:r>
            <a:r>
              <a:rPr lang="en-US" altLang="en-US" sz="2000" b="1" dirty="0">
                <a:solidFill>
                  <a:srgbClr val="3366F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</a:rPr>
              <a:t>replacement</a:t>
            </a:r>
            <a:r>
              <a:rPr lang="en-US" altLang="en-US" sz="2000" dirty="0">
                <a:solidFill>
                  <a:srgbClr val="3366F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– each process selects from only its own set of allocated frames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More consistent per-process performance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But possibly underutilized memory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7748" y="1116013"/>
            <a:ext cx="7669762" cy="4470400"/>
          </a:xfrm>
        </p:spPr>
        <p:txBody>
          <a:bodyPr/>
          <a:lstStyle/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A strategy to implement global page-replacement policy 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All memory requests  are satisfied from the free-frame list,  rather than waiting for the list to drop to zero before we begin selecting pages for replacement, </a:t>
            </a:r>
            <a:endParaRPr lang="en-US" altLang="en-US" sz="20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Page replacement  is triggered when the list falls below a certain threshold. 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This strategy attempts to ensure there is always sufficient free memory to satisfy new requests</a:t>
            </a:r>
            <a:r>
              <a:rPr lang="en-US" altLang="en-US" sz="2000" b="1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.</a:t>
            </a:r>
            <a:endParaRPr lang="en-US" altLang="en-US" sz="20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lvl="1"/>
            <a:endParaRPr lang="en-US" altLang="en-US" sz="20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53251" name="Title 4"/>
          <p:cNvSpPr>
            <a:spLocks noGrp="1"/>
          </p:cNvSpPr>
          <p:nvPr>
            <p:ph type="title"/>
          </p:nvPr>
        </p:nvSpPr>
        <p:spPr>
          <a:xfrm>
            <a:off x="945890" y="233204"/>
            <a:ext cx="7315200" cy="576263"/>
          </a:xfrm>
        </p:spPr>
        <p:txBody>
          <a:bodyPr/>
          <a:lstStyle/>
          <a:p>
            <a:r>
              <a:rPr lang="en-US" altLang="en-US" dirty="0"/>
              <a:t>Reclaiming Pages</a:t>
            </a:r>
            <a:endParaRPr lang="en-US" altLang="en-US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843674" y="235568"/>
            <a:ext cx="76565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Reclaiming Pages Example </a:t>
            </a:r>
            <a:endParaRPr lang="en-US" altLang="en-US" dirty="0"/>
          </a:p>
        </p:txBody>
      </p:sp>
      <p:pic>
        <p:nvPicPr>
          <p:cNvPr id="54275" name="Picture 2" descr="B:\os-book\os10-dir\Slides-WORK-area\Figures-dir\ch10\JPG-dir\10_18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6565" y="1128395"/>
            <a:ext cx="5081270" cy="5315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/>
          <p:cNvSpPr>
            <a:spLocks noGrp="1"/>
          </p:cNvSpPr>
          <p:nvPr>
            <p:ph type="title"/>
          </p:nvPr>
        </p:nvSpPr>
        <p:spPr>
          <a:xfrm>
            <a:off x="942392" y="238937"/>
            <a:ext cx="7632441" cy="576262"/>
          </a:xfrm>
        </p:spPr>
        <p:txBody>
          <a:bodyPr/>
          <a:lstStyle/>
          <a:p>
            <a:r>
              <a:rPr lang="en-US" altLang="en-US" dirty="0"/>
              <a:t>Non-Uniform Memory Access</a:t>
            </a:r>
            <a:endParaRPr lang="en-US" altLang="en-US" dirty="0"/>
          </a:p>
        </p:txBody>
      </p:sp>
      <p:sp>
        <p:nvSpPr>
          <p:cNvPr id="55299" name="Content Placeholder 2"/>
          <p:cNvSpPr>
            <a:spLocks noGrp="1"/>
          </p:cNvSpPr>
          <p:nvPr>
            <p:ph idx="1"/>
          </p:nvPr>
        </p:nvSpPr>
        <p:spPr>
          <a:xfrm>
            <a:off x="858413" y="1009968"/>
            <a:ext cx="7472946" cy="1905000"/>
          </a:xfrm>
        </p:spPr>
        <p:txBody>
          <a:bodyPr/>
          <a:lstStyle/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So far, we assumed that all memory accessed equally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Many systems are </a:t>
            </a:r>
            <a:r>
              <a:rPr lang="en-US" altLang="en-US" sz="2000" b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</a:rPr>
              <a:t>NUMA</a:t>
            </a: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 – speed of access to memory varies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Consider system boards containing CPUs and memory, interconnected over a system bus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NUMA multiprocessing architecture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55300" name="Picture 2" descr="B:\os-book\os10-dir\Slides-WORK-area\Figures-dir\ch10\JPG-dir\10_19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7525" y="3252470"/>
            <a:ext cx="3215005" cy="3042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/>
          <p:cNvSpPr>
            <a:spLocks noGrp="1"/>
          </p:cNvSpPr>
          <p:nvPr>
            <p:ph type="title"/>
          </p:nvPr>
        </p:nvSpPr>
        <p:spPr>
          <a:xfrm>
            <a:off x="1177404" y="238937"/>
            <a:ext cx="7458075" cy="576262"/>
          </a:xfrm>
        </p:spPr>
        <p:txBody>
          <a:bodyPr/>
          <a:lstStyle/>
          <a:p>
            <a:r>
              <a:rPr lang="en-US" altLang="en-US" dirty="0"/>
              <a:t>Non-Uniform Memory Access (Cont.)</a:t>
            </a:r>
            <a:endParaRPr lang="en-US" altLang="en-US" dirty="0"/>
          </a:p>
        </p:txBody>
      </p:sp>
      <p:sp>
        <p:nvSpPr>
          <p:cNvPr id="56323" name="Content Placeholder 2"/>
          <p:cNvSpPr>
            <a:spLocks noGrp="1"/>
          </p:cNvSpPr>
          <p:nvPr>
            <p:ph idx="1"/>
          </p:nvPr>
        </p:nvSpPr>
        <p:spPr>
          <a:xfrm>
            <a:off x="858419" y="1221047"/>
            <a:ext cx="7529801" cy="4530725"/>
          </a:xfrm>
        </p:spPr>
        <p:txBody>
          <a:bodyPr/>
          <a:lstStyle/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Optimal performance comes from allocating memory </a:t>
            </a:r>
            <a:r>
              <a:rPr lang="ja-JP" altLang="en-US" sz="2000" dirty="0">
                <a:latin typeface="Calibri" panose="020F0502020204030204" charset="0"/>
                <a:cs typeface="Calibri" panose="020F0502020204030204" charset="0"/>
              </a:rPr>
              <a:t>“</a:t>
            </a:r>
            <a:r>
              <a:rPr lang="en-US" altLang="ja-JP" sz="2000" dirty="0">
                <a:latin typeface="Calibri" panose="020F0502020204030204" charset="0"/>
                <a:cs typeface="Calibri" panose="020F0502020204030204" charset="0"/>
              </a:rPr>
              <a:t>close to</a:t>
            </a:r>
            <a:r>
              <a:rPr lang="ja-JP" altLang="en-US" sz="2000" dirty="0">
                <a:latin typeface="Calibri" panose="020F0502020204030204" charset="0"/>
                <a:cs typeface="Calibri" panose="020F0502020204030204" charset="0"/>
              </a:rPr>
              <a:t>”</a:t>
            </a:r>
            <a:r>
              <a:rPr lang="en-US" altLang="ja-JP" sz="2000" dirty="0">
                <a:latin typeface="Calibri" panose="020F0502020204030204" charset="0"/>
                <a:cs typeface="Calibri" panose="020F0502020204030204" charset="0"/>
              </a:rPr>
              <a:t> the CPU on which the thread is scheduled</a:t>
            </a:r>
            <a:endParaRPr lang="en-US" altLang="ja-JP" sz="2000" dirty="0"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And modifying the scheduler to schedule the thread on the same system board when possible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Solved by Solaris by creating </a:t>
            </a:r>
            <a:r>
              <a:rPr lang="en-US" altLang="en-US" sz="2000" b="1" dirty="0" err="1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</a:rPr>
              <a:t>lgroups</a:t>
            </a:r>
            <a:r>
              <a:rPr lang="en-US" altLang="en-US" sz="2000" b="1" dirty="0">
                <a:solidFill>
                  <a:srgbClr val="3366F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endParaRPr lang="en-US" altLang="en-US" sz="2000" b="1" dirty="0">
              <a:solidFill>
                <a:srgbClr val="3366FF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lvl="2"/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Structure to track CPU / Memory low latency groups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2"/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Used my schedule and pager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2"/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When possible schedule all threads of a process and allocate all memory for that process within the </a:t>
            </a:r>
            <a:r>
              <a:rPr lang="en-US" altLang="en-US" sz="2000" dirty="0" err="1">
                <a:latin typeface="Calibri" panose="020F0502020204030204" charset="0"/>
                <a:cs typeface="Calibri" panose="020F0502020204030204" charset="0"/>
              </a:rPr>
              <a:t>lgroup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3556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Thrashing</a:t>
            </a:r>
            <a:endParaRPr lang="en-US" altLang="en-US" dirty="0"/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8045" y="1234440"/>
            <a:ext cx="7962900" cy="4483100"/>
          </a:xfrm>
        </p:spPr>
        <p:txBody>
          <a:bodyPr/>
          <a:lstStyle/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If a process does not have </a:t>
            </a:r>
            <a:r>
              <a:rPr lang="ja-JP" altLang="en-US" sz="2000" dirty="0">
                <a:latin typeface="Calibri" panose="020F0502020204030204" charset="0"/>
                <a:cs typeface="Calibri" panose="020F0502020204030204" charset="0"/>
              </a:rPr>
              <a:t>“</a:t>
            </a:r>
            <a:r>
              <a:rPr lang="en-US" altLang="ja-JP" sz="2000" dirty="0">
                <a:latin typeface="Calibri" panose="020F0502020204030204" charset="0"/>
                <a:cs typeface="Calibri" panose="020F0502020204030204" charset="0"/>
              </a:rPr>
              <a:t>enough</a:t>
            </a:r>
            <a:r>
              <a:rPr lang="ja-JP" altLang="en-US" sz="2000" dirty="0">
                <a:latin typeface="Calibri" panose="020F0502020204030204" charset="0"/>
                <a:cs typeface="Calibri" panose="020F0502020204030204" charset="0"/>
              </a:rPr>
              <a:t>”</a:t>
            </a:r>
            <a:r>
              <a:rPr lang="en-US" altLang="ja-JP" sz="2000" dirty="0">
                <a:latin typeface="Calibri" panose="020F0502020204030204" charset="0"/>
                <a:cs typeface="Calibri" panose="020F0502020204030204" charset="0"/>
              </a:rPr>
              <a:t> pages, the page-fault rate is very high</a:t>
            </a:r>
            <a:endParaRPr lang="en-US" altLang="ja-JP" sz="2000" dirty="0"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dirty="0">
                <a:solidFill>
                  <a:srgbClr val="C00000"/>
                </a:solidFill>
                <a:latin typeface="Calibri" panose="020F0502020204030204" charset="0"/>
                <a:cs typeface="Calibri" panose="020F0502020204030204" charset="0"/>
              </a:rPr>
              <a:t>Page fault to get page</a:t>
            </a:r>
            <a:endParaRPr lang="en-US" altLang="en-US" sz="2000" dirty="0">
              <a:solidFill>
                <a:srgbClr val="C0000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dirty="0">
                <a:solidFill>
                  <a:srgbClr val="C00000"/>
                </a:solidFill>
                <a:latin typeface="Calibri" panose="020F0502020204030204" charset="0"/>
                <a:cs typeface="Calibri" panose="020F0502020204030204" charset="0"/>
              </a:rPr>
              <a:t>Replace existing frame</a:t>
            </a:r>
            <a:endParaRPr lang="en-US" altLang="en-US" sz="2000" dirty="0">
              <a:solidFill>
                <a:srgbClr val="C0000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dirty="0">
                <a:solidFill>
                  <a:srgbClr val="C00000"/>
                </a:solidFill>
                <a:latin typeface="Calibri" panose="020F0502020204030204" charset="0"/>
                <a:cs typeface="Calibri" panose="020F0502020204030204" charset="0"/>
              </a:rPr>
              <a:t>But quickly need replaced frame back</a:t>
            </a:r>
            <a:endParaRPr lang="en-US" altLang="en-US" sz="2000" dirty="0">
              <a:solidFill>
                <a:srgbClr val="C0000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This leads to:</a:t>
            </a:r>
            <a:endParaRPr lang="en-US" altLang="en-US" sz="20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lvl="2"/>
            <a:r>
              <a:rPr lang="en-US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Low CPU utilization</a:t>
            </a:r>
            <a:endParaRPr lang="en-US" altLang="en-US" sz="20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lvl="2"/>
            <a:r>
              <a:rPr lang="en-US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Operating system thinking that it needs to increase the degree of multiprogramming</a:t>
            </a:r>
            <a:endParaRPr lang="en-US" altLang="en-US" sz="20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lvl="2"/>
            <a:r>
              <a:rPr lang="en-US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Another process added to the system</a:t>
            </a:r>
            <a:br>
              <a:rPr lang="en-US" altLang="en-US" dirty="0"/>
            </a:br>
            <a:endParaRPr lang="en-US" altLang="en-US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3556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Thrashing (Cont.)</a:t>
            </a:r>
            <a:endParaRPr lang="en-US" altLang="en-US" dirty="0"/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7080" y="1206536"/>
            <a:ext cx="7265631" cy="939800"/>
          </a:xfrm>
        </p:spPr>
        <p:txBody>
          <a:bodyPr/>
          <a:lstStyle/>
          <a:p>
            <a:r>
              <a:rPr lang="en-US" altLang="en-US" sz="2000" b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</a:rPr>
              <a:t>Thrashing</a:t>
            </a:r>
            <a:r>
              <a:rPr lang="en-US" altLang="en-US" sz="2000" dirty="0">
                <a:solidFill>
                  <a:srgbClr val="3366FF"/>
                </a:solidFill>
                <a:latin typeface="Calibri" panose="020F0502020204030204" charset="0"/>
                <a:cs typeface="Calibri" panose="020F0502020204030204" charset="0"/>
              </a:rPr>
              <a:t>. </a:t>
            </a:r>
            <a:r>
              <a:rPr lang="en-US" altLang="en-US" sz="2000" dirty="0"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  <a:t> A process is busy swapping pages in and out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58372" name="Picture 4" descr="B:\os-book\os10-dir\Slides-WORK-area\Figures-dir\ch10\JPG-dir\10_20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1095" y="1974850"/>
            <a:ext cx="5956935" cy="3507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1262063" y="235568"/>
            <a:ext cx="71596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Demand Paging and Thrashing </a:t>
            </a:r>
            <a:endParaRPr lang="en-US" altLang="en-US" sz="2400" dirty="0"/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8520" y="1308100"/>
            <a:ext cx="7615555" cy="4238625"/>
          </a:xfrm>
        </p:spPr>
        <p:txBody>
          <a:bodyPr/>
          <a:lstStyle/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Why does demand paging work?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buNone/>
            </a:pP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 </a:t>
            </a:r>
            <a:b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</a:b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       </a:t>
            </a:r>
            <a:r>
              <a:rPr lang="en-US" altLang="en-US" sz="2000" b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</a:rPr>
              <a:t>Locality</a:t>
            </a:r>
            <a:r>
              <a:rPr lang="en-US" altLang="en-US" sz="2000" b="1" dirty="0">
                <a:solidFill>
                  <a:srgbClr val="3366F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</a:rPr>
              <a:t>model</a:t>
            </a:r>
            <a:endParaRPr lang="en-US" altLang="en-US" sz="2000" b="1" dirty="0">
              <a:solidFill>
                <a:srgbClr val="006699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Process migrates from one locality to another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Localities may overlap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1"/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Why does thrashing occur?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 </a:t>
            </a:r>
            <a:b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</a:b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       </a:t>
            </a:r>
            <a:r>
              <a:rPr lang="en-US" altLang="en-US" sz="2000" dirty="0"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  <a:t> size of locality &gt; total memory size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  <a:sym typeface="Symbol" panose="05050102010706020507" pitchFamily="18" charset="2"/>
            </a:endParaRPr>
          </a:p>
          <a:p>
            <a:pPr>
              <a:buFont typeface="Monotype Sorts" pitchFamily="-84" charset="2"/>
              <a:buNone/>
            </a:pPr>
            <a:endParaRPr lang="en-US" altLang="en-US" sz="2000" dirty="0">
              <a:latin typeface="Calibri" panose="020F0502020204030204" charset="0"/>
              <a:cs typeface="Calibri" panose="020F0502020204030204" charset="0"/>
              <a:sym typeface="Symbol" panose="05050102010706020507" pitchFamily="18" charset="2"/>
            </a:endParaRPr>
          </a:p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  <a:t>Limit effects by using local or priority page replacement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421005" y="780415"/>
            <a:ext cx="2646680" cy="2080260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Locality In A Memory-Reference Pattern</a:t>
            </a:r>
            <a:endParaRPr lang="en-US" altLang="en-US" sz="3000" dirty="0"/>
          </a:p>
        </p:txBody>
      </p:sp>
      <p:pic>
        <p:nvPicPr>
          <p:cNvPr id="60419" name="Picture 1" descr="9_19.pdf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0725" y="118745"/>
            <a:ext cx="4677410" cy="67100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34792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Working-Set Model</a:t>
            </a:r>
            <a:endParaRPr lang="en-US" altLang="en-US" dirty="0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7745" y="1093788"/>
            <a:ext cx="7548757" cy="4881562"/>
          </a:xfrm>
        </p:spPr>
        <p:txBody>
          <a:bodyPr/>
          <a:lstStyle/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  <a:t>  working-set window  a fixed number of page references </a:t>
            </a:r>
            <a:br>
              <a:rPr lang="en-US" altLang="en-US" sz="2000" dirty="0"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</a:br>
            <a:r>
              <a:rPr lang="en-US" altLang="en-US" sz="2000" dirty="0"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  <a:t>Example:  10,000 instructions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  <a:sym typeface="Symbol" panose="05050102010706020507" pitchFamily="18" charset="2"/>
            </a:endParaRPr>
          </a:p>
          <a:p>
            <a:r>
              <a:rPr lang="en-US" altLang="en-US" sz="2000" i="1" dirty="0" err="1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  <a:t>WSS</a:t>
            </a:r>
            <a:r>
              <a:rPr lang="en-US" altLang="en-US" sz="2000" i="1" baseline="-25000" dirty="0" err="1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  <a:t>i</a:t>
            </a:r>
            <a:r>
              <a:rPr lang="en-US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  <a:t> (working set of Process </a:t>
            </a:r>
            <a:r>
              <a:rPr lang="en-US" altLang="en-US" sz="2000" i="1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  <a:t>P</a:t>
            </a:r>
            <a:r>
              <a:rPr lang="en-US" altLang="en-US" sz="2000" i="1" baseline="-25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  <a:t>i</a:t>
            </a:r>
            <a:r>
              <a:rPr lang="en-US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  <a:t>) =  total number of pages referenced in the most recent  (varies in time)</a:t>
            </a:r>
            <a:endParaRPr lang="en-US" altLang="en-US" sz="20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  <a:sym typeface="Symbol" panose="05050102010706020507" pitchFamily="18" charset="2"/>
            </a:endParaRPr>
          </a:p>
          <a:p>
            <a:pPr lvl="1"/>
            <a:r>
              <a:rPr lang="en-US" altLang="en-US" sz="2000" dirty="0"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  <a:t>if  too small will not encompass entire locality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  <a:sym typeface="Symbol" panose="05050102010706020507" pitchFamily="18" charset="2"/>
            </a:endParaRPr>
          </a:p>
          <a:p>
            <a:pPr lvl="1"/>
            <a:r>
              <a:rPr lang="en-US" altLang="en-US" sz="2000" dirty="0"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  <a:t>if  too large will encompass several localities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  <a:sym typeface="Symbol" panose="05050102010706020507" pitchFamily="18" charset="2"/>
            </a:endParaRPr>
          </a:p>
          <a:p>
            <a:pPr lvl="1"/>
            <a:r>
              <a:rPr lang="en-US" altLang="en-US" sz="2000" dirty="0"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  <a:t>if  =   will encompass entire program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  <a:sym typeface="Symbol" panose="05050102010706020507" pitchFamily="18" charset="2"/>
            </a:endParaRPr>
          </a:p>
          <a:p>
            <a:r>
              <a:rPr lang="en-US" altLang="en-US" sz="2000" i="1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  <a:t>D</a:t>
            </a:r>
            <a:r>
              <a:rPr lang="en-US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  <a:t> =  </a:t>
            </a:r>
            <a:r>
              <a:rPr lang="en-US" altLang="en-US" sz="2000" i="1" dirty="0" err="1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  <a:t>WSS</a:t>
            </a:r>
            <a:r>
              <a:rPr lang="en-US" altLang="en-US" sz="2000" i="1" baseline="-25000" dirty="0" err="1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  <a:t>i</a:t>
            </a:r>
            <a:r>
              <a:rPr lang="en-US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  <a:t>  total demand frames </a:t>
            </a:r>
            <a:endParaRPr lang="en-US" altLang="en-US" sz="20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  <a:sym typeface="Symbol" panose="05050102010706020507" pitchFamily="18" charset="2"/>
            </a:endParaRPr>
          </a:p>
          <a:p>
            <a:pPr lvl="1"/>
            <a:r>
              <a:rPr lang="en-US" altLang="en-US" sz="2000" dirty="0"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  <a:t>Approximation of locality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34791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Working-Set Model (Cont.)</a:t>
            </a:r>
            <a:endParaRPr lang="en-US" altLang="en-US" dirty="0"/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8045" y="1065530"/>
            <a:ext cx="7680960" cy="1174750"/>
          </a:xfrm>
        </p:spPr>
        <p:txBody>
          <a:bodyPr/>
          <a:lstStyle/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  <a:t>if </a:t>
            </a:r>
            <a:r>
              <a:rPr lang="en-US" altLang="en-US" sz="2000" i="1" dirty="0"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  <a:t>D</a:t>
            </a:r>
            <a:r>
              <a:rPr lang="en-US" altLang="en-US" sz="2000" dirty="0"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  <a:t> &gt; </a:t>
            </a:r>
            <a:r>
              <a:rPr lang="en-US" altLang="en-US" sz="2000" i="1" dirty="0"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  <a:t>m</a:t>
            </a:r>
            <a:r>
              <a:rPr lang="en-US" altLang="en-US" sz="2000" dirty="0"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  <a:t>  Thrashing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  <a:sym typeface="Symbol" panose="05050102010706020507" pitchFamily="18" charset="2"/>
            </a:endParaRPr>
          </a:p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  <a:t>Policy if </a:t>
            </a:r>
            <a:r>
              <a:rPr lang="en-US" altLang="en-US" sz="2000" i="1" dirty="0"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  <a:t>D</a:t>
            </a:r>
            <a:r>
              <a:rPr lang="en-US" altLang="en-US" sz="2000" dirty="0"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  <a:t> &gt; m, then suspend or swap out one of the processes 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  <a:sym typeface="Symbol" panose="05050102010706020507" pitchFamily="18" charset="2"/>
            </a:endParaRPr>
          </a:p>
        </p:txBody>
      </p:sp>
      <p:pic>
        <p:nvPicPr>
          <p:cNvPr id="62468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350" y="2781935"/>
            <a:ext cx="7372350" cy="196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969963" y="238161"/>
            <a:ext cx="7742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Keeping Track of the Working Set</a:t>
            </a:r>
            <a:endParaRPr lang="en-US" altLang="en-US" dirty="0"/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7080" y="1119188"/>
            <a:ext cx="7567124" cy="4530725"/>
          </a:xfrm>
        </p:spPr>
        <p:txBody>
          <a:bodyPr/>
          <a:lstStyle/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Approximate with interval timer + a reference bit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Example: </a:t>
            </a:r>
            <a:r>
              <a:rPr lang="en-US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  <a:t> = 10,000</a:t>
            </a:r>
            <a:endParaRPr lang="en-US" altLang="en-US" sz="20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  <a:sym typeface="Symbol" panose="05050102010706020507" pitchFamily="18" charset="2"/>
            </a:endParaRPr>
          </a:p>
          <a:p>
            <a:pPr lvl="1"/>
            <a:r>
              <a:rPr lang="en-US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  <a:t>Timer interrupts after every 5000 time units</a:t>
            </a:r>
            <a:endParaRPr lang="en-US" altLang="en-US" sz="20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  <a:sym typeface="Symbol" panose="05050102010706020507" pitchFamily="18" charset="2"/>
            </a:endParaRPr>
          </a:p>
          <a:p>
            <a:pPr lvl="1"/>
            <a:r>
              <a:rPr lang="en-US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  <a:t>Keep in memory 2 bits for each page</a:t>
            </a:r>
            <a:endParaRPr lang="en-US" altLang="en-US" sz="20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  <a:sym typeface="Symbol" panose="05050102010706020507" pitchFamily="18" charset="2"/>
            </a:endParaRPr>
          </a:p>
          <a:p>
            <a:pPr lvl="1"/>
            <a:r>
              <a:rPr lang="en-US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  <a:t>Whenever a timer interrupts copy and sets the values of all reference bits to 0</a:t>
            </a:r>
            <a:endParaRPr lang="en-US" altLang="en-US" sz="20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  <a:sym typeface="Symbol" panose="05050102010706020507" pitchFamily="18" charset="2"/>
            </a:endParaRPr>
          </a:p>
          <a:p>
            <a:pPr lvl="1"/>
            <a:r>
              <a:rPr lang="en-US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  <a:t>If one of the bits in memory = 1  page in working set</a:t>
            </a:r>
            <a:endParaRPr lang="en-US" altLang="en-US" sz="20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  <a:sym typeface="Symbol" panose="05050102010706020507" pitchFamily="18" charset="2"/>
            </a:endParaRPr>
          </a:p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  <a:t>Why is this not completely accurate?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  <a:sym typeface="Symbol" panose="05050102010706020507" pitchFamily="18" charset="2"/>
            </a:endParaRPr>
          </a:p>
          <a:p>
            <a:r>
              <a:rPr lang="en-US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  <a:sym typeface="Symbol" panose="05050102010706020507" pitchFamily="18" charset="2"/>
              </a:rPr>
              <a:t>Improvement = 10 bits and interrupt every 1000 time units</a:t>
            </a:r>
            <a:endParaRPr lang="en-US" altLang="en-US" sz="20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796925" y="247492"/>
            <a:ext cx="78898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Page-Fault Frequency</a:t>
            </a:r>
            <a:endParaRPr lang="en-US" altLang="en-US" dirty="0"/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0444" y="1049338"/>
            <a:ext cx="7563759" cy="1668462"/>
          </a:xfrm>
        </p:spPr>
        <p:txBody>
          <a:bodyPr/>
          <a:lstStyle/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More direct approach than WSS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Establish </a:t>
            </a:r>
            <a:r>
              <a:rPr lang="ja-JP" altLang="en-US" sz="2000" dirty="0">
                <a:latin typeface="Calibri" panose="020F0502020204030204" charset="0"/>
                <a:cs typeface="Calibri" panose="020F0502020204030204" charset="0"/>
              </a:rPr>
              <a:t>“</a:t>
            </a:r>
            <a:r>
              <a:rPr lang="en-US" altLang="ja-JP" sz="2000" dirty="0">
                <a:latin typeface="Calibri" panose="020F0502020204030204" charset="0"/>
                <a:cs typeface="Calibri" panose="020F0502020204030204" charset="0"/>
              </a:rPr>
              <a:t>acceptable</a:t>
            </a:r>
            <a:r>
              <a:rPr lang="ja-JP" altLang="en-US" sz="2000" dirty="0">
                <a:latin typeface="Calibri" panose="020F0502020204030204" charset="0"/>
                <a:cs typeface="Calibri" panose="020F0502020204030204" charset="0"/>
              </a:rPr>
              <a:t>”</a:t>
            </a:r>
            <a:r>
              <a:rPr lang="en-US" altLang="ja-JP" sz="20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ja-JP" sz="2000" b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</a:rPr>
              <a:t>page-fault frequency</a:t>
            </a:r>
            <a:r>
              <a:rPr lang="en-US" altLang="ja-JP" sz="2000" b="1" dirty="0">
                <a:solidFill>
                  <a:srgbClr val="3366F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ja-JP" sz="2000" dirty="0">
                <a:latin typeface="Calibri" panose="020F0502020204030204" charset="0"/>
                <a:cs typeface="Calibri" panose="020F0502020204030204" charset="0"/>
              </a:rPr>
              <a:t>(</a:t>
            </a:r>
            <a:r>
              <a:rPr lang="en-US" altLang="ja-JP" sz="2000" b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</a:rPr>
              <a:t>PFF</a:t>
            </a:r>
            <a:r>
              <a:rPr lang="en-US" altLang="ja-JP" sz="2000" dirty="0">
                <a:latin typeface="Calibri" panose="020F0502020204030204" charset="0"/>
                <a:cs typeface="Calibri" panose="020F0502020204030204" charset="0"/>
              </a:rPr>
              <a:t>)</a:t>
            </a:r>
            <a:r>
              <a:rPr lang="en-US" altLang="ja-JP" sz="2000" b="1" dirty="0">
                <a:solidFill>
                  <a:srgbClr val="3366F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ja-JP" sz="2000" dirty="0">
                <a:latin typeface="Calibri" panose="020F0502020204030204" charset="0"/>
                <a:cs typeface="Calibri" panose="020F0502020204030204" charset="0"/>
              </a:rPr>
              <a:t>rate and use local replacement policy</a:t>
            </a:r>
            <a:endParaRPr lang="en-US" altLang="ja-JP" sz="2000" dirty="0"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If actual rate too low, process loses frame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If actual rate too high, process gains frame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64516" name="Picture 1" descr="9_21.pdf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4290" y="3026410"/>
            <a:ext cx="5728970" cy="3315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1"/>
          <p:cNvSpPr>
            <a:spLocks noGrp="1"/>
          </p:cNvSpPr>
          <p:nvPr>
            <p:ph type="title"/>
          </p:nvPr>
        </p:nvSpPr>
        <p:spPr>
          <a:xfrm>
            <a:off x="653081" y="23219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Working Sets and Page Fault Rates</a:t>
            </a:r>
            <a:endParaRPr lang="en-US" altLang="en-US" dirty="0"/>
          </a:p>
        </p:txBody>
      </p:sp>
      <p:pic>
        <p:nvPicPr>
          <p:cNvPr id="65539" name="Picture 4" descr="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3700" y="2927985"/>
            <a:ext cx="6211570" cy="28314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908050" y="1042988"/>
            <a:ext cx="7194550" cy="2071687"/>
          </a:xfrm>
          <a:prstGeom prst="rect">
            <a:avLst/>
          </a:prstGeom>
          <a:noFill/>
          <a:ln>
            <a:noFill/>
          </a:ln>
        </p:spPr>
        <p:txBody>
          <a:bodyPr lIns="91435" tIns="45718" rIns="91435" bIns="45718"/>
          <a:lstStyle>
            <a:lvl1pPr marL="488950" indent="-4889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charset="0"/>
              <a:buChar char="n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1060450" indent="-408305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charset="0"/>
              <a:buChar char="l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551305" indent="-325755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charset="0"/>
              <a:buChar char="4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2040255" indent="-325755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530475" indent="-325755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  <a:lvl6pPr marL="3183890" indent="-32639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6pPr>
            <a:lvl7pPr marL="3837305" indent="-32639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7pPr>
            <a:lvl8pPr marL="4490085" indent="-32639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8pPr>
            <a:lvl9pPr marL="5143500" indent="-32639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9pPr>
          </a:lstStyle>
          <a:p>
            <a:pPr>
              <a:buSzPct val="110000"/>
              <a:buFont typeface="Wingdings" panose="05000000000000000000" pitchFamily="2" charset="2"/>
              <a:buChar char="§"/>
              <a:defRPr/>
            </a:pPr>
            <a:r>
              <a:rPr lang="en-US" sz="2000" dirty="0">
                <a:latin typeface="Calibri" panose="020F0502020204030204" charset="0"/>
                <a:ea typeface="MS PGothic" panose="020B0600070205080204" pitchFamily="34" charset="-128"/>
                <a:cs typeface="Calibri" panose="020F0502020204030204" charset="0"/>
              </a:rPr>
              <a:t>Direct relationship between working set of a process and its page-fault rate</a:t>
            </a:r>
            <a:endParaRPr lang="en-US" sz="2000" dirty="0">
              <a:latin typeface="Calibri" panose="020F0502020204030204" charset="0"/>
              <a:ea typeface="MS PGothic" panose="020B0600070205080204" pitchFamily="34" charset="-128"/>
              <a:cs typeface="Calibri" panose="020F0502020204030204" charset="0"/>
            </a:endParaRPr>
          </a:p>
          <a:p>
            <a:pPr>
              <a:buSzPct val="110000"/>
              <a:buFont typeface="Wingdings" panose="05000000000000000000" pitchFamily="2" charset="2"/>
              <a:buChar char="§"/>
              <a:defRPr/>
            </a:pPr>
            <a:r>
              <a:rPr lang="en-US" sz="2000" dirty="0">
                <a:latin typeface="Calibri" panose="020F0502020204030204" charset="0"/>
                <a:ea typeface="MS PGothic" panose="020B0600070205080204" pitchFamily="34" charset="-128"/>
                <a:cs typeface="Calibri" panose="020F0502020204030204" charset="0"/>
              </a:rPr>
              <a:t>Working set changes over time</a:t>
            </a:r>
            <a:endParaRPr lang="en-US" sz="2000" dirty="0">
              <a:latin typeface="Calibri" panose="020F0502020204030204" charset="0"/>
              <a:ea typeface="MS PGothic" panose="020B0600070205080204" pitchFamily="34" charset="-128"/>
              <a:cs typeface="Calibri" panose="020F0502020204030204" charset="0"/>
            </a:endParaRPr>
          </a:p>
          <a:p>
            <a:pPr>
              <a:buSzPct val="110000"/>
              <a:buFont typeface="Wingdings" panose="05000000000000000000" pitchFamily="2" charset="2"/>
              <a:buChar char="§"/>
              <a:defRPr/>
            </a:pPr>
            <a:r>
              <a:rPr lang="en-US" sz="2000" dirty="0">
                <a:latin typeface="Calibri" panose="020F0502020204030204" charset="0"/>
                <a:ea typeface="MS PGothic" panose="020B0600070205080204" pitchFamily="34" charset="-128"/>
                <a:cs typeface="Calibri" panose="020F0502020204030204" charset="0"/>
              </a:rPr>
              <a:t>Peaks and valleys over time</a:t>
            </a:r>
            <a:endParaRPr lang="en-US" sz="2000" dirty="0">
              <a:latin typeface="Calibri" panose="020F0502020204030204" charset="0"/>
              <a:ea typeface="MS PGothic" panose="020B0600070205080204" pitchFamily="34" charset="-128"/>
              <a:cs typeface="Calibri" panose="020F0502020204030204" charset="0"/>
            </a:endParaRPr>
          </a:p>
          <a:p>
            <a:pPr marL="0" indent="0">
              <a:buFont typeface="Monotype Sorts" charset="0"/>
              <a:buNone/>
              <a:defRPr/>
            </a:pPr>
            <a:endParaRPr lang="en-US" sz="2000" dirty="0">
              <a:latin typeface="Calibri" panose="020F0502020204030204" charset="0"/>
              <a:ea typeface="MS PGothic" panose="020B0600070205080204" pitchFamily="34" charset="-128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963613" y="238161"/>
            <a:ext cx="772318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Allocating Kernel Memory</a:t>
            </a:r>
            <a:endParaRPr lang="en-US" altLang="en-US" dirty="0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012" y="1093788"/>
            <a:ext cx="7677150" cy="4530725"/>
          </a:xfrm>
        </p:spPr>
        <p:txBody>
          <a:bodyPr/>
          <a:lstStyle/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Treated differently from user memory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Often allocated from a free-memory pool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Kernel requests memory for structures of varying sizes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Some kernel memory needs to be contiguous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2"/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i.e., for device I/O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>
              <a:buFont typeface="Monotype Sorts" pitchFamily="-84" charset="2"/>
              <a:buNone/>
            </a:pP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251924" y="23142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Buddy System</a:t>
            </a:r>
            <a:endParaRPr lang="en-US" altLang="en-US" dirty="0"/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1354" y="1108305"/>
            <a:ext cx="7728794" cy="5243512"/>
          </a:xfrm>
        </p:spPr>
        <p:txBody>
          <a:bodyPr/>
          <a:lstStyle/>
          <a:p>
            <a:r>
              <a:rPr lang="en-US" altLang="en-US" dirty="0">
                <a:latin typeface="Calibri" panose="020F0502020204030204" charset="0"/>
                <a:cs typeface="Calibri" panose="020F0502020204030204" charset="0"/>
              </a:rPr>
              <a:t>Allocates memory from fixed-size segment consisting of physically-contiguous pages</a:t>
            </a:r>
            <a:endParaRPr lang="en-US" altLang="en-US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dirty="0">
                <a:latin typeface="Calibri" panose="020F0502020204030204" charset="0"/>
                <a:cs typeface="Calibri" panose="020F0502020204030204" charset="0"/>
              </a:rPr>
              <a:t>Memory allocated using </a:t>
            </a:r>
            <a:r>
              <a:rPr lang="en-US" altLang="en-US" b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</a:rPr>
              <a:t>power-of-2</a:t>
            </a:r>
            <a:r>
              <a:rPr lang="en-US" altLang="en-US" b="1" dirty="0">
                <a:solidFill>
                  <a:srgbClr val="3366F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</a:rPr>
              <a:t>allocator</a:t>
            </a:r>
            <a:endParaRPr lang="en-US" altLang="en-US" b="1" dirty="0">
              <a:solidFill>
                <a:srgbClr val="006699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dirty="0">
                <a:latin typeface="Calibri" panose="020F0502020204030204" charset="0"/>
                <a:cs typeface="Calibri" panose="020F0502020204030204" charset="0"/>
              </a:rPr>
              <a:t>Satisfies requests in units sized as power of 2</a:t>
            </a:r>
            <a:endParaRPr lang="en-US" altLang="en-US" dirty="0"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dirty="0">
                <a:latin typeface="Calibri" panose="020F0502020204030204" charset="0"/>
                <a:cs typeface="Calibri" panose="020F0502020204030204" charset="0"/>
              </a:rPr>
              <a:t>Request rounded up to next highest power of 2</a:t>
            </a:r>
            <a:endParaRPr lang="en-US" altLang="en-US" dirty="0"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dirty="0">
                <a:latin typeface="Calibri" panose="020F0502020204030204" charset="0"/>
                <a:cs typeface="Calibri" panose="020F0502020204030204" charset="0"/>
              </a:rPr>
              <a:t>When smaller allocation needed than is available, current chunk split into two buddies of next-lower power of 2</a:t>
            </a:r>
            <a:endParaRPr lang="en-US" altLang="en-US" dirty="0">
              <a:latin typeface="Calibri" panose="020F0502020204030204" charset="0"/>
              <a:cs typeface="Calibri" panose="020F0502020204030204" charset="0"/>
            </a:endParaRPr>
          </a:p>
          <a:p>
            <a:pPr lvl="2"/>
            <a:r>
              <a:rPr lang="en-US" altLang="en-US" dirty="0">
                <a:latin typeface="Calibri" panose="020F0502020204030204" charset="0"/>
                <a:cs typeface="Calibri" panose="020F0502020204030204" charset="0"/>
              </a:rPr>
              <a:t>Continue until appropriate sized chunk available</a:t>
            </a:r>
            <a:endParaRPr lang="en-US" altLang="en-US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dirty="0">
                <a:latin typeface="Calibri" panose="020F0502020204030204" charset="0"/>
                <a:cs typeface="Calibri" panose="020F0502020204030204" charset="0"/>
              </a:rPr>
              <a:t>For example, assume 256KB chunk available, kernel requests 21KB</a:t>
            </a:r>
            <a:endParaRPr lang="en-US" altLang="en-US" dirty="0"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dirty="0">
                <a:latin typeface="Calibri" panose="020F0502020204030204" charset="0"/>
                <a:cs typeface="Calibri" panose="020F0502020204030204" charset="0"/>
              </a:rPr>
              <a:t>Split into A</a:t>
            </a:r>
            <a:r>
              <a:rPr lang="en-US" altLang="en-US" baseline="-25000" dirty="0">
                <a:latin typeface="Calibri" panose="020F0502020204030204" charset="0"/>
                <a:cs typeface="Calibri" panose="020F0502020204030204" charset="0"/>
              </a:rPr>
              <a:t>L</a:t>
            </a:r>
            <a:r>
              <a:rPr lang="en-US" altLang="en-US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baseline="-25000" dirty="0">
                <a:latin typeface="Calibri" panose="020F0502020204030204" charset="0"/>
                <a:cs typeface="Calibri" panose="020F0502020204030204" charset="0"/>
              </a:rPr>
              <a:t>and</a:t>
            </a:r>
            <a:r>
              <a:rPr lang="en-US" altLang="en-US" dirty="0">
                <a:latin typeface="Calibri" panose="020F0502020204030204" charset="0"/>
                <a:cs typeface="Calibri" panose="020F0502020204030204" charset="0"/>
              </a:rPr>
              <a:t> A</a:t>
            </a:r>
            <a:r>
              <a:rPr lang="en-US" altLang="en-US" baseline="-25000" dirty="0">
                <a:latin typeface="Calibri" panose="020F0502020204030204" charset="0"/>
                <a:cs typeface="Calibri" panose="020F0502020204030204" charset="0"/>
              </a:rPr>
              <a:t>R</a:t>
            </a:r>
            <a:r>
              <a:rPr lang="en-US" altLang="en-US" dirty="0">
                <a:latin typeface="Calibri" panose="020F0502020204030204" charset="0"/>
                <a:cs typeface="Calibri" panose="020F0502020204030204" charset="0"/>
              </a:rPr>
              <a:t> of 128KB each</a:t>
            </a:r>
            <a:endParaRPr lang="en-US" altLang="en-US" dirty="0">
              <a:latin typeface="Calibri" panose="020F0502020204030204" charset="0"/>
              <a:cs typeface="Calibri" panose="020F0502020204030204" charset="0"/>
            </a:endParaRPr>
          </a:p>
          <a:p>
            <a:pPr lvl="2"/>
            <a:r>
              <a:rPr lang="en-US" altLang="en-US" dirty="0">
                <a:latin typeface="Calibri" panose="020F0502020204030204" charset="0"/>
                <a:cs typeface="Calibri" panose="020F0502020204030204" charset="0"/>
              </a:rPr>
              <a:t>One further divided into B</a:t>
            </a:r>
            <a:r>
              <a:rPr lang="en-US" altLang="en-US" baseline="-25000" dirty="0">
                <a:latin typeface="Calibri" panose="020F0502020204030204" charset="0"/>
                <a:cs typeface="Calibri" panose="020F0502020204030204" charset="0"/>
              </a:rPr>
              <a:t>L</a:t>
            </a:r>
            <a:r>
              <a:rPr lang="en-US" altLang="en-US" dirty="0">
                <a:latin typeface="Calibri" panose="020F0502020204030204" charset="0"/>
                <a:cs typeface="Calibri" panose="020F0502020204030204" charset="0"/>
              </a:rPr>
              <a:t> and B</a:t>
            </a:r>
            <a:r>
              <a:rPr lang="en-US" altLang="en-US" baseline="-25000" dirty="0">
                <a:latin typeface="Calibri" panose="020F0502020204030204" charset="0"/>
                <a:cs typeface="Calibri" panose="020F0502020204030204" charset="0"/>
              </a:rPr>
              <a:t>R</a:t>
            </a:r>
            <a:r>
              <a:rPr lang="en-US" altLang="en-US" dirty="0">
                <a:latin typeface="Calibri" panose="020F0502020204030204" charset="0"/>
                <a:cs typeface="Calibri" panose="020F0502020204030204" charset="0"/>
              </a:rPr>
              <a:t> of 64KB</a:t>
            </a:r>
            <a:endParaRPr lang="en-US" altLang="en-US" dirty="0">
              <a:latin typeface="Calibri" panose="020F0502020204030204" charset="0"/>
              <a:cs typeface="Calibri" panose="020F0502020204030204" charset="0"/>
            </a:endParaRPr>
          </a:p>
          <a:p>
            <a:pPr lvl="3"/>
            <a:r>
              <a:rPr lang="en-US" altLang="en-US" dirty="0">
                <a:latin typeface="Calibri" panose="020F0502020204030204" charset="0"/>
                <a:cs typeface="Calibri" panose="020F0502020204030204" charset="0"/>
              </a:rPr>
              <a:t>One further into C</a:t>
            </a:r>
            <a:r>
              <a:rPr lang="en-US" altLang="en-US" baseline="-25000" dirty="0">
                <a:latin typeface="Calibri" panose="020F0502020204030204" charset="0"/>
                <a:cs typeface="Calibri" panose="020F0502020204030204" charset="0"/>
              </a:rPr>
              <a:t>L</a:t>
            </a:r>
            <a:r>
              <a:rPr lang="en-US" altLang="en-US" dirty="0">
                <a:latin typeface="Calibri" panose="020F0502020204030204" charset="0"/>
                <a:cs typeface="Calibri" panose="020F0502020204030204" charset="0"/>
              </a:rPr>
              <a:t> and C</a:t>
            </a:r>
            <a:r>
              <a:rPr lang="en-US" altLang="en-US" baseline="-25000" dirty="0">
                <a:latin typeface="Calibri" panose="020F0502020204030204" charset="0"/>
                <a:cs typeface="Calibri" panose="020F0502020204030204" charset="0"/>
              </a:rPr>
              <a:t>R</a:t>
            </a:r>
            <a:r>
              <a:rPr lang="en-US" altLang="en-US" dirty="0">
                <a:latin typeface="Calibri" panose="020F0502020204030204" charset="0"/>
                <a:cs typeface="Calibri" panose="020F0502020204030204" charset="0"/>
              </a:rPr>
              <a:t> of 32KB each – one used to satisfy request</a:t>
            </a:r>
            <a:endParaRPr lang="en-US" altLang="en-US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dirty="0">
                <a:latin typeface="Calibri" panose="020F0502020204030204" charset="0"/>
                <a:cs typeface="Calibri" panose="020F0502020204030204" charset="0"/>
              </a:rPr>
              <a:t>Advantage – quickly </a:t>
            </a:r>
            <a:r>
              <a:rPr lang="en-US" altLang="en-US" b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</a:rPr>
              <a:t>coalesce</a:t>
            </a:r>
            <a:r>
              <a:rPr lang="en-US" altLang="en-US" dirty="0">
                <a:latin typeface="Calibri" panose="020F0502020204030204" charset="0"/>
                <a:cs typeface="Calibri" panose="020F0502020204030204" charset="0"/>
              </a:rPr>
              <a:t> unused chunks into larger chunk</a:t>
            </a:r>
            <a:endParaRPr lang="en-US" altLang="en-US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dirty="0">
                <a:latin typeface="Calibri" panose="020F0502020204030204" charset="0"/>
                <a:cs typeface="Calibri" panose="020F0502020204030204" charset="0"/>
              </a:rPr>
              <a:t>Disadvantage - fragmentation</a:t>
            </a:r>
            <a:endParaRPr lang="en-US" altLang="en-US" dirty="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>
          <a:xfrm>
            <a:off x="786328" y="248268"/>
            <a:ext cx="772318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Buddy System Allocator</a:t>
            </a:r>
            <a:endParaRPr lang="en-US" altLang="en-US" dirty="0"/>
          </a:p>
        </p:txBody>
      </p:sp>
      <p:pic>
        <p:nvPicPr>
          <p:cNvPr id="68611" name="Picture 1" descr="9_26.pdf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1415" y="1268730"/>
            <a:ext cx="4545965" cy="445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>
          <a:xfrm>
            <a:off x="819828" y="244899"/>
            <a:ext cx="7605712" cy="576262"/>
          </a:xfrm>
        </p:spPr>
        <p:txBody>
          <a:bodyPr/>
          <a:lstStyle/>
          <a:p>
            <a:pPr eaLnBrk="1" hangingPunct="1"/>
            <a:r>
              <a:rPr lang="en-US" altLang="en-US"/>
              <a:t>Slab Allocator</a:t>
            </a:r>
            <a:endParaRPr lang="en-US" altLang="en-US"/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6408" y="1174398"/>
            <a:ext cx="7605712" cy="5046662"/>
          </a:xfrm>
        </p:spPr>
        <p:txBody>
          <a:bodyPr/>
          <a:lstStyle/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Alternate strategy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b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</a:rPr>
              <a:t>Slab</a:t>
            </a:r>
            <a:r>
              <a:rPr lang="en-US" altLang="en-US" sz="2000" dirty="0">
                <a:solidFill>
                  <a:srgbClr val="3366F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is one or more physically contiguous pages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b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</a:rPr>
              <a:t>Cache</a:t>
            </a:r>
            <a:r>
              <a:rPr lang="en-US" altLang="en-US" sz="2000" dirty="0">
                <a:solidFill>
                  <a:srgbClr val="3366F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consists of one or more slabs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Single cache for each unique kernel data structure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Each cache filled with </a:t>
            </a:r>
            <a:r>
              <a:rPr lang="en-US" altLang="en-US" sz="2000" b="1" dirty="0">
                <a:solidFill>
                  <a:srgbClr val="006699"/>
                </a:solidFill>
                <a:latin typeface="Calibri" panose="020F0502020204030204" charset="0"/>
                <a:cs typeface="Calibri" panose="020F0502020204030204" charset="0"/>
              </a:rPr>
              <a:t>objects</a:t>
            </a:r>
            <a:r>
              <a:rPr lang="en-US" altLang="en-US" sz="2000" dirty="0">
                <a:solidFill>
                  <a:srgbClr val="3366F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– instantiations of the data structure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When cache created, filled with objects marked as </a:t>
            </a:r>
            <a:r>
              <a:rPr lang="en-US" altLang="en-US" sz="2000" b="1" dirty="0">
                <a:latin typeface="Calibri" panose="020F0502020204030204" charset="0"/>
                <a:cs typeface="Calibri" panose="020F0502020204030204" charset="0"/>
              </a:rPr>
              <a:t>free</a:t>
            </a:r>
            <a:endParaRPr lang="en-US" altLang="en-US" sz="2000" b="1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When structures stored, objects marked as </a:t>
            </a:r>
            <a:r>
              <a:rPr lang="en-US" altLang="en-US" sz="2000" b="1" dirty="0">
                <a:latin typeface="Calibri" panose="020F0502020204030204" charset="0"/>
                <a:cs typeface="Calibri" panose="020F0502020204030204" charset="0"/>
              </a:rPr>
              <a:t>used</a:t>
            </a:r>
            <a:endParaRPr lang="en-US" altLang="en-US" sz="2000" b="1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If slab is full of used objects, next object allocated from empty slab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1"/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If no empty slabs, new slab allocated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Benefits include no fragmentation, fast memory request satisfaction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>
          <a:xfrm>
            <a:off x="798996" y="238161"/>
            <a:ext cx="76358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Slab Allocation</a:t>
            </a:r>
            <a:endParaRPr lang="en-US" altLang="en-US" dirty="0"/>
          </a:p>
        </p:txBody>
      </p:sp>
      <p:pic>
        <p:nvPicPr>
          <p:cNvPr id="70659" name="Picture 1" descr="9_27.pdf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3900" y="1183005"/>
            <a:ext cx="5781040" cy="4580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782506" y="235568"/>
            <a:ext cx="76057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Slab Allocator in Linux</a:t>
            </a:r>
            <a:endParaRPr lang="en-US" altLang="en-US" dirty="0"/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6408" y="1167854"/>
            <a:ext cx="7501810" cy="5214937"/>
          </a:xfrm>
        </p:spPr>
        <p:txBody>
          <a:bodyPr/>
          <a:lstStyle/>
          <a:p>
            <a:r>
              <a:rPr lang="en-US" altLang="en-US" dirty="0"/>
              <a:t>For example process descriptor is of type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struct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task_struct</a:t>
            </a:r>
            <a:endParaRPr lang="en-US" altLang="en-US" dirty="0"/>
          </a:p>
          <a:p>
            <a:r>
              <a:rPr lang="en-US" altLang="en-US" dirty="0" err="1"/>
              <a:t>Approx</a:t>
            </a:r>
            <a:r>
              <a:rPr lang="en-US" altLang="en-US" dirty="0"/>
              <a:t> 1.7KB of memory</a:t>
            </a:r>
            <a:endParaRPr lang="en-US" altLang="en-US" dirty="0"/>
          </a:p>
          <a:p>
            <a:r>
              <a:rPr lang="en-US" altLang="en-US" dirty="0"/>
              <a:t>New task -&gt; allocate new struct from cache</a:t>
            </a:r>
            <a:endParaRPr lang="en-US" altLang="en-US" dirty="0"/>
          </a:p>
          <a:p>
            <a:pPr lvl="1"/>
            <a:r>
              <a:rPr lang="en-US" altLang="en-US" dirty="0"/>
              <a:t>Will use existing free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struct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task_struct</a:t>
            </a:r>
            <a:endParaRPr lang="en-US" altLang="en-US" dirty="0"/>
          </a:p>
          <a:p>
            <a:r>
              <a:rPr lang="en-US" altLang="en-US" dirty="0"/>
              <a:t>Slab can be in three possible states</a:t>
            </a:r>
            <a:endParaRPr lang="en-US" altLang="en-US" dirty="0"/>
          </a:p>
          <a:p>
            <a:pPr lvl="1">
              <a:buFont typeface="Arial" panose="020B0604020202020204" pitchFamily="34" charset="0"/>
              <a:buAutoNum type="arabicPeriod"/>
            </a:pPr>
            <a:r>
              <a:rPr lang="en-US" altLang="en-US" dirty="0"/>
              <a:t>Full – all used</a:t>
            </a:r>
            <a:endParaRPr lang="en-US" altLang="en-US" dirty="0"/>
          </a:p>
          <a:p>
            <a:pPr lvl="1">
              <a:buFont typeface="Arial" panose="020B0604020202020204" pitchFamily="34" charset="0"/>
              <a:buAutoNum type="arabicPeriod"/>
            </a:pPr>
            <a:r>
              <a:rPr lang="en-US" altLang="en-US" dirty="0"/>
              <a:t>Empty – all free</a:t>
            </a:r>
            <a:endParaRPr lang="en-US" altLang="en-US" dirty="0"/>
          </a:p>
          <a:p>
            <a:pPr lvl="1">
              <a:buFont typeface="Arial" panose="020B0604020202020204" pitchFamily="34" charset="0"/>
              <a:buAutoNum type="arabicPeriod"/>
            </a:pPr>
            <a:r>
              <a:rPr lang="en-US" altLang="en-US" dirty="0"/>
              <a:t>Partial – mix of free and used</a:t>
            </a:r>
            <a:endParaRPr lang="en-US" altLang="en-US" dirty="0"/>
          </a:p>
          <a:p>
            <a:r>
              <a:rPr lang="en-US" altLang="en-US" dirty="0"/>
              <a:t>Upon request, slab allocator</a:t>
            </a:r>
            <a:endParaRPr lang="en-US" altLang="en-US" dirty="0"/>
          </a:p>
          <a:p>
            <a:pPr lvl="1">
              <a:buFont typeface="Arial" panose="020B0604020202020204" pitchFamily="34" charset="0"/>
              <a:buAutoNum type="arabicPeriod"/>
            </a:pPr>
            <a:r>
              <a:rPr lang="en-US" altLang="en-US" dirty="0"/>
              <a:t>Uses free struct in partial slab</a:t>
            </a:r>
            <a:endParaRPr lang="en-US" altLang="en-US" dirty="0"/>
          </a:p>
          <a:p>
            <a:pPr lvl="1">
              <a:buFont typeface="Arial" panose="020B0604020202020204" pitchFamily="34" charset="0"/>
              <a:buAutoNum type="arabicPeriod"/>
            </a:pPr>
            <a:r>
              <a:rPr lang="en-US" altLang="en-US" dirty="0"/>
              <a:t>If none, takes one from empty slab</a:t>
            </a:r>
            <a:endParaRPr lang="en-US" altLang="en-US" dirty="0"/>
          </a:p>
          <a:p>
            <a:pPr lvl="1">
              <a:buFont typeface="Arial" panose="020B0604020202020204" pitchFamily="34" charset="0"/>
              <a:buAutoNum type="arabicPeriod"/>
            </a:pPr>
            <a:r>
              <a:rPr lang="en-US" altLang="en-US" dirty="0"/>
              <a:t>If no empty slab, create new empty</a:t>
            </a:r>
            <a:endParaRPr lang="en-US" altLang="en-US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>
          <a:xfrm>
            <a:off x="885142" y="244899"/>
            <a:ext cx="76057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Slab Allocator in Linux (Cont.)</a:t>
            </a:r>
            <a:endParaRPr lang="en-US" altLang="en-US" dirty="0"/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5142" y="1103313"/>
            <a:ext cx="7605712" cy="5214937"/>
          </a:xfrm>
        </p:spPr>
        <p:txBody>
          <a:bodyPr/>
          <a:lstStyle/>
          <a:p>
            <a:r>
              <a:rPr lang="en-US" altLang="en-US" dirty="0"/>
              <a:t>Slab started in Solaris, now wide-spread for both kernel mode and user memory in various OSes</a:t>
            </a:r>
            <a:endParaRPr lang="en-US" altLang="en-US" dirty="0"/>
          </a:p>
          <a:p>
            <a:r>
              <a:rPr lang="en-US" altLang="en-US" dirty="0"/>
              <a:t>Linux  2.2 had SLAB, now has both SLOB and SLUB allocators</a:t>
            </a:r>
            <a:endParaRPr lang="en-US" altLang="en-US" dirty="0"/>
          </a:p>
          <a:p>
            <a:pPr lvl="1"/>
            <a:r>
              <a:rPr lang="en-US" altLang="en-US" dirty="0"/>
              <a:t>SLOB for systems with limited memory</a:t>
            </a:r>
            <a:endParaRPr lang="en-US" altLang="en-US" dirty="0"/>
          </a:p>
          <a:p>
            <a:pPr lvl="2"/>
            <a:r>
              <a:rPr lang="en-US" altLang="en-US" dirty="0"/>
              <a:t>Simple List of Blocks – maintains 3 list objects for small, medium, large objects</a:t>
            </a:r>
            <a:endParaRPr lang="en-US" altLang="en-US" dirty="0"/>
          </a:p>
          <a:p>
            <a:pPr lvl="1"/>
            <a:r>
              <a:rPr lang="en-US" altLang="en-US" dirty="0"/>
              <a:t>SLUB is performance-optimized SLAB removes per-CPU queues, metadata stored in page structure</a:t>
            </a:r>
            <a:endParaRPr lang="en-US" altLang="en-US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>
          <a:xfrm>
            <a:off x="768867" y="244899"/>
            <a:ext cx="77914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Other Considerations</a:t>
            </a:r>
            <a:endParaRPr lang="en-US" altLang="en-US" dirty="0"/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4570" y="1170217"/>
            <a:ext cx="7027251" cy="4908550"/>
          </a:xfrm>
          <a:ln>
            <a:miter lim="800000"/>
          </a:ln>
        </p:spPr>
        <p:txBody>
          <a:bodyPr/>
          <a:lstStyle/>
          <a:p>
            <a:pPr>
              <a:defRPr/>
            </a:pPr>
            <a:r>
              <a:rPr lang="en-US" altLang="en-US" dirty="0"/>
              <a:t>Prepaging </a:t>
            </a:r>
            <a:endParaRPr lang="en-US" altLang="en-US" dirty="0"/>
          </a:p>
          <a:p>
            <a:pPr>
              <a:defRPr/>
            </a:pPr>
            <a:r>
              <a:rPr lang="en-US" altLang="en-US" dirty="0"/>
              <a:t>Page size</a:t>
            </a:r>
            <a:endParaRPr lang="en-US" altLang="en-US" dirty="0"/>
          </a:p>
          <a:p>
            <a:pPr>
              <a:defRPr/>
            </a:pPr>
            <a:r>
              <a:rPr lang="en-US" altLang="en-US" dirty="0"/>
              <a:t>TLB reach</a:t>
            </a:r>
            <a:endParaRPr lang="en-US" altLang="en-US" dirty="0"/>
          </a:p>
          <a:p>
            <a:pPr>
              <a:defRPr/>
            </a:pPr>
            <a:r>
              <a:rPr lang="en-US" altLang="en-US" dirty="0"/>
              <a:t>Inverted page table</a:t>
            </a:r>
            <a:endParaRPr lang="en-US" altLang="en-US" dirty="0"/>
          </a:p>
          <a:p>
            <a:pPr>
              <a:defRPr/>
            </a:pPr>
            <a:r>
              <a:rPr lang="en-US" altLang="en-US" dirty="0"/>
              <a:t>Program structure</a:t>
            </a:r>
            <a:endParaRPr lang="en-US" altLang="en-US" dirty="0"/>
          </a:p>
          <a:p>
            <a:pPr>
              <a:defRPr/>
            </a:pPr>
            <a:r>
              <a:rPr lang="en-US" altLang="en-US" dirty="0"/>
              <a:t>I/O interlock and page locking</a:t>
            </a:r>
            <a:endParaRPr lang="en-US" altLang="en-US" dirty="0"/>
          </a:p>
          <a:p>
            <a:pPr>
              <a:buFont typeface="Monotype Sorts" pitchFamily="-84" charset="2"/>
              <a:buNone/>
              <a:defRPr/>
            </a:pPr>
            <a:endParaRPr lang="en-US" altLang="en-US" dirty="0"/>
          </a:p>
          <a:p>
            <a:pPr>
              <a:defRPr/>
            </a:pPr>
            <a:endParaRPr lang="en-US" altLang="en-US" dirty="0"/>
          </a:p>
          <a:p>
            <a:pPr lvl="8">
              <a:buFontTx/>
              <a:buNone/>
              <a:defRPr/>
            </a:pPr>
            <a:endParaRPr lang="en-US" altLang="en-US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>
          <a:xfrm>
            <a:off x="563595" y="235568"/>
            <a:ext cx="7791450" cy="576262"/>
          </a:xfrm>
        </p:spPr>
        <p:txBody>
          <a:bodyPr/>
          <a:lstStyle/>
          <a:p>
            <a:pPr eaLnBrk="1" hangingPunct="1"/>
            <a:r>
              <a:rPr lang="en-US" altLang="en-US" dirty="0" err="1"/>
              <a:t>Prepaging</a:t>
            </a:r>
            <a:endParaRPr lang="en-US" altLang="en-US" dirty="0"/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7081" y="1170217"/>
            <a:ext cx="7697752" cy="4908550"/>
          </a:xfrm>
        </p:spPr>
        <p:txBody>
          <a:bodyPr/>
          <a:lstStyle/>
          <a:p>
            <a:r>
              <a:rPr lang="en-US" altLang="en-US" dirty="0"/>
              <a:t>To reduce the large number of page faults that occurs at process startup</a:t>
            </a:r>
            <a:endParaRPr lang="en-US" altLang="en-US" dirty="0"/>
          </a:p>
          <a:p>
            <a:r>
              <a:rPr lang="en-US" altLang="en-US" dirty="0" err="1"/>
              <a:t>Prepage</a:t>
            </a:r>
            <a:r>
              <a:rPr lang="en-US" altLang="en-US" dirty="0"/>
              <a:t> all or some of the pages a process will need, before they are referenced</a:t>
            </a:r>
            <a:endParaRPr lang="en-US" altLang="en-US" dirty="0"/>
          </a:p>
          <a:p>
            <a:r>
              <a:rPr lang="en-US" altLang="en-US" dirty="0"/>
              <a:t>But if </a:t>
            </a:r>
            <a:r>
              <a:rPr lang="en-US" altLang="en-US" dirty="0" err="1"/>
              <a:t>prepaged</a:t>
            </a:r>
            <a:r>
              <a:rPr lang="en-US" altLang="en-US" dirty="0"/>
              <a:t> pages are unused, I/O and memory was wasted</a:t>
            </a:r>
            <a:endParaRPr lang="en-US" altLang="en-US" dirty="0"/>
          </a:p>
          <a:p>
            <a:r>
              <a:rPr lang="en-US" altLang="en-US" dirty="0"/>
              <a:t>Assume </a:t>
            </a:r>
            <a:r>
              <a:rPr lang="en-US" altLang="en-US" i="1" dirty="0"/>
              <a:t>s</a:t>
            </a:r>
            <a:r>
              <a:rPr lang="en-US" altLang="en-US" dirty="0"/>
              <a:t> pages are </a:t>
            </a:r>
            <a:r>
              <a:rPr lang="en-US" altLang="en-US" dirty="0" err="1"/>
              <a:t>prepaged</a:t>
            </a:r>
            <a:r>
              <a:rPr lang="en-US" altLang="en-US" dirty="0"/>
              <a:t> and </a:t>
            </a:r>
            <a:r>
              <a:rPr lang="el-GR" altLang="en-US" i="1" dirty="0"/>
              <a:t>α</a:t>
            </a:r>
            <a:r>
              <a:rPr lang="en-US" altLang="en-US" i="1" dirty="0"/>
              <a:t> </a:t>
            </a:r>
            <a:r>
              <a:rPr lang="en-US" altLang="en-US" dirty="0"/>
              <a:t>of the pages is used</a:t>
            </a:r>
            <a:endParaRPr lang="en-US" altLang="en-US" dirty="0"/>
          </a:p>
          <a:p>
            <a:pPr lvl="1"/>
            <a:r>
              <a:rPr lang="en-US" altLang="en-US" dirty="0"/>
              <a:t>Is cost of </a:t>
            </a:r>
            <a:r>
              <a:rPr lang="en-US" altLang="en-US" b="1" i="1" dirty="0"/>
              <a:t>s * </a:t>
            </a:r>
            <a:r>
              <a:rPr lang="el-GR" altLang="en-US" b="1" i="1" dirty="0"/>
              <a:t>α</a:t>
            </a:r>
            <a:r>
              <a:rPr lang="en-US" altLang="en-US" b="1" i="1" dirty="0"/>
              <a:t>  </a:t>
            </a:r>
            <a:r>
              <a:rPr lang="en-US" altLang="en-US" dirty="0"/>
              <a:t>save pages faults &gt; or &lt; than the cost of </a:t>
            </a:r>
            <a:r>
              <a:rPr lang="en-US" altLang="en-US" dirty="0" err="1"/>
              <a:t>prepaging</a:t>
            </a:r>
            <a:r>
              <a:rPr lang="en-US" altLang="en-US" i="1" dirty="0"/>
              <a:t> </a:t>
            </a:r>
            <a:br>
              <a:rPr lang="en-US" altLang="en-US" i="1" dirty="0"/>
            </a:br>
            <a:r>
              <a:rPr lang="en-US" altLang="en-US" b="1" i="1" dirty="0"/>
              <a:t>s * (1- </a:t>
            </a:r>
            <a:r>
              <a:rPr lang="el-GR" altLang="en-US" b="1" i="1" dirty="0"/>
              <a:t>α</a:t>
            </a:r>
            <a:r>
              <a:rPr lang="en-US" altLang="en-US" b="1" i="1" dirty="0"/>
              <a:t>) </a:t>
            </a:r>
            <a:r>
              <a:rPr lang="en-US" altLang="en-US" dirty="0"/>
              <a:t>unnecessary pages</a:t>
            </a:r>
            <a:r>
              <a:rPr lang="en-US" altLang="en-US" i="1" dirty="0"/>
              <a:t>?  </a:t>
            </a:r>
            <a:endParaRPr lang="en-US" altLang="en-US" i="1" dirty="0"/>
          </a:p>
          <a:p>
            <a:pPr lvl="1"/>
            <a:r>
              <a:rPr lang="el-GR" altLang="en-US" b="1" i="1" dirty="0"/>
              <a:t>α</a:t>
            </a:r>
            <a:r>
              <a:rPr lang="en-US" altLang="en-US" i="1" dirty="0"/>
              <a:t> </a:t>
            </a:r>
            <a:r>
              <a:rPr lang="en-US" altLang="en-US" dirty="0"/>
              <a:t>near zero </a:t>
            </a:r>
            <a:r>
              <a:rPr lang="en-US" altLang="en-US" dirty="0">
                <a:sym typeface="Symbol" panose="05050102010706020507" pitchFamily="18" charset="2"/>
              </a:rPr>
              <a:t> </a:t>
            </a:r>
            <a:r>
              <a:rPr lang="en-US" altLang="en-US" dirty="0" err="1">
                <a:sym typeface="Symbol" panose="05050102010706020507" pitchFamily="18" charset="2"/>
              </a:rPr>
              <a:t>prepaging</a:t>
            </a:r>
            <a:r>
              <a:rPr lang="en-US" altLang="en-US" dirty="0">
                <a:sym typeface="Symbol" panose="05050102010706020507" pitchFamily="18" charset="2"/>
              </a:rPr>
              <a:t> loses</a:t>
            </a:r>
            <a:r>
              <a:rPr lang="en-US" altLang="en-US" dirty="0"/>
              <a:t> </a:t>
            </a:r>
            <a:endParaRPr lang="en-US" altLang="en-US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>
          <a:xfrm>
            <a:off x="742530" y="228830"/>
            <a:ext cx="743108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Page Size</a:t>
            </a:r>
            <a:endParaRPr lang="en-US" altLang="en-US" dirty="0"/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4763" y="1153954"/>
            <a:ext cx="7654085" cy="4759325"/>
          </a:xfrm>
        </p:spPr>
        <p:txBody>
          <a:bodyPr/>
          <a:lstStyle/>
          <a:p>
            <a:r>
              <a:rPr lang="en-US" altLang="en-US" dirty="0"/>
              <a:t>Sometimes OS designers have a choice</a:t>
            </a:r>
            <a:endParaRPr lang="en-US" altLang="en-US" dirty="0"/>
          </a:p>
          <a:p>
            <a:pPr lvl="1"/>
            <a:r>
              <a:rPr lang="en-US" altLang="en-US" dirty="0"/>
              <a:t>Especially if running on custom-built CPU</a:t>
            </a:r>
            <a:endParaRPr lang="en-US" altLang="en-US" dirty="0"/>
          </a:p>
          <a:p>
            <a:r>
              <a:rPr lang="en-US" altLang="en-US" dirty="0"/>
              <a:t>Page size selection must take into consideration:</a:t>
            </a:r>
            <a:endParaRPr lang="en-US" altLang="en-US" dirty="0"/>
          </a:p>
          <a:p>
            <a:pPr lvl="1"/>
            <a:r>
              <a:rPr lang="en-US" altLang="en-US" dirty="0"/>
              <a:t>Fragmentation</a:t>
            </a:r>
            <a:endParaRPr lang="en-US" altLang="en-US" dirty="0"/>
          </a:p>
          <a:p>
            <a:pPr lvl="1"/>
            <a:r>
              <a:rPr lang="en-US" altLang="en-US" dirty="0"/>
              <a:t>Page table size </a:t>
            </a:r>
            <a:endParaRPr lang="en-US" altLang="en-US" dirty="0"/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Resolution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dirty="0"/>
              <a:t>I/O overhead</a:t>
            </a:r>
            <a:endParaRPr lang="en-US" altLang="en-US" dirty="0"/>
          </a:p>
          <a:p>
            <a:pPr lvl="1"/>
            <a:r>
              <a:rPr lang="en-US" altLang="en-US" dirty="0"/>
              <a:t>Number of page faults</a:t>
            </a:r>
            <a:endParaRPr lang="en-US" altLang="en-US" dirty="0"/>
          </a:p>
          <a:p>
            <a:pPr lvl="1"/>
            <a:r>
              <a:rPr lang="en-US" altLang="en-US" dirty="0"/>
              <a:t>Locality</a:t>
            </a:r>
            <a:endParaRPr lang="en-US" altLang="en-US" dirty="0"/>
          </a:p>
          <a:p>
            <a:pPr lvl="1"/>
            <a:r>
              <a:rPr lang="en-US" altLang="en-US" dirty="0"/>
              <a:t>TLB size and effectiveness</a:t>
            </a:r>
            <a:endParaRPr lang="en-US" altLang="en-US" dirty="0"/>
          </a:p>
          <a:p>
            <a:r>
              <a:rPr lang="en-US" altLang="en-US" dirty="0"/>
              <a:t>Always power of 2, usually in the range 2</a:t>
            </a:r>
            <a:r>
              <a:rPr lang="en-US" altLang="en-US" baseline="30000" dirty="0"/>
              <a:t>12</a:t>
            </a:r>
            <a:r>
              <a:rPr lang="en-US" altLang="en-US" dirty="0"/>
              <a:t> (4,096 bytes) to 2</a:t>
            </a:r>
            <a:r>
              <a:rPr lang="en-US" altLang="en-US" baseline="30000" dirty="0"/>
              <a:t>22</a:t>
            </a:r>
            <a:r>
              <a:rPr lang="en-US" altLang="en-US" dirty="0"/>
              <a:t> (4,194,304 bytes)</a:t>
            </a:r>
            <a:endParaRPr lang="en-US" altLang="en-US" dirty="0"/>
          </a:p>
          <a:p>
            <a:r>
              <a:rPr lang="en-US" altLang="en-US" dirty="0"/>
              <a:t>On average, growing over time</a:t>
            </a:r>
            <a:endParaRPr lang="en-US" altLang="en-US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>
          <a:xfrm>
            <a:off x="466531" y="232199"/>
            <a:ext cx="7921691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TLB Reach </a:t>
            </a:r>
            <a:endParaRPr lang="en-US" altLang="en-US" dirty="0"/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5737" y="1165225"/>
            <a:ext cx="7694612" cy="4418013"/>
          </a:xfrm>
        </p:spPr>
        <p:txBody>
          <a:bodyPr/>
          <a:lstStyle/>
          <a:p>
            <a:r>
              <a:rPr lang="en-US" altLang="en-US" dirty="0"/>
              <a:t>TLB Reach - The amount of memory accessible from the TLB</a:t>
            </a:r>
            <a:endParaRPr lang="en-US" altLang="en-US" sz="800" dirty="0"/>
          </a:p>
          <a:p>
            <a:r>
              <a:rPr lang="en-US" altLang="en-US" dirty="0"/>
              <a:t>TLB Reach = (TLB Size) X (Page Size)</a:t>
            </a:r>
            <a:endParaRPr lang="en-US" altLang="en-US" sz="800" dirty="0"/>
          </a:p>
          <a:p>
            <a:r>
              <a:rPr lang="en-US" altLang="en-US" dirty="0"/>
              <a:t>Ideally, the working set of each process is stored in the TLB</a:t>
            </a:r>
            <a:endParaRPr lang="en-US" altLang="en-US" dirty="0"/>
          </a:p>
          <a:p>
            <a:pPr lvl="1"/>
            <a:r>
              <a:rPr lang="en-US" altLang="en-US" dirty="0"/>
              <a:t>Otherwise there is a high degree of page faults</a:t>
            </a:r>
            <a:endParaRPr lang="en-US" altLang="en-US" sz="800" dirty="0"/>
          </a:p>
          <a:p>
            <a:r>
              <a:rPr lang="en-US" altLang="en-US" dirty="0"/>
              <a:t>Increase the Page Size</a:t>
            </a:r>
            <a:endParaRPr lang="en-US" altLang="en-US" dirty="0"/>
          </a:p>
          <a:p>
            <a:pPr lvl="1"/>
            <a:r>
              <a:rPr lang="en-US" altLang="en-US" dirty="0"/>
              <a:t>This may lead to an increase in fragmentation as not all applications require a large page size</a:t>
            </a:r>
            <a:endParaRPr lang="en-US" altLang="en-US" sz="800" dirty="0"/>
          </a:p>
          <a:p>
            <a:r>
              <a:rPr lang="en-US" altLang="en-US" dirty="0"/>
              <a:t>Provide Multiple Page Sizes</a:t>
            </a:r>
            <a:endParaRPr lang="en-US" altLang="en-US" dirty="0"/>
          </a:p>
          <a:p>
            <a:pPr lvl="1"/>
            <a:r>
              <a:rPr lang="en-US" altLang="en-US" dirty="0"/>
              <a:t>This allows applications that require larger page sizes the opportunity to use them without an increase in fragmentation</a:t>
            </a: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>
          <a:xfrm>
            <a:off x="857928" y="238161"/>
            <a:ext cx="76057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Program Structure</a:t>
            </a:r>
            <a:endParaRPr lang="en-US" altLang="en-US" dirty="0"/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7888" y="1104900"/>
            <a:ext cx="7548562" cy="4995863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3317875" algn="l"/>
                <a:tab pos="3649345" algn="l"/>
              </a:tabLst>
            </a:pPr>
            <a:r>
              <a:rPr lang="en-US" altLang="en-US"/>
              <a:t>Program structure</a:t>
            </a:r>
            <a:endParaRPr lang="en-US" altLang="en-US"/>
          </a:p>
          <a:p>
            <a:pPr lvl="1">
              <a:lnSpc>
                <a:spcPct val="90000"/>
              </a:lnSpc>
              <a:tabLst>
                <a:tab pos="3317875" algn="l"/>
                <a:tab pos="3649345" algn="l"/>
              </a:tabLst>
            </a:pPr>
            <a:r>
              <a:rPr lang="en-US" altLang="en-US">
                <a:latin typeface="Courier New" panose="02070309020205020404" pitchFamily="49" charset="0"/>
              </a:rPr>
              <a:t>int[128,128] data;</a:t>
            </a:r>
            <a:endParaRPr lang="en-US" altLang="en-US">
              <a:latin typeface="Courier New" panose="02070309020205020404" pitchFamily="49" charset="0"/>
            </a:endParaRPr>
          </a:p>
          <a:p>
            <a:pPr lvl="1">
              <a:lnSpc>
                <a:spcPct val="90000"/>
              </a:lnSpc>
              <a:tabLst>
                <a:tab pos="3317875" algn="l"/>
                <a:tab pos="3649345" algn="l"/>
              </a:tabLst>
            </a:pPr>
            <a:r>
              <a:rPr lang="en-US" altLang="en-US"/>
              <a:t>Each row is stored in one page </a:t>
            </a:r>
            <a:endParaRPr lang="en-US" altLang="en-US"/>
          </a:p>
          <a:p>
            <a:pPr lvl="1">
              <a:lnSpc>
                <a:spcPct val="90000"/>
              </a:lnSpc>
              <a:tabLst>
                <a:tab pos="3317875" algn="l"/>
                <a:tab pos="3649345" algn="l"/>
              </a:tabLst>
            </a:pPr>
            <a:r>
              <a:rPr lang="en-US" altLang="en-US"/>
              <a:t>Program 1 	</a:t>
            </a:r>
            <a:endParaRPr lang="en-US" altLang="en-US"/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317875" algn="l"/>
                <a:tab pos="3649345" algn="l"/>
              </a:tabLst>
            </a:pPr>
            <a:r>
              <a:rPr lang="en-US" altLang="en-US">
                <a:latin typeface="Courier New" panose="02070309020205020404" pitchFamily="49" charset="0"/>
              </a:rPr>
              <a:t>                for (j = 0; j &lt;128; j++)</a:t>
            </a:r>
            <a:br>
              <a:rPr lang="en-US" altLang="en-US">
                <a:latin typeface="Courier New" panose="02070309020205020404" pitchFamily="49" charset="0"/>
              </a:rPr>
            </a:br>
            <a:r>
              <a:rPr lang="en-US" altLang="en-US">
                <a:latin typeface="Courier New" panose="02070309020205020404" pitchFamily="49" charset="0"/>
              </a:rPr>
              <a:t>                  for (i = 0; i &lt; 128; i++)</a:t>
            </a:r>
            <a:br>
              <a:rPr lang="en-US" altLang="en-US">
                <a:latin typeface="Courier New" panose="02070309020205020404" pitchFamily="49" charset="0"/>
              </a:rPr>
            </a:br>
            <a:r>
              <a:rPr lang="en-US" altLang="en-US">
                <a:latin typeface="Courier New" panose="02070309020205020404" pitchFamily="49" charset="0"/>
              </a:rPr>
              <a:t>                        data[i,j] = 0;</a:t>
            </a:r>
            <a:br>
              <a:rPr lang="en-US" altLang="en-US">
                <a:latin typeface="Courier New" panose="02070309020205020404" pitchFamily="49" charset="0"/>
              </a:rPr>
            </a:br>
            <a:endParaRPr lang="en-US" altLang="en-US">
              <a:latin typeface="Courier New" panose="02070309020205020404" pitchFamily="49" charset="0"/>
            </a:endParaRPr>
          </a:p>
          <a:p>
            <a:pPr lvl="1">
              <a:lnSpc>
                <a:spcPct val="90000"/>
              </a:lnSpc>
              <a:buFont typeface="Monotype Sorts" pitchFamily="-84" charset="2"/>
              <a:buNone/>
              <a:tabLst>
                <a:tab pos="3317875" algn="l"/>
                <a:tab pos="3649345" algn="l"/>
              </a:tabLst>
            </a:pPr>
            <a:r>
              <a:rPr lang="en-US" altLang="en-US"/>
              <a:t>     128 x 128 = 16,384 page faults </a:t>
            </a:r>
            <a:br>
              <a:rPr lang="en-US" altLang="en-US"/>
            </a:br>
            <a:endParaRPr lang="en-US" altLang="en-US"/>
          </a:p>
          <a:p>
            <a:pPr lvl="1">
              <a:lnSpc>
                <a:spcPct val="90000"/>
              </a:lnSpc>
              <a:tabLst>
                <a:tab pos="3317875" algn="l"/>
                <a:tab pos="3649345" algn="l"/>
              </a:tabLst>
            </a:pPr>
            <a:r>
              <a:rPr lang="en-US" altLang="en-US"/>
              <a:t>Program 2 	</a:t>
            </a:r>
            <a:endParaRPr lang="en-US" altLang="en-US"/>
          </a:p>
          <a:p>
            <a:pPr lvl="1">
              <a:lnSpc>
                <a:spcPct val="90000"/>
              </a:lnSpc>
              <a:buFont typeface="Monotype Sorts" pitchFamily="-84" charset="2"/>
              <a:buNone/>
              <a:tabLst>
                <a:tab pos="3317875" algn="l"/>
                <a:tab pos="3649345" algn="l"/>
              </a:tabLst>
            </a:pPr>
            <a:r>
              <a:rPr lang="en-US" altLang="en-US">
                <a:latin typeface="Courier New" panose="02070309020205020404" pitchFamily="49" charset="0"/>
              </a:rPr>
              <a:t>             for (i = 0; i &lt; 128; i++)</a:t>
            </a:r>
            <a:br>
              <a:rPr lang="en-US" altLang="en-US">
                <a:latin typeface="Courier New" panose="02070309020205020404" pitchFamily="49" charset="0"/>
              </a:rPr>
            </a:br>
            <a:r>
              <a:rPr lang="en-US" altLang="en-US">
                <a:latin typeface="Courier New" panose="02070309020205020404" pitchFamily="49" charset="0"/>
              </a:rPr>
              <a:t>               for (j = 0; j &lt; 128; j++)</a:t>
            </a:r>
            <a:br>
              <a:rPr lang="en-US" altLang="en-US">
                <a:latin typeface="Courier New" panose="02070309020205020404" pitchFamily="49" charset="0"/>
              </a:rPr>
            </a:br>
            <a:r>
              <a:rPr lang="en-US" altLang="en-US">
                <a:latin typeface="Courier New" panose="02070309020205020404" pitchFamily="49" charset="0"/>
              </a:rPr>
              <a:t>                     data[i,j] = 0;</a:t>
            </a:r>
            <a:endParaRPr lang="en-US" altLang="en-US">
              <a:latin typeface="Courier New" panose="02070309020205020404" pitchFamily="49" charset="0"/>
            </a:endParaRPr>
          </a:p>
          <a:p>
            <a:pPr lvl="1">
              <a:lnSpc>
                <a:spcPct val="90000"/>
              </a:lnSpc>
              <a:buFont typeface="Monotype Sorts" pitchFamily="-84" charset="2"/>
              <a:buNone/>
              <a:tabLst>
                <a:tab pos="3317875" algn="l"/>
                <a:tab pos="3649345" algn="l"/>
              </a:tabLst>
            </a:pPr>
            <a:br>
              <a:rPr lang="en-US" altLang="en-US"/>
            </a:br>
            <a:r>
              <a:rPr lang="en-US" altLang="en-US"/>
              <a:t>128 page faults</a:t>
            </a:r>
            <a:endParaRPr lang="en-US" altLang="en-US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>
          <a:xfrm>
            <a:off x="727203" y="244123"/>
            <a:ext cx="78009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I/O interlock</a:t>
            </a:r>
            <a:endParaRPr lang="en-US" altLang="en-US" dirty="0"/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7854" y="1193800"/>
            <a:ext cx="3929063" cy="4459288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I/O Interlock </a:t>
            </a:r>
            <a:r>
              <a:rPr lang="en-US" altLang="en-US" dirty="0"/>
              <a:t>– Pages must sometimes be locked into memory</a:t>
            </a:r>
            <a:endParaRPr lang="en-US" altLang="en-US" dirty="0"/>
          </a:p>
          <a:p>
            <a:r>
              <a:rPr lang="en-US" altLang="en-US" dirty="0"/>
              <a:t>Consider I/O - Pages that are used for copying a file from a device must be locked from being selected for eviction by a page replacement algorithm</a:t>
            </a:r>
            <a:endParaRPr lang="en-US" altLang="en-US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Pinning</a:t>
            </a:r>
            <a:r>
              <a:rPr lang="en-US" altLang="en-US" dirty="0"/>
              <a:t> of pages to lock into memory</a:t>
            </a:r>
            <a:endParaRPr lang="en-US" altLang="en-US" dirty="0"/>
          </a:p>
        </p:txBody>
      </p:sp>
      <p:pic>
        <p:nvPicPr>
          <p:cNvPr id="78852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7825" y="1430338"/>
            <a:ext cx="2733675" cy="3167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>
          <a:xfrm>
            <a:off x="727009" y="241529"/>
            <a:ext cx="78105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Operating System Examples</a:t>
            </a:r>
            <a:endParaRPr lang="en-US" altLang="en-US" dirty="0"/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36" y="1435100"/>
            <a:ext cx="7351712" cy="4483100"/>
          </a:xfrm>
        </p:spPr>
        <p:txBody>
          <a:bodyPr/>
          <a:lstStyle/>
          <a:p>
            <a:r>
              <a:rPr lang="en-US" altLang="en-US" dirty="0"/>
              <a:t>Windows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Solaris </a:t>
            </a:r>
            <a:endParaRPr lang="en-US" altLang="en-US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>
          <a:xfrm>
            <a:off x="345230" y="23479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Windows</a:t>
            </a:r>
            <a:endParaRPr lang="en-US" altLang="en-US" dirty="0"/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8608" y="1194872"/>
            <a:ext cx="7296150" cy="5299075"/>
          </a:xfrm>
        </p:spPr>
        <p:txBody>
          <a:bodyPr/>
          <a:lstStyle/>
          <a:p>
            <a:r>
              <a:rPr lang="en-US" altLang="en-US" dirty="0"/>
              <a:t>Uses demand paging with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clustering</a:t>
            </a:r>
            <a:r>
              <a:rPr lang="en-US" altLang="en-US" dirty="0"/>
              <a:t>. Clustering brings in pages surrounding the faulting page</a:t>
            </a:r>
            <a:endParaRPr lang="en-US" altLang="en-US" sz="800" dirty="0"/>
          </a:p>
          <a:p>
            <a:r>
              <a:rPr lang="en-US" altLang="en-US" dirty="0"/>
              <a:t>Processes are assigned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working set minimum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and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working set maximum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r>
              <a:rPr lang="en-US" altLang="en-US" dirty="0"/>
              <a:t>Working set minimum is the minimum number of pages the process is guaranteed to have in memory</a:t>
            </a:r>
            <a:endParaRPr lang="en-US" altLang="en-US" sz="800" dirty="0"/>
          </a:p>
          <a:p>
            <a:r>
              <a:rPr lang="en-US" altLang="en-US" dirty="0"/>
              <a:t>A process may be assigned as many pages up to its working set maximum</a:t>
            </a:r>
            <a:endParaRPr lang="en-US" altLang="en-US" sz="800" dirty="0"/>
          </a:p>
          <a:p>
            <a:r>
              <a:rPr lang="en-US" altLang="en-US" dirty="0"/>
              <a:t>When the amount of free memory in the system falls below a threshold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, automatic working set trimming </a:t>
            </a:r>
            <a:r>
              <a:rPr lang="en-US" altLang="en-US" dirty="0"/>
              <a:t>is performed to restore the amount of free memory</a:t>
            </a:r>
            <a:endParaRPr lang="en-US" altLang="en-US" sz="800" dirty="0"/>
          </a:p>
          <a:p>
            <a:r>
              <a:rPr lang="en-US" altLang="en-US" dirty="0"/>
              <a:t>Working set trimming removes pages from processes that have pages in excess of their working set minimum</a:t>
            </a:r>
            <a:endParaRPr lang="en-US" altLang="en-US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43344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Solaris </a:t>
            </a:r>
            <a:endParaRPr lang="en-US" altLang="en-US" dirty="0"/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9949" y="1226231"/>
            <a:ext cx="7704883" cy="5386387"/>
          </a:xfrm>
        </p:spPr>
        <p:txBody>
          <a:bodyPr/>
          <a:lstStyle/>
          <a:p>
            <a:r>
              <a:rPr lang="en-US" altLang="en-US" dirty="0"/>
              <a:t>Maintains a list of free pages to assign faulting processes</a:t>
            </a:r>
            <a:endParaRPr lang="en-US" altLang="en-US" sz="800" dirty="0"/>
          </a:p>
          <a:p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Lotsfree</a:t>
            </a:r>
            <a:r>
              <a:rPr lang="en-US" altLang="en-US" dirty="0"/>
              <a:t> – threshold parameter (amount of free memory) to begin paging</a:t>
            </a:r>
            <a:endParaRPr lang="en-US" altLang="en-US" sz="800" dirty="0"/>
          </a:p>
          <a:p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Desfree</a:t>
            </a:r>
            <a:r>
              <a:rPr lang="en-US" altLang="en-US" dirty="0"/>
              <a:t> – threshold parameter to increasing paging</a:t>
            </a:r>
            <a:endParaRPr lang="en-US" altLang="en-US" sz="800" dirty="0"/>
          </a:p>
          <a:p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Minfree</a:t>
            </a:r>
            <a:r>
              <a:rPr lang="en-US" altLang="en-US" dirty="0"/>
              <a:t> – threshold parameter to being swapping</a:t>
            </a:r>
            <a:endParaRPr lang="en-US" altLang="en-US" sz="800" dirty="0"/>
          </a:p>
          <a:p>
            <a:r>
              <a:rPr lang="en-US" altLang="en-US" dirty="0"/>
              <a:t>Paging is performed by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pageout</a:t>
            </a:r>
            <a:r>
              <a:rPr lang="en-US" altLang="en-US" dirty="0"/>
              <a:t> process</a:t>
            </a:r>
            <a:endParaRPr lang="en-US" altLang="en-US" sz="800" dirty="0"/>
          </a:p>
          <a:p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Pageout</a:t>
            </a:r>
            <a:r>
              <a:rPr lang="en-US" altLang="en-US" dirty="0"/>
              <a:t> scans pages using modified clock algorithm</a:t>
            </a:r>
            <a:endParaRPr lang="en-US" altLang="en-US" sz="800" dirty="0"/>
          </a:p>
          <a:p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Scanrate</a:t>
            </a:r>
            <a:r>
              <a:rPr lang="en-US" altLang="en-US" dirty="0"/>
              <a:t> is the rate at which pages are scanned. This ranges from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slowscan</a:t>
            </a:r>
            <a:r>
              <a:rPr lang="en-US" altLang="en-US" dirty="0"/>
              <a:t> to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fastscan</a:t>
            </a:r>
            <a:endParaRPr lang="en-US" alt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Pageout</a:t>
            </a:r>
            <a:r>
              <a:rPr lang="en-US" altLang="en-US" dirty="0"/>
              <a:t> is called more frequently depending upon the amount of free memory available</a:t>
            </a:r>
            <a:endParaRPr lang="en-US" altLang="en-US" dirty="0"/>
          </a:p>
          <a:p>
            <a:r>
              <a:rPr lang="en-US" altLang="en-US" b="1" i="1" dirty="0">
                <a:solidFill>
                  <a:srgbClr val="006699"/>
                </a:solidFill>
                <a:latin typeface="+mj-lt"/>
              </a:rPr>
              <a:t>Priority paging </a:t>
            </a:r>
            <a:r>
              <a:rPr lang="en-US" altLang="en-US" dirty="0"/>
              <a:t>gives priority to process code pages</a:t>
            </a: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3556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Solaris 2 Page Scanner</a:t>
            </a:r>
            <a:endParaRPr lang="en-US" altLang="en-US" dirty="0"/>
          </a:p>
        </p:txBody>
      </p:sp>
      <p:pic>
        <p:nvPicPr>
          <p:cNvPr id="82947" name="Picture 1" descr="9_29.pdf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4200" y="1189038"/>
            <a:ext cx="5454650" cy="413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End of Chapter 10</a:t>
            </a:r>
            <a:endParaRPr lang="en-US" altLang="en-US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>
          <a:xfrm>
            <a:off x="817563" y="248268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Performance of Demand Paging</a:t>
            </a:r>
            <a:endParaRPr lang="en-US" altLang="en-US" dirty="0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2650" y="1081088"/>
            <a:ext cx="7791450" cy="4849812"/>
          </a:xfrm>
        </p:spPr>
        <p:txBody>
          <a:bodyPr/>
          <a:lstStyle/>
          <a:p>
            <a:pPr>
              <a:tabLst>
                <a:tab pos="2163445" algn="l"/>
                <a:tab pos="2855595" algn="l"/>
              </a:tabLst>
            </a:pPr>
            <a:r>
              <a:rPr lang="en-US" altLang="en-US"/>
              <a:t>Stages in Demand Paging (worse case)</a:t>
            </a:r>
            <a:endParaRPr lang="en-US" altLang="en-US"/>
          </a:p>
          <a:p>
            <a:pPr>
              <a:buFont typeface="Arial" panose="020B0604020202020204" pitchFamily="34" charset="0"/>
              <a:buAutoNum type="arabicPeriod"/>
              <a:tabLst>
                <a:tab pos="2163445" algn="l"/>
                <a:tab pos="2855595" algn="l"/>
              </a:tabLst>
            </a:pPr>
            <a:r>
              <a:rPr lang="en-US" altLang="en-US" sz="1400"/>
              <a:t>Trap to the operating system</a:t>
            </a:r>
            <a:endParaRPr lang="en-US" altLang="en-US" sz="1400"/>
          </a:p>
          <a:p>
            <a:pPr>
              <a:buFont typeface="Arial" panose="020B0604020202020204" pitchFamily="34" charset="0"/>
              <a:buAutoNum type="arabicPeriod"/>
              <a:tabLst>
                <a:tab pos="2163445" algn="l"/>
                <a:tab pos="2855595" algn="l"/>
              </a:tabLst>
            </a:pPr>
            <a:r>
              <a:rPr lang="en-US" altLang="en-US" sz="1400"/>
              <a:t>Save the user registers and process state</a:t>
            </a:r>
            <a:endParaRPr lang="en-US" altLang="en-US" sz="1400"/>
          </a:p>
          <a:p>
            <a:pPr>
              <a:buFont typeface="Arial" panose="020B0604020202020204" pitchFamily="34" charset="0"/>
              <a:buAutoNum type="arabicPeriod"/>
              <a:tabLst>
                <a:tab pos="2163445" algn="l"/>
                <a:tab pos="2855595" algn="l"/>
              </a:tabLst>
            </a:pPr>
            <a:r>
              <a:rPr lang="en-US" altLang="en-US" sz="1400"/>
              <a:t>Determine that the interrupt was a page fault</a:t>
            </a:r>
            <a:endParaRPr lang="en-US" altLang="en-US" sz="1400"/>
          </a:p>
          <a:p>
            <a:pPr>
              <a:buFont typeface="Arial" panose="020B0604020202020204" pitchFamily="34" charset="0"/>
              <a:buAutoNum type="arabicPeriod"/>
              <a:tabLst>
                <a:tab pos="2163445" algn="l"/>
                <a:tab pos="2855595" algn="l"/>
              </a:tabLst>
            </a:pPr>
            <a:r>
              <a:rPr lang="en-US" altLang="en-US" sz="1400"/>
              <a:t>Check that the page reference was legal and determine the location of the page on the disk</a:t>
            </a:r>
            <a:endParaRPr lang="en-US" altLang="en-US" sz="1400"/>
          </a:p>
          <a:p>
            <a:pPr>
              <a:buFont typeface="Arial" panose="020B0604020202020204" pitchFamily="34" charset="0"/>
              <a:buAutoNum type="arabicPeriod"/>
              <a:tabLst>
                <a:tab pos="2163445" algn="l"/>
                <a:tab pos="2855595" algn="l"/>
              </a:tabLst>
            </a:pPr>
            <a:r>
              <a:rPr lang="en-US" altLang="en-US" sz="1400"/>
              <a:t>Issue a read from the disk to a free frame:</a:t>
            </a:r>
            <a:endParaRPr lang="en-US" altLang="en-US" sz="1400"/>
          </a:p>
          <a:p>
            <a:pPr marL="798830" lvl="1" indent="-341630">
              <a:buFont typeface="Arial" panose="020B0604020202020204" pitchFamily="34" charset="0"/>
              <a:buAutoNum type="arabicPeriod"/>
              <a:tabLst>
                <a:tab pos="2163445" algn="l"/>
                <a:tab pos="2855595" algn="l"/>
              </a:tabLst>
            </a:pPr>
            <a:r>
              <a:rPr lang="en-US" altLang="en-US" sz="1400"/>
              <a:t>Wait in a queue for this device until the read request is serviced</a:t>
            </a:r>
            <a:endParaRPr lang="en-US" altLang="en-US" sz="1400"/>
          </a:p>
          <a:p>
            <a:pPr marL="798830" lvl="1" indent="-341630">
              <a:buFont typeface="Arial" panose="020B0604020202020204" pitchFamily="34" charset="0"/>
              <a:buAutoNum type="arabicPeriod"/>
              <a:tabLst>
                <a:tab pos="2163445" algn="l"/>
                <a:tab pos="2855595" algn="l"/>
              </a:tabLst>
            </a:pPr>
            <a:r>
              <a:rPr lang="en-US" altLang="en-US" sz="1400"/>
              <a:t>Wait for the device seek and/or latency time</a:t>
            </a:r>
            <a:endParaRPr lang="en-US" altLang="en-US" sz="1400"/>
          </a:p>
          <a:p>
            <a:pPr marL="798830" lvl="1" indent="-341630">
              <a:buFont typeface="Arial" panose="020B0604020202020204" pitchFamily="34" charset="0"/>
              <a:buAutoNum type="arabicPeriod"/>
              <a:tabLst>
                <a:tab pos="2163445" algn="l"/>
                <a:tab pos="2855595" algn="l"/>
              </a:tabLst>
            </a:pPr>
            <a:r>
              <a:rPr lang="en-US" altLang="en-US" sz="1400"/>
              <a:t>Begin the transfer of the page to a free frame</a:t>
            </a:r>
            <a:endParaRPr lang="en-US" altLang="en-US" sz="1400"/>
          </a:p>
          <a:p>
            <a:pPr>
              <a:buFont typeface="Arial" panose="020B0604020202020204" pitchFamily="34" charset="0"/>
              <a:buAutoNum type="arabicPeriod"/>
              <a:tabLst>
                <a:tab pos="2163445" algn="l"/>
                <a:tab pos="2855595" algn="l"/>
              </a:tabLst>
            </a:pPr>
            <a:r>
              <a:rPr lang="en-US" altLang="en-US" sz="1400"/>
              <a:t>While waiting, allocate the CPU to some other user</a:t>
            </a:r>
            <a:endParaRPr lang="en-US" altLang="en-US" sz="1400"/>
          </a:p>
          <a:p>
            <a:pPr>
              <a:buFont typeface="Arial" panose="020B0604020202020204" pitchFamily="34" charset="0"/>
              <a:buAutoNum type="arabicPeriod"/>
              <a:tabLst>
                <a:tab pos="2163445" algn="l"/>
                <a:tab pos="2855595" algn="l"/>
              </a:tabLst>
            </a:pPr>
            <a:r>
              <a:rPr lang="en-US" altLang="en-US" sz="1400"/>
              <a:t>Receive an interrupt from the disk I/O subsystem (I/O completed)</a:t>
            </a:r>
            <a:endParaRPr lang="en-US" altLang="en-US" sz="1400"/>
          </a:p>
          <a:p>
            <a:pPr>
              <a:buFont typeface="Arial" panose="020B0604020202020204" pitchFamily="34" charset="0"/>
              <a:buAutoNum type="arabicPeriod"/>
              <a:tabLst>
                <a:tab pos="2163445" algn="l"/>
                <a:tab pos="2855595" algn="l"/>
              </a:tabLst>
            </a:pPr>
            <a:r>
              <a:rPr lang="en-US" altLang="en-US" sz="1400"/>
              <a:t>Save the registers and process state for the other user</a:t>
            </a:r>
            <a:endParaRPr lang="en-US" altLang="en-US" sz="1400"/>
          </a:p>
          <a:p>
            <a:pPr>
              <a:buFont typeface="Arial" panose="020B0604020202020204" pitchFamily="34" charset="0"/>
              <a:buAutoNum type="arabicPeriod"/>
              <a:tabLst>
                <a:tab pos="2163445" algn="l"/>
                <a:tab pos="2855595" algn="l"/>
              </a:tabLst>
            </a:pPr>
            <a:r>
              <a:rPr lang="en-US" altLang="en-US" sz="1400"/>
              <a:t>Determine that the interrupt was from the disk</a:t>
            </a:r>
            <a:endParaRPr lang="en-US" altLang="en-US" sz="1400"/>
          </a:p>
          <a:p>
            <a:pPr>
              <a:buFont typeface="Arial" panose="020B0604020202020204" pitchFamily="34" charset="0"/>
              <a:buAutoNum type="arabicPeriod"/>
              <a:tabLst>
                <a:tab pos="2163445" algn="l"/>
                <a:tab pos="2855595" algn="l"/>
              </a:tabLst>
            </a:pPr>
            <a:r>
              <a:rPr lang="en-US" altLang="en-US" sz="1400"/>
              <a:t>Correct the page table and other tables to show page is now in memory</a:t>
            </a:r>
            <a:endParaRPr lang="en-US" altLang="en-US" sz="1400"/>
          </a:p>
          <a:p>
            <a:pPr>
              <a:buFont typeface="Arial" panose="020B0604020202020204" pitchFamily="34" charset="0"/>
              <a:buAutoNum type="arabicPeriod"/>
              <a:tabLst>
                <a:tab pos="2163445" algn="l"/>
                <a:tab pos="2855595" algn="l"/>
              </a:tabLst>
            </a:pPr>
            <a:r>
              <a:rPr lang="en-US" altLang="en-US" sz="1400"/>
              <a:t>Wait for the CPU to be allocated to this process again</a:t>
            </a:r>
            <a:endParaRPr lang="en-US" altLang="en-US" sz="1400"/>
          </a:p>
          <a:p>
            <a:pPr>
              <a:buFont typeface="Arial" panose="020B0604020202020204" pitchFamily="34" charset="0"/>
              <a:buAutoNum type="arabicPeriod"/>
              <a:tabLst>
                <a:tab pos="2163445" algn="l"/>
                <a:tab pos="2855595" algn="l"/>
              </a:tabLst>
            </a:pPr>
            <a:r>
              <a:rPr lang="en-US" altLang="en-US" sz="1400"/>
              <a:t>Restore the user registers, process state, and new page table, and then resume the interrupted instruction</a:t>
            </a:r>
            <a:endParaRPr lang="en-US" altLang="en-US" sz="1400"/>
          </a:p>
          <a:p>
            <a:pPr>
              <a:tabLst>
                <a:tab pos="2163445" algn="l"/>
                <a:tab pos="2855595" algn="l"/>
              </a:tabLst>
            </a:pPr>
            <a:endParaRPr lang="en-US" altLang="en-US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>
          <a:xfrm>
            <a:off x="872476" y="244899"/>
            <a:ext cx="76930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Need For Page Replacement</a:t>
            </a:r>
            <a:endParaRPr lang="en-US" altLang="en-US" dirty="0"/>
          </a:p>
        </p:txBody>
      </p:sp>
      <p:pic>
        <p:nvPicPr>
          <p:cNvPr id="86019" name="Picture 4" descr="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7200" y="1192213"/>
            <a:ext cx="6192838" cy="451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>
          <a:xfrm>
            <a:off x="708152" y="248268"/>
            <a:ext cx="78200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Priority Allocation</a:t>
            </a:r>
            <a:endParaRPr lang="en-US" altLang="en-US" dirty="0"/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5739" y="1190625"/>
            <a:ext cx="7632438" cy="4394200"/>
          </a:xfrm>
        </p:spPr>
        <p:txBody>
          <a:bodyPr/>
          <a:lstStyle/>
          <a:p>
            <a:r>
              <a:rPr lang="en-US" altLang="en-US" dirty="0"/>
              <a:t>Use a proportional allocation scheme using priorities rather than size</a:t>
            </a:r>
            <a:br>
              <a:rPr lang="en-US" altLang="en-US" dirty="0"/>
            </a:br>
            <a:endParaRPr lang="en-US" altLang="en-US" dirty="0"/>
          </a:p>
          <a:p>
            <a:r>
              <a:rPr lang="en-US" altLang="en-US" dirty="0"/>
              <a:t>If process </a:t>
            </a:r>
            <a:r>
              <a:rPr lang="en-US" altLang="en-US" b="1" i="1" dirty="0"/>
              <a:t>P</a:t>
            </a:r>
            <a:r>
              <a:rPr lang="en-US" altLang="en-US" b="1" i="1" baseline="-25000" dirty="0"/>
              <a:t>i</a:t>
            </a:r>
            <a:r>
              <a:rPr lang="en-US" altLang="en-US" dirty="0"/>
              <a:t> generates a page fault,</a:t>
            </a:r>
            <a:endParaRPr lang="en-US" altLang="en-US" dirty="0"/>
          </a:p>
          <a:p>
            <a:pPr lvl="1"/>
            <a:r>
              <a:rPr lang="en-US" altLang="en-US" dirty="0"/>
              <a:t>select for replacement one of its frames</a:t>
            </a:r>
            <a:endParaRPr lang="en-US" altLang="en-US" dirty="0"/>
          </a:p>
          <a:p>
            <a:pPr lvl="1"/>
            <a:r>
              <a:rPr lang="en-US" altLang="en-US" dirty="0"/>
              <a:t>select for replacement a frame from a process with lower priority number</a:t>
            </a:r>
            <a:endParaRPr lang="en-US" altLang="en-US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>
          <a:xfrm>
            <a:off x="786330" y="238161"/>
            <a:ext cx="772318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Memory Compression</a:t>
            </a:r>
            <a:endParaRPr lang="en-US" altLang="en-US" dirty="0"/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7746" y="1093788"/>
            <a:ext cx="7641771" cy="6929437"/>
          </a:xfrm>
        </p:spPr>
        <p:txBody>
          <a:bodyPr/>
          <a:lstStyle/>
          <a:p>
            <a:r>
              <a:rPr lang="en-US" altLang="en-US" sz="1600" b="1" dirty="0">
                <a:solidFill>
                  <a:srgbClr val="0070C0"/>
                </a:solidFill>
              </a:rPr>
              <a:t>Memory compression  </a:t>
            </a:r>
            <a:r>
              <a:rPr lang="en-US" altLang="en-US" sz="1600" dirty="0"/>
              <a:t>--  rather than paging out modified frames to swap space, we compress several frames into a single frame, enabling the system to reduce memory usage without resorting to swapping pages.</a:t>
            </a:r>
            <a:endParaRPr lang="en-US" altLang="en-US" sz="1600" dirty="0"/>
          </a:p>
          <a:p>
            <a:r>
              <a:rPr lang="en-US" altLang="en-US" sz="1600" dirty="0"/>
              <a:t>Consider the following free-frame-list consisting of 6 frames</a:t>
            </a:r>
            <a:endParaRPr lang="en-US" altLang="en-US" sz="1600" dirty="0"/>
          </a:p>
          <a:p>
            <a:endParaRPr lang="en-US" altLang="en-US" sz="1600" dirty="0"/>
          </a:p>
          <a:p>
            <a:endParaRPr lang="en-US" altLang="en-US" sz="1600" dirty="0"/>
          </a:p>
          <a:p>
            <a:endParaRPr lang="en-US" altLang="en-US" sz="1600" dirty="0"/>
          </a:p>
          <a:p>
            <a:endParaRPr lang="en-US" altLang="en-US" sz="1600" dirty="0"/>
          </a:p>
          <a:p>
            <a:endParaRPr lang="en-US" altLang="en-US" sz="1600" dirty="0"/>
          </a:p>
          <a:p>
            <a:r>
              <a:rPr lang="en-US" altLang="en-US" sz="1600" dirty="0"/>
              <a:t>Assume that this number of free frames falls below a certain threshold that triggers page replacement.  The replacement algorithm (say, an LRU approximation algorithm) selects four frames -- 15, 3, 35, and 26 to place on the free-frame list. It first places these frames on a modified-frame list.  Typically, the modified-frame list would next be written to swap space, making the frames available to the free-frame list.  An alternative strategy is to compress a number of frames{\</a:t>
            </a:r>
            <a:r>
              <a:rPr lang="en-US" altLang="en-US" sz="1600" dirty="0" err="1"/>
              <a:t>mdash</a:t>
            </a:r>
            <a:r>
              <a:rPr lang="en-US" altLang="en-US" sz="1600" dirty="0"/>
              <a:t>}say, three{\</a:t>
            </a:r>
            <a:r>
              <a:rPr lang="en-US" altLang="en-US" sz="1600" dirty="0" err="1"/>
              <a:t>mdash</a:t>
            </a:r>
            <a:r>
              <a:rPr lang="en-US" altLang="en-US" sz="1600" dirty="0"/>
              <a:t>}and store their compressed versions n a single page frame.</a:t>
            </a:r>
            <a:endParaRPr lang="en-US" altLang="en-US" sz="1600" dirty="0"/>
          </a:p>
          <a:p>
            <a:endParaRPr lang="en-US" altLang="en-US" sz="1600" dirty="0"/>
          </a:p>
        </p:txBody>
      </p:sp>
      <p:pic>
        <p:nvPicPr>
          <p:cNvPr id="88068" name="Picture 4" descr="B:\os-book\os10-dir\Slides-WORK-area\Figures-dir\ch10\JPG-dir\10_24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0052" y="2363949"/>
            <a:ext cx="4449763" cy="138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954282" y="238159"/>
            <a:ext cx="772318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Memory Compression (Cont.)</a:t>
            </a:r>
            <a:endParaRPr lang="en-US" altLang="en-US" dirty="0"/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5350" y="1093788"/>
            <a:ext cx="7677150" cy="4530725"/>
          </a:xfrm>
        </p:spPr>
        <p:txBody>
          <a:bodyPr/>
          <a:lstStyle/>
          <a:p>
            <a:r>
              <a:rPr lang="en-US" altLang="en-US" dirty="0"/>
              <a:t>An alternative to paging is </a:t>
            </a:r>
            <a:r>
              <a:rPr lang="en-US" altLang="en-US" b="1" dirty="0">
                <a:solidFill>
                  <a:srgbClr val="0070C0"/>
                </a:solidFill>
              </a:rPr>
              <a:t>memory compression</a:t>
            </a:r>
            <a:r>
              <a:rPr lang="en-US" altLang="en-US" dirty="0"/>
              <a:t>. </a:t>
            </a:r>
            <a:endParaRPr lang="en-US" altLang="en-US" dirty="0"/>
          </a:p>
          <a:p>
            <a:r>
              <a:rPr lang="en-US" altLang="en-US" dirty="0"/>
              <a:t>Rather than paging out modified frames to swap space, we compress several frames into a single frame, enabling the system to reduce memory usage without resorting to swapping pages.</a:t>
            </a:r>
            <a:endParaRPr lang="en-US" altLang="en-US" dirty="0"/>
          </a:p>
        </p:txBody>
      </p:sp>
      <p:pic>
        <p:nvPicPr>
          <p:cNvPr id="89092" name="Picture 2" descr="B:\os-book\os10-dir\Slides-WORK-area\Figures-dir\ch10\JPG-dir\10_25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4513" y="3141663"/>
            <a:ext cx="5159375" cy="1906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0</TotalTime>
  <Words>27301</Words>
  <Application>WPS 演示</Application>
  <PresentationFormat>On-screen Show (4:3)</PresentationFormat>
  <Paragraphs>792</Paragraphs>
  <Slides>86</Slides>
  <Notes>79</Notes>
  <HiddenSlides>0</HiddenSlides>
  <MMClips>0</MMClips>
  <ScaleCrop>false</ScaleCrop>
  <HeadingPairs>
    <vt:vector size="8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86</vt:i4>
      </vt:variant>
    </vt:vector>
  </HeadingPairs>
  <TitlesOfParts>
    <vt:vector size="109" baseType="lpstr">
      <vt:lpstr>Arial</vt:lpstr>
      <vt:lpstr>宋体</vt:lpstr>
      <vt:lpstr>Wingdings</vt:lpstr>
      <vt:lpstr>Verdana</vt:lpstr>
      <vt:lpstr>MS PGothic</vt:lpstr>
      <vt:lpstr>Times New Roman</vt:lpstr>
      <vt:lpstr>Helvetica</vt:lpstr>
      <vt:lpstr>Webdings</vt:lpstr>
      <vt:lpstr>黑体</vt:lpstr>
      <vt:lpstr>Comic Sans MS</vt:lpstr>
      <vt:lpstr>Consolas</vt:lpstr>
      <vt:lpstr>Calibri</vt:lpstr>
      <vt:lpstr>Courier New</vt:lpstr>
      <vt:lpstr>Monotype Sorts</vt:lpstr>
      <vt:lpstr>Symbol</vt:lpstr>
      <vt:lpstr>微软雅黑</vt:lpstr>
      <vt:lpstr>Arial Unicode MS</vt:lpstr>
      <vt:lpstr>Wingdings</vt:lpstr>
      <vt:lpstr>Monotype Sorts</vt:lpstr>
      <vt:lpstr>Webdings</vt:lpstr>
      <vt:lpstr>os-8</vt:lpstr>
      <vt:lpstr>Equation.3</vt:lpstr>
      <vt:lpstr>Equation.3</vt:lpstr>
      <vt:lpstr>PowerPoint 演示文稿</vt:lpstr>
      <vt:lpstr>Chapter 10:  Virtual Memory</vt:lpstr>
      <vt:lpstr>Objectives</vt:lpstr>
      <vt:lpstr>Background</vt:lpstr>
      <vt:lpstr>Virtual memory </vt:lpstr>
      <vt:lpstr>Virtual memory  (Cont.)</vt:lpstr>
      <vt:lpstr>Virtual Memory That is Larger Than Physical Memory</vt:lpstr>
      <vt:lpstr>Virtual-address Space</vt:lpstr>
      <vt:lpstr>Shared Library Using Virtual Memory</vt:lpstr>
      <vt:lpstr>Demand Paging</vt:lpstr>
      <vt:lpstr>Demand Paging</vt:lpstr>
      <vt:lpstr>Basic Concepts</vt:lpstr>
      <vt:lpstr>Valid-Invalid Bit</vt:lpstr>
      <vt:lpstr>Page Table When Some Pages Are Not in Main Memory</vt:lpstr>
      <vt:lpstr>Steps in Handling Page Fault</vt:lpstr>
      <vt:lpstr>Steps in Handling a Page Fault (Cont.)</vt:lpstr>
      <vt:lpstr>Aspects of Demand Paging</vt:lpstr>
      <vt:lpstr>Instruction Restart</vt:lpstr>
      <vt:lpstr>Free-Frame List</vt:lpstr>
      <vt:lpstr> Stages in Demand Paging – Worse Case</vt:lpstr>
      <vt:lpstr>Stages in Demand Paging  (Cont.)</vt:lpstr>
      <vt:lpstr>Performance of Demand Paging</vt:lpstr>
      <vt:lpstr>Demand Paging Example</vt:lpstr>
      <vt:lpstr>Demand Paging Optimizations</vt:lpstr>
      <vt:lpstr>Copy-on-Write</vt:lpstr>
      <vt:lpstr>Before Process 1 Modifies Page C</vt:lpstr>
      <vt:lpstr>After Process 1 Modifies Page C</vt:lpstr>
      <vt:lpstr>What Happens if There is no Free Frame?</vt:lpstr>
      <vt:lpstr>Page Replacement</vt:lpstr>
      <vt:lpstr>Need For Page Replacement</vt:lpstr>
      <vt:lpstr>Basic Page Replacement</vt:lpstr>
      <vt:lpstr>Page Replacement</vt:lpstr>
      <vt:lpstr>Page and Frame Replacement Algorithms</vt:lpstr>
      <vt:lpstr>Graph of Page Faults Versus the Number of Frames</vt:lpstr>
      <vt:lpstr>First-In-First-Out (FIFO) Algorithm</vt:lpstr>
      <vt:lpstr>FIFO Illustrating Belady’s Anomaly</vt:lpstr>
      <vt:lpstr>Optimal Algorithm</vt:lpstr>
      <vt:lpstr>Least Recently Used (LRU) Algorithm</vt:lpstr>
      <vt:lpstr>LRU Algorithm (Cont.)</vt:lpstr>
      <vt:lpstr>LRU Algorithm (Cont.)</vt:lpstr>
      <vt:lpstr>LRU Approximation Algorithms</vt:lpstr>
      <vt:lpstr>LRU Approximation Algorithms (cont.)</vt:lpstr>
      <vt:lpstr> Second-chance Algorithm</vt:lpstr>
      <vt:lpstr>Enhanced Second-Chance Algorithm</vt:lpstr>
      <vt:lpstr>Counting Algorithms</vt:lpstr>
      <vt:lpstr>Page-Buffering Algorithms</vt:lpstr>
      <vt:lpstr>Applications and Page Replacement</vt:lpstr>
      <vt:lpstr>Allocation of Frames</vt:lpstr>
      <vt:lpstr>Fixed Allocation</vt:lpstr>
      <vt:lpstr>Global vs. Local Allocation</vt:lpstr>
      <vt:lpstr>Reclaiming Pages</vt:lpstr>
      <vt:lpstr>Reclaiming Pages Example </vt:lpstr>
      <vt:lpstr>Non-Uniform Memory Access</vt:lpstr>
      <vt:lpstr>Non-Uniform Memory Access (Cont.)</vt:lpstr>
      <vt:lpstr>Thrashing</vt:lpstr>
      <vt:lpstr>Thrashing (Cont.)</vt:lpstr>
      <vt:lpstr>Demand Paging and Thrashing </vt:lpstr>
      <vt:lpstr>Locality In A Memory-Reference Pattern</vt:lpstr>
      <vt:lpstr>Working-Set Model</vt:lpstr>
      <vt:lpstr>Working-Set Model (Cont.)</vt:lpstr>
      <vt:lpstr>Keeping Track of the Working Set</vt:lpstr>
      <vt:lpstr>Page-Fault Frequency</vt:lpstr>
      <vt:lpstr>Working Sets and Page Fault Rates</vt:lpstr>
      <vt:lpstr>Allocating Kernel Memory</vt:lpstr>
      <vt:lpstr>Buddy System</vt:lpstr>
      <vt:lpstr>Buddy System Allocator</vt:lpstr>
      <vt:lpstr>Slab Allocator</vt:lpstr>
      <vt:lpstr>Slab Allocation</vt:lpstr>
      <vt:lpstr>Slab Allocator in Linux</vt:lpstr>
      <vt:lpstr>Slab Allocator in Linux (Cont.)</vt:lpstr>
      <vt:lpstr>Other Considerations</vt:lpstr>
      <vt:lpstr>Prepaging</vt:lpstr>
      <vt:lpstr>Page Size</vt:lpstr>
      <vt:lpstr>TLB Reach </vt:lpstr>
      <vt:lpstr>Program Structure</vt:lpstr>
      <vt:lpstr>I/O interlock</vt:lpstr>
      <vt:lpstr>Operating System Examples</vt:lpstr>
      <vt:lpstr>Windows</vt:lpstr>
      <vt:lpstr>Solaris </vt:lpstr>
      <vt:lpstr>Solaris 2 Page Scanner</vt:lpstr>
      <vt:lpstr>End of Chapter 10</vt:lpstr>
      <vt:lpstr>Performance of Demand Paging</vt:lpstr>
      <vt:lpstr>Need For Page Replacement</vt:lpstr>
      <vt:lpstr>Priority Allocation</vt:lpstr>
      <vt:lpstr>Memory Compression</vt:lpstr>
      <vt:lpstr>Memory Compression (Cont.)</vt:lpstr>
    </vt:vector>
  </TitlesOfParts>
  <Company>Lucent Technologies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MX</cp:lastModifiedBy>
  <cp:revision>289</cp:revision>
  <cp:lastPrinted>2013-09-10T17:57:00Z</cp:lastPrinted>
  <dcterms:created xsi:type="dcterms:W3CDTF">2011-01-13T23:43:00Z</dcterms:created>
  <dcterms:modified xsi:type="dcterms:W3CDTF">2026-05-10T09:09:48Z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0F4C709A318943ACBB721010219F4941_13</vt:lpwstr>
  </property>
  <property fmtid="{D5CDD505-2E9C-101B-9397-08002B2CF9AE}" pid="3" name="KSOProductBuildVer">
    <vt:lpwstr>2052-12.1.0.23542</vt:lpwstr>
  </property>
</Properties>
</file>