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22"/>
  </p:notesMasterIdLst>
  <p:handoutMasterIdLst>
    <p:handoutMasterId r:id="rId123"/>
  </p:handoutMasterIdLst>
  <p:sldIdLst>
    <p:sldId id="438" r:id="rId2"/>
    <p:sldId id="347" r:id="rId3"/>
    <p:sldId id="348" r:id="rId4"/>
    <p:sldId id="417" r:id="rId5"/>
    <p:sldId id="439" r:id="rId6"/>
    <p:sldId id="517" r:id="rId7"/>
    <p:sldId id="440" r:id="rId8"/>
    <p:sldId id="518" r:id="rId9"/>
    <p:sldId id="519" r:id="rId10"/>
    <p:sldId id="441" r:id="rId11"/>
    <p:sldId id="442" r:id="rId12"/>
    <p:sldId id="443" r:id="rId13"/>
    <p:sldId id="444" r:id="rId14"/>
    <p:sldId id="445" r:id="rId15"/>
    <p:sldId id="446" r:id="rId16"/>
    <p:sldId id="447" r:id="rId17"/>
    <p:sldId id="448" r:id="rId18"/>
    <p:sldId id="449" r:id="rId19"/>
    <p:sldId id="551" r:id="rId20"/>
    <p:sldId id="552" r:id="rId21"/>
    <p:sldId id="553" r:id="rId22"/>
    <p:sldId id="554" r:id="rId23"/>
    <p:sldId id="555" r:id="rId24"/>
    <p:sldId id="453" r:id="rId25"/>
    <p:sldId id="454" r:id="rId26"/>
    <p:sldId id="455" r:id="rId27"/>
    <p:sldId id="456" r:id="rId28"/>
    <p:sldId id="457" r:id="rId29"/>
    <p:sldId id="458" r:id="rId30"/>
    <p:sldId id="459" r:id="rId31"/>
    <p:sldId id="460" r:id="rId32"/>
    <p:sldId id="461" r:id="rId33"/>
    <p:sldId id="462" r:id="rId34"/>
    <p:sldId id="463" r:id="rId35"/>
    <p:sldId id="464" r:id="rId36"/>
    <p:sldId id="465" r:id="rId37"/>
    <p:sldId id="466" r:id="rId38"/>
    <p:sldId id="467" r:id="rId39"/>
    <p:sldId id="468" r:id="rId40"/>
    <p:sldId id="469" r:id="rId41"/>
    <p:sldId id="474" r:id="rId42"/>
    <p:sldId id="475" r:id="rId43"/>
    <p:sldId id="476" r:id="rId44"/>
    <p:sldId id="477" r:id="rId45"/>
    <p:sldId id="478" r:id="rId46"/>
    <p:sldId id="479" r:id="rId47"/>
    <p:sldId id="480" r:id="rId48"/>
    <p:sldId id="481" r:id="rId49"/>
    <p:sldId id="482" r:id="rId50"/>
    <p:sldId id="483" r:id="rId51"/>
    <p:sldId id="484" r:id="rId52"/>
    <p:sldId id="485" r:id="rId53"/>
    <p:sldId id="486" r:id="rId54"/>
    <p:sldId id="487" r:id="rId55"/>
    <p:sldId id="488" r:id="rId56"/>
    <p:sldId id="489" r:id="rId57"/>
    <p:sldId id="490" r:id="rId58"/>
    <p:sldId id="491" r:id="rId59"/>
    <p:sldId id="492" r:id="rId60"/>
    <p:sldId id="493" r:id="rId61"/>
    <p:sldId id="494" r:id="rId62"/>
    <p:sldId id="531" r:id="rId63"/>
    <p:sldId id="532" r:id="rId64"/>
    <p:sldId id="533" r:id="rId65"/>
    <p:sldId id="534" r:id="rId66"/>
    <p:sldId id="535" r:id="rId67"/>
    <p:sldId id="536" r:id="rId68"/>
    <p:sldId id="537" r:id="rId69"/>
    <p:sldId id="538" r:id="rId70"/>
    <p:sldId id="539" r:id="rId71"/>
    <p:sldId id="540" r:id="rId72"/>
    <p:sldId id="541" r:id="rId73"/>
    <p:sldId id="542" r:id="rId74"/>
    <p:sldId id="543" r:id="rId75"/>
    <p:sldId id="544" r:id="rId76"/>
    <p:sldId id="545" r:id="rId77"/>
    <p:sldId id="546" r:id="rId78"/>
    <p:sldId id="547" r:id="rId79"/>
    <p:sldId id="548" r:id="rId80"/>
    <p:sldId id="549" r:id="rId81"/>
    <p:sldId id="503" r:id="rId82"/>
    <p:sldId id="504" r:id="rId83"/>
    <p:sldId id="505" r:id="rId84"/>
    <p:sldId id="506" r:id="rId85"/>
    <p:sldId id="507" r:id="rId86"/>
    <p:sldId id="508" r:id="rId87"/>
    <p:sldId id="509" r:id="rId88"/>
    <p:sldId id="510" r:id="rId89"/>
    <p:sldId id="511" r:id="rId90"/>
    <p:sldId id="512" r:id="rId91"/>
    <p:sldId id="513" r:id="rId92"/>
    <p:sldId id="514" r:id="rId93"/>
    <p:sldId id="515" r:id="rId94"/>
    <p:sldId id="516" r:id="rId95"/>
    <p:sldId id="434" r:id="rId96"/>
    <p:sldId id="424" r:id="rId97"/>
    <p:sldId id="367" r:id="rId98"/>
    <p:sldId id="369" r:id="rId99"/>
    <p:sldId id="370" r:id="rId100"/>
    <p:sldId id="414" r:id="rId101"/>
    <p:sldId id="371" r:id="rId102"/>
    <p:sldId id="372" r:id="rId103"/>
    <p:sldId id="416" r:id="rId104"/>
    <p:sldId id="425" r:id="rId105"/>
    <p:sldId id="386" r:id="rId106"/>
    <p:sldId id="432" r:id="rId107"/>
    <p:sldId id="398" r:id="rId108"/>
    <p:sldId id="389" r:id="rId109"/>
    <p:sldId id="390" r:id="rId110"/>
    <p:sldId id="401" r:id="rId111"/>
    <p:sldId id="431" r:id="rId112"/>
    <p:sldId id="402" r:id="rId113"/>
    <p:sldId id="387" r:id="rId114"/>
    <p:sldId id="392" r:id="rId115"/>
    <p:sldId id="412" r:id="rId116"/>
    <p:sldId id="436" r:id="rId117"/>
    <p:sldId id="394" r:id="rId118"/>
    <p:sldId id="395" r:id="rId119"/>
    <p:sldId id="396" r:id="rId120"/>
    <p:sldId id="331" r:id="rId121"/>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77" userDrawn="1">
          <p15:clr>
            <a:srgbClr val="A4A3A4"/>
          </p15:clr>
        </p15:guide>
        <p15:guide id="2" pos="4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94BC6B-50B3-4497-A989-38B5620617E0}" v="2" dt="2026-03-14T02:35:50.1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showGuides="1">
      <p:cViewPr>
        <p:scale>
          <a:sx n="58" d="100"/>
          <a:sy n="58" d="100"/>
        </p:scale>
        <p:origin x="34" y="754"/>
      </p:cViewPr>
      <p:guideLst>
        <p:guide orient="horz" pos="777"/>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ommentAuthors" Target="commentAuthors.xml"/><Relationship Id="rId129"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microsoft.com/office/2015/10/relationships/revisionInfo" Target="revisionInfo.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 的" userId="7483e1e6a959e322" providerId="LiveId" clId="{286C159D-603C-4CB1-AE78-F5F98B38873E}"/>
    <pc:docChg chg="modSld">
      <pc:chgData name="by 的" userId="7483e1e6a959e322" providerId="LiveId" clId="{286C159D-603C-4CB1-AE78-F5F98B38873E}" dt="2026-03-14T02:35:50.176" v="4" actId="1038"/>
      <pc:docMkLst>
        <pc:docMk/>
      </pc:docMkLst>
      <pc:sldChg chg="modSp">
        <pc:chgData name="by 的" userId="7483e1e6a959e322" providerId="LiveId" clId="{286C159D-603C-4CB1-AE78-F5F98B38873E}" dt="2026-03-14T02:35:50.176" v="4" actId="1038"/>
        <pc:sldMkLst>
          <pc:docMk/>
          <pc:sldMk cId="0" sldId="372"/>
        </pc:sldMkLst>
        <pc:picChg chg="mod">
          <ac:chgData name="by 的" userId="7483e1e6a959e322" providerId="LiveId" clId="{286C159D-603C-4CB1-AE78-F5F98B38873E}" dt="2026-03-14T02:35:50.176" v="4" actId="1038"/>
          <ac:picMkLst>
            <pc:docMk/>
            <pc:sldMk cId="0" sldId="372"/>
            <ac:picMk id="57347" creationId="{00000000-0000-0000-0000-000000000000}"/>
          </ac:picMkLst>
        </pc:picChg>
      </pc:sldChg>
      <pc:sldChg chg="modSp mod">
        <pc:chgData name="by 的" userId="7483e1e6a959e322" providerId="LiveId" clId="{286C159D-603C-4CB1-AE78-F5F98B38873E}" dt="2026-03-09T08:30:40.987" v="1" actId="1076"/>
        <pc:sldMkLst>
          <pc:docMk/>
          <pc:sldMk cId="0" sldId="454"/>
        </pc:sldMkLst>
        <pc:picChg chg="mod">
          <ac:chgData name="by 的" userId="7483e1e6a959e322" providerId="LiveId" clId="{286C159D-603C-4CB1-AE78-F5F98B38873E}" dt="2026-03-09T08:30:40.987" v="1" actId="1076"/>
          <ac:picMkLst>
            <pc:docMk/>
            <pc:sldMk cId="0" sldId="454"/>
            <ac:picMk id="6" creationId="{00000000-0000-0000-0000-000000000000}"/>
          </ac:picMkLst>
        </pc:picChg>
      </pc:sldChg>
      <pc:sldChg chg="modSp mod">
        <pc:chgData name="by 的" userId="7483e1e6a959e322" providerId="LiveId" clId="{286C159D-603C-4CB1-AE78-F5F98B38873E}" dt="2026-03-10T00:41:20.806" v="2" actId="1037"/>
        <pc:sldMkLst>
          <pc:docMk/>
          <pc:sldMk cId="0" sldId="463"/>
        </pc:sldMkLst>
        <pc:picChg chg="mod">
          <ac:chgData name="by 的" userId="7483e1e6a959e322" providerId="LiveId" clId="{286C159D-603C-4CB1-AE78-F5F98B38873E}" dt="2026-03-10T00:41:20.806" v="2" actId="1037"/>
          <ac:picMkLst>
            <pc:docMk/>
            <pc:sldMk cId="0" sldId="463"/>
            <ac:picMk id="5" creationId="{00000000-0000-0000-0000-000000000000}"/>
          </ac:picMkLst>
        </pc:picChg>
      </pc:sldChg>
      <pc:sldChg chg="modSp">
        <pc:chgData name="by 的" userId="7483e1e6a959e322" providerId="LiveId" clId="{286C159D-603C-4CB1-AE78-F5F98B38873E}" dt="2026-03-10T10:15:01.635" v="3" actId="1076"/>
        <pc:sldMkLst>
          <pc:docMk/>
          <pc:sldMk cId="0" sldId="489"/>
        </pc:sldMkLst>
        <pc:picChg chg="mod">
          <ac:chgData name="by 的" userId="7483e1e6a959e322" providerId="LiveId" clId="{286C159D-603C-4CB1-AE78-F5F98B38873E}" dt="2026-03-10T10:15:01.635" v="3" actId="1076"/>
          <ac:picMkLst>
            <pc:docMk/>
            <pc:sldMk cId="0" sldId="489"/>
            <ac:picMk id="11"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16250" cy="442913"/>
          </a:xfrm>
          <a:prstGeom prst="rect">
            <a:avLst/>
          </a:prstGeom>
          <a:noFill/>
          <a:ln w="9525">
            <a:noFill/>
            <a:miter lim="800000"/>
          </a:ln>
        </p:spPr>
        <p:txBody>
          <a:bodyPr vert="horz" wrap="none" lIns="87575" tIns="43788" rIns="87575" bIns="43788" numCol="1" anchor="ctr" anchorCtr="0" compatLnSpc="1"/>
          <a:lstStyle>
            <a:lvl1pP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3" name="Rectangle 3"/>
          <p:cNvSpPr>
            <a:spLocks noGrp="1" noChangeArrowheads="1"/>
          </p:cNvSpPr>
          <p:nvPr>
            <p:ph type="dt" sz="quarter" idx="1"/>
          </p:nvPr>
        </p:nvSpPr>
        <p:spPr bwMode="auto">
          <a:xfrm>
            <a:off x="3878263" y="0"/>
            <a:ext cx="3016250" cy="442913"/>
          </a:xfrm>
          <a:prstGeom prst="rect">
            <a:avLst/>
          </a:prstGeom>
          <a:noFill/>
          <a:ln w="9525">
            <a:noFill/>
            <a:miter lim="800000"/>
          </a:ln>
        </p:spPr>
        <p:txBody>
          <a:bodyPr vert="horz" wrap="none" lIns="87575" tIns="43788" rIns="87575" bIns="43788" numCol="1" anchor="ctr" anchorCtr="0" compatLnSpc="1"/>
          <a:lstStyle>
            <a:lvl1pPr algn="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16250" cy="442912"/>
          </a:xfrm>
          <a:prstGeom prst="rect">
            <a:avLst/>
          </a:prstGeom>
          <a:noFill/>
          <a:ln w="9525">
            <a:noFill/>
            <a:miter lim="800000"/>
          </a:ln>
        </p:spPr>
        <p:txBody>
          <a:bodyPr vert="horz" wrap="none" lIns="87575" tIns="43788" rIns="87575" bIns="43788" numCol="1" anchor="b" anchorCtr="0" compatLnSpc="1"/>
          <a:lstStyle>
            <a:lvl1pPr defTabSz="876300">
              <a:defRPr sz="1100">
                <a:latin typeface="Helvetica" pitchFamily="2" charset="0"/>
                <a:ea typeface="MS PGothic" panose="020B0600070205080204" pitchFamily="34" charset="-128"/>
                <a:cs typeface="MS PGothic" panose="020B0600070205080204" pitchFamily="34" charset="-128"/>
              </a:defRPr>
            </a:lvl1pPr>
          </a:lstStyle>
          <a:p>
            <a:pPr>
              <a:defRPr/>
            </a:pPr>
            <a:endParaRPr lang="en-US"/>
          </a:p>
        </p:txBody>
      </p:sp>
      <p:sp>
        <p:nvSpPr>
          <p:cNvPr id="46085" name="Rectangle 5"/>
          <p:cNvSpPr>
            <a:spLocks noGrp="1" noChangeArrowheads="1"/>
          </p:cNvSpPr>
          <p:nvPr>
            <p:ph type="sldNum" sz="quarter" idx="3"/>
          </p:nvPr>
        </p:nvSpPr>
        <p:spPr bwMode="auto">
          <a:xfrm>
            <a:off x="3878263" y="8866188"/>
            <a:ext cx="3016250" cy="442912"/>
          </a:xfrm>
          <a:prstGeom prst="rect">
            <a:avLst/>
          </a:prstGeom>
          <a:noFill/>
          <a:ln w="9525">
            <a:noFill/>
            <a:miter lim="800000"/>
          </a:ln>
        </p:spPr>
        <p:txBody>
          <a:bodyPr vert="horz" wrap="none" lIns="87575" tIns="43788" rIns="87575" bIns="43788" numCol="1" anchor="b" anchorCtr="0" compatLnSpc="1"/>
          <a:lstStyle>
            <a:lvl1pPr algn="r" defTabSz="876300">
              <a:defRPr sz="1100">
                <a:latin typeface="Helvetica" pitchFamily="2" charset="0"/>
              </a:defRPr>
            </a:lvl1pPr>
          </a:lstStyle>
          <a:p>
            <a:pPr>
              <a:defRPr/>
            </a:pPr>
            <a:fld id="{C746EC8E-B597-402D-9662-ABD14BABEEF8}"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1325" cy="463550"/>
          </a:xfrm>
          <a:prstGeom prst="rect">
            <a:avLst/>
          </a:prstGeom>
          <a:noFill/>
          <a:ln w="9525">
            <a:noFill/>
            <a:miter lim="800000"/>
          </a:ln>
        </p:spPr>
        <p:txBody>
          <a:bodyPr vert="horz" wrap="none" lIns="92436" tIns="46217" rIns="92436" bIns="46217" numCol="1" anchor="ctr" anchorCtr="0" compatLnSpc="1"/>
          <a:lstStyle>
            <a:lvl1pP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47" name="Rectangle 3"/>
          <p:cNvSpPr>
            <a:spLocks noGrp="1" noChangeArrowheads="1"/>
          </p:cNvSpPr>
          <p:nvPr>
            <p:ph type="dt" idx="1"/>
          </p:nvPr>
        </p:nvSpPr>
        <p:spPr bwMode="auto">
          <a:xfrm>
            <a:off x="3900488" y="0"/>
            <a:ext cx="2981325" cy="463550"/>
          </a:xfrm>
          <a:prstGeom prst="rect">
            <a:avLst/>
          </a:prstGeom>
          <a:noFill/>
          <a:ln w="9525">
            <a:noFill/>
            <a:miter lim="800000"/>
          </a:ln>
        </p:spPr>
        <p:txBody>
          <a:bodyPr vert="horz" wrap="none" lIns="92436" tIns="46217" rIns="92436" bIns="46217" numCol="1" anchor="ctr" anchorCtr="0" compatLnSpc="1"/>
          <a:lstStyle>
            <a:lvl1pPr algn="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7575" y="4416425"/>
            <a:ext cx="5046663" cy="4181475"/>
          </a:xfrm>
          <a:prstGeom prst="rect">
            <a:avLst/>
          </a:prstGeom>
          <a:noFill/>
          <a:ln w="9525">
            <a:noFill/>
            <a:miter lim="800000"/>
          </a:ln>
        </p:spPr>
        <p:txBody>
          <a:bodyPr vert="horz" wrap="none" lIns="92436" tIns="46217" rIns="92436" bIns="46217" numCol="1" anchor="ctr"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2981325" cy="463550"/>
          </a:xfrm>
          <a:prstGeom prst="rect">
            <a:avLst/>
          </a:prstGeom>
          <a:noFill/>
          <a:ln w="9525">
            <a:noFill/>
            <a:miter lim="800000"/>
          </a:ln>
        </p:spPr>
        <p:txBody>
          <a:bodyPr vert="horz" wrap="none" lIns="92436" tIns="46217" rIns="92436" bIns="46217" numCol="1" anchor="b" anchorCtr="0" compatLnSpc="1"/>
          <a:lstStyle>
            <a:lvl1pPr defTabSz="923925">
              <a:defRPr sz="1200">
                <a:latin typeface="Times New Roman" panose="02020603050405020304" pitchFamily="18" charset="0"/>
                <a:ea typeface="MS PGothic" panose="020B0600070205080204" pitchFamily="34" charset="-128"/>
                <a:cs typeface="MS PGothic" panose="020B0600070205080204" pitchFamily="34" charset="-128"/>
              </a:defRPr>
            </a:lvl1pPr>
          </a:lstStyle>
          <a:p>
            <a:pPr>
              <a:defRPr/>
            </a:pPr>
            <a:endParaRPr lang="en-US"/>
          </a:p>
        </p:txBody>
      </p:sp>
      <p:sp>
        <p:nvSpPr>
          <p:cNvPr id="6151" name="Rectangle 7"/>
          <p:cNvSpPr>
            <a:spLocks noGrp="1" noChangeArrowheads="1"/>
          </p:cNvSpPr>
          <p:nvPr>
            <p:ph type="sldNum" sz="quarter" idx="5"/>
          </p:nvPr>
        </p:nvSpPr>
        <p:spPr bwMode="auto">
          <a:xfrm>
            <a:off x="3900488" y="8832850"/>
            <a:ext cx="2981325" cy="463550"/>
          </a:xfrm>
          <a:prstGeom prst="rect">
            <a:avLst/>
          </a:prstGeom>
          <a:noFill/>
          <a:ln w="9525">
            <a:noFill/>
            <a:miter lim="800000"/>
          </a:ln>
        </p:spPr>
        <p:txBody>
          <a:bodyPr vert="horz" wrap="none" lIns="92436" tIns="46217" rIns="92436" bIns="46217" numCol="1" anchor="b" anchorCtr="0" compatLnSpc="1"/>
          <a:lstStyle>
            <a:lvl1pPr algn="r" defTabSz="923925">
              <a:defRPr sz="1200">
                <a:latin typeface="Times New Roman" panose="02020603050405020304" pitchFamily="18" charset="0"/>
              </a:defRPr>
            </a:lvl1pPr>
          </a:lstStyle>
          <a:p>
            <a:pPr>
              <a:defRPr/>
            </a:pPr>
            <a:fld id="{F8DDF7C7-3008-4DC4-9F8B-1490BCFC99E7}"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xfrm>
            <a:off x="974725" y="4560888"/>
            <a:ext cx="5365750" cy="4319587"/>
          </a:xfrm>
        </p:spPr>
        <p:txBody>
          <a:bodyPr wrap="square" lIns="96661" tIns="48331" rIns="96661" bIns="48331" anchor="t" anchorCtr="0"/>
          <a:lstStyle/>
          <a:p>
            <a:pPr lvl="0"/>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lstStyle/>
          <a:p>
            <a:pPr lvl="0" algn="r" defTabSz="967105" eaLnBrk="1" hangingPunct="1"/>
            <a:fld id="{9A0DB2DC-4C9A-4742-B13C-FB6460FD3503}" type="slidenum">
              <a:rPr lang="en-US" altLang="zh-CN" sz="1300" b="0" dirty="0">
                <a:solidFill>
                  <a:schemeClr val="bg1"/>
                </a:solidFill>
              </a:rPr>
              <a:t>1</a:t>
            </a:fld>
            <a:endParaRPr lang="en-US" altLang="zh-CN" sz="1300" b="0" dirty="0">
              <a:solidFill>
                <a:schemeClr val="bg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1117600" y="696913"/>
            <a:ext cx="4648200" cy="3486150"/>
          </a:xfrm>
        </p:spPr>
      </p:sp>
      <p:sp>
        <p:nvSpPr>
          <p:cNvPr id="819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17600" y="696913"/>
            <a:ext cx="4648200" cy="3486150"/>
          </a:xfrm>
        </p:spPr>
      </p:sp>
      <p:sp>
        <p:nvSpPr>
          <p:cNvPr id="102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17600" y="696913"/>
            <a:ext cx="4648200" cy="3486150"/>
          </a:xfrm>
        </p:spPr>
      </p:sp>
      <p:sp>
        <p:nvSpPr>
          <p:cNvPr id="102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17600" y="696913"/>
            <a:ext cx="4648200" cy="3486150"/>
          </a:xfrm>
        </p:spPr>
      </p:sp>
      <p:sp>
        <p:nvSpPr>
          <p:cNvPr id="12291"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FontTx/>
              <a:buAutoNum type="arabicPeriod"/>
              <a:defRPr/>
            </a:pPr>
            <a:r>
              <a:rPr lang="en-US" altLang="en-US" dirty="0">
                <a:latin typeface="Times New Roman" panose="02020603050405020304" pitchFamily="18" charset="0"/>
              </a:rPr>
              <a:t>Manager: manage a computer’s hardware</a:t>
            </a:r>
          </a:p>
          <a:p>
            <a:pPr marL="228600" indent="-228600">
              <a:buFontTx/>
              <a:buAutoNum type="arabicPeriod"/>
              <a:defRPr/>
            </a:pPr>
            <a:r>
              <a:rPr lang="en-US" altLang="en-US" dirty="0">
                <a:latin typeface="Times New Roman" panose="02020603050405020304" pitchFamily="18" charset="0"/>
              </a:rPr>
              <a:t>Purpose: to provide an environment in which a user can execute programs in a convenient and efficient manner</a:t>
            </a:r>
          </a:p>
          <a:p>
            <a:pPr>
              <a:defRPr/>
            </a:pPr>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98563" y="701675"/>
            <a:ext cx="4681537" cy="3511550"/>
          </a:xfrm>
        </p:spPr>
      </p:sp>
      <p:sp>
        <p:nvSpPr>
          <p:cNvPr id="80899" name="Rectangle 3"/>
          <p:cNvSpPr>
            <a:spLocks noGrp="1" noChangeArrowheads="1"/>
          </p:cNvSpPr>
          <p:nvPr>
            <p:ph type="body" idx="1"/>
          </p:nvPr>
        </p:nvSpPr>
        <p:spPr>
          <a:xfrm>
            <a:off x="708025" y="4448175"/>
            <a:ext cx="5662613" cy="4213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17600" y="696913"/>
            <a:ext cx="4648200" cy="3486150"/>
          </a:xfrm>
        </p:spPr>
      </p:sp>
      <p:sp>
        <p:nvSpPr>
          <p:cNvPr id="12291"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17600" y="696913"/>
            <a:ext cx="4648200" cy="3486150"/>
          </a:xfrm>
        </p:spPr>
      </p:sp>
      <p:sp>
        <p:nvSpPr>
          <p:cNvPr id="122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17600" y="696913"/>
            <a:ext cx="4648200" cy="3486150"/>
          </a:xfrm>
        </p:spPr>
      </p:sp>
      <p:sp>
        <p:nvSpPr>
          <p:cNvPr id="1433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17600" y="696913"/>
            <a:ext cx="4648200" cy="3486150"/>
          </a:xfrm>
        </p:spPr>
      </p:sp>
      <p:sp>
        <p:nvSpPr>
          <p:cNvPr id="2867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en-US" dirty="0">
                <a:latin typeface="Times New Roman" panose="02020603050405020304" pitchFamily="18" charset="0"/>
              </a:rPr>
              <a:t>System programs are the programs that are used to directly command or modify computer hardware.</a:t>
            </a:r>
          </a:p>
          <a:p>
            <a:pPr marL="228600" indent="-228600">
              <a:buFontTx/>
              <a:buAutoNum type="arabicPeriod"/>
            </a:pPr>
            <a:r>
              <a:rPr lang="en-US" altLang="en-US" dirty="0">
                <a:latin typeface="Times New Roman" panose="02020603050405020304" pitchFamily="18" charset="0"/>
              </a:rPr>
              <a:t>Application programs are the programs that are used to perform a specific task and that can be directly used by users.</a:t>
            </a:r>
          </a:p>
          <a:p>
            <a:pPr marL="228600" indent="-228600">
              <a:buFontTx/>
              <a:buAutoNum type="arabicPeriod"/>
            </a:pPr>
            <a:r>
              <a:rPr lang="en-US" altLang="en-US" dirty="0">
                <a:latin typeface="Times New Roman" panose="02020603050405020304" pitchFamily="18" charset="0"/>
              </a:rPr>
              <a:t>Just double clicked on the Microsoft word, and then the rest of the things, the operating system takes care of it!</a:t>
            </a:r>
          </a:p>
          <a:p>
            <a:pPr marL="228600" indent="-228600">
              <a:buFontTx/>
              <a:buAutoNum type="arabicPeriod"/>
            </a:pPr>
            <a:r>
              <a:rPr lang="en-US" altLang="en-US" dirty="0">
                <a:latin typeface="Times New Roman" panose="02020603050405020304" pitchFamily="18" charset="0"/>
              </a:rPr>
              <a:t>All the underlying things that has to happen, and the communication that has to happen between the hardware the user is take</a:t>
            </a:r>
            <a:r>
              <a:rPr lang="en-US" altLang="zh-CN" dirty="0">
                <a:latin typeface="Times New Roman" panose="02020603050405020304" pitchFamily="18" charset="0"/>
              </a:rPr>
              <a:t>n</a:t>
            </a:r>
            <a:r>
              <a:rPr lang="en-US" altLang="en-US" dirty="0">
                <a:latin typeface="Times New Roman" panose="02020603050405020304" pitchFamily="18" charset="0"/>
              </a:rPr>
              <a:t> care by the OS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117600" y="696913"/>
            <a:ext cx="4648200" cy="3486150"/>
          </a:xfrm>
        </p:spPr>
      </p:sp>
      <p:sp>
        <p:nvSpPr>
          <p:cNvPr id="307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p:sp>
      <p:sp>
        <p:nvSpPr>
          <p:cNvPr id="18435" name="Notes Placeholder 2"/>
          <p:cNvSpPr>
            <a:spLocks noGrp="1"/>
          </p:cNvSpPr>
          <p:nvPr>
            <p:ph type="body" idx="1"/>
          </p:nvPr>
        </p:nvSpPr>
        <p:spPr/>
        <p:txBody>
          <a:bodyPr/>
          <a:lstStyle/>
          <a:p>
            <a:pPr marL="228600" indent="-228600">
              <a:buFontTx/>
              <a:buAutoNum type="arabicPeriod"/>
              <a:defRPr/>
            </a:pPr>
            <a:r>
              <a:rPr lang="en-US" altLang="en-US" dirty="0">
                <a:latin typeface="Times New Roman" panose="02020603050405020304" pitchFamily="18" charset="0"/>
              </a:rPr>
              <a:t>Most computer users sit in front of a PC, such system is designed for one user to monopolize its resources; The goal is to maximize the work that the user is performing. In this case, the OS is designed mostly for ease of use</a:t>
            </a:r>
          </a:p>
          <a:p>
            <a:pPr marL="228600" indent="-228600">
              <a:buFontTx/>
              <a:buAutoNum type="arabicPeriod"/>
              <a:defRPr/>
            </a:pPr>
            <a:r>
              <a:rPr lang="en-US" altLang="en-US" dirty="0">
                <a:latin typeface="Times New Roman" panose="02020603050405020304" pitchFamily="18" charset="0"/>
              </a:rPr>
              <a:t>Resource utilization------how various hardware and software resources are shared</a:t>
            </a:r>
          </a:p>
          <a:p>
            <a:pPr marL="228600" indent="-228600">
              <a:buFontTx/>
              <a:buAutoNum type="arabicPeriod"/>
              <a:defRPr/>
            </a:pPr>
            <a:r>
              <a:rPr lang="en-US" altLang="en-US" dirty="0">
                <a:latin typeface="Times New Roman" panose="02020603050405020304" pitchFamily="18" charset="0"/>
              </a:rPr>
              <a:t>Mainframe: these users share resources and may exchange information------OS is designed to maximize resource utilization</a:t>
            </a:r>
          </a:p>
          <a:p>
            <a:pPr marL="228600" indent="-228600">
              <a:buFontTx/>
              <a:buAutoNum type="arabicPeriod"/>
              <a:defRPr/>
            </a:pPr>
            <a:r>
              <a:rPr lang="en-US" altLang="en-US" dirty="0">
                <a:latin typeface="Times New Roman" panose="02020603050405020304" pitchFamily="18" charset="0"/>
              </a:rPr>
              <a:t>Maximize resource utilization: assure that all available CPU time, memory, and I/O are used efficiently, and that no individual user takes more than her fair share</a:t>
            </a:r>
          </a:p>
          <a:p>
            <a:pPr marL="228600" indent="-228600">
              <a:buFontTx/>
              <a:buAutoNum type="arabicPeriod"/>
              <a:defRPr/>
            </a:pPr>
            <a:r>
              <a:rPr lang="en-US" altLang="en-US" dirty="0">
                <a:latin typeface="Times New Roman" panose="02020603050405020304" pitchFamily="18" charset="0"/>
              </a:rPr>
              <a:t>Compromise between individual usability and resource utilization</a:t>
            </a:r>
          </a:p>
          <a:p>
            <a:pPr>
              <a:defRPr/>
            </a:pPr>
            <a:endParaRPr lang="en-US" altLang="en-US" dirty="0">
              <a:latin typeface="Times New Roman" panose="02020603050405020304" pitchFamily="18" charset="0"/>
            </a:endParaRPr>
          </a:p>
          <a:p>
            <a:pPr marL="228600" indent="-228600">
              <a:buFontTx/>
              <a:buAutoNum type="arabicPeriod"/>
              <a:defRPr/>
            </a:pPr>
            <a:endParaRPr lang="en-US" altLang="en-US" dirty="0">
              <a:latin typeface="Times New Roman" panose="02020603050405020304" pitchFamily="18" charset="0"/>
            </a:endParaRPr>
          </a:p>
          <a:p>
            <a:pPr marL="228600" indent="-228600">
              <a:buFontTx/>
              <a:buAutoNum type="arabicPeriod"/>
              <a:defRPr/>
            </a:pPr>
            <a:endParaRPr lang="en-US" altLang="en-US" dirty="0">
              <a:latin typeface="Times New Roman" panose="02020603050405020304" pitchFamily="18" charset="0"/>
            </a:endParaRPr>
          </a:p>
        </p:txBody>
      </p:sp>
      <p:sp>
        <p:nvSpPr>
          <p:cNvPr id="4301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2392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2392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2392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2392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239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239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239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2392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23925" rtl="0" eaLnBrk="0" fontAlgn="base" latinLnBrk="0" hangingPunct="0">
              <a:lnSpc>
                <a:spcPct val="100000"/>
              </a:lnSpc>
              <a:spcBef>
                <a:spcPct val="0"/>
              </a:spcBef>
              <a:spcAft>
                <a:spcPct val="0"/>
              </a:spcAft>
              <a:buClrTx/>
              <a:buSzTx/>
              <a:buFontTx/>
              <a:buNone/>
              <a:defRPr/>
            </a:pPr>
            <a:fld id="{3A55F257-DFBF-4F7C-B7E9-CD040207320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12</a:t>
            </a:fld>
            <a:endParaRPr kumimoji="0" lang="en-US" alt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17600" y="696913"/>
            <a:ext cx="4648200" cy="3486150"/>
          </a:xfrm>
        </p:spPr>
      </p:sp>
      <p:sp>
        <p:nvSpPr>
          <p:cNvPr id="4505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en-US" dirty="0">
                <a:latin typeface="Times New Roman" panose="02020603050405020304" pitchFamily="18" charset="0"/>
              </a:rPr>
              <a:t>All resources: CPU  time, memory space, file-storage space, I/O devices, and so on</a:t>
            </a:r>
          </a:p>
          <a:p>
            <a:pPr marL="228600" indent="-228600">
              <a:buFontTx/>
              <a:buAutoNum type="arabicPeriod"/>
            </a:pPr>
            <a:r>
              <a:rPr lang="en-US" altLang="en-US" dirty="0">
                <a:latin typeface="Times New Roman" panose="02020603050405020304" pitchFamily="18" charset="0"/>
              </a:rPr>
              <a:t>Facing numerous and possibly conflicting requests for resources, the OS must decide how to allocate them to specific programs and users so that it can operate the computer system efficiently and fairly</a:t>
            </a:r>
          </a:p>
          <a:p>
            <a:pPr marL="228600" indent="-228600">
              <a:buFontTx/>
              <a:buAutoNum type="arabicPeriod"/>
            </a:pP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17600" y="696913"/>
            <a:ext cx="4648200" cy="3486150"/>
          </a:xfrm>
        </p:spPr>
      </p:sp>
      <p:sp>
        <p:nvSpPr>
          <p:cNvPr id="471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en-US" dirty="0">
                <a:latin typeface="Times New Roman" panose="02020603050405020304" pitchFamily="18" charset="0"/>
              </a:rPr>
              <a:t>The bootstrap program must know how to load the OS and how to start executing that system</a:t>
            </a:r>
          </a:p>
          <a:p>
            <a:pPr marL="228600" indent="-228600">
              <a:buFontTx/>
              <a:buAutoNum type="arabicPeriod"/>
            </a:pPr>
            <a:r>
              <a:rPr lang="en-US" altLang="en-US" dirty="0">
                <a:latin typeface="Times New Roman" panose="02020603050405020304" pitchFamily="18" charset="0"/>
              </a:rPr>
              <a:t>Once the kernel is loaded and executing, it can start providing services to the system and its users</a:t>
            </a:r>
          </a:p>
          <a:p>
            <a:pPr marL="228600" indent="-228600">
              <a:buFontTx/>
              <a:buAutoNum type="arabicPeriod"/>
            </a:pP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17600" y="696913"/>
            <a:ext cx="4648200" cy="3486150"/>
          </a:xfrm>
        </p:spPr>
      </p:sp>
      <p:sp>
        <p:nvSpPr>
          <p:cNvPr id="471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zh-CN" dirty="0"/>
              <a:t>The </a:t>
            </a:r>
            <a:r>
              <a:rPr lang="en-US" altLang="zh-CN" b="1" dirty="0"/>
              <a:t>kernel</a:t>
            </a:r>
            <a:r>
              <a:rPr lang="en-US" altLang="zh-CN" dirty="0"/>
              <a:t> is the </a:t>
            </a:r>
            <a:r>
              <a:rPr lang="en-US" altLang="zh-CN" b="1" dirty="0"/>
              <a:t>fundamental core</a:t>
            </a:r>
            <a:r>
              <a:rPr lang="en-US" altLang="zh-CN" dirty="0"/>
              <a:t> that performs crucial operations like memory management and process scheduling.</a:t>
            </a:r>
          </a:p>
          <a:p>
            <a:pPr marL="228600" indent="-228600">
              <a:buFontTx/>
              <a:buAutoNum type="arabicPeriod"/>
            </a:pPr>
            <a:r>
              <a:rPr lang="en-US" altLang="zh-CN" dirty="0"/>
              <a:t>The </a:t>
            </a:r>
            <a:r>
              <a:rPr lang="en-US" altLang="zh-CN" b="1" dirty="0"/>
              <a:t>operating system</a:t>
            </a:r>
            <a:r>
              <a:rPr lang="en-US" altLang="zh-CN" dirty="0"/>
              <a:t> encompasses the kernel </a:t>
            </a:r>
            <a:r>
              <a:rPr lang="en-US" altLang="zh-CN" i="1" dirty="0"/>
              <a:t>plus</a:t>
            </a:r>
            <a:r>
              <a:rPr lang="en-US" altLang="zh-CN" dirty="0"/>
              <a:t> all </a:t>
            </a:r>
            <a:r>
              <a:rPr lang="en-US" altLang="zh-CN" b="1" dirty="0"/>
              <a:t>system-level programs</a:t>
            </a:r>
            <a:r>
              <a:rPr lang="en-US" altLang="zh-CN" dirty="0"/>
              <a:t> and </a:t>
            </a:r>
            <a:r>
              <a:rPr lang="en-US" altLang="zh-CN" b="1" dirty="0"/>
              <a:t>user interfaces</a:t>
            </a:r>
            <a:r>
              <a:rPr lang="en-US" altLang="zh-CN" dirty="0"/>
              <a:t>—everything you use to interact with and manage the computer.</a:t>
            </a: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17600" y="696913"/>
            <a:ext cx="4648200" cy="3486150"/>
          </a:xfrm>
        </p:spPr>
      </p:sp>
      <p:sp>
        <p:nvSpPr>
          <p:cNvPr id="512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zh-CN" b="0" i="0" dirty="0">
                <a:solidFill>
                  <a:srgbClr val="212529"/>
                </a:solidFill>
                <a:effectLst/>
                <a:latin typeface="-apple-system"/>
              </a:rPr>
              <a:t>The CPU executes a program in a Fetch-Decode –Execute mode by bringing instructions from Memory. So your program has to get loaded into memory, from the Disk.</a:t>
            </a:r>
          </a:p>
          <a:p>
            <a:pPr marL="228600" indent="-228600">
              <a:buFontTx/>
              <a:buAutoNum type="arabicPeriod"/>
            </a:pPr>
            <a:r>
              <a:rPr lang="en-US" altLang="zh-CN" b="0" i="0" dirty="0">
                <a:solidFill>
                  <a:srgbClr val="212529"/>
                </a:solidFill>
                <a:effectLst/>
                <a:latin typeface="-apple-system"/>
              </a:rPr>
              <a:t>Generally, both programs and executable files are stored in the Disk. This is where the I/O comes into the picture.</a:t>
            </a:r>
          </a:p>
          <a:p>
            <a:pPr marL="228600" indent="-228600">
              <a:buFontTx/>
              <a:buAutoNum type="arabicPeriod"/>
            </a:pPr>
            <a:r>
              <a:rPr lang="en-US" altLang="en-US" dirty="0">
                <a:latin typeface="Times New Roman" panose="02020603050405020304" pitchFamily="18" charset="0"/>
              </a:rPr>
              <a:t>First fetches an instruction from memory and stores that instruction in the instruction register</a:t>
            </a:r>
          </a:p>
          <a:p>
            <a:pPr marL="228600" indent="-228600">
              <a:buFontTx/>
              <a:buAutoNum type="arabicPeriod"/>
            </a:pPr>
            <a:r>
              <a:rPr lang="en-US" altLang="en-US" dirty="0">
                <a:latin typeface="Times New Roman" panose="02020603050405020304" pitchFamily="18" charset="0"/>
              </a:rPr>
              <a:t>The instruction is then decoded and may cause operands to be fetched from memory and stored in some internal register</a:t>
            </a:r>
          </a:p>
          <a:p>
            <a:pPr marL="228600" indent="-228600">
              <a:buFontTx/>
              <a:buAutoNum type="arabicPeriod"/>
            </a:pPr>
            <a:r>
              <a:rPr lang="en-US" altLang="en-US" dirty="0">
                <a:latin typeface="Times New Roman" panose="02020603050405020304" pitchFamily="18" charset="0"/>
              </a:rPr>
              <a:t>After the instruction on the operands has been executed, the results may be stored back in memory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FontTx/>
              <a:buAutoNum type="arabicPeriod"/>
              <a:defRPr/>
            </a:pPr>
            <a:r>
              <a:rPr lang="en-US" altLang="en-US" dirty="0">
                <a:latin typeface="Times New Roman" panose="02020603050405020304" pitchFamily="18" charset="0"/>
              </a:rPr>
              <a:t>Each device controller has a local buffer</a:t>
            </a:r>
          </a:p>
          <a:p>
            <a:pPr marL="228600" indent="-228600">
              <a:buFontTx/>
              <a:buAutoNum type="arabicPeriod"/>
              <a:defRPr/>
            </a:pPr>
            <a:r>
              <a:rPr lang="en-US" altLang="en-US" dirty="0"/>
              <a:t>CPU moves data from/to main memory to/from local buffers</a:t>
            </a:r>
          </a:p>
          <a:p>
            <a:pPr marL="228600" indent="-228600">
              <a:buFontTx/>
              <a:buAutoNum type="arabicPeriod"/>
              <a:defRPr/>
            </a:pPr>
            <a:r>
              <a:rPr lang="en-US" altLang="en-US" dirty="0"/>
              <a:t>I/O is from the device to local buffer of controller.</a:t>
            </a:r>
          </a:p>
          <a:p>
            <a:pPr marL="228600" indent="-228600">
              <a:buFontTx/>
              <a:buAutoNum type="arabicPeriod"/>
              <a:defRPr/>
            </a:pPr>
            <a:endParaRPr lang="en-US" altLang="en-US" dirty="0"/>
          </a:p>
          <a:p>
            <a:pPr marL="228600" indent="-228600">
              <a:buFontTx/>
              <a:buAutoNum type="arabicPeriod"/>
              <a:defRPr/>
            </a:pPr>
            <a:endParaRPr lang="en-US" altLang="en-US" dirty="0">
              <a:latin typeface="Times New Roman" panose="02020603050405020304" pitchFamily="18" charset="0"/>
            </a:endParaRPr>
          </a:p>
          <a:p>
            <a:pPr>
              <a:defRPr/>
            </a:pPr>
            <a:endParaRPr lang="en-US" altLang="en-US" dirty="0">
              <a:latin typeface="Times New Roman" panose="02020603050405020304" pitchFamily="18" charset="0"/>
            </a:endParaRPr>
          </a:p>
          <a:p>
            <a:pPr>
              <a:defRPr/>
            </a:pP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17600" y="696913"/>
            <a:ext cx="4648200" cy="3486150"/>
          </a:xfrm>
        </p:spPr>
      </p:sp>
      <p:sp>
        <p:nvSpPr>
          <p:cNvPr id="378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17600" y="696913"/>
            <a:ext cx="4648200" cy="3486150"/>
          </a:xfrm>
        </p:spPr>
      </p:sp>
      <p:sp>
        <p:nvSpPr>
          <p:cNvPr id="378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117600" y="696913"/>
            <a:ext cx="4648200" cy="3486150"/>
          </a:xfrm>
        </p:spPr>
      </p:sp>
      <p:sp>
        <p:nvSpPr>
          <p:cNvPr id="409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117600" y="696913"/>
            <a:ext cx="4648200" cy="3486150"/>
          </a:xfrm>
        </p:spPr>
      </p:sp>
      <p:sp>
        <p:nvSpPr>
          <p:cNvPr id="430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FontTx/>
              <a:buAutoNum type="arabicPeriod"/>
              <a:defRPr/>
            </a:pPr>
            <a:r>
              <a:rPr lang="en-US" altLang="en-US" dirty="0">
                <a:latin typeface="Times New Roman" panose="02020603050405020304" pitchFamily="18" charset="0"/>
              </a:rPr>
              <a:t>Consider the situation that the processor is busy executing any program. Meanwhile, it encounters an I/O instruction. To execute the encountered instruction the processor issues an appropriate I/O command to the corresponding I/O module</a:t>
            </a:r>
          </a:p>
          <a:p>
            <a:pPr marL="228600" indent="-228600">
              <a:buFontTx/>
              <a:buAutoNum type="arabicPeriod"/>
              <a:defRPr/>
            </a:pPr>
            <a:r>
              <a:rPr lang="en-US" altLang="en-US" dirty="0">
                <a:latin typeface="Times New Roman" panose="02020603050405020304" pitchFamily="18" charset="0"/>
              </a:rPr>
              <a:t>Accepting the issued command, the I/O module performs the desired task and sets some appropriate bits of its I/O status registers</a:t>
            </a:r>
          </a:p>
          <a:p>
            <a:pPr marL="228600" indent="-228600">
              <a:buFontTx/>
              <a:buAutoNum type="arabicPeriod"/>
              <a:defRPr/>
            </a:pPr>
            <a:r>
              <a:rPr lang="en-US" altLang="en-US" dirty="0">
                <a:latin typeface="Times New Roman" panose="02020603050405020304" pitchFamily="18" charset="0"/>
              </a:rPr>
              <a:t>Further, the I/O module does not notify the processor that it has performed the desired task. Moreover, it’s the processors’ responsibility to periodically check the status of the I/O module till it finds that the I/O has successfully completed the desired task.</a:t>
            </a:r>
          </a:p>
          <a:p>
            <a:pPr>
              <a:defRPr/>
            </a:pPr>
            <a:endParaRPr lang="en-US" altLang="en-US" dirty="0">
              <a:latin typeface="Times New Roman" panose="02020603050405020304" pitchFamily="18" charset="0"/>
            </a:endParaRPr>
          </a:p>
          <a:p>
            <a:pPr>
              <a:defRPr/>
            </a:pPr>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r>
              <a:rPr lang="en-US" altLang="en-US" dirty="0">
                <a:latin typeface="Times New Roman" panose="02020603050405020304" pitchFamily="18" charset="0"/>
              </a:rPr>
              <a:t>The processor issues a READ I/O command to the corresponding I/O module and proceeds with some other useful tasks. It does not wait for the I/O module to get ready with the desired data.</a:t>
            </a:r>
          </a:p>
          <a:p>
            <a:pPr marL="228600" indent="-228600">
              <a:buAutoNum type="arabicPeriod"/>
              <a:defRPr/>
            </a:pPr>
            <a:r>
              <a:rPr lang="en-US" altLang="en-US" dirty="0">
                <a:latin typeface="Times New Roman" panose="02020603050405020304" pitchFamily="18" charset="0"/>
              </a:rPr>
              <a:t>The I/O module then processes this READ I/O command and reads the data from the addressed peripheral device. The I/O module stores the read data into its data register and issues an interrupt signal to the processor over the control line in the system bus. By sending the interrupted signal, the I/O module indicates the processor that now it is ready for transmitting the data. But, the I/O module has to wait until the processor asks for the data from the I/O module.</a:t>
            </a:r>
          </a:p>
          <a:p>
            <a:pPr marL="228600" indent="-228600">
              <a:buAutoNum type="arabicPeriod"/>
              <a:defRPr/>
            </a:pPr>
            <a:r>
              <a:rPr lang="en-US" altLang="en-US" dirty="0">
                <a:latin typeface="Times New Roman" panose="02020603050405020304" pitchFamily="18" charset="0"/>
              </a:rPr>
              <a:t>As we know that whenever the processor is executing any program, after every instruction cycle it checks for interrupts that have occurred. If it finds the pending interrupts, it responds and serves the occurred interrupt.</a:t>
            </a:r>
          </a:p>
          <a:p>
            <a:pPr marL="228600" indent="-228600">
              <a:buAutoNum type="arabicPeriod"/>
              <a:defRPr/>
            </a:pPr>
            <a:r>
              <a:rPr lang="en-US" altLang="en-US" dirty="0">
                <a:latin typeface="Times New Roman" panose="02020603050405020304" pitchFamily="18" charset="0"/>
              </a:rPr>
              <a:t>The moment processor finds the interrupts by the I/O module, it suspends its current execution and saves the context (e.g., program counter, processor register) to serve the interrupt.</a:t>
            </a:r>
          </a:p>
          <a:p>
            <a:pPr marL="228600" indent="-228600">
              <a:buAutoNum type="arabicPeriod"/>
              <a:defRPr/>
            </a:pPr>
            <a:r>
              <a:rPr lang="en-US" altLang="en-US" dirty="0">
                <a:latin typeface="Times New Roman" panose="02020603050405020304" pitchFamily="18" charset="0"/>
              </a:rPr>
              <a:t>When the processor requests the data from the I/O, it places the data over the data line of the system bus. Once the I/O module transfers the data to the processor it set itself ready for another I/O transfer.</a:t>
            </a:r>
          </a:p>
          <a:p>
            <a:pPr marL="228600" indent="-228600">
              <a:buAutoNum type="arabicPeriod"/>
              <a:defRPr/>
            </a:pPr>
            <a:r>
              <a:rPr lang="en-US" altLang="en-US" dirty="0">
                <a:latin typeface="Times New Roman" panose="02020603050405020304" pitchFamily="18" charset="0"/>
              </a:rPr>
              <a:t>Now processor request data from the I/O module and accept the word of data over the data line. The processor stores this data onto the memory and restores the context of the program it was working on and resumes its execution.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r>
              <a:rPr lang="zh-CN" altLang="en-US" dirty="0">
                <a:latin typeface="Times New Roman" panose="02020603050405020304" pitchFamily="18" charset="0"/>
              </a:rPr>
              <a:t>用户进程向 </a:t>
            </a:r>
            <a:r>
              <a:rPr lang="en-US" altLang="zh-CN" dirty="0">
                <a:latin typeface="Times New Roman" panose="02020603050405020304" pitchFamily="18" charset="0"/>
              </a:rPr>
              <a:t>CPU </a:t>
            </a:r>
            <a:r>
              <a:rPr lang="zh-CN" altLang="en-US" dirty="0">
                <a:latin typeface="Times New Roman" panose="02020603050405020304" pitchFamily="18" charset="0"/>
              </a:rPr>
              <a:t>发起 </a:t>
            </a:r>
            <a:r>
              <a:rPr lang="en-US" altLang="zh-CN" dirty="0">
                <a:latin typeface="Times New Roman" panose="02020603050405020304" pitchFamily="18" charset="0"/>
              </a:rPr>
              <a:t>read </a:t>
            </a:r>
            <a:r>
              <a:rPr lang="zh-CN" altLang="en-US" dirty="0">
                <a:latin typeface="Times New Roman" panose="02020603050405020304" pitchFamily="18" charset="0"/>
              </a:rPr>
              <a:t>系统调用读取数据，由用户态切换为内核态，然后一直阻塞等待数据的返回。</a:t>
            </a:r>
          </a:p>
          <a:p>
            <a:pPr marL="228600" indent="-228600">
              <a:buAutoNum type="arabicPeriod"/>
              <a:defRPr/>
            </a:pPr>
            <a:r>
              <a:rPr lang="en-US" altLang="zh-CN" dirty="0">
                <a:latin typeface="Times New Roman" panose="02020603050405020304" pitchFamily="18" charset="0"/>
              </a:rPr>
              <a:t>CPU </a:t>
            </a:r>
            <a:r>
              <a:rPr lang="zh-CN" altLang="en-US" dirty="0">
                <a:latin typeface="Times New Roman" panose="02020603050405020304" pitchFamily="18" charset="0"/>
              </a:rPr>
              <a:t>在接收到指令以后对 </a:t>
            </a:r>
            <a:r>
              <a:rPr lang="en-US" altLang="zh-CN" dirty="0">
                <a:latin typeface="Times New Roman" panose="02020603050405020304" pitchFamily="18" charset="0"/>
              </a:rPr>
              <a:t>DMA </a:t>
            </a:r>
            <a:r>
              <a:rPr lang="zh-CN" altLang="en-US" dirty="0">
                <a:latin typeface="Times New Roman" panose="02020603050405020304" pitchFamily="18" charset="0"/>
              </a:rPr>
              <a:t>磁盘控制器发起调度指令。</a:t>
            </a:r>
          </a:p>
          <a:p>
            <a:pPr marL="228600" indent="-228600">
              <a:buAutoNum type="arabicPeriod"/>
              <a:defRPr/>
            </a:pPr>
            <a:r>
              <a:rPr lang="en-US" altLang="zh-CN" dirty="0">
                <a:latin typeface="Times New Roman" panose="02020603050405020304" pitchFamily="18" charset="0"/>
              </a:rPr>
              <a:t>DMA </a:t>
            </a:r>
            <a:r>
              <a:rPr lang="zh-CN" altLang="en-US" dirty="0">
                <a:latin typeface="Times New Roman" panose="02020603050405020304" pitchFamily="18" charset="0"/>
              </a:rPr>
              <a:t>磁盘控制器对磁盘发起 </a:t>
            </a:r>
            <a:r>
              <a:rPr lang="en-US" altLang="zh-CN" dirty="0">
                <a:latin typeface="Times New Roman" panose="02020603050405020304" pitchFamily="18" charset="0"/>
              </a:rPr>
              <a:t>I/O </a:t>
            </a:r>
            <a:r>
              <a:rPr lang="zh-CN" altLang="en-US" dirty="0">
                <a:latin typeface="Times New Roman" panose="02020603050405020304" pitchFamily="18" charset="0"/>
              </a:rPr>
              <a:t>请求，将磁盘数据先放入磁盘控制器缓冲区，</a:t>
            </a:r>
            <a:r>
              <a:rPr lang="en-US" altLang="zh-CN" dirty="0">
                <a:latin typeface="Times New Roman" panose="02020603050405020304" pitchFamily="18" charset="0"/>
              </a:rPr>
              <a:t>CPU </a:t>
            </a:r>
            <a:r>
              <a:rPr lang="zh-CN" altLang="en-US" dirty="0">
                <a:latin typeface="Times New Roman" panose="02020603050405020304" pitchFamily="18" charset="0"/>
              </a:rPr>
              <a:t>全程不参与此过程。</a:t>
            </a:r>
          </a:p>
          <a:p>
            <a:pPr marL="228600" indent="-228600">
              <a:buAutoNum type="arabicPeriod"/>
              <a:defRPr/>
            </a:pPr>
            <a:r>
              <a:rPr lang="zh-CN" altLang="en-US" dirty="0">
                <a:latin typeface="Times New Roman" panose="02020603050405020304" pitchFamily="18" charset="0"/>
              </a:rPr>
              <a:t>数据读取完成后，</a:t>
            </a:r>
            <a:r>
              <a:rPr lang="en-US" altLang="zh-CN" dirty="0">
                <a:latin typeface="Times New Roman" panose="02020603050405020304" pitchFamily="18" charset="0"/>
              </a:rPr>
              <a:t>DMA </a:t>
            </a:r>
            <a:r>
              <a:rPr lang="zh-CN" altLang="en-US" dirty="0">
                <a:latin typeface="Times New Roman" panose="02020603050405020304" pitchFamily="18" charset="0"/>
              </a:rPr>
              <a:t>磁盘控制器会接受到磁盘的通知，将数据从磁盘控制器缓冲区拷贝到内核缓冲区。</a:t>
            </a:r>
          </a:p>
          <a:p>
            <a:pPr marL="228600" indent="-228600">
              <a:buAutoNum type="arabicPeriod"/>
              <a:defRPr/>
            </a:pPr>
            <a:r>
              <a:rPr lang="en-US" altLang="zh-CN" dirty="0">
                <a:latin typeface="Times New Roman" panose="02020603050405020304" pitchFamily="18" charset="0"/>
              </a:rPr>
              <a:t>DMA </a:t>
            </a:r>
            <a:r>
              <a:rPr lang="zh-CN" altLang="en-US" dirty="0">
                <a:latin typeface="Times New Roman" panose="02020603050405020304" pitchFamily="18" charset="0"/>
              </a:rPr>
              <a:t>磁盘控制器向 </a:t>
            </a:r>
            <a:r>
              <a:rPr lang="en-US" altLang="zh-CN" dirty="0">
                <a:latin typeface="Times New Roman" panose="02020603050405020304" pitchFamily="18" charset="0"/>
              </a:rPr>
              <a:t>CPU </a:t>
            </a:r>
            <a:r>
              <a:rPr lang="zh-CN" altLang="en-US" dirty="0">
                <a:latin typeface="Times New Roman" panose="02020603050405020304" pitchFamily="18" charset="0"/>
              </a:rPr>
              <a:t>发出数据读完的信号，由 </a:t>
            </a:r>
            <a:r>
              <a:rPr lang="en-US" altLang="zh-CN" dirty="0">
                <a:latin typeface="Times New Roman" panose="02020603050405020304" pitchFamily="18" charset="0"/>
              </a:rPr>
              <a:t>CPU </a:t>
            </a:r>
            <a:r>
              <a:rPr lang="zh-CN" altLang="en-US" dirty="0">
                <a:latin typeface="Times New Roman" panose="02020603050405020304" pitchFamily="18" charset="0"/>
              </a:rPr>
              <a:t>负责将数据从内核缓冲区拷贝到用户缓冲区。</a:t>
            </a:r>
          </a:p>
          <a:p>
            <a:pPr marL="228600" indent="-228600">
              <a:buAutoNum type="arabicPeriod"/>
              <a:defRPr/>
            </a:pPr>
            <a:r>
              <a:rPr lang="zh-CN" altLang="en-US" dirty="0">
                <a:latin typeface="Times New Roman" panose="02020603050405020304" pitchFamily="18" charset="0"/>
              </a:rPr>
              <a:t>用户进程由内核态切换回用户态，解除阻塞状态，然后等待 </a:t>
            </a:r>
            <a:r>
              <a:rPr lang="en-US" altLang="zh-CN" dirty="0">
                <a:latin typeface="Times New Roman" panose="02020603050405020304" pitchFamily="18" charset="0"/>
              </a:rPr>
              <a:t>CPU </a:t>
            </a:r>
            <a:r>
              <a:rPr lang="zh-CN" altLang="en-US" dirty="0">
                <a:latin typeface="Times New Roman" panose="02020603050405020304" pitchFamily="18" charset="0"/>
              </a:rPr>
              <a:t>的下一个执行时间钟。</a:t>
            </a:r>
          </a:p>
          <a:p>
            <a:pPr marL="228600" indent="-228600">
              <a:buAutoNum type="arabicPeriod"/>
              <a:defRPr/>
            </a:pPr>
            <a:r>
              <a:rPr lang="zh-CN" altLang="en-US" dirty="0">
                <a:latin typeface="Times New Roman" panose="02020603050405020304" pitchFamily="18" charset="0"/>
              </a:rPr>
              <a:t>仔细对比加入 </a:t>
            </a:r>
            <a:r>
              <a:rPr lang="en-US" altLang="zh-CN" dirty="0">
                <a:latin typeface="Times New Roman" panose="02020603050405020304" pitchFamily="18" charset="0"/>
              </a:rPr>
              <a:t>DMA </a:t>
            </a:r>
            <a:r>
              <a:rPr lang="zh-CN" altLang="en-US" dirty="0">
                <a:latin typeface="Times New Roman" panose="02020603050405020304" pitchFamily="18" charset="0"/>
              </a:rPr>
              <a:t>技术之后的数据传输流程，我们可以发现 </a:t>
            </a:r>
            <a:r>
              <a:rPr lang="en-US" altLang="zh-CN" dirty="0">
                <a:latin typeface="Times New Roman" panose="02020603050405020304" pitchFamily="18" charset="0"/>
              </a:rPr>
              <a:t>DMA </a:t>
            </a:r>
            <a:r>
              <a:rPr lang="zh-CN" altLang="en-US" dirty="0">
                <a:latin typeface="Times New Roman" panose="02020603050405020304" pitchFamily="18" charset="0"/>
              </a:rPr>
              <a:t>技术优化了数据从磁盘缓冲区拷贝到内核缓冲区这个过程，减少了这个过程里 </a:t>
            </a:r>
            <a:r>
              <a:rPr lang="en-US" altLang="zh-CN" dirty="0">
                <a:latin typeface="Times New Roman" panose="02020603050405020304" pitchFamily="18" charset="0"/>
              </a:rPr>
              <a:t>CPU </a:t>
            </a:r>
            <a:r>
              <a:rPr lang="zh-CN" altLang="en-US" dirty="0">
                <a:latin typeface="Times New Roman" panose="02020603050405020304" pitchFamily="18" charset="0"/>
              </a:rPr>
              <a:t>的参与。</a:t>
            </a:r>
            <a:endParaRPr lang="en-US" altLang="en-US"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r>
              <a:rPr lang="zh-CN" altLang="en-US" dirty="0">
                <a:latin typeface="Times New Roman" panose="02020603050405020304" pitchFamily="18" charset="0"/>
              </a:rPr>
              <a:t>正确的执行顺序是 </a:t>
            </a:r>
            <a:r>
              <a:rPr lang="en-US" altLang="zh-CN" dirty="0">
                <a:latin typeface="Times New Roman" panose="02020603050405020304" pitchFamily="18" charset="0"/>
              </a:rPr>
              <a:t>B. ②→③→①→④</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228600" indent="-228600">
              <a:buAutoNum type="arabicPeriod"/>
              <a:defRPr/>
            </a:pPr>
            <a:r>
              <a:rPr lang="zh-CN" altLang="en-US" dirty="0">
                <a:latin typeface="Times New Roman" panose="02020603050405020304" pitchFamily="18" charset="0"/>
              </a:rPr>
              <a:t>解释如下：② 初始化</a:t>
            </a:r>
            <a:r>
              <a:rPr lang="en-US" altLang="zh-CN" dirty="0">
                <a:latin typeface="Times New Roman" panose="02020603050405020304" pitchFamily="18" charset="0"/>
              </a:rPr>
              <a:t>DMA</a:t>
            </a:r>
            <a:r>
              <a:rPr lang="zh-CN" altLang="en-US" dirty="0">
                <a:latin typeface="Times New Roman" panose="02020603050405020304" pitchFamily="18" charset="0"/>
              </a:rPr>
              <a:t>控制器并启动磁盘：首先需要初始化</a:t>
            </a:r>
            <a:r>
              <a:rPr lang="en-US" altLang="zh-CN" dirty="0">
                <a:latin typeface="Times New Roman" panose="02020603050405020304" pitchFamily="18" charset="0"/>
              </a:rPr>
              <a:t>DMA</a:t>
            </a:r>
            <a:r>
              <a:rPr lang="zh-CN" altLang="en-US" dirty="0">
                <a:latin typeface="Times New Roman" panose="02020603050405020304" pitchFamily="18" charset="0"/>
              </a:rPr>
              <a:t>控制器，设置好相关参数，之后启动磁盘进行数据传输。③ 从磁盘传输一块数据到内存缓冲区：磁盘开始向内存传输数据。① </a:t>
            </a:r>
            <a:r>
              <a:rPr lang="en-US" altLang="zh-CN" dirty="0">
                <a:latin typeface="Times New Roman" panose="02020603050405020304" pitchFamily="18" charset="0"/>
              </a:rPr>
              <a:t>DMA</a:t>
            </a:r>
            <a:r>
              <a:rPr lang="zh-CN" altLang="en-US" dirty="0">
                <a:latin typeface="Times New Roman" panose="02020603050405020304" pitchFamily="18" charset="0"/>
              </a:rPr>
              <a:t>控制器发出中断请求：当</a:t>
            </a:r>
            <a:r>
              <a:rPr lang="en-US" altLang="zh-CN" dirty="0">
                <a:latin typeface="Times New Roman" panose="02020603050405020304" pitchFamily="18" charset="0"/>
              </a:rPr>
              <a:t>DMA</a:t>
            </a:r>
            <a:r>
              <a:rPr lang="zh-CN" altLang="en-US" dirty="0">
                <a:latin typeface="Times New Roman" panose="02020603050405020304" pitchFamily="18" charset="0"/>
              </a:rPr>
              <a:t>传输完成一块数据时，</a:t>
            </a:r>
            <a:r>
              <a:rPr lang="en-US" altLang="zh-CN" dirty="0">
                <a:latin typeface="Times New Roman" panose="02020603050405020304" pitchFamily="18" charset="0"/>
              </a:rPr>
              <a:t>DMA</a:t>
            </a:r>
            <a:r>
              <a:rPr lang="zh-CN" altLang="en-US" dirty="0">
                <a:latin typeface="Times New Roman" panose="02020603050405020304" pitchFamily="18" charset="0"/>
              </a:rPr>
              <a:t>控制器会向</a:t>
            </a:r>
            <a:r>
              <a:rPr lang="en-US" altLang="zh-CN" dirty="0">
                <a:latin typeface="Times New Roman" panose="02020603050405020304" pitchFamily="18" charset="0"/>
              </a:rPr>
              <a:t>CPU</a:t>
            </a:r>
            <a:r>
              <a:rPr lang="zh-CN" altLang="en-US" dirty="0">
                <a:latin typeface="Times New Roman" panose="02020603050405020304" pitchFamily="18" charset="0"/>
              </a:rPr>
              <a:t>发出中断请求，提示数据传输完成。④ 执行“</a:t>
            </a:r>
            <a:r>
              <a:rPr lang="en-US" altLang="zh-CN" dirty="0">
                <a:latin typeface="Times New Roman" panose="02020603050405020304" pitchFamily="18" charset="0"/>
              </a:rPr>
              <a:t>DMA</a:t>
            </a:r>
            <a:r>
              <a:rPr lang="zh-CN" altLang="en-US" dirty="0">
                <a:latin typeface="Times New Roman" panose="02020603050405020304" pitchFamily="18" charset="0"/>
              </a:rPr>
              <a:t>结束”中断服务程序：</a:t>
            </a:r>
            <a:r>
              <a:rPr lang="en-US" altLang="zh-CN" dirty="0">
                <a:latin typeface="Times New Roman" panose="02020603050405020304" pitchFamily="18" charset="0"/>
              </a:rPr>
              <a:t>CPU</a:t>
            </a:r>
            <a:r>
              <a:rPr lang="zh-CN" altLang="en-US" dirty="0">
                <a:latin typeface="Times New Roman" panose="02020603050405020304" pitchFamily="18" charset="0"/>
              </a:rPr>
              <a:t>响应中断请求并执行“</a:t>
            </a:r>
            <a:r>
              <a:rPr lang="en-US" altLang="zh-CN" dirty="0">
                <a:latin typeface="Times New Roman" panose="02020603050405020304" pitchFamily="18" charset="0"/>
              </a:rPr>
              <a:t>DMA</a:t>
            </a:r>
            <a:r>
              <a:rPr lang="zh-CN" altLang="en-US" dirty="0">
                <a:latin typeface="Times New Roman" panose="02020603050405020304" pitchFamily="18" charset="0"/>
              </a:rPr>
              <a:t>结束”中断服务程序，完成数据传输操作。</a:t>
            </a:r>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17600" y="696913"/>
            <a:ext cx="4648200" cy="3486150"/>
          </a:xfrm>
        </p:spPr>
      </p:sp>
      <p:sp>
        <p:nvSpPr>
          <p:cNvPr id="5734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17600" y="696913"/>
            <a:ext cx="4648200" cy="3486150"/>
          </a:xfrm>
        </p:spPr>
      </p:sp>
      <p:sp>
        <p:nvSpPr>
          <p:cNvPr id="5734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r>
              <a:rPr lang="zh-CN" altLang="en-US" dirty="0">
                <a:latin typeface="Times New Roman" panose="02020603050405020304" pitchFamily="18" charset="0"/>
              </a:rPr>
              <a:t>错误的叙述是 </a:t>
            </a:r>
            <a:r>
              <a:rPr lang="en-US" altLang="zh-CN" dirty="0">
                <a:latin typeface="Times New Roman" panose="02020603050405020304" pitchFamily="18" charset="0"/>
              </a:rPr>
              <a:t>C. </a:t>
            </a:r>
            <a:r>
              <a:rPr lang="zh-CN" altLang="en-US" dirty="0">
                <a:latin typeface="Times New Roman" panose="02020603050405020304" pitchFamily="18" charset="0"/>
              </a:rPr>
              <a:t>在整个数据块的传送过程中，</a:t>
            </a:r>
            <a:r>
              <a:rPr lang="en-US" altLang="zh-CN" dirty="0">
                <a:latin typeface="Times New Roman" panose="02020603050405020304" pitchFamily="18" charset="0"/>
              </a:rPr>
              <a:t>CPU</a:t>
            </a:r>
            <a:r>
              <a:rPr lang="zh-CN" altLang="en-US" dirty="0">
                <a:latin typeface="Times New Roman" panose="02020603050405020304" pitchFamily="18" charset="0"/>
              </a:rPr>
              <a:t>不可以访问主存储器。</a:t>
            </a:r>
            <a:endParaRPr lang="en-US" altLang="zh-CN" dirty="0">
              <a:latin typeface="Times New Roman" panose="02020603050405020304" pitchFamily="18" charset="0"/>
            </a:endParaRPr>
          </a:p>
          <a:p>
            <a:pPr marL="228600" indent="-228600">
              <a:buAutoNum type="arabicPeriod"/>
              <a:defRPr/>
            </a:pPr>
            <a:r>
              <a:rPr lang="zh-CN" altLang="en-US" dirty="0">
                <a:latin typeface="Times New Roman" panose="02020603050405020304" pitchFamily="18" charset="0"/>
              </a:rPr>
              <a:t>解释如下：</a:t>
            </a:r>
            <a:r>
              <a:rPr lang="en-US" altLang="zh-CN" dirty="0">
                <a:latin typeface="Times New Roman" panose="02020603050405020304" pitchFamily="18" charset="0"/>
              </a:rPr>
              <a:t>A. </a:t>
            </a:r>
            <a:r>
              <a:rPr lang="zh-CN" altLang="en-US" dirty="0">
                <a:latin typeface="Times New Roman" panose="02020603050405020304" pitchFamily="18" charset="0"/>
              </a:rPr>
              <a:t>每准备好</a:t>
            </a:r>
            <a:r>
              <a:rPr lang="en-US" altLang="zh-CN" dirty="0">
                <a:latin typeface="Times New Roman" panose="02020603050405020304" pitchFamily="18" charset="0"/>
              </a:rPr>
              <a:t>32</a:t>
            </a:r>
            <a:r>
              <a:rPr lang="zh-CN" altLang="en-US" dirty="0">
                <a:latin typeface="Times New Roman" panose="02020603050405020304" pitchFamily="18" charset="0"/>
              </a:rPr>
              <a:t>位数据，</a:t>
            </a:r>
            <a:r>
              <a:rPr lang="en-US" altLang="zh-CN" dirty="0">
                <a:latin typeface="Times New Roman" panose="02020603050405020304" pitchFamily="18" charset="0"/>
              </a:rPr>
              <a:t>DMA</a:t>
            </a:r>
            <a:r>
              <a:rPr lang="zh-CN" altLang="en-US" dirty="0">
                <a:latin typeface="Times New Roman" panose="02020603050405020304" pitchFamily="18" charset="0"/>
              </a:rPr>
              <a:t>控制器就发出一次总线请求：在周期挪用</a:t>
            </a:r>
            <a:r>
              <a:rPr lang="en-US" altLang="zh-CN" dirty="0">
                <a:latin typeface="Times New Roman" panose="02020603050405020304" pitchFamily="18" charset="0"/>
              </a:rPr>
              <a:t>DMA</a:t>
            </a:r>
            <a:r>
              <a:rPr lang="zh-CN" altLang="en-US" dirty="0">
                <a:latin typeface="Times New Roman" panose="02020603050405020304" pitchFamily="18" charset="0"/>
              </a:rPr>
              <a:t>方式下，每</a:t>
            </a:r>
            <a:r>
              <a:rPr lang="en-US" altLang="zh-CN" dirty="0">
                <a:latin typeface="Times New Roman" panose="02020603050405020304" pitchFamily="18" charset="0"/>
              </a:rPr>
              <a:t>32</a:t>
            </a:r>
            <a:r>
              <a:rPr lang="zh-CN" altLang="en-US" dirty="0">
                <a:latin typeface="Times New Roman" panose="02020603050405020304" pitchFamily="18" charset="0"/>
              </a:rPr>
              <a:t>位数据准备好后，</a:t>
            </a:r>
            <a:r>
              <a:rPr lang="en-US" altLang="zh-CN" dirty="0">
                <a:latin typeface="Times New Roman" panose="02020603050405020304" pitchFamily="18" charset="0"/>
              </a:rPr>
              <a:t>DMA</a:t>
            </a:r>
            <a:r>
              <a:rPr lang="zh-CN" altLang="en-US" dirty="0">
                <a:latin typeface="Times New Roman" panose="02020603050405020304" pitchFamily="18" charset="0"/>
              </a:rPr>
              <a:t>控制器会发出总线请求来传送数据，所以这个说法是正确的。</a:t>
            </a:r>
            <a:r>
              <a:rPr lang="en-US" altLang="zh-CN" dirty="0">
                <a:latin typeface="Times New Roman" panose="02020603050405020304" pitchFamily="18" charset="0"/>
              </a:rPr>
              <a:t>B. </a:t>
            </a:r>
            <a:r>
              <a:rPr lang="zh-CN" altLang="en-US" dirty="0">
                <a:latin typeface="Times New Roman" panose="02020603050405020304" pitchFamily="18" charset="0"/>
              </a:rPr>
              <a:t>相对于</a:t>
            </a:r>
            <a:r>
              <a:rPr lang="en-US" altLang="zh-CN" dirty="0">
                <a:latin typeface="Times New Roman" panose="02020603050405020304" pitchFamily="18" charset="0"/>
              </a:rPr>
              <a:t>CPU</a:t>
            </a:r>
            <a:r>
              <a:rPr lang="zh-CN" altLang="en-US" dirty="0">
                <a:latin typeface="Times New Roman" panose="02020603050405020304" pitchFamily="18" charset="0"/>
              </a:rPr>
              <a:t>，</a:t>
            </a:r>
            <a:r>
              <a:rPr lang="en-US" altLang="zh-CN" dirty="0">
                <a:latin typeface="Times New Roman" panose="02020603050405020304" pitchFamily="18" charset="0"/>
              </a:rPr>
              <a:t>DMA</a:t>
            </a:r>
            <a:r>
              <a:rPr lang="zh-CN" altLang="en-US" dirty="0">
                <a:latin typeface="Times New Roman" panose="02020603050405020304" pitchFamily="18" charset="0"/>
              </a:rPr>
              <a:t>控制器的总线使用权的优先级更高：在周期挪用</a:t>
            </a:r>
            <a:r>
              <a:rPr lang="en-US" altLang="zh-CN" dirty="0">
                <a:latin typeface="Times New Roman" panose="02020603050405020304" pitchFamily="18" charset="0"/>
              </a:rPr>
              <a:t>DMA</a:t>
            </a:r>
            <a:r>
              <a:rPr lang="zh-CN" altLang="en-US" dirty="0">
                <a:latin typeface="Times New Roman" panose="02020603050405020304" pitchFamily="18" charset="0"/>
              </a:rPr>
              <a:t>模式下，</a:t>
            </a:r>
            <a:r>
              <a:rPr lang="en-US" altLang="zh-CN" dirty="0">
                <a:latin typeface="Times New Roman" panose="02020603050405020304" pitchFamily="18" charset="0"/>
              </a:rPr>
              <a:t>DMA</a:t>
            </a:r>
            <a:r>
              <a:rPr lang="zh-CN" altLang="en-US" dirty="0">
                <a:latin typeface="Times New Roman" panose="02020603050405020304" pitchFamily="18" charset="0"/>
              </a:rPr>
              <a:t>控制器通常具有比</a:t>
            </a:r>
            <a:r>
              <a:rPr lang="en-US" altLang="zh-CN" dirty="0">
                <a:latin typeface="Times New Roman" panose="02020603050405020304" pitchFamily="18" charset="0"/>
              </a:rPr>
              <a:t>CPU</a:t>
            </a:r>
            <a:r>
              <a:rPr lang="zh-CN" altLang="en-US" dirty="0">
                <a:latin typeface="Times New Roman" panose="02020603050405020304" pitchFamily="18" charset="0"/>
              </a:rPr>
              <a:t>更高的总线优先级，因此这个说法也是正确的。</a:t>
            </a:r>
            <a:r>
              <a:rPr lang="en-US" altLang="zh-CN" dirty="0">
                <a:latin typeface="Times New Roman" panose="02020603050405020304" pitchFamily="18" charset="0"/>
              </a:rPr>
              <a:t>C. </a:t>
            </a:r>
            <a:r>
              <a:rPr lang="zh-CN" altLang="en-US" dirty="0">
                <a:latin typeface="Times New Roman" panose="02020603050405020304" pitchFamily="18" charset="0"/>
              </a:rPr>
              <a:t>在整个数据块的传送过程中，</a:t>
            </a:r>
            <a:r>
              <a:rPr lang="en-US" altLang="zh-CN" dirty="0">
                <a:latin typeface="Times New Roman" panose="02020603050405020304" pitchFamily="18" charset="0"/>
              </a:rPr>
              <a:t>CPU</a:t>
            </a:r>
            <a:r>
              <a:rPr lang="zh-CN" altLang="en-US" dirty="0">
                <a:latin typeface="Times New Roman" panose="02020603050405020304" pitchFamily="18" charset="0"/>
              </a:rPr>
              <a:t>不可以访问主存储器：这一说法是错误的。在周期挪用</a:t>
            </a:r>
            <a:r>
              <a:rPr lang="en-US" altLang="zh-CN" dirty="0">
                <a:latin typeface="Times New Roman" panose="02020603050405020304" pitchFamily="18" charset="0"/>
              </a:rPr>
              <a:t>DMA</a:t>
            </a:r>
            <a:r>
              <a:rPr lang="zh-CN" altLang="en-US" dirty="0">
                <a:latin typeface="Times New Roman" panose="02020603050405020304" pitchFamily="18" charset="0"/>
              </a:rPr>
              <a:t>模式下，</a:t>
            </a:r>
            <a:r>
              <a:rPr lang="en-US" altLang="zh-CN" dirty="0">
                <a:latin typeface="Times New Roman" panose="02020603050405020304" pitchFamily="18" charset="0"/>
              </a:rPr>
              <a:t>DMA</a:t>
            </a:r>
            <a:r>
              <a:rPr lang="zh-CN" altLang="en-US" dirty="0">
                <a:latin typeface="Times New Roman" panose="02020603050405020304" pitchFamily="18" charset="0"/>
              </a:rPr>
              <a:t>控制器每次传送的数据块是以较小的周期为单位进行的，并不会完全阻塞</a:t>
            </a:r>
            <a:r>
              <a:rPr lang="en-US" altLang="zh-CN" dirty="0">
                <a:latin typeface="Times New Roman" panose="02020603050405020304" pitchFamily="18" charset="0"/>
              </a:rPr>
              <a:t>CPU</a:t>
            </a:r>
            <a:r>
              <a:rPr lang="zh-CN" altLang="en-US" dirty="0">
                <a:latin typeface="Times New Roman" panose="02020603050405020304" pitchFamily="18" charset="0"/>
              </a:rPr>
              <a:t>对主存储器的访问。</a:t>
            </a:r>
            <a:r>
              <a:rPr lang="en-US" altLang="zh-CN" dirty="0">
                <a:latin typeface="Times New Roman" panose="02020603050405020304" pitchFamily="18" charset="0"/>
              </a:rPr>
              <a:t>CPU</a:t>
            </a:r>
            <a:r>
              <a:rPr lang="zh-CN" altLang="en-US" dirty="0">
                <a:latin typeface="Times New Roman" panose="02020603050405020304" pitchFamily="18" charset="0"/>
              </a:rPr>
              <a:t>可以在</a:t>
            </a:r>
            <a:r>
              <a:rPr lang="en-US" altLang="zh-CN" dirty="0">
                <a:latin typeface="Times New Roman" panose="02020603050405020304" pitchFamily="18" charset="0"/>
              </a:rPr>
              <a:t>DMA</a:t>
            </a:r>
            <a:r>
              <a:rPr lang="zh-CN" altLang="en-US" dirty="0">
                <a:latin typeface="Times New Roman" panose="02020603050405020304" pitchFamily="18" charset="0"/>
              </a:rPr>
              <a:t>传送的过程中访问主存储器，只是可能会被暂时的总线占用影响访问效率。</a:t>
            </a:r>
            <a:r>
              <a:rPr lang="en-US" altLang="zh-CN" dirty="0">
                <a:latin typeface="Times New Roman" panose="02020603050405020304" pitchFamily="18" charset="0"/>
              </a:rPr>
              <a:t>D. </a:t>
            </a:r>
            <a:r>
              <a:rPr lang="zh-CN" altLang="en-US" dirty="0">
                <a:latin typeface="Times New Roman" panose="02020603050405020304" pitchFamily="18" charset="0"/>
              </a:rPr>
              <a:t>数据块传送结束时，会产生</a:t>
            </a:r>
            <a:r>
              <a:rPr lang="en-US" altLang="zh-CN" dirty="0">
                <a:latin typeface="Times New Roman" panose="02020603050405020304" pitchFamily="18" charset="0"/>
              </a:rPr>
              <a:t>"DMA </a:t>
            </a:r>
            <a:r>
              <a:rPr lang="zh-CN" altLang="en-US" dirty="0">
                <a:latin typeface="Times New Roman" panose="02020603050405020304" pitchFamily="18" charset="0"/>
              </a:rPr>
              <a:t>传送结束</a:t>
            </a:r>
            <a:r>
              <a:rPr lang="en-US" altLang="zh-CN" dirty="0">
                <a:latin typeface="Times New Roman" panose="02020603050405020304" pitchFamily="18" charset="0"/>
              </a:rPr>
              <a:t>"</a:t>
            </a:r>
            <a:r>
              <a:rPr lang="zh-CN" altLang="en-US" dirty="0">
                <a:latin typeface="Times New Roman" panose="02020603050405020304" pitchFamily="18" charset="0"/>
              </a:rPr>
              <a:t>中断请求：</a:t>
            </a:r>
            <a:r>
              <a:rPr lang="en-US" altLang="zh-CN" dirty="0">
                <a:latin typeface="Times New Roman" panose="02020603050405020304" pitchFamily="18" charset="0"/>
              </a:rPr>
              <a:t>DMA</a:t>
            </a:r>
            <a:r>
              <a:rPr lang="zh-CN" altLang="en-US" dirty="0">
                <a:latin typeface="Times New Roman" panose="02020603050405020304" pitchFamily="18" charset="0"/>
              </a:rPr>
              <a:t>传输结束时确实会发出“</a:t>
            </a:r>
            <a:r>
              <a:rPr lang="en-US" altLang="zh-CN" dirty="0">
                <a:latin typeface="Times New Roman" panose="02020603050405020304" pitchFamily="18" charset="0"/>
              </a:rPr>
              <a:t>DMA</a:t>
            </a:r>
            <a:r>
              <a:rPr lang="zh-CN" altLang="en-US" dirty="0">
                <a:latin typeface="Times New Roman" panose="02020603050405020304" pitchFamily="18" charset="0"/>
              </a:rPr>
              <a:t>传送结束”的中断请求，通知</a:t>
            </a:r>
            <a:r>
              <a:rPr lang="en-US" altLang="zh-CN" dirty="0">
                <a:latin typeface="Times New Roman" panose="02020603050405020304" pitchFamily="18" charset="0"/>
              </a:rPr>
              <a:t>CPU</a:t>
            </a:r>
            <a:r>
              <a:rPr lang="zh-CN" altLang="en-US" dirty="0">
                <a:latin typeface="Times New Roman" panose="02020603050405020304" pitchFamily="18" charset="0"/>
              </a:rPr>
              <a:t>数据传输完成。因此，</a:t>
            </a:r>
            <a:r>
              <a:rPr lang="en-US" altLang="zh-CN" dirty="0">
                <a:latin typeface="Times New Roman" panose="02020603050405020304" pitchFamily="18" charset="0"/>
              </a:rPr>
              <a:t>C</a:t>
            </a:r>
            <a:r>
              <a:rPr lang="zh-CN" altLang="en-US" dirty="0">
                <a:latin typeface="Times New Roman" panose="02020603050405020304" pitchFamily="18" charset="0"/>
              </a:rPr>
              <a:t>选项是错误的。</a:t>
            </a:r>
            <a:endParaRPr lang="en-US" altLang="en-US" dirty="0">
              <a:latin typeface="Times New Roman" panose="02020603050405020304" pitchFamily="18" charset="0"/>
            </a:endParaRPr>
          </a:p>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r>
              <a:rPr lang="zh-CN" altLang="en-US" dirty="0">
                <a:latin typeface="Times New Roman" panose="02020603050405020304" pitchFamily="18" charset="0"/>
              </a:rPr>
              <a:t>错误的叙述是 </a:t>
            </a:r>
            <a:r>
              <a:rPr lang="en-US" altLang="zh-CN" dirty="0">
                <a:latin typeface="Times New Roman" panose="02020603050405020304" pitchFamily="18" charset="0"/>
              </a:rPr>
              <a:t>"</a:t>
            </a:r>
            <a:r>
              <a:rPr lang="zh-CN" altLang="en-US" dirty="0">
                <a:latin typeface="Times New Roman" panose="02020603050405020304" pitchFamily="18" charset="0"/>
              </a:rPr>
              <a:t>中断</a:t>
            </a:r>
            <a:r>
              <a:rPr lang="en-US" altLang="zh-CN" dirty="0">
                <a:latin typeface="Times New Roman" panose="02020603050405020304" pitchFamily="18" charset="0"/>
              </a:rPr>
              <a:t>I/O</a:t>
            </a:r>
            <a:r>
              <a:rPr lang="zh-CN" altLang="en-US" dirty="0">
                <a:latin typeface="Times New Roman" panose="02020603050405020304" pitchFamily="18" charset="0"/>
              </a:rPr>
              <a:t>方式适用于所有外部设备，</a:t>
            </a:r>
            <a:r>
              <a:rPr lang="en-US" altLang="zh-CN" dirty="0">
                <a:latin typeface="Times New Roman" panose="02020603050405020304" pitchFamily="18" charset="0"/>
              </a:rPr>
              <a:t>DMA</a:t>
            </a:r>
            <a:r>
              <a:rPr lang="zh-CN" altLang="en-US" dirty="0">
                <a:latin typeface="Times New Roman" panose="02020603050405020304" pitchFamily="18" charset="0"/>
              </a:rPr>
              <a:t>方式仅适用于快速外部设备</a:t>
            </a:r>
            <a:r>
              <a:rPr lang="en-US" altLang="zh-CN" dirty="0">
                <a:latin typeface="Times New Roman" panose="02020603050405020304" pitchFamily="18" charset="0"/>
              </a:rPr>
              <a:t>"</a:t>
            </a:r>
            <a:r>
              <a:rPr lang="zh-CN" altLang="en-US" dirty="0">
                <a:latin typeface="Times New Roman" panose="02020603050405020304" pitchFamily="18" charset="0"/>
              </a:rPr>
              <a:t>。解释如下：中断</a:t>
            </a:r>
            <a:r>
              <a:rPr lang="en-US" altLang="zh-CN" dirty="0">
                <a:latin typeface="Times New Roman" panose="02020603050405020304" pitchFamily="18" charset="0"/>
              </a:rPr>
              <a:t>I/O</a:t>
            </a:r>
            <a:r>
              <a:rPr lang="zh-CN" altLang="en-US" dirty="0">
                <a:latin typeface="Times New Roman" panose="02020603050405020304" pitchFamily="18" charset="0"/>
              </a:rPr>
              <a:t>方式适用于所有外部设备：这是真的。中断</a:t>
            </a:r>
            <a:r>
              <a:rPr lang="en-US" altLang="zh-CN" dirty="0">
                <a:latin typeface="Times New Roman" panose="02020603050405020304" pitchFamily="18" charset="0"/>
              </a:rPr>
              <a:t>I/O</a:t>
            </a:r>
            <a:r>
              <a:rPr lang="zh-CN" altLang="en-US" dirty="0">
                <a:latin typeface="Times New Roman" panose="02020603050405020304" pitchFamily="18" charset="0"/>
              </a:rPr>
              <a:t>可以用于各种类型的外部设备，无论设备的速度快慢，只要设备支持中断机制，就可以使用中断</a:t>
            </a:r>
            <a:r>
              <a:rPr lang="en-US" altLang="zh-CN" dirty="0">
                <a:latin typeface="Times New Roman" panose="02020603050405020304" pitchFamily="18" charset="0"/>
              </a:rPr>
              <a:t>I/O</a:t>
            </a:r>
            <a:r>
              <a:rPr lang="zh-CN" altLang="en-US" dirty="0">
                <a:latin typeface="Times New Roman" panose="02020603050405020304" pitchFamily="18" charset="0"/>
              </a:rPr>
              <a:t>方式来传输数据。</a:t>
            </a:r>
            <a:r>
              <a:rPr lang="en-US" altLang="zh-CN" dirty="0">
                <a:latin typeface="Times New Roman" panose="02020603050405020304" pitchFamily="18" charset="0"/>
              </a:rPr>
              <a:t>DMA</a:t>
            </a:r>
            <a:r>
              <a:rPr lang="zh-CN" altLang="en-US" dirty="0">
                <a:latin typeface="Times New Roman" panose="02020603050405020304" pitchFamily="18" charset="0"/>
              </a:rPr>
              <a:t>方式仅适用于快速外部设备：这个说法是错误的。虽然</a:t>
            </a:r>
            <a:r>
              <a:rPr lang="en-US" altLang="zh-CN" dirty="0">
                <a:latin typeface="Times New Roman" panose="02020603050405020304" pitchFamily="18" charset="0"/>
              </a:rPr>
              <a:t>DMA</a:t>
            </a:r>
            <a:r>
              <a:rPr lang="zh-CN" altLang="en-US" dirty="0">
                <a:latin typeface="Times New Roman" panose="02020603050405020304" pitchFamily="18" charset="0"/>
              </a:rPr>
              <a:t>方式通常用于需要大量数据传输的设备（如磁盘、网络接口等），但并不是仅限于“快速”设备。</a:t>
            </a:r>
            <a:r>
              <a:rPr lang="en-US" altLang="zh-CN" dirty="0">
                <a:latin typeface="Times New Roman" panose="02020603050405020304" pitchFamily="18" charset="0"/>
              </a:rPr>
              <a:t>DMA</a:t>
            </a:r>
            <a:r>
              <a:rPr lang="zh-CN" altLang="en-US" dirty="0">
                <a:latin typeface="Times New Roman" panose="02020603050405020304" pitchFamily="18" charset="0"/>
              </a:rPr>
              <a:t>可以用于各种设备，只要设备需要高效的数据传输，并且</a:t>
            </a:r>
            <a:r>
              <a:rPr lang="en-US" altLang="zh-CN" dirty="0">
                <a:latin typeface="Times New Roman" panose="02020603050405020304" pitchFamily="18" charset="0"/>
              </a:rPr>
              <a:t>DMA</a:t>
            </a:r>
            <a:r>
              <a:rPr lang="zh-CN" altLang="en-US" dirty="0">
                <a:latin typeface="Times New Roman" panose="02020603050405020304" pitchFamily="18" charset="0"/>
              </a:rPr>
              <a:t>硬件支持。其他选项分析：中断</a:t>
            </a:r>
            <a:r>
              <a:rPr lang="en-US" altLang="zh-CN" dirty="0">
                <a:latin typeface="Times New Roman" panose="02020603050405020304" pitchFamily="18" charset="0"/>
              </a:rPr>
              <a:t>I/O</a:t>
            </a:r>
            <a:r>
              <a:rPr lang="zh-CN" altLang="en-US" dirty="0">
                <a:latin typeface="Times New Roman" panose="02020603050405020304" pitchFamily="18" charset="0"/>
              </a:rPr>
              <a:t>方式请求的是</a:t>
            </a:r>
            <a:r>
              <a:rPr lang="en-US" altLang="zh-CN" dirty="0">
                <a:latin typeface="Times New Roman" panose="02020603050405020304" pitchFamily="18" charset="0"/>
              </a:rPr>
              <a:t>CPU</a:t>
            </a:r>
            <a:r>
              <a:rPr lang="zh-CN" altLang="en-US" dirty="0">
                <a:latin typeface="Times New Roman" panose="02020603050405020304" pitchFamily="18" charset="0"/>
              </a:rPr>
              <a:t>处理时间，</a:t>
            </a:r>
            <a:r>
              <a:rPr lang="en-US" altLang="zh-CN" dirty="0">
                <a:latin typeface="Times New Roman" panose="02020603050405020304" pitchFamily="18" charset="0"/>
              </a:rPr>
              <a:t>DMA</a:t>
            </a:r>
            <a:r>
              <a:rPr lang="zh-CN" altLang="en-US" dirty="0">
                <a:latin typeface="Times New Roman" panose="02020603050405020304" pitchFamily="18" charset="0"/>
              </a:rPr>
              <a:t>方式请求的是总线使用权：这是真的。中断</a:t>
            </a:r>
            <a:r>
              <a:rPr lang="en-US" altLang="zh-CN" dirty="0">
                <a:latin typeface="Times New Roman" panose="02020603050405020304" pitchFamily="18" charset="0"/>
              </a:rPr>
              <a:t>I/O</a:t>
            </a:r>
            <a:r>
              <a:rPr lang="zh-CN" altLang="en-US" dirty="0">
                <a:latin typeface="Times New Roman" panose="02020603050405020304" pitchFamily="18" charset="0"/>
              </a:rPr>
              <a:t>依赖</a:t>
            </a:r>
            <a:r>
              <a:rPr lang="en-US" altLang="zh-CN" dirty="0">
                <a:latin typeface="Times New Roman" panose="02020603050405020304" pitchFamily="18" charset="0"/>
              </a:rPr>
              <a:t>CPU</a:t>
            </a:r>
            <a:r>
              <a:rPr lang="zh-CN" altLang="en-US" dirty="0">
                <a:latin typeface="Times New Roman" panose="02020603050405020304" pitchFamily="18" charset="0"/>
              </a:rPr>
              <a:t>响应中断进行数据处理，而</a:t>
            </a:r>
            <a:r>
              <a:rPr lang="en-US" altLang="zh-CN" dirty="0">
                <a:latin typeface="Times New Roman" panose="02020603050405020304" pitchFamily="18" charset="0"/>
              </a:rPr>
              <a:t>DMA</a:t>
            </a:r>
            <a:r>
              <a:rPr lang="zh-CN" altLang="en-US" dirty="0">
                <a:latin typeface="Times New Roman" panose="02020603050405020304" pitchFamily="18" charset="0"/>
              </a:rPr>
              <a:t>依赖直接内存访问控制器来管理数据传输，不需要</a:t>
            </a:r>
            <a:r>
              <a:rPr lang="en-US" altLang="zh-CN" dirty="0">
                <a:latin typeface="Times New Roman" panose="02020603050405020304" pitchFamily="18" charset="0"/>
              </a:rPr>
              <a:t>CPU</a:t>
            </a:r>
            <a:r>
              <a:rPr lang="zh-CN" altLang="en-US" dirty="0">
                <a:latin typeface="Times New Roman" panose="02020603050405020304" pitchFamily="18" charset="0"/>
              </a:rPr>
              <a:t>参与数据传送过程。中断响应发生在一条指令执行结束后，</a:t>
            </a:r>
            <a:r>
              <a:rPr lang="en-US" altLang="zh-CN" dirty="0">
                <a:latin typeface="Times New Roman" panose="02020603050405020304" pitchFamily="18" charset="0"/>
              </a:rPr>
              <a:t>DMA</a:t>
            </a:r>
            <a:r>
              <a:rPr lang="zh-CN" altLang="en-US" dirty="0">
                <a:latin typeface="Times New Roman" panose="02020603050405020304" pitchFamily="18" charset="0"/>
              </a:rPr>
              <a:t>响应发生在一个总线事务完成后：这也是真的。中断响应在指令执行完成后由</a:t>
            </a:r>
            <a:r>
              <a:rPr lang="en-US" altLang="zh-CN" dirty="0">
                <a:latin typeface="Times New Roman" panose="02020603050405020304" pitchFamily="18" charset="0"/>
              </a:rPr>
              <a:t>CPU</a:t>
            </a:r>
            <a:r>
              <a:rPr lang="zh-CN" altLang="en-US" dirty="0">
                <a:latin typeface="Times New Roman" panose="02020603050405020304" pitchFamily="18" charset="0"/>
              </a:rPr>
              <a:t>进行处理，而</a:t>
            </a:r>
            <a:r>
              <a:rPr lang="en-US" altLang="zh-CN" dirty="0">
                <a:latin typeface="Times New Roman" panose="02020603050405020304" pitchFamily="18" charset="0"/>
              </a:rPr>
              <a:t>DMA</a:t>
            </a:r>
            <a:r>
              <a:rPr lang="zh-CN" altLang="en-US" dirty="0">
                <a:latin typeface="Times New Roman" panose="02020603050405020304" pitchFamily="18" charset="0"/>
              </a:rPr>
              <a:t>响应是由</a:t>
            </a:r>
            <a:r>
              <a:rPr lang="en-US" altLang="zh-CN" dirty="0">
                <a:latin typeface="Times New Roman" panose="02020603050405020304" pitchFamily="18" charset="0"/>
              </a:rPr>
              <a:t>DMA</a:t>
            </a:r>
            <a:r>
              <a:rPr lang="zh-CN" altLang="en-US" dirty="0">
                <a:latin typeface="Times New Roman" panose="02020603050405020304" pitchFamily="18" charset="0"/>
              </a:rPr>
              <a:t>控制器在总线事务完成时进行的。</a:t>
            </a:r>
            <a:endParaRPr lang="en-US" altLang="en-US"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1117600" y="696913"/>
            <a:ext cx="4648200" cy="3486150"/>
          </a:xfrm>
        </p:spPr>
      </p:sp>
      <p:sp>
        <p:nvSpPr>
          <p:cNvPr id="6553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r>
              <a:rPr lang="en-US" altLang="en-US" dirty="0">
                <a:latin typeface="Times New Roman" panose="02020603050405020304" pitchFamily="18" charset="0"/>
              </a:rPr>
              <a:t>A trap is a software-generated interrupt caused either by an error (for example, </a:t>
            </a:r>
            <a:r>
              <a:rPr lang="en-US" altLang="en-US" b="1" dirty="0">
                <a:latin typeface="Times New Roman" panose="02020603050405020304" pitchFamily="18" charset="0"/>
              </a:rPr>
              <a:t>division by zero </a:t>
            </a:r>
            <a:r>
              <a:rPr lang="en-US" altLang="en-US" dirty="0">
                <a:latin typeface="Times New Roman" panose="02020603050405020304" pitchFamily="18" charset="0"/>
              </a:rPr>
              <a:t>or </a:t>
            </a:r>
            <a:r>
              <a:rPr lang="en-US" altLang="en-US" b="1" dirty="0">
                <a:latin typeface="Times New Roman" panose="02020603050405020304" pitchFamily="18" charset="0"/>
              </a:rPr>
              <a:t>invalid memory access</a:t>
            </a:r>
            <a:r>
              <a:rPr lang="en-US" altLang="en-US" dirty="0">
                <a:latin typeface="Times New Roman" panose="02020603050405020304" pitchFamily="18" charset="0"/>
              </a:rPr>
              <a:t>); or by a specific request from user program that an OS service be performed</a:t>
            </a:r>
          </a:p>
          <a:p>
            <a:pPr marL="228600" indent="-228600">
              <a:buFontTx/>
              <a:buAutoNum type="arabicPeriod"/>
            </a:pPr>
            <a:r>
              <a:rPr lang="en-US" altLang="en-US" dirty="0">
                <a:latin typeface="Times New Roman" panose="02020603050405020304" pitchFamily="18" charset="0"/>
              </a:rPr>
              <a:t>For example, if a process gets stuck in an infinite loop, this loop could prevent the correct operation of many other processes</a:t>
            </a:r>
          </a:p>
          <a:p>
            <a:pPr marL="228600" indent="-228600">
              <a:buFontTx/>
              <a:buAutoNum type="arabicPeriod"/>
            </a:pPr>
            <a:r>
              <a:rPr lang="en-US" altLang="en-US" dirty="0">
                <a:latin typeface="Times New Roman" panose="02020603050405020304" pitchFamily="18" charset="0"/>
              </a:rPr>
              <a:t>More subtle errors can occur in a multiprogramming system, where one erroneous program might modify another program, the data of another program, or even the operating system itself</a:t>
            </a:r>
          </a:p>
          <a:p>
            <a:pPr marL="228600" indent="-228600">
              <a:buFontTx/>
              <a:buAutoNum type="arabicPeriod"/>
            </a:pPr>
            <a:endParaRPr lang="en-US" altLang="en-US" dirty="0">
              <a:latin typeface="Times New Roman" panose="02020603050405020304" pitchFamily="18" charset="0"/>
            </a:endParaRPr>
          </a:p>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17600" y="696913"/>
            <a:ext cx="4648200" cy="3486150"/>
          </a:xfrm>
        </p:spPr>
      </p:sp>
      <p:sp>
        <p:nvSpPr>
          <p:cNvPr id="6758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17600" y="696913"/>
            <a:ext cx="4648200" cy="3486150"/>
          </a:xfrm>
        </p:spPr>
      </p:sp>
      <p:sp>
        <p:nvSpPr>
          <p:cNvPr id="6758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17600" y="696913"/>
            <a:ext cx="4648200" cy="3486150"/>
          </a:xfrm>
        </p:spPr>
      </p:sp>
      <p:sp>
        <p:nvSpPr>
          <p:cNvPr id="6963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17600" y="696913"/>
            <a:ext cx="4648200" cy="3486150"/>
          </a:xfrm>
        </p:spPr>
      </p:sp>
      <p:sp>
        <p:nvSpPr>
          <p:cNvPr id="7168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17600" y="696913"/>
            <a:ext cx="4648200" cy="3486150"/>
          </a:xfrm>
        </p:spPr>
      </p:sp>
      <p:sp>
        <p:nvSpPr>
          <p:cNvPr id="7373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17600" y="696913"/>
            <a:ext cx="4648200" cy="3486150"/>
          </a:xfrm>
        </p:spPr>
      </p:sp>
      <p:sp>
        <p:nvSpPr>
          <p:cNvPr id="7577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a:defRPr/>
            </a:pPr>
            <a:endParaRPr lang="en-US" altLang="en-US" dirty="0">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p:spPr>
      </p:sp>
      <p:sp>
        <p:nvSpPr>
          <p:cNvPr id="8192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FontTx/>
              <a:buAutoNum type="arabicPeriod"/>
              <a:defRPr/>
            </a:pPr>
            <a:r>
              <a:rPr lang="en-US" altLang="en-US" dirty="0">
                <a:latin typeface="Times New Roman" panose="02020603050405020304" pitchFamily="18" charset="0"/>
              </a:rPr>
              <a:t>When the computer system is executing on behalf of a user application, the system is in user mode; However, when a user application requests a service from the operating system (via a system call), the system must transition from user to kernel mode to fulfill the request</a:t>
            </a:r>
          </a:p>
          <a:p>
            <a:pPr>
              <a:defRPr/>
            </a:pPr>
            <a:r>
              <a:rPr lang="en-US" altLang="en-US" dirty="0">
                <a:latin typeface="Times New Roman" panose="02020603050405020304" pitchFamily="18" charset="0"/>
              </a:rPr>
              <a:t>%%%%%%%%%%%%%%%%%%%</a:t>
            </a:r>
          </a:p>
          <a:p>
            <a:pPr marL="228600" indent="-228600">
              <a:buFontTx/>
              <a:buAutoNum type="arabicPeriod"/>
              <a:defRPr/>
            </a:pPr>
            <a:r>
              <a:rPr lang="en-US" altLang="en-US" dirty="0">
                <a:latin typeface="Times New Roman" panose="02020603050405020304" pitchFamily="18" charset="0"/>
              </a:rPr>
              <a:t>We accomplish this protection by designating some of the machine instructions </a:t>
            </a:r>
            <a:r>
              <a:rPr lang="en-US" altLang="en-US" b="1" dirty="0">
                <a:latin typeface="Times New Roman" panose="02020603050405020304" pitchFamily="18" charset="0"/>
              </a:rPr>
              <a:t>that may cause harm </a:t>
            </a:r>
            <a:r>
              <a:rPr lang="en-US" altLang="en-US" dirty="0">
                <a:latin typeface="Times New Roman" panose="02020603050405020304" pitchFamily="18" charset="0"/>
              </a:rPr>
              <a:t>as privileged instructions</a:t>
            </a:r>
          </a:p>
          <a:p>
            <a:pPr marL="228600" indent="-228600">
              <a:buFontTx/>
              <a:buAutoNum type="arabicPeriod"/>
              <a:defRPr/>
            </a:pPr>
            <a:r>
              <a:rPr lang="en-US" altLang="en-US" dirty="0">
                <a:latin typeface="Times New Roman" panose="02020603050405020304" pitchFamily="18" charset="0"/>
              </a:rPr>
              <a:t>If an attempt is made to execute a privileged instruction in user mode, the hardware does not execute the instruction but rather treats it as illegal and traps it to the operating system </a:t>
            </a:r>
          </a:p>
          <a:p>
            <a:pPr>
              <a:defRPr/>
            </a:pPr>
            <a:endParaRPr lang="en-US" altLang="en-US" dirty="0">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17600" y="696913"/>
            <a:ext cx="4648200" cy="3486150"/>
          </a:xfrm>
        </p:spPr>
      </p:sp>
      <p:sp>
        <p:nvSpPr>
          <p:cNvPr id="8397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17600" y="696913"/>
            <a:ext cx="4648200" cy="3486150"/>
          </a:xfrm>
        </p:spPr>
      </p:sp>
      <p:sp>
        <p:nvSpPr>
          <p:cNvPr id="7782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17600" y="696913"/>
            <a:ext cx="4648200" cy="3486150"/>
          </a:xfrm>
        </p:spPr>
      </p:sp>
      <p:sp>
        <p:nvSpPr>
          <p:cNvPr id="7987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228600" indent="-228600">
              <a:buFontTx/>
              <a:buAutoNum type="arabicPeriod"/>
            </a:pPr>
            <a:endParaRPr lang="en-US" altLang="en-US" dirty="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17600" y="696913"/>
            <a:ext cx="4648200" cy="3486150"/>
          </a:xfrm>
        </p:spPr>
      </p:sp>
      <p:sp>
        <p:nvSpPr>
          <p:cNvPr id="8601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17600" y="696913"/>
            <a:ext cx="4648200" cy="3486150"/>
          </a:xfrm>
        </p:spPr>
      </p:sp>
      <p:sp>
        <p:nvSpPr>
          <p:cNvPr id="8806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17600" y="696913"/>
            <a:ext cx="4648200" cy="3486150"/>
          </a:xfrm>
        </p:spPr>
      </p:sp>
      <p:sp>
        <p:nvSpPr>
          <p:cNvPr id="9011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p:spPr>
        <p:txBody>
          <a:bodyPr wrap="square" lIns="92438" tIns="46219" rIns="92438" bIns="46219" anchor="t"/>
          <a:lstStyle/>
          <a:p>
            <a:pPr marL="228600" indent="-228600">
              <a:buAutoNum type="arabicPeriod"/>
              <a:defRPr/>
            </a:pPr>
            <a:endParaRPr lang="en-US" altLang="en-US" dirty="0">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17600" y="696913"/>
            <a:ext cx="4648200" cy="3486150"/>
          </a:xfrm>
        </p:spPr>
      </p:sp>
      <p:sp>
        <p:nvSpPr>
          <p:cNvPr id="6246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17600" y="696913"/>
            <a:ext cx="4648200" cy="3486150"/>
          </a:xfrm>
        </p:spPr>
      </p:sp>
      <p:sp>
        <p:nvSpPr>
          <p:cNvPr id="6246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17600" y="696913"/>
            <a:ext cx="4648200" cy="3486150"/>
          </a:xfrm>
        </p:spPr>
      </p:sp>
      <p:sp>
        <p:nvSpPr>
          <p:cNvPr id="6451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17600" y="696913"/>
            <a:ext cx="4648200" cy="3486150"/>
          </a:xfrm>
        </p:spPr>
      </p:sp>
      <p:sp>
        <p:nvSpPr>
          <p:cNvPr id="665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p:spPr>
      </p:sp>
      <p:sp>
        <p:nvSpPr>
          <p:cNvPr id="686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p:spPr>
      </p:sp>
      <p:sp>
        <p:nvSpPr>
          <p:cNvPr id="6861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17600" y="696913"/>
            <a:ext cx="4648200" cy="3486150"/>
          </a:xfrm>
        </p:spPr>
      </p:sp>
      <p:sp>
        <p:nvSpPr>
          <p:cNvPr id="7065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p:spPr>
      </p:sp>
      <p:sp>
        <p:nvSpPr>
          <p:cNvPr id="727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17600" y="696913"/>
            <a:ext cx="4648200" cy="3486150"/>
          </a:xfrm>
        </p:spPr>
      </p:sp>
      <p:sp>
        <p:nvSpPr>
          <p:cNvPr id="7475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17600" y="696913"/>
            <a:ext cx="4648200" cy="3486150"/>
          </a:xfrm>
        </p:spPr>
      </p:sp>
      <p:sp>
        <p:nvSpPr>
          <p:cNvPr id="768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17600" y="696913"/>
            <a:ext cx="4648200" cy="3486150"/>
          </a:xfrm>
        </p:spPr>
      </p:sp>
      <p:sp>
        <p:nvSpPr>
          <p:cNvPr id="7885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17600" y="696913"/>
            <a:ext cx="4648200" cy="3486150"/>
          </a:xfrm>
        </p:spPr>
      </p:sp>
      <p:sp>
        <p:nvSpPr>
          <p:cNvPr id="8089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17600" y="696913"/>
            <a:ext cx="4648200" cy="3486150"/>
          </a:xfrm>
        </p:spPr>
      </p:sp>
      <p:sp>
        <p:nvSpPr>
          <p:cNvPr id="8294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17600" y="696913"/>
            <a:ext cx="4648200" cy="3486150"/>
          </a:xfrm>
        </p:spPr>
      </p:sp>
      <p:sp>
        <p:nvSpPr>
          <p:cNvPr id="8499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17600" y="696913"/>
            <a:ext cx="4648200" cy="3486150"/>
          </a:xfrm>
        </p:spPr>
      </p:sp>
      <p:sp>
        <p:nvSpPr>
          <p:cNvPr id="870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17600" y="696913"/>
            <a:ext cx="4648200" cy="3486150"/>
          </a:xfrm>
        </p:spPr>
      </p:sp>
      <p:sp>
        <p:nvSpPr>
          <p:cNvPr id="890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17600" y="696913"/>
            <a:ext cx="4648200" cy="3486150"/>
          </a:xfrm>
        </p:spPr>
      </p:sp>
      <p:sp>
        <p:nvSpPr>
          <p:cNvPr id="91139"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17600" y="696913"/>
            <a:ext cx="4648200" cy="3486150"/>
          </a:xfrm>
        </p:spPr>
      </p:sp>
      <p:sp>
        <p:nvSpPr>
          <p:cNvPr id="9318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17600" y="696913"/>
            <a:ext cx="4648200" cy="3486150"/>
          </a:xfrm>
        </p:spPr>
      </p:sp>
      <p:sp>
        <p:nvSpPr>
          <p:cNvPr id="9523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p:spPr>
      </p:sp>
      <p:sp>
        <p:nvSpPr>
          <p:cNvPr id="9216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17600" y="696913"/>
            <a:ext cx="4648200" cy="3486150"/>
          </a:xfrm>
        </p:spPr>
      </p:sp>
      <p:sp>
        <p:nvSpPr>
          <p:cNvPr id="4915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17600" y="696913"/>
            <a:ext cx="4648200" cy="3486150"/>
          </a:xfrm>
        </p:spPr>
      </p:sp>
      <p:sp>
        <p:nvSpPr>
          <p:cNvPr id="5120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17600" y="696913"/>
            <a:ext cx="4648200" cy="3486150"/>
          </a:xfrm>
        </p:spPr>
      </p:sp>
      <p:sp>
        <p:nvSpPr>
          <p:cNvPr id="5325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17600" y="696913"/>
            <a:ext cx="4648200" cy="3486150"/>
          </a:xfrm>
        </p:spPr>
      </p:sp>
      <p:sp>
        <p:nvSpPr>
          <p:cNvPr id="563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p:spPr>
      </p:sp>
      <p:sp>
        <p:nvSpPr>
          <p:cNvPr id="2150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17600" y="696913"/>
            <a:ext cx="4648200" cy="3486150"/>
          </a:xfrm>
        </p:spPr>
      </p:sp>
      <p:sp>
        <p:nvSpPr>
          <p:cNvPr id="103427"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17600" y="696913"/>
            <a:ext cx="4648200" cy="3486150"/>
          </a:xfrm>
        </p:spPr>
      </p:sp>
      <p:sp>
        <p:nvSpPr>
          <p:cNvPr id="105475"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p:spPr>
      </p:sp>
      <p:sp>
        <p:nvSpPr>
          <p:cNvPr id="1075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p:spPr>
      </p:sp>
      <p:sp>
        <p:nvSpPr>
          <p:cNvPr id="10752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17600" y="696913"/>
            <a:ext cx="4648200" cy="3486150"/>
          </a:xfrm>
        </p:spPr>
      </p:sp>
      <p:sp>
        <p:nvSpPr>
          <p:cNvPr id="10957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17600" y="696913"/>
            <a:ext cx="4648200" cy="3486150"/>
          </a:xfrm>
        </p:spPr>
      </p:sp>
      <p:sp>
        <p:nvSpPr>
          <p:cNvPr id="112643"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a:xfrm>
            <a:off x="1117600" y="696913"/>
            <a:ext cx="4648200" cy="3486150"/>
          </a:xfrm>
        </p:spPr>
      </p:sp>
      <p:sp>
        <p:nvSpPr>
          <p:cNvPr id="114691" name="Rectangle 3"/>
          <p:cNvSpPr>
            <a:spLocks noGrp="1" noChangeArrowheads="1"/>
          </p:cNvSpPr>
          <p:nvPr>
            <p:ph type="body" idx="1"/>
          </p:nvPr>
        </p:nvSpPr>
        <p:spPr>
          <a:xfrm>
            <a:off x="688975" y="4416425"/>
            <a:ext cx="55054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itchFamily="2" charset="0"/>
                <a:ea typeface="MS PGothic" panose="020B0600070205080204" pitchFamily="34" charset="-128"/>
              </a:defRPr>
            </a:lvl1pPr>
            <a:lvl2pPr marL="742950" indent="-285750" defTabSz="927100">
              <a:defRPr sz="1600">
                <a:solidFill>
                  <a:schemeClr val="tx1"/>
                </a:solidFill>
                <a:latin typeface="Helvetica" pitchFamily="2" charset="0"/>
                <a:ea typeface="MS PGothic" panose="020B0600070205080204" pitchFamily="34" charset="-128"/>
              </a:defRPr>
            </a:lvl2pPr>
            <a:lvl3pPr marL="1143000" indent="-228600" defTabSz="927100">
              <a:defRPr sz="1600">
                <a:solidFill>
                  <a:schemeClr val="tx1"/>
                </a:solidFill>
                <a:latin typeface="Helvetica" pitchFamily="2" charset="0"/>
                <a:ea typeface="MS PGothic" panose="020B0600070205080204" pitchFamily="34" charset="-128"/>
              </a:defRPr>
            </a:lvl3pPr>
            <a:lvl4pPr marL="1600200" indent="-228600" defTabSz="927100">
              <a:defRPr sz="1600">
                <a:solidFill>
                  <a:schemeClr val="tx1"/>
                </a:solidFill>
                <a:latin typeface="Helvetica" pitchFamily="2" charset="0"/>
                <a:ea typeface="MS PGothic" panose="020B0600070205080204" pitchFamily="34" charset="-128"/>
              </a:defRPr>
            </a:lvl4pPr>
            <a:lvl5pPr marL="2057400" indent="-228600" defTabSz="927100">
              <a:defRPr sz="1600">
                <a:solidFill>
                  <a:schemeClr val="tx1"/>
                </a:solidFill>
                <a:latin typeface="Helvetica" pitchFamily="2" charset="0"/>
                <a:ea typeface="MS PGothic"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9pPr>
          </a:lstStyle>
          <a:p>
            <a:fld id="{343EEFE5-6DA2-40BF-A0EC-25CFBBE7FBB4}" type="slidenum">
              <a:rPr lang="en-US" altLang="en-US" sz="1200"/>
              <a:t>116</a:t>
            </a:fld>
            <a:endParaRPr lang="en-US" altLang="en-US" sz="120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xfrm>
            <a:off x="931414" y="4410392"/>
            <a:ext cx="5134874" cy="4175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t>120</a:t>
            </a:fld>
            <a:endParaRPr lang="en-US" altLang="en-US">
              <a:latin typeface="Times New Roman" panose="02020603050405020304" pitchFamily="18" charset="0"/>
            </a:endParaRPr>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p:cNvSpPr txBox="1">
            <a:spLocks noChangeArrowheads="1"/>
          </p:cNvSpPr>
          <p:nvPr/>
        </p:nvSpPr>
        <p:spPr bwMode="auto">
          <a:xfrm>
            <a:off x="4257675" y="6613525"/>
            <a:ext cx="444500" cy="244475"/>
          </a:xfrm>
          <a:prstGeom prst="rect">
            <a:avLst/>
          </a:prstGeom>
          <a:noFill/>
          <a:ln w="9525">
            <a:noFill/>
            <a:miter lim="800000"/>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t>‹#›</a:t>
            </a:fld>
            <a:endParaRPr lang="en-US" altLang="en-US" sz="1000" b="1">
              <a:solidFill>
                <a:srgbClr val="006699"/>
              </a:solidFill>
              <a:latin typeface="Helvetica" pitchFamily="2"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max@yeah.net"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mailto:c.program@yeah.ne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31.jpeg"/></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8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9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9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9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2.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9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3.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xml"/><Relationship Id="rId4" Type="http://schemas.openxmlformats.org/officeDocument/2006/relationships/image" Target="../media/image70.emf"/></Relationships>
</file>

<file path=ppt/slides/_rels/slide118.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矩形 1"/>
          <p:cNvSpPr/>
          <p:nvPr/>
        </p:nvSpPr>
        <p:spPr>
          <a:xfrm>
            <a:off x="378460" y="2569845"/>
            <a:ext cx="8587105" cy="3476625"/>
          </a:xfrm>
          <a:prstGeom prst="rect">
            <a:avLst/>
          </a:prstGeom>
          <a:noFill/>
          <a:ln w="9525">
            <a:noFill/>
          </a:ln>
        </p:spPr>
        <p:txBody>
          <a:bodyPr wrap="square">
            <a:spAutoFit/>
          </a:bodyPr>
          <a:lstStyle/>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Dr. </a:t>
            </a:r>
            <a:r>
              <a:rPr lang="zh-CN" altLang="en-US" sz="2000" b="0" dirty="0">
                <a:solidFill>
                  <a:srgbClr val="002060"/>
                </a:solidFill>
                <a:latin typeface="Verdana" panose="020B0604030504040204" pitchFamily="34" charset="0"/>
                <a:ea typeface="黑体" panose="02010609060101010101" pitchFamily="49" charset="-122"/>
              </a:rPr>
              <a:t>何明昕  </a:t>
            </a:r>
            <a:r>
              <a:rPr lang="en-US" altLang="zh-CN" sz="2000" b="0" dirty="0">
                <a:solidFill>
                  <a:srgbClr val="002060"/>
                </a:solidFill>
                <a:latin typeface="Comic Sans MS" panose="030F0702030302020204" pitchFamily="66" charset="0"/>
                <a:ea typeface="黑体" panose="02010609060101010101" pitchFamily="49" charset="-122"/>
              </a:rPr>
              <a:t>HE Mingxin, MX, Max</a:t>
            </a: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Send your email to </a:t>
            </a:r>
            <a:r>
              <a:rPr lang="en-US" altLang="zh-CN" sz="2000" b="0" dirty="0">
                <a:solidFill>
                  <a:srgbClr val="0070C0"/>
                </a:solidFill>
                <a:latin typeface="Verdana" panose="020B0604030504040204" pitchFamily="34" charset="0"/>
                <a:ea typeface="黑体" panose="02010609060101010101" pitchFamily="49" charset="-122"/>
                <a:hlinkClick r:id="rId3"/>
              </a:rPr>
              <a:t>c.max@yeah.net</a:t>
            </a:r>
            <a:r>
              <a:rPr lang="en-US" altLang="zh-CN" sz="2000" b="0" dirty="0">
                <a:solidFill>
                  <a:srgbClr val="002060"/>
                </a:solidFill>
                <a:latin typeface="Verdana" panose="020B0604030504040204" pitchFamily="34" charset="0"/>
                <a:ea typeface="黑体" panose="02010609060101010101" pitchFamily="49" charset="-122"/>
              </a:rPr>
              <a:t>  with</a:t>
            </a: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a subject like:  </a:t>
            </a:r>
            <a:r>
              <a:rPr lang="en-US" altLang="zh-CN" sz="2000" b="0" dirty="0">
                <a:solidFill>
                  <a:srgbClr val="00B0F0"/>
                </a:solidFill>
                <a:latin typeface="Comic Sans MS" panose="030F0702030302020204" pitchFamily="66" charset="0"/>
                <a:ea typeface="黑体" panose="02010609060101010101" pitchFamily="49" charset="-122"/>
              </a:rPr>
              <a:t>OS-id</a:t>
            </a:r>
            <a:r>
              <a:rPr lang="en-US" altLang="zh-CN" sz="2000" b="0" i="1" dirty="0">
                <a:solidFill>
                  <a:srgbClr val="00B0F0"/>
                </a:solidFill>
                <a:latin typeface="Comic Sans MS" panose="030F0702030302020204" pitchFamily="66" charset="0"/>
                <a:ea typeface="黑体" panose="02010609060101010101" pitchFamily="49" charset="-122"/>
              </a:rPr>
              <a:t>-Andy: On What </a:t>
            </a:r>
            <a:r>
              <a:rPr lang="en-US" altLang="zh-CN" sz="2000" b="0" i="1" dirty="0">
                <a:solidFill>
                  <a:srgbClr val="00B0F0"/>
                </a:solidFill>
                <a:latin typeface="Verdana" panose="020B0604030504040204" pitchFamily="34" charset="0"/>
                <a:ea typeface="黑体" panose="02010609060101010101" pitchFamily="49" charset="-122"/>
              </a:rPr>
              <a:t>…</a:t>
            </a:r>
            <a:endParaRPr lang="en-US" altLang="zh-CN" sz="2000" b="0" i="1" dirty="0">
              <a:solidFill>
                <a:srgbClr val="002060"/>
              </a:solidFill>
              <a:latin typeface="Verdana" panose="020B0604030504040204" pitchFamily="34" charset="0"/>
              <a:ea typeface="黑体" panose="02010609060101010101" pitchFamily="49" charset="-122"/>
            </a:endParaRPr>
          </a:p>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Download from </a:t>
            </a:r>
            <a:r>
              <a:rPr lang="en-US" altLang="zh-CN" sz="2000" b="0" dirty="0">
                <a:solidFill>
                  <a:srgbClr val="002060"/>
                </a:solidFill>
                <a:latin typeface="Verdana" panose="020B0604030504040204" pitchFamily="34" charset="0"/>
                <a:ea typeface="黑体" panose="02010609060101010101" pitchFamily="49" charset="-122"/>
                <a:hlinkClick r:id="rId4"/>
              </a:rPr>
              <a:t>c.program@yeah.net</a:t>
            </a:r>
            <a:endParaRPr lang="en-US" altLang="zh-CN" sz="2000" b="0" dirty="0">
              <a:solidFill>
                <a:srgbClr val="FF000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文件中心</a:t>
            </a: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网盘</a:t>
            </a:r>
            <a:r>
              <a:rPr lang="en-US" altLang="zh-CN" sz="2000" b="0" dirty="0">
                <a:solidFill>
                  <a:srgbClr val="00B0F0"/>
                </a:solidFill>
                <a:latin typeface="Verdana" panose="020B0604030504040204" pitchFamily="34" charset="0"/>
                <a:ea typeface="黑体" panose="02010609060101010101" pitchFamily="49" charset="-122"/>
              </a:rPr>
              <a:t>/OperatingSystems26S</a:t>
            </a:r>
            <a:endParaRPr lang="en-US" altLang="zh-CN" sz="2000" b="0" dirty="0">
              <a:solidFill>
                <a:srgbClr val="002060"/>
              </a:solidFill>
              <a:latin typeface="Verdana" panose="020B0604030504040204" pitchFamily="34" charset="0"/>
              <a:ea typeface="黑体" panose="02010609060101010101" pitchFamily="49" charset="-122"/>
            </a:endParaRPr>
          </a:p>
          <a:p>
            <a:pPr marL="0" indent="0" algn="ctr" latinLnBrk="0">
              <a:lnSpc>
                <a:spcPct val="200000"/>
              </a:lnSpc>
              <a:spcBef>
                <a:spcPts val="0"/>
              </a:spcBef>
              <a:buNone/>
            </a:pPr>
            <a:r>
              <a:rPr lang="en-US" altLang="zh-CN" sz="2000" b="0" dirty="0">
                <a:solidFill>
                  <a:srgbClr val="002060"/>
                </a:solidFill>
                <a:latin typeface="Verdana" panose="020B0604030504040204" pitchFamily="34" charset="0"/>
                <a:ea typeface="黑体" panose="02010609060101010101" pitchFamily="49" charset="-122"/>
              </a:rPr>
              <a:t>Book site: </a:t>
            </a:r>
            <a:r>
              <a:rPr lang="en-US" altLang="zh-CN" sz="1800" b="1" dirty="0">
                <a:solidFill>
                  <a:srgbClr val="00B0F0"/>
                </a:solidFill>
                <a:latin typeface="Consolas" panose="020B0609020204030204" charset="0"/>
                <a:ea typeface="黑体" panose="02010609060101010101" pitchFamily="49" charset="-122"/>
                <a:cs typeface="Consolas" panose="020B0609020204030204" charset="0"/>
              </a:rPr>
              <a:t>https://codex.cs.yale.edu/avi/os-book/OS10/index.html</a:t>
            </a:r>
          </a:p>
        </p:txBody>
      </p:sp>
      <p:sp>
        <p:nvSpPr>
          <p:cNvPr id="2051" name="矩形 2"/>
          <p:cNvSpPr/>
          <p:nvPr/>
        </p:nvSpPr>
        <p:spPr>
          <a:xfrm>
            <a:off x="1041400" y="76835"/>
            <a:ext cx="7924800" cy="2061210"/>
          </a:xfrm>
          <a:prstGeom prst="rect">
            <a:avLst/>
          </a:prstGeom>
          <a:noFill/>
          <a:ln w="9525">
            <a:noFill/>
          </a:ln>
        </p:spPr>
        <p:txBody>
          <a:bodyPr>
            <a:spAutoFit/>
          </a:bodyPr>
          <a:lstStyle/>
          <a:p>
            <a:pPr algn="ctr">
              <a:spcBef>
                <a:spcPct val="50000"/>
              </a:spcBef>
            </a:pPr>
            <a:r>
              <a:rPr lang="en-US" altLang="zh-CN" sz="4800" dirty="0">
                <a:solidFill>
                  <a:srgbClr val="002060"/>
                </a:solidFill>
                <a:latin typeface="Calibri" panose="020F0502020204030204" charset="0"/>
              </a:rPr>
              <a:t>Operating Systems</a:t>
            </a:r>
          </a:p>
          <a:p>
            <a:pPr marL="0" indent="0" algn="ctr" latinLnBrk="0">
              <a:lnSpc>
                <a:spcPct val="200000"/>
              </a:lnSpc>
            </a:pPr>
            <a:r>
              <a:rPr lang="en-US" altLang="zh-CN" sz="4000" dirty="0">
                <a:solidFill>
                  <a:srgbClr val="002060"/>
                </a:solidFill>
                <a:latin typeface="Calibri" panose="020F0502020204030204" charset="0"/>
              </a:rPr>
              <a:t>Ch 1: Introduction</a:t>
            </a:r>
            <a:endParaRPr lang="zh-CN" altLang="en-US" sz="4000" dirty="0">
              <a:solidFill>
                <a:srgbClr val="002060"/>
              </a:solidFill>
              <a:latin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p:cNvSpPr>
            <a:spLocks noGrp="1" noChangeArrowheads="1"/>
          </p:cNvSpPr>
          <p:nvPr>
            <p:ph type="body" idx="4294967295"/>
          </p:nvPr>
        </p:nvSpPr>
        <p:spPr/>
        <p:txBody>
          <a:bodyPr/>
          <a:lstStyle/>
          <a:p>
            <a:pPr>
              <a:buFont typeface="+mj-lt"/>
              <a:buAutoNum type="arabicPeriod"/>
            </a:pPr>
            <a:r>
              <a:rPr lang="en-US" altLang="en-US" sz="2000" b="1">
                <a:solidFill>
                  <a:srgbClr val="0070C0"/>
                </a:solidFill>
                <a:latin typeface="Calibri" panose="020F0502020204030204" charset="0"/>
                <a:cs typeface="Calibri" panose="020F0502020204030204" charset="0"/>
              </a:rPr>
              <a:t>What Operating Systems Do</a:t>
            </a:r>
          </a:p>
          <a:p>
            <a:pPr>
              <a:buFont typeface="+mj-lt"/>
              <a:buAutoNum type="arabicPeriod"/>
            </a:pPr>
            <a:r>
              <a:rPr lang="en-US" altLang="en-US" sz="2000" b="1">
                <a:solidFill>
                  <a:srgbClr val="00B050"/>
                </a:solidFill>
                <a:latin typeface="Calibri" panose="020F0502020204030204" charset="0"/>
                <a:cs typeface="Calibri" panose="020F0502020204030204" charset="0"/>
              </a:rPr>
              <a:t>Computer-System Organization (rev)</a:t>
            </a:r>
          </a:p>
          <a:p>
            <a:pPr>
              <a:buFont typeface="+mj-lt"/>
              <a:buAutoNum type="arabicPeriod"/>
            </a:pPr>
            <a:r>
              <a:rPr lang="en-US" altLang="en-US" sz="2000" b="1">
                <a:solidFill>
                  <a:srgbClr val="00B050"/>
                </a:solidFill>
                <a:latin typeface="Calibri" panose="020F0502020204030204" charset="0"/>
                <a:cs typeface="Calibri" panose="020F0502020204030204" charset="0"/>
              </a:rPr>
              <a:t>Computer-System Architecture (rev)</a:t>
            </a:r>
          </a:p>
          <a:p>
            <a:pPr>
              <a:buFont typeface="+mj-lt"/>
              <a:buAutoNum type="arabicPeriod"/>
            </a:pPr>
            <a:r>
              <a:rPr lang="en-US" altLang="en-US" sz="2000" b="1">
                <a:solidFill>
                  <a:srgbClr val="0070C0"/>
                </a:solidFill>
                <a:latin typeface="Calibri" panose="020F0502020204030204" charset="0"/>
                <a:cs typeface="Calibri" panose="020F0502020204030204" charset="0"/>
              </a:rPr>
              <a:t>Operating-System Operations</a:t>
            </a:r>
            <a:endParaRPr lang="en-US" altLang="en-US" sz="2000" b="1">
              <a:latin typeface="Calibri" panose="020F0502020204030204" charset="0"/>
              <a:cs typeface="Calibri" panose="020F0502020204030204" charset="0"/>
            </a:endParaRPr>
          </a:p>
          <a:p>
            <a:pPr>
              <a:buFont typeface="+mj-lt"/>
              <a:buAutoNum type="arabicPeriod"/>
            </a:pPr>
            <a:r>
              <a:rPr lang="en-US" altLang="en-US" sz="2000" b="1">
                <a:solidFill>
                  <a:srgbClr val="0070C0"/>
                </a:solidFill>
                <a:latin typeface="Calibri" panose="020F0502020204030204" charset="0"/>
                <a:cs typeface="Calibri" panose="020F0502020204030204" charset="0"/>
              </a:rPr>
              <a:t>Resource Management</a:t>
            </a:r>
          </a:p>
          <a:p>
            <a:pPr>
              <a:buFont typeface="+mj-lt"/>
              <a:buAutoNum type="arabicPeriod"/>
            </a:pPr>
            <a:r>
              <a:rPr lang="en-US" altLang="en-US" sz="2000" b="1">
                <a:solidFill>
                  <a:srgbClr val="0070C0"/>
                </a:solidFill>
                <a:latin typeface="Calibri" panose="020F0502020204030204" charset="0"/>
                <a:cs typeface="Calibri" panose="020F0502020204030204" charset="0"/>
              </a:rPr>
              <a:t>Security and Protection</a:t>
            </a:r>
            <a:endParaRPr lang="en-US" altLang="en-US" sz="2000" b="1">
              <a:latin typeface="Calibri" panose="020F0502020204030204" charset="0"/>
              <a:cs typeface="Calibri" panose="020F0502020204030204" charset="0"/>
            </a:endParaRPr>
          </a:p>
          <a:p>
            <a:pPr>
              <a:buFont typeface="+mj-lt"/>
              <a:buAutoNum type="arabicPeriod"/>
            </a:pPr>
            <a:r>
              <a:rPr lang="en-US" altLang="en-US" sz="2000" b="1">
                <a:solidFill>
                  <a:srgbClr val="0070C0"/>
                </a:solidFill>
                <a:latin typeface="Calibri" panose="020F0502020204030204" charset="0"/>
                <a:cs typeface="Calibri" panose="020F0502020204030204" charset="0"/>
              </a:rPr>
              <a:t>Virtualization</a:t>
            </a:r>
            <a:endParaRPr lang="en-US" altLang="en-US" sz="2000" b="1">
              <a:latin typeface="Calibri" panose="020F0502020204030204" charset="0"/>
              <a:cs typeface="Calibri" panose="020F0502020204030204" charset="0"/>
            </a:endParaRPr>
          </a:p>
          <a:p>
            <a:pPr>
              <a:buFont typeface="+mj-lt"/>
              <a:buAutoNum type="arabicPeriod"/>
            </a:pPr>
            <a:r>
              <a:rPr lang="en-US" altLang="en-US" sz="2000" b="1">
                <a:solidFill>
                  <a:srgbClr val="C00000"/>
                </a:solidFill>
                <a:latin typeface="Calibri" panose="020F0502020204030204" charset="0"/>
                <a:cs typeface="Calibri" panose="020F0502020204030204" charset="0"/>
              </a:rPr>
              <a:t>Distributed Systems (*)</a:t>
            </a:r>
          </a:p>
          <a:p>
            <a:pPr>
              <a:buFont typeface="+mj-lt"/>
              <a:buAutoNum type="arabicPeriod"/>
            </a:pPr>
            <a:r>
              <a:rPr lang="en-US" altLang="en-US" sz="2000" b="1">
                <a:solidFill>
                  <a:srgbClr val="0070C0"/>
                </a:solidFill>
                <a:latin typeface="Calibri" panose="020F0502020204030204" charset="0"/>
                <a:cs typeface="Calibri" panose="020F0502020204030204" charset="0"/>
              </a:rPr>
              <a:t>Kernel Data Structures</a:t>
            </a:r>
          </a:p>
          <a:p>
            <a:pPr>
              <a:buFont typeface="+mj-lt"/>
              <a:buAutoNum type="arabicPeriod"/>
            </a:pPr>
            <a:r>
              <a:rPr lang="en-US" altLang="en-US" sz="2000" b="1">
                <a:latin typeface="Calibri" panose="020F0502020204030204" charset="0"/>
                <a:cs typeface="Calibri" panose="020F0502020204030204" charset="0"/>
              </a:rPr>
              <a:t> </a:t>
            </a:r>
            <a:r>
              <a:rPr lang="en-US" altLang="en-US" sz="2000" b="1">
                <a:solidFill>
                  <a:srgbClr val="0070C0"/>
                </a:solidFill>
                <a:latin typeface="Calibri" panose="020F0502020204030204" charset="0"/>
                <a:cs typeface="Calibri" panose="020F0502020204030204" charset="0"/>
              </a:rPr>
              <a:t>Computing Environments</a:t>
            </a:r>
            <a:endParaRPr lang="en-US" altLang="en-US" sz="2000" b="1">
              <a:latin typeface="Calibri" panose="020F0502020204030204" charset="0"/>
              <a:cs typeface="Calibri" panose="020F0502020204030204" charset="0"/>
            </a:endParaRPr>
          </a:p>
          <a:p>
            <a:pPr>
              <a:buFont typeface="+mj-lt"/>
              <a:buAutoNum type="arabicPeriod"/>
            </a:pPr>
            <a:r>
              <a:rPr lang="en-US" altLang="en-US" sz="2000" b="1">
                <a:latin typeface="Calibri" panose="020F0502020204030204" charset="0"/>
                <a:cs typeface="Calibri" panose="020F0502020204030204" charset="0"/>
              </a:rPr>
              <a:t> </a:t>
            </a:r>
            <a:r>
              <a:rPr lang="en-US" altLang="en-US" sz="2000" b="1">
                <a:solidFill>
                  <a:srgbClr val="C00000"/>
                </a:solidFill>
                <a:latin typeface="Calibri" panose="020F0502020204030204" charset="0"/>
                <a:cs typeface="Calibri" panose="020F0502020204030204" charset="0"/>
              </a:rPr>
              <a:t>Free/Libre and Open-Source Operating Systems (*)</a:t>
            </a:r>
          </a:p>
          <a:p>
            <a:pPr>
              <a:buFont typeface="Monotype Sorts" pitchFamily="-84" charset="2"/>
              <a:buNone/>
            </a:pPr>
            <a:endParaRPr lang="en-US" altLang="en-US">
              <a:solidFill>
                <a:srgbClr val="C00000"/>
              </a:solidFill>
            </a:endParaRPr>
          </a:p>
          <a:p>
            <a:endParaRPr lang="en-US" altLang="en-US">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p:cNvSpPr>
            <a:spLocks noGrp="1" noChangeArrowheads="1"/>
          </p:cNvSpPr>
          <p:nvPr>
            <p:ph type="body" idx="4294967295"/>
          </p:nvPr>
        </p:nvSpPr>
        <p:spPr>
          <a:xfrm>
            <a:off x="806450" y="1233488"/>
            <a:ext cx="7666038" cy="4530725"/>
          </a:xfrm>
        </p:spPr>
        <p:txBody>
          <a:bodyPr/>
          <a:lstStyle/>
          <a:p>
            <a:r>
              <a:rPr lang="en-US" altLang="en-US" sz="2000">
                <a:solidFill>
                  <a:srgbClr val="00B050"/>
                </a:solidFill>
                <a:latin typeface="Calibri" panose="020F0502020204030204" charset="0"/>
                <a:cs typeface="Calibri" panose="020F0502020204030204" charset="0"/>
              </a:rPr>
              <a:t>Describe the general organization of a computer system and the role of interrupts</a:t>
            </a:r>
          </a:p>
          <a:p>
            <a:r>
              <a:rPr lang="en-US" altLang="en-US" sz="2000">
                <a:solidFill>
                  <a:srgbClr val="0070C0"/>
                </a:solidFill>
                <a:latin typeface="Calibri" panose="020F0502020204030204" charset="0"/>
                <a:cs typeface="Calibri" panose="020F0502020204030204" charset="0"/>
              </a:rPr>
              <a:t>Describe the components in a modern, multiprocessor computer system</a:t>
            </a:r>
          </a:p>
          <a:p>
            <a:r>
              <a:rPr lang="en-US" altLang="en-US" sz="2000">
                <a:solidFill>
                  <a:srgbClr val="0070C0"/>
                </a:solidFill>
                <a:latin typeface="Calibri" panose="020F0502020204030204" charset="0"/>
                <a:cs typeface="Calibri" panose="020F0502020204030204" charset="0"/>
              </a:rPr>
              <a:t>Illustrate the transition from user mode to kernel mode</a:t>
            </a:r>
          </a:p>
          <a:p>
            <a:r>
              <a:rPr lang="en-US" altLang="en-US" sz="2000">
                <a:solidFill>
                  <a:srgbClr val="0070C0"/>
                </a:solidFill>
                <a:latin typeface="Calibri" panose="020F0502020204030204" charset="0"/>
                <a:cs typeface="Calibri" panose="020F0502020204030204" charset="0"/>
              </a:rPr>
              <a:t>Discuss how operating systems are used in various computing environments</a:t>
            </a:r>
          </a:p>
          <a:p>
            <a:r>
              <a:rPr lang="en-US" altLang="en-US" sz="2000">
                <a:solidFill>
                  <a:srgbClr val="C00000"/>
                </a:solidFill>
                <a:latin typeface="Calibri" panose="020F0502020204030204" charset="0"/>
                <a:cs typeface="Calibri" panose="020F0502020204030204" charset="0"/>
              </a:rPr>
              <a:t>Provide examples of free and open-source operating systems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p:cNvSpPr>
            <a:spLocks noGrp="1" noChangeArrowheads="1"/>
          </p:cNvSpPr>
          <p:nvPr>
            <p:ph type="body" idx="4294967295"/>
          </p:nvPr>
        </p:nvSpPr>
        <p:spPr>
          <a:xfrm>
            <a:off x="806450" y="1233488"/>
            <a:ext cx="7666038" cy="4530725"/>
          </a:xfrm>
        </p:spPr>
        <p:txBody>
          <a:bodyPr/>
          <a:lstStyle/>
          <a:p>
            <a:r>
              <a:rPr lang="en-US" altLang="en-US" dirty="0"/>
              <a:t>An operating system is “</a:t>
            </a:r>
            <a:r>
              <a:rPr lang="en-US" altLang="en-US" dirty="0">
                <a:solidFill>
                  <a:srgbClr val="00B0F0"/>
                </a:solidFill>
              </a:rPr>
              <a:t>fill in the blanks</a:t>
            </a:r>
            <a:r>
              <a:rPr lang="en-US" altLang="en-US" dirty="0"/>
              <a:t>”</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a:p>
            <a:pPr lvl="1"/>
            <a:endParaRPr lang="en-US" altLang="en-US" dirty="0"/>
          </a:p>
          <a:p>
            <a:pPr marL="457200" lvl="1" indent="0">
              <a:buNone/>
            </a:pPr>
            <a:r>
              <a:rPr lang="zh-CN" altLang="en-US" sz="2400" dirty="0">
                <a:solidFill>
                  <a:srgbClr val="00B050"/>
                </a:solidFill>
                <a:latin typeface="Calibri" panose="020F0502020204030204" charset="0"/>
                <a:ea typeface="黑体" panose="02010609060101010101" pitchFamily="49" charset="-122"/>
                <a:cs typeface="Calibri" panose="020F0502020204030204" charset="0"/>
              </a:rPr>
              <a:t>操作系统</a:t>
            </a:r>
            <a:r>
              <a:rPr lang="en-US" altLang="zh-CN" sz="2400" dirty="0">
                <a:solidFill>
                  <a:srgbClr val="00B050"/>
                </a:solidFill>
                <a:latin typeface="Calibri" panose="020F0502020204030204" charset="0"/>
                <a:ea typeface="黑体" panose="02010609060101010101" pitchFamily="49" charset="-122"/>
                <a:cs typeface="Calibri" panose="020F0502020204030204" charset="0"/>
              </a:rPr>
              <a:t> vs </a:t>
            </a:r>
            <a:r>
              <a:rPr lang="zh-CN" altLang="en-US" sz="2400" dirty="0">
                <a:solidFill>
                  <a:srgbClr val="00B050"/>
                </a:solidFill>
                <a:latin typeface="Calibri" panose="020F0502020204030204" charset="0"/>
                <a:ea typeface="黑体" panose="02010609060101010101" pitchFamily="49" charset="-122"/>
                <a:cs typeface="Calibri" panose="020F0502020204030204" charset="0"/>
              </a:rPr>
              <a:t>运作系统</a:t>
            </a:r>
            <a:r>
              <a:rPr lang="en-US" altLang="zh-CN" sz="2400" dirty="0">
                <a:solidFill>
                  <a:srgbClr val="00B050"/>
                </a:solidFill>
                <a:latin typeface="Calibri" panose="020F0502020204030204" charset="0"/>
                <a:ea typeface="黑体" panose="02010609060101010101" pitchFamily="49" charset="-122"/>
                <a:cs typeface="Calibri" panose="020F0502020204030204" charset="0"/>
              </a:rPr>
              <a:t> </a:t>
            </a:r>
            <a:r>
              <a:rPr lang="zh-CN" altLang="en-US" sz="2400" dirty="0">
                <a:solidFill>
                  <a:srgbClr val="00B050"/>
                </a:solidFill>
                <a:latin typeface="Calibri" panose="020F0502020204030204" charset="0"/>
                <a:ea typeface="黑体" panose="02010609060101010101" pitchFamily="49" charset="-122"/>
                <a:cs typeface="Calibri" panose="020F050202020403020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963613" y="198438"/>
            <a:ext cx="7723187" cy="576262"/>
          </a:xfrm>
        </p:spPr>
        <p:txBody>
          <a:bodyPr/>
          <a:lstStyle/>
          <a:p>
            <a:pPr eaLnBrk="1" hangingPunct="1"/>
            <a:r>
              <a:rPr lang="en-US" altLang="en-US" dirty="0"/>
              <a:t>What is an Operating System?</a:t>
            </a:r>
          </a:p>
        </p:txBody>
      </p:sp>
      <p:sp>
        <p:nvSpPr>
          <p:cNvPr id="25603" name="Rectangle 3"/>
          <p:cNvSpPr>
            <a:spLocks noGrp="1" noChangeArrowheads="1"/>
          </p:cNvSpPr>
          <p:nvPr>
            <p:ph type="body" idx="4294967295"/>
          </p:nvPr>
        </p:nvSpPr>
        <p:spPr>
          <a:xfrm>
            <a:off x="777875" y="3249613"/>
            <a:ext cx="7797800" cy="2646362"/>
          </a:xfrm>
        </p:spPr>
        <p:txBody>
          <a:bodyPr/>
          <a:lstStyle/>
          <a:p>
            <a:pPr>
              <a:spcBef>
                <a:spcPts val="0"/>
              </a:spcBef>
              <a:spcAft>
                <a:spcPts val="1800"/>
              </a:spcAft>
              <a:buFont typeface="Wingdings" panose="05000000000000000000" pitchFamily="2" charset="2"/>
              <a:buChar char="q"/>
              <a:defRPr/>
            </a:pPr>
            <a:r>
              <a:rPr lang="en-US" altLang="en-US" sz="2400" dirty="0"/>
              <a:t>An Operating System (OS) is a </a:t>
            </a:r>
            <a:r>
              <a:rPr lang="en-US" altLang="en-US" sz="2400" b="1" dirty="0">
                <a:solidFill>
                  <a:srgbClr val="3366FF"/>
                </a:solidFill>
              </a:rPr>
              <a:t>program</a:t>
            </a:r>
            <a:r>
              <a:rPr lang="en-US" altLang="en-US" sz="2400" dirty="0"/>
              <a:t> that manages the computer </a:t>
            </a:r>
            <a:r>
              <a:rPr lang="en-US" altLang="en-US" sz="2400" b="1" dirty="0"/>
              <a:t>hardware</a:t>
            </a:r>
          </a:p>
          <a:p>
            <a:pPr>
              <a:spcBef>
                <a:spcPts val="0"/>
              </a:spcBef>
              <a:spcAft>
                <a:spcPts val="1800"/>
              </a:spcAft>
              <a:buFont typeface="Wingdings" panose="05000000000000000000" pitchFamily="2" charset="2"/>
              <a:buChar char="q"/>
              <a:defRPr/>
            </a:pPr>
            <a:r>
              <a:rPr lang="en-US" altLang="en-US" sz="2400" dirty="0"/>
              <a:t>It also provides a </a:t>
            </a:r>
            <a:r>
              <a:rPr lang="en-US" altLang="en-US" sz="2400" b="1" dirty="0">
                <a:solidFill>
                  <a:srgbClr val="3366FF"/>
                </a:solidFill>
              </a:rPr>
              <a:t>basis</a:t>
            </a:r>
            <a:r>
              <a:rPr lang="en-US" altLang="en-US" sz="2400" dirty="0"/>
              <a:t> for </a:t>
            </a:r>
            <a:r>
              <a:rPr lang="en-US" altLang="en-US" sz="2400" b="1" dirty="0"/>
              <a:t>Application Programs</a:t>
            </a:r>
          </a:p>
          <a:p>
            <a:pPr>
              <a:spcBef>
                <a:spcPts val="0"/>
              </a:spcBef>
              <a:spcAft>
                <a:spcPts val="1800"/>
              </a:spcAft>
              <a:buFont typeface="Wingdings" panose="05000000000000000000" pitchFamily="2" charset="2"/>
              <a:buChar char="q"/>
              <a:defRPr/>
            </a:pPr>
            <a:r>
              <a:rPr lang="en-US" altLang="en-US" sz="2400" dirty="0"/>
              <a:t>A program that acts as an </a:t>
            </a:r>
            <a:r>
              <a:rPr lang="en-US" altLang="en-US" sz="2400" b="1" dirty="0">
                <a:solidFill>
                  <a:srgbClr val="3366FF"/>
                </a:solidFill>
              </a:rPr>
              <a:t>intermediary</a:t>
            </a:r>
            <a:r>
              <a:rPr lang="en-US" altLang="en-US" sz="2400" dirty="0"/>
              <a:t> between computer </a:t>
            </a:r>
            <a:r>
              <a:rPr lang="en-US" altLang="en-US" sz="2400" b="1" dirty="0"/>
              <a:t>user</a:t>
            </a:r>
            <a:r>
              <a:rPr lang="en-US" altLang="en-US" sz="2400" dirty="0"/>
              <a:t>  and computer </a:t>
            </a:r>
            <a:r>
              <a:rPr lang="en-US" altLang="en-US" sz="2400" b="1" dirty="0"/>
              <a:t>hardware</a:t>
            </a:r>
          </a:p>
          <a:p>
            <a:pPr marL="0" indent="0">
              <a:spcBef>
                <a:spcPts val="0"/>
              </a:spcBef>
              <a:spcAft>
                <a:spcPts val="1200"/>
              </a:spcAft>
              <a:buFont typeface="Monotype Sorts" pitchFamily="-84" charset="2"/>
              <a:buNone/>
              <a:defRPr/>
            </a:pPr>
            <a:endParaRPr lang="en-US" altLang="en-US" sz="2000" dirty="0"/>
          </a:p>
        </p:txBody>
      </p:sp>
      <p:pic>
        <p:nvPicPr>
          <p:cNvPr id="25604"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 y="1033463"/>
            <a:ext cx="8470900" cy="195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p:cNvSpPr>
            <a:spLocks noGrp="1" noChangeArrowheads="1"/>
          </p:cNvSpPr>
          <p:nvPr>
            <p:ph type="body" idx="4294967295"/>
          </p:nvPr>
        </p:nvSpPr>
        <p:spPr>
          <a:xfrm>
            <a:off x="925513" y="1268413"/>
            <a:ext cx="7121525" cy="4159250"/>
          </a:xfrm>
        </p:spPr>
        <p:txBody>
          <a:bodyPr/>
          <a:lstStyle/>
          <a:p>
            <a:r>
              <a:rPr lang="en-US" altLang="en-US"/>
              <a:t>A program that acts as an </a:t>
            </a:r>
            <a:r>
              <a:rPr lang="en-US" altLang="en-US" sz="2000">
                <a:solidFill>
                  <a:srgbClr val="0070C0"/>
                </a:solidFill>
                <a:latin typeface="Calibri" panose="020F0502020204030204" charset="0"/>
                <a:cs typeface="Calibri" panose="020F0502020204030204" charset="0"/>
              </a:rPr>
              <a:t>intermediary between a user of a computer and the computer hardware</a:t>
            </a:r>
          </a:p>
          <a:p>
            <a:r>
              <a:rPr lang="en-US" altLang="en-US"/>
              <a:t>Operating system goals:</a:t>
            </a:r>
          </a:p>
          <a:p>
            <a:pPr lvl="1"/>
            <a:r>
              <a:rPr lang="en-US" altLang="en-US" sz="2000">
                <a:solidFill>
                  <a:srgbClr val="0070C0"/>
                </a:solidFill>
                <a:latin typeface="Calibri" panose="020F0502020204030204" charset="0"/>
                <a:cs typeface="Calibri" panose="020F0502020204030204" charset="0"/>
              </a:rPr>
              <a:t>Execute user programs and make solving user problems easier</a:t>
            </a:r>
          </a:p>
          <a:p>
            <a:pPr lvl="1"/>
            <a:r>
              <a:rPr lang="en-US" altLang="en-US" sz="2000">
                <a:solidFill>
                  <a:srgbClr val="0070C0"/>
                </a:solidFill>
                <a:latin typeface="Calibri" panose="020F0502020204030204" charset="0"/>
                <a:cs typeface="Calibri" panose="020F0502020204030204" charset="0"/>
              </a:rPr>
              <a:t>Make the computer system convenient to use</a:t>
            </a:r>
          </a:p>
          <a:p>
            <a:pPr lvl="1"/>
            <a:r>
              <a:rPr lang="en-US" altLang="en-US" sz="2000">
                <a:solidFill>
                  <a:srgbClr val="0070C0"/>
                </a:solidFill>
                <a:latin typeface="Calibri" panose="020F0502020204030204" charset="0"/>
                <a:cs typeface="Calibri" panose="020F0502020204030204" charset="0"/>
              </a:rPr>
              <a:t>Use the computer hardware in an efficient manner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963613" y="198438"/>
            <a:ext cx="7723187" cy="576262"/>
          </a:xfrm>
        </p:spPr>
        <p:txBody>
          <a:bodyPr/>
          <a:lstStyle/>
          <a:p>
            <a:pPr eaLnBrk="1" hangingPunct="1"/>
            <a:r>
              <a:rPr lang="en-US" altLang="en-US" dirty="0"/>
              <a:t>What is an Operating System?</a:t>
            </a:r>
          </a:p>
        </p:txBody>
      </p:sp>
      <p:pic>
        <p:nvPicPr>
          <p:cNvPr id="5" name="图片 4" descr="图形用户界面, 文本, 应用程序&#10;&#10;AI 生成的内容可能不正确。"/>
          <p:cNvPicPr>
            <a:picLocks noChangeAspect="1"/>
          </p:cNvPicPr>
          <p:nvPr/>
        </p:nvPicPr>
        <p:blipFill>
          <a:blip r:embed="rId3"/>
          <a:stretch>
            <a:fillRect/>
          </a:stretch>
        </p:blipFill>
        <p:spPr>
          <a:xfrm>
            <a:off x="495057" y="3182451"/>
            <a:ext cx="5696073" cy="1683919"/>
          </a:xfrm>
          <a:prstGeom prst="rect">
            <a:avLst/>
          </a:prstGeom>
        </p:spPr>
      </p:pic>
      <p:pic>
        <p:nvPicPr>
          <p:cNvPr id="7" name="图片 6" descr="图形用户界面, 文本, 应用程序&#10;&#10;AI 生成的内容可能不正确。"/>
          <p:cNvPicPr>
            <a:picLocks noChangeAspect="1"/>
          </p:cNvPicPr>
          <p:nvPr/>
        </p:nvPicPr>
        <p:blipFill>
          <a:blip r:embed="rId4"/>
          <a:stretch>
            <a:fillRect/>
          </a:stretch>
        </p:blipFill>
        <p:spPr>
          <a:xfrm>
            <a:off x="495057" y="5053747"/>
            <a:ext cx="5894094" cy="1586062"/>
          </a:xfrm>
          <a:prstGeom prst="rect">
            <a:avLst/>
          </a:prstGeom>
        </p:spPr>
      </p:pic>
      <p:pic>
        <p:nvPicPr>
          <p:cNvPr id="3" name="图片 2"/>
          <p:cNvPicPr>
            <a:picLocks noChangeAspect="1"/>
          </p:cNvPicPr>
          <p:nvPr/>
        </p:nvPicPr>
        <p:blipFill>
          <a:blip r:embed="rId5"/>
          <a:stretch>
            <a:fillRect/>
          </a:stretch>
        </p:blipFill>
        <p:spPr>
          <a:xfrm>
            <a:off x="1801104" y="881426"/>
            <a:ext cx="4564750" cy="2523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041400" y="201613"/>
            <a:ext cx="7532688" cy="576262"/>
          </a:xfrm>
        </p:spPr>
        <p:txBody>
          <a:bodyPr/>
          <a:lstStyle/>
          <a:p>
            <a:pPr eaLnBrk="1" hangingPunct="1"/>
            <a:r>
              <a:rPr lang="en-US" altLang="en-US">
                <a:solidFill>
                  <a:srgbClr val="0070C0"/>
                </a:solidFill>
              </a:rPr>
              <a:t>Computer System Structure</a:t>
            </a:r>
          </a:p>
        </p:txBody>
      </p:sp>
      <p:sp>
        <p:nvSpPr>
          <p:cNvPr id="11267" name="Rectangle 3"/>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solidFill>
                  <a:srgbClr val="0070C0"/>
                </a:solidFill>
              </a:rPr>
              <a:t>Hardware</a:t>
            </a:r>
            <a:r>
              <a:rPr lang="en-US" altLang="en-US"/>
              <a:t> – provides basic computing resources</a:t>
            </a:r>
          </a:p>
          <a:p>
            <a:pPr lvl="2"/>
            <a:r>
              <a:rPr lang="en-US" altLang="en-US"/>
              <a:t>CPU, memory, I/O devices</a:t>
            </a:r>
          </a:p>
          <a:p>
            <a:pPr lvl="1"/>
            <a:r>
              <a:rPr lang="en-US" altLang="en-US">
                <a:solidFill>
                  <a:srgbClr val="0070C0"/>
                </a:solidFill>
              </a:rPr>
              <a:t>Operating system</a:t>
            </a:r>
            <a:endParaRPr lang="en-US" altLang="en-US"/>
          </a:p>
          <a:p>
            <a:pPr lvl="2"/>
            <a:r>
              <a:rPr lang="en-US" altLang="en-US"/>
              <a:t>Controls and coordinates use of hardware among various applications and users</a:t>
            </a:r>
          </a:p>
          <a:p>
            <a:pPr lvl="1"/>
            <a:r>
              <a:rPr lang="en-US" altLang="en-US">
                <a:solidFill>
                  <a:srgbClr val="0070C0"/>
                </a:solidFill>
              </a:rPr>
              <a:t>Application programs</a:t>
            </a:r>
            <a:r>
              <a:rPr lang="en-US" altLang="en-US"/>
              <a:t> – define the ways in which the system resources are used to solve the computing problems of the users</a:t>
            </a:r>
          </a:p>
          <a:p>
            <a:pPr lvl="2"/>
            <a:r>
              <a:rPr lang="en-US" altLang="en-US"/>
              <a:t>Word processors, compilers, web browsers, database systems, video games</a:t>
            </a:r>
          </a:p>
          <a:p>
            <a:pPr lvl="1"/>
            <a:r>
              <a:rPr lang="en-US" altLang="en-US">
                <a:solidFill>
                  <a:srgbClr val="0070C0"/>
                </a:solidFill>
              </a:rPr>
              <a:t>Users</a:t>
            </a:r>
            <a:endParaRPr lang="en-US" altLang="en-US"/>
          </a:p>
          <a:p>
            <a:pPr lvl="2"/>
            <a:r>
              <a:rPr lang="en-US" altLang="en-US"/>
              <a:t>People, machines, other computers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844550" y="120650"/>
            <a:ext cx="8229600" cy="576263"/>
          </a:xfrm>
        </p:spPr>
        <p:txBody>
          <a:bodyPr/>
          <a:lstStyle/>
          <a:p>
            <a:pPr eaLnBrk="1" hangingPunct="1"/>
            <a:r>
              <a:rPr lang="en-US" altLang="en-US" sz="2800" dirty="0"/>
              <a:t>Four Components of a Computer System</a:t>
            </a:r>
          </a:p>
        </p:txBody>
      </p:sp>
      <p:pic>
        <p:nvPicPr>
          <p:cNvPr id="2765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1423988"/>
            <a:ext cx="5883275" cy="468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文本框 1"/>
          <p:cNvSpPr txBox="1">
            <a:spLocks noChangeArrowheads="1"/>
          </p:cNvSpPr>
          <p:nvPr/>
        </p:nvSpPr>
        <p:spPr bwMode="auto">
          <a:xfrm>
            <a:off x="5403850" y="5621338"/>
            <a:ext cx="2586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latin typeface="Verdana" panose="020B0604030504040204" pitchFamily="34" charset="0"/>
              </a:rPr>
              <a:t>Resources like CPU, Memory, I/O devices</a:t>
            </a:r>
            <a:endParaRPr kumimoji="0" lang="zh-CN" altLang="en-US">
              <a:latin typeface="Verdana" panose="020B0604030504040204" pitchFamily="34" charset="0"/>
            </a:endParaRPr>
          </a:p>
        </p:txBody>
      </p:sp>
      <p:cxnSp>
        <p:nvCxnSpPr>
          <p:cNvPr id="4" name="直接箭头连接符 3"/>
          <p:cNvCxnSpPr/>
          <p:nvPr/>
        </p:nvCxnSpPr>
        <p:spPr bwMode="auto">
          <a:xfrm flipH="1">
            <a:off x="1154113" y="1943100"/>
            <a:ext cx="476250" cy="0"/>
          </a:xfrm>
          <a:prstGeom prst="straightConnector1">
            <a:avLst/>
          </a:prstGeom>
          <a:noFill/>
          <a:ln w="28575" algn="ctr">
            <a:solidFill>
              <a:srgbClr val="FF0000"/>
            </a:solidFill>
            <a:round/>
            <a:tailEnd type="triangle" w="med" len="med"/>
          </a:ln>
          <a:extLst>
            <a:ext uri="{909E8E84-426E-40DD-AFC4-6F175D3DCCD1}">
              <a14:hiddenFill xmlns:a14="http://schemas.microsoft.com/office/drawing/2010/main">
                <a:noFill/>
              </a14:hiddenFill>
            </a:ext>
          </a:extLst>
        </p:spPr>
      </p:cxnSp>
      <p:cxnSp>
        <p:nvCxnSpPr>
          <p:cNvPr id="8" name="直接箭头连接符 7"/>
          <p:cNvCxnSpPr/>
          <p:nvPr/>
        </p:nvCxnSpPr>
        <p:spPr bwMode="auto">
          <a:xfrm flipH="1">
            <a:off x="1154113" y="1943100"/>
            <a:ext cx="6350" cy="3678238"/>
          </a:xfrm>
          <a:prstGeom prst="straightConnector1">
            <a:avLst/>
          </a:prstGeom>
          <a:noFill/>
          <a:ln w="28575" algn="ctr">
            <a:solidFill>
              <a:srgbClr val="FF0000"/>
            </a:solidFill>
            <a:round/>
            <a:tailEnd type="triangle" w="med" len="med"/>
          </a:ln>
          <a:extLst>
            <a:ext uri="{909E8E84-426E-40DD-AFC4-6F175D3DCCD1}">
              <a14:hiddenFill xmlns:a14="http://schemas.microsoft.com/office/drawing/2010/main">
                <a:noFill/>
              </a14:hiddenFill>
            </a:ext>
          </a:extLst>
        </p:spPr>
      </p:cxnSp>
      <p:cxnSp>
        <p:nvCxnSpPr>
          <p:cNvPr id="11" name="直接箭头连接符 10"/>
          <p:cNvCxnSpPr/>
          <p:nvPr/>
        </p:nvCxnSpPr>
        <p:spPr bwMode="auto">
          <a:xfrm>
            <a:off x="1160463" y="5621338"/>
            <a:ext cx="2600325" cy="0"/>
          </a:xfrm>
          <a:prstGeom prst="straightConnector1">
            <a:avLst/>
          </a:prstGeom>
          <a:noFill/>
          <a:ln w="28575" algn="ctr">
            <a:solidFill>
              <a:srgbClr val="FF0000"/>
            </a:solidFill>
            <a:round/>
            <a:tailEnd type="triangle" w="med" len="med"/>
          </a:ln>
          <a:extLst>
            <a:ext uri="{909E8E84-426E-40DD-AFC4-6F175D3DCCD1}">
              <a14:hiddenFill xmlns:a14="http://schemas.microsoft.com/office/drawing/2010/main">
                <a:noFill/>
              </a14:hiddenFill>
            </a:ext>
          </a:extLst>
        </p:spPr>
      </p:cxnSp>
      <p:sp>
        <p:nvSpPr>
          <p:cNvPr id="12" name="文本框 11"/>
          <p:cNvSpPr txBox="1">
            <a:spLocks noChangeArrowheads="1"/>
          </p:cNvSpPr>
          <p:nvPr/>
        </p:nvSpPr>
        <p:spPr bwMode="auto">
          <a:xfrm>
            <a:off x="762000" y="5727700"/>
            <a:ext cx="31337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Has to tell the hardware that he wants to do something!</a:t>
            </a:r>
            <a:endParaRPr kumimoji="0" lang="zh-CN" altLang="en-US">
              <a:solidFill>
                <a:srgbClr val="FF0000"/>
              </a:solidFill>
              <a:latin typeface="Verdana" panose="020B0604030504040204" pitchFamily="34" charset="0"/>
            </a:endParaRPr>
          </a:p>
        </p:txBody>
      </p:sp>
      <p:sp>
        <p:nvSpPr>
          <p:cNvPr id="13" name="文本框 12"/>
          <p:cNvSpPr txBox="1">
            <a:spLocks noChangeArrowheads="1"/>
          </p:cNvSpPr>
          <p:nvPr/>
        </p:nvSpPr>
        <p:spPr bwMode="auto">
          <a:xfrm>
            <a:off x="6697663" y="3881438"/>
            <a:ext cx="24463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b="1" dirty="0">
                <a:solidFill>
                  <a:srgbClr val="FF0000"/>
                </a:solidFill>
                <a:latin typeface="Verdana" panose="020B0604030504040204" pitchFamily="34" charset="0"/>
              </a:rPr>
              <a:t>If no OS, you must manually tell the computer hardware!</a:t>
            </a:r>
            <a:endParaRPr kumimoji="0" lang="zh-CN" altLang="en-US" b="1" dirty="0">
              <a:solidFill>
                <a:srgbClr val="FF0000"/>
              </a:solidFill>
              <a:latin typeface="Verdana" panose="020B0604030504040204" pitchFamily="34" charset="0"/>
            </a:endParaRPr>
          </a:p>
        </p:txBody>
      </p:sp>
      <p:pic>
        <p:nvPicPr>
          <p:cNvPr id="17" name="图片 16" descr="图片包含 徽标&#10;&#10;描述已自动生成"/>
          <p:cNvPicPr>
            <a:picLocks noChangeAspect="1" noChangeArrowheads="1"/>
          </p:cNvPicPr>
          <p:nvPr/>
        </p:nvPicPr>
        <p:blipFill>
          <a:blip r:embed="rId4">
            <a:extLst>
              <a:ext uri="{28A0092B-C50C-407E-A947-70E740481C1C}">
                <a14:useLocalDpi xmlns:a14="http://schemas.microsoft.com/office/drawing/2010/main" val="0"/>
              </a:ext>
            </a:extLst>
          </a:blip>
          <a:srcRect l="10370" t="6807" r="7813" b="10129"/>
          <a:stretch>
            <a:fillRect/>
          </a:stretch>
        </p:blipFill>
        <p:spPr bwMode="auto">
          <a:xfrm>
            <a:off x="4292600" y="4375150"/>
            <a:ext cx="5191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963613" y="198438"/>
            <a:ext cx="7723187" cy="576262"/>
          </a:xfrm>
        </p:spPr>
        <p:txBody>
          <a:bodyPr/>
          <a:lstStyle/>
          <a:p>
            <a:pPr eaLnBrk="1" hangingPunct="1"/>
            <a:r>
              <a:rPr lang="en-US" altLang="en-US" dirty="0"/>
              <a:t>What is an Operating System?</a:t>
            </a:r>
          </a:p>
        </p:txBody>
      </p:sp>
      <p:sp>
        <p:nvSpPr>
          <p:cNvPr id="29699" name="Rectangle 3"/>
          <p:cNvSpPr>
            <a:spLocks noGrp="1" noChangeArrowheads="1"/>
          </p:cNvSpPr>
          <p:nvPr>
            <p:ph type="body" idx="4294967295"/>
          </p:nvPr>
        </p:nvSpPr>
        <p:spPr>
          <a:xfrm>
            <a:off x="852488" y="1292225"/>
            <a:ext cx="7796212" cy="4159250"/>
          </a:xfrm>
        </p:spPr>
        <p:txBody>
          <a:bodyPr/>
          <a:lstStyle/>
          <a:p>
            <a:pPr>
              <a:spcBef>
                <a:spcPct val="0"/>
              </a:spcBef>
              <a:spcAft>
                <a:spcPts val="1200"/>
              </a:spcAft>
              <a:buFont typeface="Wingdings" panose="05000000000000000000" pitchFamily="2" charset="2"/>
              <a:buChar char="q"/>
            </a:pPr>
            <a:r>
              <a:rPr lang="en-US" altLang="en-US" sz="2000" dirty="0"/>
              <a:t>Operating system goals:</a:t>
            </a:r>
          </a:p>
          <a:p>
            <a:pPr marL="628650" lvl="1">
              <a:spcBef>
                <a:spcPct val="0"/>
              </a:spcBef>
              <a:spcAft>
                <a:spcPts val="1200"/>
              </a:spcAft>
              <a:buFont typeface="Wingdings" panose="05000000000000000000" pitchFamily="2" charset="2"/>
              <a:buChar char="Ø"/>
            </a:pPr>
            <a:r>
              <a:rPr lang="en-US" altLang="en-US" sz="2000" dirty="0"/>
              <a:t>Execute user programs and make solving user problems </a:t>
            </a:r>
            <a:r>
              <a:rPr lang="en-US" altLang="en-US" sz="2000" b="1" dirty="0">
                <a:solidFill>
                  <a:srgbClr val="3366FF"/>
                </a:solidFill>
              </a:rPr>
              <a:t>easier</a:t>
            </a:r>
          </a:p>
          <a:p>
            <a:pPr marL="628650" lvl="1">
              <a:spcBef>
                <a:spcPct val="0"/>
              </a:spcBef>
              <a:spcAft>
                <a:spcPts val="1200"/>
              </a:spcAft>
              <a:buFont typeface="Wingdings" panose="05000000000000000000" pitchFamily="2" charset="2"/>
              <a:buChar char="Ø"/>
            </a:pPr>
            <a:r>
              <a:rPr lang="en-US" altLang="en-US" sz="2000" dirty="0"/>
              <a:t>Make the computer system </a:t>
            </a:r>
            <a:r>
              <a:rPr lang="en-US" altLang="en-US" sz="2000" b="1" dirty="0">
                <a:solidFill>
                  <a:srgbClr val="3366FF"/>
                </a:solidFill>
              </a:rPr>
              <a:t>convenient</a:t>
            </a:r>
            <a:r>
              <a:rPr lang="en-US" altLang="en-US" sz="2000" dirty="0"/>
              <a:t> to use</a:t>
            </a:r>
          </a:p>
          <a:p>
            <a:pPr marL="628650" lvl="1">
              <a:spcBef>
                <a:spcPct val="0"/>
              </a:spcBef>
              <a:spcAft>
                <a:spcPts val="1200"/>
              </a:spcAft>
              <a:buFont typeface="Wingdings" panose="05000000000000000000" pitchFamily="2" charset="2"/>
              <a:buChar char="Ø"/>
            </a:pPr>
            <a:r>
              <a:rPr lang="en-US" altLang="en-US" sz="2000" dirty="0"/>
              <a:t>Use the computer hardware in an </a:t>
            </a:r>
            <a:r>
              <a:rPr lang="en-US" altLang="en-US" sz="2000" b="1" dirty="0">
                <a:solidFill>
                  <a:srgbClr val="3366FF"/>
                </a:solidFill>
              </a:rPr>
              <a:t>efficient </a:t>
            </a:r>
            <a:r>
              <a:rPr lang="en-US" altLang="en-US" sz="2000" dirty="0"/>
              <a:t>manner</a:t>
            </a:r>
          </a:p>
        </p:txBody>
      </p:sp>
      <p:sp>
        <p:nvSpPr>
          <p:cNvPr id="29700" name="文本框 3"/>
          <p:cNvSpPr txBox="1">
            <a:spLocks noChangeArrowheads="1"/>
          </p:cNvSpPr>
          <p:nvPr/>
        </p:nvSpPr>
        <p:spPr bwMode="auto">
          <a:xfrm>
            <a:off x="1266825" y="5451475"/>
            <a:ext cx="1860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b="1" dirty="0">
                <a:solidFill>
                  <a:srgbClr val="C00000"/>
                </a:solidFill>
                <a:latin typeface="Verdana" panose="020B0604030504040204" pitchFamily="34" charset="0"/>
              </a:rPr>
              <a:t>Convenience</a:t>
            </a:r>
            <a:endParaRPr kumimoji="0" lang="zh-CN" altLang="en-US" b="1">
              <a:solidFill>
                <a:srgbClr val="C00000"/>
              </a:solidFill>
              <a:latin typeface="Verdana" panose="020B0604030504040204" pitchFamily="34" charset="0"/>
            </a:endParaRPr>
          </a:p>
        </p:txBody>
      </p:sp>
      <p:pic>
        <p:nvPicPr>
          <p:cNvPr id="29701"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288" y="3886200"/>
            <a:ext cx="1446212"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文本框 8"/>
          <p:cNvSpPr txBox="1">
            <a:spLocks noChangeArrowheads="1"/>
          </p:cNvSpPr>
          <p:nvPr/>
        </p:nvSpPr>
        <p:spPr bwMode="auto">
          <a:xfrm>
            <a:off x="3760788" y="5451475"/>
            <a:ext cx="1858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b="1" dirty="0">
                <a:solidFill>
                  <a:srgbClr val="C00000"/>
                </a:solidFill>
                <a:latin typeface="Verdana" panose="020B0604030504040204" pitchFamily="34" charset="0"/>
              </a:rPr>
              <a:t>Efficiency</a:t>
            </a:r>
            <a:endParaRPr kumimoji="0" lang="zh-CN" altLang="en-US" b="1">
              <a:solidFill>
                <a:srgbClr val="C00000"/>
              </a:solidFill>
              <a:latin typeface="Verdana" panose="020B0604030504040204" pitchFamily="34" charset="0"/>
            </a:endParaRPr>
          </a:p>
        </p:txBody>
      </p:sp>
      <p:pic>
        <p:nvPicPr>
          <p:cNvPr id="29703" name="图片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4925" y="3862388"/>
            <a:ext cx="1143000"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文本框 11"/>
          <p:cNvSpPr txBox="1">
            <a:spLocks noChangeArrowheads="1"/>
          </p:cNvSpPr>
          <p:nvPr/>
        </p:nvSpPr>
        <p:spPr bwMode="auto">
          <a:xfrm>
            <a:off x="6094413" y="5451475"/>
            <a:ext cx="1860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b="1" dirty="0">
                <a:solidFill>
                  <a:srgbClr val="C00000"/>
                </a:solidFill>
                <a:latin typeface="Verdana" panose="020B0604030504040204" pitchFamily="34" charset="0"/>
              </a:rPr>
              <a:t>Security</a:t>
            </a:r>
            <a:endParaRPr kumimoji="0" lang="zh-CN" altLang="en-US" b="1">
              <a:solidFill>
                <a:srgbClr val="C00000"/>
              </a:solidFill>
              <a:latin typeface="Verdana" panose="020B0604030504040204" pitchFamily="34" charset="0"/>
            </a:endParaRPr>
          </a:p>
        </p:txBody>
      </p:sp>
      <p:pic>
        <p:nvPicPr>
          <p:cNvPr id="29705" name="图片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2975" y="3910013"/>
            <a:ext cx="11430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idx="4294967295"/>
          </p:nvPr>
        </p:nvSpPr>
        <p:spPr>
          <a:xfrm>
            <a:off x="457200" y="182563"/>
            <a:ext cx="8686800" cy="576262"/>
          </a:xfrm>
        </p:spPr>
        <p:txBody>
          <a:bodyPr/>
          <a:lstStyle/>
          <a:p>
            <a:r>
              <a:rPr lang="en-US" altLang="en-US" sz="2800" dirty="0"/>
              <a:t>What Operating Systems Do </a:t>
            </a:r>
            <a:r>
              <a:rPr lang="en-US" altLang="zh-CN" sz="2800" dirty="0"/>
              <a:t>— User view</a:t>
            </a:r>
            <a:endParaRPr lang="en-US" altLang="en-US" sz="2800" dirty="0"/>
          </a:p>
        </p:txBody>
      </p:sp>
      <p:sp>
        <p:nvSpPr>
          <p:cNvPr id="41987" name="Content Placeholder 2"/>
          <p:cNvSpPr>
            <a:spLocks noGrp="1" noChangeArrowheads="1"/>
          </p:cNvSpPr>
          <p:nvPr>
            <p:ph idx="4294967295"/>
          </p:nvPr>
        </p:nvSpPr>
        <p:spPr>
          <a:xfrm>
            <a:off x="806450" y="1233488"/>
            <a:ext cx="7245350" cy="4530725"/>
          </a:xfrm>
        </p:spPr>
        <p:txBody>
          <a:bodyPr/>
          <a:lstStyle/>
          <a:p>
            <a:pPr>
              <a:spcBef>
                <a:spcPct val="0"/>
              </a:spcBef>
              <a:spcAft>
                <a:spcPts val="1800"/>
              </a:spcAft>
              <a:buFont typeface="Wingdings" panose="05000000000000000000" pitchFamily="2" charset="2"/>
              <a:buChar char="q"/>
            </a:pPr>
            <a:r>
              <a:rPr lang="en-US" altLang="en-US" sz="2000" dirty="0"/>
              <a:t>One PC user want convenience, </a:t>
            </a:r>
            <a:r>
              <a:rPr lang="en-US" altLang="en-US" sz="2000" b="1" dirty="0">
                <a:solidFill>
                  <a:srgbClr val="3366FF"/>
                </a:solidFill>
              </a:rPr>
              <a:t>ease</a:t>
            </a:r>
            <a:r>
              <a:rPr lang="en-US" altLang="en-US" sz="2000" dirty="0">
                <a:solidFill>
                  <a:srgbClr val="3366FF"/>
                </a:solidFill>
              </a:rPr>
              <a:t> </a:t>
            </a:r>
            <a:r>
              <a:rPr lang="en-US" altLang="en-US" sz="2000" b="1" dirty="0">
                <a:solidFill>
                  <a:srgbClr val="3366FF"/>
                </a:solidFill>
              </a:rPr>
              <a:t>of</a:t>
            </a:r>
            <a:r>
              <a:rPr lang="en-US" altLang="en-US" sz="2000" dirty="0">
                <a:solidFill>
                  <a:srgbClr val="3366FF"/>
                </a:solidFill>
              </a:rPr>
              <a:t> </a:t>
            </a:r>
            <a:r>
              <a:rPr lang="en-US" altLang="en-US" sz="2000" b="1" dirty="0">
                <a:solidFill>
                  <a:srgbClr val="3366FF"/>
                </a:solidFill>
              </a:rPr>
              <a:t>use </a:t>
            </a:r>
            <a:r>
              <a:rPr lang="en-US" altLang="en-US" sz="2000" dirty="0"/>
              <a:t>and</a:t>
            </a:r>
            <a:r>
              <a:rPr lang="en-US" altLang="en-US" sz="2000" b="1" dirty="0">
                <a:solidFill>
                  <a:srgbClr val="3366FF"/>
                </a:solidFill>
              </a:rPr>
              <a:t> good performance </a:t>
            </a:r>
          </a:p>
          <a:p>
            <a:pPr marL="628650" lvl="1">
              <a:spcBef>
                <a:spcPct val="0"/>
              </a:spcBef>
              <a:spcAft>
                <a:spcPts val="1800"/>
              </a:spcAft>
              <a:buFont typeface="Wingdings" panose="05000000000000000000" pitchFamily="2" charset="2"/>
              <a:buChar char="Ø"/>
            </a:pPr>
            <a:r>
              <a:rPr lang="en-US" altLang="en-US" sz="2000" dirty="0"/>
              <a:t>Don</a:t>
            </a:r>
            <a:r>
              <a:rPr lang="ja-JP" altLang="en-US" sz="2000" dirty="0"/>
              <a:t>’</a:t>
            </a:r>
            <a:r>
              <a:rPr lang="en-US" altLang="ja-JP" sz="2000" dirty="0"/>
              <a:t>t care about </a:t>
            </a:r>
            <a:r>
              <a:rPr lang="en-US" altLang="ja-JP" sz="2000" b="1" dirty="0">
                <a:solidFill>
                  <a:srgbClr val="3366FF"/>
                </a:solidFill>
              </a:rPr>
              <a:t>resource utilization</a:t>
            </a:r>
          </a:p>
          <a:p>
            <a:pPr>
              <a:spcBef>
                <a:spcPct val="0"/>
              </a:spcBef>
              <a:spcAft>
                <a:spcPts val="1800"/>
              </a:spcAft>
              <a:buFont typeface="Wingdings" panose="05000000000000000000" pitchFamily="2" charset="2"/>
              <a:buChar char="q"/>
            </a:pPr>
            <a:r>
              <a:rPr lang="en-US" altLang="en-US" sz="2000" dirty="0"/>
              <a:t>But shared computer such as </a:t>
            </a:r>
            <a:r>
              <a:rPr lang="en-US" altLang="en-US" sz="2000" b="1" dirty="0">
                <a:solidFill>
                  <a:srgbClr val="3366FF"/>
                </a:solidFill>
              </a:rPr>
              <a:t>mainframe</a:t>
            </a:r>
            <a:r>
              <a:rPr lang="en-US" altLang="en-US" sz="2000" dirty="0"/>
              <a:t> or </a:t>
            </a:r>
            <a:r>
              <a:rPr lang="en-US" altLang="en-US" sz="2000" b="1" dirty="0">
                <a:solidFill>
                  <a:srgbClr val="3366FF"/>
                </a:solidFill>
              </a:rPr>
              <a:t>minicomputer</a:t>
            </a:r>
            <a:r>
              <a:rPr lang="en-US" altLang="en-US" sz="2000" dirty="0"/>
              <a:t> must keep all users happy</a:t>
            </a:r>
          </a:p>
          <a:p>
            <a:pPr>
              <a:spcBef>
                <a:spcPct val="0"/>
              </a:spcBef>
              <a:spcAft>
                <a:spcPts val="1800"/>
              </a:spcAft>
              <a:buFont typeface="Wingdings" panose="05000000000000000000" pitchFamily="2" charset="2"/>
              <a:buChar char="q"/>
            </a:pPr>
            <a:r>
              <a:rPr lang="en-US" altLang="en-US" sz="2000" dirty="0">
                <a:solidFill>
                  <a:srgbClr val="000000"/>
                </a:solidFill>
              </a:rPr>
              <a:t>Handheld computers are resource poor, optimized for usability and battery life</a:t>
            </a:r>
          </a:p>
          <a:p>
            <a:pPr>
              <a:spcBef>
                <a:spcPct val="0"/>
              </a:spcBef>
              <a:spcAft>
                <a:spcPts val="1800"/>
              </a:spcAft>
              <a:buFont typeface="Wingdings" panose="05000000000000000000" pitchFamily="2" charset="2"/>
              <a:buChar char="q"/>
            </a:pPr>
            <a:r>
              <a:rPr lang="en-US" altLang="en-US" sz="2000" dirty="0">
                <a:solidFill>
                  <a:srgbClr val="000000"/>
                </a:solidFill>
              </a:rPr>
              <a:t>Some computers have little or no user interface, such as embedded computers in devices and automobiles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1176338" y="166688"/>
            <a:ext cx="7967662" cy="576262"/>
          </a:xfrm>
        </p:spPr>
        <p:txBody>
          <a:bodyPr/>
          <a:lstStyle/>
          <a:p>
            <a:pPr eaLnBrk="1" hangingPunct="1"/>
            <a:r>
              <a:rPr lang="en-US" altLang="en-US" sz="2800" dirty="0"/>
              <a:t>What Operating Systems Do </a:t>
            </a:r>
            <a:r>
              <a:rPr lang="en-US" altLang="zh-CN" sz="2800" dirty="0"/>
              <a:t>— System view</a:t>
            </a:r>
            <a:endParaRPr lang="en-US" altLang="en-US" dirty="0"/>
          </a:p>
        </p:txBody>
      </p:sp>
      <p:sp>
        <p:nvSpPr>
          <p:cNvPr id="44035" name="Rectangle 3"/>
          <p:cNvSpPr>
            <a:spLocks noGrp="1" noChangeArrowheads="1"/>
          </p:cNvSpPr>
          <p:nvPr>
            <p:ph type="body" idx="4294967295"/>
          </p:nvPr>
        </p:nvSpPr>
        <p:spPr>
          <a:xfrm>
            <a:off x="827088" y="1028700"/>
            <a:ext cx="7967662" cy="4265613"/>
          </a:xfrm>
        </p:spPr>
        <p:txBody>
          <a:bodyPr/>
          <a:lstStyle/>
          <a:p>
            <a:pPr>
              <a:buFont typeface="Wingdings" panose="05000000000000000000" pitchFamily="2" charset="2"/>
              <a:buChar char="q"/>
            </a:pPr>
            <a:r>
              <a:rPr lang="en-US" altLang="en-US" sz="2000" dirty="0"/>
              <a:t>OS is a </a:t>
            </a:r>
            <a:r>
              <a:rPr lang="en-US" altLang="en-US" sz="2000" b="1" dirty="0">
                <a:solidFill>
                  <a:srgbClr val="3366FF"/>
                </a:solidFill>
              </a:rPr>
              <a:t>resource allocator</a:t>
            </a:r>
          </a:p>
          <a:p>
            <a:pPr marL="628650" lvl="1">
              <a:buFont typeface="Wingdings" panose="05000000000000000000" pitchFamily="2" charset="2"/>
              <a:buChar char="Ø"/>
            </a:pPr>
            <a:r>
              <a:rPr lang="en-US" altLang="en-US" sz="2000" dirty="0"/>
              <a:t>Manages all resources</a:t>
            </a:r>
          </a:p>
          <a:p>
            <a:pPr marL="914400" lvl="2" indent="-285750"/>
            <a:r>
              <a:rPr lang="en-US" altLang="en-US" sz="2000" dirty="0"/>
              <a:t>Example of resources?</a:t>
            </a:r>
          </a:p>
          <a:p>
            <a:pPr marL="628650" lvl="1">
              <a:buFont typeface="Wingdings" panose="05000000000000000000" pitchFamily="2" charset="2"/>
              <a:buChar char="Ø"/>
            </a:pPr>
            <a:r>
              <a:rPr lang="en-US" altLang="en-US" sz="2000" dirty="0"/>
              <a:t>Decides between conflicting requests for efficient and fair resource use</a:t>
            </a:r>
          </a:p>
          <a:p>
            <a:pPr marL="914400" lvl="2" indent="-285750"/>
            <a:r>
              <a:rPr lang="en-US" altLang="en-US" sz="2000" dirty="0">
                <a:solidFill>
                  <a:srgbClr val="C00000"/>
                </a:solidFill>
              </a:rPr>
              <a:t>Examples of conflicting requests?</a:t>
            </a:r>
          </a:p>
          <a:p>
            <a:pPr marL="914400" lvl="2" indent="-285750"/>
            <a:endParaRPr lang="en-US" altLang="en-US" sz="2000" dirty="0">
              <a:solidFill>
                <a:srgbClr val="C00000"/>
              </a:solidFill>
            </a:endParaRPr>
          </a:p>
          <a:p>
            <a:pPr>
              <a:buFont typeface="Wingdings" panose="05000000000000000000" pitchFamily="2" charset="2"/>
              <a:buChar char="q"/>
            </a:pPr>
            <a:r>
              <a:rPr lang="en-US" altLang="en-US" sz="2000" dirty="0"/>
              <a:t>OS is a </a:t>
            </a:r>
            <a:r>
              <a:rPr lang="en-US" altLang="en-US" sz="2000" b="1" dirty="0">
                <a:solidFill>
                  <a:srgbClr val="3366FF"/>
                </a:solidFill>
              </a:rPr>
              <a:t>control program</a:t>
            </a:r>
          </a:p>
          <a:p>
            <a:pPr marL="628650" lvl="1">
              <a:buFont typeface="Wingdings" panose="05000000000000000000" pitchFamily="2" charset="2"/>
              <a:buChar char="Ø"/>
            </a:pPr>
            <a:r>
              <a:rPr lang="en-US" altLang="en-US" sz="2000" dirty="0"/>
              <a:t>Controls execution of programs to prevent errors and improper use of the computer, especially for I/O</a:t>
            </a:r>
          </a:p>
          <a:p>
            <a:pPr marL="914400" lvl="2" indent="-285750"/>
            <a:r>
              <a:rPr lang="en-US" altLang="en-US" sz="2000" dirty="0">
                <a:solidFill>
                  <a:srgbClr val="C00000"/>
                </a:solidFill>
              </a:rPr>
              <a:t>Examples of improper use of computer?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57200" y="182563"/>
            <a:ext cx="8229600" cy="576262"/>
          </a:xfrm>
        </p:spPr>
        <p:txBody>
          <a:bodyPr/>
          <a:lstStyle/>
          <a:p>
            <a:pPr eaLnBrk="1" hangingPunct="1"/>
            <a:r>
              <a:rPr lang="en-US" altLang="en-US" dirty="0"/>
              <a:t>Computer Startup</a:t>
            </a:r>
          </a:p>
        </p:txBody>
      </p:sp>
      <p:sp>
        <p:nvSpPr>
          <p:cNvPr id="12291" name="Rectangle 3"/>
          <p:cNvSpPr>
            <a:spLocks noGrp="1" noChangeArrowheads="1"/>
          </p:cNvSpPr>
          <p:nvPr>
            <p:ph type="body" idx="4294967295"/>
          </p:nvPr>
        </p:nvSpPr>
        <p:spPr>
          <a:xfrm>
            <a:off x="806450" y="1233488"/>
            <a:ext cx="7969250" cy="4530725"/>
          </a:xfrm>
        </p:spPr>
        <p:txBody>
          <a:bodyPr/>
          <a:lstStyle/>
          <a:p>
            <a:pPr>
              <a:spcBef>
                <a:spcPts val="0"/>
              </a:spcBef>
              <a:spcAft>
                <a:spcPts val="1200"/>
              </a:spcAft>
              <a:buFont typeface="Wingdings" panose="05000000000000000000" pitchFamily="2" charset="2"/>
              <a:buChar char="q"/>
              <a:defRPr/>
            </a:pPr>
            <a:r>
              <a:rPr lang="en-US" altLang="en-US" sz="2000" dirty="0">
                <a:solidFill>
                  <a:srgbClr val="FF0000"/>
                </a:solidFill>
              </a:rPr>
              <a:t>Where is the OS stored on the computer?</a:t>
            </a:r>
          </a:p>
          <a:p>
            <a:pPr>
              <a:spcBef>
                <a:spcPts val="0"/>
              </a:spcBef>
              <a:spcAft>
                <a:spcPts val="1200"/>
              </a:spcAft>
              <a:buFont typeface="Wingdings" panose="05000000000000000000" pitchFamily="2" charset="2"/>
              <a:buChar char="q"/>
              <a:defRPr/>
            </a:pPr>
            <a:r>
              <a:rPr lang="en-US" altLang="en-US" sz="2000" dirty="0">
                <a:solidFill>
                  <a:srgbClr val="FF0000"/>
                </a:solidFill>
              </a:rPr>
              <a:t>What operation or program starts the OS?</a:t>
            </a:r>
          </a:p>
          <a:p>
            <a:pPr>
              <a:spcBef>
                <a:spcPts val="0"/>
              </a:spcBef>
              <a:spcAft>
                <a:spcPts val="1200"/>
              </a:spcAft>
              <a:buFont typeface="Wingdings" panose="05000000000000000000" pitchFamily="2" charset="2"/>
              <a:buChar char="q"/>
              <a:defRPr/>
            </a:pPr>
            <a:r>
              <a:rPr lang="en-US" altLang="en-US" sz="2000" b="1" dirty="0">
                <a:solidFill>
                  <a:srgbClr val="3366FF"/>
                </a:solidFill>
              </a:rPr>
              <a:t>bootstrap program</a:t>
            </a:r>
            <a:r>
              <a:rPr lang="en-US" altLang="en-US" sz="2000" dirty="0">
                <a:solidFill>
                  <a:srgbClr val="3366FF"/>
                </a:solidFill>
              </a:rPr>
              <a:t> </a:t>
            </a:r>
            <a:r>
              <a:rPr lang="en-US" altLang="en-US" sz="2000" dirty="0"/>
              <a:t>is loaded at power-up or reboot</a:t>
            </a:r>
          </a:p>
          <a:p>
            <a:pPr lvl="1">
              <a:spcBef>
                <a:spcPts val="0"/>
              </a:spcBef>
              <a:spcAft>
                <a:spcPts val="1200"/>
              </a:spcAft>
              <a:buFont typeface="Wingdings" panose="05000000000000000000" pitchFamily="2" charset="2"/>
              <a:buChar char="Ø"/>
              <a:defRPr/>
            </a:pPr>
            <a:r>
              <a:rPr lang="en-US" altLang="en-US" sz="2000" dirty="0"/>
              <a:t>Loads operating system kernel and starts execution</a:t>
            </a:r>
          </a:p>
          <a:p>
            <a:pPr lvl="2">
              <a:spcBef>
                <a:spcPts val="0"/>
              </a:spcBef>
              <a:spcAft>
                <a:spcPts val="1200"/>
              </a:spcAft>
              <a:defRPr/>
            </a:pPr>
            <a:r>
              <a:rPr lang="en-US" altLang="en-US" sz="2000" dirty="0"/>
              <a:t>Locate the operating-system kernel and load it into memory</a:t>
            </a:r>
          </a:p>
          <a:p>
            <a:pPr lvl="1">
              <a:spcBef>
                <a:spcPts val="0"/>
              </a:spcBef>
              <a:spcAft>
                <a:spcPts val="1200"/>
              </a:spcAft>
              <a:buFont typeface="Wingdings" panose="05000000000000000000" pitchFamily="2" charset="2"/>
              <a:buChar char="Ø"/>
              <a:defRPr/>
            </a:pPr>
            <a:r>
              <a:rPr lang="en-US" altLang="en-US" sz="2000" dirty="0"/>
              <a:t>Some services are provided outside of the kernel, by </a:t>
            </a:r>
            <a:r>
              <a:rPr lang="en-US" altLang="en-US" sz="2000" b="1" dirty="0">
                <a:solidFill>
                  <a:srgbClr val="3366FF"/>
                </a:solidFill>
              </a:rPr>
              <a:t>system software</a:t>
            </a:r>
          </a:p>
          <a:p>
            <a:pPr lvl="1">
              <a:spcBef>
                <a:spcPts val="0"/>
              </a:spcBef>
              <a:spcAft>
                <a:spcPts val="1200"/>
              </a:spcAft>
              <a:buFont typeface="Wingdings" panose="05000000000000000000" pitchFamily="2" charset="2"/>
              <a:buChar char="Ø"/>
              <a:defRPr/>
            </a:pPr>
            <a:r>
              <a:rPr lang="en-US" altLang="en-US" sz="2000" dirty="0">
                <a:solidFill>
                  <a:srgbClr val="000000"/>
                </a:solidFill>
              </a:rPr>
              <a:t>Typically stored in ROM, generally known as </a:t>
            </a:r>
            <a:r>
              <a:rPr lang="en-US" altLang="en-US" sz="2000" b="1" dirty="0">
                <a:solidFill>
                  <a:srgbClr val="3366FF"/>
                </a:solidFill>
              </a:rPr>
              <a:t>firmware</a:t>
            </a:r>
          </a:p>
          <a:p>
            <a:pPr marL="342900" lvl="1" indent="-342900">
              <a:buClr>
                <a:srgbClr val="993300"/>
              </a:buClr>
              <a:buSzPct val="90000"/>
              <a:buFont typeface="Wingdings" panose="05000000000000000000" pitchFamily="2" charset="2"/>
              <a:buChar char="q"/>
              <a:defRPr/>
            </a:pPr>
            <a:endParaRPr lang="en-US" altLang="en-US" dirty="0"/>
          </a:p>
          <a:p>
            <a:pPr lvl="1">
              <a:buFont typeface="Monotype Sorts"/>
              <a:buChar char="l"/>
              <a:defRPr/>
            </a:pPr>
            <a:endParaRPr lang="en-US" altLang="en-US" dirty="0">
              <a:solidFill>
                <a:srgbClr val="3366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57200" y="182563"/>
            <a:ext cx="8229600" cy="576262"/>
          </a:xfrm>
        </p:spPr>
        <p:txBody>
          <a:bodyPr/>
          <a:lstStyle/>
          <a:p>
            <a:pPr eaLnBrk="1" hangingPunct="1"/>
            <a:r>
              <a:rPr lang="en-US" altLang="en-US" dirty="0"/>
              <a:t>Computer Startup</a:t>
            </a:r>
          </a:p>
        </p:txBody>
      </p:sp>
      <p:sp>
        <p:nvSpPr>
          <p:cNvPr id="12291" name="Rectangle 3"/>
          <p:cNvSpPr>
            <a:spLocks noGrp="1" noChangeArrowheads="1"/>
          </p:cNvSpPr>
          <p:nvPr>
            <p:ph type="body" idx="4294967295"/>
          </p:nvPr>
        </p:nvSpPr>
        <p:spPr>
          <a:xfrm>
            <a:off x="806450" y="1233488"/>
            <a:ext cx="7969250" cy="4530725"/>
          </a:xfrm>
        </p:spPr>
        <p:txBody>
          <a:bodyPr/>
          <a:lstStyle/>
          <a:p>
            <a:pPr>
              <a:spcBef>
                <a:spcPts val="0"/>
              </a:spcBef>
              <a:spcAft>
                <a:spcPts val="1200"/>
              </a:spcAft>
              <a:buFont typeface="Wingdings" panose="05000000000000000000" pitchFamily="2" charset="2"/>
              <a:buChar char="q"/>
              <a:defRPr/>
            </a:pPr>
            <a:r>
              <a:rPr lang="en-US" altLang="en-US" sz="2000" dirty="0">
                <a:solidFill>
                  <a:srgbClr val="FF0000"/>
                </a:solidFill>
              </a:rPr>
              <a:t>How they differ between the kernel and operating system?</a:t>
            </a:r>
          </a:p>
          <a:p>
            <a:pPr lvl="1">
              <a:spcBef>
                <a:spcPts val="0"/>
              </a:spcBef>
              <a:spcAft>
                <a:spcPts val="1200"/>
              </a:spcAft>
              <a:buFont typeface="Wingdings" panose="05000000000000000000" pitchFamily="2" charset="2"/>
              <a:buChar char="q"/>
              <a:defRPr/>
            </a:pPr>
            <a:r>
              <a:rPr lang="en-US" altLang="en-US" dirty="0"/>
              <a:t>The </a:t>
            </a:r>
            <a:r>
              <a:rPr lang="en-US" altLang="en-US" b="1" dirty="0"/>
              <a:t>kernel </a:t>
            </a:r>
            <a:r>
              <a:rPr lang="en-US" altLang="en-US" dirty="0"/>
              <a:t>is the core component of an operating system (OS), but the operating system as a whole is more than just the kernel. </a:t>
            </a:r>
          </a:p>
        </p:txBody>
      </p:sp>
      <p:pic>
        <p:nvPicPr>
          <p:cNvPr id="5" name="图片 4" descr="图形用户界面, 文本, 应用程序, 电子邮件&#10;&#10;AI 生成的内容可能不正确。"/>
          <p:cNvPicPr>
            <a:picLocks noChangeAspect="1"/>
          </p:cNvPicPr>
          <p:nvPr/>
        </p:nvPicPr>
        <p:blipFill>
          <a:blip r:embed="rId3"/>
          <a:stretch>
            <a:fillRect/>
          </a:stretch>
        </p:blipFill>
        <p:spPr>
          <a:xfrm>
            <a:off x="749947" y="2472909"/>
            <a:ext cx="8025753" cy="36261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title" idx="4294967295"/>
          </p:nvPr>
        </p:nvSpPr>
        <p:spPr>
          <a:xfrm>
            <a:off x="835025" y="166688"/>
            <a:ext cx="8229600" cy="576262"/>
          </a:xfrm>
        </p:spPr>
        <p:txBody>
          <a:bodyPr/>
          <a:lstStyle/>
          <a:p>
            <a:r>
              <a:rPr lang="en-US" altLang="en-US" dirty="0"/>
              <a:t>How a Modern Computer Works</a:t>
            </a:r>
          </a:p>
        </p:txBody>
      </p:sp>
      <p:pic>
        <p:nvPicPr>
          <p:cNvPr id="50179" name="Picture 5"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8425" y="1295400"/>
            <a:ext cx="6219825" cy="494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Box 3"/>
          <p:cNvSpPr txBox="1">
            <a:spLocks noChangeArrowheads="1"/>
          </p:cNvSpPr>
          <p:nvPr/>
        </p:nvSpPr>
        <p:spPr bwMode="auto">
          <a:xfrm>
            <a:off x="4375202" y="5224462"/>
            <a:ext cx="32845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6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Arial" panose="020B0604020202020204" pitchFamily="34" charset="0"/>
              </a:rPr>
              <a:t>instruction-execution cycle</a:t>
            </a:r>
          </a:p>
        </p:txBody>
      </p:sp>
      <p:sp>
        <p:nvSpPr>
          <p:cNvPr id="3" name="文本框 2"/>
          <p:cNvSpPr txBox="1"/>
          <p:nvPr/>
        </p:nvSpPr>
        <p:spPr>
          <a:xfrm>
            <a:off x="4375202" y="5734635"/>
            <a:ext cx="4572000" cy="338554"/>
          </a:xfrm>
          <a:prstGeom prst="rect">
            <a:avLst/>
          </a:prstGeom>
          <a:noFill/>
        </p:spPr>
        <p:txBody>
          <a:bodyPr wrap="square">
            <a:spAutoFit/>
          </a:bodyPr>
          <a:lstStyle/>
          <a:p>
            <a:r>
              <a:rPr lang="en-US" altLang="zh-CN" sz="1600" dirty="0"/>
              <a:t>Fetch-Decode–Execute mode </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024" y="1166345"/>
            <a:ext cx="5154560" cy="2547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p:cNvSpPr>
            <a:spLocks noGrp="1" noChangeArrowheads="1"/>
          </p:cNvSpPr>
          <p:nvPr>
            <p:ph type="title" idx="4294967295"/>
          </p:nvPr>
        </p:nvSpPr>
        <p:spPr>
          <a:xfrm>
            <a:off x="457200" y="214313"/>
            <a:ext cx="8229600" cy="576262"/>
          </a:xfrm>
        </p:spPr>
        <p:txBody>
          <a:bodyPr/>
          <a:lstStyle/>
          <a:p>
            <a:pPr eaLnBrk="1" hangingPunct="1"/>
            <a:r>
              <a:rPr lang="en-US" altLang="en-US" dirty="0"/>
              <a:t>Computer System Organization</a:t>
            </a:r>
          </a:p>
        </p:txBody>
      </p:sp>
      <p:sp>
        <p:nvSpPr>
          <p:cNvPr id="31749" name="文本框 1"/>
          <p:cNvSpPr txBox="1">
            <a:spLocks noChangeArrowheads="1"/>
          </p:cNvSpPr>
          <p:nvPr/>
        </p:nvSpPr>
        <p:spPr bwMode="auto">
          <a:xfrm>
            <a:off x="6730584" y="2286148"/>
            <a:ext cx="1008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b="1" dirty="0">
                <a:solidFill>
                  <a:srgbClr val="C00000"/>
                </a:solidFill>
                <a:latin typeface="Verdana" panose="020B0604030504040204" pitchFamily="34" charset="0"/>
              </a:rPr>
              <a:t>Buffer</a:t>
            </a:r>
            <a:endParaRPr kumimoji="0" lang="zh-CN" altLang="en-US" sz="1600" b="1" dirty="0">
              <a:solidFill>
                <a:srgbClr val="C00000"/>
              </a:solidFill>
              <a:latin typeface="Verdana" panose="020B0604030504040204" pitchFamily="34" charset="0"/>
            </a:endParaRPr>
          </a:p>
        </p:txBody>
      </p:sp>
      <p:sp>
        <p:nvSpPr>
          <p:cNvPr id="2" name="文本框 1"/>
          <p:cNvSpPr txBox="1">
            <a:spLocks noChangeArrowheads="1"/>
          </p:cNvSpPr>
          <p:nvPr/>
        </p:nvSpPr>
        <p:spPr bwMode="auto">
          <a:xfrm>
            <a:off x="6617715" y="1428541"/>
            <a:ext cx="15132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lang="en-US" altLang="zh-CN" sz="1600" dirty="0">
                <a:latin typeface="+mn-lt"/>
              </a:rPr>
              <a:t>I/O devices</a:t>
            </a:r>
            <a:endParaRPr lang="zh-CN" altLang="en-US" sz="1600" dirty="0">
              <a:latin typeface="+mn-lt"/>
            </a:endParaRPr>
          </a:p>
        </p:txBody>
      </p:sp>
      <p:sp>
        <p:nvSpPr>
          <p:cNvPr id="3" name="文本框 2"/>
          <p:cNvSpPr txBox="1">
            <a:spLocks noChangeArrowheads="1"/>
          </p:cNvSpPr>
          <p:nvPr/>
        </p:nvSpPr>
        <p:spPr bwMode="auto">
          <a:xfrm>
            <a:off x="5104489" y="2862600"/>
            <a:ext cx="15132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lang="en-US" altLang="zh-CN" sz="1600" dirty="0">
                <a:latin typeface="+mn-lt"/>
              </a:rPr>
              <a:t>System bus</a:t>
            </a:r>
            <a:endParaRPr lang="zh-CN" altLang="en-US" sz="1600" dirty="0">
              <a:latin typeface="+mn-lt"/>
            </a:endParaRPr>
          </a:p>
        </p:txBody>
      </p:sp>
      <p:sp>
        <p:nvSpPr>
          <p:cNvPr id="5" name="文本框 4"/>
          <p:cNvSpPr txBox="1"/>
          <p:nvPr/>
        </p:nvSpPr>
        <p:spPr>
          <a:xfrm>
            <a:off x="534649" y="3978238"/>
            <a:ext cx="8229600" cy="2566857"/>
          </a:xfrm>
          <a:prstGeom prst="rect">
            <a:avLst/>
          </a:prstGeom>
          <a:noFill/>
        </p:spPr>
        <p:txBody>
          <a:bodyPr wrap="square">
            <a:spAutoFit/>
          </a:bodyPr>
          <a:lstStyle/>
          <a:p>
            <a:pPr marL="342900" indent="-342900" eaLnBrk="1" hangingPunct="1">
              <a:spcBef>
                <a:spcPct val="35000"/>
              </a:spcBef>
              <a:buClr>
                <a:srgbClr val="993300"/>
              </a:buClr>
              <a:buSzPct val="90000"/>
              <a:buFont typeface="Wingdings" panose="05000000000000000000" pitchFamily="2" charset="2"/>
              <a:buChar char="q"/>
            </a:pPr>
            <a:r>
              <a:rPr kumimoji="1" lang="en-US" altLang="zh-CN" sz="1600" dirty="0">
                <a:latin typeface="+mn-lt"/>
              </a:rPr>
              <a:t>An I/O operation is initiated by CPU and the I/O controllers take care of transferring and completing the I/O operation. </a:t>
            </a:r>
          </a:p>
          <a:p>
            <a:pPr marL="342900" indent="-342900" eaLnBrk="1" hangingPunct="1">
              <a:spcBef>
                <a:spcPct val="35000"/>
              </a:spcBef>
              <a:buClr>
                <a:srgbClr val="993300"/>
              </a:buClr>
              <a:buSzPct val="90000"/>
              <a:buFont typeface="Wingdings" panose="05000000000000000000" pitchFamily="2" charset="2"/>
              <a:buChar char="q"/>
            </a:pPr>
            <a:r>
              <a:rPr kumimoji="1" lang="en-US" altLang="zh-CN" sz="1600" dirty="0">
                <a:latin typeface="+mn-lt"/>
              </a:rPr>
              <a:t>The devices operate at wide-ranging data transfer speed and also many different interface standards.</a:t>
            </a:r>
          </a:p>
          <a:p>
            <a:pPr marL="342900" indent="-342900" eaLnBrk="1" hangingPunct="1">
              <a:spcBef>
                <a:spcPct val="35000"/>
              </a:spcBef>
              <a:buClr>
                <a:srgbClr val="993300"/>
              </a:buClr>
              <a:buSzPct val="90000"/>
              <a:buFont typeface="Wingdings" panose="05000000000000000000" pitchFamily="2" charset="2"/>
              <a:buChar char="q"/>
            </a:pPr>
            <a:r>
              <a:rPr kumimoji="1" lang="en-US" altLang="zh-CN" sz="1600" dirty="0">
                <a:latin typeface="+mn-lt"/>
              </a:rPr>
              <a:t>It is overloading on the part of CPU to deal with these devices directly. I/O controllers play a bridging role between CPU, Memory and I/O devices by taking care of all kinds of communication.</a:t>
            </a:r>
          </a:p>
          <a:p>
            <a:pPr marL="342900" indent="-342900" eaLnBrk="1" hangingPunct="1">
              <a:spcBef>
                <a:spcPct val="35000"/>
              </a:spcBef>
              <a:buClr>
                <a:srgbClr val="993300"/>
              </a:buClr>
              <a:buSzPct val="90000"/>
              <a:buFont typeface="Wingdings" panose="05000000000000000000" pitchFamily="2" charset="2"/>
              <a:buChar char="q"/>
            </a:pPr>
            <a:r>
              <a:rPr kumimoji="1" lang="en-US" altLang="zh-CN" sz="1600" dirty="0">
                <a:latin typeface="+mn-lt"/>
              </a:rPr>
              <a:t>Due to heterogeneity of the devices, each device/type of interface requires an I/O Controller </a:t>
            </a:r>
            <a:endParaRPr kumimoji="1" lang="zh-CN" altLang="en-US" sz="1600" dirty="0">
              <a:latin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6538" y="3852863"/>
            <a:ext cx="5884862"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2"/>
          <p:cNvSpPr>
            <a:spLocks noGrp="1" noChangeArrowheads="1"/>
          </p:cNvSpPr>
          <p:nvPr>
            <p:ph type="title" idx="4294967295"/>
          </p:nvPr>
        </p:nvSpPr>
        <p:spPr>
          <a:xfrm>
            <a:off x="457200" y="214313"/>
            <a:ext cx="8229600" cy="576262"/>
          </a:xfrm>
        </p:spPr>
        <p:txBody>
          <a:bodyPr/>
          <a:lstStyle/>
          <a:p>
            <a:pPr eaLnBrk="1" hangingPunct="1"/>
            <a:r>
              <a:rPr lang="en-US" altLang="en-US" dirty="0"/>
              <a:t>Computer System Organization</a:t>
            </a:r>
          </a:p>
        </p:txBody>
      </p:sp>
      <p:sp>
        <p:nvSpPr>
          <p:cNvPr id="41987" name="Rectangle 3"/>
          <p:cNvSpPr>
            <a:spLocks noGrp="1" noChangeArrowheads="1"/>
          </p:cNvSpPr>
          <p:nvPr>
            <p:ph type="body" idx="4294967295"/>
          </p:nvPr>
        </p:nvSpPr>
        <p:spPr>
          <a:xfrm>
            <a:off x="826365" y="1059727"/>
            <a:ext cx="7725352" cy="4530725"/>
          </a:xfrm>
        </p:spPr>
        <p:txBody>
          <a:bodyPr/>
          <a:lstStyle/>
          <a:p>
            <a:pPr marL="342900" lvl="1" indent="-342900">
              <a:spcBef>
                <a:spcPts val="0"/>
              </a:spcBef>
              <a:spcAft>
                <a:spcPts val="1200"/>
              </a:spcAft>
              <a:buClr>
                <a:srgbClr val="993300"/>
              </a:buClr>
              <a:buSzPct val="90000"/>
              <a:buFont typeface="Wingdings" panose="05000000000000000000" pitchFamily="2" charset="2"/>
              <a:buChar char="q"/>
              <a:defRPr/>
            </a:pPr>
            <a:r>
              <a:rPr lang="en-US" altLang="en-US" dirty="0"/>
              <a:t>One or more </a:t>
            </a:r>
            <a:r>
              <a:rPr lang="en-US" altLang="en-US" b="1" dirty="0">
                <a:solidFill>
                  <a:srgbClr val="3366FF"/>
                </a:solidFill>
              </a:rPr>
              <a:t>CPUs</a:t>
            </a:r>
            <a:r>
              <a:rPr lang="en-US" altLang="en-US" dirty="0"/>
              <a:t>, </a:t>
            </a:r>
            <a:r>
              <a:rPr lang="en-US" altLang="en-US" b="1" dirty="0">
                <a:solidFill>
                  <a:srgbClr val="3366FF"/>
                </a:solidFill>
              </a:rPr>
              <a:t>device controllers </a:t>
            </a:r>
            <a:r>
              <a:rPr lang="en-US" altLang="en-US" dirty="0"/>
              <a:t>connect through common </a:t>
            </a:r>
            <a:r>
              <a:rPr lang="en-US" altLang="en-US" b="1" dirty="0">
                <a:solidFill>
                  <a:srgbClr val="3366FF"/>
                </a:solidFill>
              </a:rPr>
              <a:t>bus</a:t>
            </a:r>
            <a:r>
              <a:rPr lang="en-US" altLang="en-US" dirty="0"/>
              <a:t> providing access to </a:t>
            </a:r>
            <a:r>
              <a:rPr lang="en-US" altLang="en-US" b="1" dirty="0">
                <a:solidFill>
                  <a:srgbClr val="3366FF"/>
                </a:solidFill>
              </a:rPr>
              <a:t>shared memory</a:t>
            </a:r>
          </a:p>
          <a:p>
            <a:pPr marL="628650" lvl="1">
              <a:spcBef>
                <a:spcPts val="0"/>
              </a:spcBef>
              <a:spcAft>
                <a:spcPts val="1200"/>
              </a:spcAft>
              <a:buFont typeface="Wingdings" panose="05000000000000000000" pitchFamily="2" charset="2"/>
              <a:buChar char="Ø"/>
              <a:defRPr/>
            </a:pPr>
            <a:r>
              <a:rPr lang="en-US" altLang="en-US" dirty="0"/>
              <a:t>Each device controller is in charge of a particular device type</a:t>
            </a:r>
          </a:p>
          <a:p>
            <a:pPr marL="628650" lvl="1">
              <a:spcBef>
                <a:spcPts val="0"/>
              </a:spcBef>
              <a:spcAft>
                <a:spcPts val="1200"/>
              </a:spcAft>
              <a:buFont typeface="Wingdings" panose="05000000000000000000" pitchFamily="2" charset="2"/>
              <a:buChar char="Ø"/>
              <a:defRPr/>
            </a:pPr>
            <a:r>
              <a:rPr lang="en-US" altLang="en-US" dirty="0"/>
              <a:t>The CPU and the device controllers can </a:t>
            </a:r>
            <a:r>
              <a:rPr lang="en-US" altLang="en-US" b="1" dirty="0">
                <a:solidFill>
                  <a:srgbClr val="C00000"/>
                </a:solidFill>
              </a:rPr>
              <a:t>execute concurrently</a:t>
            </a:r>
            <a:r>
              <a:rPr lang="en-US" altLang="en-US" dirty="0"/>
              <a:t>, </a:t>
            </a:r>
            <a:r>
              <a:rPr lang="en-US" altLang="en-US" dirty="0">
                <a:highlight>
                  <a:srgbClr val="FFFF00"/>
                </a:highlight>
              </a:rPr>
              <a:t>competing for memory cycles</a:t>
            </a:r>
          </a:p>
          <a:p>
            <a:pPr marL="628650" lvl="1">
              <a:spcBef>
                <a:spcPts val="0"/>
              </a:spcBef>
              <a:spcAft>
                <a:spcPts val="1200"/>
              </a:spcAft>
              <a:buFont typeface="Wingdings" panose="05000000000000000000" pitchFamily="2" charset="2"/>
              <a:buChar char="Ø"/>
              <a:defRPr/>
            </a:pPr>
            <a:r>
              <a:rPr lang="en-US" altLang="en-US" dirty="0"/>
              <a:t>To ensure </a:t>
            </a:r>
            <a:r>
              <a:rPr lang="en-US" altLang="en-US" b="1" dirty="0">
                <a:solidFill>
                  <a:srgbClr val="C00000"/>
                </a:solidFill>
              </a:rPr>
              <a:t>orderly access </a:t>
            </a:r>
            <a:r>
              <a:rPr lang="en-US" altLang="en-US" dirty="0"/>
              <a:t>to the shared memory, a </a:t>
            </a:r>
            <a:r>
              <a:rPr lang="en-US" altLang="en-US" b="1" dirty="0">
                <a:solidFill>
                  <a:srgbClr val="3366FF"/>
                </a:solidFill>
              </a:rPr>
              <a:t>memory controller </a:t>
            </a:r>
            <a:r>
              <a:rPr lang="en-US" altLang="en-US" dirty="0"/>
              <a:t>is provided whose function is to </a:t>
            </a:r>
            <a:r>
              <a:rPr lang="en-US" altLang="en-US" b="1" dirty="0">
                <a:solidFill>
                  <a:srgbClr val="C00000"/>
                </a:solidFill>
              </a:rPr>
              <a:t>synchronize access </a:t>
            </a:r>
            <a:r>
              <a:rPr lang="en-US" altLang="en-US" dirty="0"/>
              <a:t>to the memory</a:t>
            </a:r>
            <a:endParaRPr lang="en-US" altLang="en-US" sz="1600" dirty="0"/>
          </a:p>
          <a:p>
            <a:pPr lvl="1">
              <a:defRPr/>
            </a:pPr>
            <a:endParaRPr lang="en-US" altLang="en-US" dirty="0"/>
          </a:p>
        </p:txBody>
      </p:sp>
      <p:sp>
        <p:nvSpPr>
          <p:cNvPr id="39941" name="文本框 1"/>
          <p:cNvSpPr txBox="1">
            <a:spLocks noChangeArrowheads="1"/>
          </p:cNvSpPr>
          <p:nvPr/>
        </p:nvSpPr>
        <p:spPr bwMode="auto">
          <a:xfrm>
            <a:off x="7678738" y="5137150"/>
            <a:ext cx="1008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600" b="1" dirty="0">
                <a:solidFill>
                  <a:srgbClr val="C00000"/>
                </a:solidFill>
                <a:latin typeface="Verdana" panose="020B0604030504040204" pitchFamily="34" charset="0"/>
              </a:rPr>
              <a:t>Buffer</a:t>
            </a:r>
            <a:endParaRPr kumimoji="0" lang="zh-CN" altLang="en-US" b="1">
              <a:solidFill>
                <a:srgbClr val="C00000"/>
              </a:solidFill>
              <a:latin typeface="Verdan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panose="020B060403050404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pPr eaLnBrk="1" hangingPunct="1"/>
            <a:r>
              <a:rPr lang="en-US" altLang="en-US" dirty="0"/>
              <a:t>I/O Operations</a:t>
            </a:r>
          </a:p>
        </p:txBody>
      </p:sp>
      <p:sp>
        <p:nvSpPr>
          <p:cNvPr id="35844" name="文本框 3"/>
          <p:cNvSpPr txBox="1">
            <a:spLocks noChangeArrowheads="1"/>
          </p:cNvSpPr>
          <p:nvPr/>
        </p:nvSpPr>
        <p:spPr bwMode="auto">
          <a:xfrm>
            <a:off x="651948" y="1152010"/>
            <a:ext cx="64737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rPr>
              <a:t>How CPU gets a character from the keyboard?</a:t>
            </a:r>
            <a:endParaRPr kumimoji="0" lang="zh-CN" altLang="en-US"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endParaRPr>
          </a:p>
        </p:txBody>
      </p:sp>
      <p:sp>
        <p:nvSpPr>
          <p:cNvPr id="4" name="文本框 3"/>
          <p:cNvSpPr txBox="1"/>
          <p:nvPr/>
        </p:nvSpPr>
        <p:spPr>
          <a:xfrm>
            <a:off x="586164" y="4797930"/>
            <a:ext cx="8229599"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Programmed I/O</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Interrupted I/O</a:t>
            </a:r>
          </a:p>
          <a:p>
            <a:pPr marL="0" marR="0" lvl="0" indent="0" algn="l" defTabSz="914400" rtl="0" eaLnBrk="0" fontAlgn="base" latinLnBrk="0" hangingPunct="0">
              <a:lnSpc>
                <a:spcPct val="100000"/>
              </a:lnSpc>
              <a:spcBef>
                <a:spcPct val="0"/>
              </a:spcBef>
              <a:spcAft>
                <a:spcPct val="0"/>
              </a:spcAft>
              <a:buClrTx/>
              <a:buSzTx/>
              <a:buFontTx/>
              <a:buNone/>
              <a:defRPr/>
            </a:pPr>
            <a:endParaRPr lang="en-US" altLang="zh-CN" b="1" dirty="0">
              <a:solidFill>
                <a:srgbClr val="000000"/>
              </a:solidFill>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Direct Memory Access (DMA)</a:t>
            </a:r>
            <a:endParaRPr kumimoji="0" lang="zh-CN" altLang="en-US"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pic>
        <p:nvPicPr>
          <p:cNvPr id="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5493" y="1740500"/>
            <a:ext cx="5586745" cy="276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pPr eaLnBrk="1" hangingPunct="1"/>
            <a:r>
              <a:rPr lang="en-US" altLang="en-US" dirty="0"/>
              <a:t>Programmed I/O</a:t>
            </a:r>
          </a:p>
        </p:txBody>
      </p:sp>
      <p:sp>
        <p:nvSpPr>
          <p:cNvPr id="35844" name="文本框 3"/>
          <p:cNvSpPr txBox="1">
            <a:spLocks noChangeArrowheads="1"/>
          </p:cNvSpPr>
          <p:nvPr/>
        </p:nvSpPr>
        <p:spPr bwMode="auto">
          <a:xfrm>
            <a:off x="651948" y="1152010"/>
            <a:ext cx="64737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rPr>
              <a:t>How CPU gets a character from the keyboard?</a:t>
            </a:r>
            <a:endParaRPr kumimoji="0" lang="zh-CN" altLang="en-US"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endParaRPr>
          </a:p>
        </p:txBody>
      </p:sp>
      <p:sp>
        <p:nvSpPr>
          <p:cNvPr id="4" name="文本框 3"/>
          <p:cNvSpPr txBox="1"/>
          <p:nvPr/>
        </p:nvSpPr>
        <p:spPr>
          <a:xfrm>
            <a:off x="651947" y="1731144"/>
            <a:ext cx="8229599"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Programmed I/O</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 technique that we use to transfer data between the processor and the I/O module.</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Regulated with the help of a program.</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pic>
        <p:nvPicPr>
          <p:cNvPr id="6" name="图片 5" descr="图示&#10;&#10;描述已自动生成"/>
          <p:cNvPicPr>
            <a:picLocks noChangeAspect="1"/>
          </p:cNvPicPr>
          <p:nvPr/>
        </p:nvPicPr>
        <p:blipFill>
          <a:blip r:embed="rId3"/>
          <a:stretch>
            <a:fillRect/>
          </a:stretch>
        </p:blipFill>
        <p:spPr>
          <a:xfrm>
            <a:off x="5402677" y="2492689"/>
            <a:ext cx="3609346" cy="5862638"/>
          </a:xfrm>
          <a:prstGeom prst="rect">
            <a:avLst/>
          </a:prstGeom>
        </p:spPr>
      </p:pic>
      <p:sp>
        <p:nvSpPr>
          <p:cNvPr id="7" name="文本框 3"/>
          <p:cNvSpPr txBox="1">
            <a:spLocks noChangeArrowheads="1"/>
          </p:cNvSpPr>
          <p:nvPr/>
        </p:nvSpPr>
        <p:spPr bwMode="auto">
          <a:xfrm>
            <a:off x="561332" y="3572585"/>
            <a:ext cx="54028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rPr>
              <a:t>What’s the greatest drawback of programmed I/O?</a:t>
            </a:r>
            <a:endParaRPr kumimoji="0" lang="zh-CN" altLang="en-US" sz="2000" b="0" i="0" u="none" strike="noStrike" kern="1200" cap="none" spc="0" normalizeH="0" baseline="0" noProof="0" dirty="0">
              <a:ln>
                <a:noFill/>
              </a:ln>
              <a:solidFill>
                <a:srgbClr val="C00000"/>
              </a:solidFill>
              <a:effectLst/>
              <a:uLnTx/>
              <a:uFillTx/>
              <a:latin typeface="Verdana" panose="020B0604030504040204" pitchFamily="34" charset="0"/>
              <a:ea typeface="MS PGothic" panose="020B0600070205080204" pitchFamily="34" charset="-128"/>
              <a:cs typeface="+mn-cs"/>
            </a:endParaRPr>
          </a:p>
        </p:txBody>
      </p:sp>
      <p:sp>
        <p:nvSpPr>
          <p:cNvPr id="9" name="文本框 8"/>
          <p:cNvSpPr txBox="1"/>
          <p:nvPr/>
        </p:nvSpPr>
        <p:spPr>
          <a:xfrm>
            <a:off x="651946" y="4335363"/>
            <a:ext cx="4882707"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a processor keeps on checking whether the I/O module is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ready for reception and transmission </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of data or whether the I/O module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has completed the desired task or not</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This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long waiting </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of the processor deteriorates the performance of the system.</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randombar(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pPr eaLnBrk="1" hangingPunct="1"/>
            <a:r>
              <a:rPr lang="en-US" altLang="en-US" dirty="0"/>
              <a:t>Programmed I/O</a:t>
            </a:r>
          </a:p>
        </p:txBody>
      </p:sp>
      <p:sp>
        <p:nvSpPr>
          <p:cNvPr id="4" name="文本框 3"/>
          <p:cNvSpPr txBox="1"/>
          <p:nvPr/>
        </p:nvSpPr>
        <p:spPr>
          <a:xfrm>
            <a:off x="661133" y="2540290"/>
            <a:ext cx="4502925"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Programmed I/O</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defRPr/>
            </a:pPr>
            <a:endParaRPr lang="en-US" altLang="zh-CN" dirty="0">
              <a:solidFill>
                <a:srgbClr val="000000"/>
              </a:solidFill>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The I/O module does not notify the processor that it has performed the desired task. Moreover, it’s the processors’ responsibility to periodically check the status of the I/O module till it finds that the I/O has successfully completed the desired task.</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pic>
        <p:nvPicPr>
          <p:cNvPr id="6" name="图片 5" descr="图示&#10;&#10;描述已自动生成"/>
          <p:cNvPicPr>
            <a:picLocks noChangeAspect="1"/>
          </p:cNvPicPr>
          <p:nvPr/>
        </p:nvPicPr>
        <p:blipFill>
          <a:blip r:embed="rId3"/>
          <a:stretch>
            <a:fillRect/>
          </a:stretch>
        </p:blipFill>
        <p:spPr>
          <a:xfrm>
            <a:off x="5534653" y="870219"/>
            <a:ext cx="3609346" cy="58626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Interrupted I/O</a:t>
            </a:r>
          </a:p>
        </p:txBody>
      </p:sp>
      <p:sp>
        <p:nvSpPr>
          <p:cNvPr id="4" name="文本框 3"/>
          <p:cNvSpPr txBox="1"/>
          <p:nvPr/>
        </p:nvSpPr>
        <p:spPr>
          <a:xfrm>
            <a:off x="368354" y="1030500"/>
            <a:ext cx="5095930"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Interrupted I/O</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an approach to transfer data between ‘memory’ and ‘I/O devices’ through the ‘processor’</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Involves the use of </a:t>
            </a: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interrupt</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to exchange data between I/O and memory.</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Main idea: after issuing the I/O command to the I/O module the processor can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get itself busy doing some other work</a:t>
            </a:r>
            <a:endParaRPr kumimoji="0" lang="zh-CN" altLang="en-US"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endParaRPr>
          </a:p>
        </p:txBody>
      </p:sp>
      <p:pic>
        <p:nvPicPr>
          <p:cNvPr id="3" name="图片 2" descr="图示&#10;&#10;描述已自动生成"/>
          <p:cNvPicPr>
            <a:picLocks noChangeAspect="1"/>
          </p:cNvPicPr>
          <p:nvPr/>
        </p:nvPicPr>
        <p:blipFill>
          <a:blip r:embed="rId3"/>
          <a:stretch>
            <a:fillRect/>
          </a:stretch>
        </p:blipFill>
        <p:spPr>
          <a:xfrm>
            <a:off x="5464284" y="714744"/>
            <a:ext cx="3679717" cy="6143256"/>
          </a:xfrm>
          <a:prstGeom prst="rect">
            <a:avLst/>
          </a:prstGeom>
        </p:spPr>
      </p:pic>
      <p:sp>
        <p:nvSpPr>
          <p:cNvPr id="8" name="文本框 7"/>
          <p:cNvSpPr txBox="1"/>
          <p:nvPr/>
        </p:nvSpPr>
        <p:spPr>
          <a:xfrm>
            <a:off x="368354" y="4515092"/>
            <a:ext cx="502392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Issues an interrupt signal to the processor when I/O has been performed</a:t>
            </a:r>
            <a:endParaRPr kumimoji="0" lang="zh-CN" altLang="en-US"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Interrupted I/O</a:t>
            </a:r>
          </a:p>
        </p:txBody>
      </p:sp>
      <p:pic>
        <p:nvPicPr>
          <p:cNvPr id="7" name="图片 6"/>
          <p:cNvPicPr>
            <a:picLocks noChangeAspect="1"/>
          </p:cNvPicPr>
          <p:nvPr/>
        </p:nvPicPr>
        <p:blipFill rotWithShape="1">
          <a:blip r:embed="rId3"/>
          <a:srcRect l="4373" t="13825" r="16497" b="3657"/>
          <a:stretch>
            <a:fillRect/>
          </a:stretch>
        </p:blipFill>
        <p:spPr>
          <a:xfrm>
            <a:off x="252079" y="1334530"/>
            <a:ext cx="5153005" cy="4670854"/>
          </a:xfrm>
          <a:prstGeom prst="rect">
            <a:avLst/>
          </a:prstGeom>
        </p:spPr>
      </p:pic>
      <p:sp>
        <p:nvSpPr>
          <p:cNvPr id="10" name="文本框 9"/>
          <p:cNvSpPr txBox="1"/>
          <p:nvPr/>
        </p:nvSpPr>
        <p:spPr>
          <a:xfrm>
            <a:off x="4920459" y="1638035"/>
            <a:ext cx="4183999" cy="4367349"/>
          </a:xfrm>
          <a:prstGeom prst="rect">
            <a:avLst/>
          </a:prstGeom>
          <a:noFill/>
        </p:spPr>
        <p:txBody>
          <a:bodyPr wrap="square">
            <a:spAutoFit/>
          </a:bodyPr>
          <a:lstStyle/>
          <a:p>
            <a:pPr marL="742950" lvl="1" indent="-285750" eaLnBrk="1" hangingPunct="1">
              <a:lnSpc>
                <a:spcPct val="150000"/>
              </a:lnSpc>
              <a:spcBef>
                <a:spcPct val="35000"/>
              </a:spcBef>
              <a:buClr>
                <a:srgbClr val="CC6600"/>
              </a:buClr>
              <a:buSzPct val="80000"/>
              <a:buFont typeface="Wingdings" panose="05000000000000000000" pitchFamily="2" charset="2"/>
              <a:buChar char="Ø"/>
            </a:pPr>
            <a:r>
              <a:rPr kumimoji="1" lang="zh-CN" altLang="en-US" sz="1600" dirty="0">
                <a:latin typeface="宋体" panose="02010600030101010101" pitchFamily="2" charset="-122"/>
                <a:ea typeface="宋体" panose="02010600030101010101" pitchFamily="2" charset="-122"/>
              </a:rPr>
              <a:t>用户进程向 </a:t>
            </a:r>
            <a:r>
              <a:rPr kumimoji="1" lang="en-US" altLang="zh-CN" sz="1600" dirty="0">
                <a:latin typeface="宋体" panose="02010600030101010101" pitchFamily="2" charset="-122"/>
                <a:ea typeface="宋体" panose="02010600030101010101" pitchFamily="2" charset="-122"/>
              </a:rPr>
              <a:t>CPU </a:t>
            </a:r>
            <a:r>
              <a:rPr kumimoji="1" lang="zh-CN" altLang="en-US" sz="1600" dirty="0">
                <a:latin typeface="宋体" panose="02010600030101010101" pitchFamily="2" charset="-122"/>
                <a:ea typeface="宋体" panose="02010600030101010101" pitchFamily="2" charset="-122"/>
              </a:rPr>
              <a:t>发起 </a:t>
            </a:r>
            <a:r>
              <a:rPr kumimoji="1" lang="en-US" altLang="zh-CN" sz="1600" dirty="0">
                <a:latin typeface="宋体" panose="02010600030101010101" pitchFamily="2" charset="-122"/>
                <a:ea typeface="宋体" panose="02010600030101010101" pitchFamily="2" charset="-122"/>
              </a:rPr>
              <a:t>read </a:t>
            </a:r>
            <a:r>
              <a:rPr kumimoji="1" lang="zh-CN" altLang="en-US" sz="1600" dirty="0">
                <a:latin typeface="宋体" panose="02010600030101010101" pitchFamily="2" charset="-122"/>
                <a:ea typeface="宋体" panose="02010600030101010101" pitchFamily="2" charset="-122"/>
              </a:rPr>
              <a:t>系统调用读取数据，由用户态切换为内核态，然后一直阻塞等待数据的返回。</a:t>
            </a:r>
          </a:p>
          <a:p>
            <a:pPr marL="742950" lvl="1" indent="-285750" eaLnBrk="1" hangingPunct="1">
              <a:lnSpc>
                <a:spcPct val="150000"/>
              </a:lnSpc>
              <a:spcBef>
                <a:spcPct val="35000"/>
              </a:spcBef>
              <a:buClr>
                <a:srgbClr val="CC6600"/>
              </a:buClr>
              <a:buSzPct val="80000"/>
              <a:buFont typeface="Wingdings" panose="05000000000000000000" pitchFamily="2" charset="2"/>
              <a:buChar char="Ø"/>
            </a:pPr>
            <a:r>
              <a:rPr kumimoji="1" lang="en-US" altLang="zh-CN" sz="1600" dirty="0">
                <a:latin typeface="宋体" panose="02010600030101010101" pitchFamily="2" charset="-122"/>
                <a:ea typeface="宋体" panose="02010600030101010101" pitchFamily="2" charset="-122"/>
              </a:rPr>
              <a:t>CPU </a:t>
            </a:r>
            <a:r>
              <a:rPr kumimoji="1" lang="zh-CN" altLang="en-US" sz="1600" dirty="0">
                <a:latin typeface="宋体" panose="02010600030101010101" pitchFamily="2" charset="-122"/>
                <a:ea typeface="宋体" panose="02010600030101010101" pitchFamily="2" charset="-122"/>
              </a:rPr>
              <a:t>在接收到指令以后对磁盘发起 </a:t>
            </a:r>
            <a:r>
              <a:rPr kumimoji="1" lang="en-US" altLang="zh-CN" sz="1600" dirty="0">
                <a:latin typeface="宋体" panose="02010600030101010101" pitchFamily="2" charset="-122"/>
                <a:ea typeface="宋体" panose="02010600030101010101" pitchFamily="2" charset="-122"/>
              </a:rPr>
              <a:t>I/O </a:t>
            </a:r>
            <a:r>
              <a:rPr kumimoji="1" lang="zh-CN" altLang="en-US" sz="1600" dirty="0">
                <a:latin typeface="宋体" panose="02010600030101010101" pitchFamily="2" charset="-122"/>
                <a:ea typeface="宋体" panose="02010600030101010101" pitchFamily="2" charset="-122"/>
              </a:rPr>
              <a:t>请求，将磁盘数据先放入磁盘控制器缓冲区。</a:t>
            </a:r>
          </a:p>
          <a:p>
            <a:pPr marL="742950" lvl="1" indent="-285750" eaLnBrk="1" hangingPunct="1">
              <a:lnSpc>
                <a:spcPct val="150000"/>
              </a:lnSpc>
              <a:spcBef>
                <a:spcPct val="35000"/>
              </a:spcBef>
              <a:buClr>
                <a:srgbClr val="CC6600"/>
              </a:buClr>
              <a:buSzPct val="80000"/>
              <a:buFont typeface="Wingdings" panose="05000000000000000000" pitchFamily="2" charset="2"/>
              <a:buChar char="Ø"/>
            </a:pPr>
            <a:r>
              <a:rPr kumimoji="1" lang="zh-CN" altLang="en-US" sz="1600" b="1" dirty="0">
                <a:latin typeface="宋体" panose="02010600030101010101" pitchFamily="2" charset="-122"/>
                <a:ea typeface="宋体" panose="02010600030101010101" pitchFamily="2" charset="-122"/>
              </a:rPr>
              <a:t>数据准备完成以后，磁盘向 </a:t>
            </a:r>
            <a:r>
              <a:rPr kumimoji="1" lang="en-US" altLang="zh-CN" sz="1600" b="1" dirty="0">
                <a:latin typeface="宋体" panose="02010600030101010101" pitchFamily="2" charset="-122"/>
                <a:ea typeface="宋体" panose="02010600030101010101" pitchFamily="2" charset="-122"/>
              </a:rPr>
              <a:t>CPU </a:t>
            </a:r>
            <a:r>
              <a:rPr kumimoji="1" lang="zh-CN" altLang="en-US" sz="1600" b="1" dirty="0">
                <a:latin typeface="宋体" panose="02010600030101010101" pitchFamily="2" charset="-122"/>
                <a:ea typeface="宋体" panose="02010600030101010101" pitchFamily="2" charset="-122"/>
              </a:rPr>
              <a:t>发起 </a:t>
            </a:r>
            <a:r>
              <a:rPr kumimoji="1" lang="en-US" altLang="zh-CN" sz="1600" b="1" dirty="0">
                <a:latin typeface="宋体" panose="02010600030101010101" pitchFamily="2" charset="-122"/>
                <a:ea typeface="宋体" panose="02010600030101010101" pitchFamily="2" charset="-122"/>
              </a:rPr>
              <a:t>I/O </a:t>
            </a:r>
            <a:r>
              <a:rPr kumimoji="1" lang="zh-CN" altLang="en-US" sz="1600" b="1" dirty="0">
                <a:latin typeface="宋体" panose="02010600030101010101" pitchFamily="2" charset="-122"/>
                <a:ea typeface="宋体" panose="02010600030101010101" pitchFamily="2" charset="-122"/>
              </a:rPr>
              <a:t>中断。</a:t>
            </a:r>
          </a:p>
          <a:p>
            <a:pPr marL="742950" lvl="1" indent="-285750" eaLnBrk="1" hangingPunct="1">
              <a:lnSpc>
                <a:spcPct val="150000"/>
              </a:lnSpc>
              <a:spcBef>
                <a:spcPct val="35000"/>
              </a:spcBef>
              <a:buClr>
                <a:srgbClr val="CC6600"/>
              </a:buClr>
              <a:buSzPct val="80000"/>
              <a:buFont typeface="Wingdings" panose="05000000000000000000" pitchFamily="2" charset="2"/>
              <a:buChar char="Ø"/>
            </a:pPr>
            <a:r>
              <a:rPr kumimoji="1" lang="en-US" altLang="zh-CN" sz="1600" dirty="0">
                <a:latin typeface="宋体" panose="02010600030101010101" pitchFamily="2" charset="-122"/>
                <a:ea typeface="宋体" panose="02010600030101010101" pitchFamily="2" charset="-122"/>
              </a:rPr>
              <a:t>CPU </a:t>
            </a:r>
            <a:r>
              <a:rPr kumimoji="1" lang="zh-CN" altLang="en-US" sz="1600" dirty="0">
                <a:latin typeface="宋体" panose="02010600030101010101" pitchFamily="2" charset="-122"/>
                <a:ea typeface="宋体" panose="02010600030101010101" pitchFamily="2" charset="-122"/>
              </a:rPr>
              <a:t>收到 </a:t>
            </a:r>
            <a:r>
              <a:rPr kumimoji="1" lang="en-US" altLang="zh-CN" sz="1600" dirty="0">
                <a:latin typeface="宋体" panose="02010600030101010101" pitchFamily="2" charset="-122"/>
                <a:ea typeface="宋体" panose="02010600030101010101" pitchFamily="2" charset="-122"/>
              </a:rPr>
              <a:t>I/O </a:t>
            </a:r>
            <a:r>
              <a:rPr kumimoji="1" lang="zh-CN" altLang="en-US" sz="1600" dirty="0">
                <a:latin typeface="宋体" panose="02010600030101010101" pitchFamily="2" charset="-122"/>
                <a:ea typeface="宋体" panose="02010600030101010101" pitchFamily="2" charset="-122"/>
              </a:rPr>
              <a:t>中断以后将磁盘缓冲区中的数据拷贝到内核缓冲区，然后再从内核缓冲区拷贝到用户缓冲区。</a:t>
            </a:r>
          </a:p>
        </p:txBody>
      </p:sp>
      <p:sp>
        <p:nvSpPr>
          <p:cNvPr id="3" name="文本框 2"/>
          <p:cNvSpPr txBox="1"/>
          <p:nvPr/>
        </p:nvSpPr>
        <p:spPr>
          <a:xfrm>
            <a:off x="2481237" y="6058912"/>
            <a:ext cx="4665910" cy="584775"/>
          </a:xfrm>
          <a:prstGeom prst="rect">
            <a:avLst/>
          </a:prstGeom>
          <a:noFill/>
        </p:spPr>
        <p:txBody>
          <a:bodyPr wrap="square">
            <a:spAutoFit/>
          </a:bodyPr>
          <a:lstStyle/>
          <a:p>
            <a:r>
              <a:rPr kumimoji="1" lang="zh-CN" altLang="en-US" sz="1600" dirty="0">
                <a:latin typeface="宋体" panose="02010600030101010101" pitchFamily="2" charset="-122"/>
                <a:ea typeface="宋体" panose="02010600030101010101" pitchFamily="2" charset="-122"/>
              </a:rPr>
              <a:t>用户进程由内核态切换回用户态，解除阻塞状态，然后等待 </a:t>
            </a:r>
            <a:r>
              <a:rPr kumimoji="1" lang="en-US" altLang="zh-CN" sz="1600" dirty="0">
                <a:latin typeface="宋体" panose="02010600030101010101" pitchFamily="2" charset="-122"/>
                <a:ea typeface="宋体" panose="02010600030101010101" pitchFamily="2" charset="-122"/>
              </a:rPr>
              <a:t>CPU </a:t>
            </a:r>
            <a:r>
              <a:rPr kumimoji="1" lang="zh-CN" altLang="en-US" sz="1600" dirty="0">
                <a:latin typeface="宋体" panose="02010600030101010101" pitchFamily="2" charset="-122"/>
                <a:ea typeface="宋体" panose="02010600030101010101" pitchFamily="2" charset="-122"/>
              </a:rPr>
              <a:t>的下一个执行时间钟。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Programmed I/O </a:t>
            </a:r>
            <a:r>
              <a:rPr lang="en-US" altLang="zh-CN" dirty="0"/>
              <a:t>V.S. </a:t>
            </a:r>
            <a:r>
              <a:rPr lang="en-US" altLang="en-US" dirty="0"/>
              <a:t>Interrupted I/O</a:t>
            </a:r>
          </a:p>
        </p:txBody>
      </p:sp>
      <p:sp>
        <p:nvSpPr>
          <p:cNvPr id="10" name="文本框 9"/>
          <p:cNvSpPr txBox="1"/>
          <p:nvPr/>
        </p:nvSpPr>
        <p:spPr>
          <a:xfrm>
            <a:off x="380589" y="1262390"/>
            <a:ext cx="7720501" cy="5110310"/>
          </a:xfrm>
          <a:prstGeom prst="rect">
            <a:avLst/>
          </a:prstGeom>
          <a:noFill/>
        </p:spPr>
        <p:txBody>
          <a:bodyPr wrap="square">
            <a:spAutoFit/>
          </a:bodyPr>
          <a:lstStyle/>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en-US" altLang="zh-CN" dirty="0">
                <a:latin typeface="宋体" panose="02010600030101010101" pitchFamily="2" charset="-122"/>
                <a:ea typeface="宋体" panose="02010600030101010101" pitchFamily="2" charset="-122"/>
                <a:cs typeface="MS PGothic" panose="020B0600070205080204" pitchFamily="34" charset="-128"/>
              </a:rPr>
              <a:t>Programmed I/O</a:t>
            </a:r>
            <a:r>
              <a:rPr kumimoji="1" lang="zh-CN" altLang="en-US" dirty="0">
                <a:latin typeface="宋体" panose="02010600030101010101" pitchFamily="2" charset="-122"/>
                <a:ea typeface="宋体" panose="02010600030101010101" pitchFamily="2" charset="-122"/>
                <a:cs typeface="MS PGothic" panose="020B0600070205080204" pitchFamily="34" charset="-128"/>
              </a:rPr>
              <a:t>：程序直接控制方式就是</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告诉外设“我要读了”，然后外设开始准备。</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这时候停下手中的工作，不停的问外设“好了没有”，一旦外设说“好了”，</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就从外设读一个字，再往内存写一个字，然后再告诉外设“我要继续读”，就这么重复直到完成。所以在读的过程中</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别的什么也干不了。</a:t>
            </a:r>
            <a:endParaRPr kumimoji="1" lang="en-US" altLang="zh-CN" dirty="0">
              <a:latin typeface="宋体" panose="02010600030101010101" pitchFamily="2" charset="-122"/>
              <a:ea typeface="宋体" panose="02010600030101010101" pitchFamily="2" charset="-122"/>
              <a:cs typeface="MS PGothic" panose="020B0600070205080204" pitchFamily="34" charset="-128"/>
            </a:endParaRPr>
          </a:p>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en-US" altLang="zh-CN" dirty="0">
                <a:latin typeface="宋体" panose="02010600030101010101" pitchFamily="2" charset="-122"/>
                <a:ea typeface="宋体" panose="02010600030101010101" pitchFamily="2" charset="-122"/>
                <a:cs typeface="MS PGothic" panose="020B0600070205080204" pitchFamily="34" charset="-128"/>
              </a:rPr>
              <a:t>Interrupted I/O</a:t>
            </a:r>
            <a:r>
              <a:rPr kumimoji="1" lang="zh-CN" altLang="en-US" dirty="0">
                <a:latin typeface="宋体" panose="02010600030101010101" pitchFamily="2" charset="-122"/>
                <a:ea typeface="宋体" panose="02010600030101010101" pitchFamily="2" charset="-122"/>
                <a:cs typeface="MS PGothic" panose="020B0600070205080204" pitchFamily="34" charset="-128"/>
              </a:rPr>
              <a:t>：</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告诉外设“我要读了”，然后就不管了，继续干自己的事。这时候外设开始准备，等准备好了就主动告诉</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我好了”，</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这时候停下手里的工作开始从外设读一个字，然后往内存写一个字。写完了就告诉外设“我要继续读”，说完了就继续干刚才被打断前的事，等外设再准备好以后再通知</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，直到完成。中断方式的好处就是</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u="sng" dirty="0">
                <a:solidFill>
                  <a:srgbClr val="FF0000"/>
                </a:solidFill>
                <a:latin typeface="宋体" panose="02010600030101010101" pitchFamily="2" charset="-122"/>
                <a:ea typeface="宋体" panose="02010600030101010101" pitchFamily="2" charset="-122"/>
                <a:cs typeface="MS PGothic" panose="020B0600070205080204" pitchFamily="34" charset="-128"/>
              </a:rPr>
              <a:t>在外设准备的时候</a:t>
            </a:r>
            <a:r>
              <a:rPr kumimoji="1" lang="zh-CN" altLang="en-US" dirty="0">
                <a:latin typeface="宋体" panose="02010600030101010101" pitchFamily="2" charset="-122"/>
                <a:ea typeface="宋体" panose="02010600030101010101" pitchFamily="2" charset="-122"/>
                <a:cs typeface="MS PGothic" panose="020B0600070205080204" pitchFamily="34" charset="-128"/>
              </a:rPr>
              <a:t>不用不停地问，可以做自己的事，提高了利用率。</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sp>
        <p:nvSpPr>
          <p:cNvPr id="4" name="文本框 3"/>
          <p:cNvSpPr txBox="1"/>
          <p:nvPr/>
        </p:nvSpPr>
        <p:spPr>
          <a:xfrm>
            <a:off x="612403" y="1123188"/>
            <a:ext cx="8229599"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Direct Memory Access (DMA) </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transfers the data between memory and I/O devices without the intervention of the CPU.</a:t>
            </a:r>
            <a:endParaRPr kumimoji="0" lang="zh-CN" altLang="en-US"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endParaRPr>
          </a:p>
        </p:txBody>
      </p:sp>
      <p:pic>
        <p:nvPicPr>
          <p:cNvPr id="3" name="图片 2"/>
          <p:cNvPicPr>
            <a:picLocks noChangeAspect="1"/>
          </p:cNvPicPr>
          <p:nvPr/>
        </p:nvPicPr>
        <p:blipFill rotWithShape="1">
          <a:blip r:embed="rId3"/>
          <a:srcRect l="3444" t="14340" r="5534" b="3338"/>
          <a:stretch>
            <a:fillRect/>
          </a:stretch>
        </p:blipFill>
        <p:spPr>
          <a:xfrm>
            <a:off x="1049109" y="2130305"/>
            <a:ext cx="7356186" cy="4379929"/>
          </a:xfrm>
          <a:prstGeom prst="rect">
            <a:avLst/>
          </a:prstGeom>
        </p:spPr>
      </p:pic>
      <p:sp>
        <p:nvSpPr>
          <p:cNvPr id="7" name="文本框 6"/>
          <p:cNvSpPr txBox="1"/>
          <p:nvPr/>
        </p:nvSpPr>
        <p:spPr>
          <a:xfrm>
            <a:off x="4248253" y="5944077"/>
            <a:ext cx="4095029" cy="523220"/>
          </a:xfrm>
          <a:prstGeom prst="rect">
            <a:avLst/>
          </a:prstGeom>
          <a:noFill/>
        </p:spPr>
        <p:txBody>
          <a:bodyPr wrap="square">
            <a:spAutoFit/>
          </a:bodyPr>
          <a:lstStyle/>
          <a:p>
            <a:r>
              <a:rPr lang="en-US" altLang="zh-CN" sz="1400" dirty="0">
                <a:latin typeface="宋体" panose="02010600030101010101" pitchFamily="2" charset="-122"/>
                <a:ea typeface="宋体" panose="02010600030101010101" pitchFamily="2" charset="-122"/>
              </a:rPr>
              <a:t>DMA </a:t>
            </a:r>
            <a:r>
              <a:rPr lang="zh-CN" altLang="en-US" sz="1400" dirty="0">
                <a:latin typeface="宋体" panose="02010600030101010101" pitchFamily="2" charset="-122"/>
                <a:ea typeface="宋体" panose="02010600030101010101" pitchFamily="2" charset="-122"/>
              </a:rPr>
              <a:t>技术优化了数据从磁盘缓冲区拷贝到内核缓冲区这个过程，减少了这个过程里 </a:t>
            </a:r>
            <a:r>
              <a:rPr lang="en-US" altLang="zh-CN" sz="1400" dirty="0">
                <a:latin typeface="宋体" panose="02010600030101010101" pitchFamily="2" charset="-122"/>
                <a:ea typeface="宋体" panose="02010600030101010101" pitchFamily="2" charset="-122"/>
              </a:rPr>
              <a:t>CPU </a:t>
            </a:r>
            <a:r>
              <a:rPr lang="zh-CN" altLang="en-US" sz="1400" dirty="0">
                <a:latin typeface="宋体" panose="02010600030101010101" pitchFamily="2" charset="-122"/>
                <a:ea typeface="宋体" panose="02010600030101010101" pitchFamily="2" charset="-122"/>
              </a:rPr>
              <a:t>的参与。</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sp>
        <p:nvSpPr>
          <p:cNvPr id="5" name="文本框 4"/>
          <p:cNvSpPr txBox="1"/>
          <p:nvPr/>
        </p:nvSpPr>
        <p:spPr>
          <a:xfrm>
            <a:off x="518984" y="1025140"/>
            <a:ext cx="7720501" cy="3863815"/>
          </a:xfrm>
          <a:prstGeom prst="rect">
            <a:avLst/>
          </a:prstGeom>
          <a:noFill/>
        </p:spPr>
        <p:txBody>
          <a:bodyPr wrap="square">
            <a:spAutoFit/>
          </a:bodyPr>
          <a:lstStyle/>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方式：</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告诉</a:t>
            </a: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“你把</a:t>
            </a:r>
            <a:r>
              <a:rPr kumimoji="1" lang="en-US" altLang="zh-CN" dirty="0">
                <a:latin typeface="宋体" panose="02010600030101010101" pitchFamily="2" charset="-122"/>
                <a:ea typeface="宋体" panose="02010600030101010101" pitchFamily="2" charset="-122"/>
                <a:cs typeface="MS PGothic" panose="020B0600070205080204" pitchFamily="34" charset="-128"/>
              </a:rPr>
              <a:t>XXX</a:t>
            </a:r>
            <a:r>
              <a:rPr kumimoji="1" lang="zh-CN" altLang="en-US" dirty="0">
                <a:latin typeface="宋体" panose="02010600030101010101" pitchFamily="2" charset="-122"/>
                <a:ea typeface="宋体" panose="02010600030101010101" pitchFamily="2" charset="-122"/>
                <a:cs typeface="MS PGothic" panose="020B0600070205080204" pitchFamily="34" charset="-128"/>
              </a:rPr>
              <a:t>个字的内容写到内存的</a:t>
            </a:r>
            <a:r>
              <a:rPr kumimoji="1" lang="en-US" altLang="zh-CN" dirty="0">
                <a:latin typeface="宋体" panose="02010600030101010101" pitchFamily="2" charset="-122"/>
                <a:ea typeface="宋体" panose="02010600030101010101" pitchFamily="2" charset="-122"/>
                <a:cs typeface="MS PGothic" panose="020B0600070205080204" pitchFamily="34" charset="-128"/>
              </a:rPr>
              <a:t>XXX</a:t>
            </a:r>
            <a:r>
              <a:rPr kumimoji="1" lang="zh-CN" altLang="en-US" dirty="0">
                <a:latin typeface="宋体" panose="02010600030101010101" pitchFamily="2" charset="-122"/>
                <a:ea typeface="宋体" panose="02010600030101010101" pitchFamily="2" charset="-122"/>
                <a:cs typeface="MS PGothic" panose="020B0600070205080204" pitchFamily="34" charset="-128"/>
              </a:rPr>
              <a:t>位置去吧”，然后就不管了，等外设准备好了就通知</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我准备好了”，</a:t>
            </a:r>
            <a:r>
              <a:rPr kumimoji="1" lang="zh-CN" altLang="en-US" u="sng" dirty="0">
                <a:solidFill>
                  <a:srgbClr val="FF0000"/>
                </a:solidFill>
                <a:latin typeface="宋体" panose="02010600030101010101" pitchFamily="2" charset="-122"/>
                <a:ea typeface="宋体" panose="02010600030101010101" pitchFamily="2" charset="-122"/>
                <a:cs typeface="MS PGothic" panose="020B0600070205080204" pitchFamily="34" charset="-128"/>
              </a:rPr>
              <a:t>然后</a:t>
            </a:r>
            <a:r>
              <a:rPr kumimoji="1" lang="en-US" altLang="zh-CN" u="sng" dirty="0">
                <a:solidFill>
                  <a:srgbClr val="FF0000"/>
                </a:solidFill>
                <a:latin typeface="宋体" panose="02010600030101010101" pitchFamily="2" charset="-122"/>
                <a:ea typeface="宋体" panose="02010600030101010101" pitchFamily="2" charset="-122"/>
                <a:cs typeface="MS PGothic" panose="020B0600070205080204" pitchFamily="34" charset="-128"/>
              </a:rPr>
              <a:t>CPU</a:t>
            </a:r>
            <a:r>
              <a:rPr kumimoji="1" lang="zh-CN" altLang="en-US" u="sng" dirty="0">
                <a:solidFill>
                  <a:srgbClr val="FF0000"/>
                </a:solidFill>
                <a:latin typeface="宋体" panose="02010600030101010101" pitchFamily="2" charset="-122"/>
                <a:ea typeface="宋体" panose="02010600030101010101" pitchFamily="2" charset="-122"/>
                <a:cs typeface="MS PGothic" panose="020B0600070205080204" pitchFamily="34" charset="-128"/>
              </a:rPr>
              <a:t>让出一个节拍的总线使用权</a:t>
            </a:r>
            <a:r>
              <a:rPr kumimoji="1" lang="zh-CN" altLang="en-US" dirty="0">
                <a:latin typeface="宋体" panose="02010600030101010101" pitchFamily="2" charset="-122"/>
                <a:ea typeface="宋体" panose="02010600030101010101" pitchFamily="2" charset="-122"/>
                <a:cs typeface="MS PGothic" panose="020B0600070205080204" pitchFamily="34" charset="-128"/>
              </a:rPr>
              <a:t>，外设就可以直接把数据送入内存，然后再通知</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说“我传完了”，然后</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进行一些清理工作就可以了。</a:t>
            </a: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比中断方式又有提高，因为中断方式中，数据从外设输入内存依然要</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参与，而</a:t>
            </a: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在大量数据读入的时候不需要</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参与，这就节约了</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的时间。</a:t>
            </a:r>
          </a:p>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就是相当于有一个处理器专门来管数据传送，只要</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把指令告诉</a:t>
            </a: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a:t>
            </a:r>
            <a:r>
              <a:rPr kumimoji="1" lang="en-US" altLang="zh-CN" dirty="0">
                <a:latin typeface="宋体" panose="02010600030101010101" pitchFamily="2" charset="-122"/>
                <a:ea typeface="宋体" panose="02010600030101010101" pitchFamily="2" charset="-122"/>
                <a:cs typeface="MS PGothic" panose="020B0600070205080204" pitchFamily="34" charset="-128"/>
              </a:rPr>
              <a:t>DMA</a:t>
            </a:r>
            <a:r>
              <a:rPr kumimoji="1" lang="zh-CN" altLang="en-US" dirty="0">
                <a:latin typeface="宋体" panose="02010600030101010101" pitchFamily="2" charset="-122"/>
                <a:ea typeface="宋体" panose="02010600030101010101" pitchFamily="2" charset="-122"/>
                <a:cs typeface="MS PGothic" panose="020B0600070205080204" pitchFamily="34" charset="-128"/>
              </a:rPr>
              <a:t>就可以完成一切数据传输任务，所以</a:t>
            </a:r>
            <a:r>
              <a:rPr kumimoji="1" lang="en-US" altLang="zh-CN" dirty="0">
                <a:latin typeface="宋体" panose="02010600030101010101" pitchFamily="2" charset="-122"/>
                <a:ea typeface="宋体" panose="02010600030101010101" pitchFamily="2" charset="-122"/>
                <a:cs typeface="MS PGothic" panose="020B0600070205080204" pitchFamily="34" charset="-128"/>
              </a:rPr>
              <a:t>CPU</a:t>
            </a:r>
            <a:r>
              <a:rPr kumimoji="1" lang="zh-CN" altLang="en-US" dirty="0">
                <a:latin typeface="宋体" panose="02010600030101010101" pitchFamily="2" charset="-122"/>
                <a:ea typeface="宋体" panose="02010600030101010101" pitchFamily="2" charset="-122"/>
                <a:cs typeface="MS PGothic" panose="020B0600070205080204" pitchFamily="34" charset="-128"/>
              </a:rPr>
              <a:t>的利用率更高。</a:t>
            </a:r>
            <a:endParaRPr kumimoji="1" lang="en-US" altLang="zh-CN" dirty="0">
              <a:latin typeface="宋体" panose="02010600030101010101" pitchFamily="2" charset="-122"/>
              <a:ea typeface="宋体" panose="02010600030101010101" pitchFamily="2" charset="-122"/>
              <a:cs typeface="MS PGothic" panose="020B0600070205080204" pitchFamily="34"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pic>
        <p:nvPicPr>
          <p:cNvPr id="3" name="图片 2"/>
          <p:cNvPicPr>
            <a:picLocks noChangeAspect="1"/>
          </p:cNvPicPr>
          <p:nvPr/>
        </p:nvPicPr>
        <p:blipFill>
          <a:blip r:embed="rId3"/>
          <a:stretch>
            <a:fillRect/>
          </a:stretch>
        </p:blipFill>
        <p:spPr>
          <a:xfrm>
            <a:off x="457200" y="1111430"/>
            <a:ext cx="8304452" cy="3471722"/>
          </a:xfrm>
          <a:prstGeom prst="rect">
            <a:avLst/>
          </a:prstGeom>
        </p:spPr>
      </p:pic>
      <p:sp>
        <p:nvSpPr>
          <p:cNvPr id="6" name="文本框 5"/>
          <p:cNvSpPr txBox="1"/>
          <p:nvPr/>
        </p:nvSpPr>
        <p:spPr>
          <a:xfrm>
            <a:off x="681550" y="4898006"/>
            <a:ext cx="7881681" cy="1563313"/>
          </a:xfrm>
          <a:prstGeom prst="rect">
            <a:avLst/>
          </a:prstGeom>
          <a:noFill/>
        </p:spPr>
        <p:txBody>
          <a:bodyPr wrap="square">
            <a:spAutoFit/>
          </a:bodyPr>
          <a:lstStyle/>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zh-CN" altLang="en-US" sz="1200" dirty="0">
                <a:latin typeface="宋体" panose="02010600030101010101" pitchFamily="2" charset="-122"/>
                <a:ea typeface="宋体" panose="02010600030101010101" pitchFamily="2" charset="-122"/>
              </a:rPr>
              <a:t>当</a:t>
            </a:r>
            <a:r>
              <a:rPr kumimoji="1" lang="en-US" altLang="zh-CN" sz="1200" dirty="0">
                <a:latin typeface="宋体" panose="02010600030101010101" pitchFamily="2" charset="-122"/>
                <a:ea typeface="宋体" panose="02010600030101010101" pitchFamily="2" charset="-122"/>
              </a:rPr>
              <a:t>I/O</a:t>
            </a:r>
            <a:r>
              <a:rPr kumimoji="1" lang="zh-CN" altLang="en-US" sz="1200" dirty="0">
                <a:latin typeface="宋体" panose="02010600030101010101" pitchFamily="2" charset="-122"/>
                <a:ea typeface="宋体" panose="02010600030101010101" pitchFamily="2" charset="-122"/>
              </a:rPr>
              <a:t>准备就绪，设备向</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发出</a:t>
            </a:r>
            <a:r>
              <a:rPr kumimoji="1" lang="en-US" altLang="zh-CN" sz="1200" dirty="0">
                <a:latin typeface="宋体" panose="02010600030101010101" pitchFamily="2" charset="-122"/>
                <a:ea typeface="宋体" panose="02010600030101010101" pitchFamily="2" charset="-122"/>
              </a:rPr>
              <a:t>DMA</a:t>
            </a:r>
            <a:r>
              <a:rPr kumimoji="1" lang="zh-CN" altLang="en-US" sz="1200" dirty="0">
                <a:latin typeface="宋体" panose="02010600030101010101" pitchFamily="2" charset="-122"/>
                <a:ea typeface="宋体" panose="02010600030101010101" pitchFamily="2" charset="-122"/>
              </a:rPr>
              <a:t>请求，</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响应请求，关闭对主存的控制器，只关闭一个或者几个存取周期，在这一小段时间内，主存和设备完成数据交换。</a:t>
            </a:r>
            <a:endParaRPr kumimoji="1" lang="en-US" altLang="zh-CN" sz="1200" dirty="0">
              <a:latin typeface="宋体" panose="02010600030101010101" pitchFamily="2" charset="-122"/>
              <a:ea typeface="宋体" panose="02010600030101010101" pitchFamily="2" charset="-122"/>
            </a:endParaRPr>
          </a:p>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zh-CN" altLang="en-US" sz="1200" dirty="0">
                <a:latin typeface="宋体" panose="02010600030101010101" pitchFamily="2" charset="-122"/>
                <a:ea typeface="宋体" panose="02010600030101010101" pitchFamily="2" charset="-122"/>
              </a:rPr>
              <a:t>而且在这一小段时间内，</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并不是什么都不能做，虽然</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不能访问主存，即不能取指令，但是</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的</a:t>
            </a:r>
            <a:r>
              <a:rPr kumimoji="1" lang="en-US" altLang="zh-CN" sz="1200" dirty="0">
                <a:latin typeface="宋体" panose="02010600030101010101" pitchFamily="2" charset="-122"/>
                <a:ea typeface="宋体" panose="02010600030101010101" pitchFamily="2" charset="-122"/>
              </a:rPr>
              <a:t>cache</a:t>
            </a:r>
            <a:r>
              <a:rPr kumimoji="1" lang="zh-CN" altLang="en-US" sz="1200" dirty="0">
                <a:latin typeface="宋体" panose="02010600030101010101" pitchFamily="2" charset="-122"/>
                <a:ea typeface="宋体" panose="02010600030101010101" pitchFamily="2" charset="-122"/>
              </a:rPr>
              <a:t>中已经保存了一些指令，</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可以先执行这些指令，只要这些指令不涉及访存，</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和设备还是并行执行。</a:t>
            </a:r>
            <a:endParaRPr kumimoji="1" lang="en-US" altLang="zh-CN" sz="1200" dirty="0">
              <a:latin typeface="宋体" panose="02010600030101010101" pitchFamily="2" charset="-122"/>
              <a:ea typeface="宋体" panose="02010600030101010101" pitchFamily="2" charset="-122"/>
            </a:endParaRPr>
          </a:p>
          <a:p>
            <a:pPr marL="342900" lvl="1" indent="-342900" eaLnBrk="1" hangingPunct="1">
              <a:lnSpc>
                <a:spcPct val="150000"/>
              </a:lnSpc>
              <a:spcBef>
                <a:spcPct val="35000"/>
              </a:spcBef>
              <a:buClr>
                <a:srgbClr val="993300"/>
              </a:buClr>
              <a:buSzPct val="90000"/>
              <a:buFont typeface="Wingdings" panose="05000000000000000000" pitchFamily="2" charset="2"/>
              <a:buChar char="q"/>
            </a:pPr>
            <a:r>
              <a:rPr kumimoji="1" lang="zh-CN" altLang="en-US" sz="1200" dirty="0">
                <a:latin typeface="宋体" panose="02010600030101010101" pitchFamily="2" charset="-122"/>
                <a:ea typeface="宋体" panose="02010600030101010101" pitchFamily="2" charset="-122"/>
              </a:rPr>
              <a:t>数据传输完成后，</a:t>
            </a:r>
            <a:r>
              <a:rPr kumimoji="1" lang="en-US" altLang="zh-CN" sz="1200" dirty="0">
                <a:latin typeface="宋体" panose="02010600030101010101" pitchFamily="2" charset="-122"/>
                <a:ea typeface="宋体" panose="02010600030101010101" pitchFamily="2" charset="-122"/>
              </a:rPr>
              <a:t>DMA</a:t>
            </a:r>
            <a:r>
              <a:rPr kumimoji="1" lang="zh-CN" altLang="en-US" sz="1200" dirty="0">
                <a:latin typeface="宋体" panose="02010600030101010101" pitchFamily="2" charset="-122"/>
                <a:ea typeface="宋体" panose="02010600030101010101" pitchFamily="2" charset="-122"/>
              </a:rPr>
              <a:t>接口向</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发出中断请求，让</a:t>
            </a:r>
            <a:r>
              <a:rPr kumimoji="1" lang="en-US" altLang="zh-CN" sz="1200" dirty="0">
                <a:latin typeface="宋体" panose="02010600030101010101" pitchFamily="2" charset="-122"/>
                <a:ea typeface="宋体" panose="02010600030101010101" pitchFamily="2" charset="-122"/>
              </a:rPr>
              <a:t>CPU</a:t>
            </a:r>
            <a:r>
              <a:rPr kumimoji="1" lang="zh-CN" altLang="en-US" sz="1200" dirty="0">
                <a:latin typeface="宋体" panose="02010600030101010101" pitchFamily="2" charset="-122"/>
                <a:ea typeface="宋体" panose="02010600030101010101" pitchFamily="2" charset="-122"/>
              </a:rPr>
              <a:t>做后续处理。</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Quiz</a:t>
            </a:r>
          </a:p>
        </p:txBody>
      </p:sp>
      <p:sp>
        <p:nvSpPr>
          <p:cNvPr id="4" name="文本框 3"/>
          <p:cNvSpPr txBox="1"/>
          <p:nvPr/>
        </p:nvSpPr>
        <p:spPr>
          <a:xfrm>
            <a:off x="586785" y="1137624"/>
            <a:ext cx="8229600" cy="4597862"/>
          </a:xfrm>
          <a:prstGeom prst="rect">
            <a:avLst/>
          </a:prstGeom>
          <a:noFill/>
        </p:spPr>
        <p:txBody>
          <a:bodyPr wrap="square">
            <a:spAutoFit/>
          </a:bodyPr>
          <a:lstStyle/>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系统将数据从磁盘读到内存的过程包括以下操作：</a:t>
            </a:r>
          </a:p>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① </a:t>
            </a:r>
            <a:r>
              <a:rPr lang="en-US" altLang="zh-CN" b="0" i="0" dirty="0">
                <a:solidFill>
                  <a:srgbClr val="191B1F"/>
                </a:solidFill>
                <a:effectLst/>
                <a:latin typeface="宋体" panose="02010600030101010101" pitchFamily="2" charset="-122"/>
                <a:ea typeface="宋体" panose="02010600030101010101" pitchFamily="2" charset="-122"/>
              </a:rPr>
              <a:t>DMA</a:t>
            </a:r>
            <a:r>
              <a:rPr lang="zh-CN" altLang="en-US" b="0" i="0" dirty="0">
                <a:solidFill>
                  <a:srgbClr val="191B1F"/>
                </a:solidFill>
                <a:effectLst/>
                <a:latin typeface="宋体" panose="02010600030101010101" pitchFamily="2" charset="-122"/>
                <a:ea typeface="宋体" panose="02010600030101010101" pitchFamily="2" charset="-122"/>
              </a:rPr>
              <a:t>控制器发出中断请求</a:t>
            </a:r>
          </a:p>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② 初始化</a:t>
            </a:r>
            <a:r>
              <a:rPr lang="en-US" altLang="zh-CN" b="0" i="0" dirty="0">
                <a:solidFill>
                  <a:srgbClr val="191B1F"/>
                </a:solidFill>
                <a:effectLst/>
                <a:latin typeface="宋体" panose="02010600030101010101" pitchFamily="2" charset="-122"/>
                <a:ea typeface="宋体" panose="02010600030101010101" pitchFamily="2" charset="-122"/>
              </a:rPr>
              <a:t>DMA</a:t>
            </a:r>
            <a:r>
              <a:rPr lang="zh-CN" altLang="en-US" b="0" i="0" dirty="0">
                <a:solidFill>
                  <a:srgbClr val="191B1F"/>
                </a:solidFill>
                <a:effectLst/>
                <a:latin typeface="宋体" panose="02010600030101010101" pitchFamily="2" charset="-122"/>
                <a:ea typeface="宋体" panose="02010600030101010101" pitchFamily="2" charset="-122"/>
              </a:rPr>
              <a:t>控制器并启动磁盘</a:t>
            </a:r>
          </a:p>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③ 从磁盘传输一块数据到内存缓冲区</a:t>
            </a:r>
          </a:p>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④ 执行“</a:t>
            </a:r>
            <a:r>
              <a:rPr lang="en-US" altLang="zh-CN" b="0" i="0" dirty="0">
                <a:solidFill>
                  <a:srgbClr val="191B1F"/>
                </a:solidFill>
                <a:effectLst/>
                <a:latin typeface="宋体" panose="02010600030101010101" pitchFamily="2" charset="-122"/>
                <a:ea typeface="宋体" panose="02010600030101010101" pitchFamily="2" charset="-122"/>
              </a:rPr>
              <a:t>DMA</a:t>
            </a:r>
            <a:r>
              <a:rPr lang="zh-CN" altLang="en-US" b="0" i="0" dirty="0">
                <a:solidFill>
                  <a:srgbClr val="191B1F"/>
                </a:solidFill>
                <a:effectLst/>
                <a:latin typeface="宋体" panose="02010600030101010101" pitchFamily="2" charset="-122"/>
                <a:ea typeface="宋体" panose="02010600030101010101" pitchFamily="2" charset="-122"/>
              </a:rPr>
              <a:t>结束”中断服务程序</a:t>
            </a:r>
            <a:endParaRPr lang="en-US" altLang="zh-CN" b="0" i="0" dirty="0">
              <a:solidFill>
                <a:srgbClr val="191B1F"/>
              </a:solidFill>
              <a:effectLst/>
              <a:latin typeface="宋体" panose="02010600030101010101" pitchFamily="2" charset="-122"/>
              <a:ea typeface="宋体" panose="02010600030101010101" pitchFamily="2" charset="-122"/>
            </a:endParaRPr>
          </a:p>
          <a:p>
            <a:pPr algn="l">
              <a:lnSpc>
                <a:spcPct val="150000"/>
              </a:lnSpc>
            </a:pPr>
            <a:endParaRPr lang="zh-CN" altLang="en-US" b="0" i="0" dirty="0">
              <a:solidFill>
                <a:srgbClr val="191B1F"/>
              </a:solidFill>
              <a:effectLst/>
              <a:latin typeface="宋体" panose="02010600030101010101" pitchFamily="2" charset="-122"/>
              <a:ea typeface="宋体" panose="02010600030101010101" pitchFamily="2" charset="-122"/>
            </a:endParaRPr>
          </a:p>
          <a:p>
            <a:pPr algn="l">
              <a:lnSpc>
                <a:spcPct val="150000"/>
              </a:lnSpc>
            </a:pPr>
            <a:r>
              <a:rPr lang="zh-CN" altLang="en-US" b="0" i="0" dirty="0">
                <a:solidFill>
                  <a:srgbClr val="191B1F"/>
                </a:solidFill>
                <a:effectLst/>
                <a:latin typeface="宋体" panose="02010600030101010101" pitchFamily="2" charset="-122"/>
                <a:ea typeface="宋体" panose="02010600030101010101" pitchFamily="2" charset="-122"/>
              </a:rPr>
              <a:t>正确的执行顺序是（ ）。</a:t>
            </a:r>
          </a:p>
          <a:p>
            <a:pPr algn="l">
              <a:lnSpc>
                <a:spcPct val="150000"/>
              </a:lnSpc>
            </a:pPr>
            <a:r>
              <a:rPr lang="en-US" altLang="zh-CN" b="0" i="0" dirty="0">
                <a:solidFill>
                  <a:srgbClr val="191B1F"/>
                </a:solidFill>
                <a:effectLst/>
                <a:latin typeface="宋体" panose="02010600030101010101" pitchFamily="2" charset="-122"/>
                <a:ea typeface="宋体" panose="02010600030101010101" pitchFamily="2" charset="-122"/>
              </a:rPr>
              <a:t>A. ③→①→②→④</a:t>
            </a:r>
          </a:p>
          <a:p>
            <a:pPr algn="l">
              <a:lnSpc>
                <a:spcPct val="150000"/>
              </a:lnSpc>
            </a:pPr>
            <a:r>
              <a:rPr lang="en-US" altLang="zh-CN" b="0" i="0" dirty="0">
                <a:solidFill>
                  <a:srgbClr val="191B1F"/>
                </a:solidFill>
                <a:effectLst/>
                <a:latin typeface="宋体" panose="02010600030101010101" pitchFamily="2" charset="-122"/>
                <a:ea typeface="宋体" panose="02010600030101010101" pitchFamily="2" charset="-122"/>
              </a:rPr>
              <a:t>B. ②→③→①→④</a:t>
            </a:r>
          </a:p>
          <a:p>
            <a:pPr algn="l">
              <a:lnSpc>
                <a:spcPct val="150000"/>
              </a:lnSpc>
            </a:pPr>
            <a:r>
              <a:rPr lang="en-US" altLang="zh-CN" b="0" i="0" dirty="0">
                <a:solidFill>
                  <a:srgbClr val="191B1F"/>
                </a:solidFill>
                <a:effectLst/>
                <a:latin typeface="宋体" panose="02010600030101010101" pitchFamily="2" charset="-122"/>
                <a:ea typeface="宋体" panose="02010600030101010101" pitchFamily="2" charset="-122"/>
              </a:rPr>
              <a:t>C. ②→①→③→④</a:t>
            </a:r>
          </a:p>
          <a:p>
            <a:pPr algn="l">
              <a:lnSpc>
                <a:spcPct val="150000"/>
              </a:lnSpc>
            </a:pPr>
            <a:r>
              <a:rPr lang="en-US" altLang="zh-CN" b="0" i="0" dirty="0">
                <a:solidFill>
                  <a:srgbClr val="191B1F"/>
                </a:solidFill>
                <a:effectLst/>
                <a:latin typeface="宋体" panose="02010600030101010101" pitchFamily="2" charset="-122"/>
                <a:ea typeface="宋体" panose="02010600030101010101" pitchFamily="2" charset="-122"/>
              </a:rPr>
              <a:t>D. ①→②→④→③</a:t>
            </a:r>
          </a:p>
        </p:txBody>
      </p:sp>
      <p:sp>
        <p:nvSpPr>
          <p:cNvPr id="6" name="文本框 5"/>
          <p:cNvSpPr txBox="1"/>
          <p:nvPr/>
        </p:nvSpPr>
        <p:spPr>
          <a:xfrm>
            <a:off x="4165916" y="5789495"/>
            <a:ext cx="4572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2017</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年全国统考真题，第</a:t>
            </a:r>
            <a:r>
              <a:rPr kumimoji="0" lang="en-US" altLang="zh-CN"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32</a:t>
            </a:r>
            <a:r>
              <a:rPr kumimoji="0" lang="zh-CN" altLang="en-US" sz="18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题</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2" name="文本框 1"/>
          <p:cNvSpPr txBox="1"/>
          <p:nvPr/>
        </p:nvSpPr>
        <p:spPr>
          <a:xfrm>
            <a:off x="5049078" y="3992691"/>
            <a:ext cx="278296" cy="369332"/>
          </a:xfrm>
          <a:prstGeom prst="rect">
            <a:avLst/>
          </a:prstGeom>
          <a:noFill/>
        </p:spPr>
        <p:txBody>
          <a:bodyPr wrap="square" rtlCol="0">
            <a:spAutoFit/>
          </a:bodyPr>
          <a:lstStyle/>
          <a:p>
            <a:r>
              <a:rPr lang="en-US" altLang="zh-CN" b="1" dirty="0">
                <a:solidFill>
                  <a:srgbClr val="FF0000"/>
                </a:solidFill>
              </a:rPr>
              <a:t>B</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pic>
        <p:nvPicPr>
          <p:cNvPr id="5" name="图片 4" descr="图示&#10;&#10;描述已自动生成"/>
          <p:cNvPicPr>
            <a:picLocks noChangeAspect="1"/>
          </p:cNvPicPr>
          <p:nvPr/>
        </p:nvPicPr>
        <p:blipFill>
          <a:blip r:embed="rId3"/>
          <a:stretch>
            <a:fillRect/>
          </a:stretch>
        </p:blipFill>
        <p:spPr>
          <a:xfrm>
            <a:off x="2716735" y="912484"/>
            <a:ext cx="3979438" cy="2885093"/>
          </a:xfrm>
          <a:prstGeom prst="rect">
            <a:avLst/>
          </a:prstGeom>
        </p:spPr>
      </p:pic>
      <p:sp>
        <p:nvSpPr>
          <p:cNvPr id="3" name="文本框 2"/>
          <p:cNvSpPr txBox="1"/>
          <p:nvPr/>
        </p:nvSpPr>
        <p:spPr>
          <a:xfrm>
            <a:off x="315982" y="3931781"/>
            <a:ext cx="8161972" cy="738664"/>
          </a:xfrm>
          <a:prstGeom prst="rect">
            <a:avLst/>
          </a:prstGeom>
          <a:noFill/>
        </p:spPr>
        <p:txBody>
          <a:bodyPr wrap="square">
            <a:spAutoFit/>
          </a:bodyPr>
          <a:lstStyle/>
          <a:p>
            <a:r>
              <a:rPr lang="en-US" altLang="zh-CN" sz="1400" dirty="0"/>
              <a:t>Whenever an I/O device wants to transfer the data to or from memory, it sends the DMA request (DRQ) to the DMA controller. DMA controller accepts this DRQ and asks the CPU to hold for a few clock cycles by sending it the Hold request (HLD).</a:t>
            </a:r>
          </a:p>
        </p:txBody>
      </p:sp>
      <p:sp>
        <p:nvSpPr>
          <p:cNvPr id="6" name="文本框 5"/>
          <p:cNvSpPr txBox="1"/>
          <p:nvPr/>
        </p:nvSpPr>
        <p:spPr>
          <a:xfrm>
            <a:off x="315982" y="4696219"/>
            <a:ext cx="8105422" cy="523220"/>
          </a:xfrm>
          <a:prstGeom prst="rect">
            <a:avLst/>
          </a:prstGeom>
          <a:noFill/>
        </p:spPr>
        <p:txBody>
          <a:bodyPr wrap="square">
            <a:spAutoFit/>
          </a:bodyPr>
          <a:lstStyle/>
          <a:p>
            <a:r>
              <a:rPr lang="en-US" altLang="zh-CN" sz="1400" dirty="0"/>
              <a:t>CPU receives the Hold request (HLD) from DMA controller and relinquishes the bus and sends the Hold acknowledgement (HLDA) to DMA controller.</a:t>
            </a:r>
          </a:p>
        </p:txBody>
      </p:sp>
      <p:sp>
        <p:nvSpPr>
          <p:cNvPr id="8" name="文本框 7"/>
          <p:cNvSpPr txBox="1"/>
          <p:nvPr/>
        </p:nvSpPr>
        <p:spPr>
          <a:xfrm>
            <a:off x="315982" y="5219439"/>
            <a:ext cx="8105421" cy="738664"/>
          </a:xfrm>
          <a:prstGeom prst="rect">
            <a:avLst/>
          </a:prstGeom>
          <a:noFill/>
        </p:spPr>
        <p:txBody>
          <a:bodyPr wrap="square">
            <a:spAutoFit/>
          </a:bodyPr>
          <a:lstStyle/>
          <a:p>
            <a:r>
              <a:rPr lang="en-US" altLang="zh-CN" sz="1400" dirty="0"/>
              <a:t>After receiving the Hold acknowledgement (HLDA), DMA controller acknowledges I/O device (DACK) that the data transfer can be performed, and DMA controller takes the charge of the system bus and transfers the data to or from memory.</a:t>
            </a:r>
          </a:p>
        </p:txBody>
      </p:sp>
      <p:sp>
        <p:nvSpPr>
          <p:cNvPr id="10" name="文本框 9"/>
          <p:cNvSpPr txBox="1"/>
          <p:nvPr/>
        </p:nvSpPr>
        <p:spPr>
          <a:xfrm>
            <a:off x="315980" y="5940384"/>
            <a:ext cx="8370819" cy="738664"/>
          </a:xfrm>
          <a:prstGeom prst="rect">
            <a:avLst/>
          </a:prstGeom>
          <a:noFill/>
        </p:spPr>
        <p:txBody>
          <a:bodyPr wrap="square">
            <a:spAutoFit/>
          </a:bodyPr>
          <a:lstStyle/>
          <a:p>
            <a:r>
              <a:rPr lang="en-US" altLang="zh-CN" sz="1400" dirty="0"/>
              <a:t>When the data transfer is accomplished, the DMA raise an interrupt to let the processor know that the task of data transfer is finished and the processor can take control over the bus again and start processing where it has left.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1020763" y="166688"/>
            <a:ext cx="7666037" cy="576262"/>
          </a:xfrm>
        </p:spPr>
        <p:txBody>
          <a:bodyPr/>
          <a:lstStyle/>
          <a:p>
            <a:pPr eaLnBrk="1" hangingPunct="1"/>
            <a:r>
              <a:rPr lang="en-US" altLang="en-US" sz="2800" dirty="0"/>
              <a:t>Direct Memory Access (DMA)</a:t>
            </a:r>
          </a:p>
        </p:txBody>
      </p:sp>
      <p:sp>
        <p:nvSpPr>
          <p:cNvPr id="56323" name="Rectangle 3"/>
          <p:cNvSpPr>
            <a:spLocks noGrp="1" noChangeArrowheads="1"/>
          </p:cNvSpPr>
          <p:nvPr>
            <p:ph type="body" idx="4294967295"/>
          </p:nvPr>
        </p:nvSpPr>
        <p:spPr>
          <a:xfrm>
            <a:off x="806450" y="1233488"/>
            <a:ext cx="7539038" cy="4530725"/>
          </a:xfrm>
        </p:spPr>
        <p:txBody>
          <a:bodyPr/>
          <a:lstStyle/>
          <a:p>
            <a:pPr>
              <a:spcAft>
                <a:spcPts val="600"/>
              </a:spcAft>
              <a:buFont typeface="Wingdings" panose="05000000000000000000" pitchFamily="2" charset="2"/>
              <a:buChar char="q"/>
            </a:pPr>
            <a:r>
              <a:rPr lang="en-US" altLang="en-US" sz="2000" dirty="0"/>
              <a:t>Device controller transfers </a:t>
            </a:r>
            <a:r>
              <a:rPr lang="en-US" altLang="en-US" sz="2000" dirty="0">
                <a:solidFill>
                  <a:srgbClr val="FF0000"/>
                </a:solidFill>
              </a:rPr>
              <a:t>blocks of data </a:t>
            </a:r>
            <a:r>
              <a:rPr lang="en-US" altLang="en-US" sz="2000" dirty="0"/>
              <a:t>from buffer storage directly to main memory without CPU intervention</a:t>
            </a:r>
          </a:p>
          <a:p>
            <a:pPr>
              <a:spcAft>
                <a:spcPts val="600"/>
              </a:spcAft>
              <a:buFont typeface="Wingdings" panose="05000000000000000000" pitchFamily="2" charset="2"/>
              <a:buChar char="q"/>
            </a:pPr>
            <a:r>
              <a:rPr lang="en-US" altLang="en-US" sz="2000" dirty="0"/>
              <a:t>Only one interrupt is generated per block, rather than the </a:t>
            </a:r>
            <a:r>
              <a:rPr lang="en-US" altLang="en-US" sz="2000" b="1" u="sng" dirty="0">
                <a:solidFill>
                  <a:srgbClr val="FF0000"/>
                </a:solidFill>
              </a:rPr>
              <a:t>one interrupt per byte</a:t>
            </a:r>
          </a:p>
          <a:p>
            <a:pPr>
              <a:spcAft>
                <a:spcPts val="600"/>
              </a:spcAft>
              <a:buFont typeface="Wingdings" panose="05000000000000000000" pitchFamily="2" charset="2"/>
              <a:buChar char="q"/>
            </a:pPr>
            <a:r>
              <a:rPr lang="en-US" altLang="en-US" sz="2000" dirty="0"/>
              <a:t>Used for high-speed I/O devices able to transmit information at close to memory speeds</a:t>
            </a:r>
          </a:p>
        </p:txBody>
      </p:sp>
      <p:sp>
        <p:nvSpPr>
          <p:cNvPr id="2" name="文本框 1"/>
          <p:cNvSpPr txBox="1"/>
          <p:nvPr/>
        </p:nvSpPr>
        <p:spPr>
          <a:xfrm>
            <a:off x="1501422" y="4927600"/>
            <a:ext cx="6299200" cy="646331"/>
          </a:xfrm>
          <a:prstGeom prst="rect">
            <a:avLst/>
          </a:prstGeom>
          <a:noFill/>
        </p:spPr>
        <p:txBody>
          <a:bodyPr wrap="square" rtlCol="0">
            <a:spAutoFit/>
          </a:bodyPr>
          <a:lstStyle/>
          <a:p>
            <a:r>
              <a:rPr lang="en-US" altLang="zh-CN" dirty="0">
                <a:solidFill>
                  <a:srgbClr val="FF0000"/>
                </a:solidFill>
              </a:rPr>
              <a:t>Why Only One Byte (or Word) per Interrupt for programmed I/O or Interrupted I/O?</a:t>
            </a:r>
            <a:endParaRPr lang="zh-CN" altLang="en-US"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1020763" y="166688"/>
            <a:ext cx="7666037" cy="576262"/>
          </a:xfrm>
        </p:spPr>
        <p:txBody>
          <a:bodyPr/>
          <a:lstStyle/>
          <a:p>
            <a:pPr eaLnBrk="1" hangingPunct="1"/>
            <a:r>
              <a:rPr lang="en-US" altLang="en-US" sz="2800" dirty="0"/>
              <a:t>Question</a:t>
            </a:r>
          </a:p>
        </p:txBody>
      </p:sp>
      <p:sp>
        <p:nvSpPr>
          <p:cNvPr id="56323" name="Rectangle 3"/>
          <p:cNvSpPr>
            <a:spLocks noGrp="1" noChangeArrowheads="1"/>
          </p:cNvSpPr>
          <p:nvPr>
            <p:ph type="body" idx="4294967295"/>
          </p:nvPr>
        </p:nvSpPr>
        <p:spPr>
          <a:xfrm>
            <a:off x="806450" y="1233488"/>
            <a:ext cx="7539038" cy="4530725"/>
          </a:xfrm>
        </p:spPr>
        <p:txBody>
          <a:bodyPr/>
          <a:lstStyle/>
          <a:p>
            <a:pPr>
              <a:spcAft>
                <a:spcPts val="600"/>
              </a:spcAft>
              <a:buFont typeface="Wingdings" panose="05000000000000000000" pitchFamily="2" charset="2"/>
              <a:buChar char="q"/>
            </a:pPr>
            <a:r>
              <a:rPr lang="en-US" altLang="en-US" sz="2000" dirty="0">
                <a:solidFill>
                  <a:srgbClr val="FF0000"/>
                </a:solidFill>
              </a:rPr>
              <a:t>Why Only One Byte (or Word) per Interrupt for programmed I/O or Interrupted I/O?</a:t>
            </a:r>
          </a:p>
          <a:p>
            <a:pPr lvl="1">
              <a:spcAft>
                <a:spcPts val="600"/>
              </a:spcAft>
              <a:buFont typeface="Wingdings" panose="05000000000000000000" pitchFamily="2" charset="2"/>
              <a:buChar char="q"/>
            </a:pPr>
            <a:r>
              <a:rPr lang="en-US" altLang="en-US" sz="2000" dirty="0"/>
              <a:t>The hardware interface typically provides a single data register for the device, and once that register is ready or full, the CPU is either signaled (interrupt) or must explicitly check (polled) to move just that one byte.</a:t>
            </a:r>
          </a:p>
          <a:p>
            <a:pPr lvl="1">
              <a:spcAft>
                <a:spcPts val="600"/>
              </a:spcAft>
              <a:buFont typeface="Wingdings" panose="05000000000000000000" pitchFamily="2" charset="2"/>
              <a:buChar char="q"/>
            </a:pPr>
            <a:r>
              <a:rPr lang="en-US" altLang="zh-CN" sz="2000" dirty="0"/>
              <a:t>Each byte arrival triggers an interrupt, and the CPU must move that byte out of the device register before another arrives.</a:t>
            </a:r>
            <a:endParaRPr lang="en-US" altLang="en-US" sz="2000" dirty="0"/>
          </a:p>
          <a:p>
            <a:pPr lvl="1">
              <a:spcAft>
                <a:spcPts val="600"/>
              </a:spcAft>
              <a:buFont typeface="Wingdings" panose="05000000000000000000" pitchFamily="2" charset="2"/>
              <a:buChar char="q"/>
            </a:pPr>
            <a:r>
              <a:rPr lang="en-US" altLang="zh-CN" sz="2000" dirty="0"/>
              <a:t>There is no automated mechanism (like DMA) to transfer larger blocks without CPU intervention, hence you effectively get “one byte per interrupt.”</a:t>
            </a:r>
            <a:r>
              <a:rPr lang="en-US" altLang="en-US" sz="2000"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sp>
        <p:nvSpPr>
          <p:cNvPr id="35844" name="文本框 3"/>
          <p:cNvSpPr txBox="1">
            <a:spLocks noChangeArrowheads="1"/>
          </p:cNvSpPr>
          <p:nvPr/>
        </p:nvSpPr>
        <p:spPr bwMode="auto">
          <a:xfrm>
            <a:off x="811745" y="1063233"/>
            <a:ext cx="81547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The DMA controller transfers the data in three modes:</a:t>
            </a:r>
            <a:endParaRPr kumimoji="0" lang="zh-CN" altLang="en-US"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4" name="文本框 3"/>
          <p:cNvSpPr txBox="1"/>
          <p:nvPr/>
        </p:nvSpPr>
        <p:spPr>
          <a:xfrm>
            <a:off x="457200" y="1736001"/>
            <a:ext cx="8584143" cy="434651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ts val="600"/>
              </a:spcAft>
              <a:buClrTx/>
              <a:buSzTx/>
              <a:buFont typeface="+mj-lt"/>
              <a:buAutoNum type="arabicPeriod"/>
              <a:defRPr/>
            </a:pP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Burst Mode: </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Here, once the DMA controller gains the charge of the system bus, then it releases the system bus only after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completion</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of data transfer. Till then the CPU has to wait for the system buses.</a:t>
            </a:r>
          </a:p>
          <a:p>
            <a:pPr marL="0" marR="0" lvl="0" indent="0" algn="l" defTabSz="914400" rtl="0" eaLnBrk="0" fontAlgn="base" latinLnBrk="0" hangingPunct="0">
              <a:lnSpc>
                <a:spcPct val="150000"/>
              </a:lnSpc>
              <a:spcBef>
                <a:spcPct val="0"/>
              </a:spcBef>
              <a:spcAft>
                <a:spcPts val="600"/>
              </a:spcAft>
              <a:buClrTx/>
              <a:buSzTx/>
              <a:buFont typeface="+mj-lt"/>
              <a:buAutoNum type="arabicPeriod"/>
              <a:defRPr/>
            </a:pP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Cycle Stealing Mode:</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In this mode, the DMA controller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forces</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the CPU to stop its operation and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relinquish the control over the bus </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for a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short term</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to DMA controller. After the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transfer of every byte</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the DMA controller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releases</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the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bus </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and then again requests for the system bus. In this way, the DMA controller steals the clock cycle for transferring every byte.</a:t>
            </a:r>
          </a:p>
          <a:p>
            <a:pPr marL="0" marR="0" lvl="0" indent="0" algn="l" defTabSz="914400" rtl="0" eaLnBrk="0" fontAlgn="base" latinLnBrk="0" hangingPunct="0">
              <a:lnSpc>
                <a:spcPct val="150000"/>
              </a:lnSpc>
              <a:spcBef>
                <a:spcPct val="0"/>
              </a:spcBef>
              <a:spcAft>
                <a:spcPct val="0"/>
              </a:spcAft>
              <a:buClrTx/>
              <a:buSzTx/>
              <a:buFont typeface="+mj-lt"/>
              <a:buAutoNum type="arabicPeriod"/>
              <a:defRPr/>
            </a:pP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Transparent Mode:</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 Here, the DMA controller takes the charge of system bus only if the </a:t>
            </a:r>
            <a:r>
              <a:rPr kumimoji="0" lang="en-US" altLang="zh-CN" sz="1800" b="1"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processor does not require the system bus</a:t>
            </a:r>
            <a:r>
              <a:rPr kumimoji="0" lang="en-US" altLang="zh-CN" sz="1800" b="0" i="0" u="none" strike="noStrike" kern="1200" cap="none" spc="0" normalizeH="0" baseline="0" noProof="0" dirty="0">
                <a:ln>
                  <a:noFill/>
                </a:ln>
                <a:solidFill>
                  <a:srgbClr val="222222"/>
                </a:solidFill>
                <a:effectLst/>
                <a:uLnTx/>
                <a:uFillTx/>
                <a:latin typeface="Lato" panose="020F0502020204030203" pitchFamily="34" charset="0"/>
                <a:ea typeface="MS PGothic" panose="020B0600070205080204" pitchFamily="34" charset="-128"/>
                <a:cs typeface="+mn-cs"/>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Direct Memory Access (DMA)</a:t>
            </a:r>
          </a:p>
        </p:txBody>
      </p:sp>
      <p:sp>
        <p:nvSpPr>
          <p:cNvPr id="35844" name="文本框 3"/>
          <p:cNvSpPr txBox="1">
            <a:spLocks noChangeArrowheads="1"/>
          </p:cNvSpPr>
          <p:nvPr/>
        </p:nvSpPr>
        <p:spPr bwMode="auto">
          <a:xfrm>
            <a:off x="811745" y="1063233"/>
            <a:ext cx="81547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Direct Memory Access Advantages and Disadvantages</a:t>
            </a:r>
            <a:endParaRPr kumimoji="0" lang="zh-CN" altLang="en-US"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3" name="文本框 2"/>
          <p:cNvSpPr txBox="1"/>
          <p:nvPr/>
        </p:nvSpPr>
        <p:spPr>
          <a:xfrm>
            <a:off x="811745" y="1602316"/>
            <a:ext cx="7657552" cy="440120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120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Advantages:</a:t>
            </a:r>
          </a:p>
          <a:p>
            <a:pPr marL="457200" marR="0" lvl="0" indent="-457200" algn="l" defTabSz="914400" rtl="0" eaLnBrk="0" fontAlgn="base" latinLnBrk="0" hangingPunct="0">
              <a:lnSpc>
                <a:spcPct val="100000"/>
              </a:lnSpc>
              <a:spcBef>
                <a:spcPct val="0"/>
              </a:spcBef>
              <a:spcAft>
                <a:spcPts val="1200"/>
              </a:spcAft>
              <a:buClrTx/>
              <a:buSzTx/>
              <a:buFont typeface="+mj-lt"/>
              <a:buAutoNum type="arabicPeriod"/>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Transferring the data without the involvement of the processor will speed up the read-write task.</a:t>
            </a:r>
          </a:p>
          <a:p>
            <a:pPr marL="457200" marR="0" lvl="0" indent="-457200" algn="l" defTabSz="914400" rtl="0" eaLnBrk="0" fontAlgn="base" latinLnBrk="0" hangingPunct="0">
              <a:lnSpc>
                <a:spcPct val="100000"/>
              </a:lnSpc>
              <a:spcBef>
                <a:spcPct val="0"/>
              </a:spcBef>
              <a:spcAft>
                <a:spcPts val="1200"/>
              </a:spcAft>
              <a:buClrTx/>
              <a:buSzTx/>
              <a:buFont typeface="+mj-lt"/>
              <a:buAutoNum type="arabicPeriod"/>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DMA reduces the clock cycle requires to read or write a block of data.</a:t>
            </a:r>
          </a:p>
          <a:p>
            <a:pPr marL="457200" marR="0" lvl="0" indent="-457200" algn="l" defTabSz="914400" rtl="0" eaLnBrk="0" fontAlgn="base" latinLnBrk="0" hangingPunct="0">
              <a:lnSpc>
                <a:spcPct val="100000"/>
              </a:lnSpc>
              <a:spcBef>
                <a:spcPct val="0"/>
              </a:spcBef>
              <a:spcAft>
                <a:spcPts val="1200"/>
              </a:spcAft>
              <a:buClrTx/>
              <a:buSzTx/>
              <a:buFont typeface="+mj-lt"/>
              <a:buAutoNum type="arabicPeriod"/>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Implementing DMA also reduces the overhead of the processor.</a:t>
            </a:r>
          </a:p>
          <a:p>
            <a:pPr marL="457200" marR="0" lvl="0" indent="-457200" algn="l" defTabSz="914400" rtl="0" eaLnBrk="0" fontAlgn="base" latinLnBrk="0" hangingPunct="0">
              <a:lnSpc>
                <a:spcPct val="100000"/>
              </a:lnSpc>
              <a:spcBef>
                <a:spcPct val="0"/>
              </a:spcBef>
              <a:spcAft>
                <a:spcPts val="1200"/>
              </a:spcAft>
              <a:buClrTx/>
              <a:buSzTx/>
              <a:buFont typeface="+mj-lt"/>
              <a:buAutoNum type="arabicPeriod"/>
              <a:defRPr/>
            </a:pPr>
            <a:endPar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ts val="1200"/>
              </a:spcAft>
              <a:buClrTx/>
              <a:buSzTx/>
              <a:buFontTx/>
              <a:buNone/>
              <a:defRPr/>
            </a:pPr>
            <a:r>
              <a:rPr kumimoji="0" lang="en-US" altLang="zh-CN" sz="2000" b="1"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Disadvantages</a:t>
            </a:r>
          </a:p>
          <a:p>
            <a:pPr marL="457200" marR="0" lvl="0" indent="-457200" algn="l" defTabSz="914400" rtl="0" eaLnBrk="0" fontAlgn="base" latinLnBrk="0" hangingPunct="0">
              <a:lnSpc>
                <a:spcPct val="100000"/>
              </a:lnSpc>
              <a:spcBef>
                <a:spcPct val="0"/>
              </a:spcBef>
              <a:spcAft>
                <a:spcPts val="1200"/>
              </a:spcAft>
              <a:buClrTx/>
              <a:buSzTx/>
              <a:buFont typeface="+mj-lt"/>
              <a:buAutoNum type="arabicPeriod"/>
              <a:defRPr/>
            </a:pPr>
            <a:r>
              <a:rPr kumimoji="0" lang="en-US" altLang="zh-CN" sz="20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As it is a hardware unit, it would cost to implement a DMA controller in the system.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Quiz</a:t>
            </a:r>
          </a:p>
        </p:txBody>
      </p:sp>
      <p:sp>
        <p:nvSpPr>
          <p:cNvPr id="4" name="文本框 3"/>
          <p:cNvSpPr txBox="1"/>
          <p:nvPr/>
        </p:nvSpPr>
        <p:spPr>
          <a:xfrm>
            <a:off x="706055" y="1512471"/>
            <a:ext cx="8229600" cy="2646878"/>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若设备采用周期挪用</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方式进行输入和输出，每次 </a:t>
            </a:r>
            <a:r>
              <a:rPr lang="en-US" altLang="zh-CN" dirty="0">
                <a:latin typeface="宋体" panose="02010600030101010101" pitchFamily="2" charset="-122"/>
                <a:ea typeface="宋体" panose="02010600030101010101" pitchFamily="2" charset="-122"/>
              </a:rPr>
              <a:t>DMA </a:t>
            </a:r>
            <a:r>
              <a:rPr lang="zh-CN" altLang="en-US" dirty="0">
                <a:latin typeface="宋体" panose="02010600030101010101" pitchFamily="2" charset="-122"/>
                <a:ea typeface="宋体" panose="02010600030101010101" pitchFamily="2" charset="-122"/>
              </a:rPr>
              <a:t>传送的数据块大小为</a:t>
            </a:r>
            <a:r>
              <a:rPr lang="en-US" altLang="zh-CN" dirty="0">
                <a:latin typeface="宋体" panose="02010600030101010101" pitchFamily="2" charset="-122"/>
                <a:ea typeface="宋体" panose="02010600030101010101" pitchFamily="2" charset="-122"/>
              </a:rPr>
              <a:t>512 </a:t>
            </a:r>
            <a:r>
              <a:rPr lang="zh-CN" altLang="en-US" dirty="0">
                <a:latin typeface="宋体" panose="02010600030101010101" pitchFamily="2" charset="-122"/>
                <a:ea typeface="宋体" panose="02010600030101010101" pitchFamily="2" charset="-122"/>
              </a:rPr>
              <a:t>字节，相应的</a:t>
            </a:r>
            <a:r>
              <a:rPr lang="en-US" altLang="zh-CN" dirty="0">
                <a:latin typeface="宋体" panose="02010600030101010101" pitchFamily="2" charset="-122"/>
                <a:ea typeface="宋体" panose="02010600030101010101" pitchFamily="2" charset="-122"/>
              </a:rPr>
              <a:t>I/O </a:t>
            </a:r>
            <a:r>
              <a:rPr lang="zh-CN" altLang="en-US" dirty="0">
                <a:latin typeface="宋体" panose="02010600030101010101" pitchFamily="2" charset="-122"/>
                <a:ea typeface="宋体" panose="02010600030101010101" pitchFamily="2" charset="-122"/>
              </a:rPr>
              <a:t>接口中有一个</a:t>
            </a:r>
            <a:r>
              <a:rPr lang="en-US" altLang="zh-CN" dirty="0">
                <a:latin typeface="宋体" panose="02010600030101010101" pitchFamily="2" charset="-122"/>
                <a:ea typeface="宋体" panose="02010600030101010101" pitchFamily="2" charset="-122"/>
              </a:rPr>
              <a:t>32</a:t>
            </a:r>
            <a:r>
              <a:rPr lang="zh-CN" altLang="en-US" dirty="0">
                <a:latin typeface="宋体" panose="02010600030101010101" pitchFamily="2" charset="-122"/>
                <a:ea typeface="宋体" panose="02010600030101010101" pitchFamily="2" charset="-122"/>
              </a:rPr>
              <a:t>位数数据缓冲寄存器。对于数据输入过程，下列叙述中，错误的是</a:t>
            </a:r>
          </a:p>
          <a:p>
            <a:pPr>
              <a:spcBef>
                <a:spcPts val="1200"/>
              </a:spcBef>
            </a:pPr>
            <a:r>
              <a:rPr lang="en-US" altLang="zh-CN" dirty="0">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每准备好</a:t>
            </a:r>
            <a:r>
              <a:rPr lang="en-US" altLang="zh-CN" dirty="0">
                <a:latin typeface="宋体" panose="02010600030101010101" pitchFamily="2" charset="-122"/>
                <a:ea typeface="宋体" panose="02010600030101010101" pitchFamily="2" charset="-122"/>
              </a:rPr>
              <a:t>32</a:t>
            </a:r>
            <a:r>
              <a:rPr lang="zh-CN" altLang="en-US" dirty="0">
                <a:latin typeface="宋体" panose="02010600030101010101" pitchFamily="2" charset="-122"/>
                <a:ea typeface="宋体" panose="02010600030101010101" pitchFamily="2" charset="-122"/>
              </a:rPr>
              <a:t>位数据，</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控制器就发出一次总线请求</a:t>
            </a:r>
          </a:p>
          <a:p>
            <a:pPr>
              <a:spcBef>
                <a:spcPts val="1200"/>
              </a:spcBef>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相对于</a:t>
            </a:r>
            <a:r>
              <a:rPr lang="en-US" altLang="zh-CN" dirty="0">
                <a:latin typeface="宋体" panose="02010600030101010101" pitchFamily="2" charset="-122"/>
                <a:ea typeface="宋体" panose="02010600030101010101" pitchFamily="2" charset="-122"/>
              </a:rPr>
              <a:t>CPU</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控制器的总线使用权的优先级更高</a:t>
            </a:r>
          </a:p>
          <a:p>
            <a:pPr>
              <a:spcBef>
                <a:spcPts val="1200"/>
              </a:spcBef>
            </a:pPr>
            <a:r>
              <a:rPr lang="en-US" altLang="zh-CN" dirty="0">
                <a:latin typeface="宋体" panose="02010600030101010101" pitchFamily="2" charset="-122"/>
                <a:ea typeface="宋体" panose="02010600030101010101" pitchFamily="2" charset="-122"/>
              </a:rPr>
              <a:t>C.</a:t>
            </a:r>
            <a:r>
              <a:rPr lang="zh-CN" altLang="en-US" dirty="0">
                <a:latin typeface="宋体" panose="02010600030101010101" pitchFamily="2" charset="-122"/>
                <a:ea typeface="宋体" panose="02010600030101010101" pitchFamily="2" charset="-122"/>
              </a:rPr>
              <a:t>在整个数据块的传送过程中，</a:t>
            </a:r>
            <a:r>
              <a:rPr lang="en-US" altLang="zh-CN" dirty="0">
                <a:latin typeface="宋体" panose="02010600030101010101" pitchFamily="2" charset="-122"/>
                <a:ea typeface="宋体" panose="02010600030101010101" pitchFamily="2" charset="-122"/>
              </a:rPr>
              <a:t>CPU</a:t>
            </a:r>
            <a:r>
              <a:rPr lang="zh-CN" altLang="en-US" dirty="0">
                <a:latin typeface="宋体" panose="02010600030101010101" pitchFamily="2" charset="-122"/>
                <a:ea typeface="宋体" panose="02010600030101010101" pitchFamily="2" charset="-122"/>
              </a:rPr>
              <a:t>不可以访问主存储器</a:t>
            </a:r>
          </a:p>
          <a:p>
            <a:pPr>
              <a:spcBef>
                <a:spcPts val="1200"/>
              </a:spcBef>
            </a:pPr>
            <a:r>
              <a:rPr lang="en-US" altLang="zh-CN" dirty="0">
                <a:latin typeface="宋体" panose="02010600030101010101" pitchFamily="2" charset="-122"/>
                <a:ea typeface="宋体" panose="02010600030101010101" pitchFamily="2" charset="-122"/>
              </a:rPr>
              <a:t>D.</a:t>
            </a:r>
            <a:r>
              <a:rPr lang="zh-CN" altLang="en-US" dirty="0">
                <a:latin typeface="宋体" panose="02010600030101010101" pitchFamily="2" charset="-122"/>
                <a:ea typeface="宋体" panose="02010600030101010101" pitchFamily="2" charset="-122"/>
              </a:rPr>
              <a:t>数据块传送结束时，会产生</a:t>
            </a:r>
            <a:r>
              <a:rPr lang="en-US" altLang="zh-CN" dirty="0">
                <a:latin typeface="宋体" panose="02010600030101010101" pitchFamily="2" charset="-122"/>
                <a:ea typeface="宋体" panose="02010600030101010101" pitchFamily="2" charset="-122"/>
              </a:rPr>
              <a:t>"DMA </a:t>
            </a:r>
            <a:r>
              <a:rPr lang="zh-CN" altLang="en-US" dirty="0">
                <a:latin typeface="宋体" panose="02010600030101010101" pitchFamily="2" charset="-122"/>
                <a:ea typeface="宋体" panose="02010600030101010101" pitchFamily="2" charset="-122"/>
              </a:rPr>
              <a:t>传送结束</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中断请求</a:t>
            </a:r>
          </a:p>
        </p:txBody>
      </p:sp>
      <p:sp>
        <p:nvSpPr>
          <p:cNvPr id="6" name="文本框 5"/>
          <p:cNvSpPr txBox="1"/>
          <p:nvPr/>
        </p:nvSpPr>
        <p:spPr>
          <a:xfrm>
            <a:off x="4114800" y="5545276"/>
            <a:ext cx="4572000" cy="369332"/>
          </a:xfrm>
          <a:prstGeom prst="rect">
            <a:avLst/>
          </a:prstGeom>
          <a:noFill/>
        </p:spPr>
        <p:txBody>
          <a:bodyPr wrap="square">
            <a:spAutoFit/>
          </a:bodyPr>
          <a:lstStyle/>
          <a:p>
            <a:r>
              <a:rPr lang="en-US" altLang="zh-CN" dirty="0">
                <a:latin typeface="宋体" panose="02010600030101010101" pitchFamily="2" charset="-122"/>
                <a:ea typeface="宋体" panose="02010600030101010101" pitchFamily="2" charset="-122"/>
              </a:rPr>
              <a:t>2020</a:t>
            </a:r>
            <a:r>
              <a:rPr lang="zh-CN" altLang="en-US" dirty="0">
                <a:latin typeface="宋体" panose="02010600030101010101" pitchFamily="2" charset="-122"/>
                <a:ea typeface="宋体" panose="02010600030101010101" pitchFamily="2" charset="-122"/>
              </a:rPr>
              <a:t>年全国统考真题，第</a:t>
            </a:r>
            <a:r>
              <a:rPr lang="en-US" altLang="zh-CN" dirty="0">
                <a:latin typeface="宋体" panose="02010600030101010101" pitchFamily="2" charset="-122"/>
                <a:ea typeface="宋体" panose="02010600030101010101" pitchFamily="2" charset="-122"/>
              </a:rPr>
              <a:t>22</a:t>
            </a:r>
            <a:r>
              <a:rPr lang="zh-CN" altLang="en-US" dirty="0">
                <a:latin typeface="宋体" panose="02010600030101010101" pitchFamily="2" charset="-122"/>
                <a:ea typeface="宋体" panose="02010600030101010101" pitchFamily="2" charset="-122"/>
              </a:rPr>
              <a:t>题</a:t>
            </a:r>
            <a:endParaRPr lang="zh-CN" altLang="en-US" dirty="0"/>
          </a:p>
        </p:txBody>
      </p:sp>
      <p:sp>
        <p:nvSpPr>
          <p:cNvPr id="5" name="文本框 4"/>
          <p:cNvSpPr txBox="1"/>
          <p:nvPr/>
        </p:nvSpPr>
        <p:spPr>
          <a:xfrm>
            <a:off x="6985788" y="4482980"/>
            <a:ext cx="278296" cy="369332"/>
          </a:xfrm>
          <a:prstGeom prst="rect">
            <a:avLst/>
          </a:prstGeom>
          <a:noFill/>
        </p:spPr>
        <p:txBody>
          <a:bodyPr wrap="square" rtlCol="0">
            <a:spAutoFit/>
          </a:bodyPr>
          <a:lstStyle/>
          <a:p>
            <a:r>
              <a:rPr lang="en-US" altLang="zh-CN" b="1" dirty="0">
                <a:solidFill>
                  <a:srgbClr val="FF0000"/>
                </a:solidFill>
              </a:rPr>
              <a:t>C</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Quiz</a:t>
            </a:r>
          </a:p>
        </p:txBody>
      </p:sp>
      <p:sp>
        <p:nvSpPr>
          <p:cNvPr id="4" name="文本框 3"/>
          <p:cNvSpPr txBox="1"/>
          <p:nvPr/>
        </p:nvSpPr>
        <p:spPr>
          <a:xfrm>
            <a:off x="711842" y="1567487"/>
            <a:ext cx="8147802" cy="2092881"/>
          </a:xfrm>
          <a:prstGeom prst="rect">
            <a:avLst/>
          </a:prstGeom>
          <a:noFill/>
        </p:spPr>
        <p:txBody>
          <a:bodyPr wrap="square">
            <a:spAutoFit/>
          </a:bodyPr>
          <a:lstStyle/>
          <a:p>
            <a:pPr>
              <a:spcAft>
                <a:spcPts val="1200"/>
              </a:spcAft>
            </a:pPr>
            <a:r>
              <a:rPr lang="zh-CN" altLang="en-US" dirty="0">
                <a:latin typeface="宋体" panose="02010600030101010101" pitchFamily="2" charset="-122"/>
                <a:ea typeface="宋体" panose="02010600030101010101" pitchFamily="2" charset="-122"/>
              </a:rPr>
              <a:t>下列关于中断</a:t>
            </a:r>
            <a:r>
              <a:rPr lang="en-US" altLang="zh-CN" dirty="0">
                <a:latin typeface="宋体" panose="02010600030101010101" pitchFamily="2" charset="-122"/>
                <a:ea typeface="宋体" panose="02010600030101010101" pitchFamily="2" charset="-122"/>
              </a:rPr>
              <a:t>I/O</a:t>
            </a:r>
            <a:r>
              <a:rPr lang="zh-CN" altLang="en-US" dirty="0">
                <a:latin typeface="宋体" panose="02010600030101010101" pitchFamily="2" charset="-122"/>
                <a:ea typeface="宋体" panose="02010600030101010101" pitchFamily="2" charset="-122"/>
              </a:rPr>
              <a:t>方式和</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方式比较的叙述中，错误的是（）</a:t>
            </a:r>
          </a:p>
          <a:p>
            <a:pPr marL="342900" indent="-342900">
              <a:spcAft>
                <a:spcPts val="1200"/>
              </a:spcAft>
              <a:buFont typeface="+mj-lt"/>
              <a:buAutoNum type="alphaUcPeriod"/>
            </a:pPr>
            <a:r>
              <a:rPr lang="zh-CN" altLang="en-US" dirty="0">
                <a:latin typeface="宋体" panose="02010600030101010101" pitchFamily="2" charset="-122"/>
                <a:ea typeface="宋体" panose="02010600030101010101" pitchFamily="2" charset="-122"/>
              </a:rPr>
              <a:t>中断</a:t>
            </a:r>
            <a:r>
              <a:rPr lang="en-US" altLang="zh-CN" dirty="0">
                <a:latin typeface="宋体" panose="02010600030101010101" pitchFamily="2" charset="-122"/>
                <a:ea typeface="宋体" panose="02010600030101010101" pitchFamily="2" charset="-122"/>
              </a:rPr>
              <a:t>I/O</a:t>
            </a:r>
            <a:r>
              <a:rPr lang="zh-CN" altLang="en-US" dirty="0">
                <a:latin typeface="宋体" panose="02010600030101010101" pitchFamily="2" charset="-122"/>
                <a:ea typeface="宋体" panose="02010600030101010101" pitchFamily="2" charset="-122"/>
              </a:rPr>
              <a:t>方式请求的是</a:t>
            </a:r>
            <a:r>
              <a:rPr lang="en-US" altLang="zh-CN" dirty="0">
                <a:latin typeface="宋体" panose="02010600030101010101" pitchFamily="2" charset="-122"/>
                <a:ea typeface="宋体" panose="02010600030101010101" pitchFamily="2" charset="-122"/>
              </a:rPr>
              <a:t>CPU</a:t>
            </a:r>
            <a:r>
              <a:rPr lang="zh-CN" altLang="en-US" dirty="0">
                <a:latin typeface="宋体" panose="02010600030101010101" pitchFamily="2" charset="-122"/>
                <a:ea typeface="宋体" panose="02010600030101010101" pitchFamily="2" charset="-122"/>
              </a:rPr>
              <a:t>处理时间，</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方式请求的是总线使用权</a:t>
            </a:r>
          </a:p>
          <a:p>
            <a:pPr marL="342900" indent="-342900">
              <a:spcAft>
                <a:spcPts val="1200"/>
              </a:spcAft>
              <a:buFont typeface="+mj-lt"/>
              <a:buAutoNum type="alphaUcPeriod"/>
            </a:pPr>
            <a:r>
              <a:rPr lang="zh-CN" altLang="en-US" dirty="0">
                <a:latin typeface="宋体" panose="02010600030101010101" pitchFamily="2" charset="-122"/>
                <a:ea typeface="宋体" panose="02010600030101010101" pitchFamily="2" charset="-122"/>
              </a:rPr>
              <a:t>中断响应发生在一条指令执行结束后，</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响应发生在一个总线事务完成后</a:t>
            </a:r>
          </a:p>
          <a:p>
            <a:pPr marL="342900" indent="-342900">
              <a:spcAft>
                <a:spcPts val="1200"/>
              </a:spcAft>
              <a:buFont typeface="+mj-lt"/>
              <a:buAutoNum type="alphaUcPeriod"/>
            </a:pPr>
            <a:r>
              <a:rPr lang="zh-CN" altLang="en-US" dirty="0">
                <a:latin typeface="宋体" panose="02010600030101010101" pitchFamily="2" charset="-122"/>
                <a:ea typeface="宋体" panose="02010600030101010101" pitchFamily="2" charset="-122"/>
              </a:rPr>
              <a:t>中断</a:t>
            </a:r>
            <a:r>
              <a:rPr lang="en-US" altLang="zh-CN" dirty="0">
                <a:latin typeface="宋体" panose="02010600030101010101" pitchFamily="2" charset="-122"/>
                <a:ea typeface="宋体" panose="02010600030101010101" pitchFamily="2" charset="-122"/>
              </a:rPr>
              <a:t>I/O</a:t>
            </a:r>
            <a:r>
              <a:rPr lang="zh-CN" altLang="en-US" dirty="0">
                <a:latin typeface="宋体" panose="02010600030101010101" pitchFamily="2" charset="-122"/>
                <a:ea typeface="宋体" panose="02010600030101010101" pitchFamily="2" charset="-122"/>
              </a:rPr>
              <a:t>方式下数据传送通过软件完成，</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方式下数据传送由硬件完成</a:t>
            </a:r>
          </a:p>
          <a:p>
            <a:pPr marL="342900" indent="-342900">
              <a:spcAft>
                <a:spcPts val="1200"/>
              </a:spcAft>
              <a:buFont typeface="+mj-lt"/>
              <a:buAutoNum type="alphaUcPeriod"/>
            </a:pPr>
            <a:r>
              <a:rPr lang="zh-CN" altLang="en-US" dirty="0">
                <a:latin typeface="宋体" panose="02010600030101010101" pitchFamily="2" charset="-122"/>
                <a:ea typeface="宋体" panose="02010600030101010101" pitchFamily="2" charset="-122"/>
              </a:rPr>
              <a:t>中断</a:t>
            </a:r>
            <a:r>
              <a:rPr lang="en-US" altLang="zh-CN" dirty="0">
                <a:latin typeface="宋体" panose="02010600030101010101" pitchFamily="2" charset="-122"/>
                <a:ea typeface="宋体" panose="02010600030101010101" pitchFamily="2" charset="-122"/>
              </a:rPr>
              <a:t>I/O</a:t>
            </a:r>
            <a:r>
              <a:rPr lang="zh-CN" altLang="en-US" dirty="0">
                <a:latin typeface="宋体" panose="02010600030101010101" pitchFamily="2" charset="-122"/>
                <a:ea typeface="宋体" panose="02010600030101010101" pitchFamily="2" charset="-122"/>
              </a:rPr>
              <a:t>方式适用于所有外部设备，</a:t>
            </a:r>
            <a:r>
              <a:rPr lang="en-US" altLang="zh-CN" dirty="0">
                <a:latin typeface="宋体" panose="02010600030101010101" pitchFamily="2" charset="-122"/>
                <a:ea typeface="宋体" panose="02010600030101010101" pitchFamily="2" charset="-122"/>
              </a:rPr>
              <a:t>DMA</a:t>
            </a:r>
            <a:r>
              <a:rPr lang="zh-CN" altLang="en-US" dirty="0">
                <a:latin typeface="宋体" panose="02010600030101010101" pitchFamily="2" charset="-122"/>
                <a:ea typeface="宋体" panose="02010600030101010101" pitchFamily="2" charset="-122"/>
              </a:rPr>
              <a:t>方式仅适用于快速外部设备</a:t>
            </a:r>
          </a:p>
        </p:txBody>
      </p:sp>
      <p:sp>
        <p:nvSpPr>
          <p:cNvPr id="6" name="文本框 5"/>
          <p:cNvSpPr txBox="1"/>
          <p:nvPr/>
        </p:nvSpPr>
        <p:spPr>
          <a:xfrm>
            <a:off x="4114800" y="5545276"/>
            <a:ext cx="4572000" cy="369332"/>
          </a:xfrm>
          <a:prstGeom prst="rect">
            <a:avLst/>
          </a:prstGeom>
          <a:noFill/>
        </p:spPr>
        <p:txBody>
          <a:bodyPr wrap="square">
            <a:spAutoFit/>
          </a:bodyPr>
          <a:lstStyle/>
          <a:p>
            <a:r>
              <a:rPr lang="en-US" altLang="zh-CN" dirty="0">
                <a:latin typeface="宋体" panose="02010600030101010101" pitchFamily="2" charset="-122"/>
                <a:ea typeface="宋体" panose="02010600030101010101" pitchFamily="2" charset="-122"/>
              </a:rPr>
              <a:t>2013</a:t>
            </a:r>
            <a:r>
              <a:rPr lang="zh-CN" altLang="en-US" dirty="0">
                <a:latin typeface="宋体" panose="02010600030101010101" pitchFamily="2" charset="-122"/>
                <a:ea typeface="宋体" panose="02010600030101010101" pitchFamily="2" charset="-122"/>
              </a:rPr>
              <a:t>全国统考真题，第</a:t>
            </a:r>
            <a:r>
              <a:rPr lang="en-US" altLang="zh-CN" dirty="0">
                <a:latin typeface="宋体" panose="02010600030101010101" pitchFamily="2" charset="-122"/>
                <a:ea typeface="宋体" panose="02010600030101010101" pitchFamily="2" charset="-122"/>
              </a:rPr>
              <a:t>22</a:t>
            </a:r>
            <a:r>
              <a:rPr lang="zh-CN" altLang="en-US" dirty="0">
                <a:latin typeface="宋体" panose="02010600030101010101" pitchFamily="2" charset="-122"/>
                <a:ea typeface="宋体" panose="02010600030101010101" pitchFamily="2" charset="-122"/>
              </a:rPr>
              <a:t>题</a:t>
            </a:r>
            <a:endParaRPr lang="zh-CN" altLang="en-US" dirty="0"/>
          </a:p>
        </p:txBody>
      </p:sp>
      <p:sp>
        <p:nvSpPr>
          <p:cNvPr id="2" name="文本框 1"/>
          <p:cNvSpPr txBox="1"/>
          <p:nvPr/>
        </p:nvSpPr>
        <p:spPr>
          <a:xfrm>
            <a:off x="6985788" y="4482980"/>
            <a:ext cx="278296" cy="369332"/>
          </a:xfrm>
          <a:prstGeom prst="rect">
            <a:avLst/>
          </a:prstGeom>
          <a:noFill/>
        </p:spPr>
        <p:txBody>
          <a:bodyPr wrap="square" rtlCol="0">
            <a:spAutoFit/>
          </a:bodyPr>
          <a:lstStyle/>
          <a:p>
            <a:r>
              <a:rPr lang="en-US" altLang="zh-CN" b="1" dirty="0">
                <a:solidFill>
                  <a:srgbClr val="FF0000"/>
                </a:solidFill>
              </a:rPr>
              <a:t>D</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895350" y="166688"/>
            <a:ext cx="7791450" cy="576262"/>
          </a:xfrm>
        </p:spPr>
        <p:txBody>
          <a:bodyPr/>
          <a:lstStyle/>
          <a:p>
            <a:pPr eaLnBrk="1" hangingPunct="1"/>
            <a:r>
              <a:rPr lang="en-US" altLang="en-US" dirty="0"/>
              <a:t>Interrupts</a:t>
            </a:r>
          </a:p>
        </p:txBody>
      </p:sp>
      <p:sp>
        <p:nvSpPr>
          <p:cNvPr id="33795" name="Rectangle 3"/>
          <p:cNvSpPr>
            <a:spLocks noGrp="1" noChangeArrowheads="1"/>
          </p:cNvSpPr>
          <p:nvPr>
            <p:ph type="body" idx="4294967295"/>
          </p:nvPr>
        </p:nvSpPr>
        <p:spPr>
          <a:xfrm>
            <a:off x="838200" y="1154113"/>
            <a:ext cx="7848600" cy="4938712"/>
          </a:xfrm>
        </p:spPr>
        <p:txBody>
          <a:bodyPr/>
          <a:lstStyle/>
          <a:p>
            <a:pPr>
              <a:lnSpc>
                <a:spcPct val="90000"/>
              </a:lnSpc>
              <a:buFont typeface="Wingdings" panose="05000000000000000000" pitchFamily="2" charset="2"/>
              <a:buChar char="q"/>
              <a:defRPr/>
            </a:pPr>
            <a:r>
              <a:rPr lang="en-US" altLang="en-US" b="1" dirty="0">
                <a:solidFill>
                  <a:srgbClr val="3366FF"/>
                </a:solidFill>
              </a:rPr>
              <a:t>Interrupt driven </a:t>
            </a:r>
            <a:r>
              <a:rPr lang="en-US" altLang="en-US" dirty="0"/>
              <a:t>(hardware and software)</a:t>
            </a:r>
          </a:p>
          <a:p>
            <a:pPr lvl="1">
              <a:lnSpc>
                <a:spcPct val="90000"/>
              </a:lnSpc>
              <a:buFont typeface="Wingdings" panose="05000000000000000000" pitchFamily="2" charset="2"/>
              <a:buChar char="Ø"/>
              <a:defRPr/>
            </a:pPr>
            <a:r>
              <a:rPr lang="en-US" altLang="en-US" dirty="0">
                <a:solidFill>
                  <a:srgbClr val="C00000"/>
                </a:solidFill>
              </a:rPr>
              <a:t>Hardware</a:t>
            </a:r>
            <a:r>
              <a:rPr lang="en-US" altLang="en-US" dirty="0"/>
              <a:t> interrupt by one of the devices </a:t>
            </a:r>
          </a:p>
          <a:p>
            <a:pPr lvl="2">
              <a:lnSpc>
                <a:spcPct val="90000"/>
              </a:lnSpc>
              <a:defRPr/>
            </a:pPr>
            <a:r>
              <a:rPr lang="en-US" altLang="en-US" dirty="0"/>
              <a:t> I/O operation is completed</a:t>
            </a:r>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endParaRPr lang="en-US" altLang="en-US" dirty="0"/>
          </a:p>
          <a:p>
            <a:pPr lvl="1">
              <a:lnSpc>
                <a:spcPct val="90000"/>
              </a:lnSpc>
              <a:buFont typeface="Wingdings" panose="05000000000000000000" pitchFamily="2" charset="2"/>
              <a:buChar char="Ø"/>
              <a:defRPr/>
            </a:pPr>
            <a:r>
              <a:rPr lang="en-US" altLang="en-US" dirty="0"/>
              <a:t>Software interrupt (</a:t>
            </a:r>
            <a:r>
              <a:rPr lang="en-US" altLang="en-US" b="1" dirty="0">
                <a:solidFill>
                  <a:srgbClr val="3366FF"/>
                </a:solidFill>
              </a:rPr>
              <a:t>exception </a:t>
            </a:r>
            <a:r>
              <a:rPr lang="en-US" altLang="en-US" dirty="0"/>
              <a:t>or </a:t>
            </a:r>
            <a:r>
              <a:rPr lang="en-US" altLang="en-US" b="1" dirty="0">
                <a:solidFill>
                  <a:srgbClr val="3366FF"/>
                </a:solidFill>
              </a:rPr>
              <a:t>trap):</a:t>
            </a:r>
          </a:p>
          <a:p>
            <a:pPr lvl="2">
              <a:lnSpc>
                <a:spcPct val="90000"/>
              </a:lnSpc>
              <a:defRPr/>
            </a:pPr>
            <a:r>
              <a:rPr lang="en-US" altLang="en-US" dirty="0"/>
              <a:t>Software error (e.g., division by zero)</a:t>
            </a:r>
            <a:endParaRPr lang="en-US" altLang="en-US" b="1" dirty="0">
              <a:solidFill>
                <a:srgbClr val="3366FF"/>
              </a:solidFill>
            </a:endParaRPr>
          </a:p>
          <a:p>
            <a:pPr lvl="2">
              <a:lnSpc>
                <a:spcPct val="90000"/>
              </a:lnSpc>
              <a:defRPr/>
            </a:pPr>
            <a:r>
              <a:rPr lang="en-US" altLang="zh-CN" dirty="0"/>
              <a:t>I</a:t>
            </a:r>
            <a:r>
              <a:rPr lang="en-US" altLang="en-US" dirty="0"/>
              <a:t>nvalid memory access</a:t>
            </a:r>
          </a:p>
          <a:p>
            <a:pPr lvl="2">
              <a:lnSpc>
                <a:spcPct val="90000"/>
              </a:lnSpc>
              <a:defRPr/>
            </a:pPr>
            <a:r>
              <a:rPr lang="en-US" altLang="en-US" dirty="0"/>
              <a:t>A specific request from user program that an OS service be performed</a:t>
            </a:r>
          </a:p>
          <a:p>
            <a:pPr marL="342900" lvl="2" indent="-342900">
              <a:lnSpc>
                <a:spcPct val="90000"/>
              </a:lnSpc>
              <a:buClr>
                <a:srgbClr val="993300"/>
              </a:buClr>
              <a:buSzPct val="90000"/>
              <a:buFont typeface="Wingdings" panose="05000000000000000000" pitchFamily="2" charset="2"/>
              <a:buChar char="q"/>
              <a:defRPr/>
            </a:pPr>
            <a:endParaRPr lang="en-US" altLang="en-US" dirty="0"/>
          </a:p>
        </p:txBody>
      </p:sp>
      <p:pic>
        <p:nvPicPr>
          <p:cNvPr id="64516" name="图片 3" descr="图表, 箱线图&#10;&#10;描述已自动生成"/>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3" y="2341563"/>
            <a:ext cx="4749800"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6235700" y="1673225"/>
            <a:ext cx="2908300" cy="1200150"/>
          </a:xfrm>
          <a:prstGeom prst="rect">
            <a:avLst/>
          </a:prstGeom>
          <a:solidFill>
            <a:schemeClr val="accent6">
              <a:lumMod val="40000"/>
              <a:lumOff val="60000"/>
            </a:schemeClr>
          </a:solidFill>
          <a:ln>
            <a:solidFill>
              <a:srgbClr val="0070C0"/>
            </a:solidFill>
          </a:ln>
        </p:spPr>
        <p:txBody>
          <a:bodyPr>
            <a:spAutoFit/>
          </a:bodyPr>
          <a:lstStyle/>
          <a:p>
            <a:pPr>
              <a:defRPr/>
            </a:pPr>
            <a:r>
              <a:rPr lang="en-US" altLang="zh-CN" dirty="0"/>
              <a:t>Events are almost always signaled by the occurrence of an interrupt or a trap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a:xfrm>
            <a:off x="895350" y="166688"/>
            <a:ext cx="7791450" cy="576262"/>
          </a:xfrm>
        </p:spPr>
        <p:txBody>
          <a:bodyPr/>
          <a:lstStyle/>
          <a:p>
            <a:pPr eaLnBrk="1" hangingPunct="1"/>
            <a:r>
              <a:rPr lang="en-US" altLang="zh-CN" dirty="0"/>
              <a:t>Quiz</a:t>
            </a:r>
            <a:endParaRPr lang="en-US" altLang="en-US" dirty="0"/>
          </a:p>
        </p:txBody>
      </p:sp>
      <p:sp>
        <p:nvSpPr>
          <p:cNvPr id="3" name="文本框 2"/>
          <p:cNvSpPr txBox="1"/>
          <p:nvPr/>
        </p:nvSpPr>
        <p:spPr>
          <a:xfrm>
            <a:off x="850738" y="1641123"/>
            <a:ext cx="7552481" cy="2369880"/>
          </a:xfrm>
          <a:prstGeom prst="rect">
            <a:avLst/>
          </a:prstGeom>
          <a:noFill/>
        </p:spPr>
        <p:txBody>
          <a:bodyPr wrap="square">
            <a:spAutoFit/>
          </a:bodyPr>
          <a:lstStyle/>
          <a:p>
            <a:pPr>
              <a:spcBef>
                <a:spcPts val="1200"/>
              </a:spcBef>
            </a:pPr>
            <a:r>
              <a:rPr lang="zh-CN" altLang="en-US" dirty="0">
                <a:latin typeface="宋体" panose="02010600030101010101" pitchFamily="2" charset="-122"/>
                <a:ea typeface="宋体" panose="02010600030101010101" pitchFamily="2" charset="-122"/>
              </a:rPr>
              <a:t>异常是指令执行过程中在处理器内部发生的特殊事件，中断是来自处理器外部的请求事件。下列关于中断或异常情况的叙述中，错误的是</a:t>
            </a:r>
          </a:p>
          <a:p>
            <a:pPr>
              <a:spcBef>
                <a:spcPts val="1200"/>
              </a:spcBef>
            </a:pPr>
            <a:r>
              <a:rPr lang="en-US" altLang="zh-CN" dirty="0">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访存时缺页</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属于中断</a:t>
            </a:r>
          </a:p>
          <a:p>
            <a:pPr>
              <a:spcBef>
                <a:spcPts val="1200"/>
              </a:spcBef>
            </a:pPr>
            <a:r>
              <a:rPr lang="en-US" altLang="zh-CN" dirty="0">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整数除以</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属于异常</a:t>
            </a:r>
          </a:p>
          <a:p>
            <a:pPr>
              <a:spcBef>
                <a:spcPts val="1200"/>
              </a:spcBef>
            </a:pPr>
            <a:r>
              <a:rPr lang="en-US" altLang="zh-CN" dirty="0">
                <a:latin typeface="宋体" panose="02010600030101010101" pitchFamily="2" charset="-122"/>
                <a:ea typeface="宋体" panose="02010600030101010101" pitchFamily="2" charset="-122"/>
              </a:rPr>
              <a:t>C."DMA</a:t>
            </a:r>
            <a:r>
              <a:rPr lang="zh-CN" altLang="en-US" dirty="0">
                <a:latin typeface="宋体" panose="02010600030101010101" pitchFamily="2" charset="-122"/>
                <a:ea typeface="宋体" panose="02010600030101010101" pitchFamily="2" charset="-122"/>
              </a:rPr>
              <a:t>传送结束</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属干中断</a:t>
            </a:r>
          </a:p>
          <a:p>
            <a:pPr>
              <a:spcBef>
                <a:spcPts val="1200"/>
              </a:spcBef>
            </a:pPr>
            <a:r>
              <a:rPr lang="en-US" altLang="zh-CN" dirty="0">
                <a:latin typeface="宋体" panose="02010600030101010101" pitchFamily="2" charset="-122"/>
                <a:ea typeface="宋体" panose="02010600030101010101" pitchFamily="2" charset="-122"/>
              </a:rPr>
              <a:t>D."</a:t>
            </a:r>
            <a:r>
              <a:rPr lang="zh-CN" altLang="en-US" dirty="0">
                <a:latin typeface="宋体" panose="02010600030101010101" pitchFamily="2" charset="-122"/>
                <a:ea typeface="宋体" panose="02010600030101010101" pitchFamily="2" charset="-122"/>
              </a:rPr>
              <a:t>存储保护错</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属于异常</a:t>
            </a:r>
          </a:p>
        </p:txBody>
      </p:sp>
      <p:sp>
        <p:nvSpPr>
          <p:cNvPr id="2" name="文本框 1"/>
          <p:cNvSpPr txBox="1"/>
          <p:nvPr/>
        </p:nvSpPr>
        <p:spPr>
          <a:xfrm>
            <a:off x="6985788" y="4482980"/>
            <a:ext cx="278296" cy="369332"/>
          </a:xfrm>
          <a:prstGeom prst="rect">
            <a:avLst/>
          </a:prstGeom>
          <a:noFill/>
        </p:spPr>
        <p:txBody>
          <a:bodyPr wrap="square" rtlCol="0">
            <a:spAutoFit/>
          </a:bodyPr>
          <a:lstStyle/>
          <a:p>
            <a:r>
              <a:rPr lang="en-US" altLang="zh-CN" b="1" dirty="0">
                <a:solidFill>
                  <a:srgbClr val="FF0000"/>
                </a:solidFill>
              </a:rPr>
              <a:t>A</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a:xfrm>
            <a:off x="895350" y="166688"/>
            <a:ext cx="7791450" cy="576262"/>
          </a:xfrm>
        </p:spPr>
        <p:txBody>
          <a:bodyPr/>
          <a:lstStyle/>
          <a:p>
            <a:pPr eaLnBrk="1" hangingPunct="1"/>
            <a:r>
              <a:rPr lang="en-US" altLang="zh-CN" dirty="0"/>
              <a:t>Quiz</a:t>
            </a:r>
            <a:endParaRPr lang="en-US" altLang="en-US" dirty="0"/>
          </a:p>
        </p:txBody>
      </p:sp>
      <p:sp>
        <p:nvSpPr>
          <p:cNvPr id="3" name="文本框 2"/>
          <p:cNvSpPr txBox="1"/>
          <p:nvPr/>
        </p:nvSpPr>
        <p:spPr>
          <a:xfrm>
            <a:off x="648220" y="1242223"/>
            <a:ext cx="7552481" cy="5262979"/>
          </a:xfrm>
          <a:prstGeom prst="rect">
            <a:avLst/>
          </a:prstGeom>
          <a:noFill/>
        </p:spPr>
        <p:txBody>
          <a:bodyPr wrap="square">
            <a:spAutoFit/>
          </a:bodyPr>
          <a:lstStyle/>
          <a:p>
            <a:pPr marL="342900" marR="0" lvl="0" indent="-342900" algn="l" defTabSz="914400" rtl="0" eaLnBrk="0" fontAlgn="base" latinLnBrk="0" hangingPunct="0">
              <a:lnSpc>
                <a:spcPct val="100000"/>
              </a:lnSpc>
              <a:spcBef>
                <a:spcPts val="1200"/>
              </a:spcBef>
              <a:spcAft>
                <a:spcPct val="0"/>
              </a:spcAft>
              <a:buClrTx/>
              <a:buSzTx/>
              <a:buFontTx/>
              <a:buAutoNum type="alphaUcPeriod"/>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"Page fault during memory access" is an interrupt: This statement is incorrect. A "page fault" is an exception, not an interrupt. A page fault occurs when a page in virtual memory is accessed but not currently loaded into physical memory. It is typically handled by the operating system kernel and is an internal processor event, not an external interrupt.</a:t>
            </a:r>
          </a:p>
          <a:p>
            <a:pPr marL="342900" marR="0" lvl="0" indent="-342900" algn="l" defTabSz="914400" rtl="0" eaLnBrk="0" fontAlgn="base" latinLnBrk="0" hangingPunct="0">
              <a:lnSpc>
                <a:spcPct val="100000"/>
              </a:lnSpc>
              <a:spcBef>
                <a:spcPts val="1200"/>
              </a:spcBef>
              <a:spcAft>
                <a:spcPct val="0"/>
              </a:spcAft>
              <a:buClrTx/>
              <a:buSzTx/>
              <a:buFontTx/>
              <a:buAutoNum type="alphaUcPeriod"/>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"Division by zero" is an exception: This is correct. "Division by zero" is an arithmetic exception, which is an internal processor exception that usually causes the program to terminate abnormally.</a:t>
            </a:r>
          </a:p>
          <a:p>
            <a:pPr marL="342900" marR="0" lvl="0" indent="-342900" algn="l" defTabSz="914400" rtl="0" eaLnBrk="0" fontAlgn="base" latinLnBrk="0" hangingPunct="0">
              <a:lnSpc>
                <a:spcPct val="100000"/>
              </a:lnSpc>
              <a:spcBef>
                <a:spcPts val="1200"/>
              </a:spcBef>
              <a:spcAft>
                <a:spcPct val="0"/>
              </a:spcAft>
              <a:buClrTx/>
              <a:buSzTx/>
              <a:buFontTx/>
              <a:buAutoNum type="alphaUcPeriod"/>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"DMA transfer complete" is an interrupt: This is correct. "DMA transfer complete" is an interrupt triggered by the DMA controller, indicating that the DMA data transfer has finished. It is an external interrupt triggered by a device.</a:t>
            </a:r>
          </a:p>
          <a:p>
            <a:pPr marL="342900" marR="0" lvl="0" indent="-342900" algn="l" defTabSz="914400" rtl="0" eaLnBrk="0" fontAlgn="base" latinLnBrk="0" hangingPunct="0">
              <a:lnSpc>
                <a:spcPct val="100000"/>
              </a:lnSpc>
              <a:spcBef>
                <a:spcPts val="1200"/>
              </a:spcBef>
              <a:spcAft>
                <a:spcPct val="0"/>
              </a:spcAft>
              <a:buClrTx/>
              <a:buSzTx/>
              <a:buFontTx/>
              <a:buAutoNum type="alphaUcPeriod"/>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"Storage protection error" is an exception: This is correct. A "storage protection error" occurs when unauthorized memory access (e.g., out-of-bounds access) is attempted, and it is classified as an internal processor </a:t>
            </a:r>
            <a:r>
              <a:rPr kumimoji="0" lang="en-US" altLang="zh-CN" sz="18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exception.Therefore</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the incorrect statement is A. "Page fault during memory access" is an interrupt.</a:t>
            </a:r>
            <a:endPar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895350" y="166688"/>
            <a:ext cx="7791450" cy="576262"/>
          </a:xfrm>
        </p:spPr>
        <p:txBody>
          <a:bodyPr/>
          <a:lstStyle/>
          <a:p>
            <a:pPr eaLnBrk="1" hangingPunct="1"/>
            <a:r>
              <a:rPr lang="en-US" altLang="en-US"/>
              <a:t>Interrupts (Cont.)</a:t>
            </a:r>
          </a:p>
        </p:txBody>
      </p:sp>
      <p:sp>
        <p:nvSpPr>
          <p:cNvPr id="33795" name="Rectangle 3"/>
          <p:cNvSpPr>
            <a:spLocks noGrp="1" noChangeArrowheads="1"/>
          </p:cNvSpPr>
          <p:nvPr>
            <p:ph type="body" idx="4294967295"/>
          </p:nvPr>
        </p:nvSpPr>
        <p:spPr>
          <a:xfrm>
            <a:off x="838200" y="2613025"/>
            <a:ext cx="7848600" cy="325438"/>
          </a:xfrm>
        </p:spPr>
        <p:txBody>
          <a:bodyPr/>
          <a:lstStyle/>
          <a:p>
            <a:pPr marL="342900" lvl="2" indent="-342900">
              <a:lnSpc>
                <a:spcPct val="90000"/>
              </a:lnSpc>
              <a:buClr>
                <a:srgbClr val="993300"/>
              </a:buClr>
              <a:buSzPct val="90000"/>
              <a:buFont typeface="Wingdings" panose="05000000000000000000" pitchFamily="2" charset="2"/>
              <a:buChar char="q"/>
            </a:pPr>
            <a:r>
              <a:rPr lang="en-US" altLang="en-US" dirty="0"/>
              <a:t>An </a:t>
            </a:r>
            <a:r>
              <a:rPr lang="en-US" altLang="en-US" b="1" dirty="0">
                <a:solidFill>
                  <a:srgbClr val="3366FF"/>
                </a:solidFill>
              </a:rPr>
              <a:t>interrupt service routine </a:t>
            </a:r>
            <a:r>
              <a:rPr lang="en-US" altLang="en-US" dirty="0"/>
              <a:t>is provided to deal with the interrupt</a:t>
            </a:r>
          </a:p>
          <a:p>
            <a:pPr lvl="1">
              <a:lnSpc>
                <a:spcPct val="90000"/>
              </a:lnSpc>
            </a:pPr>
            <a:endParaRPr lang="en-US" altLang="en-US" dirty="0"/>
          </a:p>
        </p:txBody>
      </p:sp>
      <p:sp>
        <p:nvSpPr>
          <p:cNvPr id="5" name="文本框 4"/>
          <p:cNvSpPr txBox="1">
            <a:spLocks noChangeArrowheads="1"/>
          </p:cNvSpPr>
          <p:nvPr/>
        </p:nvSpPr>
        <p:spPr bwMode="auto">
          <a:xfrm>
            <a:off x="838200" y="1695450"/>
            <a:ext cx="7848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C00000"/>
                </a:solidFill>
                <a:latin typeface="Verdana" panose="020B0604030504040204" pitchFamily="34" charset="0"/>
              </a:rPr>
              <a:t>Separate </a:t>
            </a:r>
            <a:r>
              <a:rPr kumimoji="0" lang="en-US" altLang="zh-CN" b="1">
                <a:solidFill>
                  <a:srgbClr val="C00000"/>
                </a:solidFill>
                <a:latin typeface="Verdana" panose="020B0604030504040204" pitchFamily="34" charset="0"/>
              </a:rPr>
              <a:t>segments of code </a:t>
            </a:r>
            <a:r>
              <a:rPr kumimoji="0" lang="en-US" altLang="zh-CN">
                <a:solidFill>
                  <a:srgbClr val="C00000"/>
                </a:solidFill>
                <a:latin typeface="Verdana" panose="020B0604030504040204" pitchFamily="34" charset="0"/>
              </a:rPr>
              <a:t>in the operating system determines what action should be taken</a:t>
            </a:r>
          </a:p>
        </p:txBody>
      </p:sp>
      <p:sp>
        <p:nvSpPr>
          <p:cNvPr id="6" name="文本框 5"/>
          <p:cNvSpPr txBox="1">
            <a:spLocks noChangeArrowheads="1"/>
          </p:cNvSpPr>
          <p:nvPr/>
        </p:nvSpPr>
        <p:spPr bwMode="auto">
          <a:xfrm>
            <a:off x="838200" y="1100138"/>
            <a:ext cx="73787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C00000"/>
                </a:solidFill>
                <a:latin typeface="Verdana" panose="020B0604030504040204" pitchFamily="34" charset="0"/>
              </a:rPr>
              <a:t>Given a specific</a:t>
            </a:r>
            <a:r>
              <a:rPr kumimoji="0" lang="zh-CN" altLang="en-US">
                <a:solidFill>
                  <a:srgbClr val="C00000"/>
                </a:solidFill>
                <a:latin typeface="Verdana" panose="020B0604030504040204" pitchFamily="34" charset="0"/>
              </a:rPr>
              <a:t> </a:t>
            </a:r>
            <a:r>
              <a:rPr kumimoji="0" lang="en-US" altLang="zh-CN">
                <a:solidFill>
                  <a:srgbClr val="C00000"/>
                </a:solidFill>
                <a:latin typeface="Verdana" panose="020B0604030504040204" pitchFamily="34" charset="0"/>
              </a:rPr>
              <a:t>interrupt, what action should be taken?</a:t>
            </a:r>
          </a:p>
          <a:p>
            <a:pPr>
              <a:spcBef>
                <a:spcPct val="0"/>
              </a:spcBef>
              <a:buClrTx/>
              <a:buSzTx/>
              <a:buFontTx/>
              <a:buNone/>
            </a:pPr>
            <a:endParaRPr kumimoji="0" lang="en-US" altLang="zh-CN">
              <a:latin typeface="Verdana" panose="020B0604030504040204" pitchFamily="34" charset="0"/>
            </a:endParaRPr>
          </a:p>
        </p:txBody>
      </p:sp>
      <p:sp>
        <p:nvSpPr>
          <p:cNvPr id="8" name="TextBox 3"/>
          <p:cNvSpPr txBox="1">
            <a:spLocks noChangeArrowheads="1"/>
          </p:cNvSpPr>
          <p:nvPr/>
        </p:nvSpPr>
        <p:spPr bwMode="auto">
          <a:xfrm>
            <a:off x="1042988" y="3597275"/>
            <a:ext cx="1447800" cy="646113"/>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dirty="0">
                <a:solidFill>
                  <a:srgbClr val="000000"/>
                </a:solidFill>
                <a:latin typeface="Verdana" panose="020B0604030504040204" pitchFamily="34" charset="0"/>
              </a:rPr>
              <a:t>Interrupt occur</a:t>
            </a:r>
          </a:p>
        </p:txBody>
      </p:sp>
      <p:sp>
        <p:nvSpPr>
          <p:cNvPr id="9" name="TextBox 7"/>
          <p:cNvSpPr txBox="1">
            <a:spLocks noChangeArrowheads="1"/>
          </p:cNvSpPr>
          <p:nvPr/>
        </p:nvSpPr>
        <p:spPr bwMode="auto">
          <a:xfrm>
            <a:off x="2967038" y="3597275"/>
            <a:ext cx="1446212" cy="923925"/>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CPU stops what it is doing</a:t>
            </a:r>
          </a:p>
        </p:txBody>
      </p:sp>
      <p:sp>
        <p:nvSpPr>
          <p:cNvPr id="10" name="TextBox 8"/>
          <p:cNvSpPr txBox="1">
            <a:spLocks noChangeArrowheads="1"/>
          </p:cNvSpPr>
          <p:nvPr/>
        </p:nvSpPr>
        <p:spPr bwMode="auto">
          <a:xfrm>
            <a:off x="4889500" y="3597275"/>
            <a:ext cx="1447800" cy="646113"/>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Transfer execution</a:t>
            </a:r>
          </a:p>
        </p:txBody>
      </p:sp>
      <p:sp>
        <p:nvSpPr>
          <p:cNvPr id="11" name="TextBox 9"/>
          <p:cNvSpPr txBox="1">
            <a:spLocks noChangeArrowheads="1"/>
          </p:cNvSpPr>
          <p:nvPr/>
        </p:nvSpPr>
        <p:spPr bwMode="auto">
          <a:xfrm>
            <a:off x="6735763" y="3586163"/>
            <a:ext cx="1951037" cy="646112"/>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dirty="0">
                <a:solidFill>
                  <a:srgbClr val="000000"/>
                </a:solidFill>
                <a:latin typeface="Verdana" panose="020B0604030504040204" pitchFamily="34" charset="0"/>
              </a:rPr>
              <a:t>On completion, CPU resumes</a:t>
            </a:r>
          </a:p>
        </p:txBody>
      </p:sp>
      <p:sp>
        <p:nvSpPr>
          <p:cNvPr id="12" name="Arrow: Right 4"/>
          <p:cNvSpPr>
            <a:spLocks noChangeArrowheads="1"/>
          </p:cNvSpPr>
          <p:nvPr/>
        </p:nvSpPr>
        <p:spPr bwMode="auto">
          <a:xfrm>
            <a:off x="2630488" y="3833813"/>
            <a:ext cx="233362" cy="149225"/>
          </a:xfrm>
          <a:prstGeom prst="rightArrow">
            <a:avLst>
              <a:gd name="adj1" fmla="val 50000"/>
              <a:gd name="adj2" fmla="val 50404"/>
            </a:avLst>
          </a:prstGeom>
          <a:solidFill>
            <a:schemeClr val="accent1"/>
          </a:solidFill>
          <a:ln w="9525" algn="ctr">
            <a:solidFill>
              <a:schemeClr val="tx1"/>
            </a:solidFill>
            <a:round/>
          </a:ln>
        </p:spPr>
        <p:txBody>
          <a:bodyPr wrap="none"/>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solidFill>
                <a:srgbClr val="000000"/>
              </a:solidFill>
              <a:latin typeface="Verdana" panose="020B0604030504040204" pitchFamily="34" charset="0"/>
            </a:endParaRPr>
          </a:p>
        </p:txBody>
      </p:sp>
      <p:sp>
        <p:nvSpPr>
          <p:cNvPr id="13" name="Arrow: Right 11"/>
          <p:cNvSpPr>
            <a:spLocks noChangeArrowheads="1"/>
          </p:cNvSpPr>
          <p:nvPr/>
        </p:nvSpPr>
        <p:spPr bwMode="auto">
          <a:xfrm>
            <a:off x="4567238" y="3844925"/>
            <a:ext cx="233362" cy="150813"/>
          </a:xfrm>
          <a:prstGeom prst="rightArrow">
            <a:avLst>
              <a:gd name="adj1" fmla="val 50000"/>
              <a:gd name="adj2" fmla="val 49874"/>
            </a:avLst>
          </a:prstGeom>
          <a:solidFill>
            <a:schemeClr val="accent1"/>
          </a:solidFill>
          <a:ln w="9525" algn="ctr">
            <a:solidFill>
              <a:schemeClr val="tx1"/>
            </a:solidFill>
            <a:round/>
          </a:ln>
        </p:spPr>
        <p:txBody>
          <a:bodyPr wrap="none"/>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solidFill>
                <a:srgbClr val="000000"/>
              </a:solidFill>
              <a:latin typeface="Verdana" panose="020B0604030504040204" pitchFamily="34" charset="0"/>
            </a:endParaRPr>
          </a:p>
        </p:txBody>
      </p:sp>
      <p:sp>
        <p:nvSpPr>
          <p:cNvPr id="14" name="Arrow: Right 12"/>
          <p:cNvSpPr>
            <a:spLocks noChangeArrowheads="1"/>
          </p:cNvSpPr>
          <p:nvPr/>
        </p:nvSpPr>
        <p:spPr bwMode="auto">
          <a:xfrm>
            <a:off x="6456363" y="3835400"/>
            <a:ext cx="233362" cy="150813"/>
          </a:xfrm>
          <a:prstGeom prst="rightArrow">
            <a:avLst>
              <a:gd name="adj1" fmla="val 50000"/>
              <a:gd name="adj2" fmla="val 49874"/>
            </a:avLst>
          </a:prstGeom>
          <a:solidFill>
            <a:schemeClr val="accent1"/>
          </a:solidFill>
          <a:ln w="9525" algn="ctr">
            <a:solidFill>
              <a:schemeClr val="tx1"/>
            </a:solidFill>
            <a:round/>
          </a:ln>
        </p:spPr>
        <p:txBody>
          <a:bodyPr wrap="none"/>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solidFill>
                <a:srgbClr val="000000"/>
              </a:solidFill>
              <a:latin typeface="Verdana" panose="020B0604030504040204" pitchFamily="34" charset="0"/>
            </a:endParaRPr>
          </a:p>
        </p:txBody>
      </p:sp>
      <p:sp>
        <p:nvSpPr>
          <p:cNvPr id="15" name="文本框 14"/>
          <p:cNvSpPr txBox="1">
            <a:spLocks noChangeArrowheads="1"/>
          </p:cNvSpPr>
          <p:nvPr/>
        </p:nvSpPr>
        <p:spPr bwMode="auto">
          <a:xfrm>
            <a:off x="990600" y="5153025"/>
            <a:ext cx="7378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C00000"/>
                </a:solidFill>
                <a:latin typeface="Verdana" panose="020B0604030504040204" pitchFamily="34" charset="0"/>
              </a:rPr>
              <a:t>How to find the corresponding interrupt service routine</a:t>
            </a:r>
            <a:endParaRPr kumimoji="0" lang="en-US" altLang="zh-CN"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anim calcmode="lin" valueType="num">
                                      <p:cBhvr>
                                        <p:cTn id="50" dur="1000" fill="hold"/>
                                        <p:tgtEl>
                                          <p:spTgt spid="14"/>
                                        </p:tgtEl>
                                        <p:attrNameLst>
                                          <p:attrName>ppt_x</p:attrName>
                                        </p:attrNameLst>
                                      </p:cBhvr>
                                      <p:tavLst>
                                        <p:tav tm="0">
                                          <p:val>
                                            <p:strVal val="#ppt_x"/>
                                          </p:val>
                                        </p:tav>
                                        <p:tav tm="100000">
                                          <p:val>
                                            <p:strVal val="#ppt_x"/>
                                          </p:val>
                                        </p:tav>
                                      </p:tavLst>
                                    </p:anim>
                                    <p:anim calcmode="lin" valueType="num">
                                      <p:cBhvr>
                                        <p:cTn id="5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5" grpId="0"/>
      <p:bldP spid="6" grpId="0"/>
      <p:bldP spid="8" grpId="0" animBg="1"/>
      <p:bldP spid="9" grpId="0" animBg="1"/>
      <p:bldP spid="10" grpId="0" animBg="1"/>
      <p:bldP spid="11" grpId="0" animBg="1"/>
      <p:bldP spid="12" grpId="0" animBg="1"/>
      <p:bldP spid="13" grpId="0" animBg="1"/>
      <p:bldP spid="14" grpId="0" animBg="1"/>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895350" y="166688"/>
            <a:ext cx="7791450" cy="576262"/>
          </a:xfrm>
        </p:spPr>
        <p:txBody>
          <a:bodyPr/>
          <a:lstStyle/>
          <a:p>
            <a:pPr eaLnBrk="1" hangingPunct="1"/>
            <a:r>
              <a:rPr lang="en-US" altLang="en-US"/>
              <a:t>Interrupts (Cont.)</a:t>
            </a:r>
          </a:p>
        </p:txBody>
      </p:sp>
      <p:sp>
        <p:nvSpPr>
          <p:cNvPr id="7" name="Rectangle 3"/>
          <p:cNvSpPr txBox="1">
            <a:spLocks noChangeArrowheads="1"/>
          </p:cNvSpPr>
          <p:nvPr/>
        </p:nvSpPr>
        <p:spPr bwMode="auto">
          <a:xfrm>
            <a:off x="511175" y="1222248"/>
            <a:ext cx="8121650" cy="282892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a:buFont typeface="Wingdings" panose="05000000000000000000" pitchFamily="2" charset="2"/>
              <a:buChar char="q"/>
              <a:defRPr/>
            </a:pPr>
            <a:r>
              <a:rPr lang="en-US" altLang="en-US" kern="0" dirty="0"/>
              <a:t>Interrupt transfers control to the </a:t>
            </a:r>
            <a:r>
              <a:rPr lang="en-US" altLang="en-US" kern="0" dirty="0">
                <a:solidFill>
                  <a:srgbClr val="FF0000"/>
                </a:solidFill>
              </a:rPr>
              <a:t>interrupt service routine </a:t>
            </a:r>
            <a:r>
              <a:rPr lang="en-US" altLang="en-US" kern="0" dirty="0"/>
              <a:t>generally, through the </a:t>
            </a:r>
            <a:r>
              <a:rPr lang="en-US" altLang="en-US" b="1" kern="0" dirty="0">
                <a:solidFill>
                  <a:srgbClr val="C00000"/>
                </a:solidFill>
                <a:highlight>
                  <a:srgbClr val="FFFF00"/>
                </a:highlight>
              </a:rPr>
              <a:t>interrupt vector</a:t>
            </a:r>
            <a:r>
              <a:rPr lang="en-US" altLang="en-US" kern="0" dirty="0"/>
              <a:t>, which contains </a:t>
            </a:r>
            <a:r>
              <a:rPr lang="en-US" altLang="en-US" b="1" kern="0" dirty="0"/>
              <a:t>the addresses of all the service routines</a:t>
            </a:r>
          </a:p>
          <a:p>
            <a:pPr lvl="1">
              <a:buFont typeface="Wingdings" panose="05000000000000000000" pitchFamily="2" charset="2"/>
              <a:buChar char="Ø"/>
              <a:defRPr/>
            </a:pPr>
            <a:r>
              <a:rPr lang="en-US" altLang="en-US" kern="0" dirty="0"/>
              <a:t>A table of pointers to interrupt routines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946150" y="166688"/>
            <a:ext cx="8229600" cy="576262"/>
          </a:xfrm>
        </p:spPr>
        <p:txBody>
          <a:bodyPr/>
          <a:lstStyle/>
          <a:p>
            <a:pPr eaLnBrk="1" hangingPunct="1"/>
            <a:r>
              <a:rPr lang="en-US" altLang="en-US"/>
              <a:t>Interrupts (Cont.)</a:t>
            </a:r>
          </a:p>
        </p:txBody>
      </p:sp>
      <p:sp>
        <p:nvSpPr>
          <p:cNvPr id="72707" name="Rectangle 3"/>
          <p:cNvSpPr>
            <a:spLocks noGrp="1" noChangeArrowheads="1"/>
          </p:cNvSpPr>
          <p:nvPr>
            <p:ph type="body" idx="4294967295"/>
          </p:nvPr>
        </p:nvSpPr>
        <p:spPr>
          <a:xfrm>
            <a:off x="806450" y="1233488"/>
            <a:ext cx="8121650" cy="4530725"/>
          </a:xfrm>
        </p:spPr>
        <p:txBody>
          <a:bodyPr/>
          <a:lstStyle/>
          <a:p>
            <a:pPr>
              <a:buFont typeface="Wingdings" panose="05000000000000000000" pitchFamily="2" charset="2"/>
              <a:buChar char="q"/>
            </a:pPr>
            <a:r>
              <a:rPr lang="en-US" altLang="en-US" dirty="0"/>
              <a:t>Every interrupt type is assigned a number:</a:t>
            </a:r>
          </a:p>
          <a:p>
            <a:pPr lvl="1">
              <a:buFont typeface="Wingdings" panose="05000000000000000000" pitchFamily="2" charset="2"/>
              <a:buChar char="Ø"/>
            </a:pPr>
            <a:r>
              <a:rPr lang="en-US" altLang="en-US" dirty="0"/>
              <a:t>Interrupt vector</a:t>
            </a:r>
          </a:p>
          <a:p>
            <a:pPr>
              <a:buFont typeface="Wingdings" panose="05000000000000000000" pitchFamily="2" charset="2"/>
              <a:buChar char="q"/>
            </a:pPr>
            <a:r>
              <a:rPr lang="en-US" altLang="en-US" dirty="0"/>
              <a:t>A table of pointers to interrupt service routine</a:t>
            </a:r>
          </a:p>
          <a:p>
            <a:pPr>
              <a:buFont typeface="Wingdings" panose="05000000000000000000" pitchFamily="2" charset="2"/>
              <a:buChar char="q"/>
            </a:pPr>
            <a:r>
              <a:rPr lang="en-US" altLang="en-US" dirty="0"/>
              <a:t>When an interrupt occurs, the vector determines what code is invoked to handle the interrupt</a:t>
            </a:r>
          </a:p>
          <a:p>
            <a:pPr lvl="1">
              <a:buFont typeface="Wingdings" panose="05000000000000000000" pitchFamily="2" charset="2"/>
              <a:buChar char="Ø"/>
            </a:pPr>
            <a:r>
              <a:rPr lang="en-US" altLang="en-US" dirty="0"/>
              <a:t>Example: vector 14         page fault handler</a:t>
            </a:r>
          </a:p>
        </p:txBody>
      </p:sp>
      <p:pic>
        <p:nvPicPr>
          <p:cNvPr id="7270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3425" y="3624263"/>
            <a:ext cx="507682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946150" y="166688"/>
            <a:ext cx="8229600" cy="576262"/>
          </a:xfrm>
        </p:spPr>
        <p:txBody>
          <a:bodyPr/>
          <a:lstStyle/>
          <a:p>
            <a:pPr eaLnBrk="1" hangingPunct="1"/>
            <a:r>
              <a:rPr lang="en-US" altLang="en-US"/>
              <a:t>Interrupts (Cont.)</a:t>
            </a:r>
          </a:p>
        </p:txBody>
      </p:sp>
      <p:pic>
        <p:nvPicPr>
          <p:cNvPr id="74755"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2052638"/>
            <a:ext cx="6699250"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457200" y="1122363"/>
            <a:ext cx="8547100" cy="742950"/>
          </a:xfrm>
          <a:prstGeom prst="rect">
            <a:avLst/>
          </a:prstGeom>
          <a:noFill/>
        </p:spPr>
        <p:txBody>
          <a:bodyPr>
            <a:spAutoFit/>
          </a:bodyPr>
          <a:lstStyle/>
          <a:p>
            <a:pPr marL="342900" indent="-342900">
              <a:spcBef>
                <a:spcPct val="35000"/>
              </a:spcBef>
              <a:buClr>
                <a:srgbClr val="993300"/>
              </a:buClr>
              <a:buSzPct val="90000"/>
              <a:buFont typeface="Wingdings" panose="05000000000000000000" pitchFamily="2" charset="2"/>
              <a:buChar char="q"/>
              <a:defRPr/>
            </a:pPr>
            <a:r>
              <a:rPr kumimoji="1" lang="en-US" altLang="zh-CN" dirty="0">
                <a:solidFill>
                  <a:srgbClr val="C00000"/>
                </a:solidFill>
                <a:latin typeface="+mn-lt"/>
              </a:rPr>
              <a:t>The interrupt must transfer control to the appropriate interrupt service routine</a:t>
            </a:r>
          </a:p>
          <a:p>
            <a:pPr marL="342900" indent="-342900">
              <a:spcBef>
                <a:spcPct val="35000"/>
              </a:spcBef>
              <a:buClr>
                <a:srgbClr val="993300"/>
              </a:buClr>
              <a:buSzPct val="90000"/>
              <a:buFont typeface="Wingdings" panose="05000000000000000000" pitchFamily="2" charset="2"/>
              <a:buChar char="q"/>
              <a:defRPr/>
            </a:pPr>
            <a:r>
              <a:rPr kumimoji="1" lang="en-US" altLang="zh-CN" dirty="0">
                <a:solidFill>
                  <a:srgbClr val="C00000"/>
                </a:solidFill>
                <a:latin typeface="+mn-lt"/>
              </a:rPr>
              <a:t>Thus, the interrupt routine is called indirectly through the table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en-US" dirty="0"/>
              <a:t>User Mode V.S. Kernel Mode</a:t>
            </a:r>
          </a:p>
        </p:txBody>
      </p:sp>
      <p:sp>
        <p:nvSpPr>
          <p:cNvPr id="5" name="文本框 4"/>
          <p:cNvSpPr txBox="1"/>
          <p:nvPr/>
        </p:nvSpPr>
        <p:spPr>
          <a:xfrm>
            <a:off x="554354" y="1057789"/>
            <a:ext cx="7500656" cy="2907665"/>
          </a:xfrm>
          <a:prstGeom prst="rect">
            <a:avLst/>
          </a:prstGeom>
          <a:noFill/>
        </p:spPr>
        <p:txBody>
          <a:bodyPr wrap="square">
            <a:spAutoFit/>
          </a:bodyPr>
          <a:lstStyle/>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sz="2000" dirty="0">
                <a:latin typeface="Calibri" panose="020F0502020204030204" charset="0"/>
                <a:cs typeface="Calibri" panose="020F0502020204030204" charset="0"/>
              </a:rPr>
              <a:t>User mode</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Calibri" panose="020F0502020204030204" charset="0"/>
                <a:cs typeface="Calibri" panose="020F0502020204030204" charset="0"/>
              </a:rPr>
              <a:t>Imagine you’re a “guest” in a building with limited access. You can only move around public areas—you don’t have the keys to locked doors, and you can’t access sensitive equipment without permission.</a:t>
            </a:r>
          </a:p>
          <a:p>
            <a:pPr marL="342900" lvl="1"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sz="2000" dirty="0">
                <a:latin typeface="Calibri" panose="020F0502020204030204" charset="0"/>
                <a:cs typeface="Calibri" panose="020F0502020204030204" charset="0"/>
              </a:rPr>
              <a:t>Kernel Mode:</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Calibri" panose="020F0502020204030204" charset="0"/>
                <a:cs typeface="Calibri" panose="020F0502020204030204" charset="0"/>
              </a:rPr>
              <a:t>This is like being the “building manager” with master keys. You can open any door, access any room, and control all systems (e.g., electricity, security).</a:t>
            </a:r>
            <a:endParaRPr kumimoji="1" lang="zh-CN" altLang="en-US" sz="2000" dirty="0">
              <a:latin typeface="Calibri" panose="020F0502020204030204" charset="0"/>
              <a:cs typeface="Calibri" panose="020F0502020204030204" charset="0"/>
            </a:endParaRPr>
          </a:p>
        </p:txBody>
      </p:sp>
      <p:sp>
        <p:nvSpPr>
          <p:cNvPr id="7" name="文本框 6"/>
          <p:cNvSpPr txBox="1"/>
          <p:nvPr/>
        </p:nvSpPr>
        <p:spPr>
          <a:xfrm>
            <a:off x="962674" y="4505485"/>
            <a:ext cx="7170374" cy="1630045"/>
          </a:xfrm>
          <a:prstGeom prst="rect">
            <a:avLst/>
          </a:prstGeom>
          <a:noFill/>
        </p:spPr>
        <p:txBody>
          <a:bodyPr wrap="square">
            <a:spAutoFit/>
          </a:bodyPr>
          <a:lstStyle/>
          <a:p>
            <a:r>
              <a:rPr kumimoji="1" lang="en-US" altLang="zh-CN" sz="2000" dirty="0">
                <a:solidFill>
                  <a:srgbClr val="0070C0"/>
                </a:solidFill>
                <a:latin typeface="Calibri" panose="020F0502020204030204" charset="0"/>
                <a:cs typeface="Calibri" panose="020F0502020204030204" charset="0"/>
              </a:rPr>
              <a:t>In a computer, user-mode applications (web browsers, games, text editors) operate within strict limits (public areas). They can’t directly operate hardware or system resources. Only kernel-mode code (the OS kernel) can manage low-level access to the CPU, memory, and devices (the locked doors).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zh-CN" dirty="0"/>
              <a:t>Why the Two Modes?</a:t>
            </a:r>
            <a:endParaRPr lang="en-US" altLang="en-US" dirty="0"/>
          </a:p>
        </p:txBody>
      </p:sp>
      <p:sp>
        <p:nvSpPr>
          <p:cNvPr id="5" name="文本框 4"/>
          <p:cNvSpPr txBox="1"/>
          <p:nvPr/>
        </p:nvSpPr>
        <p:spPr>
          <a:xfrm>
            <a:off x="554354" y="1057789"/>
            <a:ext cx="7500656" cy="1692771"/>
          </a:xfrm>
          <a:prstGeom prst="rect">
            <a:avLst/>
          </a:prstGeom>
          <a:noFill/>
        </p:spPr>
        <p:txBody>
          <a:bodyPr wrap="square">
            <a:spAutoFit/>
          </a:bodyPr>
          <a:lstStyle/>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sz="2000" dirty="0">
                <a:latin typeface="+mn-lt"/>
              </a:rPr>
              <a:t>Security and Stability</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mn-lt"/>
              </a:rPr>
              <a:t>By keeping most software in user mode, a programming bug or crash usually just affects that one program.</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mn-lt"/>
              </a:rPr>
              <a:t>In kernel mode, mistakes can crash the entire system, because the OS kernel has full control.</a:t>
            </a:r>
            <a:endParaRPr kumimoji="1" lang="zh-CN" altLang="en-US" sz="2000" dirty="0">
              <a:latin typeface="+mn-lt"/>
            </a:endParaRPr>
          </a:p>
        </p:txBody>
      </p:sp>
      <p:pic>
        <p:nvPicPr>
          <p:cNvPr id="3" name="图片 2" descr="图示&#10;&#10;AI 生成的内容可能不正确。"/>
          <p:cNvPicPr>
            <a:picLocks noChangeAspect="1"/>
          </p:cNvPicPr>
          <p:nvPr/>
        </p:nvPicPr>
        <p:blipFill>
          <a:blip r:embed="rId3"/>
          <a:srcRect l="13539" t="15240" r="13541" b="31100"/>
          <a:stretch>
            <a:fillRect/>
          </a:stretch>
        </p:blipFill>
        <p:spPr>
          <a:xfrm>
            <a:off x="1179513" y="3082728"/>
            <a:ext cx="6667736" cy="308397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zh-CN" dirty="0"/>
              <a:t>Why the Two Modes?</a:t>
            </a:r>
            <a:endParaRPr lang="en-US" altLang="en-US" dirty="0"/>
          </a:p>
        </p:txBody>
      </p:sp>
      <p:sp>
        <p:nvSpPr>
          <p:cNvPr id="5" name="文本框 4"/>
          <p:cNvSpPr txBox="1"/>
          <p:nvPr/>
        </p:nvSpPr>
        <p:spPr>
          <a:xfrm>
            <a:off x="554354" y="1057789"/>
            <a:ext cx="7500656" cy="1692771"/>
          </a:xfrm>
          <a:prstGeom prst="rect">
            <a:avLst/>
          </a:prstGeom>
          <a:noFill/>
        </p:spPr>
        <p:txBody>
          <a:bodyPr wrap="square">
            <a:spAutoFit/>
          </a:bodyPr>
          <a:lstStyle/>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sz="2000" dirty="0">
                <a:latin typeface="+mn-lt"/>
              </a:rPr>
              <a:t>Controlled Access to Hardware</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mn-lt"/>
              </a:rPr>
              <a:t>User-mode apps must ask the kernel when they need hardware resources (through system calls).</a:t>
            </a:r>
          </a:p>
          <a:p>
            <a:pPr marL="625475" lvl="1" indent="-268605" eaLnBrk="1" hangingPunct="1">
              <a:lnSpc>
                <a:spcPct val="90000"/>
              </a:lnSpc>
              <a:spcBef>
                <a:spcPct val="35000"/>
              </a:spcBef>
              <a:buClr>
                <a:srgbClr val="993300"/>
              </a:buClr>
              <a:buSzPct val="90000"/>
              <a:buFont typeface="Wingdings" panose="05000000000000000000" pitchFamily="2" charset="2"/>
              <a:buChar char="Ø"/>
              <a:defRPr/>
            </a:pPr>
            <a:r>
              <a:rPr kumimoji="1" lang="en-US" altLang="zh-CN" sz="2000" dirty="0">
                <a:latin typeface="+mn-lt"/>
              </a:rPr>
              <a:t>The kernel checks permissions and decides whether to grant or deny the request.</a:t>
            </a:r>
            <a:endParaRPr kumimoji="1" lang="zh-CN" altLang="en-US" sz="2000" dirty="0">
              <a:latin typeface="+mn-lt"/>
            </a:endParaRPr>
          </a:p>
        </p:txBody>
      </p:sp>
      <p:pic>
        <p:nvPicPr>
          <p:cNvPr id="2" name="图片 1" descr="图示&#10;&#10;AI 生成的内容可能不正确。"/>
          <p:cNvPicPr>
            <a:picLocks noChangeAspect="1"/>
          </p:cNvPicPr>
          <p:nvPr/>
        </p:nvPicPr>
        <p:blipFill>
          <a:blip r:embed="rId3"/>
          <a:srcRect l="13539" t="15240" r="13541" b="31100"/>
          <a:stretch>
            <a:fillRect/>
          </a:stretch>
        </p:blipFill>
        <p:spPr>
          <a:xfrm>
            <a:off x="1031845" y="3128164"/>
            <a:ext cx="6667736" cy="308397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zh-CN" dirty="0"/>
              <a:t>Why the Two Modes?</a:t>
            </a:r>
            <a:endParaRPr lang="en-US" altLang="en-US" dirty="0"/>
          </a:p>
        </p:txBody>
      </p:sp>
      <p:sp>
        <p:nvSpPr>
          <p:cNvPr id="5" name="文本框 4"/>
          <p:cNvSpPr txBox="1"/>
          <p:nvPr/>
        </p:nvSpPr>
        <p:spPr>
          <a:xfrm>
            <a:off x="764496" y="4800581"/>
            <a:ext cx="7500656" cy="1685077"/>
          </a:xfrm>
          <a:prstGeom prst="rect">
            <a:avLst/>
          </a:prstGeom>
          <a:noFill/>
        </p:spPr>
        <p:txBody>
          <a:bodyPr wrap="square">
            <a:spAutoFit/>
          </a:bodyPr>
          <a:lstStyle/>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lang="en-US" altLang="zh-CN" b="1" dirty="0"/>
              <a:t>User mode</a:t>
            </a:r>
            <a:r>
              <a:rPr lang="en-US" altLang="zh-CN" dirty="0"/>
              <a:t> is like being a guest: safe, controlled, and limited.</a:t>
            </a:r>
          </a:p>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lang="en-US" altLang="zh-CN" b="1" dirty="0"/>
              <a:t>Kernel mode</a:t>
            </a:r>
            <a:r>
              <a:rPr lang="en-US" altLang="zh-CN" dirty="0"/>
              <a:t> is for the operating system itself: powerful but risky if something goes wrong. This split prevents everyday application errors from crashing your whole computer and keeps your system more secure.</a:t>
            </a:r>
            <a:endParaRPr kumimoji="1" lang="zh-CN" altLang="en-US" dirty="0">
              <a:latin typeface="+mn-lt"/>
            </a:endParaRPr>
          </a:p>
        </p:txBody>
      </p:sp>
      <p:pic>
        <p:nvPicPr>
          <p:cNvPr id="4" name="图片 3" descr="表格&#10;&#10;AI 生成的内容可能不正确。"/>
          <p:cNvPicPr>
            <a:picLocks noChangeAspect="1"/>
          </p:cNvPicPr>
          <p:nvPr/>
        </p:nvPicPr>
        <p:blipFill>
          <a:blip r:embed="rId3"/>
          <a:stretch>
            <a:fillRect/>
          </a:stretch>
        </p:blipFill>
        <p:spPr>
          <a:xfrm>
            <a:off x="448681" y="1032388"/>
            <a:ext cx="8555165" cy="34430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en-US"/>
              <a:t>Operating-System Operations (cont.)</a:t>
            </a:r>
          </a:p>
        </p:txBody>
      </p:sp>
      <p:sp>
        <p:nvSpPr>
          <p:cNvPr id="5" name="文本框 4"/>
          <p:cNvSpPr txBox="1"/>
          <p:nvPr/>
        </p:nvSpPr>
        <p:spPr>
          <a:xfrm>
            <a:off x="607707" y="1222136"/>
            <a:ext cx="8097020" cy="4108817"/>
          </a:xfrm>
          <a:prstGeom prst="rect">
            <a:avLst/>
          </a:prstGeom>
          <a:noFill/>
        </p:spPr>
        <p:txBody>
          <a:bodyPr wrap="square">
            <a:spAutoFit/>
          </a:bodyPr>
          <a:lstStyle/>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dirty="0">
                <a:latin typeface="+mn-lt"/>
              </a:rPr>
              <a:t>User mode</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Each application's virtual address space is private, one application can't modify another application's data. </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Each application runs in isolation</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The virtual address space of a user-mode application is also limited.</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endParaRPr kumimoji="1" lang="en-US" altLang="zh-CN" dirty="0">
              <a:latin typeface="+mn-lt"/>
            </a:endParaRPr>
          </a:p>
          <a:p>
            <a:pPr marL="342900" indent="-342900" eaLnBrk="1" hangingPunct="1">
              <a:lnSpc>
                <a:spcPct val="90000"/>
              </a:lnSpc>
              <a:spcBef>
                <a:spcPct val="35000"/>
              </a:spcBef>
              <a:buClr>
                <a:srgbClr val="993300"/>
              </a:buClr>
              <a:buSzPct val="90000"/>
              <a:buFont typeface="Wingdings" panose="05000000000000000000" pitchFamily="2" charset="2"/>
              <a:buChar char="q"/>
              <a:defRPr/>
            </a:pPr>
            <a:r>
              <a:rPr kumimoji="1" lang="en-US" altLang="zh-CN" dirty="0">
                <a:latin typeface="+mn-lt"/>
              </a:rPr>
              <a:t>Kernel mode</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All code running in kernel mode shares a single virtual address space.</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If a kernel-mode driver mistakenly writes to the wrong virtual address, it could compromise data belonging to the operating system or another driver. </a:t>
            </a:r>
          </a:p>
          <a:p>
            <a:pPr marL="742950" lvl="1" indent="-285750" eaLnBrk="1" hangingPunct="1">
              <a:lnSpc>
                <a:spcPct val="90000"/>
              </a:lnSpc>
              <a:spcBef>
                <a:spcPct val="35000"/>
              </a:spcBef>
              <a:buClr>
                <a:srgbClr val="CC6600"/>
              </a:buClr>
              <a:buSzPct val="80000"/>
              <a:buFont typeface="Wingdings" panose="05000000000000000000" pitchFamily="2" charset="2"/>
              <a:buChar char="Ø"/>
              <a:defRPr/>
            </a:pPr>
            <a:r>
              <a:rPr kumimoji="1" lang="en-US" altLang="zh-CN" dirty="0">
                <a:latin typeface="+mn-lt"/>
              </a:rPr>
              <a:t>If a kernel-mode driver crashes, it causes the entire operating system to crash.</a:t>
            </a:r>
            <a:endParaRPr kumimoji="1" lang="zh-CN" altLang="en-US" dirty="0">
              <a:latin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1179513" y="198438"/>
            <a:ext cx="7791450" cy="576262"/>
          </a:xfrm>
        </p:spPr>
        <p:txBody>
          <a:bodyPr/>
          <a:lstStyle/>
          <a:p>
            <a:pPr eaLnBrk="1" hangingPunct="1"/>
            <a:r>
              <a:rPr lang="en-US" altLang="en-US"/>
              <a:t>Operating-System Operations (cont.)</a:t>
            </a:r>
          </a:p>
        </p:txBody>
      </p:sp>
      <p:sp>
        <p:nvSpPr>
          <p:cNvPr id="84995" name="Rectangle 3"/>
          <p:cNvSpPr>
            <a:spLocks noGrp="1" noChangeArrowheads="1"/>
          </p:cNvSpPr>
          <p:nvPr>
            <p:ph type="body" idx="4294967295"/>
          </p:nvPr>
        </p:nvSpPr>
        <p:spPr>
          <a:xfrm>
            <a:off x="806450" y="1233488"/>
            <a:ext cx="7297738" cy="4938712"/>
          </a:xfrm>
        </p:spPr>
        <p:txBody>
          <a:bodyPr/>
          <a:lstStyle/>
          <a:p>
            <a:pPr>
              <a:lnSpc>
                <a:spcPct val="90000"/>
              </a:lnSpc>
              <a:buFont typeface="Wingdings" panose="05000000000000000000" pitchFamily="2" charset="2"/>
              <a:buChar char="q"/>
              <a:defRPr/>
            </a:pPr>
            <a:r>
              <a:rPr lang="en-US" altLang="en-US" dirty="0"/>
              <a:t>Proper execution: distinguish between the execution of operating-system code and user-defined code</a:t>
            </a:r>
          </a:p>
          <a:p>
            <a:pPr>
              <a:lnSpc>
                <a:spcPct val="90000"/>
              </a:lnSpc>
              <a:buFont typeface="Wingdings" panose="05000000000000000000" pitchFamily="2" charset="2"/>
              <a:buChar char="q"/>
              <a:defRPr/>
            </a:pPr>
            <a:r>
              <a:rPr lang="en-US" altLang="en-US" b="1" dirty="0">
                <a:solidFill>
                  <a:srgbClr val="3366FF"/>
                </a:solidFill>
              </a:rPr>
              <a:t>Dual-mode </a:t>
            </a:r>
            <a:r>
              <a:rPr lang="en-US" altLang="en-US" dirty="0"/>
              <a:t>operation allows OS to protect itself and other system components</a:t>
            </a:r>
          </a:p>
          <a:p>
            <a:pPr lvl="1">
              <a:lnSpc>
                <a:spcPct val="90000"/>
              </a:lnSpc>
              <a:buFont typeface="Wingdings" panose="05000000000000000000" pitchFamily="2" charset="2"/>
              <a:buChar char="Ø"/>
              <a:defRPr/>
            </a:pPr>
            <a:r>
              <a:rPr lang="en-US" altLang="en-US" b="1" dirty="0">
                <a:solidFill>
                  <a:srgbClr val="3366FF"/>
                </a:solidFill>
              </a:rPr>
              <a:t>User mode </a:t>
            </a:r>
            <a:r>
              <a:rPr lang="en-US" altLang="en-US" dirty="0"/>
              <a:t>and </a:t>
            </a:r>
            <a:r>
              <a:rPr lang="en-US" altLang="en-US" b="1" dirty="0">
                <a:solidFill>
                  <a:srgbClr val="3366FF"/>
                </a:solidFill>
              </a:rPr>
              <a:t>kernel mode </a:t>
            </a:r>
          </a:p>
          <a:p>
            <a:pPr lvl="1">
              <a:lnSpc>
                <a:spcPct val="90000"/>
              </a:lnSpc>
              <a:buFont typeface="Wingdings" panose="05000000000000000000" pitchFamily="2" charset="2"/>
              <a:buChar char="Ø"/>
              <a:defRPr/>
            </a:pPr>
            <a:r>
              <a:rPr lang="en-US" altLang="en-US" b="1" dirty="0">
                <a:solidFill>
                  <a:srgbClr val="3366FF"/>
                </a:solidFill>
              </a:rPr>
              <a:t>Mode bit </a:t>
            </a:r>
            <a:r>
              <a:rPr lang="en-US" altLang="en-US" dirty="0"/>
              <a:t>provided by hardware</a:t>
            </a:r>
          </a:p>
          <a:p>
            <a:pPr lvl="2">
              <a:lnSpc>
                <a:spcPct val="90000"/>
              </a:lnSpc>
              <a:defRPr/>
            </a:pPr>
            <a:r>
              <a:rPr lang="en-US" altLang="en-US" dirty="0"/>
              <a:t>Provides ability to distinguish when system is running user code or kernel code</a:t>
            </a:r>
          </a:p>
          <a:p>
            <a:pPr lvl="1">
              <a:lnSpc>
                <a:spcPct val="90000"/>
              </a:lnSpc>
              <a:buFont typeface="Wingdings" panose="05000000000000000000" pitchFamily="2" charset="2"/>
              <a:buChar char="Ø"/>
              <a:defRPr/>
            </a:pPr>
            <a:r>
              <a:rPr lang="en-US" altLang="en-US" b="1" dirty="0">
                <a:solidFill>
                  <a:srgbClr val="3366FF"/>
                </a:solidFill>
              </a:rPr>
              <a:t>System call </a:t>
            </a:r>
            <a:r>
              <a:rPr lang="en-US" altLang="en-US" dirty="0"/>
              <a:t>changes mode to kernel, return from call resets it to user</a:t>
            </a:r>
          </a:p>
          <a:p>
            <a:pPr marL="342900" lvl="1" indent="-342900">
              <a:lnSpc>
                <a:spcPct val="90000"/>
              </a:lnSpc>
              <a:buClr>
                <a:srgbClr val="993300"/>
              </a:buClr>
              <a:buSzPct val="90000"/>
              <a:buFont typeface="Wingdings" panose="05000000000000000000" pitchFamily="2" charset="2"/>
              <a:buChar char="q"/>
              <a:defRPr/>
            </a:pPr>
            <a:r>
              <a:rPr lang="en-US" altLang="en-US" dirty="0">
                <a:cs typeface="MS PGothic" panose="020B0600070205080204" pitchFamily="34" charset="-128"/>
              </a:rPr>
              <a:t>Protection operating system</a:t>
            </a:r>
          </a:p>
          <a:p>
            <a:pPr lvl="1">
              <a:lnSpc>
                <a:spcPct val="90000"/>
              </a:lnSpc>
              <a:buFont typeface="Wingdings" panose="05000000000000000000" pitchFamily="2" charset="2"/>
              <a:buChar char="Ø"/>
              <a:defRPr/>
            </a:pPr>
            <a:r>
              <a:rPr lang="en-US" altLang="en-US" dirty="0"/>
              <a:t>Some instructions designated as </a:t>
            </a:r>
            <a:r>
              <a:rPr lang="en-US" altLang="en-US" b="1" dirty="0">
                <a:solidFill>
                  <a:srgbClr val="3366FF"/>
                </a:solidFill>
              </a:rPr>
              <a:t>privileged</a:t>
            </a:r>
            <a:r>
              <a:rPr lang="en-US" altLang="en-US" dirty="0"/>
              <a:t>,</a:t>
            </a:r>
            <a:r>
              <a:rPr lang="en-US" altLang="en-US" b="1" dirty="0">
                <a:solidFill>
                  <a:srgbClr val="3366FF"/>
                </a:solidFill>
              </a:rPr>
              <a:t> </a:t>
            </a:r>
            <a:r>
              <a:rPr lang="en-US" altLang="en-US" dirty="0"/>
              <a:t>only executable in kernel mode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a:xfrm>
            <a:off x="1179513" y="198438"/>
            <a:ext cx="7791450" cy="576262"/>
          </a:xfrm>
        </p:spPr>
        <p:txBody>
          <a:bodyPr/>
          <a:lstStyle/>
          <a:p>
            <a:pPr eaLnBrk="1" hangingPunct="1"/>
            <a:r>
              <a:rPr lang="en-US" altLang="en-US"/>
              <a:t>Operating-System Operations (cont.)</a:t>
            </a:r>
          </a:p>
        </p:txBody>
      </p:sp>
      <p:sp>
        <p:nvSpPr>
          <p:cNvPr id="38915" name="Rectangle 3"/>
          <p:cNvSpPr>
            <a:spLocks noGrp="1" noChangeArrowheads="1"/>
          </p:cNvSpPr>
          <p:nvPr>
            <p:ph type="body" idx="4294967295"/>
          </p:nvPr>
        </p:nvSpPr>
        <p:spPr>
          <a:xfrm>
            <a:off x="806450" y="1233488"/>
            <a:ext cx="7297738" cy="412750"/>
          </a:xfrm>
        </p:spPr>
        <p:txBody>
          <a:bodyPr/>
          <a:lstStyle/>
          <a:p>
            <a:pPr marL="342900" lvl="1" indent="-342900">
              <a:lnSpc>
                <a:spcPct val="90000"/>
              </a:lnSpc>
              <a:buClr>
                <a:srgbClr val="993300"/>
              </a:buClr>
              <a:buSzPct val="90000"/>
              <a:buFont typeface="Wingdings" panose="05000000000000000000" pitchFamily="2" charset="2"/>
              <a:buChar char="q"/>
              <a:defRPr/>
            </a:pPr>
            <a:r>
              <a:rPr lang="en-US" altLang="en-US" dirty="0">
                <a:cs typeface="MS PGothic" panose="020B0600070205080204" pitchFamily="34" charset="-128"/>
              </a:rPr>
              <a:t>Life cycle of instruction execution</a:t>
            </a:r>
            <a:endParaRPr lang="en-US" altLang="en-US" dirty="0">
              <a:solidFill>
                <a:srgbClr val="FF0000"/>
              </a:solidFill>
            </a:endParaRPr>
          </a:p>
          <a:p>
            <a:pPr marL="457200" lvl="1" indent="0">
              <a:lnSpc>
                <a:spcPct val="90000"/>
              </a:lnSpc>
              <a:buFont typeface="Monotype Sorts"/>
              <a:buNone/>
              <a:defRPr/>
            </a:pPr>
            <a:endParaRPr lang="en-US" altLang="en-US" dirty="0">
              <a:solidFill>
                <a:srgbClr val="FF0000"/>
              </a:solidFill>
            </a:endParaRPr>
          </a:p>
        </p:txBody>
      </p:sp>
      <p:sp>
        <p:nvSpPr>
          <p:cNvPr id="82948" name="TextBox 3"/>
          <p:cNvSpPr txBox="1">
            <a:spLocks noChangeArrowheads="1"/>
          </p:cNvSpPr>
          <p:nvPr/>
        </p:nvSpPr>
        <p:spPr bwMode="auto">
          <a:xfrm>
            <a:off x="2116138" y="2270125"/>
            <a:ext cx="1846262" cy="646113"/>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Initial:</a:t>
            </a:r>
          </a:p>
          <a:p>
            <a:pPr>
              <a:spcBef>
                <a:spcPct val="0"/>
              </a:spcBef>
              <a:buClrTx/>
              <a:buSzTx/>
              <a:buFontTx/>
              <a:buNone/>
            </a:pPr>
            <a:r>
              <a:rPr kumimoji="0" lang="en-US" altLang="en-US">
                <a:solidFill>
                  <a:srgbClr val="000000"/>
                </a:solidFill>
                <a:latin typeface="Verdana" panose="020B0604030504040204" pitchFamily="34" charset="0"/>
              </a:rPr>
              <a:t>kernel mode</a:t>
            </a:r>
          </a:p>
        </p:txBody>
      </p:sp>
      <p:sp>
        <p:nvSpPr>
          <p:cNvPr id="82949" name="TextBox 7"/>
          <p:cNvSpPr txBox="1">
            <a:spLocks noChangeArrowheads="1"/>
          </p:cNvSpPr>
          <p:nvPr/>
        </p:nvSpPr>
        <p:spPr bwMode="auto">
          <a:xfrm>
            <a:off x="5530850" y="2408238"/>
            <a:ext cx="1446213" cy="369887"/>
          </a:xfrm>
          <a:prstGeom prst="rect">
            <a:avLst/>
          </a:prstGeom>
          <a:solidFill>
            <a:srgbClr val="CCECFF"/>
          </a:solidFill>
          <a:ln w="9525">
            <a:solidFill>
              <a:schemeClr val="tx1"/>
            </a:solidFill>
            <a:miter lim="800000"/>
          </a:ln>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user mode</a:t>
            </a:r>
          </a:p>
        </p:txBody>
      </p:sp>
      <p:sp>
        <p:nvSpPr>
          <p:cNvPr id="82950" name="TextBox 2"/>
          <p:cNvSpPr txBox="1">
            <a:spLocks noChangeArrowheads="1"/>
          </p:cNvSpPr>
          <p:nvPr/>
        </p:nvSpPr>
        <p:spPr bwMode="auto">
          <a:xfrm>
            <a:off x="4086225" y="1797050"/>
            <a:ext cx="1281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Execute user app</a:t>
            </a:r>
          </a:p>
        </p:txBody>
      </p:sp>
      <p:cxnSp>
        <p:nvCxnSpPr>
          <p:cNvPr id="82951" name="Straight Connector 18"/>
          <p:cNvCxnSpPr>
            <a:cxnSpLocks noChangeShapeType="1"/>
          </p:cNvCxnSpPr>
          <p:nvPr/>
        </p:nvCxnSpPr>
        <p:spPr bwMode="auto">
          <a:xfrm>
            <a:off x="4086225" y="2538413"/>
            <a:ext cx="1281113" cy="0"/>
          </a:xfrm>
          <a:prstGeom prst="line">
            <a:avLst/>
          </a:prstGeom>
          <a:noFill/>
          <a:ln w="76200" algn="ctr">
            <a:solidFill>
              <a:schemeClr val="accent1"/>
            </a:solidFill>
            <a:round/>
            <a:tailEnd type="triangle" w="med" len="med"/>
          </a:ln>
          <a:extLst>
            <a:ext uri="{909E8E84-426E-40DD-AFC4-6F175D3DCCD1}">
              <a14:hiddenFill xmlns:a14="http://schemas.microsoft.com/office/drawing/2010/main">
                <a:noFill/>
              </a14:hiddenFill>
            </a:ext>
          </a:extLst>
        </p:spPr>
      </p:cxnSp>
      <p:sp>
        <p:nvSpPr>
          <p:cNvPr id="82952" name="TextBox 30"/>
          <p:cNvSpPr txBox="1">
            <a:spLocks noChangeArrowheads="1"/>
          </p:cNvSpPr>
          <p:nvPr/>
        </p:nvSpPr>
        <p:spPr bwMode="auto">
          <a:xfrm>
            <a:off x="4144963" y="2916238"/>
            <a:ext cx="1882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a:solidFill>
                  <a:srgbClr val="000000"/>
                </a:solidFill>
                <a:latin typeface="Verdana" panose="020B0604030504040204" pitchFamily="34" charset="0"/>
              </a:rPr>
              <a:t>Interrupt</a:t>
            </a:r>
          </a:p>
          <a:p>
            <a:pPr>
              <a:spcBef>
                <a:spcPct val="0"/>
              </a:spcBef>
              <a:buClrTx/>
              <a:buSzTx/>
              <a:buFontTx/>
              <a:buNone/>
            </a:pPr>
            <a:r>
              <a:rPr kumimoji="0" lang="en-US" altLang="en-US">
                <a:solidFill>
                  <a:srgbClr val="000000"/>
                </a:solidFill>
                <a:latin typeface="Verdana" panose="020B0604030504040204" pitchFamily="34" charset="0"/>
              </a:rPr>
              <a:t>System call</a:t>
            </a:r>
          </a:p>
        </p:txBody>
      </p:sp>
      <p:sp>
        <p:nvSpPr>
          <p:cNvPr id="82953" name="Rectangle 29"/>
          <p:cNvSpPr>
            <a:spLocks noChangeArrowheads="1"/>
          </p:cNvSpPr>
          <p:nvPr/>
        </p:nvSpPr>
        <p:spPr bwMode="auto">
          <a:xfrm>
            <a:off x="1158875" y="4222750"/>
            <a:ext cx="7375525"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nSpc>
                <a:spcPct val="90000"/>
              </a:lnSpc>
              <a:buFontTx/>
              <a:buNone/>
            </a:pPr>
            <a:r>
              <a:rPr lang="en-US" altLang="zh-CN" dirty="0">
                <a:solidFill>
                  <a:srgbClr val="FF0000"/>
                </a:solidFill>
              </a:rPr>
              <a:t>Without hardware-supported dual mode (for example, MS-DOS), a user program can wipe out the operating system by writing over it with data; multiple programs are able to write to a device at the same time</a:t>
            </a:r>
          </a:p>
        </p:txBody>
      </p:sp>
      <p:cxnSp>
        <p:nvCxnSpPr>
          <p:cNvPr id="82954" name="Straight Connector 33"/>
          <p:cNvCxnSpPr>
            <a:cxnSpLocks noChangeShapeType="1"/>
          </p:cNvCxnSpPr>
          <p:nvPr/>
        </p:nvCxnSpPr>
        <p:spPr bwMode="auto">
          <a:xfrm>
            <a:off x="4056063" y="2740025"/>
            <a:ext cx="1279525" cy="0"/>
          </a:xfrm>
          <a:prstGeom prst="line">
            <a:avLst/>
          </a:prstGeom>
          <a:noFill/>
          <a:ln w="76200" algn="ctr">
            <a:solidFill>
              <a:schemeClr val="accent1"/>
            </a:solidFill>
            <a:round/>
            <a:head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895350" y="166688"/>
            <a:ext cx="7791450" cy="576262"/>
          </a:xfrm>
        </p:spPr>
        <p:txBody>
          <a:bodyPr/>
          <a:lstStyle/>
          <a:p>
            <a:pPr eaLnBrk="1" hangingPunct="1"/>
            <a:r>
              <a:rPr lang="en-US" altLang="en-US"/>
              <a:t>System Call</a:t>
            </a:r>
          </a:p>
        </p:txBody>
      </p:sp>
      <p:sp>
        <p:nvSpPr>
          <p:cNvPr id="14" name="Arrow: Right 4"/>
          <p:cNvSpPr>
            <a:spLocks noChangeArrowheads="1"/>
          </p:cNvSpPr>
          <p:nvPr/>
        </p:nvSpPr>
        <p:spPr bwMode="auto">
          <a:xfrm>
            <a:off x="4300538" y="2030413"/>
            <a:ext cx="1935162" cy="204787"/>
          </a:xfrm>
          <a:prstGeom prst="rightArrow">
            <a:avLst>
              <a:gd name="adj1" fmla="val 50000"/>
              <a:gd name="adj2" fmla="val 50442"/>
            </a:avLst>
          </a:prstGeom>
          <a:solidFill>
            <a:schemeClr val="accent1"/>
          </a:solidFill>
          <a:ln w="9525" algn="ctr">
            <a:solidFill>
              <a:schemeClr val="tx1"/>
            </a:solidFill>
            <a:round/>
          </a:ln>
        </p:spPr>
        <p:txBody>
          <a:bodyPr wrap="none"/>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en-US" altLang="en-US">
              <a:solidFill>
                <a:srgbClr val="000000"/>
              </a:solidFill>
              <a:latin typeface="Verdana" panose="020B0604030504040204" pitchFamily="34" charset="0"/>
            </a:endParaRPr>
          </a:p>
        </p:txBody>
      </p:sp>
      <p:pic>
        <p:nvPicPr>
          <p:cNvPr id="76804" name="图片 2" descr="电子设备的屏幕&#10;&#10;描述已自动生成"/>
          <p:cNvPicPr>
            <a:picLocks noChangeAspect="1" noChangeArrowheads="1"/>
          </p:cNvPicPr>
          <p:nvPr/>
        </p:nvPicPr>
        <p:blipFill>
          <a:blip r:embed="rId3">
            <a:extLst>
              <a:ext uri="{28A0092B-C50C-407E-A947-70E740481C1C}">
                <a14:useLocalDpi xmlns:a14="http://schemas.microsoft.com/office/drawing/2010/main" val="0"/>
              </a:ext>
            </a:extLst>
          </a:blip>
          <a:srcRect t="4375" r="1112" b="14166"/>
          <a:stretch>
            <a:fillRect/>
          </a:stretch>
        </p:blipFill>
        <p:spPr bwMode="auto">
          <a:xfrm>
            <a:off x="708025" y="1349375"/>
            <a:ext cx="32099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5" name="文本框 3"/>
          <p:cNvSpPr txBox="1">
            <a:spLocks noChangeArrowheads="1"/>
          </p:cNvSpPr>
          <p:nvPr/>
        </p:nvSpPr>
        <p:spPr bwMode="auto">
          <a:xfrm>
            <a:off x="1365250" y="3251200"/>
            <a:ext cx="2552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latin typeface="Verdana" panose="020B0604030504040204" pitchFamily="34" charset="0"/>
              </a:rPr>
              <a:t>User program</a:t>
            </a:r>
            <a:endParaRPr kumimoji="0" lang="zh-CN" altLang="en-US">
              <a:latin typeface="Verdana" panose="020B0604030504040204" pitchFamily="34" charset="0"/>
            </a:endParaRPr>
          </a:p>
        </p:txBody>
      </p:sp>
      <p:pic>
        <p:nvPicPr>
          <p:cNvPr id="76806" name="图片 5" descr="图示&#10;&#10;描述已自动生成"/>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8288" y="1487488"/>
            <a:ext cx="21812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7" name="文本框 7"/>
          <p:cNvSpPr txBox="1">
            <a:spLocks noChangeArrowheads="1"/>
          </p:cNvSpPr>
          <p:nvPr/>
        </p:nvSpPr>
        <p:spPr bwMode="auto">
          <a:xfrm>
            <a:off x="4238625" y="1538288"/>
            <a:ext cx="205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latin typeface="Verdana" panose="020B0604030504040204" pitchFamily="34" charset="0"/>
              </a:rPr>
              <a:t>Request service</a:t>
            </a:r>
            <a:endParaRPr kumimoji="0" lang="zh-CN" altLang="en-US">
              <a:latin typeface="Verdana" panose="020B0604030504040204" pitchFamily="34" charset="0"/>
            </a:endParaRPr>
          </a:p>
        </p:txBody>
      </p:sp>
      <p:sp>
        <p:nvSpPr>
          <p:cNvPr id="76808" name="文本框 16"/>
          <p:cNvSpPr txBox="1">
            <a:spLocks noChangeArrowheads="1"/>
          </p:cNvSpPr>
          <p:nvPr/>
        </p:nvSpPr>
        <p:spPr bwMode="auto">
          <a:xfrm>
            <a:off x="4348163" y="2357438"/>
            <a:ext cx="2270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latin typeface="Verdana" panose="020B0604030504040204" pitchFamily="34" charset="0"/>
              </a:rPr>
              <a:t>e.g.:</a:t>
            </a:r>
          </a:p>
          <a:p>
            <a:pPr>
              <a:spcBef>
                <a:spcPct val="0"/>
              </a:spcBef>
              <a:buClrTx/>
              <a:buSzTx/>
              <a:buFontTx/>
              <a:buNone/>
            </a:pPr>
            <a:r>
              <a:rPr kumimoji="0" lang="en-US" altLang="zh-CN">
                <a:latin typeface="Verdana" panose="020B0604030504040204" pitchFamily="34" charset="0"/>
              </a:rPr>
              <a:t>open a file</a:t>
            </a:r>
          </a:p>
          <a:p>
            <a:pPr>
              <a:spcBef>
                <a:spcPct val="0"/>
              </a:spcBef>
              <a:buClrTx/>
              <a:buSzTx/>
              <a:buFontTx/>
              <a:buNone/>
            </a:pPr>
            <a:r>
              <a:rPr kumimoji="0" lang="en-US" altLang="zh-CN">
                <a:latin typeface="Verdana" panose="020B0604030504040204" pitchFamily="34" charset="0"/>
              </a:rPr>
              <a:t>create a process</a:t>
            </a:r>
          </a:p>
          <a:p>
            <a:pPr>
              <a:spcBef>
                <a:spcPct val="0"/>
              </a:spcBef>
              <a:buClrTx/>
              <a:buSzTx/>
              <a:buFontTx/>
              <a:buNone/>
            </a:pPr>
            <a:r>
              <a:rPr kumimoji="0" lang="en-US" altLang="zh-CN">
                <a:latin typeface="Verdana" panose="020B0604030504040204" pitchFamily="34" charset="0"/>
              </a:rPr>
              <a:t>……</a:t>
            </a:r>
            <a:endParaRPr kumimoji="0" lang="zh-CN" altLang="en-US">
              <a:latin typeface="Verdana" panose="020B0604030504040204" pitchFamily="34" charset="0"/>
            </a:endParaRPr>
          </a:p>
        </p:txBody>
      </p:sp>
      <p:cxnSp>
        <p:nvCxnSpPr>
          <p:cNvPr id="76809" name="直接箭头连接符 19"/>
          <p:cNvCxnSpPr>
            <a:endCxn id="76807" idx="2"/>
          </p:cNvCxnSpPr>
          <p:nvPr/>
        </p:nvCxnSpPr>
        <p:spPr bwMode="auto">
          <a:xfrm flipV="1">
            <a:off x="4754563" y="1908175"/>
            <a:ext cx="512762" cy="2117725"/>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21" name="文本框 20"/>
          <p:cNvSpPr txBox="1"/>
          <p:nvPr/>
        </p:nvSpPr>
        <p:spPr>
          <a:xfrm>
            <a:off x="822325" y="4144963"/>
            <a:ext cx="7864475" cy="2584450"/>
          </a:xfrm>
          <a:prstGeom prst="rect">
            <a:avLst/>
          </a:prstGeom>
          <a:solidFill>
            <a:schemeClr val="accent6">
              <a:lumMod val="20000"/>
              <a:lumOff val="80000"/>
            </a:schemeClr>
          </a:solidFill>
          <a:ln>
            <a:solidFill>
              <a:srgbClr val="C00000"/>
            </a:solidFill>
          </a:ln>
        </p:spPr>
        <p:txBody>
          <a:bodyPr>
            <a:spAutoFit/>
          </a:bodyPr>
          <a:lstStyle/>
          <a:p>
            <a:pPr marL="342900" indent="-342900">
              <a:lnSpc>
                <a:spcPct val="150000"/>
              </a:lnSpc>
              <a:buFont typeface="Arial" panose="020B0604020202020204" pitchFamily="34" charset="0"/>
              <a:buChar char="•"/>
              <a:defRPr/>
            </a:pPr>
            <a:r>
              <a:rPr lang="en-US" altLang="zh-CN" sz="1800" b="1" dirty="0">
                <a:solidFill>
                  <a:srgbClr val="C00000"/>
                </a:solidFill>
                <a:latin typeface="urw-din"/>
              </a:rPr>
              <a:t>System call </a:t>
            </a:r>
            <a:r>
              <a:rPr lang="en-US" altLang="zh-CN" sz="1800" b="1" dirty="0">
                <a:solidFill>
                  <a:srgbClr val="273239"/>
                </a:solidFill>
                <a:latin typeface="urw-din"/>
              </a:rPr>
              <a:t>provides</a:t>
            </a:r>
            <a:r>
              <a:rPr lang="en-US" altLang="zh-CN" sz="1800" dirty="0">
                <a:solidFill>
                  <a:srgbClr val="273239"/>
                </a:solidFill>
                <a:latin typeface="urw-din"/>
              </a:rPr>
              <a:t> the services of the operating system to the user programs via </a:t>
            </a:r>
            <a:r>
              <a:rPr lang="en-US" altLang="zh-CN" sz="1800" dirty="0">
                <a:solidFill>
                  <a:srgbClr val="00B0F0"/>
                </a:solidFill>
                <a:latin typeface="urw-din"/>
              </a:rPr>
              <a:t>Application Program Interface (API)</a:t>
            </a:r>
            <a:r>
              <a:rPr lang="en-US" altLang="zh-CN" sz="1800" dirty="0">
                <a:solidFill>
                  <a:srgbClr val="273239"/>
                </a:solidFill>
                <a:latin typeface="urw-din"/>
              </a:rPr>
              <a:t>. </a:t>
            </a:r>
          </a:p>
          <a:p>
            <a:pPr marL="342900" indent="-342900">
              <a:lnSpc>
                <a:spcPct val="150000"/>
              </a:lnSpc>
              <a:buFont typeface="Arial" panose="020B0604020202020204" pitchFamily="34" charset="0"/>
              <a:buChar char="•"/>
              <a:defRPr/>
            </a:pPr>
            <a:r>
              <a:rPr lang="en-US" altLang="zh-CN" sz="1800" dirty="0">
                <a:solidFill>
                  <a:srgbClr val="273239"/>
                </a:solidFill>
                <a:latin typeface="urw-din"/>
              </a:rPr>
              <a:t>It provides an </a:t>
            </a:r>
            <a:r>
              <a:rPr lang="en-US" altLang="zh-CN" sz="1800" b="1" dirty="0">
                <a:solidFill>
                  <a:srgbClr val="273239"/>
                </a:solidFill>
                <a:latin typeface="urw-din"/>
              </a:rPr>
              <a:t>interface</a:t>
            </a:r>
            <a:r>
              <a:rPr lang="en-US" altLang="zh-CN" sz="1800" dirty="0">
                <a:solidFill>
                  <a:srgbClr val="273239"/>
                </a:solidFill>
                <a:latin typeface="urw-din"/>
              </a:rPr>
              <a:t> between a process and operating system to allow user-level processes to request services of the operating system.</a:t>
            </a:r>
          </a:p>
          <a:p>
            <a:pPr marL="342900" indent="-342900">
              <a:lnSpc>
                <a:spcPct val="150000"/>
              </a:lnSpc>
              <a:buFont typeface="Arial" panose="020B0604020202020204" pitchFamily="34" charset="0"/>
              <a:buChar char="•"/>
              <a:defRPr/>
            </a:pPr>
            <a:r>
              <a:rPr lang="en-US" altLang="zh-CN" sz="1800" dirty="0">
                <a:solidFill>
                  <a:srgbClr val="273239"/>
                </a:solidFill>
                <a:latin typeface="urw-din"/>
              </a:rPr>
              <a:t> System calls are the only entry points into the kernel system.</a:t>
            </a:r>
            <a:endParaRPr lang="en-US" altLang="zh-CN" sz="1800" dirty="0"/>
          </a:p>
        </p:txBody>
      </p:sp>
      <p:sp>
        <p:nvSpPr>
          <p:cNvPr id="76811" name="文本框 22"/>
          <p:cNvSpPr txBox="1">
            <a:spLocks noChangeArrowheads="1"/>
          </p:cNvSpPr>
          <p:nvPr/>
        </p:nvSpPr>
        <p:spPr bwMode="auto">
          <a:xfrm>
            <a:off x="6122988" y="3379788"/>
            <a:ext cx="2695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C00000"/>
                </a:solidFill>
                <a:latin typeface="Verdana" panose="020B0604030504040204" pitchFamily="34" charset="0"/>
              </a:rPr>
              <a:t>API: open(), fork()</a:t>
            </a:r>
          </a:p>
          <a:p>
            <a:pPr>
              <a:spcBef>
                <a:spcPct val="0"/>
              </a:spcBef>
              <a:buClrTx/>
              <a:buSzTx/>
              <a:buFontTx/>
              <a:buNone/>
            </a:pPr>
            <a:r>
              <a:rPr kumimoji="0" lang="en-US" altLang="zh-CN">
                <a:solidFill>
                  <a:srgbClr val="C00000"/>
                </a:solidFill>
                <a:latin typeface="Verdana" panose="020B0604030504040204" pitchFamily="34" charset="0"/>
              </a:rPr>
              <a:t>……</a:t>
            </a:r>
            <a:endParaRPr kumimoji="0" lang="zh-CN" altLang="en-US">
              <a:solidFill>
                <a:srgbClr val="C00000"/>
              </a:solidFill>
              <a:latin typeface="Verdana" panose="020B060403050404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895350" y="166688"/>
            <a:ext cx="7791450" cy="576262"/>
          </a:xfrm>
        </p:spPr>
        <p:txBody>
          <a:bodyPr/>
          <a:lstStyle/>
          <a:p>
            <a:pPr eaLnBrk="1" hangingPunct="1"/>
            <a:r>
              <a:rPr lang="en-US" altLang="en-US"/>
              <a:t>System Call</a:t>
            </a:r>
          </a:p>
        </p:txBody>
      </p:sp>
      <p:pic>
        <p:nvPicPr>
          <p:cNvPr id="78851"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738" y="1228725"/>
            <a:ext cx="2752725"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2" name="图片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5913" y="1327150"/>
            <a:ext cx="4460875"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5958" y="6162675"/>
            <a:ext cx="466725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idx="4294967295"/>
          </p:nvPr>
        </p:nvSpPr>
        <p:spPr>
          <a:xfrm>
            <a:off x="882650" y="136525"/>
            <a:ext cx="8415338" cy="576263"/>
          </a:xfrm>
        </p:spPr>
        <p:txBody>
          <a:bodyPr/>
          <a:lstStyle/>
          <a:p>
            <a:pPr eaLnBrk="1" hangingPunct="1"/>
            <a:r>
              <a:rPr lang="en-US" altLang="en-US"/>
              <a:t>Transition from User to Kernel Mode</a:t>
            </a:r>
          </a:p>
        </p:txBody>
      </p:sp>
      <p:pic>
        <p:nvPicPr>
          <p:cNvPr id="8499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50" y="1676400"/>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idx="4294967295"/>
          </p:nvPr>
        </p:nvSpPr>
        <p:spPr>
          <a:xfrm>
            <a:off x="1179513" y="198438"/>
            <a:ext cx="7791450" cy="576262"/>
          </a:xfrm>
        </p:spPr>
        <p:txBody>
          <a:bodyPr/>
          <a:lstStyle/>
          <a:p>
            <a:pPr eaLnBrk="1" hangingPunct="1"/>
            <a:r>
              <a:rPr lang="en-US" altLang="en-US"/>
              <a:t>User mode</a:t>
            </a:r>
          </a:p>
        </p:txBody>
      </p:sp>
      <p:sp>
        <p:nvSpPr>
          <p:cNvPr id="87043" name="Rectangle 3"/>
          <p:cNvSpPr>
            <a:spLocks noGrp="1" noChangeArrowheads="1"/>
          </p:cNvSpPr>
          <p:nvPr>
            <p:ph type="body" idx="4294967295"/>
          </p:nvPr>
        </p:nvSpPr>
        <p:spPr>
          <a:xfrm>
            <a:off x="349250" y="960438"/>
            <a:ext cx="4718050" cy="4937125"/>
          </a:xfrm>
        </p:spPr>
        <p:txBody>
          <a:bodyPr/>
          <a:lstStyle/>
          <a:p>
            <a:pPr>
              <a:lnSpc>
                <a:spcPct val="150000"/>
              </a:lnSpc>
              <a:spcAft>
                <a:spcPts val="1200"/>
              </a:spcAft>
              <a:buFont typeface="Wingdings" panose="05000000000000000000" pitchFamily="2" charset="2"/>
              <a:buChar char="q"/>
            </a:pPr>
            <a:r>
              <a:rPr lang="en-US" altLang="en-US" sz="2000" dirty="0"/>
              <a:t>Because an application's virtual address space is private, one application cannot alter data that belongs to another application</a:t>
            </a:r>
          </a:p>
          <a:p>
            <a:pPr>
              <a:lnSpc>
                <a:spcPct val="150000"/>
              </a:lnSpc>
              <a:spcAft>
                <a:spcPts val="1200"/>
              </a:spcAft>
              <a:buFont typeface="Wingdings" panose="05000000000000000000" pitchFamily="2" charset="2"/>
              <a:buChar char="q"/>
            </a:pPr>
            <a:r>
              <a:rPr lang="en-US" altLang="en-US" sz="2000" dirty="0"/>
              <a:t>Each application runs in isolation, and if an application crashes, the crash is limited to that one application. </a:t>
            </a:r>
          </a:p>
          <a:p>
            <a:pPr>
              <a:lnSpc>
                <a:spcPct val="150000"/>
              </a:lnSpc>
              <a:spcAft>
                <a:spcPts val="1200"/>
              </a:spcAft>
              <a:buFont typeface="Wingdings" panose="05000000000000000000" pitchFamily="2" charset="2"/>
              <a:buChar char="q"/>
            </a:pPr>
            <a:r>
              <a:rPr lang="en-US" altLang="en-US" sz="2000" dirty="0"/>
              <a:t>Other applications and the operating system are not affected by the crash</a:t>
            </a:r>
            <a:r>
              <a:rPr lang="en-US" altLang="en-US" dirty="0"/>
              <a:t>.</a:t>
            </a:r>
          </a:p>
        </p:txBody>
      </p:sp>
      <p:pic>
        <p:nvPicPr>
          <p:cNvPr id="87044" name="图片 2" descr="图示&#10;&#10;描述已自动生成"/>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949" y="1117600"/>
            <a:ext cx="3972013" cy="5057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a:xfrm>
            <a:off x="1179513" y="198438"/>
            <a:ext cx="7791450" cy="576262"/>
          </a:xfrm>
        </p:spPr>
        <p:txBody>
          <a:bodyPr/>
          <a:lstStyle/>
          <a:p>
            <a:pPr eaLnBrk="1" hangingPunct="1"/>
            <a:r>
              <a:rPr lang="en-US" altLang="en-US"/>
              <a:t>User mode</a:t>
            </a:r>
          </a:p>
        </p:txBody>
      </p:sp>
      <p:sp>
        <p:nvSpPr>
          <p:cNvPr id="89091" name="Rectangle 3"/>
          <p:cNvSpPr>
            <a:spLocks noGrp="1" noChangeArrowheads="1"/>
          </p:cNvSpPr>
          <p:nvPr>
            <p:ph type="body" idx="4294967295"/>
          </p:nvPr>
        </p:nvSpPr>
        <p:spPr>
          <a:xfrm>
            <a:off x="342900" y="1068388"/>
            <a:ext cx="4917077" cy="4938712"/>
          </a:xfrm>
        </p:spPr>
        <p:txBody>
          <a:bodyPr/>
          <a:lstStyle/>
          <a:p>
            <a:pPr>
              <a:lnSpc>
                <a:spcPct val="150000"/>
              </a:lnSpc>
              <a:spcAft>
                <a:spcPts val="1200"/>
              </a:spcAft>
              <a:buFont typeface="Wingdings" panose="05000000000000000000" pitchFamily="2" charset="2"/>
              <a:buChar char="q"/>
            </a:pPr>
            <a:r>
              <a:rPr lang="en-US" altLang="en-US" sz="2000" dirty="0"/>
              <a:t>In addition to being private, the virtual address space of a user-mode application is limited</a:t>
            </a:r>
          </a:p>
          <a:p>
            <a:pPr>
              <a:lnSpc>
                <a:spcPct val="150000"/>
              </a:lnSpc>
              <a:spcAft>
                <a:spcPts val="1200"/>
              </a:spcAft>
              <a:buFont typeface="Wingdings" panose="05000000000000000000" pitchFamily="2" charset="2"/>
              <a:buChar char="q"/>
            </a:pPr>
            <a:r>
              <a:rPr lang="en-US" altLang="en-US" sz="2000" dirty="0"/>
              <a:t>A processor running in user mode cannot access virtual addresses that are reserved for the operating system. </a:t>
            </a:r>
          </a:p>
          <a:p>
            <a:pPr>
              <a:lnSpc>
                <a:spcPct val="150000"/>
              </a:lnSpc>
              <a:spcAft>
                <a:spcPts val="1200"/>
              </a:spcAft>
              <a:buFont typeface="Wingdings" panose="05000000000000000000" pitchFamily="2" charset="2"/>
              <a:buChar char="q"/>
            </a:pPr>
            <a:r>
              <a:rPr lang="en-US" altLang="en-US" sz="2000" dirty="0"/>
              <a:t>Limiting the virtual address space of a user-mode application prevents the application from altering, and possibly damaging, critical operating system data.</a:t>
            </a:r>
          </a:p>
        </p:txBody>
      </p:sp>
      <p:pic>
        <p:nvPicPr>
          <p:cNvPr id="89092" name="图片 2" descr="图示&#10;&#10;描述已自动生成"/>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8" y="1284288"/>
            <a:ext cx="3800475"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1179513" y="198438"/>
            <a:ext cx="7791450" cy="576262"/>
          </a:xfrm>
        </p:spPr>
        <p:txBody>
          <a:bodyPr/>
          <a:lstStyle/>
          <a:p>
            <a:pPr eaLnBrk="1" hangingPunct="1"/>
            <a:r>
              <a:rPr lang="en-US" altLang="en-US"/>
              <a:t>Kernel mode</a:t>
            </a:r>
          </a:p>
        </p:txBody>
      </p:sp>
      <p:sp>
        <p:nvSpPr>
          <p:cNvPr id="91139" name="Rectangle 3"/>
          <p:cNvSpPr>
            <a:spLocks noGrp="1" noChangeArrowheads="1"/>
          </p:cNvSpPr>
          <p:nvPr>
            <p:ph type="body" idx="4294967295"/>
          </p:nvPr>
        </p:nvSpPr>
        <p:spPr>
          <a:xfrm>
            <a:off x="325438" y="1235075"/>
            <a:ext cx="4845050" cy="4938713"/>
          </a:xfrm>
        </p:spPr>
        <p:txBody>
          <a:bodyPr/>
          <a:lstStyle/>
          <a:p>
            <a:pPr>
              <a:buFont typeface="Wingdings" panose="05000000000000000000" pitchFamily="2" charset="2"/>
              <a:buChar char="q"/>
            </a:pPr>
            <a:r>
              <a:rPr lang="en-US" altLang="en-US" sz="2000" dirty="0"/>
              <a:t>All code that runs in kernel mode shares a single virtual address space. </a:t>
            </a:r>
          </a:p>
          <a:p>
            <a:pPr>
              <a:buFont typeface="Wingdings" panose="05000000000000000000" pitchFamily="2" charset="2"/>
              <a:buChar char="q"/>
            </a:pPr>
            <a:r>
              <a:rPr lang="en-US" altLang="en-US" sz="2000" dirty="0"/>
              <a:t>This means that a kernel-mode driver is not isolated from other drivers and the operating system itself. </a:t>
            </a:r>
          </a:p>
          <a:p>
            <a:pPr>
              <a:buFont typeface="Wingdings" panose="05000000000000000000" pitchFamily="2" charset="2"/>
              <a:buChar char="q"/>
            </a:pPr>
            <a:r>
              <a:rPr lang="en-US" altLang="en-US" sz="2000" dirty="0"/>
              <a:t>If a kernel-mode driver accidentally writes to the wrong virtual address, data that belongs to the operating system or another driver could be compromised. </a:t>
            </a:r>
          </a:p>
          <a:p>
            <a:pPr>
              <a:buFont typeface="Wingdings" panose="05000000000000000000" pitchFamily="2" charset="2"/>
              <a:buChar char="q"/>
            </a:pPr>
            <a:r>
              <a:rPr lang="en-US" altLang="en-US" sz="2000" dirty="0"/>
              <a:t>If a kernel-mode driver crashes, the entire operating system crashes.</a:t>
            </a:r>
          </a:p>
        </p:txBody>
      </p:sp>
      <p:pic>
        <p:nvPicPr>
          <p:cNvPr id="91140" name="图片 3" descr="图示&#10;&#10;描述已自动生成"/>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8" y="1284288"/>
            <a:ext cx="3800475"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idx="4294967295"/>
          </p:nvPr>
        </p:nvSpPr>
        <p:spPr>
          <a:xfrm>
            <a:off x="457200" y="214313"/>
            <a:ext cx="8229600" cy="576262"/>
          </a:xfrm>
        </p:spPr>
        <p:txBody>
          <a:bodyPr/>
          <a:lstStyle/>
          <a:p>
            <a:r>
              <a:rPr lang="en-US" altLang="en-US" dirty="0"/>
              <a:t>Quiz</a:t>
            </a:r>
          </a:p>
        </p:txBody>
      </p:sp>
      <p:sp>
        <p:nvSpPr>
          <p:cNvPr id="4" name="文本框 3"/>
          <p:cNvSpPr txBox="1"/>
          <p:nvPr/>
        </p:nvSpPr>
        <p:spPr>
          <a:xfrm>
            <a:off x="671978" y="1154663"/>
            <a:ext cx="8229600" cy="4182363"/>
          </a:xfrm>
          <a:prstGeom prst="rect">
            <a:avLst/>
          </a:prstGeom>
          <a:noFill/>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执行系统调用的过程包括如下主要操作：</a:t>
            </a:r>
          </a:p>
          <a:p>
            <a:pPr>
              <a:lnSpc>
                <a:spcPct val="150000"/>
              </a:lnSpc>
            </a:pPr>
            <a:r>
              <a:rPr lang="zh-CN" altLang="en-US" dirty="0">
                <a:latin typeface="宋体" panose="02010600030101010101" pitchFamily="2" charset="-122"/>
                <a:ea typeface="宋体" panose="02010600030101010101" pitchFamily="2" charset="-122"/>
              </a:rPr>
              <a:t>①返回用户态</a:t>
            </a:r>
          </a:p>
          <a:p>
            <a:pPr>
              <a:lnSpc>
                <a:spcPct val="150000"/>
              </a:lnSpc>
            </a:pPr>
            <a:r>
              <a:rPr lang="zh-CN" altLang="en-US" dirty="0">
                <a:latin typeface="宋体" panose="02010600030101010101" pitchFamily="2" charset="-122"/>
                <a:ea typeface="宋体" panose="02010600030101010101" pitchFamily="2" charset="-122"/>
              </a:rPr>
              <a:t>②执行陷入（</a:t>
            </a:r>
            <a:r>
              <a:rPr lang="en-US" altLang="zh-CN" dirty="0">
                <a:latin typeface="宋体" panose="02010600030101010101" pitchFamily="2" charset="-122"/>
                <a:ea typeface="宋体" panose="02010600030101010101" pitchFamily="2" charset="-122"/>
              </a:rPr>
              <a:t>trap</a:t>
            </a:r>
            <a:r>
              <a:rPr lang="zh-CN" altLang="en-US" dirty="0">
                <a:latin typeface="宋体" panose="02010600030101010101" pitchFamily="2" charset="-122"/>
                <a:ea typeface="宋体" panose="02010600030101010101" pitchFamily="2" charset="-122"/>
              </a:rPr>
              <a:t>）指令</a:t>
            </a:r>
          </a:p>
          <a:p>
            <a:pPr>
              <a:lnSpc>
                <a:spcPct val="150000"/>
              </a:lnSpc>
            </a:pPr>
            <a:r>
              <a:rPr lang="zh-CN" altLang="en-US" dirty="0">
                <a:latin typeface="宋体" panose="02010600030101010101" pitchFamily="2" charset="-122"/>
                <a:ea typeface="宋体" panose="02010600030101010101" pitchFamily="2" charset="-122"/>
              </a:rPr>
              <a:t>③传递系统调用参数</a:t>
            </a:r>
          </a:p>
          <a:p>
            <a:pPr>
              <a:lnSpc>
                <a:spcPct val="150000"/>
              </a:lnSpc>
            </a:pPr>
            <a:r>
              <a:rPr lang="zh-CN" altLang="en-US" dirty="0">
                <a:latin typeface="宋体" panose="02010600030101010101" pitchFamily="2" charset="-122"/>
                <a:ea typeface="宋体" panose="02010600030101010101" pitchFamily="2" charset="-122"/>
              </a:rPr>
              <a:t>④执行相应的服务程序</a:t>
            </a:r>
          </a:p>
          <a:p>
            <a:pPr>
              <a:lnSpc>
                <a:spcPct val="150000"/>
              </a:lnSpc>
            </a:pPr>
            <a:r>
              <a:rPr lang="zh-CN" altLang="en-US" dirty="0">
                <a:latin typeface="宋体" panose="02010600030101010101" pitchFamily="2" charset="-122"/>
                <a:ea typeface="宋体" panose="02010600030101010101" pitchFamily="2" charset="-122"/>
              </a:rPr>
              <a:t>正确的执行顺序是</a:t>
            </a:r>
          </a:p>
          <a:p>
            <a:pPr>
              <a:lnSpc>
                <a:spcPct val="150000"/>
              </a:lnSpc>
            </a:pPr>
            <a:r>
              <a:rPr lang="en-US" altLang="zh-CN" dirty="0">
                <a:latin typeface="宋体" panose="02010600030101010101" pitchFamily="2" charset="-122"/>
                <a:ea typeface="宋体" panose="02010600030101010101" pitchFamily="2" charset="-122"/>
              </a:rPr>
              <a:t>A.②—&gt;③—&gt;①—&gt;④</a:t>
            </a:r>
          </a:p>
          <a:p>
            <a:pPr>
              <a:lnSpc>
                <a:spcPct val="150000"/>
              </a:lnSpc>
            </a:pPr>
            <a:r>
              <a:rPr lang="en-US" altLang="zh-CN" dirty="0">
                <a:latin typeface="宋体" panose="02010600030101010101" pitchFamily="2" charset="-122"/>
                <a:ea typeface="宋体" panose="02010600030101010101" pitchFamily="2" charset="-122"/>
              </a:rPr>
              <a:t>B.②—&gt;④—&gt;③—&gt;①</a:t>
            </a:r>
          </a:p>
          <a:p>
            <a:pPr>
              <a:lnSpc>
                <a:spcPct val="150000"/>
              </a:lnSpc>
            </a:pPr>
            <a:r>
              <a:rPr lang="en-US" altLang="zh-CN" dirty="0">
                <a:latin typeface="宋体" panose="02010600030101010101" pitchFamily="2" charset="-122"/>
                <a:ea typeface="宋体" panose="02010600030101010101" pitchFamily="2" charset="-122"/>
              </a:rPr>
              <a:t>C.③—&gt;②—&gt;④—&gt;①</a:t>
            </a:r>
          </a:p>
          <a:p>
            <a:pPr>
              <a:lnSpc>
                <a:spcPct val="150000"/>
              </a:lnSpc>
            </a:pPr>
            <a:r>
              <a:rPr lang="en-US" altLang="zh-CN" dirty="0">
                <a:latin typeface="宋体" panose="02010600030101010101" pitchFamily="2" charset="-122"/>
                <a:ea typeface="宋体" panose="02010600030101010101" pitchFamily="2" charset="-122"/>
              </a:rPr>
              <a:t>D.③—&gt;④—&gt;②—&gt;①</a:t>
            </a:r>
            <a:endParaRPr lang="zh-CN" altLang="en-US" dirty="0">
              <a:latin typeface="宋体" panose="02010600030101010101" pitchFamily="2" charset="-122"/>
              <a:ea typeface="宋体" panose="02010600030101010101" pitchFamily="2" charset="-122"/>
            </a:endParaRPr>
          </a:p>
        </p:txBody>
      </p:sp>
      <p:sp>
        <p:nvSpPr>
          <p:cNvPr id="6" name="文本框 5"/>
          <p:cNvSpPr txBox="1"/>
          <p:nvPr/>
        </p:nvSpPr>
        <p:spPr>
          <a:xfrm>
            <a:off x="4114800" y="5545276"/>
            <a:ext cx="4572000" cy="369332"/>
          </a:xfrm>
          <a:prstGeom prst="rect">
            <a:avLst/>
          </a:prstGeom>
          <a:noFill/>
        </p:spPr>
        <p:txBody>
          <a:bodyPr wrap="square">
            <a:spAutoFit/>
          </a:bodyPr>
          <a:lstStyle/>
          <a:p>
            <a:r>
              <a:rPr lang="en-US" altLang="zh-CN" dirty="0">
                <a:latin typeface="宋体" panose="02010600030101010101" pitchFamily="2" charset="-122"/>
                <a:ea typeface="宋体" panose="02010600030101010101" pitchFamily="2" charset="-122"/>
              </a:rPr>
              <a:t>2017</a:t>
            </a:r>
            <a:r>
              <a:rPr lang="zh-CN" altLang="en-US" dirty="0">
                <a:latin typeface="宋体" panose="02010600030101010101" pitchFamily="2" charset="-122"/>
                <a:ea typeface="宋体" panose="02010600030101010101" pitchFamily="2" charset="-122"/>
              </a:rPr>
              <a:t>年全国统考真题，第</a:t>
            </a:r>
            <a:r>
              <a:rPr lang="en-US" altLang="zh-CN">
                <a:latin typeface="宋体" panose="02010600030101010101" pitchFamily="2" charset="-122"/>
                <a:ea typeface="宋体" panose="02010600030101010101" pitchFamily="2" charset="-122"/>
              </a:rPr>
              <a:t>24</a:t>
            </a:r>
            <a:r>
              <a:rPr lang="zh-CN" altLang="en-US">
                <a:latin typeface="宋体" panose="02010600030101010101" pitchFamily="2" charset="-122"/>
                <a:ea typeface="宋体" panose="02010600030101010101" pitchFamily="2" charset="-122"/>
              </a:rPr>
              <a:t>题</a:t>
            </a:r>
            <a:endParaRPr lang="zh-CN" altLang="en-US" dirty="0"/>
          </a:p>
        </p:txBody>
      </p:sp>
      <p:sp>
        <p:nvSpPr>
          <p:cNvPr id="2" name="文本框 1"/>
          <p:cNvSpPr txBox="1"/>
          <p:nvPr/>
        </p:nvSpPr>
        <p:spPr>
          <a:xfrm>
            <a:off x="7059431" y="3114448"/>
            <a:ext cx="278296" cy="369332"/>
          </a:xfrm>
          <a:prstGeom prst="rect">
            <a:avLst/>
          </a:prstGeom>
          <a:noFill/>
        </p:spPr>
        <p:txBody>
          <a:bodyPr wrap="square" rtlCol="0">
            <a:spAutoFit/>
          </a:bodyPr>
          <a:lstStyle/>
          <a:p>
            <a:r>
              <a:rPr lang="en-US" altLang="zh-CN" b="1" dirty="0">
                <a:solidFill>
                  <a:srgbClr val="FF0000"/>
                </a:solidFill>
              </a:rPr>
              <a:t>C</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1331913" y="203200"/>
            <a:ext cx="7177087" cy="576263"/>
          </a:xfrm>
        </p:spPr>
        <p:txBody>
          <a:bodyPr/>
          <a:lstStyle/>
          <a:p>
            <a:pPr eaLnBrk="1" hangingPunct="1"/>
            <a:r>
              <a:rPr lang="en-US" altLang="en-US" dirty="0"/>
              <a:t>Mass-Storage Management</a:t>
            </a:r>
          </a:p>
        </p:txBody>
      </p:sp>
      <p:sp>
        <p:nvSpPr>
          <p:cNvPr id="77827" name="Rectangle 3"/>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a:buFont typeface="Monotype Sorts" charset="0"/>
              <a:buChar char="n"/>
              <a:defRPr/>
            </a:pPr>
            <a:endParaRPr lang="en-US" dirty="0">
              <a:ea typeface="MS PGothic" panose="020B0600070205080204" pitchFamily="34" charset="-128"/>
              <a:cs typeface="MS PGothic" panose="020B0600070205080204" pitchFamily="34" charset="-128"/>
            </a:endParaRPr>
          </a:p>
          <a:p>
            <a:pPr marL="0" indent="0">
              <a:buFont typeface="Monotype Sorts" charset="0"/>
              <a:buNone/>
              <a:defRPr/>
            </a:pPr>
            <a:endParaRPr lang="en-US" dirty="0">
              <a:ea typeface="MS PGothic" panose="020B0600070205080204" pitchFamily="34" charset="-128"/>
              <a:cs typeface="MS PGothic" panose="020B0600070205080204" pitchFamily="34" charset="-128"/>
            </a:endParaRPr>
          </a:p>
          <a:p>
            <a:pPr>
              <a:buFont typeface="Monotype Sorts" pitchFamily="-84" charset="2"/>
              <a:buNone/>
              <a:defRPr/>
            </a:pPr>
            <a:r>
              <a:rPr lang="en-US" dirty="0">
                <a:ea typeface="MS PGothic" panose="020B0600070205080204" pitchFamily="34" charset="-128"/>
                <a:cs typeface="MS PGothic" panose="020B0600070205080204" pitchFamily="34" charset="-128"/>
              </a:rPr>
              <a:t>    Movement between levels of storage hierarchy can be explicit or implicit</a:t>
            </a:r>
          </a:p>
        </p:txBody>
      </p:sp>
      <p:pic>
        <p:nvPicPr>
          <p:cNvPr id="819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2732088"/>
            <a:ext cx="7791450" cy="576262"/>
          </a:xfrm>
        </p:spPr>
        <p:txBody>
          <a:bodyPr/>
          <a:lstStyle/>
          <a:p>
            <a:pPr eaLnBrk="1" hangingPunct="1"/>
            <a:r>
              <a:rPr lang="en-US" altLang="zh-CN" dirty="0"/>
              <a:t>Quiz</a:t>
            </a:r>
            <a:endParaRPr lang="en-US"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1</a:t>
            </a:r>
            <a:endParaRPr lang="en-US" altLang="en-US" sz="2800" dirty="0"/>
          </a:p>
        </p:txBody>
      </p:sp>
      <p:sp>
        <p:nvSpPr>
          <p:cNvPr id="3" name="文本框 2"/>
          <p:cNvSpPr txBox="1"/>
          <p:nvPr/>
        </p:nvSpPr>
        <p:spPr>
          <a:xfrm>
            <a:off x="477753" y="1009976"/>
            <a:ext cx="8164512" cy="3477875"/>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In which scenario might programmed I/O still be preferred over interrupt-driven I/O?</a:t>
            </a:r>
          </a:p>
          <a:p>
            <a:pPr marL="457200" lvl="0" indent="-457200">
              <a:spcBef>
                <a:spcPts val="1800"/>
              </a:spcBef>
              <a:buFontTx/>
              <a:buAutoNum type="alphaUcPeriod"/>
            </a:pPr>
            <a:r>
              <a:rPr lang="en-US" altLang="zh-CN" sz="2000" dirty="0">
                <a:solidFill>
                  <a:srgbClr val="000000"/>
                </a:solidFill>
                <a:latin typeface="Times New Roman" panose="02020603050405020304" pitchFamily="18" charset="0"/>
                <a:cs typeface="Times New Roman" panose="02020603050405020304" pitchFamily="18" charset="0"/>
              </a:rPr>
              <a:t>When the device is extremely high-speed and generates too many interrupts.</a:t>
            </a:r>
          </a:p>
          <a:p>
            <a:pPr marL="457200" lvl="0" indent="-457200">
              <a:spcBef>
                <a:spcPts val="1800"/>
              </a:spcBef>
              <a:buFontTx/>
              <a:buAutoNum type="alphaUcPeriod"/>
            </a:pPr>
            <a:r>
              <a:rPr lang="en-US" altLang="zh-CN" sz="2000" dirty="0">
                <a:solidFill>
                  <a:srgbClr val="000000"/>
                </a:solidFill>
                <a:latin typeface="Times New Roman" panose="02020603050405020304" pitchFamily="18" charset="0"/>
                <a:cs typeface="Times New Roman" panose="02020603050405020304" pitchFamily="18" charset="0"/>
              </a:rPr>
              <a:t>When the device is very slow and occasional.</a:t>
            </a:r>
          </a:p>
          <a:p>
            <a:pPr marL="457200" lvl="0" indent="-457200">
              <a:spcBef>
                <a:spcPts val="1800"/>
              </a:spcBef>
              <a:buFontTx/>
              <a:buAutoNum type="alphaUcPeriod"/>
            </a:pPr>
            <a:r>
              <a:rPr lang="en-US" altLang="zh-CN" sz="2000" dirty="0">
                <a:solidFill>
                  <a:srgbClr val="000000"/>
                </a:solidFill>
                <a:latin typeface="Times New Roman" panose="02020603050405020304" pitchFamily="18" charset="0"/>
                <a:cs typeface="Times New Roman" panose="02020603050405020304" pitchFamily="18" charset="0"/>
              </a:rPr>
              <a:t>When the device has direct memory access capability.</a:t>
            </a:r>
          </a:p>
          <a:p>
            <a:pPr marL="457200" lvl="0" indent="-457200">
              <a:spcBef>
                <a:spcPts val="1800"/>
              </a:spcBef>
              <a:buFontTx/>
              <a:buAutoNum type="alphaUcPeriod"/>
            </a:pPr>
            <a:r>
              <a:rPr lang="en-US" altLang="zh-CN" sz="2000" dirty="0">
                <a:solidFill>
                  <a:srgbClr val="000000"/>
                </a:solidFill>
                <a:latin typeface="Times New Roman" panose="02020603050405020304" pitchFamily="18" charset="0"/>
                <a:cs typeface="Times New Roman" panose="02020603050405020304" pitchFamily="18" charset="0"/>
              </a:rPr>
              <a:t>When the CPU wants to offload data transfer to the device.</a:t>
            </a:r>
            <a:endParaRPr lang="en-US" altLang="zh-CN" sz="2000" dirty="0">
              <a:latin typeface="Times New Roman" panose="02020603050405020304" pitchFamily="18" charset="0"/>
              <a:cs typeface="Times New Roman" panose="02020603050405020304" pitchFamily="18" charset="0"/>
            </a:endParaRPr>
          </a:p>
          <a:p>
            <a:endParaRPr lang="zh-CN" altLang="en-US" sz="20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50081" y="4340045"/>
            <a:ext cx="7981950" cy="2308324"/>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Correct Answer: A </a:t>
            </a:r>
          </a:p>
          <a:p>
            <a:r>
              <a:rPr lang="en-US" altLang="zh-CN" dirty="0">
                <a:latin typeface="Times New Roman" panose="02020603050405020304" pitchFamily="18" charset="0"/>
                <a:cs typeface="Times New Roman" panose="02020603050405020304" pitchFamily="18" charset="0"/>
              </a:rPr>
              <a:t>Paradoxically, if a device is extremely high-speed and would generate interrupts too frequently, the CPU might spend more overhead handling interrupts than simply polling.</a:t>
            </a:r>
          </a:p>
          <a:p>
            <a:r>
              <a:rPr lang="en-US" altLang="zh-CN" dirty="0">
                <a:latin typeface="Times New Roman" panose="02020603050405020304" pitchFamily="18" charset="0"/>
                <a:cs typeface="Times New Roman" panose="02020603050405020304" pitchFamily="18" charset="0"/>
              </a:rPr>
              <a:t>Most textbooks note that interrupt-driven I/O is efficient for moderate/slower devices, while very fast devices might cause interrupt overhead.</a:t>
            </a:r>
          </a:p>
          <a:p>
            <a:r>
              <a:rPr lang="en-US" altLang="zh-CN" dirty="0">
                <a:latin typeface="Times New Roman" panose="02020603050405020304" pitchFamily="18" charset="0"/>
                <a:cs typeface="Times New Roman" panose="02020603050405020304" pitchFamily="18" charset="0"/>
              </a:rPr>
              <a:t>(Also, for extremely slow devices, interrupt-driven I/O is still often more efficient, so the best match is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2</a:t>
            </a:r>
            <a:endParaRPr lang="en-US" altLang="en-US" sz="2800" dirty="0"/>
          </a:p>
        </p:txBody>
      </p:sp>
      <p:sp>
        <p:nvSpPr>
          <p:cNvPr id="3" name="文本框 2"/>
          <p:cNvSpPr txBox="1"/>
          <p:nvPr/>
        </p:nvSpPr>
        <p:spPr>
          <a:xfrm>
            <a:off x="447676" y="1092816"/>
            <a:ext cx="7847012" cy="707886"/>
          </a:xfrm>
          <a:prstGeom prst="rect">
            <a:avLst/>
          </a:prstGeom>
          <a:noFill/>
        </p:spPr>
        <p:txBody>
          <a:bodyPr wrap="square">
            <a:spAutoFit/>
          </a:bodyPr>
          <a:lstStyle/>
          <a:p>
            <a:r>
              <a:rPr lang="en-US" altLang="zh-CN" sz="2000" dirty="0">
                <a:latin typeface="Times New Roman" panose="02020603050405020304" pitchFamily="18" charset="0"/>
                <a:cs typeface="Times New Roman" panose="02020603050405020304" pitchFamily="18" charset="0"/>
              </a:rPr>
              <a:t>After a DMA transfer completes a block of data (e.g., 512 bytes from disk to memory), what typically happens next?</a:t>
            </a:r>
            <a:endParaRPr lang="zh-CN" altLang="en-US" sz="2000"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749300" y="2181181"/>
            <a:ext cx="7499350" cy="2723823"/>
          </a:xfrm>
          <a:prstGeom prst="rect">
            <a:avLst/>
          </a:prstGeom>
          <a:noFill/>
        </p:spPr>
        <p:txBody>
          <a:bodyPr wrap="square">
            <a:spAutoFit/>
          </a:bodyPr>
          <a:lstStyle/>
          <a:p>
            <a:pPr marL="457200" indent="-457200">
              <a:spcBef>
                <a:spcPts val="1800"/>
              </a:spcBef>
              <a:buAutoNum type="alphaUcPeriod"/>
            </a:pPr>
            <a:r>
              <a:rPr lang="en-US" altLang="zh-CN" dirty="0">
                <a:latin typeface="Times New Roman" panose="02020603050405020304" pitchFamily="18" charset="0"/>
                <a:cs typeface="Times New Roman" panose="02020603050405020304" pitchFamily="18" charset="0"/>
              </a:rPr>
              <a:t>The DMA controller automatically starts the next block transfer without notifying the CPU.</a:t>
            </a:r>
          </a:p>
          <a:p>
            <a:pPr marL="457200" indent="-457200">
              <a:spcBef>
                <a:spcPts val="1800"/>
              </a:spcBef>
              <a:buAutoNum type="alphaUcPeriod"/>
            </a:pPr>
            <a:r>
              <a:rPr lang="en-US" altLang="zh-CN" dirty="0">
                <a:latin typeface="Times New Roman" panose="02020603050405020304" pitchFamily="18" charset="0"/>
                <a:cs typeface="Times New Roman" panose="02020603050405020304" pitchFamily="18" charset="0"/>
              </a:rPr>
              <a:t>The CPU polls the DMA controller to see if the transfer is done.</a:t>
            </a:r>
          </a:p>
          <a:p>
            <a:pPr marL="457200" indent="-457200">
              <a:spcBef>
                <a:spcPts val="1800"/>
              </a:spcBef>
              <a:buAutoNum type="alphaUcPeriod"/>
            </a:pPr>
            <a:r>
              <a:rPr lang="en-US" altLang="zh-CN" dirty="0">
                <a:latin typeface="Times New Roman" panose="02020603050405020304" pitchFamily="18" charset="0"/>
                <a:cs typeface="Times New Roman" panose="02020603050405020304" pitchFamily="18" charset="0"/>
              </a:rPr>
              <a:t>The DMA controller issues an interrupt to signal the CPU that the transfer has finished.</a:t>
            </a:r>
          </a:p>
          <a:p>
            <a:pPr marL="457200" indent="-457200">
              <a:spcBef>
                <a:spcPts val="1800"/>
              </a:spcBef>
              <a:buAutoNum type="alphaUcPeriod"/>
            </a:pPr>
            <a:r>
              <a:rPr lang="en-US" altLang="zh-CN" dirty="0">
                <a:latin typeface="Times New Roman" panose="02020603050405020304" pitchFamily="18" charset="0"/>
                <a:cs typeface="Times New Roman" panose="02020603050405020304" pitchFamily="18" charset="0"/>
              </a:rPr>
              <a:t>The DMA controller halts the system until the user acknowledges completion.</a:t>
            </a:r>
            <a:endParaRPr lang="zh-CN" altLang="en-US"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850900" y="5285483"/>
            <a:ext cx="7175500"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Correct Answer: C</a:t>
            </a:r>
          </a:p>
          <a:p>
            <a:r>
              <a:rPr lang="en-US" altLang="zh-CN" dirty="0">
                <a:latin typeface="Times New Roman" panose="02020603050405020304" pitchFamily="18" charset="0"/>
                <a:cs typeface="Times New Roman" panose="02020603050405020304" pitchFamily="18" charset="0"/>
              </a:rPr>
              <a:t>Generally, once a DMA transfer completes, the controller sends an interrupt to the CPU (“DMA transfer complete”), so the CPU can continue with the next steps in the I/O process.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3</a:t>
            </a:r>
            <a:endParaRPr lang="en-US" altLang="en-US" sz="2800" dirty="0"/>
          </a:p>
        </p:txBody>
      </p:sp>
      <p:pic>
        <p:nvPicPr>
          <p:cNvPr id="15" name="图片 14"/>
          <p:cNvPicPr>
            <a:picLocks noChangeAspect="1"/>
          </p:cNvPicPr>
          <p:nvPr/>
        </p:nvPicPr>
        <p:blipFill>
          <a:blip r:embed="rId3"/>
          <a:stretch>
            <a:fillRect/>
          </a:stretch>
        </p:blipFill>
        <p:spPr>
          <a:xfrm>
            <a:off x="1002938" y="0"/>
            <a:ext cx="7138123"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Solution to Quiz 3</a:t>
            </a:r>
            <a:endParaRPr lang="en-US" altLang="en-US" sz="2800" dirty="0"/>
          </a:p>
        </p:txBody>
      </p:sp>
      <p:pic>
        <p:nvPicPr>
          <p:cNvPr id="5" name="图片 4"/>
          <p:cNvPicPr>
            <a:picLocks noChangeAspect="1"/>
          </p:cNvPicPr>
          <p:nvPr/>
        </p:nvPicPr>
        <p:blipFill>
          <a:blip r:embed="rId3"/>
          <a:stretch>
            <a:fillRect/>
          </a:stretch>
        </p:blipFill>
        <p:spPr>
          <a:xfrm>
            <a:off x="901700" y="1030309"/>
            <a:ext cx="6889750" cy="2303727"/>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Solution to Quiz 3</a:t>
            </a:r>
            <a:endParaRPr lang="en-US" altLang="en-US" sz="2800" dirty="0"/>
          </a:p>
        </p:txBody>
      </p:sp>
      <p:pic>
        <p:nvPicPr>
          <p:cNvPr id="3" name="图片 2"/>
          <p:cNvPicPr>
            <a:picLocks noChangeAspect="1"/>
          </p:cNvPicPr>
          <p:nvPr/>
        </p:nvPicPr>
        <p:blipFill>
          <a:blip r:embed="rId3"/>
          <a:stretch>
            <a:fillRect/>
          </a:stretch>
        </p:blipFill>
        <p:spPr>
          <a:xfrm>
            <a:off x="326390" y="48895"/>
            <a:ext cx="8552815" cy="680910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Solution to Quiz 3</a:t>
            </a:r>
            <a:endParaRPr lang="en-US" altLang="en-US" sz="2800" dirty="0"/>
          </a:p>
        </p:txBody>
      </p:sp>
      <p:pic>
        <p:nvPicPr>
          <p:cNvPr id="4" name="图片 3"/>
          <p:cNvPicPr>
            <a:picLocks noChangeAspect="1"/>
          </p:cNvPicPr>
          <p:nvPr/>
        </p:nvPicPr>
        <p:blipFill>
          <a:blip r:embed="rId3"/>
          <a:stretch>
            <a:fillRect/>
          </a:stretch>
        </p:blipFill>
        <p:spPr>
          <a:xfrm>
            <a:off x="0" y="88002"/>
            <a:ext cx="9144000" cy="3087895"/>
          </a:xfrm>
          <a:prstGeom prst="rect">
            <a:avLst/>
          </a:prstGeom>
        </p:spPr>
      </p:pic>
      <p:pic>
        <p:nvPicPr>
          <p:cNvPr id="6" name="图片 5"/>
          <p:cNvPicPr>
            <a:picLocks noChangeAspect="1"/>
          </p:cNvPicPr>
          <p:nvPr/>
        </p:nvPicPr>
        <p:blipFill>
          <a:blip r:embed="rId4"/>
          <a:stretch>
            <a:fillRect/>
          </a:stretch>
        </p:blipFill>
        <p:spPr>
          <a:xfrm>
            <a:off x="352425" y="3580820"/>
            <a:ext cx="6435725" cy="29402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Solution to Quiz 3</a:t>
            </a:r>
            <a:endParaRPr lang="en-US" altLang="en-US" sz="2800" dirty="0"/>
          </a:p>
        </p:txBody>
      </p:sp>
      <p:pic>
        <p:nvPicPr>
          <p:cNvPr id="3" name="图片 2"/>
          <p:cNvPicPr>
            <a:picLocks noChangeAspect="1"/>
          </p:cNvPicPr>
          <p:nvPr/>
        </p:nvPicPr>
        <p:blipFill>
          <a:blip r:embed="rId3"/>
          <a:stretch>
            <a:fillRect/>
          </a:stretch>
        </p:blipFill>
        <p:spPr>
          <a:xfrm>
            <a:off x="412750" y="1162455"/>
            <a:ext cx="8610600" cy="537399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4</a:t>
            </a:r>
            <a:endParaRPr lang="en-US" altLang="en-US" sz="2800" dirty="0"/>
          </a:p>
        </p:txBody>
      </p:sp>
      <p:pic>
        <p:nvPicPr>
          <p:cNvPr id="3" name="图片 2"/>
          <p:cNvPicPr>
            <a:picLocks noChangeAspect="1"/>
          </p:cNvPicPr>
          <p:nvPr/>
        </p:nvPicPr>
        <p:blipFill>
          <a:blip r:embed="rId3"/>
          <a:stretch>
            <a:fillRect/>
          </a:stretch>
        </p:blipFill>
        <p:spPr>
          <a:xfrm>
            <a:off x="444500" y="992533"/>
            <a:ext cx="8616950" cy="1635972"/>
          </a:xfrm>
          <a:prstGeom prst="rect">
            <a:avLst/>
          </a:prstGeom>
        </p:spPr>
      </p:pic>
      <p:pic>
        <p:nvPicPr>
          <p:cNvPr id="5" name="图片 4"/>
          <p:cNvPicPr>
            <a:picLocks noChangeAspect="1"/>
          </p:cNvPicPr>
          <p:nvPr/>
        </p:nvPicPr>
        <p:blipFill>
          <a:blip r:embed="rId4"/>
          <a:stretch>
            <a:fillRect/>
          </a:stretch>
        </p:blipFill>
        <p:spPr>
          <a:xfrm>
            <a:off x="584200" y="2908701"/>
            <a:ext cx="6940550" cy="36732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5</a:t>
            </a:r>
            <a:endParaRPr lang="en-US" altLang="en-US" sz="2800" dirty="0"/>
          </a:p>
        </p:txBody>
      </p:sp>
      <p:pic>
        <p:nvPicPr>
          <p:cNvPr id="4" name="图片 3"/>
          <p:cNvPicPr>
            <a:picLocks noChangeAspect="1"/>
          </p:cNvPicPr>
          <p:nvPr/>
        </p:nvPicPr>
        <p:blipFill>
          <a:blip r:embed="rId3"/>
          <a:stretch>
            <a:fillRect/>
          </a:stretch>
        </p:blipFill>
        <p:spPr>
          <a:xfrm>
            <a:off x="463550" y="1197074"/>
            <a:ext cx="8467725" cy="2310799"/>
          </a:xfrm>
          <a:prstGeom prst="rect">
            <a:avLst/>
          </a:prstGeom>
        </p:spPr>
      </p:pic>
      <p:pic>
        <p:nvPicPr>
          <p:cNvPr id="7" name="图片 6"/>
          <p:cNvPicPr>
            <a:picLocks noChangeAspect="1"/>
          </p:cNvPicPr>
          <p:nvPr/>
        </p:nvPicPr>
        <p:blipFill>
          <a:blip r:embed="rId4"/>
          <a:stretch>
            <a:fillRect/>
          </a:stretch>
        </p:blipFill>
        <p:spPr>
          <a:xfrm>
            <a:off x="419836" y="4282298"/>
            <a:ext cx="8304328" cy="14835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6</a:t>
            </a:r>
            <a:endParaRPr lang="en-US" altLang="en-US" sz="2800" dirty="0"/>
          </a:p>
        </p:txBody>
      </p:sp>
      <p:pic>
        <p:nvPicPr>
          <p:cNvPr id="3" name="图片 2"/>
          <p:cNvPicPr>
            <a:picLocks noChangeAspect="1"/>
          </p:cNvPicPr>
          <p:nvPr/>
        </p:nvPicPr>
        <p:blipFill>
          <a:blip r:embed="rId3"/>
          <a:stretch>
            <a:fillRect/>
          </a:stretch>
        </p:blipFill>
        <p:spPr>
          <a:xfrm>
            <a:off x="400050" y="1384115"/>
            <a:ext cx="8566150" cy="2025886"/>
          </a:xfrm>
          <a:prstGeom prst="rect">
            <a:avLst/>
          </a:prstGeom>
        </p:spPr>
      </p:pic>
      <p:pic>
        <p:nvPicPr>
          <p:cNvPr id="6" name="图片 5"/>
          <p:cNvPicPr>
            <a:picLocks noChangeAspect="1"/>
          </p:cNvPicPr>
          <p:nvPr/>
        </p:nvPicPr>
        <p:blipFill>
          <a:blip r:embed="rId4"/>
          <a:stretch>
            <a:fillRect/>
          </a:stretch>
        </p:blipFill>
        <p:spPr>
          <a:xfrm>
            <a:off x="584200" y="4316879"/>
            <a:ext cx="7975600" cy="14608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7</a:t>
            </a:r>
            <a:endParaRPr lang="en-US" altLang="en-US" sz="2800" dirty="0"/>
          </a:p>
        </p:txBody>
      </p:sp>
      <p:pic>
        <p:nvPicPr>
          <p:cNvPr id="4" name="图片 3"/>
          <p:cNvPicPr>
            <a:picLocks noChangeAspect="1"/>
          </p:cNvPicPr>
          <p:nvPr/>
        </p:nvPicPr>
        <p:blipFill>
          <a:blip r:embed="rId3"/>
          <a:stretch>
            <a:fillRect/>
          </a:stretch>
        </p:blipFill>
        <p:spPr>
          <a:xfrm>
            <a:off x="304800" y="1284677"/>
            <a:ext cx="8743950" cy="2144323"/>
          </a:xfrm>
          <a:prstGeom prst="rect">
            <a:avLst/>
          </a:prstGeom>
        </p:spPr>
      </p:pic>
      <p:pic>
        <p:nvPicPr>
          <p:cNvPr id="7" name="图片 6"/>
          <p:cNvPicPr>
            <a:picLocks noChangeAspect="1"/>
          </p:cNvPicPr>
          <p:nvPr/>
        </p:nvPicPr>
        <p:blipFill>
          <a:blip r:embed="rId4"/>
          <a:stretch>
            <a:fillRect/>
          </a:stretch>
        </p:blipFill>
        <p:spPr>
          <a:xfrm>
            <a:off x="730250" y="4238625"/>
            <a:ext cx="7861300" cy="13921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8</a:t>
            </a:r>
            <a:endParaRPr lang="en-US" altLang="en-US" sz="2800" dirty="0"/>
          </a:p>
        </p:txBody>
      </p:sp>
      <p:pic>
        <p:nvPicPr>
          <p:cNvPr id="3" name="图片 2"/>
          <p:cNvPicPr>
            <a:picLocks noChangeAspect="1"/>
          </p:cNvPicPr>
          <p:nvPr/>
        </p:nvPicPr>
        <p:blipFill>
          <a:blip r:embed="rId3"/>
          <a:stretch>
            <a:fillRect/>
          </a:stretch>
        </p:blipFill>
        <p:spPr>
          <a:xfrm>
            <a:off x="334962" y="48641"/>
            <a:ext cx="8359775" cy="1213091"/>
          </a:xfrm>
          <a:prstGeom prst="rect">
            <a:avLst/>
          </a:prstGeom>
        </p:spPr>
      </p:pic>
      <p:pic>
        <p:nvPicPr>
          <p:cNvPr id="6" name="图片 5"/>
          <p:cNvPicPr>
            <a:picLocks noChangeAspect="1"/>
          </p:cNvPicPr>
          <p:nvPr/>
        </p:nvPicPr>
        <p:blipFill>
          <a:blip r:embed="rId4"/>
          <a:stretch>
            <a:fillRect/>
          </a:stretch>
        </p:blipFill>
        <p:spPr>
          <a:xfrm>
            <a:off x="676275" y="1365855"/>
            <a:ext cx="6618228" cy="54435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76275" y="136075"/>
            <a:ext cx="7791450" cy="576262"/>
          </a:xfrm>
        </p:spPr>
        <p:txBody>
          <a:bodyPr/>
          <a:lstStyle/>
          <a:p>
            <a:pPr eaLnBrk="1" hangingPunct="1"/>
            <a:r>
              <a:rPr lang="en-US" altLang="zh-CN" sz="2800" dirty="0"/>
              <a:t>Quiz 8</a:t>
            </a:r>
            <a:endParaRPr lang="en-US" altLang="en-US" sz="2800" dirty="0"/>
          </a:p>
        </p:txBody>
      </p:sp>
      <p:pic>
        <p:nvPicPr>
          <p:cNvPr id="4" name="图片 3"/>
          <p:cNvPicPr>
            <a:picLocks noChangeAspect="1"/>
          </p:cNvPicPr>
          <p:nvPr/>
        </p:nvPicPr>
        <p:blipFill>
          <a:blip r:embed="rId3"/>
          <a:stretch>
            <a:fillRect/>
          </a:stretch>
        </p:blipFill>
        <p:spPr>
          <a:xfrm>
            <a:off x="390525" y="974322"/>
            <a:ext cx="8362950" cy="1307447"/>
          </a:xfrm>
          <a:prstGeom prst="rect">
            <a:avLst/>
          </a:prstGeom>
        </p:spPr>
      </p:pic>
      <p:pic>
        <p:nvPicPr>
          <p:cNvPr id="7" name="图片 6"/>
          <p:cNvPicPr>
            <a:picLocks noChangeAspect="1"/>
          </p:cNvPicPr>
          <p:nvPr/>
        </p:nvPicPr>
        <p:blipFill>
          <a:blip r:embed="rId4"/>
          <a:stretch>
            <a:fillRect/>
          </a:stretch>
        </p:blipFill>
        <p:spPr>
          <a:xfrm>
            <a:off x="527050" y="2591787"/>
            <a:ext cx="7651750" cy="3831309"/>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noChangeArrowheads="1"/>
          </p:cNvSpPr>
          <p:nvPr>
            <p:ph type="title" idx="4294967295"/>
          </p:nvPr>
        </p:nvSpPr>
        <p:spPr>
          <a:xfrm>
            <a:off x="912813" y="207963"/>
            <a:ext cx="7653337" cy="576262"/>
          </a:xfrm>
        </p:spPr>
        <p:txBody>
          <a:bodyPr/>
          <a:lstStyle/>
          <a:p>
            <a:r>
              <a:rPr lang="en-US" altLang="en-US">
                <a:solidFill>
                  <a:srgbClr val="C00000"/>
                </a:solidFill>
              </a:rPr>
              <a:t>Distributed Systems</a:t>
            </a:r>
          </a:p>
        </p:txBody>
      </p:sp>
      <p:sp>
        <p:nvSpPr>
          <p:cNvPr id="96259" name="Content Placeholder 2"/>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idx="4294967295"/>
          </p:nvPr>
        </p:nvSpPr>
        <p:spPr>
          <a:xfrm>
            <a:off x="1100138" y="227013"/>
            <a:ext cx="7399337" cy="558800"/>
          </a:xfrm>
        </p:spPr>
        <p:txBody>
          <a:bodyPr/>
          <a:lstStyle/>
          <a:p>
            <a:r>
              <a:rPr lang="en-US" altLang="en-US">
                <a:solidFill>
                  <a:srgbClr val="00B050"/>
                </a:solidFill>
              </a:rPr>
              <a:t>Computer-System Architecture</a:t>
            </a:r>
          </a:p>
        </p:txBody>
      </p:sp>
      <p:sp>
        <p:nvSpPr>
          <p:cNvPr id="48131" name="Content Placeholder 2"/>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702"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a:lstStyle>
          <a:p>
            <a:pPr eaLnBrk="1" hangingPunct="1">
              <a:defRPr/>
            </a:pPr>
            <a:r>
              <a:rPr lang="en-US" altLang="en-US" sz="2800" kern="0" dirty="0"/>
              <a:t>Cloud Computing (cont.)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noChangeArrowheads="1"/>
          </p:cNvSpPr>
          <p:nvPr>
            <p:ph type="title" idx="4294967295"/>
          </p:nvPr>
        </p:nvSpPr>
        <p:spPr>
          <a:xfrm>
            <a:off x="982663" y="201613"/>
            <a:ext cx="7704137" cy="576262"/>
          </a:xfrm>
        </p:spPr>
        <p:txBody>
          <a:bodyPr/>
          <a:lstStyle/>
          <a:p>
            <a:r>
              <a:rPr lang="en-US" altLang="en-US" sz="2800">
                <a:solidFill>
                  <a:srgbClr val="C00000"/>
                </a:solidFill>
              </a:rPr>
              <a:t>Free and Open-Source Operating Systems</a:t>
            </a:r>
          </a:p>
        </p:txBody>
      </p:sp>
      <p:sp>
        <p:nvSpPr>
          <p:cNvPr id="111619" name="Content Placeholder 2"/>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solidFill>
                  <a:srgbClr val="00B050"/>
                </a:solidFill>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itchFamily="2" charset="0"/>
                <a:ea typeface="MS PGothic" panose="020B0600070205080204" pitchFamily="34" charset="-128"/>
              </a:defRPr>
            </a:lvl1pPr>
            <a:lvl2pPr marL="742950" indent="-285750">
              <a:defRPr sz="1600">
                <a:solidFill>
                  <a:schemeClr val="tx1"/>
                </a:solidFill>
                <a:latin typeface="Helvetica" pitchFamily="2" charset="0"/>
                <a:ea typeface="MS PGothic" panose="020B0600070205080204" pitchFamily="34" charset="-128"/>
              </a:defRPr>
            </a:lvl2pPr>
            <a:lvl3pPr marL="1143000" indent="-228600">
              <a:defRPr sz="1600">
                <a:solidFill>
                  <a:schemeClr val="tx1"/>
                </a:solidFill>
                <a:latin typeface="Helvetica" pitchFamily="2" charset="0"/>
                <a:ea typeface="MS PGothic" panose="020B0600070205080204" pitchFamily="34" charset="-128"/>
              </a:defRPr>
            </a:lvl3pPr>
            <a:lvl4pPr marL="1600200" indent="-228600">
              <a:defRPr sz="1600">
                <a:solidFill>
                  <a:schemeClr val="tx1"/>
                </a:solidFill>
                <a:latin typeface="Helvetica" pitchFamily="2" charset="0"/>
                <a:ea typeface="MS PGothic" panose="020B0600070205080204" pitchFamily="34" charset="-128"/>
              </a:defRPr>
            </a:lvl4pPr>
            <a:lvl5pPr marL="2057400" indent="-228600">
              <a:defRPr sz="1600">
                <a:solidFill>
                  <a:schemeClr val="tx1"/>
                </a:solidFill>
                <a:latin typeface="Helvetica" pitchFamily="2"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itchFamily="2" charset="0"/>
                <a:ea typeface="MS PGothic" panose="020B0600070205080204" pitchFamily="34" charset="-128"/>
              </a:defRPr>
            </a:lvl9pPr>
          </a:lstStyle>
          <a:p>
            <a:pPr>
              <a:spcBef>
                <a:spcPct val="35000"/>
              </a:spcBef>
              <a:buClr>
                <a:schemeClr val="tx2"/>
              </a:buClr>
              <a:buSzPct val="90000"/>
            </a:pPr>
            <a:endParaRPr kumimoji="1" lang="en-US" altLang="en-US" sz="18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p:cNvSpPr>
            <a:spLocks noGrp="1"/>
          </p:cNvSpPr>
          <p:nvPr>
            <p:ph idx="1"/>
          </p:nvPr>
        </p:nvSpPr>
        <p:spPr/>
        <p:txBody>
          <a:bodyPr/>
          <a:lstStyle/>
          <a:p>
            <a:pPr>
              <a:defRPr/>
            </a:pPr>
            <a:r>
              <a:rPr lang="en-US" dirty="0">
                <a:ea typeface="MS PGothic" panose="020B0600070205080204" pitchFamily="34" charset="-128"/>
              </a:rPr>
              <a:t>Many similar to standard programming data structures</a:t>
            </a:r>
          </a:p>
          <a:p>
            <a:pPr>
              <a:defRPr/>
            </a:pPr>
            <a:r>
              <a:rPr lang="en-US" b="1" i="1" dirty="0">
                <a:ea typeface="MS PGothic" panose="020B0600070205080204" pitchFamily="34" charset="-128"/>
              </a:rPr>
              <a:t>Singly linked list</a:t>
            </a: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defRPr/>
            </a:pPr>
            <a:r>
              <a:rPr lang="en-US" b="1" i="1" dirty="0">
                <a:ea typeface="MS PGothic" panose="020B0600070205080204" pitchFamily="34" charset="-128"/>
              </a:rPr>
              <a:t>Doubly linked list</a:t>
            </a: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defRPr/>
            </a:pPr>
            <a:r>
              <a:rPr lang="en-US" b="1" i="1" dirty="0">
                <a:ea typeface="MS PGothic" panose="020B0600070205080204" pitchFamily="34" charset="-128"/>
              </a:rPr>
              <a:t>Circular linked list</a:t>
            </a: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a:p>
            <a:pPr marL="0" indent="0">
              <a:buFont typeface="Monotype Sorts" charset="0"/>
              <a:buNone/>
              <a:defRPr/>
            </a:pPr>
            <a:endParaRPr lang="en-US" dirty="0">
              <a:ea typeface="MS PGothic" panose="020B0600070205080204" pitchFamily="34" charset="-128"/>
            </a:endParaRPr>
          </a:p>
          <a:p>
            <a:pPr>
              <a:buFont typeface="Monotype Sorts" charset="0"/>
              <a:buChar char="n"/>
              <a:defRPr/>
            </a:pPr>
            <a:endParaRPr lang="en-US" dirty="0">
              <a:ea typeface="MS PGothic" panose="020B0600070205080204" pitchFamily="34" charset="-128"/>
            </a:endParaRPr>
          </a:p>
        </p:txBody>
      </p:sp>
      <p:pic>
        <p:nvPicPr>
          <p:cNvPr id="97284" name="Picture 3" descr="1_13.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ctrTitle"/>
          </p:nvPr>
        </p:nvSpPr>
        <p:spPr/>
        <p:txBody>
          <a:bodyPr/>
          <a:lstStyle/>
          <a:p>
            <a:pPr eaLnBrk="1" hangingPunct="1"/>
            <a:r>
              <a:rPr lang="en-US" altLang="en-US"/>
              <a:t>End of Chapter 1</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173</TotalTime>
  <Words>9518</Words>
  <Application>Microsoft Office PowerPoint</Application>
  <PresentationFormat>全屏显示(4:3)</PresentationFormat>
  <Paragraphs>819</Paragraphs>
  <Slides>120</Slides>
  <Notes>108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120</vt:i4>
      </vt:variant>
    </vt:vector>
  </HeadingPairs>
  <TitlesOfParts>
    <vt:vector size="138" baseType="lpstr">
      <vt:lpstr>-apple-system</vt:lpstr>
      <vt:lpstr>Monotype Sorts</vt:lpstr>
      <vt:lpstr>MS PGothic</vt:lpstr>
      <vt:lpstr>urw-din</vt:lpstr>
      <vt:lpstr>宋体</vt:lpstr>
      <vt:lpstr>Arial</vt:lpstr>
      <vt:lpstr>Calibri</vt:lpstr>
      <vt:lpstr>Comic Sans MS</vt:lpstr>
      <vt:lpstr>Consolas</vt:lpstr>
      <vt:lpstr>Courier New</vt:lpstr>
      <vt:lpstr>Helvetica</vt:lpstr>
      <vt:lpstr>Lato</vt:lpstr>
      <vt:lpstr>Times New Roman</vt:lpstr>
      <vt:lpstr>Verdana</vt:lpstr>
      <vt:lpstr>Webdings</vt:lpstr>
      <vt:lpstr>Wingdings</vt:lpstr>
      <vt:lpstr>Wingdings 3</vt:lpstr>
      <vt:lpstr>os-8</vt:lpstr>
      <vt:lpstr>PowerPoint 演示文稿</vt:lpstr>
      <vt:lpstr>Chapter 1: Introduction</vt:lpstr>
      <vt:lpstr>Objectives</vt:lpstr>
      <vt:lpstr>What Does the Term Operating System Mean?</vt:lpstr>
      <vt:lpstr>What is an Operating System?</vt:lpstr>
      <vt:lpstr>What is an Operating System?</vt:lpstr>
      <vt:lpstr>What is an Operating System?</vt:lpstr>
      <vt:lpstr>Computer System Structure</vt:lpstr>
      <vt:lpstr>Abstract View of Components of Computer</vt:lpstr>
      <vt:lpstr>Four Components of a Computer System</vt:lpstr>
      <vt:lpstr>What is an Operating System?</vt:lpstr>
      <vt:lpstr>What Operating Systems Do — User view</vt:lpstr>
      <vt:lpstr>What Operating Systems Do — System view</vt:lpstr>
      <vt:lpstr>Computer Startup</vt:lpstr>
      <vt:lpstr>Computer Startup</vt:lpstr>
      <vt:lpstr>How a Modern Computer Works</vt:lpstr>
      <vt:lpstr>Computer System Organization</vt:lpstr>
      <vt:lpstr>Computer System Organization</vt:lpstr>
      <vt:lpstr>Storage Structure</vt:lpstr>
      <vt:lpstr>Storage Structure (Cont.)</vt:lpstr>
      <vt:lpstr>Storage Definitions and Notation Review</vt:lpstr>
      <vt:lpstr>Storage Hierarchy</vt:lpstr>
      <vt:lpstr>Storage-Device Hierarchy</vt:lpstr>
      <vt:lpstr>I/O Operations</vt:lpstr>
      <vt:lpstr>Programmed I/O</vt:lpstr>
      <vt:lpstr>Programmed I/O</vt:lpstr>
      <vt:lpstr>Interrupted I/O</vt:lpstr>
      <vt:lpstr>Interrupted I/O</vt:lpstr>
      <vt:lpstr>Programmed I/O V.S. Interrupted I/O</vt:lpstr>
      <vt:lpstr>Direct Memory Access (DMA)</vt:lpstr>
      <vt:lpstr>Direct Memory Access (DMA)</vt:lpstr>
      <vt:lpstr>Direct Memory Access (DMA)</vt:lpstr>
      <vt:lpstr>Quiz</vt:lpstr>
      <vt:lpstr>Direct Memory Access (DMA)</vt:lpstr>
      <vt:lpstr>Direct Memory Access (DMA)</vt:lpstr>
      <vt:lpstr>Question</vt:lpstr>
      <vt:lpstr>Direct Memory Access (DMA)</vt:lpstr>
      <vt:lpstr>Direct Memory Access (DMA)</vt:lpstr>
      <vt:lpstr>Quiz</vt:lpstr>
      <vt:lpstr>Quiz</vt:lpstr>
      <vt:lpstr>Interrupts</vt:lpstr>
      <vt:lpstr>Quiz</vt:lpstr>
      <vt:lpstr>Quiz</vt:lpstr>
      <vt:lpstr>Interrupts (Cont.)</vt:lpstr>
      <vt:lpstr>Interrupts (Cont.)</vt:lpstr>
      <vt:lpstr>Interrupts (Cont.)</vt:lpstr>
      <vt:lpstr>Interrupts (Cont.)</vt:lpstr>
      <vt:lpstr>User Mode V.S. Kernel Mode</vt:lpstr>
      <vt:lpstr>Why the Two Modes?</vt:lpstr>
      <vt:lpstr>Why the Two Modes?</vt:lpstr>
      <vt:lpstr>Why the Two Modes?</vt:lpstr>
      <vt:lpstr>Operating-System Operations (cont.)</vt:lpstr>
      <vt:lpstr>Operating-System Operations (cont.)</vt:lpstr>
      <vt:lpstr>Operating-System Operations (cont.)</vt:lpstr>
      <vt:lpstr>System Call</vt:lpstr>
      <vt:lpstr>System Call</vt:lpstr>
      <vt:lpstr>Transition from User to Kernel Mode</vt:lpstr>
      <vt:lpstr>User mode</vt:lpstr>
      <vt:lpstr>User mode</vt:lpstr>
      <vt:lpstr>Kernel mode</vt:lpstr>
      <vt:lpstr>Quiz</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Quiz</vt:lpstr>
      <vt:lpstr>Quiz 1</vt:lpstr>
      <vt:lpstr>Quiz 2</vt:lpstr>
      <vt:lpstr>Quiz 3</vt:lpstr>
      <vt:lpstr>Solution to Quiz 3</vt:lpstr>
      <vt:lpstr>Solution to Quiz 3</vt:lpstr>
      <vt:lpstr>Solution to Quiz 3</vt:lpstr>
      <vt:lpstr>Solution to Quiz 3</vt:lpstr>
      <vt:lpstr>Quiz 4</vt:lpstr>
      <vt:lpstr>Quiz 5</vt:lpstr>
      <vt:lpstr>Quiz 6</vt:lpstr>
      <vt:lpstr>Quiz 7</vt:lpstr>
      <vt:lpstr>Quiz 8</vt:lpstr>
      <vt:lpstr>Quiz 8</vt:lpstr>
      <vt:lpstr>Distributed Systems</vt:lpstr>
      <vt:lpstr>PowerPoint 演示文稿</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演示文稿</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by 的</cp:lastModifiedBy>
  <cp:revision>265</cp:revision>
  <cp:lastPrinted>2001-06-14T13:58:00Z</cp:lastPrinted>
  <dcterms:created xsi:type="dcterms:W3CDTF">2011-01-13T23:43:00Z</dcterms:created>
  <dcterms:modified xsi:type="dcterms:W3CDTF">2026-03-14T02:35:59Z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FD2510B88EDA450CBE05E0D1EF9988B3_13</vt:lpwstr>
  </property>
  <property fmtid="{D5CDD505-2E9C-101B-9397-08002B2CF9AE}" pid="3" name="KSOProductBuildVer">
    <vt:lpwstr>2052-12.1.0.23542</vt:lpwstr>
  </property>
</Properties>
</file>